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comment1.xml" ContentType="application/vnd.openxmlformats-officedocument.presentationml.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50"/>
  </p:notesMasterIdLst>
  <p:sldIdLst>
    <p:sldId id="274" r:id="rId2"/>
    <p:sldId id="1002" r:id="rId3"/>
    <p:sldId id="1003" r:id="rId4"/>
    <p:sldId id="1004" r:id="rId5"/>
    <p:sldId id="1005" r:id="rId6"/>
    <p:sldId id="1006" r:id="rId7"/>
    <p:sldId id="1007" r:id="rId8"/>
    <p:sldId id="1008" r:id="rId9"/>
    <p:sldId id="1009" r:id="rId10"/>
    <p:sldId id="1010" r:id="rId11"/>
    <p:sldId id="300" r:id="rId12"/>
    <p:sldId id="1011" r:id="rId13"/>
    <p:sldId id="1012" r:id="rId14"/>
    <p:sldId id="1013" r:id="rId15"/>
    <p:sldId id="1014" r:id="rId16"/>
    <p:sldId id="1218" r:id="rId17"/>
    <p:sldId id="1217" r:id="rId18"/>
    <p:sldId id="1021" r:id="rId19"/>
    <p:sldId id="1022" r:id="rId20"/>
    <p:sldId id="1020" r:id="rId21"/>
    <p:sldId id="1206" r:id="rId22"/>
    <p:sldId id="280" r:id="rId23"/>
    <p:sldId id="336" r:id="rId24"/>
    <p:sldId id="282" r:id="rId25"/>
    <p:sldId id="283" r:id="rId26"/>
    <p:sldId id="284" r:id="rId27"/>
    <p:sldId id="339" r:id="rId28"/>
    <p:sldId id="287" r:id="rId29"/>
    <p:sldId id="289" r:id="rId30"/>
    <p:sldId id="346" r:id="rId31"/>
    <p:sldId id="292" r:id="rId32"/>
    <p:sldId id="342" r:id="rId33"/>
    <p:sldId id="340" r:id="rId34"/>
    <p:sldId id="309" r:id="rId35"/>
    <p:sldId id="310" r:id="rId36"/>
    <p:sldId id="311" r:id="rId37"/>
    <p:sldId id="312" r:id="rId38"/>
    <p:sldId id="315" r:id="rId39"/>
    <p:sldId id="316" r:id="rId40"/>
    <p:sldId id="317" r:id="rId41"/>
    <p:sldId id="341" r:id="rId42"/>
    <p:sldId id="343" r:id="rId43"/>
    <p:sldId id="322" r:id="rId44"/>
    <p:sldId id="323" r:id="rId45"/>
    <p:sldId id="324" r:id="rId46"/>
    <p:sldId id="347" r:id="rId47"/>
    <p:sldId id="348" r:id="rId48"/>
    <p:sldId id="349" r:id="rId49"/>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sh Shehzad" initials="D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663300"/>
    <a:srgbClr val="9966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23" autoAdjust="0"/>
    <p:restoredTop sz="73788" autoAdjust="0"/>
  </p:normalViewPr>
  <p:slideViewPr>
    <p:cSldViewPr>
      <p:cViewPr varScale="1">
        <p:scale>
          <a:sx n="82" d="100"/>
          <a:sy n="82" d="100"/>
        </p:scale>
        <p:origin x="725"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8-25T11:21:31.860" idx="1">
    <p:pos x="10" y="10"/>
    <p:text>Optional, if you have time do give them detailed overview of Network Security.</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cs typeface="Arial" panose="020B0604020202020204" pitchFamily="34" charset="0"/>
              </a:defRPr>
            </a:lvl1pPr>
          </a:lstStyle>
          <a:p>
            <a:fld id="{B4D26CDB-F218-4849-8A6D-5F8242A4D81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F4959FBF-F674-4153-B738-32586B3C7CB2}"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pPr eaLnBrk="1" hangingPunct="1">
              <a:defRPr/>
            </a:pPr>
            <a:endParaRPr lang="fr-FR">
              <a:ea typeface="ＭＳ Ｐゴシック"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ChangeArrowheads="1" noTextEdit="1"/>
          </p:cNvSpPr>
          <p:nvPr>
            <p:ph type="sldImg"/>
          </p:nvPr>
        </p:nvSpPr>
        <p:spPr>
          <a:ln/>
        </p:spPr>
      </p:sp>
      <p:sp>
        <p:nvSpPr>
          <p:cNvPr id="71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717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DDA64A34-F057-4423-A40A-4500DD5BD1C1}" type="slidenum">
              <a:rPr lang="en-US" altLang="en-US" sz="1200"/>
              <a:pPr/>
              <a:t>2</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p:nvPr>
        </p:nvSpPr>
        <p:spPr>
          <a:ln/>
        </p:spPr>
      </p:sp>
      <p:sp>
        <p:nvSpPr>
          <p:cNvPr id="921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E86E9085-0AB3-4D5A-BA07-06755C57CF95}" type="slidenum">
              <a:rPr lang="en-US" altLang="en-US" sz="1200">
                <a:solidFill>
                  <a:srgbClr val="000000"/>
                </a:solidFill>
                <a:latin typeface="Calibri" panose="020F0502020204030204" pitchFamily="34" charset="0"/>
              </a:rPr>
              <a:pPr/>
              <a:t>3</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ChangeArrowheads="1" noTextEdit="1"/>
          </p:cNvSpPr>
          <p:nvPr>
            <p:ph type="sldImg"/>
          </p:nvPr>
        </p:nvSpPr>
        <p:spPr>
          <a:ln/>
        </p:spPr>
      </p:sp>
      <p:sp>
        <p:nvSpPr>
          <p:cNvPr id="1126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8DC6FA8C-A956-4EBD-AD64-AA546BD359A3}" type="slidenum">
              <a:rPr lang="en-US" altLang="en-US" sz="1200">
                <a:solidFill>
                  <a:srgbClr val="000000"/>
                </a:solidFill>
                <a:latin typeface="Calibri" panose="020F0502020204030204" pitchFamily="34" charset="0"/>
              </a:rPr>
              <a:pPr/>
              <a:t>4</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ChangeArrowheads="1" noTextEdit="1"/>
          </p:cNvSpPr>
          <p:nvPr>
            <p:ph type="sldImg"/>
          </p:nvPr>
        </p:nvSpPr>
        <p:spPr>
          <a:ln/>
        </p:spPr>
      </p:sp>
      <p:sp>
        <p:nvSpPr>
          <p:cNvPr id="1331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6347ADA1-85D4-4CFB-9388-4313181FC89C}" type="slidenum">
              <a:rPr lang="en-US" altLang="en-US" sz="1200">
                <a:solidFill>
                  <a:srgbClr val="000000"/>
                </a:solidFill>
                <a:latin typeface="Calibri" panose="020F0502020204030204" pitchFamily="34" charset="0"/>
              </a:rPr>
              <a:pPr/>
              <a:t>5</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ChangeArrowheads="1" noTextEdit="1"/>
          </p:cNvSpPr>
          <p:nvPr>
            <p:ph type="sldImg"/>
          </p:nvPr>
        </p:nvSpPr>
        <p:spPr>
          <a:ln/>
        </p:spPr>
      </p:sp>
      <p:sp>
        <p:nvSpPr>
          <p:cNvPr id="1536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07D13501-FE43-469A-B0DC-50731BD7977E}" type="slidenum">
              <a:rPr lang="en-US" altLang="en-US" sz="1200">
                <a:solidFill>
                  <a:srgbClr val="000000"/>
                </a:solidFill>
                <a:latin typeface="Calibri" panose="020F0502020204030204" pitchFamily="34" charset="0"/>
              </a:rPr>
              <a:pPr/>
              <a:t>6</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ChangeArrowheads="1" noTextEdit="1"/>
          </p:cNvSpPr>
          <p:nvPr>
            <p:ph type="sldImg"/>
          </p:nvPr>
        </p:nvSpPr>
        <p:spPr>
          <a:ln/>
        </p:spPr>
      </p:sp>
      <p:sp>
        <p:nvSpPr>
          <p:cNvPr id="1741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894F69B4-E577-4529-81A2-055FE0774230}" type="slidenum">
              <a:rPr lang="en-US" altLang="en-US" sz="1200">
                <a:solidFill>
                  <a:srgbClr val="000000"/>
                </a:solidFill>
                <a:latin typeface="Calibri" panose="020F0502020204030204" pitchFamily="34" charset="0"/>
              </a:rPr>
              <a:pPr/>
              <a:t>7</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ChangeArrowheads="1" noTextEdit="1"/>
          </p:cNvSpPr>
          <p:nvPr>
            <p:ph type="sldImg"/>
          </p:nvPr>
        </p:nvSpPr>
        <p:spPr>
          <a:ln/>
        </p:spPr>
      </p:sp>
      <p:sp>
        <p:nvSpPr>
          <p:cNvPr id="1945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6D6C7C9A-97BC-44FC-98FB-28CAA2FC7086}" type="slidenum">
              <a:rPr lang="en-US" altLang="en-US" sz="1200">
                <a:solidFill>
                  <a:srgbClr val="000000"/>
                </a:solidFill>
                <a:latin typeface="Calibri" panose="020F0502020204030204" pitchFamily="34" charset="0"/>
              </a:rPr>
              <a:pPr/>
              <a:t>8</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ChangeArrowheads="1" noTextEdit="1"/>
          </p:cNvSpPr>
          <p:nvPr>
            <p:ph type="sldImg"/>
          </p:nvPr>
        </p:nvSpPr>
        <p:spPr>
          <a:ln/>
        </p:spPr>
      </p:sp>
      <p:sp>
        <p:nvSpPr>
          <p:cNvPr id="2150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45C7AEDF-E319-4D28-A467-466E219FBA2E}" type="slidenum">
              <a:rPr lang="en-US" altLang="en-US" sz="1200">
                <a:solidFill>
                  <a:srgbClr val="000000"/>
                </a:solidFill>
                <a:latin typeface="Calibri" panose="020F0502020204030204" pitchFamily="34" charset="0"/>
              </a:rPr>
              <a:pPr/>
              <a:t>9</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ChangeArrowheads="1" noTextEdit="1"/>
          </p:cNvSpPr>
          <p:nvPr>
            <p:ph type="sldImg"/>
          </p:nvPr>
        </p:nvSpPr>
        <p:spPr>
          <a:ln/>
        </p:spPr>
      </p:sp>
      <p:sp>
        <p:nvSpPr>
          <p:cNvPr id="235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374D5801-15F7-4B4B-AAFD-9E9D2C56E014}" type="slidenum">
              <a:rPr lang="en-US" altLang="en-US" sz="1200">
                <a:solidFill>
                  <a:srgbClr val="000000"/>
                </a:solidFill>
                <a:latin typeface="Calibri" panose="020F0502020204030204" pitchFamily="34" charset="0"/>
              </a:rPr>
              <a:pPr/>
              <a:t>10</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D5C1F778-A9ED-4FBF-A194-1A11420C2C37}" type="slidenum">
              <a:rPr lang="en-US" altLang="en-US" sz="1200">
                <a:solidFill>
                  <a:srgbClr val="000000"/>
                </a:solidFill>
                <a:latin typeface="Calibri" panose="020F0502020204030204" pitchFamily="34" charset="0"/>
              </a:rPr>
              <a:pPr/>
              <a:t>12</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6102FC95-F8CC-4DBC-B388-688B09F67D81}" type="slidenum">
              <a:rPr lang="en-US" altLang="en-US" sz="1200">
                <a:solidFill>
                  <a:srgbClr val="000000"/>
                </a:solidFill>
                <a:latin typeface="Calibri" panose="020F0502020204030204" pitchFamily="34" charset="0"/>
              </a:rPr>
              <a:pPr/>
              <a:t>13</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p:spPr>
      </p:sp>
      <p:sp>
        <p:nvSpPr>
          <p:cNvPr id="3072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A53146D3-C478-4103-93F8-D744D988462E}" type="slidenum">
              <a:rPr lang="en-US" altLang="en-US" sz="1200">
                <a:solidFill>
                  <a:srgbClr val="000000"/>
                </a:solidFill>
                <a:latin typeface="Calibri" panose="020F0502020204030204" pitchFamily="34" charset="0"/>
              </a:rPr>
              <a:pPr/>
              <a:t>14</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p:spPr>
      </p:sp>
      <p:sp>
        <p:nvSpPr>
          <p:cNvPr id="327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B4C072C0-77F9-44C0-A2BC-5DC8657C9B87}" type="slidenum">
              <a:rPr lang="en-US" altLang="en-US" sz="1200">
                <a:solidFill>
                  <a:srgbClr val="000000"/>
                </a:solidFill>
                <a:latin typeface="Calibri" panose="020F0502020204030204" pitchFamily="34" charset="0"/>
              </a:rPr>
              <a:pPr/>
              <a:t>15</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3482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3B545641-6699-4FC4-A6B1-FF712152C9AB}" type="slidenum">
              <a:rPr lang="en-US" altLang="en-US" sz="1200"/>
              <a:pPr/>
              <a:t>16</a:t>
            </a:fld>
            <a:endParaRPr lang="en-US"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3686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163D96D7-151F-40DE-AEF9-E5BB4F5B20C7}" type="slidenum">
              <a:rPr lang="en-US" altLang="en-US" sz="1200"/>
              <a:pPr/>
              <a:t>17</a:t>
            </a:fld>
            <a:endParaRPr lang="en-US"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86151468-31AA-4AF8-917C-20F331F80E47}" type="slidenum">
              <a:rPr lang="en-US" altLang="en-US" sz="1200">
                <a:solidFill>
                  <a:srgbClr val="000000"/>
                </a:solidFill>
                <a:latin typeface="Calibri" panose="020F0502020204030204" pitchFamily="34" charset="0"/>
              </a:rPr>
              <a:pPr/>
              <a:t>18</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ChangeArrowheads="1" noTextEdit="1"/>
          </p:cNvSpPr>
          <p:nvPr>
            <p:ph type="sldImg"/>
          </p:nvPr>
        </p:nvSpPr>
        <p:spPr>
          <a:ln/>
        </p:spPr>
      </p:sp>
      <p:sp>
        <p:nvSpPr>
          <p:cNvPr id="4096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1FDD0C41-58CD-4F00-B2F7-1E8089CECC50}" type="slidenum">
              <a:rPr lang="en-US" altLang="en-US" sz="1200">
                <a:solidFill>
                  <a:srgbClr val="000000"/>
                </a:solidFill>
                <a:latin typeface="Calibri" panose="020F0502020204030204" pitchFamily="34" charset="0"/>
              </a:rPr>
              <a:pPr/>
              <a:t>19</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21090C60-F233-4CA6-AADD-2C746DC530B1}" type="slidenum">
              <a:rPr lang="en-US" altLang="en-US" sz="1200">
                <a:solidFill>
                  <a:srgbClr val="000000"/>
                </a:solidFill>
                <a:latin typeface="Calibri" panose="020F0502020204030204" pitchFamily="34" charset="0"/>
              </a:rPr>
              <a:pPr/>
              <a:t>20</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4505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 name="Slide Number Placeholder 3"/>
          <p:cNvSpPr>
            <a:spLocks noGrp="1"/>
          </p:cNvSpPr>
          <p:nvPr>
            <p:ph type="sldNum" sz="quarter" idx="5"/>
          </p:nvPr>
        </p:nvSpPr>
        <p:spPr/>
        <p:txBody>
          <a:bodyPr/>
          <a:lstStyle>
            <a:lvl1pPr>
              <a:defRPr sz="2800">
                <a:solidFill>
                  <a:schemeClr val="tx1"/>
                </a:solidFill>
                <a:latin typeface="Arial" panose="020B0604020202020204" pitchFamily="34" charset="0"/>
                <a:ea typeface="MS PGothic" panose="020B0600070205080204" pitchFamily="34" charset="-128"/>
              </a:defRPr>
            </a:lvl1pPr>
            <a:lvl2pPr marL="742950" indent="-285750">
              <a:defRPr sz="2800">
                <a:solidFill>
                  <a:schemeClr val="tx1"/>
                </a:solidFill>
                <a:latin typeface="Arial" panose="020B0604020202020204" pitchFamily="34" charset="0"/>
                <a:ea typeface="MS PGothic" panose="020B0600070205080204" pitchFamily="34" charset="-128"/>
              </a:defRPr>
            </a:lvl2pPr>
            <a:lvl3pPr marL="1143000" indent="-228600">
              <a:defRPr sz="2800">
                <a:solidFill>
                  <a:schemeClr val="tx1"/>
                </a:solidFill>
                <a:latin typeface="Arial" panose="020B0604020202020204" pitchFamily="34" charset="0"/>
                <a:ea typeface="MS PGothic" panose="020B0600070205080204" pitchFamily="34" charset="-128"/>
              </a:defRPr>
            </a:lvl3pPr>
            <a:lvl4pPr marL="1600200" indent="-228600">
              <a:defRPr sz="2800">
                <a:solidFill>
                  <a:schemeClr val="tx1"/>
                </a:solidFill>
                <a:latin typeface="Arial" panose="020B0604020202020204" pitchFamily="34" charset="0"/>
                <a:ea typeface="MS PGothic" panose="020B0600070205080204" pitchFamily="34" charset="-128"/>
              </a:defRPr>
            </a:lvl4pPr>
            <a:lvl5pPr marL="2057400" indent="-228600">
              <a:defRPr sz="28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MS PGothic" panose="020B0600070205080204" pitchFamily="34" charset="-128"/>
              </a:defRPr>
            </a:lvl9pPr>
          </a:lstStyle>
          <a:p>
            <a:fld id="{405EB748-D9EA-422A-84A0-79BBD6CAB98D}" type="slidenum">
              <a:rPr lang="en-US" altLang="en-US" sz="1200">
                <a:solidFill>
                  <a:srgbClr val="000000"/>
                </a:solidFill>
                <a:latin typeface="Calibri" panose="020F0502020204030204" pitchFamily="34" charset="0"/>
              </a:rPr>
              <a:pPr/>
              <a:t>21</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D5F1AEAE-1D40-4A24-8A09-CDE3BB2E9887}" type="slidenum">
              <a:rPr lang="en-US" altLang="en-US">
                <a:latin typeface="Times New Roman" panose="02020603050405020304" pitchFamily="18" charset="0"/>
              </a:rPr>
              <a:pPr>
                <a:spcBef>
                  <a:spcPct val="0"/>
                </a:spcBef>
              </a:pPr>
              <a:t>24</a:t>
            </a:fld>
            <a:endParaRPr lang="en-US" altLang="en-US">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61A621F2-4B87-467D-8DBB-C3EBFCD2BC39}" type="slidenum">
              <a:rPr lang="en-US" altLang="en-US">
                <a:latin typeface="Times New Roman" panose="02020603050405020304" pitchFamily="18" charset="0"/>
              </a:rPr>
              <a:pPr>
                <a:spcBef>
                  <a:spcPct val="0"/>
                </a:spcBef>
              </a:pPr>
              <a:t>25</a:t>
            </a:fld>
            <a:endParaRPr lang="en-US" altLang="en-US">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51BCE7DE-7835-421F-A6A3-A7FC0867A7DF}" type="slidenum">
              <a:rPr lang="en-US" altLang="en-US">
                <a:latin typeface="Times New Roman" panose="02020603050405020304" pitchFamily="18" charset="0"/>
              </a:rPr>
              <a:pPr>
                <a:spcBef>
                  <a:spcPct val="0"/>
                </a:spcBef>
              </a:pPr>
              <a:t>26</a:t>
            </a:fld>
            <a:endParaRPr lang="en-US" altLang="en-US">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CFD7A167-87D1-440C-9DE4-828CBDB62EFD}" type="slidenum">
              <a:rPr lang="en-US" altLang="en-US">
                <a:latin typeface="Times New Roman" panose="02020603050405020304" pitchFamily="18" charset="0"/>
              </a:rPr>
              <a:pPr>
                <a:spcBef>
                  <a:spcPct val="0"/>
                </a:spcBef>
              </a:pPr>
              <a:t>27</a:t>
            </a:fld>
            <a:endParaRPr lang="en-US" altLang="en-US">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68E66083-8760-4224-8DF9-C6AF0727E583}" type="slidenum">
              <a:rPr lang="en-US" altLang="en-US"/>
              <a:pPr>
                <a:spcBef>
                  <a:spcPct val="0"/>
                </a:spcBef>
              </a:pPr>
              <a:t>32</a:t>
            </a:fld>
            <a:endParaRPr lang="en-US" altLang="en-US"/>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55E6A95A-AC8F-4D38-A34E-AFA8FBEC5161}" type="slidenum">
              <a:rPr lang="en-US" altLang="en-US">
                <a:latin typeface="Times New Roman" panose="02020603050405020304" pitchFamily="18" charset="0"/>
              </a:rPr>
              <a:pPr>
                <a:spcBef>
                  <a:spcPct val="0"/>
                </a:spcBef>
              </a:pPr>
              <a:t>33</a:t>
            </a:fld>
            <a:endParaRPr lang="en-US" alt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FFD570EE-6624-405B-A7AB-E8759ACED607}" type="slidenum">
              <a:rPr lang="en-US" altLang="en-US">
                <a:latin typeface="Times New Roman" panose="02020603050405020304" pitchFamily="18" charset="0"/>
              </a:rPr>
              <a:pPr>
                <a:spcBef>
                  <a:spcPct val="0"/>
                </a:spcBef>
              </a:pPr>
              <a:t>41</a:t>
            </a:fld>
            <a:endParaRPr lang="en-US" altLang="en-US">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DDDD37F8-0E52-48C9-8D32-539AEA736B68}" type="slidenum">
              <a:rPr lang="en-US" altLang="en-US"/>
              <a:pPr>
                <a:spcBef>
                  <a:spcPct val="0"/>
                </a:spcBef>
              </a:pPr>
              <a:t>42</a:t>
            </a:fld>
            <a:endParaRPr lang="en-US" altLang="en-US"/>
          </a:p>
        </p:txBody>
      </p:sp>
      <p:sp>
        <p:nvSpPr>
          <p:cNvPr id="74755" name="Rectangle 2"/>
          <p:cNvSpPr>
            <a:spLocks noChangeArrowheads="1" noTextEdit="1"/>
          </p:cNvSpPr>
          <p:nvPr>
            <p:ph type="sldImg"/>
          </p:nvPr>
        </p:nvSpPr>
        <p:spPr>
          <a:ln/>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ChangeArrowheads="1" noTextEdit="1"/>
          </p:cNvSpPr>
          <p:nvPr>
            <p:ph type="sldImg"/>
          </p:nvPr>
        </p:nvSpPr>
        <p:spPr>
          <a:ln/>
        </p:spPr>
      </p:sp>
      <p:sp>
        <p:nvSpPr>
          <p:cNvPr id="788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Arial" panose="020B0604020202020204" pitchFamily="34" charset="0"/>
            </a:endParaRPr>
          </a:p>
        </p:txBody>
      </p:sp>
      <p:sp>
        <p:nvSpPr>
          <p:cNvPr id="7885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4E2F2A89-FE8B-4299-B4DF-9E487C4A5CE0}" type="slidenum">
              <a:rPr lang="en-US" altLang="en-US"/>
              <a:pPr>
                <a:spcBef>
                  <a:spcPct val="0"/>
                </a:spcBef>
              </a:pPr>
              <a:t>45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w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9E7DA89-AB77-4542-8B00-3F655C187C87}" type="slidenum">
              <a:rPr lang="en-US" altLang="en-US"/>
              <a:pPr/>
              <a:t>‹#›</a:t>
            </a:fld>
            <a:endParaRPr lang="en-US" altLang="en-US"/>
          </a:p>
        </p:txBody>
      </p:sp>
    </p:spTree>
    <p:extLst>
      <p:ext uri="{BB962C8B-B14F-4D97-AF65-F5344CB8AC3E}">
        <p14:creationId xmlns:p14="http://schemas.microsoft.com/office/powerpoint/2010/main" val="3320530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A9073C7-3A1F-4534-8C14-239EB235A8EF}" type="slidenum">
              <a:rPr lang="en-US" altLang="en-US"/>
              <a:pPr/>
              <a:t>‹#›</a:t>
            </a:fld>
            <a:endParaRPr lang="en-US" altLang="en-US"/>
          </a:p>
        </p:txBody>
      </p:sp>
    </p:spTree>
    <p:extLst>
      <p:ext uri="{BB962C8B-B14F-4D97-AF65-F5344CB8AC3E}">
        <p14:creationId xmlns:p14="http://schemas.microsoft.com/office/powerpoint/2010/main" val="299711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AF6E1C7-1DD8-44D1-9E9B-A6031C47F016}" type="slidenum">
              <a:rPr lang="en-US" altLang="en-US"/>
              <a:pPr/>
              <a:t>‹#›</a:t>
            </a:fld>
            <a:endParaRPr lang="en-US" altLang="en-US"/>
          </a:p>
        </p:txBody>
      </p:sp>
    </p:spTree>
    <p:extLst>
      <p:ext uri="{BB962C8B-B14F-4D97-AF65-F5344CB8AC3E}">
        <p14:creationId xmlns:p14="http://schemas.microsoft.com/office/powerpoint/2010/main" val="3340825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1E68C9F-B3F7-420A-98B3-6278961F5473}" type="slidenum">
              <a:rPr lang="en-US" altLang="en-US"/>
              <a:pPr/>
              <a:t>‹#›</a:t>
            </a:fld>
            <a:endParaRPr lang="en-US" altLang="en-US"/>
          </a:p>
        </p:txBody>
      </p:sp>
    </p:spTree>
    <p:extLst>
      <p:ext uri="{BB962C8B-B14F-4D97-AF65-F5344CB8AC3E}">
        <p14:creationId xmlns:p14="http://schemas.microsoft.com/office/powerpoint/2010/main" val="3111094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96753B6C-0A64-46CD-B300-8F773F1DD4F2}" type="slidenum">
              <a:rPr lang="en-US" altLang="en-US"/>
              <a:pPr/>
              <a:t>‹#›</a:t>
            </a:fld>
            <a:endParaRPr lang="en-US" altLang="en-US"/>
          </a:p>
        </p:txBody>
      </p:sp>
    </p:spTree>
    <p:extLst>
      <p:ext uri="{BB962C8B-B14F-4D97-AF65-F5344CB8AC3E}">
        <p14:creationId xmlns:p14="http://schemas.microsoft.com/office/powerpoint/2010/main" val="1719978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D264E737-5648-4F9B-B6F6-88C51F7564BA}" type="slidenum">
              <a:rPr lang="en-US" altLang="en-US"/>
              <a:pPr/>
              <a:t>‹#›</a:t>
            </a:fld>
            <a:endParaRPr lang="en-US" altLang="en-US"/>
          </a:p>
        </p:txBody>
      </p:sp>
    </p:spTree>
    <p:extLst>
      <p:ext uri="{BB962C8B-B14F-4D97-AF65-F5344CB8AC3E}">
        <p14:creationId xmlns:p14="http://schemas.microsoft.com/office/powerpoint/2010/main" val="3516399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9C51B61E-7067-4A09-AB7E-46C71E5C545E}" type="slidenum">
              <a:rPr lang="en-US" altLang="en-US"/>
              <a:pPr/>
              <a:t>‹#›</a:t>
            </a:fld>
            <a:endParaRPr lang="en-US" altLang="en-US"/>
          </a:p>
        </p:txBody>
      </p:sp>
    </p:spTree>
    <p:extLst>
      <p:ext uri="{BB962C8B-B14F-4D97-AF65-F5344CB8AC3E}">
        <p14:creationId xmlns:p14="http://schemas.microsoft.com/office/powerpoint/2010/main" val="3048510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59C4EE2-3325-4A83-8E6E-DF29E3544489}" type="slidenum">
              <a:rPr lang="en-US" altLang="en-US"/>
              <a:pPr/>
              <a:t>‹#›</a:t>
            </a:fld>
            <a:endParaRPr lang="en-US" altLang="en-US"/>
          </a:p>
        </p:txBody>
      </p:sp>
    </p:spTree>
    <p:extLst>
      <p:ext uri="{BB962C8B-B14F-4D97-AF65-F5344CB8AC3E}">
        <p14:creationId xmlns:p14="http://schemas.microsoft.com/office/powerpoint/2010/main" val="3611280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F19F4BC0-38F2-4DF2-B283-D1570216C985}" type="slidenum">
              <a:rPr lang="en-US" altLang="en-US"/>
              <a:pPr/>
              <a:t>‹#›</a:t>
            </a:fld>
            <a:endParaRPr lang="en-US" altLang="en-US"/>
          </a:p>
        </p:txBody>
      </p:sp>
    </p:spTree>
    <p:extLst>
      <p:ext uri="{BB962C8B-B14F-4D97-AF65-F5344CB8AC3E}">
        <p14:creationId xmlns:p14="http://schemas.microsoft.com/office/powerpoint/2010/main" val="292409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D9221FD-C5F3-4BE9-9DE5-DF316CD108AA}" type="slidenum">
              <a:rPr lang="en-US" altLang="en-US"/>
              <a:pPr/>
              <a:t>‹#›</a:t>
            </a:fld>
            <a:endParaRPr lang="en-US" altLang="en-US"/>
          </a:p>
        </p:txBody>
      </p:sp>
    </p:spTree>
    <p:extLst>
      <p:ext uri="{BB962C8B-B14F-4D97-AF65-F5344CB8AC3E}">
        <p14:creationId xmlns:p14="http://schemas.microsoft.com/office/powerpoint/2010/main" val="1736508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0"/>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0"/>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27A07F7-FF47-44CD-8F4C-0E512862BDA6}" type="slidenum">
              <a:rPr lang="en-US" altLang="en-US"/>
              <a:pPr/>
              <a:t>‹#›</a:t>
            </a:fld>
            <a:endParaRPr lang="en-US" altLang="en-US"/>
          </a:p>
        </p:txBody>
      </p:sp>
    </p:spTree>
    <p:extLst>
      <p:ext uri="{BB962C8B-B14F-4D97-AF65-F5344CB8AC3E}">
        <p14:creationId xmlns:p14="http://schemas.microsoft.com/office/powerpoint/2010/main" val="1086950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0" y="6511925"/>
            <a:ext cx="9144000" cy="346075"/>
          </a:xfrm>
          <a:prstGeom prst="rect">
            <a:avLst/>
          </a:prstGeom>
          <a:solidFill>
            <a:srgbClr val="99CCFF"/>
          </a:solidFill>
          <a:ln w="9525">
            <a:solidFill>
              <a:srgbClr val="000000"/>
            </a:solidFill>
            <a:miter lim="800000"/>
            <a:headEnd/>
            <a:tailEnd/>
          </a:ln>
        </p:spPr>
        <p:txBody>
          <a:bodyPr>
            <a:spAutoFit/>
          </a:bodyPr>
          <a:lstStyle>
            <a:lvl1pPr eaLnBrk="0" hangingPunct="0">
              <a:defRPr sz="2800">
                <a:solidFill>
                  <a:schemeClr val="tx1"/>
                </a:solidFill>
                <a:latin typeface="Arial" charset="0"/>
                <a:ea typeface="ＭＳ Ｐゴシック" pitchFamily="34" charset="-128"/>
              </a:defRPr>
            </a:lvl1pPr>
            <a:lvl2pPr marL="742950" indent="-285750" eaLnBrk="0" hangingPunct="0">
              <a:defRPr sz="2800">
                <a:solidFill>
                  <a:schemeClr val="tx1"/>
                </a:solidFill>
                <a:latin typeface="Arial" charset="0"/>
                <a:ea typeface="ＭＳ Ｐゴシック" pitchFamily="34" charset="-128"/>
              </a:defRPr>
            </a:lvl2pPr>
            <a:lvl3pPr marL="1143000" indent="-228600" eaLnBrk="0" hangingPunct="0">
              <a:defRPr sz="2800">
                <a:solidFill>
                  <a:schemeClr val="tx1"/>
                </a:solidFill>
                <a:latin typeface="Arial" charset="0"/>
                <a:ea typeface="ＭＳ Ｐゴシック" pitchFamily="34" charset="-128"/>
              </a:defRPr>
            </a:lvl3pPr>
            <a:lvl4pPr marL="1600200" indent="-228600" eaLnBrk="0" hangingPunct="0">
              <a:defRPr sz="2800">
                <a:solidFill>
                  <a:schemeClr val="tx1"/>
                </a:solidFill>
                <a:latin typeface="Arial" charset="0"/>
                <a:ea typeface="ＭＳ Ｐゴシック" pitchFamily="34" charset="-128"/>
              </a:defRPr>
            </a:lvl4pPr>
            <a:lvl5pPr marL="2057400" indent="-228600" eaLnBrk="0" hangingPunct="0">
              <a:defRPr sz="28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8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8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8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800">
                <a:solidFill>
                  <a:schemeClr val="tx1"/>
                </a:solidFill>
                <a:latin typeface="Arial" charset="0"/>
                <a:ea typeface="ＭＳ Ｐゴシック" pitchFamily="34" charset="-128"/>
              </a:defRPr>
            </a:lvl9pPr>
          </a:lstStyle>
          <a:p>
            <a:pPr algn="ctr" eaLnBrk="1" hangingPunct="1">
              <a:spcBef>
                <a:spcPct val="50000"/>
              </a:spcBef>
              <a:defRPr/>
            </a:pPr>
            <a:r>
              <a:rPr lang="en-US" altLang="en-US" sz="1600" b="1">
                <a:solidFill>
                  <a:schemeClr val="accent2"/>
                </a:solidFill>
              </a:rPr>
              <a:t>FAST, National University of Computer and Emerging Sciences, Islamabad</a:t>
            </a:r>
          </a:p>
        </p:txBody>
      </p:sp>
      <p:graphicFrame>
        <p:nvGraphicFramePr>
          <p:cNvPr id="6" name="Object 8"/>
          <p:cNvGraphicFramePr>
            <a:graphicFrameLocks noChangeAspect="1"/>
          </p:cNvGraphicFramePr>
          <p:nvPr/>
        </p:nvGraphicFramePr>
        <p:xfrm>
          <a:off x="76200" y="6505575"/>
          <a:ext cx="476250" cy="352425"/>
        </p:xfrm>
        <a:graphic>
          <a:graphicData uri="http://schemas.openxmlformats.org/presentationml/2006/ole">
            <mc:AlternateContent xmlns:mc="http://schemas.openxmlformats.org/markup-compatibility/2006">
              <mc:Choice xmlns:v="urn:schemas-microsoft-com:vml" Requires="v">
                <p:oleObj spid="_x0000_s95234" r:id="rId3" imgW="71848" imgH="44334" progId="">
                  <p:embed/>
                </p:oleObj>
              </mc:Choice>
              <mc:Fallback>
                <p:oleObj r:id="rId3" imgW="71848" imgH="44334" progId="">
                  <p:embed/>
                  <p:pic>
                    <p:nvPicPr>
                      <p:cNvPr id="2051"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6505575"/>
                        <a:ext cx="4762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9"/>
          <p:cNvSpPr txBox="1">
            <a:spLocks noChangeArrowheads="1"/>
          </p:cNvSpPr>
          <p:nvPr/>
        </p:nvSpPr>
        <p:spPr bwMode="auto">
          <a:xfrm>
            <a:off x="0" y="0"/>
            <a:ext cx="9144000" cy="400050"/>
          </a:xfrm>
          <a:prstGeom prst="rect">
            <a:avLst/>
          </a:prstGeom>
          <a:solidFill>
            <a:srgbClr val="99CCFF"/>
          </a:solidFill>
          <a:ln w="9525">
            <a:solidFill>
              <a:srgbClr val="000000"/>
            </a:solidFill>
            <a:miter lim="800000"/>
            <a:headEnd/>
            <a:tailEnd/>
          </a:ln>
        </p:spPr>
        <p:txBody>
          <a:bodyPr>
            <a:spAutoFit/>
          </a:bodyPr>
          <a:lstStyle>
            <a:lvl1pPr eaLnBrk="0" hangingPunct="0">
              <a:defRPr sz="2800">
                <a:solidFill>
                  <a:schemeClr val="tx1"/>
                </a:solidFill>
                <a:latin typeface="Arial" charset="0"/>
                <a:ea typeface="ＭＳ Ｐゴシック" pitchFamily="34" charset="-128"/>
              </a:defRPr>
            </a:lvl1pPr>
            <a:lvl2pPr marL="742950" indent="-285750" eaLnBrk="0" hangingPunct="0">
              <a:defRPr sz="2800">
                <a:solidFill>
                  <a:schemeClr val="tx1"/>
                </a:solidFill>
                <a:latin typeface="Arial" charset="0"/>
                <a:ea typeface="ＭＳ Ｐゴシック" pitchFamily="34" charset="-128"/>
              </a:defRPr>
            </a:lvl2pPr>
            <a:lvl3pPr marL="1143000" indent="-228600" eaLnBrk="0" hangingPunct="0">
              <a:defRPr sz="2800">
                <a:solidFill>
                  <a:schemeClr val="tx1"/>
                </a:solidFill>
                <a:latin typeface="Arial" charset="0"/>
                <a:ea typeface="ＭＳ Ｐゴシック" pitchFamily="34" charset="-128"/>
              </a:defRPr>
            </a:lvl3pPr>
            <a:lvl4pPr marL="1600200" indent="-228600" eaLnBrk="0" hangingPunct="0">
              <a:defRPr sz="2800">
                <a:solidFill>
                  <a:schemeClr val="tx1"/>
                </a:solidFill>
                <a:latin typeface="Arial" charset="0"/>
                <a:ea typeface="ＭＳ Ｐゴシック" pitchFamily="34" charset="-128"/>
              </a:defRPr>
            </a:lvl4pPr>
            <a:lvl5pPr marL="2057400" indent="-228600" eaLnBrk="0" hangingPunct="0">
              <a:defRPr sz="28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8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8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8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800">
                <a:solidFill>
                  <a:schemeClr val="tx1"/>
                </a:solidFill>
                <a:latin typeface="Arial" charset="0"/>
                <a:ea typeface="ＭＳ Ｐゴシック" pitchFamily="34" charset="-128"/>
              </a:defRPr>
            </a:lvl9pPr>
          </a:lstStyle>
          <a:p>
            <a:pPr eaLnBrk="1" hangingPunct="1">
              <a:spcBef>
                <a:spcPct val="50000"/>
              </a:spcBef>
              <a:defRPr/>
            </a:pPr>
            <a:r>
              <a:rPr lang="en-US" altLang="en-US" sz="2000" b="1">
                <a:solidFill>
                  <a:schemeClr val="accent2"/>
                </a:solidFill>
              </a:rPr>
              <a:t>Lecture 06: Network Security </a:t>
            </a:r>
          </a:p>
        </p:txBody>
      </p:sp>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0"/>
          </p:nvPr>
        </p:nvSpPr>
        <p:spPr/>
        <p:txBody>
          <a:bodyPr/>
          <a:lstStyle>
            <a:lvl1pPr>
              <a:defRPr/>
            </a:lvl1pPr>
          </a:lstStyle>
          <a:p>
            <a:pPr>
              <a:defRPr/>
            </a:pPr>
            <a:endParaRPr lang="en-US"/>
          </a:p>
        </p:txBody>
      </p:sp>
    </p:spTree>
    <p:extLst>
      <p:ext uri="{BB962C8B-B14F-4D97-AF65-F5344CB8AC3E}">
        <p14:creationId xmlns:p14="http://schemas.microsoft.com/office/powerpoint/2010/main" val="59097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8600" y="533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5124"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cs typeface="Arial" panose="020B0604020202020204" pitchFamily="34" charset="0"/>
              </a:defRPr>
            </a:lvl1pPr>
          </a:lstStyle>
          <a:p>
            <a:fld id="{8B0E6EC2-5CE6-4DD7-8C1B-6863D8C1635B}" type="slidenum">
              <a:rPr lang="en-US" altLang="en-US"/>
              <a:pPr/>
              <a:t>‹#›</a:t>
            </a:fld>
            <a:endParaRPr lang="en-US" altLang="en-US"/>
          </a:p>
        </p:txBody>
      </p:sp>
      <p:sp>
        <p:nvSpPr>
          <p:cNvPr id="1031" name="Text Box 7"/>
          <p:cNvSpPr txBox="1">
            <a:spLocks noChangeArrowheads="1"/>
          </p:cNvSpPr>
          <p:nvPr/>
        </p:nvSpPr>
        <p:spPr bwMode="auto">
          <a:xfrm>
            <a:off x="0" y="6511925"/>
            <a:ext cx="9144000" cy="346075"/>
          </a:xfrm>
          <a:prstGeom prst="rect">
            <a:avLst/>
          </a:prstGeom>
          <a:solidFill>
            <a:srgbClr val="99CCFF"/>
          </a:solidFill>
          <a:ln w="9525">
            <a:solidFill>
              <a:srgbClr val="000000"/>
            </a:solidFill>
            <a:miter lim="800000"/>
            <a:headEnd/>
            <a:tailEnd/>
          </a:ln>
        </p:spPr>
        <p:txBody>
          <a:bodyPr>
            <a:spAutoFit/>
          </a:bodyPr>
          <a:lstStyle>
            <a:lvl1pPr eaLnBrk="0" hangingPunct="0">
              <a:defRPr sz="2800">
                <a:solidFill>
                  <a:schemeClr val="tx1"/>
                </a:solidFill>
                <a:latin typeface="Arial" charset="0"/>
                <a:ea typeface="ＭＳ Ｐゴシック" pitchFamily="34" charset="-128"/>
              </a:defRPr>
            </a:lvl1pPr>
            <a:lvl2pPr marL="742950" indent="-285750" eaLnBrk="0" hangingPunct="0">
              <a:defRPr sz="2800">
                <a:solidFill>
                  <a:schemeClr val="tx1"/>
                </a:solidFill>
                <a:latin typeface="Arial" charset="0"/>
                <a:ea typeface="ＭＳ Ｐゴシック" pitchFamily="34" charset="-128"/>
              </a:defRPr>
            </a:lvl2pPr>
            <a:lvl3pPr marL="1143000" indent="-228600" eaLnBrk="0" hangingPunct="0">
              <a:defRPr sz="2800">
                <a:solidFill>
                  <a:schemeClr val="tx1"/>
                </a:solidFill>
                <a:latin typeface="Arial" charset="0"/>
                <a:ea typeface="ＭＳ Ｐゴシック" pitchFamily="34" charset="-128"/>
              </a:defRPr>
            </a:lvl3pPr>
            <a:lvl4pPr marL="1600200" indent="-228600" eaLnBrk="0" hangingPunct="0">
              <a:defRPr sz="2800">
                <a:solidFill>
                  <a:schemeClr val="tx1"/>
                </a:solidFill>
                <a:latin typeface="Arial" charset="0"/>
                <a:ea typeface="ＭＳ Ｐゴシック" pitchFamily="34" charset="-128"/>
              </a:defRPr>
            </a:lvl4pPr>
            <a:lvl5pPr marL="2057400" indent="-228600" eaLnBrk="0" hangingPunct="0">
              <a:defRPr sz="28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8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8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8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800">
                <a:solidFill>
                  <a:schemeClr val="tx1"/>
                </a:solidFill>
                <a:latin typeface="Arial" charset="0"/>
                <a:ea typeface="ＭＳ Ｐゴシック" pitchFamily="34" charset="-128"/>
              </a:defRPr>
            </a:lvl9pPr>
          </a:lstStyle>
          <a:p>
            <a:pPr algn="ctr" eaLnBrk="1" hangingPunct="1">
              <a:spcBef>
                <a:spcPct val="50000"/>
              </a:spcBef>
              <a:defRPr/>
            </a:pPr>
            <a:r>
              <a:rPr lang="en-US" altLang="en-US" sz="1600" b="1">
                <a:solidFill>
                  <a:schemeClr val="accent2"/>
                </a:solidFill>
              </a:rPr>
              <a:t>FAST, National University of Computer and Emerging Sciences, Islamabad</a:t>
            </a:r>
          </a:p>
        </p:txBody>
      </p:sp>
      <p:graphicFrame>
        <p:nvGraphicFramePr>
          <p:cNvPr id="1032" name="Object 8"/>
          <p:cNvGraphicFramePr>
            <a:graphicFrameLocks noChangeAspect="1"/>
          </p:cNvGraphicFramePr>
          <p:nvPr/>
        </p:nvGraphicFramePr>
        <p:xfrm>
          <a:off x="76200" y="6505575"/>
          <a:ext cx="476250" cy="352425"/>
        </p:xfrm>
        <a:graphic>
          <a:graphicData uri="http://schemas.openxmlformats.org/presentationml/2006/ole">
            <mc:AlternateContent xmlns:mc="http://schemas.openxmlformats.org/markup-compatibility/2006">
              <mc:Choice xmlns:v="urn:schemas-microsoft-com:vml" Requires="v">
                <p:oleObj spid="_x0000_s1034" r:id="rId15" imgW="71848" imgH="44334" progId="">
                  <p:embed/>
                </p:oleObj>
              </mc:Choice>
              <mc:Fallback>
                <p:oleObj r:id="rId15" imgW="71848" imgH="44334" progId="">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 y="6505575"/>
                        <a:ext cx="4762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3" name="Text Box 9"/>
          <p:cNvSpPr txBox="1">
            <a:spLocks noChangeArrowheads="1"/>
          </p:cNvSpPr>
          <p:nvPr/>
        </p:nvSpPr>
        <p:spPr bwMode="auto">
          <a:xfrm>
            <a:off x="0" y="0"/>
            <a:ext cx="9144000" cy="400050"/>
          </a:xfrm>
          <a:prstGeom prst="rect">
            <a:avLst/>
          </a:prstGeom>
          <a:solidFill>
            <a:srgbClr val="99CCFF"/>
          </a:solidFill>
          <a:ln w="9525">
            <a:solidFill>
              <a:srgbClr val="000000"/>
            </a:solidFill>
            <a:miter lim="800000"/>
            <a:headEnd/>
            <a:tailEnd/>
          </a:ln>
        </p:spPr>
        <p:txBody>
          <a:bodyPr>
            <a:spAutoFit/>
          </a:bodyPr>
          <a:lstStyle>
            <a:lvl1pPr eaLnBrk="0" hangingPunct="0">
              <a:defRPr sz="2800">
                <a:solidFill>
                  <a:schemeClr val="tx1"/>
                </a:solidFill>
                <a:latin typeface="Arial" charset="0"/>
                <a:ea typeface="ＭＳ Ｐゴシック" pitchFamily="34" charset="-128"/>
              </a:defRPr>
            </a:lvl1pPr>
            <a:lvl2pPr marL="742950" indent="-285750" eaLnBrk="0" hangingPunct="0">
              <a:defRPr sz="2800">
                <a:solidFill>
                  <a:schemeClr val="tx1"/>
                </a:solidFill>
                <a:latin typeface="Arial" charset="0"/>
                <a:ea typeface="ＭＳ Ｐゴシック" pitchFamily="34" charset="-128"/>
              </a:defRPr>
            </a:lvl2pPr>
            <a:lvl3pPr marL="1143000" indent="-228600" eaLnBrk="0" hangingPunct="0">
              <a:defRPr sz="2800">
                <a:solidFill>
                  <a:schemeClr val="tx1"/>
                </a:solidFill>
                <a:latin typeface="Arial" charset="0"/>
                <a:ea typeface="ＭＳ Ｐゴシック" pitchFamily="34" charset="-128"/>
              </a:defRPr>
            </a:lvl3pPr>
            <a:lvl4pPr marL="1600200" indent="-228600" eaLnBrk="0" hangingPunct="0">
              <a:defRPr sz="2800">
                <a:solidFill>
                  <a:schemeClr val="tx1"/>
                </a:solidFill>
                <a:latin typeface="Arial" charset="0"/>
                <a:ea typeface="ＭＳ Ｐゴシック" pitchFamily="34" charset="-128"/>
              </a:defRPr>
            </a:lvl4pPr>
            <a:lvl5pPr marL="2057400" indent="-228600" eaLnBrk="0" hangingPunct="0">
              <a:defRPr sz="28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8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8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8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800">
                <a:solidFill>
                  <a:schemeClr val="tx1"/>
                </a:solidFill>
                <a:latin typeface="Arial" charset="0"/>
                <a:ea typeface="ＭＳ Ｐゴシック" pitchFamily="34" charset="-128"/>
              </a:defRPr>
            </a:lvl9pPr>
          </a:lstStyle>
          <a:p>
            <a:pPr eaLnBrk="1" hangingPunct="1">
              <a:spcBef>
                <a:spcPct val="50000"/>
              </a:spcBef>
              <a:defRPr/>
            </a:pPr>
            <a:r>
              <a:rPr lang="en-US" altLang="en-US" sz="2000" b="1">
                <a:solidFill>
                  <a:schemeClr val="accent2"/>
                </a:solidFill>
              </a:rPr>
              <a:t>Lecture 04: Network Delays</a:t>
            </a:r>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timing>
    <p:tnLst>
      <p:par>
        <p:cTn id="1" dur="indefinite" restart="never" nodeType="tmRoot"/>
      </p:par>
    </p:tnLst>
  </p:timing>
  <p:txStyles>
    <p:titleStyle>
      <a:lvl1pPr algn="l" rtl="0" eaLnBrk="0" fontAlgn="base" hangingPunct="0">
        <a:spcBef>
          <a:spcPct val="0"/>
        </a:spcBef>
        <a:spcAft>
          <a:spcPct val="0"/>
        </a:spcAft>
        <a:defRPr sz="3600" b="1">
          <a:solidFill>
            <a:schemeClr val="tx2"/>
          </a:solidFill>
          <a:latin typeface="+mj-lt"/>
          <a:ea typeface="MS PGothic" panose="020B0600070205080204" pitchFamily="34" charset="-128"/>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MS PGothic" panose="020B0600070205080204" pitchFamily="34" charset="-128"/>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MS PGothic" panose="020B0600070205080204" pitchFamily="34" charset="-128"/>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MS PGothic" panose="020B0600070205080204" pitchFamily="34" charset="-128"/>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MS PGothic" panose="020B0600070205080204" pitchFamily="34" charset="-128"/>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2.jpeg"/><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6.wmf"/><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6.wmf"/></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7.wmf"/><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wmf"/><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ctrTitle"/>
          </p:nvPr>
        </p:nvSpPr>
        <p:spPr>
          <a:xfrm>
            <a:off x="381000" y="3200400"/>
            <a:ext cx="8458200" cy="3124200"/>
          </a:xfrm>
        </p:spPr>
        <p:txBody>
          <a:bodyPr/>
          <a:lstStyle/>
          <a:p>
            <a:pPr algn="ctr" eaLnBrk="1" hangingPunct="1">
              <a:defRPr/>
            </a:pPr>
            <a:r>
              <a:rPr lang="en-US" dirty="0">
                <a:effectLst>
                  <a:outerShdw blurRad="38100" dist="38100" dir="2700000" algn="tl">
                    <a:srgbClr val="C0C0C0"/>
                  </a:outerShdw>
                </a:effectLst>
                <a:ea typeface="+mj-ea"/>
              </a:rPr>
              <a:t>Fall 2024</a:t>
            </a:r>
            <a:br>
              <a:rPr lang="en-US" dirty="0">
                <a:effectLst>
                  <a:outerShdw blurRad="38100" dist="38100" dir="2700000" algn="tl">
                    <a:srgbClr val="C0C0C0"/>
                  </a:outerShdw>
                </a:effectLst>
                <a:ea typeface="+mj-ea"/>
              </a:rPr>
            </a:br>
            <a:r>
              <a:rPr lang="en-US" dirty="0">
                <a:effectLst>
                  <a:outerShdw blurRad="38100" dist="38100" dir="2700000" algn="tl">
                    <a:srgbClr val="C0C0C0"/>
                  </a:outerShdw>
                </a:effectLst>
                <a:ea typeface="+mj-ea"/>
              </a:rPr>
              <a:t>BSCS</a:t>
            </a:r>
            <a:br>
              <a:rPr lang="en-US" dirty="0">
                <a:effectLst>
                  <a:outerShdw blurRad="38100" dist="38100" dir="2700000" algn="tl">
                    <a:srgbClr val="C0C0C0"/>
                  </a:outerShdw>
                </a:effectLst>
                <a:ea typeface="+mj-ea"/>
              </a:rPr>
            </a:br>
            <a:r>
              <a:rPr lang="en-US" dirty="0">
                <a:effectLst>
                  <a:outerShdw blurRad="38100" dist="38100" dir="2700000" algn="tl">
                    <a:srgbClr val="C0C0C0"/>
                  </a:outerShdw>
                </a:effectLst>
                <a:ea typeface="+mj-ea"/>
              </a:rPr>
              <a:t>Lecture 04</a:t>
            </a:r>
            <a:br>
              <a:rPr lang="en-US" dirty="0">
                <a:effectLst>
                  <a:outerShdw blurRad="38100" dist="38100" dir="2700000" algn="tl">
                    <a:srgbClr val="C0C0C0"/>
                  </a:outerShdw>
                </a:effectLst>
                <a:ea typeface="+mj-ea"/>
              </a:rPr>
            </a:br>
            <a:r>
              <a:rPr lang="en-US" sz="2400" dirty="0">
                <a:effectLst>
                  <a:outerShdw blurRad="38100" dist="38100" dir="2700000" algn="tl">
                    <a:srgbClr val="C0C0C0"/>
                  </a:outerShdw>
                </a:effectLst>
                <a:ea typeface="+mj-ea"/>
              </a:rPr>
              <a:t>Network Performance(Delay, Loss, Throughput) </a:t>
            </a:r>
            <a:br>
              <a:rPr lang="en-US" sz="2400" dirty="0">
                <a:effectLst>
                  <a:outerShdw blurRad="38100" dist="38100" dir="2700000" algn="tl">
                    <a:srgbClr val="C0C0C0"/>
                  </a:outerShdw>
                </a:effectLst>
                <a:ea typeface="+mj-ea"/>
              </a:rPr>
            </a:br>
            <a:r>
              <a:rPr lang="en-US" sz="2400" dirty="0">
                <a:effectLst>
                  <a:outerShdw blurRad="38100" dist="38100" dir="2700000" algn="tl">
                    <a:srgbClr val="C0C0C0"/>
                  </a:outerShdw>
                </a:effectLst>
                <a:ea typeface="+mj-ea"/>
              </a:rPr>
              <a:t>and Security</a:t>
            </a:r>
            <a:r>
              <a:rPr lang="en-US" dirty="0">
                <a:ea typeface="+mj-ea"/>
              </a:rPr>
              <a:t/>
            </a:r>
            <a:br>
              <a:rPr lang="en-US" dirty="0">
                <a:ea typeface="+mj-ea"/>
              </a:rPr>
            </a:br>
            <a:r>
              <a:rPr lang="en-US" dirty="0">
                <a:ea typeface="+mj-ea"/>
              </a:rPr>
              <a:t/>
            </a:r>
            <a:br>
              <a:rPr lang="en-US" dirty="0">
                <a:ea typeface="+mj-ea"/>
              </a:rPr>
            </a:br>
            <a:endParaRPr lang="en-US" dirty="0">
              <a:solidFill>
                <a:srgbClr val="0000FF"/>
              </a:solidFill>
              <a:ea typeface="+mj-ea"/>
            </a:endParaRPr>
          </a:p>
        </p:txBody>
      </p:sp>
      <p:sp>
        <p:nvSpPr>
          <p:cNvPr id="4099" name="Rectangle 3"/>
          <p:cNvSpPr>
            <a:spLocks noChangeArrowheads="1"/>
          </p:cNvSpPr>
          <p:nvPr/>
        </p:nvSpPr>
        <p:spPr bwMode="auto">
          <a:xfrm>
            <a:off x="0" y="609600"/>
            <a:ext cx="91440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4400" b="1">
                <a:solidFill>
                  <a:schemeClr val="accent2"/>
                </a:solidFill>
                <a:latin typeface="Trebuchet MS" panose="020B0603020202020204" pitchFamily="34" charset="0"/>
                <a:cs typeface="Arial" panose="020B0604020202020204" pitchFamily="34" charset="0"/>
              </a:rPr>
              <a:t>National University of</a:t>
            </a:r>
            <a:br>
              <a:rPr lang="en-US" altLang="en-US" sz="4400" b="1">
                <a:solidFill>
                  <a:schemeClr val="accent2"/>
                </a:solidFill>
                <a:latin typeface="Trebuchet MS" panose="020B0603020202020204" pitchFamily="34" charset="0"/>
                <a:cs typeface="Arial" panose="020B0604020202020204" pitchFamily="34" charset="0"/>
              </a:rPr>
            </a:br>
            <a:r>
              <a:rPr lang="en-US" altLang="en-US" sz="4400" b="1">
                <a:solidFill>
                  <a:schemeClr val="accent2"/>
                </a:solidFill>
                <a:latin typeface="Trebuchet MS" panose="020B0603020202020204" pitchFamily="34" charset="0"/>
                <a:cs typeface="Arial" panose="020B0604020202020204" pitchFamily="34" charset="0"/>
              </a:rPr>
              <a:t>Computer &amp; Emerging Sciences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598488" y="1074738"/>
            <a:ext cx="7886700" cy="669925"/>
          </a:xfrm>
        </p:spPr>
        <p:txBody>
          <a:bodyPr/>
          <a:lstStyle/>
          <a:p>
            <a:r>
              <a:rPr lang="en-US" altLang="en-US" smtClean="0">
                <a:cs typeface="Calibri" panose="020F0502020204030204" pitchFamily="34" charset="0"/>
              </a:rPr>
              <a:t>Chapter 1: roadmap</a:t>
            </a:r>
            <a:endParaRPr lang="en-US" altLang="en-US" smtClean="0"/>
          </a:p>
        </p:txBody>
      </p:sp>
      <p:sp>
        <p:nvSpPr>
          <p:cNvPr id="6147"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1FE58172-68A7-473F-ABC2-0BB0B54EB04F}" type="slidenum">
              <a:rPr lang="en-US" altLang="en-US" sz="1100">
                <a:solidFill>
                  <a:srgbClr val="7F7F7F"/>
                </a:solidFill>
              </a:rPr>
              <a:pPr>
                <a:spcBef>
                  <a:spcPct val="0"/>
                </a:spcBef>
                <a:buFontTx/>
                <a:buNone/>
              </a:pPr>
              <a:t>2</a:t>
            </a:fld>
            <a:endParaRPr lang="en-US" altLang="en-US" sz="1100">
              <a:solidFill>
                <a:srgbClr val="7F7F7F"/>
              </a:solidFill>
            </a:endParaRPr>
          </a:p>
        </p:txBody>
      </p:sp>
      <p:sp>
        <p:nvSpPr>
          <p:cNvPr id="9" name="Rectangle 4"/>
          <p:cNvSpPr>
            <a:spLocks noGrp="1" noChangeArrowheads="1"/>
          </p:cNvSpPr>
          <p:nvPr>
            <p:ph sz="half" idx="2"/>
          </p:nvPr>
        </p:nvSpPr>
        <p:spPr>
          <a:xfrm>
            <a:off x="598488" y="1917700"/>
            <a:ext cx="4964112" cy="3771900"/>
          </a:xfrm>
        </p:spPr>
        <p:txBody>
          <a:bodyPr>
            <a:normAutofit fontScale="92500" lnSpcReduction="10000"/>
          </a:bodyPr>
          <a:lstStyle/>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What </a:t>
            </a:r>
            <a:r>
              <a:rPr lang="en-US" altLang="en-US" sz="2400" i="1" dirty="0">
                <a:solidFill>
                  <a:schemeClr val="bg1">
                    <a:lumMod val="65000"/>
                  </a:schemeClr>
                </a:solidFill>
                <a:latin typeface="Calibri" panose="020F0502020204030204" pitchFamily="34" charset="0"/>
                <a:ea typeface="+mn-ea"/>
                <a:cs typeface="Calibri" panose="020F0502020204030204" pitchFamily="34" charset="0"/>
              </a:rPr>
              <a:t>is</a:t>
            </a:r>
            <a:r>
              <a:rPr lang="en-US" altLang="ja-JP" sz="2400" dirty="0">
                <a:solidFill>
                  <a:schemeClr val="bg1">
                    <a:lumMod val="65000"/>
                  </a:schemeClr>
                </a:solidFill>
                <a:latin typeface="Calibri" panose="020F0502020204030204" pitchFamily="34" charset="0"/>
                <a:ea typeface="+mn-ea"/>
                <a:cs typeface="Calibri" panose="020F0502020204030204" pitchFamily="34" charset="0"/>
              </a:rPr>
              <a:t> the Internet?</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What</a:t>
            </a:r>
            <a:r>
              <a:rPr lang="en-US" altLang="en-US" sz="2400" i="1" dirty="0">
                <a:solidFill>
                  <a:schemeClr val="bg1">
                    <a:lumMod val="65000"/>
                  </a:schemeClr>
                </a:solidFill>
                <a:latin typeface="Calibri" panose="020F0502020204030204" pitchFamily="34" charset="0"/>
                <a:ea typeface="+mn-ea"/>
                <a:cs typeface="Calibri" panose="020F0502020204030204" pitchFamily="34" charset="0"/>
              </a:rPr>
              <a:t> is </a:t>
            </a:r>
            <a:r>
              <a:rPr lang="en-US" altLang="ja-JP" sz="2400" dirty="0">
                <a:solidFill>
                  <a:schemeClr val="bg1">
                    <a:lumMod val="65000"/>
                  </a:schemeClr>
                </a:solidFill>
                <a:latin typeface="Calibri" panose="020F0502020204030204" pitchFamily="34" charset="0"/>
                <a:ea typeface="+mn-ea"/>
                <a:cs typeface="Calibri" panose="020F0502020204030204" pitchFamily="34" charset="0"/>
              </a:rPr>
              <a:t>a protocol?</a:t>
            </a:r>
          </a:p>
          <a:p>
            <a:pPr marL="302419" indent="-214313" eaLnBrk="1" hangingPunct="1">
              <a:spcBef>
                <a:spcPts val="600"/>
              </a:spcBef>
              <a:buClr>
                <a:schemeClr val="bg1">
                  <a:lumMod val="75000"/>
                </a:schemeClr>
              </a:buClr>
              <a:defRPr/>
            </a:pPr>
            <a:r>
              <a:rPr lang="en-US" altLang="en-US" sz="2400" dirty="0">
                <a:solidFill>
                  <a:schemeClr val="bg1">
                    <a:lumMod val="75000"/>
                  </a:schemeClr>
                </a:solidFill>
                <a:latin typeface="Calibri" panose="020F0502020204030204" pitchFamily="34" charset="0"/>
                <a:ea typeface="+mn-ea"/>
                <a:cs typeface="Calibri" panose="020F0502020204030204" pitchFamily="34" charset="0"/>
              </a:rPr>
              <a:t>Network edge: hosts, access network, physical media</a:t>
            </a:r>
          </a:p>
          <a:p>
            <a:pPr marL="302419" indent="-214313" eaLnBrk="1" hangingPunct="1">
              <a:spcBef>
                <a:spcPts val="600"/>
              </a:spcBef>
              <a:buClr>
                <a:schemeClr val="bg1">
                  <a:lumMod val="85000"/>
                </a:schemeClr>
              </a:buClr>
              <a:defRPr/>
            </a:pPr>
            <a:r>
              <a:rPr lang="en-US" altLang="en-US" sz="2400" dirty="0">
                <a:solidFill>
                  <a:schemeClr val="bg1">
                    <a:lumMod val="75000"/>
                  </a:schemeClr>
                </a:solidFill>
                <a:latin typeface="Calibri" panose="020F0502020204030204" pitchFamily="34" charset="0"/>
                <a:ea typeface="+mn-ea"/>
                <a:cs typeface="Calibri" panose="020F0502020204030204" pitchFamily="34" charset="0"/>
              </a:rPr>
              <a:t>Network core: packet/circuit switching, internet structure</a:t>
            </a:r>
          </a:p>
          <a:p>
            <a:pPr marL="302419" indent="-214313" eaLnBrk="1" hangingPunct="1">
              <a:spcBef>
                <a:spcPts val="600"/>
              </a:spcBef>
              <a:buClr>
                <a:srgbClr val="0000A8"/>
              </a:buClr>
              <a:defRPr/>
            </a:pPr>
            <a:r>
              <a:rPr lang="en-US" altLang="en-US" sz="2400" dirty="0">
                <a:latin typeface="Calibri" panose="020F0502020204030204" pitchFamily="34" charset="0"/>
                <a:ea typeface="+mn-ea"/>
                <a:cs typeface="Calibri" panose="020F0502020204030204" pitchFamily="34" charset="0"/>
              </a:rPr>
              <a:t>Performance: loss, delay, throughput</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Security</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Protocol layers, service models</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History</a:t>
            </a:r>
          </a:p>
          <a:p>
            <a:pPr eaLnBrk="1" hangingPunct="1">
              <a:buFont typeface="Wingdings" panose="05000000000000000000" pitchFamily="2" charset="2"/>
              <a:buNone/>
              <a:defRPr/>
            </a:pPr>
            <a:endParaRPr lang="en-US" altLang="en-US" sz="1800" dirty="0">
              <a:ea typeface="+mn-ea"/>
            </a:endParaRPr>
          </a:p>
        </p:txBody>
      </p:sp>
      <p:pic>
        <p:nvPicPr>
          <p:cNvPr id="6149" name="Picture 6" descr="Kurose&amp;Ross 8th ed cover pi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888" y="1827213"/>
            <a:ext cx="2743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noChangeArrowheads="1"/>
          </p:cNvSpPr>
          <p:nvPr>
            <p:ph type="title"/>
          </p:nvPr>
        </p:nvSpPr>
        <p:spPr>
          <a:xfrm>
            <a:off x="381000" y="395288"/>
            <a:ext cx="7886700" cy="671512"/>
          </a:xfrm>
        </p:spPr>
        <p:txBody>
          <a:bodyPr/>
          <a:lstStyle/>
          <a:p>
            <a:r>
              <a:rPr lang="en-US" altLang="en-US" sz="3300" smtClean="0"/>
              <a:t>How do packet delay and loss occur?</a:t>
            </a:r>
          </a:p>
        </p:txBody>
      </p:sp>
      <p:sp>
        <p:nvSpPr>
          <p:cNvPr id="7" name="Rectangle 3"/>
          <p:cNvSpPr>
            <a:spLocks noGrp="1" noChangeArrowheads="1"/>
          </p:cNvSpPr>
          <p:nvPr>
            <p:ph sz="half" idx="1"/>
          </p:nvPr>
        </p:nvSpPr>
        <p:spPr>
          <a:xfrm>
            <a:off x="619125" y="1231900"/>
            <a:ext cx="8353425" cy="3263900"/>
          </a:xfrm>
        </p:spPr>
        <p:txBody>
          <a:bodyPr/>
          <a:lstStyle/>
          <a:p>
            <a:pPr marL="385763">
              <a:defRPr/>
            </a:pPr>
            <a:r>
              <a:rPr lang="en-US" sz="2200" dirty="0">
                <a:ea typeface="+mn-ea"/>
              </a:rPr>
              <a:t>packets </a:t>
            </a:r>
            <a:r>
              <a:rPr lang="en-US" sz="2200" i="1" dirty="0">
                <a:solidFill>
                  <a:srgbClr val="C00000"/>
                </a:solidFill>
                <a:ea typeface="+mn-ea"/>
              </a:rPr>
              <a:t>queue</a:t>
            </a:r>
            <a:r>
              <a:rPr lang="en-US" sz="2200" dirty="0">
                <a:ea typeface="+mn-ea"/>
              </a:rPr>
              <a:t> in router buffers, waiting for turn for transmission</a:t>
            </a:r>
          </a:p>
          <a:p>
            <a:pPr marL="563166" lvl="1" indent="-208360">
              <a:buFont typeface="Wingdings" charset="2"/>
              <a:buChar char="§"/>
              <a:defRPr/>
            </a:pPr>
            <a:r>
              <a:rPr lang="en-US" sz="2200" dirty="0">
                <a:ea typeface="+mn-ea"/>
              </a:rPr>
              <a:t>queue length grows when arrival rate to link (temporarily) exceeds output link capacity </a:t>
            </a:r>
          </a:p>
          <a:p>
            <a:pPr marL="305991" indent="-208360" eaLnBrk="1" hangingPunct="1">
              <a:buFont typeface="Wingdings" charset="2"/>
              <a:buChar char="§"/>
              <a:defRPr/>
            </a:pPr>
            <a:r>
              <a:rPr lang="en-US" sz="2200" dirty="0">
                <a:ea typeface="+mn-ea"/>
              </a:rPr>
              <a:t>packet </a:t>
            </a:r>
            <a:r>
              <a:rPr lang="en-US" sz="2200" i="1" dirty="0">
                <a:solidFill>
                  <a:srgbClr val="CC0000"/>
                </a:solidFill>
                <a:ea typeface="+mn-ea"/>
              </a:rPr>
              <a:t>loss</a:t>
            </a:r>
            <a:r>
              <a:rPr lang="en-US" sz="2200" dirty="0">
                <a:solidFill>
                  <a:srgbClr val="CC0000"/>
                </a:solidFill>
                <a:ea typeface="+mn-ea"/>
              </a:rPr>
              <a:t> </a:t>
            </a:r>
            <a:r>
              <a:rPr lang="en-US" sz="2200" dirty="0">
                <a:ea typeface="+mn-ea"/>
              </a:rPr>
              <a:t>occurs when memory to hold queued packets fills up</a:t>
            </a:r>
          </a:p>
        </p:txBody>
      </p:sp>
      <p:grpSp>
        <p:nvGrpSpPr>
          <p:cNvPr id="8196" name="Group 2"/>
          <p:cNvGrpSpPr>
            <a:grpSpLocks/>
          </p:cNvGrpSpPr>
          <p:nvPr/>
        </p:nvGrpSpPr>
        <p:grpSpPr bwMode="auto">
          <a:xfrm>
            <a:off x="2266950" y="3857625"/>
            <a:ext cx="5862638" cy="2314575"/>
            <a:chOff x="2266258" y="3413521"/>
            <a:chExt cx="5863990" cy="2314069"/>
          </a:xfrm>
        </p:grpSpPr>
        <p:sp>
          <p:nvSpPr>
            <p:cNvPr id="19" name="Line 26"/>
            <p:cNvSpPr>
              <a:spLocks noChangeShapeType="1"/>
            </p:cNvSpPr>
            <p:nvPr/>
          </p:nvSpPr>
          <p:spPr bwMode="auto">
            <a:xfrm>
              <a:off x="4335248" y="4305501"/>
              <a:ext cx="1449721" cy="6349"/>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nvGrpSpPr>
            <p:cNvPr id="8199" name="Group 66"/>
            <p:cNvGrpSpPr>
              <a:grpSpLocks/>
            </p:cNvGrpSpPr>
            <p:nvPr/>
          </p:nvGrpSpPr>
          <p:grpSpPr bwMode="auto">
            <a:xfrm>
              <a:off x="3438662" y="4152847"/>
              <a:ext cx="1133514" cy="647753"/>
              <a:chOff x="7493876" y="2774731"/>
              <a:chExt cx="1481958" cy="894622"/>
            </a:xfrm>
          </p:grpSpPr>
          <p:sp>
            <p:nvSpPr>
              <p:cNvPr id="68" name="Freeform 67"/>
              <p:cNvSpPr/>
              <p:nvPr/>
            </p:nvSpPr>
            <p:spPr>
              <a:xfrm>
                <a:off x="7493145" y="3084206"/>
                <a:ext cx="1482248" cy="58527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69" name="Oval 68"/>
              <p:cNvSpPr/>
              <p:nvPr/>
            </p:nvSpPr>
            <p:spPr>
              <a:xfrm>
                <a:off x="7493145" y="2775127"/>
                <a:ext cx="1482248" cy="57869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8238" name="Group 69"/>
              <p:cNvGrpSpPr>
                <a:grpSpLocks/>
              </p:cNvGrpSpPr>
              <p:nvPr/>
            </p:nvGrpSpPr>
            <p:grpSpPr bwMode="auto">
              <a:xfrm>
                <a:off x="7713663" y="2848339"/>
                <a:ext cx="1042107" cy="425543"/>
                <a:chOff x="7786941" y="2884917"/>
                <a:chExt cx="897649" cy="353919"/>
              </a:xfrm>
            </p:grpSpPr>
            <p:sp>
              <p:nvSpPr>
                <p:cNvPr id="71" name="Freeform 70"/>
                <p:cNvSpPr/>
                <p:nvPr/>
              </p:nvSpPr>
              <p:spPr>
                <a:xfrm>
                  <a:off x="7811576" y="2886013"/>
                  <a:ext cx="849397" cy="198718"/>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72" name="Freeform 71"/>
                <p:cNvSpPr/>
                <p:nvPr/>
              </p:nvSpPr>
              <p:spPr>
                <a:xfrm>
                  <a:off x="8367708" y="3055561"/>
                  <a:ext cx="316512" cy="169547"/>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73" name="Freeform 72"/>
                <p:cNvSpPr/>
                <p:nvPr/>
              </p:nvSpPr>
              <p:spPr>
                <a:xfrm>
                  <a:off x="7786541" y="3055561"/>
                  <a:ext cx="311147" cy="16772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74" name="Freeform 73"/>
                <p:cNvSpPr/>
                <p:nvPr/>
              </p:nvSpPr>
              <p:spPr>
                <a:xfrm>
                  <a:off x="7893833" y="2971699"/>
                  <a:ext cx="677730" cy="267994"/>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8" name="Line 24"/>
            <p:cNvSpPr>
              <a:spLocks noChangeShapeType="1"/>
            </p:cNvSpPr>
            <p:nvPr/>
          </p:nvSpPr>
          <p:spPr bwMode="auto">
            <a:xfrm>
              <a:off x="2891877" y="3991245"/>
              <a:ext cx="555753" cy="266642"/>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201" name="Rectangle 30"/>
            <p:cNvSpPr>
              <a:spLocks noChangeArrowheads="1"/>
            </p:cNvSpPr>
            <p:nvPr/>
          </p:nvSpPr>
          <p:spPr bwMode="auto">
            <a:xfrm>
              <a:off x="4084497" y="4208347"/>
              <a:ext cx="110728" cy="150019"/>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8202" name="Rectangle 31"/>
            <p:cNvSpPr>
              <a:spLocks noChangeArrowheads="1"/>
            </p:cNvSpPr>
            <p:nvPr/>
          </p:nvSpPr>
          <p:spPr bwMode="auto">
            <a:xfrm>
              <a:off x="4201179" y="4208347"/>
              <a:ext cx="110728" cy="150019"/>
            </a:xfrm>
            <a:prstGeom prst="rect">
              <a:avLst/>
            </a:prstGeom>
            <a:solidFill>
              <a:srgbClr val="00B050"/>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8203" name="Rectangle 38"/>
            <p:cNvSpPr>
              <a:spLocks noChangeArrowheads="1"/>
            </p:cNvSpPr>
            <p:nvPr/>
          </p:nvSpPr>
          <p:spPr bwMode="auto">
            <a:xfrm>
              <a:off x="4302381" y="4161913"/>
              <a:ext cx="110729" cy="150019"/>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23" name="Line 25"/>
            <p:cNvSpPr>
              <a:spLocks noChangeShapeType="1"/>
            </p:cNvSpPr>
            <p:nvPr/>
          </p:nvSpPr>
          <p:spPr bwMode="auto">
            <a:xfrm flipV="1">
              <a:off x="2890290" y="4395969"/>
              <a:ext cx="550989" cy="412660"/>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205" name="Rectangle 32"/>
            <p:cNvSpPr>
              <a:spLocks noChangeArrowheads="1"/>
            </p:cNvSpPr>
            <p:nvPr/>
          </p:nvSpPr>
          <p:spPr bwMode="auto">
            <a:xfrm>
              <a:off x="3295112" y="4133338"/>
              <a:ext cx="110729" cy="150019"/>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25" name="Line 33"/>
            <p:cNvSpPr>
              <a:spLocks noChangeShapeType="1"/>
            </p:cNvSpPr>
            <p:nvPr/>
          </p:nvSpPr>
          <p:spPr bwMode="auto">
            <a:xfrm>
              <a:off x="3258675" y="4086474"/>
              <a:ext cx="157198"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207" name="Text Box 36"/>
            <p:cNvSpPr txBox="1">
              <a:spLocks noChangeArrowheads="1"/>
            </p:cNvSpPr>
            <p:nvPr/>
          </p:nvSpPr>
          <p:spPr bwMode="auto">
            <a:xfrm>
              <a:off x="2266258" y="3753528"/>
              <a:ext cx="34015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000000"/>
                  </a:solidFill>
                  <a:latin typeface="Calibri" panose="020F0502020204030204" pitchFamily="34" charset="0"/>
                </a:rPr>
                <a:t>A</a:t>
              </a:r>
            </a:p>
          </p:txBody>
        </p:sp>
        <p:sp>
          <p:nvSpPr>
            <p:cNvPr id="8208" name="Text Box 37"/>
            <p:cNvSpPr txBox="1">
              <a:spLocks noChangeArrowheads="1"/>
            </p:cNvSpPr>
            <p:nvPr/>
          </p:nvSpPr>
          <p:spPr bwMode="auto">
            <a:xfrm>
              <a:off x="2320991" y="4467903"/>
              <a:ext cx="3305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000000"/>
                  </a:solidFill>
                  <a:latin typeface="Calibri" panose="020F0502020204030204" pitchFamily="34" charset="0"/>
                </a:rPr>
                <a:t>B</a:t>
              </a:r>
            </a:p>
          </p:txBody>
        </p:sp>
        <p:grpSp>
          <p:nvGrpSpPr>
            <p:cNvPr id="8209" name="Group 66"/>
            <p:cNvGrpSpPr>
              <a:grpSpLocks/>
            </p:cNvGrpSpPr>
            <p:nvPr/>
          </p:nvGrpSpPr>
          <p:grpSpPr bwMode="auto">
            <a:xfrm>
              <a:off x="2346184" y="3753528"/>
              <a:ext cx="584597" cy="509588"/>
              <a:chOff x="-44" y="1473"/>
              <a:chExt cx="981" cy="1105"/>
            </a:xfrm>
          </p:grpSpPr>
          <p:pic>
            <p:nvPicPr>
              <p:cNvPr id="8234" name="Picture 6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reeform 68"/>
              <p:cNvSpPr>
                <a:spLocks/>
              </p:cNvSpPr>
              <p:nvPr/>
            </p:nvSpPr>
            <p:spPr bwMode="auto">
              <a:xfrm flipH="1">
                <a:off x="373" y="1579"/>
                <a:ext cx="480"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pic>
          <p:nvPicPr>
            <p:cNvPr id="8210" name="Picture 7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17467" y="4508384"/>
              <a:ext cx="584597"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71"/>
            <p:cNvSpPr>
              <a:spLocks/>
            </p:cNvSpPr>
            <p:nvPr/>
          </p:nvSpPr>
          <p:spPr bwMode="auto">
            <a:xfrm flipH="1">
              <a:off x="2666400" y="4557859"/>
              <a:ext cx="284229" cy="233311"/>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212" name="Rectangle 31"/>
            <p:cNvSpPr>
              <a:spLocks noChangeArrowheads="1"/>
            </p:cNvSpPr>
            <p:nvPr/>
          </p:nvSpPr>
          <p:spPr bwMode="auto">
            <a:xfrm>
              <a:off x="2967691" y="4625065"/>
              <a:ext cx="104775" cy="139304"/>
            </a:xfrm>
            <a:prstGeom prst="rect">
              <a:avLst/>
            </a:prstGeom>
            <a:solidFill>
              <a:srgbClr val="00B050"/>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45" name="Line 33"/>
            <p:cNvSpPr>
              <a:spLocks noChangeShapeType="1"/>
            </p:cNvSpPr>
            <p:nvPr/>
          </p:nvSpPr>
          <p:spPr bwMode="auto">
            <a:xfrm flipV="1">
              <a:off x="3098300" y="4602299"/>
              <a:ext cx="165138" cy="12221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214" name="Rectangle 89"/>
            <p:cNvSpPr>
              <a:spLocks noChangeArrowheads="1"/>
            </p:cNvSpPr>
            <p:nvPr/>
          </p:nvSpPr>
          <p:spPr bwMode="auto">
            <a:xfrm>
              <a:off x="3970197" y="4209538"/>
              <a:ext cx="110728" cy="150019"/>
            </a:xfrm>
            <a:prstGeom prst="rect">
              <a:avLst/>
            </a:prstGeom>
            <a:solidFill>
              <a:schemeClr val="bg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endParaRPr lang="en-US" altLang="en-US" sz="2100">
                <a:solidFill>
                  <a:srgbClr val="000000"/>
                </a:solidFill>
                <a:latin typeface="Calibri" panose="020F0502020204030204" pitchFamily="34" charset="0"/>
              </a:endParaRPr>
            </a:p>
          </p:txBody>
        </p:sp>
        <p:sp>
          <p:nvSpPr>
            <p:cNvPr id="8215" name="Rectangle 89"/>
            <p:cNvSpPr>
              <a:spLocks noChangeArrowheads="1"/>
            </p:cNvSpPr>
            <p:nvPr/>
          </p:nvSpPr>
          <p:spPr bwMode="auto">
            <a:xfrm>
              <a:off x="3858279" y="4208347"/>
              <a:ext cx="110728" cy="150019"/>
            </a:xfrm>
            <a:prstGeom prst="rect">
              <a:avLst/>
            </a:prstGeom>
            <a:solidFill>
              <a:schemeClr val="bg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endParaRPr lang="en-US" altLang="en-US" sz="2100">
                <a:solidFill>
                  <a:srgbClr val="000000"/>
                </a:solidFill>
                <a:latin typeface="Calibri" panose="020F0502020204030204" pitchFamily="34" charset="0"/>
              </a:endParaRPr>
            </a:p>
          </p:txBody>
        </p:sp>
        <p:sp>
          <p:nvSpPr>
            <p:cNvPr id="8216" name="Rectangle 89"/>
            <p:cNvSpPr>
              <a:spLocks noChangeArrowheads="1"/>
            </p:cNvSpPr>
            <p:nvPr/>
          </p:nvSpPr>
          <p:spPr bwMode="auto">
            <a:xfrm>
              <a:off x="3743979" y="4210728"/>
              <a:ext cx="110728" cy="150019"/>
            </a:xfrm>
            <a:prstGeom prst="rect">
              <a:avLst/>
            </a:prstGeom>
            <a:solidFill>
              <a:schemeClr val="bg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endParaRPr lang="en-US" altLang="en-US" sz="2100">
                <a:solidFill>
                  <a:srgbClr val="000000"/>
                </a:solidFill>
                <a:latin typeface="Calibri" panose="020F0502020204030204" pitchFamily="34" charset="0"/>
              </a:endParaRPr>
            </a:p>
          </p:txBody>
        </p:sp>
        <p:grpSp>
          <p:nvGrpSpPr>
            <p:cNvPr id="8217" name="Group 93"/>
            <p:cNvGrpSpPr>
              <a:grpSpLocks/>
            </p:cNvGrpSpPr>
            <p:nvPr/>
          </p:nvGrpSpPr>
          <p:grpSpPr bwMode="auto">
            <a:xfrm>
              <a:off x="3208197" y="3413521"/>
              <a:ext cx="4462464" cy="929879"/>
              <a:chOff x="1279" y="2225"/>
              <a:chExt cx="3748" cy="781"/>
            </a:xfrm>
          </p:grpSpPr>
          <p:sp>
            <p:nvSpPr>
              <p:cNvPr id="8232" name="Text Box 66"/>
              <p:cNvSpPr txBox="1">
                <a:spLocks noChangeArrowheads="1"/>
              </p:cNvSpPr>
              <p:nvPr/>
            </p:nvSpPr>
            <p:spPr bwMode="auto">
              <a:xfrm>
                <a:off x="1279" y="2225"/>
                <a:ext cx="374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000000"/>
                    </a:solidFill>
                    <a:latin typeface="Calibri" panose="020F0502020204030204" pitchFamily="34" charset="0"/>
                  </a:rPr>
                  <a:t>packet being transmitted </a:t>
                </a:r>
                <a:r>
                  <a:rPr lang="en-US" altLang="en-US" sz="1800">
                    <a:solidFill>
                      <a:srgbClr val="CC0000"/>
                    </a:solidFill>
                    <a:latin typeface="Calibri" panose="020F0502020204030204" pitchFamily="34" charset="0"/>
                  </a:rPr>
                  <a:t>(transmission delay)</a:t>
                </a:r>
              </a:p>
            </p:txBody>
          </p:sp>
          <p:sp>
            <p:nvSpPr>
              <p:cNvPr id="51" name="Line 67"/>
              <p:cNvSpPr>
                <a:spLocks noChangeShapeType="1"/>
              </p:cNvSpPr>
              <p:nvPr/>
            </p:nvSpPr>
            <p:spPr bwMode="auto">
              <a:xfrm rot="10800000" flipV="1">
                <a:off x="2259" y="2462"/>
                <a:ext cx="836" cy="544"/>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grpSp>
          <p:nvGrpSpPr>
            <p:cNvPr id="8218" name="Group 94"/>
            <p:cNvGrpSpPr>
              <a:grpSpLocks/>
            </p:cNvGrpSpPr>
            <p:nvPr/>
          </p:nvGrpSpPr>
          <p:grpSpPr bwMode="auto">
            <a:xfrm>
              <a:off x="4163080" y="4414321"/>
              <a:ext cx="3967168" cy="697705"/>
              <a:chOff x="2103" y="3214"/>
              <a:chExt cx="3332" cy="586"/>
            </a:xfrm>
          </p:grpSpPr>
          <p:sp>
            <p:nvSpPr>
              <p:cNvPr id="8230" name="Text Box 72"/>
              <p:cNvSpPr txBox="1">
                <a:spLocks noChangeArrowheads="1"/>
              </p:cNvSpPr>
              <p:nvPr/>
            </p:nvSpPr>
            <p:spPr bwMode="auto">
              <a:xfrm>
                <a:off x="2530" y="3490"/>
                <a:ext cx="290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000000"/>
                    </a:solidFill>
                    <a:latin typeface="Calibri" panose="020F0502020204030204" pitchFamily="34" charset="0"/>
                  </a:rPr>
                  <a:t>packets in buffers</a:t>
                </a:r>
                <a:r>
                  <a:rPr lang="en-US" altLang="en-US" sz="1800">
                    <a:solidFill>
                      <a:srgbClr val="FF0000"/>
                    </a:solidFill>
                    <a:latin typeface="Calibri" panose="020F0502020204030204" pitchFamily="34" charset="0"/>
                  </a:rPr>
                  <a:t> </a:t>
                </a:r>
                <a:r>
                  <a:rPr lang="en-US" altLang="en-US" sz="1800">
                    <a:solidFill>
                      <a:srgbClr val="CC0000"/>
                    </a:solidFill>
                    <a:latin typeface="Calibri" panose="020F0502020204030204" pitchFamily="34" charset="0"/>
                  </a:rPr>
                  <a:t>(queueing delay)</a:t>
                </a:r>
              </a:p>
            </p:txBody>
          </p:sp>
          <p:sp>
            <p:nvSpPr>
              <p:cNvPr id="54" name="Line 73"/>
              <p:cNvSpPr>
                <a:spLocks noChangeShapeType="1"/>
              </p:cNvSpPr>
              <p:nvPr/>
            </p:nvSpPr>
            <p:spPr bwMode="auto">
              <a:xfrm rot="10800000">
                <a:off x="2104" y="3215"/>
                <a:ext cx="471" cy="404"/>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grpSp>
          <p:nvGrpSpPr>
            <p:cNvPr id="8219" name="Group 95"/>
            <p:cNvGrpSpPr>
              <a:grpSpLocks/>
            </p:cNvGrpSpPr>
            <p:nvPr/>
          </p:nvGrpSpPr>
          <p:grpSpPr bwMode="auto">
            <a:xfrm>
              <a:off x="3351072" y="4385754"/>
              <a:ext cx="3933825" cy="1341836"/>
              <a:chOff x="1421" y="3190"/>
              <a:chExt cx="3304" cy="1127"/>
            </a:xfrm>
          </p:grpSpPr>
          <p:sp>
            <p:nvSpPr>
              <p:cNvPr id="56" name="Line 91"/>
              <p:cNvSpPr>
                <a:spLocks noChangeShapeType="1"/>
              </p:cNvSpPr>
              <p:nvPr/>
            </p:nvSpPr>
            <p:spPr bwMode="auto">
              <a:xfrm rot="10800000" flipH="1">
                <a:off x="1793" y="3191"/>
                <a:ext cx="111" cy="629"/>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229" name="Text Box 92"/>
              <p:cNvSpPr txBox="1">
                <a:spLocks noChangeArrowheads="1"/>
              </p:cNvSpPr>
              <p:nvPr/>
            </p:nvSpPr>
            <p:spPr bwMode="auto">
              <a:xfrm>
                <a:off x="1421" y="3774"/>
                <a:ext cx="3304"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000000"/>
                    </a:solidFill>
                    <a:latin typeface="Calibri" panose="020F0502020204030204" pitchFamily="34" charset="0"/>
                  </a:rPr>
                  <a:t>free (available) buffers: arriving packets </a:t>
                </a:r>
              </a:p>
              <a:p>
                <a:pPr eaLnBrk="1" hangingPunct="1">
                  <a:spcBef>
                    <a:spcPct val="0"/>
                  </a:spcBef>
                  <a:buFontTx/>
                  <a:buNone/>
                </a:pPr>
                <a:r>
                  <a:rPr lang="en-US" altLang="en-US" sz="1800">
                    <a:solidFill>
                      <a:srgbClr val="000000"/>
                    </a:solidFill>
                    <a:latin typeface="Calibri" panose="020F0502020204030204" pitchFamily="34" charset="0"/>
                  </a:rPr>
                  <a:t>dropped (</a:t>
                </a:r>
                <a:r>
                  <a:rPr lang="en-US" altLang="en-US" sz="1800">
                    <a:solidFill>
                      <a:srgbClr val="CC0000"/>
                    </a:solidFill>
                    <a:latin typeface="Calibri" panose="020F0502020204030204" pitchFamily="34" charset="0"/>
                  </a:rPr>
                  <a:t>loss</a:t>
                </a:r>
                <a:r>
                  <a:rPr lang="en-US" altLang="en-US" sz="1800">
                    <a:solidFill>
                      <a:srgbClr val="000000"/>
                    </a:solidFill>
                    <a:latin typeface="Calibri" panose="020F0502020204030204" pitchFamily="34" charset="0"/>
                  </a:rPr>
                  <a:t>) if no free buffers</a:t>
                </a:r>
              </a:p>
            </p:txBody>
          </p:sp>
        </p:grpSp>
        <p:grpSp>
          <p:nvGrpSpPr>
            <p:cNvPr id="8220" name="Group 58"/>
            <p:cNvGrpSpPr>
              <a:grpSpLocks/>
            </p:cNvGrpSpPr>
            <p:nvPr/>
          </p:nvGrpSpPr>
          <p:grpSpPr bwMode="auto">
            <a:xfrm>
              <a:off x="5792259" y="4025720"/>
              <a:ext cx="1133514" cy="647753"/>
              <a:chOff x="7493876" y="2774731"/>
              <a:chExt cx="1481958" cy="894622"/>
            </a:xfrm>
          </p:grpSpPr>
          <p:sp>
            <p:nvSpPr>
              <p:cNvPr id="60" name="Freeform 59"/>
              <p:cNvSpPr/>
              <p:nvPr/>
            </p:nvSpPr>
            <p:spPr>
              <a:xfrm>
                <a:off x="7494726" y="3084420"/>
                <a:ext cx="1480172" cy="58527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61" name="Oval 60"/>
              <p:cNvSpPr/>
              <p:nvPr/>
            </p:nvSpPr>
            <p:spPr>
              <a:xfrm>
                <a:off x="7494726" y="2775341"/>
                <a:ext cx="1480172" cy="57869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8223" name="Group 61"/>
              <p:cNvGrpSpPr>
                <a:grpSpLocks/>
              </p:cNvGrpSpPr>
              <p:nvPr/>
            </p:nvGrpSpPr>
            <p:grpSpPr bwMode="auto">
              <a:xfrm>
                <a:off x="7713663" y="2848339"/>
                <a:ext cx="1042107" cy="425543"/>
                <a:chOff x="7786941" y="2884917"/>
                <a:chExt cx="897649" cy="353919"/>
              </a:xfrm>
            </p:grpSpPr>
            <p:sp>
              <p:nvSpPr>
                <p:cNvPr id="63" name="Freeform 62"/>
                <p:cNvSpPr/>
                <p:nvPr/>
              </p:nvSpPr>
              <p:spPr>
                <a:xfrm>
                  <a:off x="7812938" y="2886191"/>
                  <a:ext cx="847609" cy="198718"/>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64" name="Freeform 63"/>
                <p:cNvSpPr/>
                <p:nvPr/>
              </p:nvSpPr>
              <p:spPr>
                <a:xfrm>
                  <a:off x="8367281" y="3055739"/>
                  <a:ext cx="316512" cy="169547"/>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65" name="Freeform 64"/>
                <p:cNvSpPr/>
                <p:nvPr/>
              </p:nvSpPr>
              <p:spPr>
                <a:xfrm>
                  <a:off x="7787903" y="3055739"/>
                  <a:ext cx="311147" cy="16772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66" name="Freeform 65"/>
                <p:cNvSpPr/>
                <p:nvPr/>
              </p:nvSpPr>
              <p:spPr>
                <a:xfrm>
                  <a:off x="7895195" y="2971877"/>
                  <a:ext cx="675941" cy="267994"/>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sp>
        <p:nvSpPr>
          <p:cNvPr id="8197"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BE47347C-A94E-4BDA-AC97-5AA6883F09CF}" type="slidenum">
              <a:rPr lang="en-US" altLang="en-US" sz="1100">
                <a:solidFill>
                  <a:srgbClr val="7F7F7F"/>
                </a:solidFill>
              </a:rPr>
              <a:pPr>
                <a:spcBef>
                  <a:spcPct val="0"/>
                </a:spcBef>
                <a:buFontTx/>
                <a:buNone/>
              </a:pPr>
              <a:t>3</a:t>
            </a:fld>
            <a:endParaRPr lang="en-US" altLang="en-US" sz="1100">
              <a:solidFill>
                <a:srgbClr val="7F7F7F"/>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134"/>
          <p:cNvGrpSpPr>
            <a:grpSpLocks/>
          </p:cNvGrpSpPr>
          <p:nvPr/>
        </p:nvGrpSpPr>
        <p:grpSpPr bwMode="auto">
          <a:xfrm>
            <a:off x="2522538" y="2182813"/>
            <a:ext cx="1135062" cy="647700"/>
            <a:chOff x="7493876" y="2774731"/>
            <a:chExt cx="1481958" cy="894622"/>
          </a:xfrm>
        </p:grpSpPr>
        <p:sp>
          <p:nvSpPr>
            <p:cNvPr id="136" name="Freeform 135"/>
            <p:cNvSpPr/>
            <p:nvPr/>
          </p:nvSpPr>
          <p:spPr>
            <a:xfrm>
              <a:off x="7493876" y="3083901"/>
              <a:ext cx="1481958" cy="585452"/>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37" name="Oval 136"/>
            <p:cNvSpPr/>
            <p:nvPr/>
          </p:nvSpPr>
          <p:spPr>
            <a:xfrm>
              <a:off x="7493876" y="2774731"/>
              <a:ext cx="1481958" cy="57887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0287" name="Group 137"/>
            <p:cNvGrpSpPr>
              <a:grpSpLocks/>
            </p:cNvGrpSpPr>
            <p:nvPr/>
          </p:nvGrpSpPr>
          <p:grpSpPr bwMode="auto">
            <a:xfrm>
              <a:off x="7713663" y="2848339"/>
              <a:ext cx="1042107" cy="425543"/>
              <a:chOff x="7786941" y="2884917"/>
              <a:chExt cx="897649" cy="353919"/>
            </a:xfrm>
          </p:grpSpPr>
          <p:sp>
            <p:nvSpPr>
              <p:cNvPr id="139" name="Freeform 138"/>
              <p:cNvSpPr/>
              <p:nvPr/>
            </p:nvSpPr>
            <p:spPr>
              <a:xfrm>
                <a:off x="7811864" y="2885702"/>
                <a:ext cx="849829" cy="198777"/>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0" name="Freeform 139"/>
              <p:cNvSpPr/>
              <p:nvPr/>
            </p:nvSpPr>
            <p:spPr>
              <a:xfrm>
                <a:off x="8367109" y="3055300"/>
                <a:ext cx="317793" cy="16959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1" name="Freeform 140"/>
              <p:cNvSpPr/>
              <p:nvPr/>
            </p:nvSpPr>
            <p:spPr>
              <a:xfrm>
                <a:off x="7786869" y="3055300"/>
                <a:ext cx="310652" cy="16777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2" name="Freeform 141"/>
              <p:cNvSpPr/>
              <p:nvPr/>
            </p:nvSpPr>
            <p:spPr>
              <a:xfrm>
                <a:off x="7895775" y="2971412"/>
                <a:ext cx="676650" cy="2680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10243" name="Title 1"/>
          <p:cNvSpPr>
            <a:spLocks noGrp="1" noChangeArrowheads="1"/>
          </p:cNvSpPr>
          <p:nvPr>
            <p:ph type="title"/>
          </p:nvPr>
        </p:nvSpPr>
        <p:spPr>
          <a:xfrm>
            <a:off x="619125" y="1076325"/>
            <a:ext cx="7886700" cy="671513"/>
          </a:xfrm>
        </p:spPr>
        <p:txBody>
          <a:bodyPr/>
          <a:lstStyle/>
          <a:p>
            <a:r>
              <a:rPr lang="en-US" altLang="en-US" sz="3300" smtClean="0"/>
              <a:t>Packet delay: four sources</a:t>
            </a:r>
          </a:p>
        </p:txBody>
      </p:sp>
      <p:sp>
        <p:nvSpPr>
          <p:cNvPr id="58" name="Rectangle 4"/>
          <p:cNvSpPr txBox="1">
            <a:spLocks noChangeArrowheads="1"/>
          </p:cNvSpPr>
          <p:nvPr/>
        </p:nvSpPr>
        <p:spPr>
          <a:xfrm>
            <a:off x="1216025" y="4310063"/>
            <a:ext cx="2857500" cy="1379537"/>
          </a:xfrm>
          <a:prstGeom prst="rect">
            <a:avLst/>
          </a:prstGeom>
        </p:spPr>
        <p:txBody>
          <a:bodyPr lIns="68580" tIns="34290" rIns="68580" bIns="34290"/>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21456" defTabSz="685800" fontAlgn="auto">
              <a:spcBef>
                <a:spcPts val="450"/>
              </a:spcBef>
              <a:spcAft>
                <a:spcPts val="0"/>
              </a:spcAft>
              <a:buFont typeface="Wingdings" pitchFamily="2" charset="2"/>
              <a:buNone/>
              <a:defRPr/>
            </a:pPr>
            <a:r>
              <a:rPr lang="en-US" sz="2100" i="1" dirty="0">
                <a:solidFill>
                  <a:srgbClr val="CC0000"/>
                </a:solidFill>
                <a:latin typeface="Calibri" panose="020F0502020204030204"/>
              </a:rPr>
              <a:t>d</a:t>
            </a:r>
            <a:r>
              <a:rPr lang="en-US" sz="2100" baseline="-25000" dirty="0">
                <a:solidFill>
                  <a:srgbClr val="CC0000"/>
                </a:solidFill>
                <a:latin typeface="Calibri" panose="020F0502020204030204"/>
              </a:rPr>
              <a:t>proc</a:t>
            </a:r>
            <a:r>
              <a:rPr lang="en-US" sz="2100" dirty="0">
                <a:solidFill>
                  <a:srgbClr val="CC0000"/>
                </a:solidFill>
                <a:latin typeface="Calibri" panose="020F0502020204030204"/>
              </a:rPr>
              <a:t>: nodal processing</a:t>
            </a:r>
            <a:r>
              <a:rPr lang="en-US" sz="2100" dirty="0">
                <a:solidFill>
                  <a:prstClr val="black"/>
                </a:solidFill>
                <a:latin typeface="Calibri" panose="020F0502020204030204"/>
              </a:rPr>
              <a:t> </a:t>
            </a:r>
          </a:p>
          <a:p>
            <a:pPr marL="261938" indent="-175022" defTabSz="685800" fontAlgn="auto">
              <a:spcBef>
                <a:spcPts val="450"/>
              </a:spcBef>
              <a:spcAft>
                <a:spcPts val="0"/>
              </a:spcAft>
              <a:buFont typeface="Wingdings" charset="0"/>
              <a:buChar char="§"/>
              <a:defRPr/>
            </a:pPr>
            <a:r>
              <a:rPr lang="en-US" sz="1800" dirty="0">
                <a:solidFill>
                  <a:prstClr val="black"/>
                </a:solidFill>
                <a:latin typeface="Calibri" panose="020F0502020204030204"/>
              </a:rPr>
              <a:t>check bit errors</a:t>
            </a:r>
          </a:p>
          <a:p>
            <a:pPr marL="261938" indent="-175022" defTabSz="685800" fontAlgn="auto">
              <a:spcBef>
                <a:spcPts val="450"/>
              </a:spcBef>
              <a:spcAft>
                <a:spcPts val="0"/>
              </a:spcAft>
              <a:buFont typeface="Wingdings" charset="0"/>
              <a:buChar char="§"/>
              <a:defRPr/>
            </a:pPr>
            <a:r>
              <a:rPr lang="en-US" sz="1800" dirty="0">
                <a:solidFill>
                  <a:prstClr val="black"/>
                </a:solidFill>
                <a:latin typeface="Calibri" panose="020F0502020204030204"/>
              </a:rPr>
              <a:t>determine output link</a:t>
            </a:r>
          </a:p>
          <a:p>
            <a:pPr marL="261938" indent="-175022" defTabSz="685800" fontAlgn="auto">
              <a:spcBef>
                <a:spcPts val="450"/>
              </a:spcBef>
              <a:spcAft>
                <a:spcPts val="0"/>
              </a:spcAft>
              <a:buFont typeface="Wingdings" charset="0"/>
              <a:buChar char="§"/>
              <a:defRPr/>
            </a:pPr>
            <a:r>
              <a:rPr lang="en-US" sz="1800" dirty="0">
                <a:solidFill>
                  <a:prstClr val="black"/>
                </a:solidFill>
                <a:latin typeface="Calibri" panose="020F0502020204030204"/>
              </a:rPr>
              <a:t>typically &lt; microsecs</a:t>
            </a:r>
          </a:p>
        </p:txBody>
      </p:sp>
      <p:sp>
        <p:nvSpPr>
          <p:cNvPr id="75" name="Rectangle 58"/>
          <p:cNvSpPr>
            <a:spLocks noChangeArrowheads="1"/>
          </p:cNvSpPr>
          <p:nvPr/>
        </p:nvSpPr>
        <p:spPr bwMode="auto">
          <a:xfrm>
            <a:off x="4659313" y="4259263"/>
            <a:ext cx="3790950" cy="1046162"/>
          </a:xfrm>
          <a:prstGeom prst="rect">
            <a:avLst/>
          </a:prstGeom>
          <a:noFill/>
          <a:ln>
            <a:noFill/>
          </a:ln>
        </p:spPr>
        <p:txBody>
          <a:bodyPr/>
          <a:lstStyle/>
          <a:p>
            <a:pPr marL="258366" indent="-258366" defTabSz="685800" eaLnBrk="1" fontAlgn="auto" hangingPunct="1">
              <a:lnSpc>
                <a:spcPct val="90000"/>
              </a:lnSpc>
              <a:spcBef>
                <a:spcPts val="450"/>
              </a:spcBef>
              <a:spcAft>
                <a:spcPts val="0"/>
              </a:spcAft>
              <a:buClr>
                <a:srgbClr val="3333CC"/>
              </a:buClr>
              <a:buSzPct val="85000"/>
              <a:defRPr/>
            </a:pPr>
            <a:r>
              <a:rPr lang="en-US" sz="1500" dirty="0">
                <a:solidFill>
                  <a:srgbClr val="FF0000"/>
                </a:solidFill>
                <a:latin typeface="Calibri" panose="020F0502020204030204"/>
                <a:ea typeface="ＭＳ Ｐゴシック" charset="0"/>
                <a:cs typeface="ＭＳ Ｐゴシック" charset="0"/>
              </a:rPr>
              <a:t> </a:t>
            </a:r>
            <a:r>
              <a:rPr lang="en-US" sz="2100" i="1" dirty="0">
                <a:solidFill>
                  <a:srgbClr val="CC0000"/>
                </a:solidFill>
                <a:latin typeface="Calibri" panose="020F0502020204030204"/>
                <a:ea typeface="ＭＳ Ｐゴシック" charset="0"/>
                <a:cs typeface="ＭＳ Ｐゴシック" charset="0"/>
              </a:rPr>
              <a:t>d</a:t>
            </a:r>
            <a:r>
              <a:rPr lang="en-US" sz="2100" baseline="-25000" dirty="0">
                <a:solidFill>
                  <a:srgbClr val="CC0000"/>
                </a:solidFill>
                <a:latin typeface="Calibri" panose="020F0502020204030204"/>
                <a:ea typeface="ＭＳ Ｐゴシック" charset="0"/>
                <a:cs typeface="ＭＳ Ｐゴシック" charset="0"/>
              </a:rPr>
              <a:t>queue</a:t>
            </a:r>
            <a:r>
              <a:rPr lang="en-US" sz="2100" dirty="0">
                <a:solidFill>
                  <a:srgbClr val="CC0000"/>
                </a:solidFill>
                <a:latin typeface="Calibri" panose="020F0502020204030204"/>
                <a:ea typeface="ＭＳ Ｐゴシック" charset="0"/>
                <a:cs typeface="ＭＳ Ｐゴシック" charset="0"/>
              </a:rPr>
              <a:t>: queueing delay</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dirty="0">
                <a:solidFill>
                  <a:srgbClr val="000000"/>
                </a:solidFill>
                <a:latin typeface="Calibri" panose="020F0502020204030204"/>
                <a:ea typeface="ＭＳ Ｐゴシック" charset="0"/>
                <a:cs typeface="ＭＳ Ｐゴシック" charset="0"/>
              </a:rPr>
              <a:t>time waiting at output link for transmission </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dirty="0">
                <a:solidFill>
                  <a:srgbClr val="000000"/>
                </a:solidFill>
                <a:latin typeface="Calibri" panose="020F0502020204030204"/>
                <a:ea typeface="ＭＳ Ｐゴシック" charset="0"/>
                <a:cs typeface="ＭＳ Ｐゴシック" charset="0"/>
              </a:rPr>
              <a:t>depends on congestion level of router</a:t>
            </a:r>
          </a:p>
        </p:txBody>
      </p:sp>
      <p:sp>
        <p:nvSpPr>
          <p:cNvPr id="77" name="Line 24"/>
          <p:cNvSpPr>
            <a:spLocks noChangeShapeType="1"/>
          </p:cNvSpPr>
          <p:nvPr/>
        </p:nvSpPr>
        <p:spPr bwMode="auto">
          <a:xfrm>
            <a:off x="1965325" y="2195513"/>
            <a:ext cx="557213" cy="266700"/>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47" name="Rectangle 29"/>
          <p:cNvSpPr>
            <a:spLocks noChangeArrowheads="1"/>
          </p:cNvSpPr>
          <p:nvPr/>
        </p:nvSpPr>
        <p:spPr bwMode="auto">
          <a:xfrm>
            <a:off x="4098925" y="2359025"/>
            <a:ext cx="109538" cy="15081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0248" name="Rectangle 30"/>
          <p:cNvSpPr>
            <a:spLocks noChangeArrowheads="1"/>
          </p:cNvSpPr>
          <p:nvPr/>
        </p:nvSpPr>
        <p:spPr bwMode="auto">
          <a:xfrm>
            <a:off x="3159125" y="2413000"/>
            <a:ext cx="111125" cy="149225"/>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0249" name="Rectangle 31"/>
          <p:cNvSpPr>
            <a:spLocks noChangeArrowheads="1"/>
          </p:cNvSpPr>
          <p:nvPr/>
        </p:nvSpPr>
        <p:spPr bwMode="auto">
          <a:xfrm>
            <a:off x="3279775" y="2413000"/>
            <a:ext cx="111125" cy="149225"/>
          </a:xfrm>
          <a:prstGeom prst="rect">
            <a:avLst/>
          </a:prstGeom>
          <a:solidFill>
            <a:srgbClr val="00B050"/>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83" name="Line 35"/>
          <p:cNvSpPr>
            <a:spLocks noChangeShapeType="1"/>
          </p:cNvSpPr>
          <p:nvPr/>
        </p:nvSpPr>
        <p:spPr bwMode="auto">
          <a:xfrm flipV="1">
            <a:off x="5281613" y="2232025"/>
            <a:ext cx="274637"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51" name="Rectangle 38"/>
          <p:cNvSpPr>
            <a:spLocks noChangeArrowheads="1"/>
          </p:cNvSpPr>
          <p:nvPr/>
        </p:nvSpPr>
        <p:spPr bwMode="auto">
          <a:xfrm>
            <a:off x="3376613" y="2366963"/>
            <a:ext cx="111125" cy="149225"/>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0252" name="Text Box 39"/>
          <p:cNvSpPr txBox="1">
            <a:spLocks noChangeArrowheads="1"/>
          </p:cNvSpPr>
          <p:nvPr/>
        </p:nvSpPr>
        <p:spPr bwMode="auto">
          <a:xfrm>
            <a:off x="4027488" y="2047875"/>
            <a:ext cx="132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CC0000"/>
                </a:solidFill>
                <a:latin typeface="Calibri" panose="020F0502020204030204" pitchFamily="34" charset="0"/>
              </a:rPr>
              <a:t>propagation</a:t>
            </a:r>
            <a:endParaRPr lang="en-US" altLang="en-US" sz="1500">
              <a:solidFill>
                <a:srgbClr val="CC0000"/>
              </a:solidFill>
              <a:latin typeface="Calibri" panose="020F0502020204030204" pitchFamily="34" charset="0"/>
            </a:endParaRPr>
          </a:p>
        </p:txBody>
      </p:sp>
      <p:sp>
        <p:nvSpPr>
          <p:cNvPr id="86" name="Line 40"/>
          <p:cNvSpPr>
            <a:spLocks noChangeShapeType="1"/>
          </p:cNvSpPr>
          <p:nvPr/>
        </p:nvSpPr>
        <p:spPr bwMode="auto">
          <a:xfrm rot="10800000">
            <a:off x="3805238" y="2230438"/>
            <a:ext cx="239712"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54" name="Text Box 43"/>
          <p:cNvSpPr txBox="1">
            <a:spLocks noChangeArrowheads="1"/>
          </p:cNvSpPr>
          <p:nvPr/>
        </p:nvSpPr>
        <p:spPr bwMode="auto">
          <a:xfrm>
            <a:off x="2238375" y="2905125"/>
            <a:ext cx="11811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80000"/>
              </a:lnSpc>
              <a:spcBef>
                <a:spcPct val="0"/>
              </a:spcBef>
              <a:buFontTx/>
              <a:buNone/>
            </a:pPr>
            <a:r>
              <a:rPr lang="en-US" altLang="en-US" sz="1800">
                <a:solidFill>
                  <a:srgbClr val="CC0000"/>
                </a:solidFill>
                <a:latin typeface="Calibri" panose="020F0502020204030204" pitchFamily="34" charset="0"/>
              </a:rPr>
              <a:t>nodal</a:t>
            </a:r>
          </a:p>
          <a:p>
            <a:pPr algn="ctr" eaLnBrk="1" hangingPunct="1">
              <a:lnSpc>
                <a:spcPct val="80000"/>
              </a:lnSpc>
              <a:spcBef>
                <a:spcPct val="0"/>
              </a:spcBef>
              <a:buFontTx/>
              <a:buNone/>
            </a:pPr>
            <a:r>
              <a:rPr lang="en-US" altLang="en-US" sz="1800">
                <a:solidFill>
                  <a:srgbClr val="CC0000"/>
                </a:solidFill>
                <a:latin typeface="Calibri" panose="020F0502020204030204" pitchFamily="34" charset="0"/>
              </a:rPr>
              <a:t>processing</a:t>
            </a:r>
          </a:p>
        </p:txBody>
      </p:sp>
      <p:sp>
        <p:nvSpPr>
          <p:cNvPr id="88" name="Line 44"/>
          <p:cNvSpPr>
            <a:spLocks noChangeShapeType="1"/>
          </p:cNvSpPr>
          <p:nvPr/>
        </p:nvSpPr>
        <p:spPr bwMode="auto">
          <a:xfrm rot="10800000">
            <a:off x="2522538" y="2905125"/>
            <a:ext cx="625475" cy="0"/>
          </a:xfrm>
          <a:prstGeom prst="line">
            <a:avLst/>
          </a:prstGeom>
          <a:noFill/>
          <a:ln w="9525">
            <a:solidFill>
              <a:schemeClr val="tx1"/>
            </a:solidFill>
            <a:round/>
            <a:headEnd type="triangle" w="med" len="me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9" name="Line 45"/>
          <p:cNvSpPr>
            <a:spLocks noChangeShapeType="1"/>
          </p:cNvSpPr>
          <p:nvPr/>
        </p:nvSpPr>
        <p:spPr bwMode="auto">
          <a:xfrm rot="10800000" flipV="1">
            <a:off x="3141663" y="2759075"/>
            <a:ext cx="288925" cy="0"/>
          </a:xfrm>
          <a:prstGeom prst="line">
            <a:avLst/>
          </a:prstGeom>
          <a:noFill/>
          <a:ln w="9525">
            <a:solidFill>
              <a:schemeClr val="tx1"/>
            </a:solidFill>
            <a:round/>
            <a:headEnd type="triangle" w="med" len="me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57" name="Text Box 46"/>
          <p:cNvSpPr txBox="1">
            <a:spLocks noChangeArrowheads="1"/>
          </p:cNvSpPr>
          <p:nvPr/>
        </p:nvSpPr>
        <p:spPr bwMode="auto">
          <a:xfrm>
            <a:off x="3446463" y="3074988"/>
            <a:ext cx="1065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CC0000"/>
                </a:solidFill>
                <a:latin typeface="Calibri" panose="020F0502020204030204" pitchFamily="34" charset="0"/>
              </a:rPr>
              <a:t>queueing</a:t>
            </a:r>
            <a:endParaRPr lang="en-US" altLang="en-US" sz="1500">
              <a:solidFill>
                <a:srgbClr val="CC0000"/>
              </a:solidFill>
              <a:latin typeface="Calibri" panose="020F0502020204030204" pitchFamily="34" charset="0"/>
            </a:endParaRPr>
          </a:p>
        </p:txBody>
      </p:sp>
      <p:sp>
        <p:nvSpPr>
          <p:cNvPr id="91" name="Line 47"/>
          <p:cNvSpPr>
            <a:spLocks noChangeShapeType="1"/>
          </p:cNvSpPr>
          <p:nvPr/>
        </p:nvSpPr>
        <p:spPr bwMode="auto">
          <a:xfrm rot="10800000">
            <a:off x="3262313" y="2759075"/>
            <a:ext cx="446087" cy="414338"/>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59" name="Rectangle 3"/>
          <p:cNvSpPr>
            <a:spLocks noChangeArrowheads="1"/>
          </p:cNvSpPr>
          <p:nvPr/>
        </p:nvSpPr>
        <p:spPr bwMode="auto">
          <a:xfrm>
            <a:off x="1306513" y="3546475"/>
            <a:ext cx="46323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5000"/>
              </a:lnSpc>
              <a:buClr>
                <a:srgbClr val="000099"/>
              </a:buClr>
              <a:buSzPct val="75000"/>
              <a:buFontTx/>
              <a:buNone/>
            </a:pP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nodal</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proc</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queue</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trans</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prop</a:t>
            </a:r>
            <a:endParaRPr lang="en-US" altLang="en-US" sz="2400">
              <a:solidFill>
                <a:srgbClr val="000000"/>
              </a:solidFill>
              <a:latin typeface="Calibri" panose="020F0502020204030204" pitchFamily="34" charset="0"/>
            </a:endParaRPr>
          </a:p>
        </p:txBody>
      </p:sp>
      <p:sp>
        <p:nvSpPr>
          <p:cNvPr id="93" name="Line 25"/>
          <p:cNvSpPr>
            <a:spLocks noChangeShapeType="1"/>
          </p:cNvSpPr>
          <p:nvPr/>
        </p:nvSpPr>
        <p:spPr bwMode="auto">
          <a:xfrm flipV="1">
            <a:off x="1963738" y="2600325"/>
            <a:ext cx="552450" cy="411163"/>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61" name="Rectangle 32"/>
          <p:cNvSpPr>
            <a:spLocks noChangeArrowheads="1"/>
          </p:cNvSpPr>
          <p:nvPr/>
        </p:nvSpPr>
        <p:spPr bwMode="auto">
          <a:xfrm>
            <a:off x="2370138" y="2338388"/>
            <a:ext cx="109537" cy="149225"/>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95" name="Line 33"/>
          <p:cNvSpPr>
            <a:spLocks noChangeShapeType="1"/>
          </p:cNvSpPr>
          <p:nvPr/>
        </p:nvSpPr>
        <p:spPr bwMode="auto">
          <a:xfrm>
            <a:off x="2332038" y="2290763"/>
            <a:ext cx="158750"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63" name="Text Box 36"/>
          <p:cNvSpPr txBox="1">
            <a:spLocks noChangeArrowheads="1"/>
          </p:cNvSpPr>
          <p:nvPr/>
        </p:nvSpPr>
        <p:spPr bwMode="auto">
          <a:xfrm>
            <a:off x="1362075" y="1957388"/>
            <a:ext cx="3413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000000"/>
                </a:solidFill>
                <a:latin typeface="Calibri" panose="020F0502020204030204" pitchFamily="34" charset="0"/>
              </a:rPr>
              <a:t>A</a:t>
            </a:r>
          </a:p>
        </p:txBody>
      </p:sp>
      <p:sp>
        <p:nvSpPr>
          <p:cNvPr id="10264" name="Text Box 37"/>
          <p:cNvSpPr txBox="1">
            <a:spLocks noChangeArrowheads="1"/>
          </p:cNvSpPr>
          <p:nvPr/>
        </p:nvSpPr>
        <p:spPr bwMode="auto">
          <a:xfrm>
            <a:off x="1384300" y="2671763"/>
            <a:ext cx="3302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000000"/>
                </a:solidFill>
                <a:latin typeface="Calibri" panose="020F0502020204030204" pitchFamily="34" charset="0"/>
              </a:rPr>
              <a:t>B</a:t>
            </a:r>
          </a:p>
        </p:txBody>
      </p:sp>
      <p:grpSp>
        <p:nvGrpSpPr>
          <p:cNvPr id="10265" name="Group 66"/>
          <p:cNvGrpSpPr>
            <a:grpSpLocks/>
          </p:cNvGrpSpPr>
          <p:nvPr/>
        </p:nvGrpSpPr>
        <p:grpSpPr bwMode="auto">
          <a:xfrm>
            <a:off x="1443038" y="1957388"/>
            <a:ext cx="584200" cy="509587"/>
            <a:chOff x="-44" y="1473"/>
            <a:chExt cx="981" cy="1105"/>
          </a:xfrm>
        </p:grpSpPr>
        <p:pic>
          <p:nvPicPr>
            <p:cNvPr id="10283" name="Picture 6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p:cNvSpPr>
              <a:spLocks/>
            </p:cNvSpPr>
            <p:nvPr/>
          </p:nvSpPr>
          <p:spPr bwMode="auto">
            <a:xfrm flipH="1">
              <a:off x="375" y="1580"/>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grpSp>
        <p:nvGrpSpPr>
          <p:cNvPr id="10266" name="Group 69"/>
          <p:cNvGrpSpPr>
            <a:grpSpLocks/>
          </p:cNvGrpSpPr>
          <p:nvPr/>
        </p:nvGrpSpPr>
        <p:grpSpPr bwMode="auto">
          <a:xfrm>
            <a:off x="1435100" y="2713038"/>
            <a:ext cx="585788" cy="509587"/>
            <a:chOff x="-44" y="1473"/>
            <a:chExt cx="981" cy="1105"/>
          </a:xfrm>
        </p:grpSpPr>
        <p:pic>
          <p:nvPicPr>
            <p:cNvPr id="10281" name="Picture 7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p:cNvSpPr>
              <a:spLocks/>
            </p:cNvSpPr>
            <p:nvPr/>
          </p:nvSpPr>
          <p:spPr bwMode="auto">
            <a:xfrm flipH="1">
              <a:off x="373" y="1580"/>
              <a:ext cx="479"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sp>
        <p:nvSpPr>
          <p:cNvPr id="10267" name="Text Box 41"/>
          <p:cNvSpPr txBox="1">
            <a:spLocks noChangeArrowheads="1"/>
          </p:cNvSpPr>
          <p:nvPr/>
        </p:nvSpPr>
        <p:spPr bwMode="auto">
          <a:xfrm>
            <a:off x="2125663" y="1716088"/>
            <a:ext cx="137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CC0000"/>
                </a:solidFill>
                <a:latin typeface="Calibri" panose="020F0502020204030204" pitchFamily="34" charset="0"/>
              </a:rPr>
              <a:t>transmission</a:t>
            </a:r>
          </a:p>
        </p:txBody>
      </p:sp>
      <p:sp>
        <p:nvSpPr>
          <p:cNvPr id="101" name="Line 42"/>
          <p:cNvSpPr>
            <a:spLocks noChangeShapeType="1"/>
          </p:cNvSpPr>
          <p:nvPr/>
        </p:nvSpPr>
        <p:spPr bwMode="auto">
          <a:xfrm rot="10800000" flipH="1" flipV="1">
            <a:off x="3028950" y="1939925"/>
            <a:ext cx="396875" cy="400050"/>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0269" name="Rectangle 31"/>
          <p:cNvSpPr>
            <a:spLocks noChangeArrowheads="1"/>
          </p:cNvSpPr>
          <p:nvPr/>
        </p:nvSpPr>
        <p:spPr bwMode="auto">
          <a:xfrm>
            <a:off x="2041525" y="2830513"/>
            <a:ext cx="104775" cy="138112"/>
          </a:xfrm>
          <a:prstGeom prst="rect">
            <a:avLst/>
          </a:prstGeom>
          <a:solidFill>
            <a:srgbClr val="00B050"/>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04" name="Line 33"/>
          <p:cNvSpPr>
            <a:spLocks noChangeShapeType="1"/>
          </p:cNvSpPr>
          <p:nvPr/>
        </p:nvSpPr>
        <p:spPr bwMode="auto">
          <a:xfrm flipV="1">
            <a:off x="2173288" y="2806700"/>
            <a:ext cx="165100" cy="122238"/>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cxnSp>
        <p:nvCxnSpPr>
          <p:cNvPr id="5" name="Straight Connector 4"/>
          <p:cNvCxnSpPr/>
          <p:nvPr/>
        </p:nvCxnSpPr>
        <p:spPr>
          <a:xfrm>
            <a:off x="3660775" y="2536825"/>
            <a:ext cx="25415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72" name="Group 126"/>
          <p:cNvGrpSpPr>
            <a:grpSpLocks/>
          </p:cNvGrpSpPr>
          <p:nvPr/>
        </p:nvGrpSpPr>
        <p:grpSpPr bwMode="auto">
          <a:xfrm>
            <a:off x="5992813" y="2190750"/>
            <a:ext cx="1133475" cy="647700"/>
            <a:chOff x="7493876" y="2774731"/>
            <a:chExt cx="1481958" cy="894622"/>
          </a:xfrm>
        </p:grpSpPr>
        <p:sp>
          <p:nvSpPr>
            <p:cNvPr id="128" name="Freeform 127"/>
            <p:cNvSpPr/>
            <p:nvPr/>
          </p:nvSpPr>
          <p:spPr>
            <a:xfrm>
              <a:off x="7493876" y="3083903"/>
              <a:ext cx="1481958" cy="585450"/>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29" name="Oval 128"/>
            <p:cNvSpPr/>
            <p:nvPr/>
          </p:nvSpPr>
          <p:spPr>
            <a:xfrm>
              <a:off x="7493876" y="2774731"/>
              <a:ext cx="1481958" cy="57887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0276" name="Group 129"/>
            <p:cNvGrpSpPr>
              <a:grpSpLocks/>
            </p:cNvGrpSpPr>
            <p:nvPr/>
          </p:nvGrpSpPr>
          <p:grpSpPr bwMode="auto">
            <a:xfrm>
              <a:off x="7713663" y="2848339"/>
              <a:ext cx="1042107" cy="425543"/>
              <a:chOff x="7786941" y="2884917"/>
              <a:chExt cx="897649" cy="353919"/>
            </a:xfrm>
          </p:grpSpPr>
          <p:sp>
            <p:nvSpPr>
              <p:cNvPr id="131" name="Freeform 130"/>
              <p:cNvSpPr/>
              <p:nvPr/>
            </p:nvSpPr>
            <p:spPr>
              <a:xfrm>
                <a:off x="7812164" y="2885702"/>
                <a:ext cx="849230" cy="198778"/>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2" name="Freeform 131"/>
              <p:cNvSpPr/>
              <p:nvPr/>
            </p:nvSpPr>
            <p:spPr>
              <a:xfrm>
                <a:off x="8368185" y="3055301"/>
                <a:ext cx="316451" cy="169598"/>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3" name="Freeform 132"/>
              <p:cNvSpPr/>
              <p:nvPr/>
            </p:nvSpPr>
            <p:spPr>
              <a:xfrm>
                <a:off x="7787134" y="3055301"/>
                <a:ext cx="311087" cy="16777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4" name="Freeform 133"/>
              <p:cNvSpPr/>
              <p:nvPr/>
            </p:nvSpPr>
            <p:spPr>
              <a:xfrm>
                <a:off x="7894405" y="2971413"/>
                <a:ext cx="677596" cy="268075"/>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10273"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8B850A8F-AF46-45FB-8872-36FDAE99D158}" type="slidenum">
              <a:rPr lang="en-US" altLang="en-US" sz="1100">
                <a:solidFill>
                  <a:srgbClr val="7F7F7F"/>
                </a:solidFill>
              </a:rPr>
              <a:pPr>
                <a:spcBef>
                  <a:spcPct val="0"/>
                </a:spcBef>
                <a:buFontTx/>
                <a:buNone/>
              </a:pPr>
              <a:t>4</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dissolve">
                                      <p:cBhvr>
                                        <p:cTn id="7" dur="500"/>
                                        <p:tgtEl>
                                          <p:spTgt spid="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dissolve">
                                      <p:cBhvr>
                                        <p:cTn id="12"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134"/>
          <p:cNvGrpSpPr>
            <a:grpSpLocks/>
          </p:cNvGrpSpPr>
          <p:nvPr/>
        </p:nvGrpSpPr>
        <p:grpSpPr bwMode="auto">
          <a:xfrm>
            <a:off x="2522538" y="2182813"/>
            <a:ext cx="1135062" cy="647700"/>
            <a:chOff x="7493876" y="2774731"/>
            <a:chExt cx="1481958" cy="894622"/>
          </a:xfrm>
        </p:grpSpPr>
        <p:sp>
          <p:nvSpPr>
            <p:cNvPr id="136" name="Freeform 135"/>
            <p:cNvSpPr/>
            <p:nvPr/>
          </p:nvSpPr>
          <p:spPr>
            <a:xfrm>
              <a:off x="7493876" y="3083901"/>
              <a:ext cx="1481958" cy="585452"/>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37" name="Oval 136"/>
            <p:cNvSpPr/>
            <p:nvPr/>
          </p:nvSpPr>
          <p:spPr>
            <a:xfrm>
              <a:off x="7493876" y="2774731"/>
              <a:ext cx="1481958" cy="57887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2341" name="Group 137"/>
            <p:cNvGrpSpPr>
              <a:grpSpLocks/>
            </p:cNvGrpSpPr>
            <p:nvPr/>
          </p:nvGrpSpPr>
          <p:grpSpPr bwMode="auto">
            <a:xfrm>
              <a:off x="7713663" y="2848339"/>
              <a:ext cx="1042107" cy="425543"/>
              <a:chOff x="7786941" y="2884917"/>
              <a:chExt cx="897649" cy="353919"/>
            </a:xfrm>
          </p:grpSpPr>
          <p:sp>
            <p:nvSpPr>
              <p:cNvPr id="139" name="Freeform 138"/>
              <p:cNvSpPr/>
              <p:nvPr/>
            </p:nvSpPr>
            <p:spPr>
              <a:xfrm>
                <a:off x="7811864" y="2885702"/>
                <a:ext cx="849829" cy="198777"/>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0" name="Freeform 139"/>
              <p:cNvSpPr/>
              <p:nvPr/>
            </p:nvSpPr>
            <p:spPr>
              <a:xfrm>
                <a:off x="8367109" y="3055300"/>
                <a:ext cx="317793" cy="16959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1" name="Freeform 140"/>
              <p:cNvSpPr/>
              <p:nvPr/>
            </p:nvSpPr>
            <p:spPr>
              <a:xfrm>
                <a:off x="7786869" y="3055300"/>
                <a:ext cx="310652" cy="16777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42" name="Freeform 141"/>
              <p:cNvSpPr/>
              <p:nvPr/>
            </p:nvSpPr>
            <p:spPr>
              <a:xfrm>
                <a:off x="7895775" y="2971412"/>
                <a:ext cx="676650" cy="268076"/>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12291" name="Title 1"/>
          <p:cNvSpPr>
            <a:spLocks noGrp="1" noChangeArrowheads="1"/>
          </p:cNvSpPr>
          <p:nvPr>
            <p:ph type="title"/>
          </p:nvPr>
        </p:nvSpPr>
        <p:spPr>
          <a:xfrm>
            <a:off x="619125" y="471488"/>
            <a:ext cx="7886700" cy="671512"/>
          </a:xfrm>
        </p:spPr>
        <p:txBody>
          <a:bodyPr/>
          <a:lstStyle/>
          <a:p>
            <a:r>
              <a:rPr lang="en-US" altLang="en-US" sz="3300" smtClean="0"/>
              <a:t>Packet delay: four sources</a:t>
            </a:r>
          </a:p>
        </p:txBody>
      </p:sp>
      <p:sp>
        <p:nvSpPr>
          <p:cNvPr id="77" name="Line 24"/>
          <p:cNvSpPr>
            <a:spLocks noChangeShapeType="1"/>
          </p:cNvSpPr>
          <p:nvPr/>
        </p:nvSpPr>
        <p:spPr bwMode="auto">
          <a:xfrm>
            <a:off x="1965325" y="2195513"/>
            <a:ext cx="557213" cy="266700"/>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293" name="Rectangle 29"/>
          <p:cNvSpPr>
            <a:spLocks noChangeArrowheads="1"/>
          </p:cNvSpPr>
          <p:nvPr/>
        </p:nvSpPr>
        <p:spPr bwMode="auto">
          <a:xfrm>
            <a:off x="4098925" y="2359025"/>
            <a:ext cx="109538" cy="15081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2294" name="Rectangle 30"/>
          <p:cNvSpPr>
            <a:spLocks noChangeArrowheads="1"/>
          </p:cNvSpPr>
          <p:nvPr/>
        </p:nvSpPr>
        <p:spPr bwMode="auto">
          <a:xfrm>
            <a:off x="3159125" y="2413000"/>
            <a:ext cx="111125" cy="149225"/>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2295" name="Rectangle 31"/>
          <p:cNvSpPr>
            <a:spLocks noChangeArrowheads="1"/>
          </p:cNvSpPr>
          <p:nvPr/>
        </p:nvSpPr>
        <p:spPr bwMode="auto">
          <a:xfrm>
            <a:off x="3279775" y="2413000"/>
            <a:ext cx="111125" cy="149225"/>
          </a:xfrm>
          <a:prstGeom prst="rect">
            <a:avLst/>
          </a:prstGeom>
          <a:solidFill>
            <a:srgbClr val="00B050"/>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83" name="Line 35"/>
          <p:cNvSpPr>
            <a:spLocks noChangeShapeType="1"/>
          </p:cNvSpPr>
          <p:nvPr/>
        </p:nvSpPr>
        <p:spPr bwMode="auto">
          <a:xfrm flipV="1">
            <a:off x="5281613" y="2232025"/>
            <a:ext cx="274637"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297" name="Rectangle 38"/>
          <p:cNvSpPr>
            <a:spLocks noChangeArrowheads="1"/>
          </p:cNvSpPr>
          <p:nvPr/>
        </p:nvSpPr>
        <p:spPr bwMode="auto">
          <a:xfrm>
            <a:off x="3376613" y="2366963"/>
            <a:ext cx="111125" cy="149225"/>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2298" name="Text Box 39"/>
          <p:cNvSpPr txBox="1">
            <a:spLocks noChangeArrowheads="1"/>
          </p:cNvSpPr>
          <p:nvPr/>
        </p:nvSpPr>
        <p:spPr bwMode="auto">
          <a:xfrm>
            <a:off x="4027488" y="2047875"/>
            <a:ext cx="132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CC0000"/>
                </a:solidFill>
                <a:latin typeface="Calibri" panose="020F0502020204030204" pitchFamily="34" charset="0"/>
              </a:rPr>
              <a:t>propagation</a:t>
            </a:r>
            <a:endParaRPr lang="en-US" altLang="en-US" sz="1500">
              <a:solidFill>
                <a:srgbClr val="CC0000"/>
              </a:solidFill>
              <a:latin typeface="Calibri" panose="020F0502020204030204" pitchFamily="34" charset="0"/>
            </a:endParaRPr>
          </a:p>
        </p:txBody>
      </p:sp>
      <p:sp>
        <p:nvSpPr>
          <p:cNvPr id="86" name="Line 40"/>
          <p:cNvSpPr>
            <a:spLocks noChangeShapeType="1"/>
          </p:cNvSpPr>
          <p:nvPr/>
        </p:nvSpPr>
        <p:spPr bwMode="auto">
          <a:xfrm rot="10800000">
            <a:off x="3805238" y="2230438"/>
            <a:ext cx="239712"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300" name="Text Box 43"/>
          <p:cNvSpPr txBox="1">
            <a:spLocks noChangeArrowheads="1"/>
          </p:cNvSpPr>
          <p:nvPr/>
        </p:nvSpPr>
        <p:spPr bwMode="auto">
          <a:xfrm>
            <a:off x="2238375" y="2905125"/>
            <a:ext cx="11811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80000"/>
              </a:lnSpc>
              <a:spcBef>
                <a:spcPct val="0"/>
              </a:spcBef>
              <a:buFontTx/>
              <a:buNone/>
            </a:pPr>
            <a:r>
              <a:rPr lang="en-US" altLang="en-US" sz="1800">
                <a:solidFill>
                  <a:srgbClr val="CC0000"/>
                </a:solidFill>
                <a:latin typeface="Calibri" panose="020F0502020204030204" pitchFamily="34" charset="0"/>
              </a:rPr>
              <a:t>nodal</a:t>
            </a:r>
          </a:p>
          <a:p>
            <a:pPr algn="ctr" eaLnBrk="1" hangingPunct="1">
              <a:lnSpc>
                <a:spcPct val="80000"/>
              </a:lnSpc>
              <a:spcBef>
                <a:spcPct val="0"/>
              </a:spcBef>
              <a:buFontTx/>
              <a:buNone/>
            </a:pPr>
            <a:r>
              <a:rPr lang="en-US" altLang="en-US" sz="1800">
                <a:solidFill>
                  <a:srgbClr val="CC0000"/>
                </a:solidFill>
                <a:latin typeface="Calibri" panose="020F0502020204030204" pitchFamily="34" charset="0"/>
              </a:rPr>
              <a:t>processing</a:t>
            </a:r>
          </a:p>
        </p:txBody>
      </p:sp>
      <p:sp>
        <p:nvSpPr>
          <p:cNvPr id="88" name="Line 44"/>
          <p:cNvSpPr>
            <a:spLocks noChangeShapeType="1"/>
          </p:cNvSpPr>
          <p:nvPr/>
        </p:nvSpPr>
        <p:spPr bwMode="auto">
          <a:xfrm rot="10800000">
            <a:off x="2522538" y="2905125"/>
            <a:ext cx="625475" cy="0"/>
          </a:xfrm>
          <a:prstGeom prst="line">
            <a:avLst/>
          </a:prstGeom>
          <a:noFill/>
          <a:ln w="9525">
            <a:solidFill>
              <a:schemeClr val="tx1"/>
            </a:solidFill>
            <a:round/>
            <a:headEnd type="triangle" w="med" len="me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89" name="Line 45"/>
          <p:cNvSpPr>
            <a:spLocks noChangeShapeType="1"/>
          </p:cNvSpPr>
          <p:nvPr/>
        </p:nvSpPr>
        <p:spPr bwMode="auto">
          <a:xfrm rot="10800000" flipV="1">
            <a:off x="3141663" y="2759075"/>
            <a:ext cx="288925" cy="0"/>
          </a:xfrm>
          <a:prstGeom prst="line">
            <a:avLst/>
          </a:prstGeom>
          <a:noFill/>
          <a:ln w="9525">
            <a:solidFill>
              <a:schemeClr val="tx1"/>
            </a:solidFill>
            <a:round/>
            <a:headEnd type="triangle" w="med" len="me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303" name="Text Box 46"/>
          <p:cNvSpPr txBox="1">
            <a:spLocks noChangeArrowheads="1"/>
          </p:cNvSpPr>
          <p:nvPr/>
        </p:nvSpPr>
        <p:spPr bwMode="auto">
          <a:xfrm>
            <a:off x="3446463" y="3074988"/>
            <a:ext cx="1065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CC0000"/>
                </a:solidFill>
                <a:latin typeface="Calibri" panose="020F0502020204030204" pitchFamily="34" charset="0"/>
              </a:rPr>
              <a:t>queueing</a:t>
            </a:r>
            <a:endParaRPr lang="en-US" altLang="en-US" sz="1500">
              <a:solidFill>
                <a:srgbClr val="CC0000"/>
              </a:solidFill>
              <a:latin typeface="Calibri" panose="020F0502020204030204" pitchFamily="34" charset="0"/>
            </a:endParaRPr>
          </a:p>
        </p:txBody>
      </p:sp>
      <p:sp>
        <p:nvSpPr>
          <p:cNvPr id="91" name="Line 47"/>
          <p:cNvSpPr>
            <a:spLocks noChangeShapeType="1"/>
          </p:cNvSpPr>
          <p:nvPr/>
        </p:nvSpPr>
        <p:spPr bwMode="auto">
          <a:xfrm rot="10800000">
            <a:off x="3262313" y="2759075"/>
            <a:ext cx="446087" cy="414338"/>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305" name="Rectangle 3"/>
          <p:cNvSpPr>
            <a:spLocks noChangeArrowheads="1"/>
          </p:cNvSpPr>
          <p:nvPr/>
        </p:nvSpPr>
        <p:spPr bwMode="auto">
          <a:xfrm>
            <a:off x="1306513" y="3546475"/>
            <a:ext cx="46323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5000"/>
              </a:lnSpc>
              <a:buClr>
                <a:srgbClr val="000099"/>
              </a:buClr>
              <a:buSzPct val="75000"/>
              <a:buFontTx/>
              <a:buNone/>
            </a:pP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nodal</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proc</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queue</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trans</a:t>
            </a:r>
            <a:r>
              <a:rPr lang="en-US" altLang="en-US" sz="2400">
                <a:solidFill>
                  <a:srgbClr val="000000"/>
                </a:solidFill>
                <a:latin typeface="Calibri" panose="020F0502020204030204" pitchFamily="34" charset="0"/>
              </a:rPr>
              <a:t> +  </a:t>
            </a:r>
            <a:r>
              <a:rPr lang="en-US" altLang="en-US" sz="2400" i="1">
                <a:solidFill>
                  <a:srgbClr val="000000"/>
                </a:solidFill>
                <a:latin typeface="Calibri" panose="020F0502020204030204" pitchFamily="34" charset="0"/>
              </a:rPr>
              <a:t>d</a:t>
            </a:r>
            <a:r>
              <a:rPr lang="en-US" altLang="en-US" sz="2400" baseline="-25000">
                <a:solidFill>
                  <a:srgbClr val="000000"/>
                </a:solidFill>
                <a:latin typeface="Calibri" panose="020F0502020204030204" pitchFamily="34" charset="0"/>
              </a:rPr>
              <a:t>prop</a:t>
            </a:r>
            <a:endParaRPr lang="en-US" altLang="en-US" sz="2400">
              <a:solidFill>
                <a:srgbClr val="000000"/>
              </a:solidFill>
              <a:latin typeface="Calibri" panose="020F0502020204030204" pitchFamily="34" charset="0"/>
            </a:endParaRPr>
          </a:p>
        </p:txBody>
      </p:sp>
      <p:sp>
        <p:nvSpPr>
          <p:cNvPr id="93" name="Line 25"/>
          <p:cNvSpPr>
            <a:spLocks noChangeShapeType="1"/>
          </p:cNvSpPr>
          <p:nvPr/>
        </p:nvSpPr>
        <p:spPr bwMode="auto">
          <a:xfrm flipV="1">
            <a:off x="1963738" y="2600325"/>
            <a:ext cx="552450" cy="411163"/>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307" name="Rectangle 32"/>
          <p:cNvSpPr>
            <a:spLocks noChangeArrowheads="1"/>
          </p:cNvSpPr>
          <p:nvPr/>
        </p:nvSpPr>
        <p:spPr bwMode="auto">
          <a:xfrm>
            <a:off x="2370138" y="2338388"/>
            <a:ext cx="109537" cy="149225"/>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95" name="Line 33"/>
          <p:cNvSpPr>
            <a:spLocks noChangeShapeType="1"/>
          </p:cNvSpPr>
          <p:nvPr/>
        </p:nvSpPr>
        <p:spPr bwMode="auto">
          <a:xfrm>
            <a:off x="2332038" y="2290763"/>
            <a:ext cx="158750"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309" name="Text Box 36"/>
          <p:cNvSpPr txBox="1">
            <a:spLocks noChangeArrowheads="1"/>
          </p:cNvSpPr>
          <p:nvPr/>
        </p:nvSpPr>
        <p:spPr bwMode="auto">
          <a:xfrm>
            <a:off x="1362075" y="1957388"/>
            <a:ext cx="3413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000000"/>
                </a:solidFill>
                <a:latin typeface="Calibri" panose="020F0502020204030204" pitchFamily="34" charset="0"/>
              </a:rPr>
              <a:t>A</a:t>
            </a:r>
          </a:p>
        </p:txBody>
      </p:sp>
      <p:sp>
        <p:nvSpPr>
          <p:cNvPr id="12310" name="Text Box 37"/>
          <p:cNvSpPr txBox="1">
            <a:spLocks noChangeArrowheads="1"/>
          </p:cNvSpPr>
          <p:nvPr/>
        </p:nvSpPr>
        <p:spPr bwMode="auto">
          <a:xfrm>
            <a:off x="1384300" y="2671763"/>
            <a:ext cx="3302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000000"/>
                </a:solidFill>
                <a:latin typeface="Calibri" panose="020F0502020204030204" pitchFamily="34" charset="0"/>
              </a:rPr>
              <a:t>B</a:t>
            </a:r>
          </a:p>
        </p:txBody>
      </p:sp>
      <p:grpSp>
        <p:nvGrpSpPr>
          <p:cNvPr id="12311" name="Group 66"/>
          <p:cNvGrpSpPr>
            <a:grpSpLocks/>
          </p:cNvGrpSpPr>
          <p:nvPr/>
        </p:nvGrpSpPr>
        <p:grpSpPr bwMode="auto">
          <a:xfrm>
            <a:off x="1443038" y="1957388"/>
            <a:ext cx="584200" cy="509587"/>
            <a:chOff x="-44" y="1473"/>
            <a:chExt cx="981" cy="1105"/>
          </a:xfrm>
        </p:grpSpPr>
        <p:pic>
          <p:nvPicPr>
            <p:cNvPr id="12337" name="Picture 6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p:cNvSpPr>
              <a:spLocks/>
            </p:cNvSpPr>
            <p:nvPr/>
          </p:nvSpPr>
          <p:spPr bwMode="auto">
            <a:xfrm flipH="1">
              <a:off x="375" y="1580"/>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grpSp>
        <p:nvGrpSpPr>
          <p:cNvPr id="12312" name="Group 69"/>
          <p:cNvGrpSpPr>
            <a:grpSpLocks/>
          </p:cNvGrpSpPr>
          <p:nvPr/>
        </p:nvGrpSpPr>
        <p:grpSpPr bwMode="auto">
          <a:xfrm>
            <a:off x="1435100" y="2713038"/>
            <a:ext cx="585788" cy="509587"/>
            <a:chOff x="-44" y="1473"/>
            <a:chExt cx="981" cy="1105"/>
          </a:xfrm>
        </p:grpSpPr>
        <p:pic>
          <p:nvPicPr>
            <p:cNvPr id="12335" name="Picture 7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p:cNvSpPr>
              <a:spLocks/>
            </p:cNvSpPr>
            <p:nvPr/>
          </p:nvSpPr>
          <p:spPr bwMode="auto">
            <a:xfrm flipH="1">
              <a:off x="373" y="1580"/>
              <a:ext cx="479"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grpSp>
      <p:sp>
        <p:nvSpPr>
          <p:cNvPr id="12313" name="Text Box 41"/>
          <p:cNvSpPr txBox="1">
            <a:spLocks noChangeArrowheads="1"/>
          </p:cNvSpPr>
          <p:nvPr/>
        </p:nvSpPr>
        <p:spPr bwMode="auto">
          <a:xfrm>
            <a:off x="2125663" y="1716088"/>
            <a:ext cx="137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CC0000"/>
                </a:solidFill>
                <a:latin typeface="Calibri" panose="020F0502020204030204" pitchFamily="34" charset="0"/>
              </a:rPr>
              <a:t>transmission</a:t>
            </a:r>
          </a:p>
        </p:txBody>
      </p:sp>
      <p:sp>
        <p:nvSpPr>
          <p:cNvPr id="101" name="Line 42"/>
          <p:cNvSpPr>
            <a:spLocks noChangeShapeType="1"/>
          </p:cNvSpPr>
          <p:nvPr/>
        </p:nvSpPr>
        <p:spPr bwMode="auto">
          <a:xfrm rot="10800000" flipH="1" flipV="1">
            <a:off x="3028950" y="1939925"/>
            <a:ext cx="396875" cy="400050"/>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sp>
        <p:nvSpPr>
          <p:cNvPr id="12315" name="Rectangle 31"/>
          <p:cNvSpPr>
            <a:spLocks noChangeArrowheads="1"/>
          </p:cNvSpPr>
          <p:nvPr/>
        </p:nvSpPr>
        <p:spPr bwMode="auto">
          <a:xfrm>
            <a:off x="2041525" y="2830513"/>
            <a:ext cx="104775" cy="138112"/>
          </a:xfrm>
          <a:prstGeom prst="rect">
            <a:avLst/>
          </a:prstGeom>
          <a:solidFill>
            <a:srgbClr val="00B050"/>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100">
              <a:solidFill>
                <a:srgbClr val="000000"/>
              </a:solidFill>
              <a:latin typeface="Calibri" panose="020F0502020204030204" pitchFamily="34" charset="0"/>
            </a:endParaRPr>
          </a:p>
        </p:txBody>
      </p:sp>
      <p:sp>
        <p:nvSpPr>
          <p:cNvPr id="104" name="Line 33"/>
          <p:cNvSpPr>
            <a:spLocks noChangeShapeType="1"/>
          </p:cNvSpPr>
          <p:nvPr/>
        </p:nvSpPr>
        <p:spPr bwMode="auto">
          <a:xfrm flipV="1">
            <a:off x="2173288" y="2806700"/>
            <a:ext cx="165100" cy="122238"/>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500" dirty="0">
              <a:solidFill>
                <a:prstClr val="black"/>
              </a:solidFill>
              <a:latin typeface="Calibri" panose="020F0502020204030204"/>
              <a:ea typeface="+mn-ea"/>
            </a:endParaRPr>
          </a:p>
        </p:txBody>
      </p:sp>
      <p:cxnSp>
        <p:nvCxnSpPr>
          <p:cNvPr id="5" name="Straight Connector 4"/>
          <p:cNvCxnSpPr/>
          <p:nvPr/>
        </p:nvCxnSpPr>
        <p:spPr>
          <a:xfrm>
            <a:off x="3660775" y="2536825"/>
            <a:ext cx="25415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318" name="Group 126"/>
          <p:cNvGrpSpPr>
            <a:grpSpLocks/>
          </p:cNvGrpSpPr>
          <p:nvPr/>
        </p:nvGrpSpPr>
        <p:grpSpPr bwMode="auto">
          <a:xfrm>
            <a:off x="5992813" y="2190750"/>
            <a:ext cx="1133475" cy="647700"/>
            <a:chOff x="7493876" y="2774731"/>
            <a:chExt cx="1481958" cy="894622"/>
          </a:xfrm>
        </p:grpSpPr>
        <p:sp>
          <p:nvSpPr>
            <p:cNvPr id="128" name="Freeform 127"/>
            <p:cNvSpPr/>
            <p:nvPr/>
          </p:nvSpPr>
          <p:spPr>
            <a:xfrm>
              <a:off x="7493876" y="3083903"/>
              <a:ext cx="1481958" cy="585450"/>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29" name="Oval 128"/>
            <p:cNvSpPr/>
            <p:nvPr/>
          </p:nvSpPr>
          <p:spPr>
            <a:xfrm>
              <a:off x="7493876" y="2774731"/>
              <a:ext cx="1481958" cy="57887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12330" name="Group 129"/>
            <p:cNvGrpSpPr>
              <a:grpSpLocks/>
            </p:cNvGrpSpPr>
            <p:nvPr/>
          </p:nvGrpSpPr>
          <p:grpSpPr bwMode="auto">
            <a:xfrm>
              <a:off x="7713663" y="2848339"/>
              <a:ext cx="1042107" cy="425543"/>
              <a:chOff x="7786941" y="2884917"/>
              <a:chExt cx="897649" cy="353919"/>
            </a:xfrm>
          </p:grpSpPr>
          <p:sp>
            <p:nvSpPr>
              <p:cNvPr id="131" name="Freeform 130"/>
              <p:cNvSpPr/>
              <p:nvPr/>
            </p:nvSpPr>
            <p:spPr>
              <a:xfrm>
                <a:off x="7812164" y="2885702"/>
                <a:ext cx="849230" cy="198778"/>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2" name="Freeform 131"/>
              <p:cNvSpPr/>
              <p:nvPr/>
            </p:nvSpPr>
            <p:spPr>
              <a:xfrm>
                <a:off x="8368185" y="3055301"/>
                <a:ext cx="316451" cy="169598"/>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3" name="Freeform 132"/>
              <p:cNvSpPr/>
              <p:nvPr/>
            </p:nvSpPr>
            <p:spPr>
              <a:xfrm>
                <a:off x="7787134" y="3055301"/>
                <a:ext cx="311087" cy="16777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34" name="Freeform 133"/>
              <p:cNvSpPr/>
              <p:nvPr/>
            </p:nvSpPr>
            <p:spPr>
              <a:xfrm>
                <a:off x="7894405" y="2971413"/>
                <a:ext cx="677596" cy="268075"/>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52" name="Rectangle 3"/>
          <p:cNvSpPr>
            <a:spLocks noChangeArrowheads="1"/>
          </p:cNvSpPr>
          <p:nvPr/>
        </p:nvSpPr>
        <p:spPr bwMode="auto">
          <a:xfrm>
            <a:off x="923925" y="4079875"/>
            <a:ext cx="3284538" cy="1558925"/>
          </a:xfrm>
          <a:prstGeom prst="rect">
            <a:avLst/>
          </a:prstGeom>
          <a:noFill/>
          <a:ln>
            <a:noFill/>
          </a:ln>
        </p:spPr>
        <p:txBody>
          <a:bodyPr/>
          <a:lstStyle/>
          <a:p>
            <a:pPr marL="257175" indent="-257175" defTabSz="685800" eaLnBrk="1" fontAlgn="auto" hangingPunct="1">
              <a:lnSpc>
                <a:spcPct val="90000"/>
              </a:lnSpc>
              <a:spcBef>
                <a:spcPts val="450"/>
              </a:spcBef>
              <a:spcAft>
                <a:spcPts val="0"/>
              </a:spcAft>
              <a:buClr>
                <a:srgbClr val="000099"/>
              </a:buClr>
              <a:buSzPct val="65000"/>
              <a:defRPr/>
            </a:pPr>
            <a:r>
              <a:rPr lang="en-US" sz="2100" i="1" dirty="0">
                <a:solidFill>
                  <a:srgbClr val="CC0000"/>
                </a:solidFill>
                <a:latin typeface="Calibri" panose="020F0502020204030204"/>
                <a:ea typeface="ＭＳ Ｐゴシック" charset="0"/>
                <a:cs typeface="ＭＳ Ｐゴシック" charset="0"/>
              </a:rPr>
              <a:t>d</a:t>
            </a:r>
            <a:r>
              <a:rPr lang="en-US" sz="2100" baseline="-25000" dirty="0">
                <a:solidFill>
                  <a:srgbClr val="CC0000"/>
                </a:solidFill>
                <a:latin typeface="Calibri" panose="020F0502020204030204"/>
                <a:ea typeface="ＭＳ Ｐゴシック" charset="0"/>
                <a:cs typeface="ＭＳ Ｐゴシック" charset="0"/>
              </a:rPr>
              <a:t>trans</a:t>
            </a:r>
            <a:r>
              <a:rPr lang="en-US" sz="2100" dirty="0">
                <a:solidFill>
                  <a:srgbClr val="CC0000"/>
                </a:solidFill>
                <a:latin typeface="Calibri" panose="020F0502020204030204"/>
                <a:ea typeface="ＭＳ Ｐゴシック" charset="0"/>
                <a:cs typeface="ＭＳ Ｐゴシック" charset="0"/>
              </a:rPr>
              <a:t>: transmission delay:</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i="1" dirty="0">
                <a:solidFill>
                  <a:srgbClr val="000000"/>
                </a:solidFill>
                <a:latin typeface="Calibri" panose="020F0502020204030204"/>
                <a:ea typeface="ＭＳ Ｐゴシック" charset="0"/>
                <a:cs typeface="ＭＳ Ｐゴシック" charset="0"/>
              </a:rPr>
              <a:t>L</a:t>
            </a:r>
            <a:r>
              <a:rPr lang="en-US" sz="1800" dirty="0">
                <a:solidFill>
                  <a:srgbClr val="000000"/>
                </a:solidFill>
                <a:latin typeface="Calibri" panose="020F0502020204030204"/>
                <a:ea typeface="ＭＳ Ｐゴシック" charset="0"/>
                <a:cs typeface="ＭＳ Ｐゴシック" charset="0"/>
              </a:rPr>
              <a:t>: packet length (bits) </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i="1" dirty="0">
                <a:solidFill>
                  <a:srgbClr val="000000"/>
                </a:solidFill>
                <a:latin typeface="Calibri" panose="020F0502020204030204"/>
                <a:ea typeface="ＭＳ Ｐゴシック" charset="0"/>
                <a:cs typeface="ＭＳ Ｐゴシック" charset="0"/>
              </a:rPr>
              <a:t>R</a:t>
            </a:r>
            <a:r>
              <a:rPr lang="en-US" sz="1800" dirty="0">
                <a:solidFill>
                  <a:srgbClr val="000000"/>
                </a:solidFill>
                <a:latin typeface="Calibri" panose="020F0502020204030204"/>
                <a:ea typeface="ＭＳ Ｐゴシック" charset="0"/>
                <a:cs typeface="ＭＳ Ｐゴシック" charset="0"/>
              </a:rPr>
              <a:t>: link </a:t>
            </a:r>
            <a:r>
              <a:rPr lang="en-US" sz="1800" i="1" dirty="0">
                <a:solidFill>
                  <a:srgbClr val="000000"/>
                </a:solidFill>
                <a:latin typeface="Calibri" panose="020F0502020204030204"/>
                <a:ea typeface="ＭＳ Ｐゴシック" charset="0"/>
                <a:cs typeface="ＭＳ Ｐゴシック" charset="0"/>
              </a:rPr>
              <a:t>transmission rate (bps)</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i="1" dirty="0">
                <a:solidFill>
                  <a:srgbClr val="CC0000"/>
                </a:solidFill>
                <a:latin typeface="Calibri" panose="020F0502020204030204"/>
                <a:ea typeface="ＭＳ Ｐゴシック" charset="0"/>
                <a:cs typeface="ＭＳ Ｐゴシック" charset="0"/>
              </a:rPr>
              <a:t>d</a:t>
            </a:r>
            <a:r>
              <a:rPr lang="en-US" sz="1800" i="1" baseline="-25000" dirty="0">
                <a:solidFill>
                  <a:srgbClr val="CC0000"/>
                </a:solidFill>
                <a:latin typeface="Calibri" panose="020F0502020204030204"/>
                <a:ea typeface="ＭＳ Ｐゴシック" charset="0"/>
                <a:cs typeface="ＭＳ Ｐゴシック" charset="0"/>
              </a:rPr>
              <a:t>trans</a:t>
            </a:r>
            <a:r>
              <a:rPr lang="en-US" sz="1800" i="1" dirty="0">
                <a:solidFill>
                  <a:srgbClr val="CC0000"/>
                </a:solidFill>
                <a:latin typeface="Calibri" panose="020F0502020204030204"/>
                <a:ea typeface="ＭＳ Ｐゴシック" charset="0"/>
                <a:cs typeface="ＭＳ Ｐゴシック" charset="0"/>
              </a:rPr>
              <a:t> </a:t>
            </a:r>
            <a:r>
              <a:rPr lang="en-US" sz="1800" i="1" dirty="0">
                <a:solidFill>
                  <a:srgbClr val="000000"/>
                </a:solidFill>
                <a:latin typeface="Calibri" panose="020F0502020204030204"/>
                <a:ea typeface="ＭＳ Ｐゴシック" charset="0"/>
                <a:cs typeface="ＭＳ Ｐゴシック" charset="0"/>
              </a:rPr>
              <a:t>= L/R</a:t>
            </a:r>
          </a:p>
        </p:txBody>
      </p:sp>
      <p:sp>
        <p:nvSpPr>
          <p:cNvPr id="53" name="Rectangle 4"/>
          <p:cNvSpPr>
            <a:spLocks noChangeArrowheads="1"/>
          </p:cNvSpPr>
          <p:nvPr/>
        </p:nvSpPr>
        <p:spPr bwMode="auto">
          <a:xfrm>
            <a:off x="4895850" y="4084638"/>
            <a:ext cx="3860800" cy="1643062"/>
          </a:xfrm>
          <a:prstGeom prst="rect">
            <a:avLst/>
          </a:prstGeom>
          <a:noFill/>
          <a:ln>
            <a:noFill/>
          </a:ln>
        </p:spPr>
        <p:txBody>
          <a:bodyPr/>
          <a:lstStyle/>
          <a:p>
            <a:pPr marL="257175" indent="-257175" defTabSz="685800" eaLnBrk="1" fontAlgn="auto" hangingPunct="1">
              <a:lnSpc>
                <a:spcPct val="85000"/>
              </a:lnSpc>
              <a:spcBef>
                <a:spcPct val="20000"/>
              </a:spcBef>
              <a:spcAft>
                <a:spcPts val="0"/>
              </a:spcAft>
              <a:buClr>
                <a:srgbClr val="000099"/>
              </a:buClr>
              <a:buSzPct val="65000"/>
              <a:defRPr/>
            </a:pPr>
            <a:r>
              <a:rPr lang="en-US" sz="2100" i="1" dirty="0">
                <a:solidFill>
                  <a:srgbClr val="CC0000"/>
                </a:solidFill>
                <a:latin typeface="Calibri" panose="020F0502020204030204"/>
                <a:ea typeface="ＭＳ Ｐゴシック" charset="0"/>
                <a:cs typeface="ＭＳ Ｐゴシック" charset="0"/>
              </a:rPr>
              <a:t>d</a:t>
            </a:r>
            <a:r>
              <a:rPr lang="en-US" sz="2100" baseline="-25000" dirty="0">
                <a:solidFill>
                  <a:srgbClr val="CC0000"/>
                </a:solidFill>
                <a:latin typeface="Calibri" panose="020F0502020204030204"/>
                <a:ea typeface="ＭＳ Ｐゴシック" charset="0"/>
                <a:cs typeface="ＭＳ Ｐゴシック" charset="0"/>
              </a:rPr>
              <a:t>prop</a:t>
            </a:r>
            <a:r>
              <a:rPr lang="en-US" sz="2100" dirty="0">
                <a:solidFill>
                  <a:srgbClr val="CC0000"/>
                </a:solidFill>
                <a:latin typeface="Calibri" panose="020F0502020204030204"/>
                <a:ea typeface="ＭＳ Ｐゴシック" charset="0"/>
                <a:cs typeface="ＭＳ Ｐゴシック" charset="0"/>
              </a:rPr>
              <a:t>: propagation delay:</a:t>
            </a:r>
            <a:endParaRPr lang="en-US" sz="1350" dirty="0">
              <a:solidFill>
                <a:srgbClr val="CC0000"/>
              </a:solidFill>
              <a:latin typeface="Calibri" panose="020F0502020204030204"/>
              <a:ea typeface="ＭＳ Ｐゴシック" charset="0"/>
              <a:cs typeface="ＭＳ Ｐゴシック" charset="0"/>
            </a:endParaRP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i="1" dirty="0">
                <a:solidFill>
                  <a:srgbClr val="000000"/>
                </a:solidFill>
                <a:latin typeface="Calibri" panose="020F0502020204030204"/>
                <a:ea typeface="ＭＳ Ｐゴシック" charset="0"/>
                <a:cs typeface="ＭＳ Ｐゴシック" charset="0"/>
              </a:rPr>
              <a:t>d</a:t>
            </a:r>
            <a:r>
              <a:rPr lang="en-US" sz="1800" dirty="0">
                <a:solidFill>
                  <a:srgbClr val="000000"/>
                </a:solidFill>
                <a:latin typeface="Calibri" panose="020F0502020204030204"/>
                <a:ea typeface="ＭＳ Ｐゴシック" charset="0"/>
                <a:cs typeface="ＭＳ Ｐゴシック" charset="0"/>
              </a:rPr>
              <a:t>: length of physical link</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i="1" dirty="0">
                <a:solidFill>
                  <a:srgbClr val="000000"/>
                </a:solidFill>
                <a:latin typeface="Calibri" panose="020F0502020204030204"/>
                <a:ea typeface="ＭＳ Ｐゴシック" charset="0"/>
                <a:cs typeface="ＭＳ Ｐゴシック" charset="0"/>
              </a:rPr>
              <a:t>s</a:t>
            </a:r>
            <a:r>
              <a:rPr lang="en-US" sz="1800" dirty="0">
                <a:solidFill>
                  <a:srgbClr val="000000"/>
                </a:solidFill>
                <a:latin typeface="Calibri" panose="020F0502020204030204"/>
                <a:ea typeface="ＭＳ Ｐゴシック" charset="0"/>
                <a:cs typeface="ＭＳ Ｐゴシック" charset="0"/>
              </a:rPr>
              <a:t>: propagation speed (~2x10</a:t>
            </a:r>
            <a:r>
              <a:rPr lang="en-US" sz="1800" baseline="30000" dirty="0">
                <a:solidFill>
                  <a:srgbClr val="000000"/>
                </a:solidFill>
                <a:latin typeface="Calibri" panose="020F0502020204030204"/>
                <a:ea typeface="ＭＳ Ｐゴシック" charset="0"/>
                <a:cs typeface="ＭＳ Ｐゴシック" charset="0"/>
              </a:rPr>
              <a:t>8</a:t>
            </a:r>
            <a:r>
              <a:rPr lang="en-US" sz="1800" dirty="0">
                <a:solidFill>
                  <a:srgbClr val="000000"/>
                </a:solidFill>
                <a:latin typeface="Calibri" panose="020F0502020204030204"/>
                <a:ea typeface="ＭＳ Ｐゴシック" charset="0"/>
                <a:cs typeface="ＭＳ Ｐゴシック" charset="0"/>
              </a:rPr>
              <a:t> m/sec)</a:t>
            </a:r>
          </a:p>
          <a:p>
            <a:pPr marL="173831" indent="-173831" defTabSz="685800" eaLnBrk="1" fontAlgn="auto" hangingPunct="1">
              <a:lnSpc>
                <a:spcPct val="90000"/>
              </a:lnSpc>
              <a:spcBef>
                <a:spcPts val="450"/>
              </a:spcBef>
              <a:spcAft>
                <a:spcPts val="0"/>
              </a:spcAft>
              <a:buClr>
                <a:srgbClr val="000099"/>
              </a:buClr>
              <a:buFont typeface="Wingdings" charset="0"/>
              <a:buChar char="§"/>
              <a:defRPr/>
            </a:pPr>
            <a:r>
              <a:rPr lang="en-US" sz="1800" i="1" dirty="0">
                <a:solidFill>
                  <a:srgbClr val="CC0000"/>
                </a:solidFill>
                <a:latin typeface="Calibri" panose="020F0502020204030204"/>
                <a:ea typeface="ＭＳ Ｐゴシック" charset="0"/>
                <a:cs typeface="ＭＳ Ｐゴシック" charset="0"/>
              </a:rPr>
              <a:t>d</a:t>
            </a:r>
            <a:r>
              <a:rPr lang="en-US" sz="1800" baseline="-25000" dirty="0">
                <a:solidFill>
                  <a:srgbClr val="CC0000"/>
                </a:solidFill>
                <a:latin typeface="Calibri" panose="020F0502020204030204"/>
                <a:ea typeface="ＭＳ Ｐゴシック" charset="0"/>
                <a:cs typeface="ＭＳ Ｐゴシック" charset="0"/>
              </a:rPr>
              <a:t>prop</a:t>
            </a:r>
            <a:r>
              <a:rPr lang="en-US" sz="1800" dirty="0">
                <a:solidFill>
                  <a:srgbClr val="000000"/>
                </a:solidFill>
                <a:latin typeface="Calibri" panose="020F0502020204030204"/>
                <a:ea typeface="ＭＳ Ｐゴシック" charset="0"/>
                <a:cs typeface="ＭＳ Ｐゴシック" charset="0"/>
              </a:rPr>
              <a:t> = </a:t>
            </a:r>
            <a:r>
              <a:rPr lang="en-US" sz="1800" i="1" dirty="0">
                <a:solidFill>
                  <a:srgbClr val="000000"/>
                </a:solidFill>
                <a:latin typeface="Calibri" panose="020F0502020204030204"/>
                <a:ea typeface="ＭＳ Ｐゴシック" charset="0"/>
                <a:cs typeface="ＭＳ Ｐゴシック" charset="0"/>
              </a:rPr>
              <a:t>d</a:t>
            </a:r>
            <a:r>
              <a:rPr lang="en-US" sz="1800" dirty="0">
                <a:solidFill>
                  <a:srgbClr val="000000"/>
                </a:solidFill>
                <a:latin typeface="Calibri" panose="020F0502020204030204"/>
                <a:ea typeface="ＭＳ Ｐゴシック" charset="0"/>
                <a:cs typeface="ＭＳ Ｐゴシック" charset="0"/>
              </a:rPr>
              <a:t>/</a:t>
            </a:r>
            <a:r>
              <a:rPr lang="en-US" sz="1800" i="1" dirty="0">
                <a:solidFill>
                  <a:srgbClr val="000000"/>
                </a:solidFill>
                <a:latin typeface="Calibri" panose="020F0502020204030204"/>
                <a:ea typeface="ＭＳ Ｐゴシック" charset="0"/>
                <a:cs typeface="ＭＳ Ｐゴシック" charset="0"/>
              </a:rPr>
              <a:t>s</a:t>
            </a:r>
          </a:p>
        </p:txBody>
      </p:sp>
      <p:grpSp>
        <p:nvGrpSpPr>
          <p:cNvPr id="9" name="Group 8"/>
          <p:cNvGrpSpPr>
            <a:grpSpLocks/>
          </p:cNvGrpSpPr>
          <p:nvPr/>
        </p:nvGrpSpPr>
        <p:grpSpPr bwMode="auto">
          <a:xfrm>
            <a:off x="908050" y="4978400"/>
            <a:ext cx="5307013" cy="868363"/>
            <a:chOff x="1211117" y="5568048"/>
            <a:chExt cx="7076415" cy="1158105"/>
          </a:xfrm>
        </p:grpSpPr>
        <p:sp>
          <p:nvSpPr>
            <p:cNvPr id="12323" name="Text Box 62"/>
            <p:cNvSpPr txBox="1">
              <a:spLocks noChangeArrowheads="1"/>
            </p:cNvSpPr>
            <p:nvPr/>
          </p:nvSpPr>
          <p:spPr bwMode="auto">
            <a:xfrm>
              <a:off x="3836662" y="5864379"/>
              <a:ext cx="2105221"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i="1">
                  <a:solidFill>
                    <a:srgbClr val="C00000"/>
                  </a:solidFill>
                  <a:latin typeface="Calibri" panose="020F0502020204030204" pitchFamily="34" charset="0"/>
                </a:rPr>
                <a:t>d</a:t>
              </a:r>
              <a:r>
                <a:rPr lang="en-US" altLang="en-US" sz="1800" baseline="-25000">
                  <a:solidFill>
                    <a:srgbClr val="C00000"/>
                  </a:solidFill>
                  <a:latin typeface="Calibri" panose="020F0502020204030204" pitchFamily="34" charset="0"/>
                </a:rPr>
                <a:t>trans</a:t>
              </a:r>
              <a:r>
                <a:rPr lang="en-US" altLang="en-US" sz="1500" baseline="-25000">
                  <a:solidFill>
                    <a:srgbClr val="C00000"/>
                  </a:solidFill>
                  <a:latin typeface="Calibri" panose="020F0502020204030204" pitchFamily="34" charset="0"/>
                </a:rPr>
                <a:t> </a:t>
              </a:r>
              <a:r>
                <a:rPr lang="en-US" altLang="en-US" sz="1500">
                  <a:solidFill>
                    <a:srgbClr val="000000"/>
                  </a:solidFill>
                  <a:latin typeface="Calibri" panose="020F0502020204030204" pitchFamily="34" charset="0"/>
                </a:rPr>
                <a:t>and </a:t>
              </a:r>
              <a:r>
                <a:rPr lang="en-US" altLang="en-US" sz="1800" i="1">
                  <a:solidFill>
                    <a:srgbClr val="C00000"/>
                  </a:solidFill>
                  <a:latin typeface="Calibri" panose="020F0502020204030204" pitchFamily="34" charset="0"/>
                </a:rPr>
                <a:t>d</a:t>
              </a:r>
              <a:r>
                <a:rPr lang="en-US" altLang="en-US" sz="1800" baseline="-25000">
                  <a:solidFill>
                    <a:srgbClr val="C00000"/>
                  </a:solidFill>
                  <a:latin typeface="Calibri" panose="020F0502020204030204" pitchFamily="34" charset="0"/>
                </a:rPr>
                <a:t>prop</a:t>
              </a:r>
            </a:p>
            <a:p>
              <a:pPr algn="ctr" eaLnBrk="1" hangingPunct="1">
                <a:spcBef>
                  <a:spcPct val="0"/>
                </a:spcBef>
                <a:buFontTx/>
                <a:buNone/>
              </a:pPr>
              <a:r>
                <a:rPr lang="en-US" altLang="en-US" sz="1800" i="1">
                  <a:solidFill>
                    <a:srgbClr val="000000"/>
                  </a:solidFill>
                  <a:latin typeface="Calibri" panose="020F0502020204030204" pitchFamily="34" charset="0"/>
                </a:rPr>
                <a:t>very </a:t>
              </a:r>
              <a:r>
                <a:rPr lang="en-US" altLang="en-US" sz="1800">
                  <a:solidFill>
                    <a:srgbClr val="000000"/>
                  </a:solidFill>
                  <a:latin typeface="Calibri" panose="020F0502020204030204" pitchFamily="34" charset="0"/>
                </a:rPr>
                <a:t>different</a:t>
              </a:r>
            </a:p>
          </p:txBody>
        </p:sp>
        <p:sp>
          <p:nvSpPr>
            <p:cNvPr id="3" name="Oval 2"/>
            <p:cNvSpPr/>
            <p:nvPr/>
          </p:nvSpPr>
          <p:spPr>
            <a:xfrm>
              <a:off x="1211117" y="5568048"/>
              <a:ext cx="1869122" cy="49965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63" name="Oval 62"/>
            <p:cNvSpPr/>
            <p:nvPr/>
          </p:nvSpPr>
          <p:spPr>
            <a:xfrm>
              <a:off x="6418410" y="5570166"/>
              <a:ext cx="1869122" cy="49965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cxnSp>
          <p:nvCxnSpPr>
            <p:cNvPr id="7" name="Straight Connector 6"/>
            <p:cNvCxnSpPr>
              <a:stCxn id="63" idx="2"/>
            </p:cNvCxnSpPr>
            <p:nvPr/>
          </p:nvCxnSpPr>
          <p:spPr>
            <a:xfrm flipH="1">
              <a:off x="5393885" y="5819995"/>
              <a:ext cx="1024524" cy="247711"/>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cxnSpLocks/>
            </p:cNvCxnSpPr>
            <p:nvPr/>
          </p:nvCxnSpPr>
          <p:spPr>
            <a:xfrm>
              <a:off x="3097174" y="5819995"/>
              <a:ext cx="941969" cy="247711"/>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2322"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2F1EDEC3-C8B3-4620-BDD5-AA5DF469D293}" type="slidenum">
              <a:rPr lang="en-US" altLang="en-US" sz="1100">
                <a:solidFill>
                  <a:srgbClr val="7F7F7F"/>
                </a:solidFill>
              </a:rPr>
              <a:pPr>
                <a:spcBef>
                  <a:spcPct val="0"/>
                </a:spcBef>
                <a:buFontTx/>
                <a:buNone/>
              </a:pPr>
              <a:t>5</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dissolve">
                                      <p:cBhvr>
                                        <p:cTn id="7" dur="500"/>
                                        <p:tgtEl>
                                          <p:spTgt spid="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dissolve">
                                      <p:cBhvr>
                                        <p:cTn id="12" dur="500"/>
                                        <p:tgtEl>
                                          <p:spTgt spid="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a:xfrm>
            <a:off x="619125" y="1076325"/>
            <a:ext cx="7886700" cy="671513"/>
          </a:xfrm>
        </p:spPr>
        <p:txBody>
          <a:bodyPr/>
          <a:lstStyle/>
          <a:p>
            <a:r>
              <a:rPr lang="en-US" altLang="en-US" sz="3300" smtClean="0"/>
              <a:t>Caravan analogy</a:t>
            </a:r>
          </a:p>
        </p:txBody>
      </p:sp>
      <p:sp>
        <p:nvSpPr>
          <p:cNvPr id="14339" name="Rectangle 3"/>
          <p:cNvSpPr txBox="1">
            <a:spLocks noChangeArrowheads="1"/>
          </p:cNvSpPr>
          <p:nvPr/>
        </p:nvSpPr>
        <p:spPr bwMode="auto">
          <a:xfrm>
            <a:off x="696913" y="3101975"/>
            <a:ext cx="4032250" cy="248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car ~ bit; caravan ~ packet; toll service ~ link transmission</a:t>
            </a:r>
          </a:p>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toll booth takes 12 sec to service car (bit transmission time)</a:t>
            </a:r>
          </a:p>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a:t>
            </a:r>
            <a:r>
              <a:rPr lang="en-US" altLang="ja-JP" sz="2100">
                <a:solidFill>
                  <a:srgbClr val="000000"/>
                </a:solidFill>
                <a:latin typeface="Calibri" panose="020F0502020204030204" pitchFamily="34" charset="0"/>
              </a:rPr>
              <a:t>propagate” at  100 km/hr</a:t>
            </a:r>
            <a:endParaRPr lang="en-US" altLang="en-US" sz="2100">
              <a:solidFill>
                <a:srgbClr val="000000"/>
              </a:solidFill>
              <a:latin typeface="Calibri" panose="020F0502020204030204" pitchFamily="34" charset="0"/>
            </a:endParaRPr>
          </a:p>
          <a:p>
            <a:pPr eaLnBrk="1" hangingPunct="1">
              <a:lnSpc>
                <a:spcPct val="90000"/>
              </a:lnSpc>
              <a:spcBef>
                <a:spcPts val="750"/>
              </a:spcBef>
              <a:buClr>
                <a:srgbClr val="0000A3"/>
              </a:buClr>
              <a:buFont typeface="Wingdings" panose="05000000000000000000" pitchFamily="2" charset="2"/>
              <a:buChar char="§"/>
            </a:pPr>
            <a:r>
              <a:rPr lang="en-US" altLang="en-US" sz="2100" i="1">
                <a:solidFill>
                  <a:srgbClr val="CC0000"/>
                </a:solidFill>
                <a:latin typeface="Calibri" panose="020F0502020204030204" pitchFamily="34" charset="0"/>
              </a:rPr>
              <a:t>Q:</a:t>
            </a:r>
            <a:r>
              <a:rPr lang="en-US" altLang="en-US" sz="2100">
                <a:solidFill>
                  <a:srgbClr val="CC0000"/>
                </a:solidFill>
                <a:latin typeface="Calibri" panose="020F0502020204030204" pitchFamily="34" charset="0"/>
              </a:rPr>
              <a:t> How long until caravan is lined up before 2nd toll booth?</a:t>
            </a:r>
          </a:p>
          <a:p>
            <a:pPr eaLnBrk="1" hangingPunct="1">
              <a:lnSpc>
                <a:spcPct val="90000"/>
              </a:lnSpc>
              <a:spcBef>
                <a:spcPts val="750"/>
              </a:spcBef>
              <a:buClr>
                <a:srgbClr val="0000A3"/>
              </a:buClr>
              <a:buFont typeface="Wingdings" panose="05000000000000000000" pitchFamily="2" charset="2"/>
              <a:buNone/>
            </a:pPr>
            <a:endParaRPr lang="en-US" altLang="en-US" sz="1800">
              <a:solidFill>
                <a:srgbClr val="CC0000"/>
              </a:solidFill>
              <a:latin typeface="Calibri" panose="020F0502020204030204" pitchFamily="34" charset="0"/>
            </a:endParaRPr>
          </a:p>
        </p:txBody>
      </p:sp>
      <p:sp>
        <p:nvSpPr>
          <p:cNvPr id="60" name="Rectangle 4"/>
          <p:cNvSpPr txBox="1">
            <a:spLocks noChangeArrowheads="1"/>
          </p:cNvSpPr>
          <p:nvPr/>
        </p:nvSpPr>
        <p:spPr bwMode="auto">
          <a:xfrm>
            <a:off x="5081588" y="3111500"/>
            <a:ext cx="365760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time to “</a:t>
            </a:r>
            <a:r>
              <a:rPr lang="en-US" altLang="ja-JP" sz="2100">
                <a:solidFill>
                  <a:srgbClr val="000000"/>
                </a:solidFill>
                <a:latin typeface="Calibri" panose="020F0502020204030204" pitchFamily="34" charset="0"/>
              </a:rPr>
              <a:t>push” entire caravan through toll booth onto highway = 12*10 = 120 sec</a:t>
            </a:r>
          </a:p>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time for last car to propagate from 1st to 2nd toll both: 100km/(100km/hr) = 1 hr</a:t>
            </a:r>
          </a:p>
          <a:p>
            <a:pPr eaLnBrk="1" hangingPunct="1">
              <a:lnSpc>
                <a:spcPct val="90000"/>
              </a:lnSpc>
              <a:spcBef>
                <a:spcPts val="750"/>
              </a:spcBef>
              <a:buClr>
                <a:srgbClr val="0000A3"/>
              </a:buClr>
              <a:buFont typeface="Wingdings" panose="05000000000000000000" pitchFamily="2" charset="2"/>
              <a:buChar char="§"/>
            </a:pPr>
            <a:r>
              <a:rPr lang="en-US" altLang="en-US" sz="2100" i="1">
                <a:solidFill>
                  <a:srgbClr val="CC0000"/>
                </a:solidFill>
                <a:latin typeface="Calibri" panose="020F0502020204030204" pitchFamily="34" charset="0"/>
              </a:rPr>
              <a:t>A:</a:t>
            </a:r>
            <a:r>
              <a:rPr lang="en-US" altLang="en-US" sz="2100">
                <a:solidFill>
                  <a:srgbClr val="CC0000"/>
                </a:solidFill>
                <a:latin typeface="Calibri" panose="020F0502020204030204" pitchFamily="34" charset="0"/>
              </a:rPr>
              <a:t> 62 minutes</a:t>
            </a:r>
          </a:p>
        </p:txBody>
      </p:sp>
      <p:sp>
        <p:nvSpPr>
          <p:cNvPr id="119" name="Text Box 45"/>
          <p:cNvSpPr txBox="1">
            <a:spLocks noChangeArrowheads="1"/>
          </p:cNvSpPr>
          <p:nvPr/>
        </p:nvSpPr>
        <p:spPr bwMode="auto">
          <a:xfrm>
            <a:off x="4797425" y="2381250"/>
            <a:ext cx="1595438" cy="300038"/>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350" dirty="0">
                <a:solidFill>
                  <a:prstClr val="black"/>
                </a:solidFill>
                <a:latin typeface="Calibri" panose="020F0502020204030204"/>
              </a:rPr>
              <a:t>toll booth</a:t>
            </a:r>
          </a:p>
        </p:txBody>
      </p:sp>
      <p:sp>
        <p:nvSpPr>
          <p:cNvPr id="113" name="Text Box 48"/>
          <p:cNvSpPr txBox="1">
            <a:spLocks noChangeArrowheads="1"/>
          </p:cNvSpPr>
          <p:nvPr/>
        </p:nvSpPr>
        <p:spPr bwMode="auto">
          <a:xfrm>
            <a:off x="2554288" y="2381250"/>
            <a:ext cx="1757362" cy="554038"/>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500" dirty="0">
                <a:solidFill>
                  <a:prstClr val="black"/>
                </a:solidFill>
                <a:latin typeface="Calibri" panose="020F0502020204030204"/>
              </a:rPr>
              <a:t>toll  booth</a:t>
            </a:r>
          </a:p>
          <a:p>
            <a:pPr algn="ctr" defTabSz="685800" eaLnBrk="1" fontAlgn="auto" hangingPunct="1">
              <a:spcBef>
                <a:spcPts val="0"/>
              </a:spcBef>
              <a:spcAft>
                <a:spcPts val="0"/>
              </a:spcAft>
              <a:defRPr/>
            </a:pPr>
            <a:r>
              <a:rPr lang="en-US" altLang="en-US" sz="1500" dirty="0">
                <a:solidFill>
                  <a:prstClr val="black"/>
                </a:solidFill>
                <a:latin typeface="Calibri" panose="020F0502020204030204"/>
              </a:rPr>
              <a:t>(aka link)</a:t>
            </a:r>
            <a:endParaRPr lang="en-US" altLang="en-US" sz="1350" dirty="0">
              <a:solidFill>
                <a:prstClr val="black"/>
              </a:solidFill>
              <a:latin typeface="Calibri" panose="020F0502020204030204"/>
            </a:endParaRPr>
          </a:p>
        </p:txBody>
      </p:sp>
      <p:sp>
        <p:nvSpPr>
          <p:cNvPr id="14343" name="Text Box 50"/>
          <p:cNvSpPr txBox="1">
            <a:spLocks noChangeArrowheads="1"/>
          </p:cNvSpPr>
          <p:nvPr/>
        </p:nvSpPr>
        <p:spPr bwMode="auto">
          <a:xfrm>
            <a:off x="1235075" y="2378075"/>
            <a:ext cx="15875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latin typeface="Calibri" panose="020F0502020204030204" pitchFamily="34" charset="0"/>
              </a:rPr>
              <a:t>ten-car caravan</a:t>
            </a:r>
          </a:p>
          <a:p>
            <a:pPr eaLnBrk="1" hangingPunct="1">
              <a:spcBef>
                <a:spcPct val="0"/>
              </a:spcBef>
              <a:buFontTx/>
              <a:buNone/>
            </a:pPr>
            <a:r>
              <a:rPr lang="en-US" altLang="en-US" sz="1500">
                <a:solidFill>
                  <a:srgbClr val="000000"/>
                </a:solidFill>
                <a:latin typeface="Calibri" panose="020F0502020204030204" pitchFamily="34" charset="0"/>
              </a:rPr>
              <a:t>(aka 10-bit packet)</a:t>
            </a:r>
          </a:p>
        </p:txBody>
      </p:sp>
      <p:sp>
        <p:nvSpPr>
          <p:cNvPr id="68" name="Line 51"/>
          <p:cNvSpPr>
            <a:spLocks noChangeShapeType="1"/>
          </p:cNvSpPr>
          <p:nvPr/>
        </p:nvSpPr>
        <p:spPr bwMode="auto">
          <a:xfrm flipH="1">
            <a:off x="3287713" y="2116138"/>
            <a:ext cx="493712"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345" name="Text Box 52"/>
          <p:cNvSpPr txBox="1">
            <a:spLocks noChangeArrowheads="1"/>
          </p:cNvSpPr>
          <p:nvPr/>
        </p:nvSpPr>
        <p:spPr bwMode="auto">
          <a:xfrm>
            <a:off x="3781425" y="1966913"/>
            <a:ext cx="80962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latin typeface="Calibri" panose="020F0502020204030204" pitchFamily="34" charset="0"/>
              </a:rPr>
              <a:t>100 km</a:t>
            </a:r>
          </a:p>
        </p:txBody>
      </p:sp>
      <p:sp>
        <p:nvSpPr>
          <p:cNvPr id="71" name="Line 53"/>
          <p:cNvSpPr>
            <a:spLocks noChangeShapeType="1"/>
          </p:cNvSpPr>
          <p:nvPr/>
        </p:nvSpPr>
        <p:spPr bwMode="auto">
          <a:xfrm flipH="1" flipV="1">
            <a:off x="5532438" y="2114550"/>
            <a:ext cx="46672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347" name="Text Box 54"/>
          <p:cNvSpPr txBox="1">
            <a:spLocks noChangeArrowheads="1"/>
          </p:cNvSpPr>
          <p:nvPr/>
        </p:nvSpPr>
        <p:spPr bwMode="auto">
          <a:xfrm>
            <a:off x="5999163" y="1966913"/>
            <a:ext cx="80962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latin typeface="Calibri" panose="020F0502020204030204" pitchFamily="34" charset="0"/>
              </a:rPr>
              <a:t>100 km</a:t>
            </a:r>
          </a:p>
        </p:txBody>
      </p:sp>
      <p:sp>
        <p:nvSpPr>
          <p:cNvPr id="107" name="Line 68"/>
          <p:cNvSpPr>
            <a:spLocks noChangeShapeType="1"/>
          </p:cNvSpPr>
          <p:nvPr/>
        </p:nvSpPr>
        <p:spPr bwMode="auto">
          <a:xfrm>
            <a:off x="4591050" y="2114550"/>
            <a:ext cx="65087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 name="Right Brace 9"/>
          <p:cNvSpPr/>
          <p:nvPr/>
        </p:nvSpPr>
        <p:spPr>
          <a:xfrm rot="5400000">
            <a:off x="1960562" y="1430338"/>
            <a:ext cx="80963" cy="189388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685800" eaLnBrk="1" fontAlgn="auto" hangingPunct="1">
              <a:spcBef>
                <a:spcPts val="0"/>
              </a:spcBef>
              <a:spcAft>
                <a:spcPts val="0"/>
              </a:spcAft>
              <a:defRPr/>
            </a:pPr>
            <a:endParaRPr lang="en-US" sz="1350" dirty="0">
              <a:solidFill>
                <a:prstClr val="black"/>
              </a:solidFill>
              <a:latin typeface="Calibri" panose="020F0502020204030204"/>
            </a:endParaRPr>
          </a:p>
        </p:txBody>
      </p:sp>
      <p:grpSp>
        <p:nvGrpSpPr>
          <p:cNvPr id="14350" name="Group 43"/>
          <p:cNvGrpSpPr>
            <a:grpSpLocks/>
          </p:cNvGrpSpPr>
          <p:nvPr/>
        </p:nvGrpSpPr>
        <p:grpSpPr bwMode="auto">
          <a:xfrm>
            <a:off x="4797425" y="1884363"/>
            <a:ext cx="1595438" cy="796925"/>
            <a:chOff x="1190" y="938"/>
            <a:chExt cx="1340" cy="669"/>
          </a:xfrm>
        </p:grpSpPr>
        <p:sp>
          <p:nvSpPr>
            <p:cNvPr id="14379" name="Rectangle 44"/>
            <p:cNvSpPr>
              <a:spLocks noChangeArrowheads="1"/>
            </p:cNvSpPr>
            <p:nvPr/>
          </p:nvSpPr>
          <p:spPr bwMode="auto">
            <a:xfrm>
              <a:off x="1568" y="938"/>
              <a:ext cx="47" cy="42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34" name="Text Box 45"/>
            <p:cNvSpPr txBox="1">
              <a:spLocks noChangeArrowheads="1"/>
            </p:cNvSpPr>
            <p:nvPr/>
          </p:nvSpPr>
          <p:spPr bwMode="auto">
            <a:xfrm>
              <a:off x="1190" y="1355"/>
              <a:ext cx="1340" cy="252"/>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350" dirty="0">
                  <a:solidFill>
                    <a:prstClr val="black"/>
                  </a:solidFill>
                  <a:latin typeface="Calibri" panose="020F0502020204030204"/>
                </a:rPr>
                <a:t>toll booth</a:t>
              </a:r>
            </a:p>
          </p:txBody>
        </p:sp>
      </p:grpSp>
      <p:grpSp>
        <p:nvGrpSpPr>
          <p:cNvPr id="14351" name="Group 46"/>
          <p:cNvGrpSpPr>
            <a:grpSpLocks/>
          </p:cNvGrpSpPr>
          <p:nvPr/>
        </p:nvGrpSpPr>
        <p:grpSpPr bwMode="auto">
          <a:xfrm>
            <a:off x="2554288" y="1884363"/>
            <a:ext cx="1757362" cy="1027112"/>
            <a:chOff x="1103" y="938"/>
            <a:chExt cx="1476" cy="863"/>
          </a:xfrm>
        </p:grpSpPr>
        <p:sp>
          <p:nvSpPr>
            <p:cNvPr id="14377" name="Rectangle 47"/>
            <p:cNvSpPr>
              <a:spLocks noChangeArrowheads="1"/>
            </p:cNvSpPr>
            <p:nvPr/>
          </p:nvSpPr>
          <p:spPr bwMode="auto">
            <a:xfrm>
              <a:off x="1568" y="938"/>
              <a:ext cx="47" cy="42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37" name="Text Box 48"/>
            <p:cNvSpPr txBox="1">
              <a:spLocks noChangeArrowheads="1"/>
            </p:cNvSpPr>
            <p:nvPr/>
          </p:nvSpPr>
          <p:spPr bwMode="auto">
            <a:xfrm>
              <a:off x="1103" y="1355"/>
              <a:ext cx="1476" cy="446"/>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500" dirty="0">
                  <a:solidFill>
                    <a:prstClr val="black"/>
                  </a:solidFill>
                  <a:latin typeface="Calibri" panose="020F0502020204030204"/>
                </a:rPr>
                <a:t>toll  booth</a:t>
              </a:r>
            </a:p>
            <a:p>
              <a:pPr algn="ctr" defTabSz="685800" eaLnBrk="1" fontAlgn="auto" hangingPunct="1">
                <a:spcBef>
                  <a:spcPts val="0"/>
                </a:spcBef>
                <a:spcAft>
                  <a:spcPts val="0"/>
                </a:spcAft>
                <a:defRPr/>
              </a:pPr>
              <a:endParaRPr lang="en-US" altLang="en-US" sz="1350" dirty="0">
                <a:solidFill>
                  <a:prstClr val="black"/>
                </a:solidFill>
                <a:latin typeface="Calibri" panose="020F0502020204030204"/>
              </a:endParaRPr>
            </a:p>
          </p:txBody>
        </p:sp>
      </p:grpSp>
      <p:sp>
        <p:nvSpPr>
          <p:cNvPr id="38" name="Line 51"/>
          <p:cNvSpPr>
            <a:spLocks noChangeShapeType="1"/>
          </p:cNvSpPr>
          <p:nvPr/>
        </p:nvSpPr>
        <p:spPr bwMode="auto">
          <a:xfrm flipH="1">
            <a:off x="3287713" y="2116138"/>
            <a:ext cx="493712"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 name="Line 53"/>
          <p:cNvSpPr>
            <a:spLocks noChangeShapeType="1"/>
          </p:cNvSpPr>
          <p:nvPr/>
        </p:nvSpPr>
        <p:spPr bwMode="auto">
          <a:xfrm flipH="1" flipV="1">
            <a:off x="5532438" y="2114550"/>
            <a:ext cx="46672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0" name="Oval 56"/>
          <p:cNvSpPr>
            <a:spLocks noChangeArrowheads="1"/>
          </p:cNvSpPr>
          <p:nvPr/>
        </p:nvSpPr>
        <p:spPr bwMode="auto">
          <a:xfrm>
            <a:off x="1595438" y="2116138"/>
            <a:ext cx="57150" cy="55562"/>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800" dirty="0">
              <a:solidFill>
                <a:prstClr val="black"/>
              </a:solidFill>
              <a:latin typeface="Calibri" panose="020F0502020204030204"/>
            </a:endParaRPr>
          </a:p>
        </p:txBody>
      </p:sp>
      <p:sp>
        <p:nvSpPr>
          <p:cNvPr id="41" name="Oval 57"/>
          <p:cNvSpPr>
            <a:spLocks noChangeArrowheads="1"/>
          </p:cNvSpPr>
          <p:nvPr/>
        </p:nvSpPr>
        <p:spPr bwMode="auto">
          <a:xfrm>
            <a:off x="1709738" y="2116138"/>
            <a:ext cx="57150" cy="55562"/>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800" dirty="0">
              <a:solidFill>
                <a:prstClr val="black"/>
              </a:solidFill>
              <a:latin typeface="Calibri" panose="020F0502020204030204"/>
            </a:endParaRPr>
          </a:p>
        </p:txBody>
      </p:sp>
      <p:sp>
        <p:nvSpPr>
          <p:cNvPr id="42" name="Oval 58"/>
          <p:cNvSpPr>
            <a:spLocks noChangeArrowheads="1"/>
          </p:cNvSpPr>
          <p:nvPr/>
        </p:nvSpPr>
        <p:spPr bwMode="auto">
          <a:xfrm>
            <a:off x="1878013" y="2116138"/>
            <a:ext cx="55562" cy="55562"/>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endParaRPr lang="en-US" altLang="en-US" sz="1800" dirty="0">
              <a:solidFill>
                <a:prstClr val="black"/>
              </a:solidFill>
              <a:latin typeface="Calibri" panose="020F0502020204030204"/>
            </a:endParaRPr>
          </a:p>
        </p:txBody>
      </p:sp>
      <p:grpSp>
        <p:nvGrpSpPr>
          <p:cNvPr id="14357" name="Group 61"/>
          <p:cNvGrpSpPr>
            <a:grpSpLocks/>
          </p:cNvGrpSpPr>
          <p:nvPr/>
        </p:nvGrpSpPr>
        <p:grpSpPr bwMode="auto">
          <a:xfrm>
            <a:off x="2947988" y="1817688"/>
            <a:ext cx="344487" cy="582612"/>
            <a:chOff x="2365" y="1352"/>
            <a:chExt cx="1022" cy="1616"/>
          </a:xfrm>
        </p:grpSpPr>
        <p:pic>
          <p:nvPicPr>
            <p:cNvPr id="14375" name="Picture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6" name="Rectangle 63"/>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grpSp>
      <p:grpSp>
        <p:nvGrpSpPr>
          <p:cNvPr id="14358" name="Group 65"/>
          <p:cNvGrpSpPr>
            <a:grpSpLocks/>
          </p:cNvGrpSpPr>
          <p:nvPr/>
        </p:nvGrpSpPr>
        <p:grpSpPr bwMode="auto">
          <a:xfrm>
            <a:off x="5140325" y="1838325"/>
            <a:ext cx="344488" cy="584200"/>
            <a:chOff x="2365" y="1352"/>
            <a:chExt cx="1022" cy="1616"/>
          </a:xfrm>
        </p:grpSpPr>
        <p:pic>
          <p:nvPicPr>
            <p:cNvPr id="14373" name="Picture 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4" name="Rectangle 67"/>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grpSp>
      <p:sp>
        <p:nvSpPr>
          <p:cNvPr id="49" name="Line 68"/>
          <p:cNvSpPr>
            <a:spLocks noChangeShapeType="1"/>
          </p:cNvSpPr>
          <p:nvPr/>
        </p:nvSpPr>
        <p:spPr bwMode="auto">
          <a:xfrm>
            <a:off x="4591050" y="2114550"/>
            <a:ext cx="65087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0" name="Right Brace 49"/>
          <p:cNvSpPr/>
          <p:nvPr/>
        </p:nvSpPr>
        <p:spPr>
          <a:xfrm rot="5400000">
            <a:off x="1960562" y="1430338"/>
            <a:ext cx="80963" cy="189388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685800" eaLnBrk="1" fontAlgn="auto" hangingPunct="1">
              <a:spcBef>
                <a:spcPts val="0"/>
              </a:spcBef>
              <a:spcAft>
                <a:spcPts val="0"/>
              </a:spcAft>
              <a:defRPr/>
            </a:pPr>
            <a:endParaRPr lang="en-US" sz="1350" dirty="0">
              <a:solidFill>
                <a:prstClr val="black"/>
              </a:solidFill>
              <a:latin typeface="Calibri" panose="020F0502020204030204"/>
            </a:endParaRPr>
          </a:p>
        </p:txBody>
      </p:sp>
      <p:pic>
        <p:nvPicPr>
          <p:cNvPr id="14361" name="Picture 2" descr="Icon Car Symbol - Free image on Pixaba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025" y="1900238"/>
            <a:ext cx="6572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2" name="Picture 2" descr="Icon Car Symbol - Free image on Pixaba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875" y="1898650"/>
            <a:ext cx="6556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3" name="Picture 2" descr="Icon Car Symbol - Free image on Pixaba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1738" y="1898650"/>
            <a:ext cx="6572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Line 68"/>
          <p:cNvSpPr>
            <a:spLocks noChangeShapeType="1"/>
          </p:cNvSpPr>
          <p:nvPr/>
        </p:nvSpPr>
        <p:spPr bwMode="auto">
          <a:xfrm>
            <a:off x="6696075" y="2105025"/>
            <a:ext cx="65087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14365" name="Group 43"/>
          <p:cNvGrpSpPr>
            <a:grpSpLocks/>
          </p:cNvGrpSpPr>
          <p:nvPr/>
        </p:nvGrpSpPr>
        <p:grpSpPr bwMode="auto">
          <a:xfrm>
            <a:off x="6902450" y="1874838"/>
            <a:ext cx="1595438" cy="796925"/>
            <a:chOff x="1190" y="938"/>
            <a:chExt cx="1340" cy="669"/>
          </a:xfrm>
        </p:grpSpPr>
        <p:sp>
          <p:nvSpPr>
            <p:cNvPr id="14371" name="Rectangle 44"/>
            <p:cNvSpPr>
              <a:spLocks noChangeArrowheads="1"/>
            </p:cNvSpPr>
            <p:nvPr/>
          </p:nvSpPr>
          <p:spPr bwMode="auto">
            <a:xfrm>
              <a:off x="1568" y="938"/>
              <a:ext cx="47" cy="42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57" name="Text Box 45"/>
            <p:cNvSpPr txBox="1">
              <a:spLocks noChangeArrowheads="1"/>
            </p:cNvSpPr>
            <p:nvPr/>
          </p:nvSpPr>
          <p:spPr bwMode="auto">
            <a:xfrm>
              <a:off x="1190" y="1355"/>
              <a:ext cx="1340" cy="252"/>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350" dirty="0">
                  <a:solidFill>
                    <a:prstClr val="black"/>
                  </a:solidFill>
                  <a:latin typeface="Calibri" panose="020F0502020204030204"/>
                </a:rPr>
                <a:t>toll booth</a:t>
              </a:r>
            </a:p>
          </p:txBody>
        </p:sp>
      </p:grpSp>
      <p:grpSp>
        <p:nvGrpSpPr>
          <p:cNvPr id="14366" name="Group 65"/>
          <p:cNvGrpSpPr>
            <a:grpSpLocks/>
          </p:cNvGrpSpPr>
          <p:nvPr/>
        </p:nvGrpSpPr>
        <p:grpSpPr bwMode="auto">
          <a:xfrm>
            <a:off x="7245350" y="1828800"/>
            <a:ext cx="344488" cy="584200"/>
            <a:chOff x="2365" y="1352"/>
            <a:chExt cx="1022" cy="1616"/>
          </a:xfrm>
        </p:grpSpPr>
        <p:pic>
          <p:nvPicPr>
            <p:cNvPr id="14369" name="Picture 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70" name="Rectangle 67"/>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grpSp>
      <p:sp>
        <p:nvSpPr>
          <p:cNvPr id="65" name="Line 68"/>
          <p:cNvSpPr>
            <a:spLocks noChangeShapeType="1"/>
          </p:cNvSpPr>
          <p:nvPr/>
        </p:nvSpPr>
        <p:spPr bwMode="auto">
          <a:xfrm>
            <a:off x="6696075" y="2105025"/>
            <a:ext cx="65087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368"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362F82BB-ACD3-491B-9EBB-83DE618883A3}" type="slidenum">
              <a:rPr lang="en-US" altLang="en-US" sz="1100">
                <a:solidFill>
                  <a:srgbClr val="7F7F7F"/>
                </a:solidFill>
              </a:rPr>
              <a:pPr>
                <a:spcBef>
                  <a:spcPct val="0"/>
                </a:spcBef>
                <a:buFontTx/>
                <a:buNone/>
              </a:pPr>
              <a:t>6</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
                                            <p:txEl>
                                              <p:pRg st="0" end="0"/>
                                            </p:txEl>
                                          </p:spTgt>
                                        </p:tgtEl>
                                        <p:attrNameLst>
                                          <p:attrName>style.visibility</p:attrName>
                                        </p:attrNameLst>
                                      </p:cBhvr>
                                      <p:to>
                                        <p:strVal val="visible"/>
                                      </p:to>
                                    </p:set>
                                    <p:animEffect transition="in" filter="dissolve">
                                      <p:cBhvr>
                                        <p:cTn id="7" dur="500"/>
                                        <p:tgtEl>
                                          <p:spTgt spid="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0">
                                            <p:txEl>
                                              <p:pRg st="1" end="1"/>
                                            </p:txEl>
                                          </p:spTgt>
                                        </p:tgtEl>
                                        <p:attrNameLst>
                                          <p:attrName>style.visibility</p:attrName>
                                        </p:attrNameLst>
                                      </p:cBhvr>
                                      <p:to>
                                        <p:strVal val="visible"/>
                                      </p:to>
                                    </p:set>
                                    <p:animEffect transition="in" filter="dissolve">
                                      <p:cBhvr>
                                        <p:cTn id="12" dur="500"/>
                                        <p:tgtEl>
                                          <p:spTgt spid="6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
                                            <p:txEl>
                                              <p:pRg st="2" end="2"/>
                                            </p:txEl>
                                          </p:spTgt>
                                        </p:tgtEl>
                                        <p:attrNameLst>
                                          <p:attrName>style.visibility</p:attrName>
                                        </p:attrNameLst>
                                      </p:cBhvr>
                                      <p:to>
                                        <p:strVal val="visible"/>
                                      </p:to>
                                    </p:set>
                                    <p:animEffect transition="in" filter="dissolve">
                                      <p:cBhvr>
                                        <p:cTn id="17" dur="500"/>
                                        <p:tgtEl>
                                          <p:spTgt spid="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a:xfrm>
            <a:off x="619125" y="1076325"/>
            <a:ext cx="7886700" cy="671513"/>
          </a:xfrm>
        </p:spPr>
        <p:txBody>
          <a:bodyPr/>
          <a:lstStyle/>
          <a:p>
            <a:r>
              <a:rPr lang="en-US" altLang="en-US" sz="3300" smtClean="0"/>
              <a:t>Caravan analogy</a:t>
            </a:r>
          </a:p>
        </p:txBody>
      </p:sp>
      <p:grpSp>
        <p:nvGrpSpPr>
          <p:cNvPr id="16387" name="Group 43"/>
          <p:cNvGrpSpPr>
            <a:grpSpLocks/>
          </p:cNvGrpSpPr>
          <p:nvPr/>
        </p:nvGrpSpPr>
        <p:grpSpPr bwMode="auto">
          <a:xfrm>
            <a:off x="5368925" y="1922463"/>
            <a:ext cx="1595438" cy="796925"/>
            <a:chOff x="1190" y="938"/>
            <a:chExt cx="1340" cy="669"/>
          </a:xfrm>
        </p:grpSpPr>
        <p:sp>
          <p:nvSpPr>
            <p:cNvPr id="16414" name="Rectangle 44"/>
            <p:cNvSpPr>
              <a:spLocks noChangeArrowheads="1"/>
            </p:cNvSpPr>
            <p:nvPr/>
          </p:nvSpPr>
          <p:spPr bwMode="auto">
            <a:xfrm>
              <a:off x="1568" y="938"/>
              <a:ext cx="47" cy="42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119" name="Text Box 45"/>
            <p:cNvSpPr txBox="1">
              <a:spLocks noChangeArrowheads="1"/>
            </p:cNvSpPr>
            <p:nvPr/>
          </p:nvSpPr>
          <p:spPr bwMode="auto">
            <a:xfrm>
              <a:off x="1190" y="1355"/>
              <a:ext cx="1340" cy="252"/>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350" dirty="0">
                  <a:solidFill>
                    <a:prstClr val="black"/>
                  </a:solidFill>
                  <a:latin typeface="Calibri" panose="020F0502020204030204"/>
                </a:rPr>
                <a:t>toll booth</a:t>
              </a:r>
            </a:p>
          </p:txBody>
        </p:sp>
      </p:grpSp>
      <p:grpSp>
        <p:nvGrpSpPr>
          <p:cNvPr id="16388" name="Group 46"/>
          <p:cNvGrpSpPr>
            <a:grpSpLocks/>
          </p:cNvGrpSpPr>
          <p:nvPr/>
        </p:nvGrpSpPr>
        <p:grpSpPr bwMode="auto">
          <a:xfrm>
            <a:off x="3125788" y="1922463"/>
            <a:ext cx="1757362" cy="1049337"/>
            <a:chOff x="1103" y="938"/>
            <a:chExt cx="1476" cy="882"/>
          </a:xfrm>
        </p:grpSpPr>
        <p:sp>
          <p:nvSpPr>
            <p:cNvPr id="16412" name="Rectangle 47"/>
            <p:cNvSpPr>
              <a:spLocks noChangeArrowheads="1"/>
            </p:cNvSpPr>
            <p:nvPr/>
          </p:nvSpPr>
          <p:spPr bwMode="auto">
            <a:xfrm>
              <a:off x="1568" y="938"/>
              <a:ext cx="47" cy="423"/>
            </a:xfrm>
            <a:prstGeom prst="rect">
              <a:avLst/>
            </a:prstGeom>
            <a:solidFill>
              <a:schemeClr val="accent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113" name="Text Box 48"/>
            <p:cNvSpPr txBox="1">
              <a:spLocks noChangeArrowheads="1"/>
            </p:cNvSpPr>
            <p:nvPr/>
          </p:nvSpPr>
          <p:spPr bwMode="auto">
            <a:xfrm>
              <a:off x="1103" y="1356"/>
              <a:ext cx="1476" cy="464"/>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r>
                <a:rPr lang="en-US" altLang="en-US" sz="1500" dirty="0">
                  <a:solidFill>
                    <a:prstClr val="black"/>
                  </a:solidFill>
                  <a:latin typeface="Calibri" panose="020F0502020204030204"/>
                </a:rPr>
                <a:t>toll  booth</a:t>
              </a:r>
            </a:p>
            <a:p>
              <a:pPr algn="ctr" defTabSz="685800" eaLnBrk="1" fontAlgn="auto" hangingPunct="1">
                <a:spcBef>
                  <a:spcPts val="0"/>
                </a:spcBef>
                <a:spcAft>
                  <a:spcPts val="0"/>
                </a:spcAft>
                <a:defRPr/>
              </a:pPr>
              <a:r>
                <a:rPr lang="en-US" altLang="en-US" sz="1500" dirty="0">
                  <a:solidFill>
                    <a:prstClr val="black"/>
                  </a:solidFill>
                  <a:latin typeface="Calibri" panose="020F0502020204030204"/>
                </a:rPr>
                <a:t>(aka router)</a:t>
              </a:r>
              <a:endParaRPr lang="en-US" altLang="en-US" sz="1350" dirty="0">
                <a:solidFill>
                  <a:prstClr val="black"/>
                </a:solidFill>
                <a:latin typeface="Calibri" panose="020F0502020204030204"/>
              </a:endParaRPr>
            </a:p>
          </p:txBody>
        </p:sp>
      </p:grpSp>
      <p:sp>
        <p:nvSpPr>
          <p:cNvPr id="16389" name="Text Box 50"/>
          <p:cNvSpPr txBox="1">
            <a:spLocks noChangeArrowheads="1"/>
          </p:cNvSpPr>
          <p:nvPr/>
        </p:nvSpPr>
        <p:spPr bwMode="auto">
          <a:xfrm>
            <a:off x="1806575" y="2416175"/>
            <a:ext cx="15875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latin typeface="Calibri" panose="020F0502020204030204" pitchFamily="34" charset="0"/>
              </a:rPr>
              <a:t>ten-car caravan</a:t>
            </a:r>
          </a:p>
          <a:p>
            <a:pPr eaLnBrk="1" hangingPunct="1">
              <a:spcBef>
                <a:spcPct val="0"/>
              </a:spcBef>
              <a:buFontTx/>
              <a:buNone/>
            </a:pPr>
            <a:r>
              <a:rPr lang="en-US" altLang="en-US" sz="1500">
                <a:solidFill>
                  <a:srgbClr val="000000"/>
                </a:solidFill>
                <a:latin typeface="Calibri" panose="020F0502020204030204" pitchFamily="34" charset="0"/>
              </a:rPr>
              <a:t>(aka 10-bit packet)</a:t>
            </a:r>
          </a:p>
        </p:txBody>
      </p:sp>
      <p:sp>
        <p:nvSpPr>
          <p:cNvPr id="68" name="Line 51"/>
          <p:cNvSpPr>
            <a:spLocks noChangeShapeType="1"/>
          </p:cNvSpPr>
          <p:nvPr/>
        </p:nvSpPr>
        <p:spPr bwMode="auto">
          <a:xfrm flipH="1">
            <a:off x="3859213" y="2154238"/>
            <a:ext cx="493712"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6391" name="Text Box 52"/>
          <p:cNvSpPr txBox="1">
            <a:spLocks noChangeArrowheads="1"/>
          </p:cNvSpPr>
          <p:nvPr/>
        </p:nvSpPr>
        <p:spPr bwMode="auto">
          <a:xfrm>
            <a:off x="4352925" y="2005013"/>
            <a:ext cx="80962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latin typeface="Calibri" panose="020F0502020204030204" pitchFamily="34" charset="0"/>
              </a:rPr>
              <a:t>100 km</a:t>
            </a:r>
          </a:p>
        </p:txBody>
      </p:sp>
      <p:sp>
        <p:nvSpPr>
          <p:cNvPr id="71" name="Line 53"/>
          <p:cNvSpPr>
            <a:spLocks noChangeShapeType="1"/>
          </p:cNvSpPr>
          <p:nvPr/>
        </p:nvSpPr>
        <p:spPr bwMode="auto">
          <a:xfrm flipH="1" flipV="1">
            <a:off x="6103938" y="2152650"/>
            <a:ext cx="46672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6393" name="Text Box 54"/>
          <p:cNvSpPr txBox="1">
            <a:spLocks noChangeArrowheads="1"/>
          </p:cNvSpPr>
          <p:nvPr/>
        </p:nvSpPr>
        <p:spPr bwMode="auto">
          <a:xfrm>
            <a:off x="6570663" y="2005013"/>
            <a:ext cx="80962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latin typeface="Calibri" panose="020F0502020204030204" pitchFamily="34" charset="0"/>
              </a:rPr>
              <a:t>100 km</a:t>
            </a:r>
          </a:p>
        </p:txBody>
      </p:sp>
      <p:sp>
        <p:nvSpPr>
          <p:cNvPr id="73" name="Line 55"/>
          <p:cNvSpPr>
            <a:spLocks noChangeShapeType="1"/>
          </p:cNvSpPr>
          <p:nvPr/>
        </p:nvSpPr>
        <p:spPr bwMode="auto">
          <a:xfrm flipV="1">
            <a:off x="7253288" y="2152650"/>
            <a:ext cx="350837" cy="0"/>
          </a:xfrm>
          <a:prstGeom prst="line">
            <a:avLst/>
          </a:prstGeom>
          <a:noFill/>
          <a:ln w="9525">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6395" name="Oval 56"/>
          <p:cNvSpPr>
            <a:spLocks noChangeArrowheads="1"/>
          </p:cNvSpPr>
          <p:nvPr/>
        </p:nvSpPr>
        <p:spPr bwMode="auto">
          <a:xfrm>
            <a:off x="2166938" y="2154238"/>
            <a:ext cx="57150" cy="5556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16396" name="Oval 57"/>
          <p:cNvSpPr>
            <a:spLocks noChangeArrowheads="1"/>
          </p:cNvSpPr>
          <p:nvPr/>
        </p:nvSpPr>
        <p:spPr bwMode="auto">
          <a:xfrm>
            <a:off x="2281238" y="2154238"/>
            <a:ext cx="57150" cy="5556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sp>
        <p:nvSpPr>
          <p:cNvPr id="16397" name="Oval 58"/>
          <p:cNvSpPr>
            <a:spLocks noChangeArrowheads="1"/>
          </p:cNvSpPr>
          <p:nvPr/>
        </p:nvSpPr>
        <p:spPr bwMode="auto">
          <a:xfrm>
            <a:off x="2449513" y="2154238"/>
            <a:ext cx="55562" cy="5556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pic>
        <p:nvPicPr>
          <p:cNvPr id="16398" name="Picture 59" descr="MCj0398517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530475" y="2087563"/>
            <a:ext cx="561975"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9" name="Picture 60" descr="MCj0398517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581150" y="2084388"/>
            <a:ext cx="561975"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00" name="Group 61"/>
          <p:cNvGrpSpPr>
            <a:grpSpLocks/>
          </p:cNvGrpSpPr>
          <p:nvPr/>
        </p:nvGrpSpPr>
        <p:grpSpPr bwMode="auto">
          <a:xfrm>
            <a:off x="3519488" y="1855788"/>
            <a:ext cx="344487" cy="582612"/>
            <a:chOff x="2365" y="1352"/>
            <a:chExt cx="1022" cy="1616"/>
          </a:xfrm>
        </p:grpSpPr>
        <p:pic>
          <p:nvPicPr>
            <p:cNvPr id="16410" name="Picture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11" name="Rectangle 63"/>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grpSp>
      <p:pic>
        <p:nvPicPr>
          <p:cNvPr id="16401" name="Picture 64" descr="MCj0398517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103563" y="2103438"/>
            <a:ext cx="561975"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02" name="Group 65"/>
          <p:cNvGrpSpPr>
            <a:grpSpLocks/>
          </p:cNvGrpSpPr>
          <p:nvPr/>
        </p:nvGrpSpPr>
        <p:grpSpPr bwMode="auto">
          <a:xfrm>
            <a:off x="5711825" y="1876425"/>
            <a:ext cx="344488" cy="584200"/>
            <a:chOff x="2365" y="1352"/>
            <a:chExt cx="1022" cy="1616"/>
          </a:xfrm>
        </p:grpSpPr>
        <p:pic>
          <p:nvPicPr>
            <p:cNvPr id="16408"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9" name="Rectangle 67"/>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Calibri" panose="020F0502020204030204" pitchFamily="34" charset="0"/>
              </a:endParaRPr>
            </a:p>
          </p:txBody>
        </p:sp>
      </p:grpSp>
      <p:sp>
        <p:nvSpPr>
          <p:cNvPr id="107" name="Line 68"/>
          <p:cNvSpPr>
            <a:spLocks noChangeShapeType="1"/>
          </p:cNvSpPr>
          <p:nvPr/>
        </p:nvSpPr>
        <p:spPr bwMode="auto">
          <a:xfrm>
            <a:off x="5162550" y="2152650"/>
            <a:ext cx="650875" cy="0"/>
          </a:xfrm>
          <a:prstGeom prst="line">
            <a:avLst/>
          </a:prstGeom>
          <a:noFill/>
          <a:ln w="9525">
            <a:solidFill>
              <a:schemeClr val="tx1"/>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 name="Right Brace 9"/>
          <p:cNvSpPr/>
          <p:nvPr/>
        </p:nvSpPr>
        <p:spPr>
          <a:xfrm rot="5400000">
            <a:off x="2532062" y="1468438"/>
            <a:ext cx="80963" cy="189388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685800" eaLnBrk="1" fontAlgn="auto" hangingPunct="1">
              <a:spcBef>
                <a:spcPts val="0"/>
              </a:spcBef>
              <a:spcAft>
                <a:spcPts val="0"/>
              </a:spcAft>
              <a:defRPr/>
            </a:pPr>
            <a:endParaRPr lang="en-US" sz="1350" dirty="0">
              <a:solidFill>
                <a:prstClr val="black"/>
              </a:solidFill>
              <a:latin typeface="Calibri" panose="020F0502020204030204"/>
            </a:endParaRPr>
          </a:p>
        </p:txBody>
      </p:sp>
      <p:sp>
        <p:nvSpPr>
          <p:cNvPr id="16405" name="Rectangle 3"/>
          <p:cNvSpPr txBox="1">
            <a:spLocks noChangeArrowheads="1"/>
          </p:cNvSpPr>
          <p:nvPr/>
        </p:nvSpPr>
        <p:spPr bwMode="auto">
          <a:xfrm>
            <a:off x="619125" y="3368675"/>
            <a:ext cx="78867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suppose cars now “</a:t>
            </a:r>
            <a:r>
              <a:rPr lang="en-US" altLang="ja-JP" sz="2100">
                <a:solidFill>
                  <a:srgbClr val="000000"/>
                </a:solidFill>
                <a:latin typeface="Calibri" panose="020F0502020204030204" pitchFamily="34" charset="0"/>
              </a:rPr>
              <a:t>propagate” at 1000 km/hr</a:t>
            </a:r>
          </a:p>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and suppose toll booth now takes one min to service a car</a:t>
            </a:r>
            <a:endParaRPr lang="en-US" altLang="en-US" sz="2100">
              <a:solidFill>
                <a:srgbClr val="ED7D31"/>
              </a:solidFill>
              <a:latin typeface="Calibri" panose="020F0502020204030204" pitchFamily="34" charset="0"/>
            </a:endParaRPr>
          </a:p>
          <a:p>
            <a:pPr eaLnBrk="1" hangingPunct="1">
              <a:lnSpc>
                <a:spcPct val="90000"/>
              </a:lnSpc>
              <a:spcBef>
                <a:spcPts val="750"/>
              </a:spcBef>
              <a:buClr>
                <a:srgbClr val="0000A3"/>
              </a:buClr>
              <a:buFont typeface="Wingdings" panose="05000000000000000000" pitchFamily="2" charset="2"/>
              <a:buChar char="§"/>
            </a:pPr>
            <a:r>
              <a:rPr lang="en-US" altLang="en-US" sz="2100" i="1">
                <a:solidFill>
                  <a:srgbClr val="CC0000"/>
                </a:solidFill>
                <a:latin typeface="Calibri" panose="020F0502020204030204" pitchFamily="34" charset="0"/>
              </a:rPr>
              <a:t>Q:</a:t>
            </a:r>
            <a:r>
              <a:rPr lang="en-US" altLang="en-US" sz="2100">
                <a:solidFill>
                  <a:srgbClr val="CC0000"/>
                </a:solidFill>
                <a:latin typeface="Calibri" panose="020F0502020204030204" pitchFamily="34" charset="0"/>
              </a:rPr>
              <a:t> Will cars arrive to 2nd booth before all cars serviced at first booth?</a:t>
            </a:r>
          </a:p>
          <a:p>
            <a:pPr eaLnBrk="1" hangingPunct="1">
              <a:lnSpc>
                <a:spcPct val="90000"/>
              </a:lnSpc>
              <a:spcBef>
                <a:spcPts val="750"/>
              </a:spcBef>
              <a:buClr>
                <a:srgbClr val="0000A3"/>
              </a:buClr>
              <a:buFont typeface="Wingdings" panose="05000000000000000000" pitchFamily="2" charset="2"/>
              <a:buNone/>
            </a:pPr>
            <a:endParaRPr lang="en-US" altLang="en-US" sz="2400">
              <a:solidFill>
                <a:srgbClr val="CC0000"/>
              </a:solidFill>
              <a:latin typeface="Calibri" panose="020F0502020204030204" pitchFamily="34" charset="0"/>
            </a:endParaRPr>
          </a:p>
        </p:txBody>
      </p:sp>
      <p:sp>
        <p:nvSpPr>
          <p:cNvPr id="16406" name="Rectangle 4"/>
          <p:cNvSpPr txBox="1">
            <a:spLocks noChangeArrowheads="1"/>
          </p:cNvSpPr>
          <p:nvPr/>
        </p:nvSpPr>
        <p:spPr bwMode="auto">
          <a:xfrm>
            <a:off x="846138" y="4518025"/>
            <a:ext cx="7986712"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None/>
            </a:pPr>
            <a:r>
              <a:rPr lang="en-US" altLang="en-US" sz="2100" i="1" u="sng">
                <a:solidFill>
                  <a:srgbClr val="CC0000"/>
                </a:solidFill>
                <a:latin typeface="Calibri" panose="020F0502020204030204" pitchFamily="34" charset="0"/>
              </a:rPr>
              <a:t>A: Yes!</a:t>
            </a:r>
            <a:r>
              <a:rPr lang="en-US" altLang="en-US" sz="2100">
                <a:solidFill>
                  <a:srgbClr val="000000"/>
                </a:solidFill>
                <a:latin typeface="Calibri" panose="020F0502020204030204" pitchFamily="34" charset="0"/>
              </a:rPr>
              <a:t>  after 7 min, first car arrives at second booth; three cars still at first booth</a:t>
            </a:r>
          </a:p>
        </p:txBody>
      </p:sp>
      <p:sp>
        <p:nvSpPr>
          <p:cNvPr id="16407"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095078DE-399E-4DB4-883A-AB314B9C34BD}" type="slidenum">
              <a:rPr lang="en-US" altLang="en-US" sz="1100">
                <a:solidFill>
                  <a:srgbClr val="7F7F7F"/>
                </a:solidFill>
              </a:rPr>
              <a:pPr>
                <a:spcBef>
                  <a:spcPct val="0"/>
                </a:spcBef>
                <a:buFontTx/>
                <a:buNone/>
              </a:pPr>
              <a:t>7</a:t>
            </a:fld>
            <a:endParaRPr lang="en-US" altLang="en-US" sz="1100">
              <a:solidFill>
                <a:srgbClr val="7F7F7F"/>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a:xfrm>
            <a:off x="619125" y="1076325"/>
            <a:ext cx="7886700" cy="671513"/>
          </a:xfrm>
        </p:spPr>
        <p:txBody>
          <a:bodyPr/>
          <a:lstStyle/>
          <a:p>
            <a:r>
              <a:rPr lang="en-US" altLang="en-US" smtClean="0"/>
              <a:t>Packet q</a:t>
            </a:r>
            <a:r>
              <a:rPr lang="en-US" altLang="en-US" sz="3300" smtClean="0"/>
              <a:t>ueueing delay (revisited)</a:t>
            </a:r>
          </a:p>
        </p:txBody>
      </p:sp>
      <p:sp>
        <p:nvSpPr>
          <p:cNvPr id="34" name="Rectangle 3"/>
          <p:cNvSpPr txBox="1">
            <a:spLocks noChangeArrowheads="1"/>
          </p:cNvSpPr>
          <p:nvPr/>
        </p:nvSpPr>
        <p:spPr>
          <a:xfrm>
            <a:off x="690563" y="1897063"/>
            <a:ext cx="4240212" cy="1335087"/>
          </a:xfrm>
          <a:prstGeom prst="rect">
            <a:avLst/>
          </a:prstGeom>
        </p:spPr>
        <p:txBody>
          <a:bodyPr lIns="68580" tIns="34290" rIns="68580" bIns="3429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2641" indent="-172641" defTabSz="685800" fontAlgn="auto">
              <a:spcBef>
                <a:spcPts val="750"/>
              </a:spcBef>
              <a:spcAft>
                <a:spcPts val="0"/>
              </a:spcAft>
              <a:defRPr/>
            </a:pPr>
            <a:r>
              <a:rPr lang="en-US" altLang="en-US" sz="1800" i="1" dirty="0">
                <a:solidFill>
                  <a:prstClr val="black"/>
                </a:solidFill>
                <a:latin typeface="Calibri" panose="020F0502020204030204"/>
              </a:rPr>
              <a:t>a: </a:t>
            </a:r>
            <a:r>
              <a:rPr lang="en-US" altLang="en-US" sz="1800" dirty="0">
                <a:solidFill>
                  <a:prstClr val="black"/>
                </a:solidFill>
                <a:latin typeface="Calibri" panose="020F0502020204030204"/>
              </a:rPr>
              <a:t>average packet arrival rate</a:t>
            </a:r>
          </a:p>
          <a:p>
            <a:pPr marL="172641" indent="-172641" defTabSz="685800" fontAlgn="auto">
              <a:spcBef>
                <a:spcPts val="750"/>
              </a:spcBef>
              <a:spcAft>
                <a:spcPts val="0"/>
              </a:spcAft>
              <a:defRPr/>
            </a:pPr>
            <a:r>
              <a:rPr lang="en-US" altLang="en-US" sz="1800" i="1" dirty="0">
                <a:solidFill>
                  <a:prstClr val="black"/>
                </a:solidFill>
                <a:latin typeface="Calibri" panose="020F0502020204030204"/>
              </a:rPr>
              <a:t>L: </a:t>
            </a:r>
            <a:r>
              <a:rPr lang="en-US" altLang="en-US" sz="1800" dirty="0">
                <a:solidFill>
                  <a:prstClr val="black"/>
                </a:solidFill>
                <a:latin typeface="Calibri" panose="020F0502020204030204"/>
              </a:rPr>
              <a:t>packet length (bits)</a:t>
            </a:r>
          </a:p>
          <a:p>
            <a:pPr marL="173831" indent="-173831" defTabSz="685800" fontAlgn="auto">
              <a:spcBef>
                <a:spcPts val="750"/>
              </a:spcBef>
              <a:spcAft>
                <a:spcPts val="0"/>
              </a:spcAft>
              <a:defRPr/>
            </a:pPr>
            <a:r>
              <a:rPr lang="en-US" altLang="en-US" sz="1800" i="1" dirty="0">
                <a:solidFill>
                  <a:prstClr val="black"/>
                </a:solidFill>
                <a:latin typeface="Calibri" panose="020F0502020204030204"/>
              </a:rPr>
              <a:t>R:</a:t>
            </a:r>
            <a:r>
              <a:rPr lang="en-US" altLang="en-US" sz="1800" dirty="0">
                <a:solidFill>
                  <a:prstClr val="black"/>
                </a:solidFill>
                <a:latin typeface="Calibri" panose="020F0502020204030204"/>
              </a:rPr>
              <a:t> link bandwidth (bit transmission rate)</a:t>
            </a:r>
          </a:p>
        </p:txBody>
      </p:sp>
      <p:sp>
        <p:nvSpPr>
          <p:cNvPr id="36" name="Rectangle 62"/>
          <p:cNvSpPr>
            <a:spLocks noChangeArrowheads="1"/>
          </p:cNvSpPr>
          <p:nvPr/>
        </p:nvSpPr>
        <p:spPr bwMode="auto">
          <a:xfrm>
            <a:off x="700088" y="4054475"/>
            <a:ext cx="447992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3038" indent="-173038"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buClr>
                <a:srgbClr val="000099"/>
              </a:buClr>
              <a:buFont typeface="Wingdings" panose="05000000000000000000" pitchFamily="2" charset="2"/>
              <a:buChar char="§"/>
            </a:pPr>
            <a:r>
              <a:rPr lang="en-US" altLang="en-US" sz="2100" i="1">
                <a:solidFill>
                  <a:srgbClr val="000000"/>
                </a:solidFill>
                <a:latin typeface="Calibri" panose="020F0502020204030204" pitchFamily="34" charset="0"/>
              </a:rPr>
              <a:t>La/R</a:t>
            </a:r>
            <a:r>
              <a:rPr lang="en-US" altLang="en-US" sz="2100">
                <a:solidFill>
                  <a:srgbClr val="000000"/>
                </a:solidFill>
                <a:latin typeface="Calibri" panose="020F0502020204030204" pitchFamily="34" charset="0"/>
              </a:rPr>
              <a:t> ~ 0: avg. queueing delay small</a:t>
            </a:r>
          </a:p>
          <a:p>
            <a:pPr eaLnBrk="1" hangingPunct="1">
              <a:buClr>
                <a:srgbClr val="000099"/>
              </a:buClr>
              <a:buFont typeface="Wingdings" panose="05000000000000000000" pitchFamily="2" charset="2"/>
              <a:buChar char="§"/>
            </a:pPr>
            <a:r>
              <a:rPr lang="en-US" altLang="en-US" sz="2100" i="1">
                <a:solidFill>
                  <a:srgbClr val="000000"/>
                </a:solidFill>
                <a:latin typeface="Calibri" panose="020F0502020204030204" pitchFamily="34" charset="0"/>
              </a:rPr>
              <a:t>La/R </a:t>
            </a:r>
            <a:r>
              <a:rPr lang="en-US" altLang="en-US" sz="2100">
                <a:solidFill>
                  <a:srgbClr val="000000"/>
                </a:solidFill>
                <a:latin typeface="Calibri" panose="020F0502020204030204" pitchFamily="34" charset="0"/>
              </a:rPr>
              <a:t>-&gt; 1: avg. queueing delay large</a:t>
            </a:r>
          </a:p>
          <a:p>
            <a:pPr eaLnBrk="1" hangingPunct="1">
              <a:lnSpc>
                <a:spcPct val="85000"/>
              </a:lnSpc>
              <a:buClr>
                <a:srgbClr val="000099"/>
              </a:buClr>
              <a:buFont typeface="Wingdings" panose="05000000000000000000" pitchFamily="2" charset="2"/>
              <a:buChar char="§"/>
            </a:pPr>
            <a:r>
              <a:rPr lang="en-US" altLang="en-US" sz="2100" i="1">
                <a:solidFill>
                  <a:srgbClr val="000000"/>
                </a:solidFill>
                <a:latin typeface="Calibri" panose="020F0502020204030204" pitchFamily="34" charset="0"/>
              </a:rPr>
              <a:t>La/R </a:t>
            </a:r>
            <a:r>
              <a:rPr lang="en-US" altLang="en-US" sz="2100">
                <a:solidFill>
                  <a:srgbClr val="000000"/>
                </a:solidFill>
                <a:latin typeface="Calibri" panose="020F0502020204030204" pitchFamily="34" charset="0"/>
              </a:rPr>
              <a:t>&gt; 1: more “</a:t>
            </a:r>
            <a:r>
              <a:rPr lang="en-US" altLang="ja-JP" sz="2100">
                <a:solidFill>
                  <a:srgbClr val="000000"/>
                </a:solidFill>
                <a:latin typeface="Calibri" panose="020F0502020204030204" pitchFamily="34" charset="0"/>
              </a:rPr>
              <a:t>work” arriving  is more </a:t>
            </a:r>
            <a:r>
              <a:rPr lang="en-US" altLang="en-US" sz="2100">
                <a:solidFill>
                  <a:srgbClr val="000000"/>
                </a:solidFill>
                <a:latin typeface="Calibri" panose="020F0502020204030204" pitchFamily="34" charset="0"/>
              </a:rPr>
              <a:t>than can be serviced -  average delay infinite!</a:t>
            </a:r>
          </a:p>
        </p:txBody>
      </p:sp>
      <p:grpSp>
        <p:nvGrpSpPr>
          <p:cNvPr id="3" name="Group 2"/>
          <p:cNvGrpSpPr>
            <a:grpSpLocks/>
          </p:cNvGrpSpPr>
          <p:nvPr/>
        </p:nvGrpSpPr>
        <p:grpSpPr bwMode="auto">
          <a:xfrm>
            <a:off x="6305550" y="4132263"/>
            <a:ext cx="2087563" cy="1719262"/>
            <a:chOff x="8407167" y="4367394"/>
            <a:chExt cx="2782888" cy="2292036"/>
          </a:xfrm>
        </p:grpSpPr>
        <p:pic>
          <p:nvPicPr>
            <p:cNvPr id="1846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3830" y="5047839"/>
              <a:ext cx="1546225" cy="123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62"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7167" y="4471879"/>
              <a:ext cx="14811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15"/>
            <p:cNvSpPr txBox="1">
              <a:spLocks noChangeArrowheads="1"/>
            </p:cNvSpPr>
            <p:nvPr/>
          </p:nvSpPr>
          <p:spPr bwMode="auto">
            <a:xfrm>
              <a:off x="9848344" y="4367394"/>
              <a:ext cx="1013690" cy="399995"/>
            </a:xfrm>
            <a:prstGeom prst="rect">
              <a:avLst/>
            </a:prstGeom>
            <a:noFill/>
            <a:ln>
              <a:noFill/>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i="1" dirty="0">
                  <a:solidFill>
                    <a:prstClr val="black"/>
                  </a:solidFill>
                  <a:latin typeface="Calibri" panose="020F0502020204030204"/>
                </a:rPr>
                <a:t>La/R </a:t>
              </a:r>
              <a:r>
                <a:rPr lang="en-US" altLang="en-US" sz="1350" dirty="0">
                  <a:solidFill>
                    <a:prstClr val="black"/>
                  </a:solidFill>
                  <a:latin typeface="Calibri" panose="020F0502020204030204"/>
                </a:rPr>
                <a:t>~ 0</a:t>
              </a:r>
            </a:p>
          </p:txBody>
        </p:sp>
        <p:sp>
          <p:nvSpPr>
            <p:cNvPr id="41" name="Text Box 16"/>
            <p:cNvSpPr txBox="1">
              <a:spLocks noChangeArrowheads="1"/>
            </p:cNvSpPr>
            <p:nvPr/>
          </p:nvSpPr>
          <p:spPr bwMode="auto">
            <a:xfrm>
              <a:off x="9643065" y="6259435"/>
              <a:ext cx="1085644" cy="399995"/>
            </a:xfrm>
            <a:prstGeom prst="rect">
              <a:avLst/>
            </a:prstGeom>
            <a:noFill/>
            <a:ln>
              <a:noFill/>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i="1" dirty="0">
                  <a:solidFill>
                    <a:prstClr val="black"/>
                  </a:solidFill>
                  <a:latin typeface="Calibri" panose="020F0502020204030204"/>
                </a:rPr>
                <a:t>La/R -&gt; 1</a:t>
              </a:r>
            </a:p>
          </p:txBody>
        </p:sp>
      </p:grpSp>
      <p:grpSp>
        <p:nvGrpSpPr>
          <p:cNvPr id="8" name="Group 7"/>
          <p:cNvGrpSpPr>
            <a:grpSpLocks/>
          </p:cNvGrpSpPr>
          <p:nvPr/>
        </p:nvGrpSpPr>
        <p:grpSpPr bwMode="auto">
          <a:xfrm>
            <a:off x="6000750" y="1684338"/>
            <a:ext cx="2435225" cy="2244725"/>
            <a:chOff x="7232377" y="708301"/>
            <a:chExt cx="3769920" cy="3402168"/>
          </a:xfrm>
        </p:grpSpPr>
        <p:sp>
          <p:nvSpPr>
            <p:cNvPr id="18454" name="Rectangle 61"/>
            <p:cNvSpPr>
              <a:spLocks noChangeArrowheads="1"/>
            </p:cNvSpPr>
            <p:nvPr/>
          </p:nvSpPr>
          <p:spPr bwMode="auto">
            <a:xfrm>
              <a:off x="7381311" y="3605438"/>
              <a:ext cx="291102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57175" indent="-257175"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Clr>
                  <a:srgbClr val="ED7D31"/>
                </a:buClr>
                <a:buSzPct val="85000"/>
                <a:buFontTx/>
                <a:buNone/>
              </a:pPr>
              <a:r>
                <a:rPr lang="en-US" altLang="en-US" sz="1200">
                  <a:solidFill>
                    <a:srgbClr val="000099"/>
                  </a:solidFill>
                  <a:latin typeface="Calibri" panose="020F0502020204030204" pitchFamily="34" charset="0"/>
                </a:rPr>
                <a:t>traffic intensity = </a:t>
              </a:r>
              <a:r>
                <a:rPr lang="en-US" altLang="en-US" sz="1200" i="1">
                  <a:solidFill>
                    <a:srgbClr val="000099"/>
                  </a:solidFill>
                  <a:latin typeface="Calibri" panose="020F0502020204030204" pitchFamily="34" charset="0"/>
                </a:rPr>
                <a:t>La/R</a:t>
              </a:r>
            </a:p>
          </p:txBody>
        </p:sp>
        <p:sp>
          <p:nvSpPr>
            <p:cNvPr id="18455" name="Rectangle 61"/>
            <p:cNvSpPr>
              <a:spLocks noChangeArrowheads="1"/>
            </p:cNvSpPr>
            <p:nvPr/>
          </p:nvSpPr>
          <p:spPr bwMode="auto">
            <a:xfrm rot="-5400000">
              <a:off x="6114777" y="2075824"/>
              <a:ext cx="27400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57175" indent="-257175"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Clr>
                  <a:srgbClr val="ED7D31"/>
                </a:buClr>
                <a:buSzPct val="85000"/>
                <a:buFontTx/>
                <a:buNone/>
              </a:pPr>
              <a:r>
                <a:rPr lang="en-US" altLang="en-US" sz="1200">
                  <a:solidFill>
                    <a:srgbClr val="000099"/>
                  </a:solidFill>
                  <a:latin typeface="Calibri" panose="020F0502020204030204" pitchFamily="34" charset="0"/>
                </a:rPr>
                <a:t>average  queueing delay</a:t>
              </a:r>
            </a:p>
          </p:txBody>
        </p:sp>
        <p:cxnSp>
          <p:nvCxnSpPr>
            <p:cNvPr id="4" name="Straight Connector 3"/>
            <p:cNvCxnSpPr/>
            <p:nvPr/>
          </p:nvCxnSpPr>
          <p:spPr>
            <a:xfrm>
              <a:off x="7615759" y="3540232"/>
              <a:ext cx="33865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cxnSpLocks/>
            </p:cNvCxnSpPr>
            <p:nvPr/>
          </p:nvCxnSpPr>
          <p:spPr>
            <a:xfrm flipV="1">
              <a:off x="7601013" y="1040337"/>
              <a:ext cx="0" cy="25071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reeform 6"/>
            <p:cNvSpPr/>
            <p:nvPr/>
          </p:nvSpPr>
          <p:spPr>
            <a:xfrm>
              <a:off x="7615759" y="708301"/>
              <a:ext cx="2742654" cy="2817495"/>
            </a:xfrm>
            <a:custGeom>
              <a:avLst/>
              <a:gdLst>
                <a:gd name="connsiteX0" fmla="*/ 0 w 2743200"/>
                <a:gd name="connsiteY0" fmla="*/ 2816942 h 2824866"/>
                <a:gd name="connsiteX1" fmla="*/ 663677 w 2743200"/>
                <a:gd name="connsiteY1" fmla="*/ 2802193 h 2824866"/>
                <a:gd name="connsiteX2" fmla="*/ 1976284 w 2743200"/>
                <a:gd name="connsiteY2" fmla="*/ 2625212 h 2824866"/>
                <a:gd name="connsiteX3" fmla="*/ 2551471 w 2743200"/>
                <a:gd name="connsiteY3" fmla="*/ 1946787 h 2824866"/>
                <a:gd name="connsiteX4" fmla="*/ 2743200 w 2743200"/>
                <a:gd name="connsiteY4" fmla="*/ 0 h 2824866"/>
                <a:gd name="connsiteX0" fmla="*/ 0 w 2743200"/>
                <a:gd name="connsiteY0" fmla="*/ 2816942 h 2821238"/>
                <a:gd name="connsiteX1" fmla="*/ 663677 w 2743200"/>
                <a:gd name="connsiteY1" fmla="*/ 2802193 h 2821238"/>
                <a:gd name="connsiteX2" fmla="*/ 1976284 w 2743200"/>
                <a:gd name="connsiteY2" fmla="*/ 2625212 h 2821238"/>
                <a:gd name="connsiteX3" fmla="*/ 2551471 w 2743200"/>
                <a:gd name="connsiteY3" fmla="*/ 1946787 h 2821238"/>
                <a:gd name="connsiteX4" fmla="*/ 2743200 w 2743200"/>
                <a:gd name="connsiteY4" fmla="*/ 0 h 2821238"/>
                <a:gd name="connsiteX0" fmla="*/ 0 w 2743200"/>
                <a:gd name="connsiteY0" fmla="*/ 2816942 h 2816942"/>
                <a:gd name="connsiteX1" fmla="*/ 663677 w 2743200"/>
                <a:gd name="connsiteY1" fmla="*/ 2802193 h 2816942"/>
                <a:gd name="connsiteX2" fmla="*/ 1976284 w 2743200"/>
                <a:gd name="connsiteY2" fmla="*/ 2625212 h 2816942"/>
                <a:gd name="connsiteX3" fmla="*/ 2551471 w 2743200"/>
                <a:gd name="connsiteY3" fmla="*/ 1946787 h 2816942"/>
                <a:gd name="connsiteX4" fmla="*/ 2743200 w 2743200"/>
                <a:gd name="connsiteY4" fmla="*/ 0 h 2816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816942">
                  <a:moveTo>
                    <a:pt x="0" y="2816942"/>
                  </a:moveTo>
                  <a:cubicBezTo>
                    <a:pt x="363998" y="2816020"/>
                    <a:pt x="477171" y="2811923"/>
                    <a:pt x="663677" y="2802193"/>
                  </a:cubicBezTo>
                  <a:cubicBezTo>
                    <a:pt x="850183" y="2792463"/>
                    <a:pt x="1661652" y="2767780"/>
                    <a:pt x="1976284" y="2625212"/>
                  </a:cubicBezTo>
                  <a:cubicBezTo>
                    <a:pt x="2290916" y="2482644"/>
                    <a:pt x="2423652" y="2384322"/>
                    <a:pt x="2551471" y="1946787"/>
                  </a:cubicBezTo>
                  <a:cubicBezTo>
                    <a:pt x="2679290" y="1509252"/>
                    <a:pt x="2711245" y="754626"/>
                    <a:pt x="2743200" y="0"/>
                  </a:cubicBezTo>
                </a:path>
              </a:pathLst>
            </a:cu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050" dirty="0">
                <a:solidFill>
                  <a:prstClr val="white"/>
                </a:solidFill>
                <a:latin typeface="Calibri" panose="020F0502020204030204"/>
              </a:endParaRPr>
            </a:p>
          </p:txBody>
        </p:sp>
        <p:cxnSp>
          <p:nvCxnSpPr>
            <p:cNvPr id="49" name="Straight Connector 48"/>
            <p:cNvCxnSpPr>
              <a:cxnSpLocks/>
            </p:cNvCxnSpPr>
            <p:nvPr/>
          </p:nvCxnSpPr>
          <p:spPr>
            <a:xfrm flipV="1">
              <a:off x="10441970" y="1033118"/>
              <a:ext cx="0" cy="250711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460" name="Rectangle 61"/>
            <p:cNvSpPr>
              <a:spLocks noChangeArrowheads="1"/>
            </p:cNvSpPr>
            <p:nvPr/>
          </p:nvSpPr>
          <p:spPr bwMode="auto">
            <a:xfrm>
              <a:off x="10214306" y="3605644"/>
              <a:ext cx="5095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57175" indent="-257175"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Clr>
                  <a:srgbClr val="ED7D31"/>
                </a:buClr>
                <a:buSzPct val="85000"/>
                <a:buFontTx/>
                <a:buNone/>
              </a:pPr>
              <a:r>
                <a:rPr lang="en-US" altLang="en-US" sz="1200">
                  <a:solidFill>
                    <a:srgbClr val="000000"/>
                  </a:solidFill>
                  <a:latin typeface="Calibri" panose="020F0502020204030204" pitchFamily="34" charset="0"/>
                </a:rPr>
                <a:t>1</a:t>
              </a:r>
              <a:endParaRPr lang="en-US" altLang="en-US" sz="1200" i="1">
                <a:solidFill>
                  <a:srgbClr val="000000"/>
                </a:solidFill>
                <a:latin typeface="Calibri" panose="020F0502020204030204" pitchFamily="34" charset="0"/>
              </a:endParaRPr>
            </a:p>
          </p:txBody>
        </p:sp>
      </p:grpSp>
      <p:grpSp>
        <p:nvGrpSpPr>
          <p:cNvPr id="35" name="Group 34"/>
          <p:cNvGrpSpPr>
            <a:grpSpLocks/>
          </p:cNvGrpSpPr>
          <p:nvPr/>
        </p:nvGrpSpPr>
        <p:grpSpPr bwMode="auto">
          <a:xfrm>
            <a:off x="900113" y="3343275"/>
            <a:ext cx="2641600" cy="415925"/>
            <a:chOff x="1211074" y="3275230"/>
            <a:chExt cx="3522687" cy="553998"/>
          </a:xfrm>
        </p:grpSpPr>
        <p:sp>
          <p:nvSpPr>
            <p:cNvPr id="37" name="TextBox 36"/>
            <p:cNvSpPr txBox="1"/>
            <p:nvPr/>
          </p:nvSpPr>
          <p:spPr>
            <a:xfrm>
              <a:off x="2189128" y="3328093"/>
              <a:ext cx="2544633" cy="492677"/>
            </a:xfrm>
            <a:prstGeom prst="rect">
              <a:avLst/>
            </a:prstGeom>
            <a:noFill/>
          </p:spPr>
          <p:txBody>
            <a:bodyPr wrap="none">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service rate of bits</a:t>
              </a:r>
            </a:p>
          </p:txBody>
        </p:sp>
        <p:sp>
          <p:nvSpPr>
            <p:cNvPr id="31" name="TextBox 30"/>
            <p:cNvSpPr txBox="1"/>
            <p:nvPr/>
          </p:nvSpPr>
          <p:spPr>
            <a:xfrm>
              <a:off x="1211074" y="3275230"/>
              <a:ext cx="440336" cy="553998"/>
            </a:xfrm>
            <a:prstGeom prst="rect">
              <a:avLst/>
            </a:prstGeom>
            <a:noFill/>
          </p:spPr>
          <p:txBody>
            <a:bodyPr wrap="none">
              <a:spAutoFit/>
            </a:bodyPr>
            <a:lstStyle/>
            <a:p>
              <a:pPr defTabSz="685800" eaLnBrk="1" fontAlgn="auto" hangingPunct="1">
                <a:spcBef>
                  <a:spcPts val="0"/>
                </a:spcBef>
                <a:spcAft>
                  <a:spcPts val="0"/>
                </a:spcAft>
                <a:defRPr/>
              </a:pPr>
              <a:r>
                <a:rPr lang="en-US" sz="2100" i="1" dirty="0">
                  <a:solidFill>
                    <a:prstClr val="black"/>
                  </a:solidFill>
                  <a:latin typeface="Calibri" panose="020F0502020204030204"/>
                  <a:ea typeface="+mn-ea"/>
                </a:rPr>
                <a:t>R</a:t>
              </a:r>
            </a:p>
          </p:txBody>
        </p:sp>
      </p:grpSp>
      <p:grpSp>
        <p:nvGrpSpPr>
          <p:cNvPr id="28" name="Group 27"/>
          <p:cNvGrpSpPr>
            <a:grpSpLocks/>
          </p:cNvGrpSpPr>
          <p:nvPr/>
        </p:nvGrpSpPr>
        <p:grpSpPr bwMode="auto">
          <a:xfrm>
            <a:off x="800100" y="2992438"/>
            <a:ext cx="2665413" cy="415925"/>
            <a:chOff x="1066278" y="2873829"/>
            <a:chExt cx="3554885" cy="553997"/>
          </a:xfrm>
        </p:grpSpPr>
        <p:sp>
          <p:nvSpPr>
            <p:cNvPr id="30" name="TextBox 29"/>
            <p:cNvSpPr txBox="1"/>
            <p:nvPr/>
          </p:nvSpPr>
          <p:spPr>
            <a:xfrm>
              <a:off x="2169373" y="2909775"/>
              <a:ext cx="2451790" cy="492677"/>
            </a:xfrm>
            <a:prstGeom prst="rect">
              <a:avLst/>
            </a:prstGeom>
            <a:noFill/>
          </p:spPr>
          <p:txBody>
            <a:bodyPr wrap="none">
              <a:spAutoFit/>
            </a:bodyPr>
            <a:lstStyle/>
            <a:p>
              <a:pPr defTabSz="685800" eaLnBrk="1" fontAlgn="auto" hangingPunct="1">
                <a:spcBef>
                  <a:spcPts val="0"/>
                </a:spcBef>
                <a:spcAft>
                  <a:spcPts val="0"/>
                </a:spcAft>
                <a:defRPr/>
              </a:pPr>
              <a:r>
                <a:rPr lang="en-US" sz="1800" dirty="0">
                  <a:solidFill>
                    <a:prstClr val="black"/>
                  </a:solidFill>
                  <a:latin typeface="Calibri" panose="020F0502020204030204"/>
                  <a:ea typeface="+mn-ea"/>
                </a:rPr>
                <a:t>arrival rate of bits</a:t>
              </a:r>
            </a:p>
          </p:txBody>
        </p:sp>
        <p:grpSp>
          <p:nvGrpSpPr>
            <p:cNvPr id="18448" name="Group 26"/>
            <p:cNvGrpSpPr>
              <a:grpSpLocks/>
            </p:cNvGrpSpPr>
            <p:nvPr/>
          </p:nvGrpSpPr>
          <p:grpSpPr bwMode="auto">
            <a:xfrm>
              <a:off x="1066278" y="2873829"/>
              <a:ext cx="742608" cy="553997"/>
              <a:chOff x="1066278" y="2873829"/>
              <a:chExt cx="742608" cy="553997"/>
            </a:xfrm>
          </p:grpSpPr>
          <p:sp>
            <p:nvSpPr>
              <p:cNvPr id="9" name="TextBox 8"/>
              <p:cNvSpPr txBox="1"/>
              <p:nvPr/>
            </p:nvSpPr>
            <p:spPr>
              <a:xfrm>
                <a:off x="1066278" y="2873829"/>
                <a:ext cx="398046" cy="553997"/>
              </a:xfrm>
              <a:prstGeom prst="rect">
                <a:avLst/>
              </a:prstGeom>
              <a:noFill/>
            </p:spPr>
            <p:txBody>
              <a:bodyPr wrap="none">
                <a:spAutoFit/>
              </a:bodyPr>
              <a:lstStyle/>
              <a:p>
                <a:pPr defTabSz="685800" eaLnBrk="1" fontAlgn="auto" hangingPunct="1">
                  <a:spcBef>
                    <a:spcPts val="0"/>
                  </a:spcBef>
                  <a:spcAft>
                    <a:spcPts val="0"/>
                  </a:spcAft>
                  <a:defRPr/>
                </a:pPr>
                <a:r>
                  <a:rPr lang="en-US" sz="2100" i="1" dirty="0">
                    <a:solidFill>
                      <a:prstClr val="black"/>
                    </a:solidFill>
                    <a:latin typeface="Calibri" panose="020F0502020204030204"/>
                    <a:ea typeface="+mn-ea"/>
                  </a:rPr>
                  <a:t>L</a:t>
                </a:r>
              </a:p>
            </p:txBody>
          </p:sp>
          <p:sp>
            <p:nvSpPr>
              <p:cNvPr id="23" name="TextBox 22"/>
              <p:cNvSpPr txBox="1"/>
              <p:nvPr/>
            </p:nvSpPr>
            <p:spPr>
              <a:xfrm>
                <a:off x="1379633" y="2873829"/>
                <a:ext cx="429805" cy="553997"/>
              </a:xfrm>
              <a:prstGeom prst="rect">
                <a:avLst/>
              </a:prstGeom>
              <a:noFill/>
            </p:spPr>
            <p:txBody>
              <a:bodyPr wrap="none">
                <a:spAutoFit/>
              </a:bodyPr>
              <a:lstStyle/>
              <a:p>
                <a:pPr defTabSz="685800" eaLnBrk="1" fontAlgn="auto" hangingPunct="1">
                  <a:spcBef>
                    <a:spcPts val="0"/>
                  </a:spcBef>
                  <a:spcAft>
                    <a:spcPts val="0"/>
                  </a:spcAft>
                  <a:defRPr/>
                </a:pPr>
                <a:r>
                  <a:rPr lang="en-US" sz="2100" i="1" dirty="0">
                    <a:solidFill>
                      <a:prstClr val="black"/>
                    </a:solidFill>
                    <a:latin typeface="Calibri" panose="020F0502020204030204"/>
                    <a:ea typeface="+mn-ea"/>
                  </a:rPr>
                  <a:t>a</a:t>
                </a:r>
              </a:p>
            </p:txBody>
          </p:sp>
          <p:sp>
            <p:nvSpPr>
              <p:cNvPr id="15" name="TextBox 14"/>
              <p:cNvSpPr txBox="1"/>
              <p:nvPr/>
            </p:nvSpPr>
            <p:spPr>
              <a:xfrm>
                <a:off x="1280122" y="2909775"/>
                <a:ext cx="302768" cy="399640"/>
              </a:xfrm>
              <a:prstGeom prst="rect">
                <a:avLst/>
              </a:prstGeom>
              <a:noFill/>
            </p:spPr>
            <p:txBody>
              <a:bodyPr wrap="none">
                <a:spAutoFit/>
              </a:bodyPr>
              <a:lstStyle/>
              <a:p>
                <a:pPr defTabSz="685800" eaLnBrk="1" fontAlgn="auto" hangingPunct="1">
                  <a:spcBef>
                    <a:spcPts val="0"/>
                  </a:spcBef>
                  <a:spcAft>
                    <a:spcPts val="0"/>
                  </a:spcAft>
                  <a:defRPr/>
                </a:pPr>
                <a:r>
                  <a:rPr lang="en-US" sz="1350" i="1" dirty="0">
                    <a:solidFill>
                      <a:prstClr val="black"/>
                    </a:solidFill>
                    <a:latin typeface="Calibri" panose="020F0502020204030204"/>
                    <a:ea typeface="+mn-ea"/>
                  </a:rPr>
                  <a:t>.</a:t>
                </a:r>
              </a:p>
            </p:txBody>
          </p:sp>
        </p:grpSp>
      </p:grpSp>
      <p:grpSp>
        <p:nvGrpSpPr>
          <p:cNvPr id="42" name="Group 41"/>
          <p:cNvGrpSpPr>
            <a:grpSpLocks/>
          </p:cNvGrpSpPr>
          <p:nvPr/>
        </p:nvGrpSpPr>
        <p:grpSpPr bwMode="auto">
          <a:xfrm>
            <a:off x="903288" y="3094038"/>
            <a:ext cx="2492375" cy="461962"/>
            <a:chOff x="1204684" y="2981937"/>
            <a:chExt cx="3323775" cy="615553"/>
          </a:xfrm>
        </p:grpSpPr>
        <p:cxnSp>
          <p:nvCxnSpPr>
            <p:cNvPr id="33" name="Straight Connector 32"/>
            <p:cNvCxnSpPr>
              <a:cxnSpLocks/>
            </p:cNvCxnSpPr>
            <p:nvPr/>
          </p:nvCxnSpPr>
          <p:spPr>
            <a:xfrm>
              <a:off x="2299200" y="3339423"/>
              <a:ext cx="222925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1204684" y="3341539"/>
              <a:ext cx="3493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687372" y="2981937"/>
              <a:ext cx="639350" cy="615553"/>
            </a:xfrm>
            <a:prstGeom prst="rect">
              <a:avLst/>
            </a:prstGeom>
            <a:noFill/>
          </p:spPr>
          <p:txBody>
            <a:bodyPr>
              <a:spAutoFit/>
            </a:bodyPr>
            <a:lstStyle/>
            <a:p>
              <a:pPr defTabSz="685800" eaLnBrk="1" fontAlgn="auto" hangingPunct="1">
                <a:spcBef>
                  <a:spcPts val="0"/>
                </a:spcBef>
                <a:spcAft>
                  <a:spcPts val="0"/>
                </a:spcAft>
                <a:defRPr/>
              </a:pPr>
              <a:r>
                <a:rPr lang="en-US" sz="2400" i="1" dirty="0">
                  <a:solidFill>
                    <a:prstClr val="black"/>
                  </a:solidFill>
                  <a:latin typeface="Calibri" panose="020F0502020204030204"/>
                  <a:ea typeface="+mn-ea"/>
                </a:rPr>
                <a:t>:</a:t>
              </a:r>
            </a:p>
          </p:txBody>
        </p:sp>
      </p:grpSp>
      <p:sp>
        <p:nvSpPr>
          <p:cNvPr id="25" name="TextBox 24"/>
          <p:cNvSpPr txBox="1"/>
          <p:nvPr/>
        </p:nvSpPr>
        <p:spPr>
          <a:xfrm>
            <a:off x="3746500" y="3033713"/>
            <a:ext cx="1231900" cy="739775"/>
          </a:xfrm>
          <a:prstGeom prst="rect">
            <a:avLst/>
          </a:prstGeom>
          <a:noFill/>
        </p:spPr>
        <p:txBody>
          <a:bodyPr wrap="none">
            <a:spAutoFit/>
          </a:bodyPr>
          <a:lstStyle/>
          <a:p>
            <a:pPr algn="ctr" defTabSz="685800" eaLnBrk="1" fontAlgn="auto" hangingPunct="1">
              <a:spcBef>
                <a:spcPts val="0"/>
              </a:spcBef>
              <a:spcAft>
                <a:spcPts val="0"/>
              </a:spcAft>
              <a:defRPr/>
            </a:pPr>
            <a:r>
              <a:rPr lang="en-US" sz="2100" i="1" dirty="0">
                <a:solidFill>
                  <a:srgbClr val="0000A3"/>
                </a:solidFill>
                <a:latin typeface="Calibri" panose="020F0502020204030204"/>
                <a:ea typeface="+mn-ea"/>
              </a:rPr>
              <a:t>“traffic </a:t>
            </a:r>
          </a:p>
          <a:p>
            <a:pPr algn="ctr" defTabSz="685800" eaLnBrk="1" fontAlgn="auto" hangingPunct="1">
              <a:spcBef>
                <a:spcPts val="0"/>
              </a:spcBef>
              <a:spcAft>
                <a:spcPts val="0"/>
              </a:spcAft>
              <a:defRPr/>
            </a:pPr>
            <a:r>
              <a:rPr lang="en-US" sz="2100" i="1" dirty="0">
                <a:solidFill>
                  <a:srgbClr val="0000A3"/>
                </a:solidFill>
                <a:latin typeface="Calibri" panose="020F0502020204030204"/>
                <a:ea typeface="+mn-ea"/>
              </a:rPr>
              <a:t>intensity”</a:t>
            </a:r>
          </a:p>
        </p:txBody>
      </p:sp>
      <p:sp>
        <p:nvSpPr>
          <p:cNvPr id="18443"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2D3CCB0E-5203-43F5-B4A9-2351A2A926CF}" type="slidenum">
              <a:rPr lang="en-US" altLang="en-US" sz="1100">
                <a:solidFill>
                  <a:srgbClr val="7F7F7F"/>
                </a:solidFill>
              </a:rPr>
              <a:pPr>
                <a:spcBef>
                  <a:spcPct val="0"/>
                </a:spcBef>
                <a:buFontTx/>
                <a:buNone/>
              </a:pPr>
              <a:t>8</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nodeType="afterGroup">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dissolve">
                                      <p:cBhvr>
                                        <p:cTn id="26" dur="500"/>
                                        <p:tgtEl>
                                          <p:spTgt spid="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dissolve">
                                      <p:cBhvr>
                                        <p:cTn id="31" dur="500"/>
                                        <p:tgtEl>
                                          <p:spTgt spid="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dissolve">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Line 38"/>
          <p:cNvSpPr>
            <a:spLocks noChangeShapeType="1"/>
          </p:cNvSpPr>
          <p:nvPr/>
        </p:nvSpPr>
        <p:spPr bwMode="auto">
          <a:xfrm>
            <a:off x="2124075" y="4881563"/>
            <a:ext cx="350838" cy="236537"/>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9" name="Line 105"/>
          <p:cNvSpPr>
            <a:spLocks noChangeShapeType="1"/>
          </p:cNvSpPr>
          <p:nvPr/>
        </p:nvSpPr>
        <p:spPr bwMode="auto">
          <a:xfrm flipV="1">
            <a:off x="2768600" y="4957763"/>
            <a:ext cx="479425" cy="155575"/>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20484" name="Group 180"/>
          <p:cNvGrpSpPr>
            <a:grpSpLocks/>
          </p:cNvGrpSpPr>
          <p:nvPr/>
        </p:nvGrpSpPr>
        <p:grpSpPr bwMode="auto">
          <a:xfrm>
            <a:off x="2332038" y="4992688"/>
            <a:ext cx="644525" cy="298450"/>
            <a:chOff x="7493876" y="2774731"/>
            <a:chExt cx="1481958" cy="894622"/>
          </a:xfrm>
        </p:grpSpPr>
        <p:sp>
          <p:nvSpPr>
            <p:cNvPr id="182" name="Freeform 181"/>
            <p:cNvSpPr/>
            <p:nvPr/>
          </p:nvSpPr>
          <p:spPr>
            <a:xfrm>
              <a:off x="7493876" y="3084040"/>
              <a:ext cx="1481958" cy="585313"/>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83" name="Oval 182"/>
            <p:cNvSpPr/>
            <p:nvPr/>
          </p:nvSpPr>
          <p:spPr>
            <a:xfrm>
              <a:off x="7493876" y="2774731"/>
              <a:ext cx="1481958" cy="58055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536" name="Group 183"/>
            <p:cNvGrpSpPr>
              <a:grpSpLocks/>
            </p:cNvGrpSpPr>
            <p:nvPr/>
          </p:nvGrpSpPr>
          <p:grpSpPr bwMode="auto">
            <a:xfrm>
              <a:off x="7713663" y="2848339"/>
              <a:ext cx="1042107" cy="425543"/>
              <a:chOff x="7786941" y="2884917"/>
              <a:chExt cx="897649" cy="353919"/>
            </a:xfrm>
          </p:grpSpPr>
          <p:sp>
            <p:nvSpPr>
              <p:cNvPr id="185" name="Freeform 184"/>
              <p:cNvSpPr/>
              <p:nvPr/>
            </p:nvSpPr>
            <p:spPr>
              <a:xfrm>
                <a:off x="7811423" y="2883062"/>
                <a:ext cx="848923" cy="1978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6" name="Freeform 185"/>
              <p:cNvSpPr/>
              <p:nvPr/>
            </p:nvSpPr>
            <p:spPr>
              <a:xfrm>
                <a:off x="8367938" y="3053244"/>
                <a:ext cx="317561" cy="170180"/>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7" name="Freeform 186"/>
              <p:cNvSpPr/>
              <p:nvPr/>
            </p:nvSpPr>
            <p:spPr>
              <a:xfrm>
                <a:off x="7786270" y="3053244"/>
                <a:ext cx="311271" cy="170180"/>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88" name="Freeform 187"/>
              <p:cNvSpPr/>
              <p:nvPr/>
            </p:nvSpPr>
            <p:spPr>
              <a:xfrm>
                <a:off x="7893171" y="2970131"/>
                <a:ext cx="679138" cy="26912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20" name="Line 106"/>
          <p:cNvSpPr>
            <a:spLocks noChangeShapeType="1"/>
          </p:cNvSpPr>
          <p:nvPr/>
        </p:nvSpPr>
        <p:spPr bwMode="auto">
          <a:xfrm>
            <a:off x="3470275" y="4946650"/>
            <a:ext cx="508000" cy="155575"/>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1" name="Line 108"/>
          <p:cNvSpPr>
            <a:spLocks noChangeShapeType="1"/>
          </p:cNvSpPr>
          <p:nvPr/>
        </p:nvSpPr>
        <p:spPr bwMode="auto">
          <a:xfrm flipH="1">
            <a:off x="3290888" y="4654550"/>
            <a:ext cx="496887" cy="20478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5" name="Line 291"/>
          <p:cNvSpPr>
            <a:spLocks noChangeShapeType="1"/>
          </p:cNvSpPr>
          <p:nvPr/>
        </p:nvSpPr>
        <p:spPr bwMode="auto">
          <a:xfrm>
            <a:off x="3267075" y="5045075"/>
            <a:ext cx="239713" cy="233363"/>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20488" name="Group 171"/>
          <p:cNvGrpSpPr>
            <a:grpSpLocks/>
          </p:cNvGrpSpPr>
          <p:nvPr/>
        </p:nvGrpSpPr>
        <p:grpSpPr bwMode="auto">
          <a:xfrm>
            <a:off x="2967038" y="4759325"/>
            <a:ext cx="646112" cy="300038"/>
            <a:chOff x="7493876" y="2774731"/>
            <a:chExt cx="1481958" cy="894622"/>
          </a:xfrm>
        </p:grpSpPr>
        <p:sp>
          <p:nvSpPr>
            <p:cNvPr id="173" name="Freeform 172"/>
            <p:cNvSpPr/>
            <p:nvPr/>
          </p:nvSpPr>
          <p:spPr>
            <a:xfrm>
              <a:off x="7493876" y="3082406"/>
              <a:ext cx="1481958" cy="58694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74" name="Oval 173"/>
            <p:cNvSpPr/>
            <p:nvPr/>
          </p:nvSpPr>
          <p:spPr>
            <a:xfrm>
              <a:off x="7493876" y="2774731"/>
              <a:ext cx="1481958" cy="57748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529" name="Group 174"/>
            <p:cNvGrpSpPr>
              <a:grpSpLocks/>
            </p:cNvGrpSpPr>
            <p:nvPr/>
          </p:nvGrpSpPr>
          <p:grpSpPr bwMode="auto">
            <a:xfrm>
              <a:off x="7713663" y="2848339"/>
              <a:ext cx="1042107" cy="425543"/>
              <a:chOff x="7786941" y="2884917"/>
              <a:chExt cx="897649" cy="353919"/>
            </a:xfrm>
          </p:grpSpPr>
          <p:sp>
            <p:nvSpPr>
              <p:cNvPr id="176" name="Freeform 175"/>
              <p:cNvSpPr/>
              <p:nvPr/>
            </p:nvSpPr>
            <p:spPr>
              <a:xfrm>
                <a:off x="7810898" y="2886685"/>
                <a:ext cx="849973" cy="196838"/>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7" name="Freeform 176"/>
              <p:cNvSpPr/>
              <p:nvPr/>
            </p:nvSpPr>
            <p:spPr>
              <a:xfrm>
                <a:off x="8369184" y="3055967"/>
                <a:ext cx="316779" cy="16927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8" name="Freeform 177"/>
              <p:cNvSpPr/>
              <p:nvPr/>
            </p:nvSpPr>
            <p:spPr>
              <a:xfrm>
                <a:off x="7785807" y="3055967"/>
                <a:ext cx="313644" cy="165344"/>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9" name="Freeform 178"/>
              <p:cNvSpPr/>
              <p:nvPr/>
            </p:nvSpPr>
            <p:spPr>
              <a:xfrm>
                <a:off x="7895581" y="2973294"/>
                <a:ext cx="677470" cy="263764"/>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22" name="Line 113"/>
          <p:cNvSpPr>
            <a:spLocks noChangeShapeType="1"/>
          </p:cNvSpPr>
          <p:nvPr/>
        </p:nvSpPr>
        <p:spPr bwMode="auto">
          <a:xfrm flipH="1">
            <a:off x="4202113" y="4991100"/>
            <a:ext cx="649287" cy="107950"/>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7" name="Line 294"/>
          <p:cNvSpPr>
            <a:spLocks noChangeShapeType="1"/>
          </p:cNvSpPr>
          <p:nvPr/>
        </p:nvSpPr>
        <p:spPr bwMode="auto">
          <a:xfrm flipH="1">
            <a:off x="3748088" y="5187950"/>
            <a:ext cx="365125" cy="114300"/>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20491" name="Group 163"/>
          <p:cNvGrpSpPr>
            <a:grpSpLocks/>
          </p:cNvGrpSpPr>
          <p:nvPr/>
        </p:nvGrpSpPr>
        <p:grpSpPr bwMode="auto">
          <a:xfrm>
            <a:off x="3738563" y="5014913"/>
            <a:ext cx="646112" cy="298450"/>
            <a:chOff x="7493876" y="2774731"/>
            <a:chExt cx="1481958" cy="894622"/>
          </a:xfrm>
        </p:grpSpPr>
        <p:sp>
          <p:nvSpPr>
            <p:cNvPr id="165" name="Freeform 164"/>
            <p:cNvSpPr/>
            <p:nvPr/>
          </p:nvSpPr>
          <p:spPr>
            <a:xfrm>
              <a:off x="7493876" y="3084040"/>
              <a:ext cx="1481958" cy="585313"/>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66" name="Oval 165"/>
            <p:cNvSpPr/>
            <p:nvPr/>
          </p:nvSpPr>
          <p:spPr>
            <a:xfrm>
              <a:off x="7493876" y="2774731"/>
              <a:ext cx="1481958" cy="58055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522" name="Group 166"/>
            <p:cNvGrpSpPr>
              <a:grpSpLocks/>
            </p:cNvGrpSpPr>
            <p:nvPr/>
          </p:nvGrpSpPr>
          <p:grpSpPr bwMode="auto">
            <a:xfrm>
              <a:off x="7713663" y="2848339"/>
              <a:ext cx="1042107" cy="425543"/>
              <a:chOff x="7786941" y="2884917"/>
              <a:chExt cx="897649" cy="353919"/>
            </a:xfrm>
          </p:grpSpPr>
          <p:sp>
            <p:nvSpPr>
              <p:cNvPr id="168" name="Freeform 167"/>
              <p:cNvSpPr/>
              <p:nvPr/>
            </p:nvSpPr>
            <p:spPr>
              <a:xfrm>
                <a:off x="7810898" y="2883062"/>
                <a:ext cx="849973" cy="1978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9" name="Freeform 168"/>
              <p:cNvSpPr/>
              <p:nvPr/>
            </p:nvSpPr>
            <p:spPr>
              <a:xfrm>
                <a:off x="8369184" y="3053244"/>
                <a:ext cx="316779" cy="170180"/>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0" name="Freeform 169"/>
              <p:cNvSpPr/>
              <p:nvPr/>
            </p:nvSpPr>
            <p:spPr>
              <a:xfrm>
                <a:off x="7785807" y="3053244"/>
                <a:ext cx="313644" cy="170180"/>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71" name="Freeform 170"/>
              <p:cNvSpPr/>
              <p:nvPr/>
            </p:nvSpPr>
            <p:spPr>
              <a:xfrm>
                <a:off x="7895581" y="2970131"/>
                <a:ext cx="677470" cy="26912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20492" name="Title 1"/>
          <p:cNvSpPr>
            <a:spLocks noGrp="1" noChangeArrowheads="1"/>
          </p:cNvSpPr>
          <p:nvPr>
            <p:ph type="title"/>
          </p:nvPr>
        </p:nvSpPr>
        <p:spPr>
          <a:xfrm>
            <a:off x="619125" y="1076325"/>
            <a:ext cx="7886700" cy="671513"/>
          </a:xfrm>
        </p:spPr>
        <p:txBody>
          <a:bodyPr/>
          <a:lstStyle/>
          <a:p>
            <a:r>
              <a:rPr lang="en-US" altLang="en-US" sz="3300" smtClean="0"/>
              <a:t>“Real” Internet delays and routes</a:t>
            </a:r>
          </a:p>
        </p:txBody>
      </p:sp>
      <p:sp>
        <p:nvSpPr>
          <p:cNvPr id="17" name="Rectangle 5"/>
          <p:cNvSpPr txBox="1">
            <a:spLocks noChangeArrowheads="1"/>
          </p:cNvSpPr>
          <p:nvPr/>
        </p:nvSpPr>
        <p:spPr>
          <a:xfrm>
            <a:off x="735013" y="1851025"/>
            <a:ext cx="7756525" cy="1412875"/>
          </a:xfrm>
          <a:prstGeom prst="rect">
            <a:avLst/>
          </a:prstGeom>
        </p:spPr>
        <p:txBody>
          <a:bodyPr lIns="68580" tIns="34290" rIns="68580" bIns="3429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5504" indent="-215504" defTabSz="685800" fontAlgn="auto">
              <a:spcBef>
                <a:spcPts val="750"/>
              </a:spcBef>
              <a:spcAft>
                <a:spcPts val="0"/>
              </a:spcAft>
              <a:defRPr/>
            </a:pPr>
            <a:r>
              <a:rPr lang="en-US" altLang="en-US" sz="2400" dirty="0">
                <a:solidFill>
                  <a:prstClr val="black"/>
                </a:solidFill>
                <a:latin typeface="Calibri" panose="020F0502020204030204"/>
              </a:rPr>
              <a:t>what do “</a:t>
            </a:r>
            <a:r>
              <a:rPr lang="en-US" altLang="ja-JP" sz="2400" dirty="0">
                <a:solidFill>
                  <a:prstClr val="black"/>
                </a:solidFill>
                <a:latin typeface="Calibri" panose="020F0502020204030204"/>
              </a:rPr>
              <a:t>real” Internet delay &amp; loss look like? </a:t>
            </a:r>
          </a:p>
          <a:p>
            <a:pPr marL="215504" indent="-215504" defTabSz="685800" fontAlgn="auto">
              <a:spcBef>
                <a:spcPts val="750"/>
              </a:spcBef>
              <a:spcAft>
                <a:spcPts val="0"/>
              </a:spcAft>
              <a:defRPr/>
            </a:pPr>
            <a:r>
              <a:rPr lang="en-US" altLang="en-US" sz="2100" b="1" dirty="0">
                <a:solidFill>
                  <a:srgbClr val="C00000"/>
                </a:solidFill>
                <a:latin typeface="Calibri" panose="020F0502020204030204"/>
              </a:rPr>
              <a:t>traceroute</a:t>
            </a:r>
            <a:r>
              <a:rPr lang="en-US" altLang="en-US" sz="2400" dirty="0">
                <a:solidFill>
                  <a:srgbClr val="FF0000"/>
                </a:solidFill>
                <a:latin typeface="Calibri" panose="020F0502020204030204"/>
              </a:rPr>
              <a:t> </a:t>
            </a:r>
            <a:r>
              <a:rPr lang="en-US" altLang="en-US" sz="2400" dirty="0">
                <a:solidFill>
                  <a:prstClr val="black"/>
                </a:solidFill>
                <a:latin typeface="Calibri" panose="020F0502020204030204"/>
              </a:rPr>
              <a:t>program: provides delay measurement from source to router along end-end Internet path towards destination.  For all </a:t>
            </a:r>
            <a:r>
              <a:rPr lang="en-US" altLang="en-US" sz="2400" i="1" dirty="0">
                <a:solidFill>
                  <a:prstClr val="black"/>
                </a:solidFill>
                <a:latin typeface="Calibri" panose="020F0502020204030204"/>
              </a:rPr>
              <a:t>i:</a:t>
            </a:r>
          </a:p>
        </p:txBody>
      </p:sp>
      <p:sp>
        <p:nvSpPr>
          <p:cNvPr id="23" name="Line 260"/>
          <p:cNvSpPr>
            <a:spLocks noChangeShapeType="1"/>
          </p:cNvSpPr>
          <p:nvPr/>
        </p:nvSpPr>
        <p:spPr bwMode="auto">
          <a:xfrm>
            <a:off x="5041900" y="4965700"/>
            <a:ext cx="508000" cy="155575"/>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4" name="Line 261"/>
          <p:cNvSpPr>
            <a:spLocks noChangeShapeType="1"/>
          </p:cNvSpPr>
          <p:nvPr/>
        </p:nvSpPr>
        <p:spPr bwMode="auto">
          <a:xfrm flipH="1">
            <a:off x="5745163" y="4924425"/>
            <a:ext cx="582612" cy="207963"/>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6" name="Line 292"/>
          <p:cNvSpPr>
            <a:spLocks noChangeShapeType="1"/>
          </p:cNvSpPr>
          <p:nvPr/>
        </p:nvSpPr>
        <p:spPr bwMode="auto">
          <a:xfrm>
            <a:off x="4710113" y="4735513"/>
            <a:ext cx="239712" cy="233362"/>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8" name="Line 295"/>
          <p:cNvSpPr>
            <a:spLocks noChangeShapeType="1"/>
          </p:cNvSpPr>
          <p:nvPr/>
        </p:nvSpPr>
        <p:spPr bwMode="auto">
          <a:xfrm>
            <a:off x="4046538" y="4814888"/>
            <a:ext cx="6350" cy="195262"/>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9" name="Text Box 300"/>
          <p:cNvSpPr txBox="1">
            <a:spLocks noChangeArrowheads="1"/>
          </p:cNvSpPr>
          <p:nvPr/>
        </p:nvSpPr>
        <p:spPr bwMode="auto">
          <a:xfrm>
            <a:off x="2249488" y="4708525"/>
            <a:ext cx="1047750" cy="300038"/>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srgbClr val="FF0000"/>
                </a:solidFill>
                <a:latin typeface="Calibri" panose="020F0502020204030204"/>
              </a:rPr>
              <a:t>3 probes</a:t>
            </a:r>
          </a:p>
        </p:txBody>
      </p:sp>
      <p:sp>
        <p:nvSpPr>
          <p:cNvPr id="30" name="Text Box 302"/>
          <p:cNvSpPr txBox="1">
            <a:spLocks noChangeArrowheads="1"/>
          </p:cNvSpPr>
          <p:nvPr/>
        </p:nvSpPr>
        <p:spPr bwMode="auto">
          <a:xfrm>
            <a:off x="2709863" y="5129213"/>
            <a:ext cx="1047750" cy="300037"/>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srgbClr val="FF0000"/>
                </a:solidFill>
                <a:latin typeface="Calibri" panose="020F0502020204030204"/>
              </a:rPr>
              <a:t>3 probes</a:t>
            </a:r>
          </a:p>
        </p:txBody>
      </p:sp>
      <p:sp>
        <p:nvSpPr>
          <p:cNvPr id="31" name="Text Box 304"/>
          <p:cNvSpPr txBox="1">
            <a:spLocks noChangeArrowheads="1"/>
          </p:cNvSpPr>
          <p:nvPr/>
        </p:nvSpPr>
        <p:spPr bwMode="auto">
          <a:xfrm>
            <a:off x="3632200" y="4640263"/>
            <a:ext cx="1047750" cy="300037"/>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srgbClr val="FF0000"/>
                </a:solidFill>
                <a:latin typeface="Calibri" panose="020F0502020204030204"/>
              </a:rPr>
              <a:t>3 probes</a:t>
            </a:r>
          </a:p>
        </p:txBody>
      </p:sp>
      <p:grpSp>
        <p:nvGrpSpPr>
          <p:cNvPr id="20501" name="Group 100"/>
          <p:cNvGrpSpPr>
            <a:grpSpLocks/>
          </p:cNvGrpSpPr>
          <p:nvPr/>
        </p:nvGrpSpPr>
        <p:grpSpPr bwMode="auto">
          <a:xfrm>
            <a:off x="1450975" y="4660900"/>
            <a:ext cx="769938" cy="517525"/>
            <a:chOff x="-44" y="1473"/>
            <a:chExt cx="981" cy="1105"/>
          </a:xfrm>
        </p:grpSpPr>
        <p:pic>
          <p:nvPicPr>
            <p:cNvPr id="20518" name="Picture 10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102"/>
            <p:cNvSpPr>
              <a:spLocks/>
            </p:cNvSpPr>
            <p:nvPr/>
          </p:nvSpPr>
          <p:spPr bwMode="auto">
            <a:xfrm flipH="1">
              <a:off x="375" y="1578"/>
              <a:ext cx="475" cy="508"/>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20502" name="Group 103"/>
          <p:cNvGrpSpPr>
            <a:grpSpLocks/>
          </p:cNvGrpSpPr>
          <p:nvPr/>
        </p:nvGrpSpPr>
        <p:grpSpPr bwMode="auto">
          <a:xfrm flipH="1">
            <a:off x="6132513" y="4689475"/>
            <a:ext cx="788987" cy="503238"/>
            <a:chOff x="-44" y="1473"/>
            <a:chExt cx="981" cy="1105"/>
          </a:xfrm>
        </p:grpSpPr>
        <p:pic>
          <p:nvPicPr>
            <p:cNvPr id="20516" name="Picture 104"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Freeform 105"/>
            <p:cNvSpPr>
              <a:spLocks/>
            </p:cNvSpPr>
            <p:nvPr/>
          </p:nvSpPr>
          <p:spPr bwMode="auto">
            <a:xfrm flipH="1">
              <a:off x="374" y="1578"/>
              <a:ext cx="476" cy="509"/>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144" name="Freeform 303"/>
          <p:cNvSpPr>
            <a:spLocks/>
          </p:cNvSpPr>
          <p:nvPr/>
        </p:nvSpPr>
        <p:spPr bwMode="auto">
          <a:xfrm>
            <a:off x="2151063" y="4875213"/>
            <a:ext cx="2352675" cy="301625"/>
          </a:xfrm>
          <a:custGeom>
            <a:avLst/>
            <a:gdLst>
              <a:gd name="T0" fmla="*/ 2147483647 w 1416"/>
              <a:gd name="T1" fmla="*/ 2147483647 h 254"/>
              <a:gd name="T2" fmla="*/ 2147483647 w 1416"/>
              <a:gd name="T3" fmla="*/ 2147483647 h 254"/>
              <a:gd name="T4" fmla="*/ 2147483647 w 1416"/>
              <a:gd name="T5" fmla="*/ 2147483647 h 254"/>
              <a:gd name="T6" fmla="*/ 2147483647 w 1416"/>
              <a:gd name="T7" fmla="*/ 2147483647 h 254"/>
              <a:gd name="T8" fmla="*/ 2147483647 w 1416"/>
              <a:gd name="T9" fmla="*/ 2147483647 h 254"/>
              <a:gd name="T10" fmla="*/ 2147483647 w 1416"/>
              <a:gd name="T11" fmla="*/ 2147483647 h 254"/>
              <a:gd name="T12" fmla="*/ 0 w 1416"/>
              <a:gd name="T13" fmla="*/ 2147483647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5" name="Freeform 299"/>
          <p:cNvSpPr>
            <a:spLocks/>
          </p:cNvSpPr>
          <p:nvPr/>
        </p:nvSpPr>
        <p:spPr bwMode="auto">
          <a:xfrm>
            <a:off x="2174875" y="4902200"/>
            <a:ext cx="439738" cy="314325"/>
          </a:xfrm>
          <a:custGeom>
            <a:avLst/>
            <a:gdLst>
              <a:gd name="T0" fmla="*/ 2147483647 w 264"/>
              <a:gd name="T1" fmla="*/ 0 h 264"/>
              <a:gd name="T2" fmla="*/ 2147483647 w 264"/>
              <a:gd name="T3" fmla="*/ 2147483647 h 264"/>
              <a:gd name="T4" fmla="*/ 0 w 264"/>
              <a:gd name="T5" fmla="*/ 2147483647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46" name="Freeform 301"/>
          <p:cNvSpPr>
            <a:spLocks/>
          </p:cNvSpPr>
          <p:nvPr/>
        </p:nvSpPr>
        <p:spPr bwMode="auto">
          <a:xfrm>
            <a:off x="2170113" y="4837113"/>
            <a:ext cx="1409700" cy="357187"/>
          </a:xfrm>
          <a:custGeom>
            <a:avLst/>
            <a:gdLst>
              <a:gd name="T0" fmla="*/ 2147483647 w 848"/>
              <a:gd name="T1" fmla="*/ 2147483647 h 299"/>
              <a:gd name="T2" fmla="*/ 2147483647 w 848"/>
              <a:gd name="T3" fmla="*/ 2147483647 h 299"/>
              <a:gd name="T4" fmla="*/ 2147483647 w 848"/>
              <a:gd name="T5" fmla="*/ 2147483647 h 299"/>
              <a:gd name="T6" fmla="*/ 2147483647 w 848"/>
              <a:gd name="T7" fmla="*/ 2147483647 h 299"/>
              <a:gd name="T8" fmla="*/ 0 w 848"/>
              <a:gd name="T9" fmla="*/ 2147483647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20506" name="Group 155"/>
          <p:cNvGrpSpPr>
            <a:grpSpLocks/>
          </p:cNvGrpSpPr>
          <p:nvPr/>
        </p:nvGrpSpPr>
        <p:grpSpPr bwMode="auto">
          <a:xfrm>
            <a:off x="4572000" y="4779963"/>
            <a:ext cx="646113" cy="298450"/>
            <a:chOff x="7493876" y="2774731"/>
            <a:chExt cx="1481958" cy="894622"/>
          </a:xfrm>
        </p:grpSpPr>
        <p:sp>
          <p:nvSpPr>
            <p:cNvPr id="157" name="Freeform 156"/>
            <p:cNvSpPr/>
            <p:nvPr/>
          </p:nvSpPr>
          <p:spPr>
            <a:xfrm>
              <a:off x="7493876" y="3084040"/>
              <a:ext cx="1481958" cy="585313"/>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58" name="Oval 157"/>
            <p:cNvSpPr/>
            <p:nvPr/>
          </p:nvSpPr>
          <p:spPr>
            <a:xfrm>
              <a:off x="7493876" y="2774731"/>
              <a:ext cx="1481958" cy="580553"/>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0511" name="Group 158"/>
            <p:cNvGrpSpPr>
              <a:grpSpLocks/>
            </p:cNvGrpSpPr>
            <p:nvPr/>
          </p:nvGrpSpPr>
          <p:grpSpPr bwMode="auto">
            <a:xfrm>
              <a:off x="7713663" y="2848339"/>
              <a:ext cx="1042107" cy="425543"/>
              <a:chOff x="7786941" y="2884917"/>
              <a:chExt cx="897649" cy="353919"/>
            </a:xfrm>
          </p:grpSpPr>
          <p:sp>
            <p:nvSpPr>
              <p:cNvPr id="160" name="Freeform 159"/>
              <p:cNvSpPr/>
              <p:nvPr/>
            </p:nvSpPr>
            <p:spPr>
              <a:xfrm>
                <a:off x="7810898" y="2883062"/>
                <a:ext cx="849973" cy="19788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1" name="Freeform 160"/>
              <p:cNvSpPr/>
              <p:nvPr/>
            </p:nvSpPr>
            <p:spPr>
              <a:xfrm>
                <a:off x="8369183" y="3053244"/>
                <a:ext cx="316780" cy="170180"/>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2" name="Freeform 161"/>
              <p:cNvSpPr/>
              <p:nvPr/>
            </p:nvSpPr>
            <p:spPr>
              <a:xfrm>
                <a:off x="7785807" y="3053244"/>
                <a:ext cx="313643" cy="170180"/>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63" name="Freeform 162"/>
              <p:cNvSpPr/>
              <p:nvPr/>
            </p:nvSpPr>
            <p:spPr>
              <a:xfrm>
                <a:off x="7895583" y="2970131"/>
                <a:ext cx="677469" cy="26912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60" name="Rectangle 5"/>
          <p:cNvSpPr txBox="1">
            <a:spLocks noChangeArrowheads="1"/>
          </p:cNvSpPr>
          <p:nvPr/>
        </p:nvSpPr>
        <p:spPr>
          <a:xfrm>
            <a:off x="682625" y="3157538"/>
            <a:ext cx="7756525" cy="1292225"/>
          </a:xfrm>
          <a:prstGeom prst="rect">
            <a:avLst/>
          </a:prstGeom>
        </p:spPr>
        <p:txBody>
          <a:bodyPr lIns="68580" tIns="34290" rIns="68580" bIns="3429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1969" lvl="1" indent="-169069" defTabSz="685800" fontAlgn="auto">
              <a:spcBef>
                <a:spcPts val="375"/>
              </a:spcBef>
              <a:spcAft>
                <a:spcPts val="0"/>
              </a:spcAft>
              <a:defRPr/>
            </a:pPr>
            <a:r>
              <a:rPr lang="en-US" altLang="en-US" sz="2100" dirty="0">
                <a:solidFill>
                  <a:prstClr val="black"/>
                </a:solidFill>
                <a:latin typeface="Calibri" panose="020F0502020204030204"/>
                <a:ea typeface="Arial" panose="020B0604020202020204" pitchFamily="34" charset="0"/>
              </a:rPr>
              <a:t>sends three packets that will reach router </a:t>
            </a:r>
            <a:r>
              <a:rPr lang="en-US" altLang="en-US" sz="2100" i="1" dirty="0">
                <a:solidFill>
                  <a:prstClr val="black"/>
                </a:solidFill>
                <a:latin typeface="Calibri" panose="020F0502020204030204"/>
                <a:ea typeface="Arial" panose="020B0604020202020204" pitchFamily="34" charset="0"/>
              </a:rPr>
              <a:t>i</a:t>
            </a:r>
            <a:r>
              <a:rPr lang="en-US" altLang="en-US" sz="2100" dirty="0">
                <a:solidFill>
                  <a:prstClr val="black"/>
                </a:solidFill>
                <a:latin typeface="Calibri" panose="020F0502020204030204"/>
                <a:ea typeface="Arial" panose="020B0604020202020204" pitchFamily="34" charset="0"/>
              </a:rPr>
              <a:t> on path towards destination (with time-to-live field value of </a:t>
            </a:r>
            <a:r>
              <a:rPr lang="en-US" altLang="en-US" sz="2100" i="1" dirty="0">
                <a:solidFill>
                  <a:prstClr val="black"/>
                </a:solidFill>
                <a:latin typeface="Calibri" panose="020F0502020204030204"/>
                <a:ea typeface="Arial" panose="020B0604020202020204" pitchFamily="34" charset="0"/>
              </a:rPr>
              <a:t>i</a:t>
            </a:r>
            <a:r>
              <a:rPr lang="en-US" altLang="en-US" sz="2100" dirty="0">
                <a:solidFill>
                  <a:prstClr val="black"/>
                </a:solidFill>
                <a:latin typeface="Calibri" panose="020F0502020204030204"/>
                <a:ea typeface="Arial" panose="020B0604020202020204" pitchFamily="34" charset="0"/>
              </a:rPr>
              <a:t>)</a:t>
            </a:r>
          </a:p>
          <a:p>
            <a:pPr marL="511969" lvl="1" indent="-169069" defTabSz="685800" fontAlgn="auto">
              <a:spcBef>
                <a:spcPts val="375"/>
              </a:spcBef>
              <a:spcAft>
                <a:spcPts val="0"/>
              </a:spcAft>
              <a:defRPr/>
            </a:pPr>
            <a:r>
              <a:rPr lang="en-US" altLang="en-US" sz="2100" dirty="0">
                <a:solidFill>
                  <a:prstClr val="black"/>
                </a:solidFill>
                <a:latin typeface="Calibri" panose="020F0502020204030204"/>
                <a:ea typeface="Arial" panose="020B0604020202020204" pitchFamily="34" charset="0"/>
              </a:rPr>
              <a:t>router </a:t>
            </a:r>
            <a:r>
              <a:rPr lang="en-US" altLang="en-US" sz="2100" i="1" dirty="0">
                <a:solidFill>
                  <a:prstClr val="black"/>
                </a:solidFill>
                <a:latin typeface="Calibri" panose="020F0502020204030204"/>
                <a:ea typeface="Arial" panose="020B0604020202020204" pitchFamily="34" charset="0"/>
              </a:rPr>
              <a:t>i</a:t>
            </a:r>
            <a:r>
              <a:rPr lang="en-US" altLang="en-US" sz="2100" dirty="0">
                <a:solidFill>
                  <a:prstClr val="black"/>
                </a:solidFill>
                <a:latin typeface="Calibri" panose="020F0502020204030204"/>
                <a:ea typeface="Arial" panose="020B0604020202020204" pitchFamily="34" charset="0"/>
              </a:rPr>
              <a:t> will return packets to sender</a:t>
            </a:r>
          </a:p>
          <a:p>
            <a:pPr marL="511969" lvl="1" indent="-169069" defTabSz="685800" fontAlgn="auto">
              <a:spcBef>
                <a:spcPts val="375"/>
              </a:spcBef>
              <a:spcAft>
                <a:spcPts val="0"/>
              </a:spcAft>
              <a:defRPr/>
            </a:pPr>
            <a:r>
              <a:rPr lang="en-US" altLang="en-US" sz="2100" dirty="0">
                <a:solidFill>
                  <a:prstClr val="black"/>
                </a:solidFill>
                <a:latin typeface="Calibri" panose="020F0502020204030204"/>
                <a:ea typeface="Arial" panose="020B0604020202020204" pitchFamily="34" charset="0"/>
              </a:rPr>
              <a:t>sender measures time interval between transmission and reply</a:t>
            </a:r>
            <a:endParaRPr lang="en-US" altLang="en-US" dirty="0">
              <a:solidFill>
                <a:prstClr val="black"/>
              </a:solidFill>
              <a:latin typeface="Calibri" panose="020F0502020204030204"/>
              <a:ea typeface="Arial" panose="020B0604020202020204" pitchFamily="34" charset="0"/>
            </a:endParaRPr>
          </a:p>
        </p:txBody>
      </p:sp>
      <p:sp>
        <p:nvSpPr>
          <p:cNvPr id="20508"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A1764B31-DADF-418E-A601-0324253C3C3F}" type="slidenum">
              <a:rPr lang="en-US" altLang="en-US" sz="1100">
                <a:solidFill>
                  <a:srgbClr val="7F7F7F"/>
                </a:solidFill>
              </a:rPr>
              <a:pPr>
                <a:spcBef>
                  <a:spcPct val="0"/>
                </a:spcBef>
                <a:buFontTx/>
                <a:buNone/>
              </a:pPr>
              <a:t>9</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145"/>
                                        </p:tgtEl>
                                        <p:attrNameLst>
                                          <p:attrName>style.visibility</p:attrName>
                                        </p:attrNameLst>
                                      </p:cBhvr>
                                      <p:to>
                                        <p:strVal val="visible"/>
                                      </p:to>
                                    </p:set>
                                  </p:childTnLst>
                                  <p:subTnLst>
                                    <p:set>
                                      <p:cBhvr override="childStyle">
                                        <p:cTn dur="1" fill="hold" display="0" masterRel="nextClick" afterEffect="1"/>
                                        <p:tgtEl>
                                          <p:spTgt spid="145"/>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6"/>
                                        </p:tgtEl>
                                        <p:attrNameLst>
                                          <p:attrName>style.visibility</p:attrName>
                                        </p:attrNameLst>
                                      </p:cBhvr>
                                      <p:to>
                                        <p:strVal val="visible"/>
                                      </p:to>
                                    </p:set>
                                  </p:childTnLst>
                                  <p:subTnLst>
                                    <p:set>
                                      <p:cBhvr override="childStyle">
                                        <p:cTn dur="1" fill="hold" display="0" masterRel="nextClick" afterEffect="1"/>
                                        <p:tgtEl>
                                          <p:spTgt spid="146"/>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noChangeArrowheads="1"/>
          </p:cNvSpPr>
          <p:nvPr>
            <p:ph type="title"/>
          </p:nvPr>
        </p:nvSpPr>
        <p:spPr>
          <a:xfrm>
            <a:off x="619125" y="1076325"/>
            <a:ext cx="7886700" cy="671513"/>
          </a:xfrm>
        </p:spPr>
        <p:txBody>
          <a:bodyPr/>
          <a:lstStyle/>
          <a:p>
            <a:r>
              <a:rPr lang="en-US" altLang="en-US" sz="3300" smtClean="0"/>
              <a:t>Real Internet delays and routes</a:t>
            </a:r>
          </a:p>
        </p:txBody>
      </p:sp>
      <p:sp>
        <p:nvSpPr>
          <p:cNvPr id="22531" name="Text Box 4"/>
          <p:cNvSpPr txBox="1">
            <a:spLocks noChangeArrowheads="1"/>
          </p:cNvSpPr>
          <p:nvPr/>
        </p:nvSpPr>
        <p:spPr bwMode="auto">
          <a:xfrm>
            <a:off x="1247775" y="2570163"/>
            <a:ext cx="61722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0000"/>
              </a:lnSpc>
              <a:spcBef>
                <a:spcPct val="0"/>
              </a:spcBef>
              <a:buFontTx/>
              <a:buNone/>
            </a:pPr>
            <a:r>
              <a:rPr lang="en-US" altLang="en-US" sz="1200">
                <a:solidFill>
                  <a:srgbClr val="000000"/>
                </a:solidFill>
              </a:rPr>
              <a:t>1  cs-gw (128.119.240.254)  1 ms  1 ms  2 ms</a:t>
            </a:r>
          </a:p>
          <a:p>
            <a:pPr eaLnBrk="1" hangingPunct="1">
              <a:lnSpc>
                <a:spcPct val="80000"/>
              </a:lnSpc>
              <a:spcBef>
                <a:spcPct val="0"/>
              </a:spcBef>
              <a:buFontTx/>
              <a:buNone/>
            </a:pPr>
            <a:r>
              <a:rPr lang="en-US" altLang="en-US" sz="1200">
                <a:solidFill>
                  <a:srgbClr val="000000"/>
                </a:solidFill>
              </a:rPr>
              <a:t>2  border1-rt-fa5-1-0.gw.umass.edu (128.119.3.145)  1 ms  1 ms  2 ms</a:t>
            </a:r>
          </a:p>
          <a:p>
            <a:pPr eaLnBrk="1" hangingPunct="1">
              <a:lnSpc>
                <a:spcPct val="80000"/>
              </a:lnSpc>
              <a:spcBef>
                <a:spcPct val="0"/>
              </a:spcBef>
              <a:buFontTx/>
              <a:buNone/>
            </a:pPr>
            <a:r>
              <a:rPr lang="en-US" altLang="en-US" sz="1200">
                <a:solidFill>
                  <a:srgbClr val="000000"/>
                </a:solidFill>
              </a:rPr>
              <a:t>3  cht-vbns.gw.umass.edu (128.119.3.130)  6 ms 5 ms 5 ms</a:t>
            </a:r>
          </a:p>
          <a:p>
            <a:pPr eaLnBrk="1" hangingPunct="1">
              <a:lnSpc>
                <a:spcPct val="80000"/>
              </a:lnSpc>
              <a:spcBef>
                <a:spcPct val="0"/>
              </a:spcBef>
              <a:buFontTx/>
              <a:buNone/>
            </a:pPr>
            <a:r>
              <a:rPr lang="en-US" altLang="en-US" sz="1200">
                <a:solidFill>
                  <a:srgbClr val="000000"/>
                </a:solidFill>
              </a:rPr>
              <a:t>4  jn1-at1-0-0-19.wor.vbns.net (204.147.132.129)  16 ms 11 ms 13 ms </a:t>
            </a:r>
          </a:p>
          <a:p>
            <a:pPr eaLnBrk="1" hangingPunct="1">
              <a:lnSpc>
                <a:spcPct val="80000"/>
              </a:lnSpc>
              <a:spcBef>
                <a:spcPct val="0"/>
              </a:spcBef>
              <a:buFontTx/>
              <a:buNone/>
            </a:pPr>
            <a:r>
              <a:rPr lang="en-US" altLang="en-US" sz="1200">
                <a:solidFill>
                  <a:srgbClr val="000000"/>
                </a:solidFill>
              </a:rPr>
              <a:t>5  jn1-so7-0-0-0.wae.vbns.net (204.147.136.136)  21 ms 18 ms 18 ms </a:t>
            </a:r>
          </a:p>
          <a:p>
            <a:pPr eaLnBrk="1" hangingPunct="1">
              <a:lnSpc>
                <a:spcPct val="80000"/>
              </a:lnSpc>
              <a:spcBef>
                <a:spcPct val="0"/>
              </a:spcBef>
              <a:buFontTx/>
              <a:buNone/>
            </a:pPr>
            <a:r>
              <a:rPr lang="en-US" altLang="en-US" sz="1200">
                <a:solidFill>
                  <a:srgbClr val="000000"/>
                </a:solidFill>
              </a:rPr>
              <a:t>6  abilene-vbns.abilene.ucaid.edu (198.32.11.9)  22 ms  18 ms  22 ms</a:t>
            </a:r>
          </a:p>
          <a:p>
            <a:pPr eaLnBrk="1" hangingPunct="1">
              <a:lnSpc>
                <a:spcPct val="80000"/>
              </a:lnSpc>
              <a:spcBef>
                <a:spcPct val="0"/>
              </a:spcBef>
              <a:buFontTx/>
              <a:buNone/>
            </a:pPr>
            <a:r>
              <a:rPr lang="en-US" altLang="en-US" sz="1200">
                <a:solidFill>
                  <a:srgbClr val="000000"/>
                </a:solidFill>
              </a:rPr>
              <a:t>7  nycm-wash.abilene.ucaid.edu (198.32.8.46)  22 ms  22 ms  22 ms</a:t>
            </a:r>
          </a:p>
          <a:p>
            <a:pPr eaLnBrk="1" hangingPunct="1">
              <a:lnSpc>
                <a:spcPct val="80000"/>
              </a:lnSpc>
              <a:spcBef>
                <a:spcPct val="0"/>
              </a:spcBef>
              <a:buFontTx/>
              <a:buNone/>
            </a:pPr>
            <a:r>
              <a:rPr lang="en-US" altLang="en-US" sz="1200">
                <a:solidFill>
                  <a:srgbClr val="000000"/>
                </a:solidFill>
              </a:rPr>
              <a:t>8  62.40.103.253 (62.40.103.253)  104 ms 109 ms 106 ms</a:t>
            </a:r>
          </a:p>
          <a:p>
            <a:pPr eaLnBrk="1" hangingPunct="1">
              <a:lnSpc>
                <a:spcPct val="80000"/>
              </a:lnSpc>
              <a:spcBef>
                <a:spcPct val="0"/>
              </a:spcBef>
              <a:buFontTx/>
              <a:buNone/>
            </a:pPr>
            <a:r>
              <a:rPr lang="en-US" altLang="en-US" sz="1200">
                <a:solidFill>
                  <a:srgbClr val="000000"/>
                </a:solidFill>
              </a:rPr>
              <a:t>9  de2-1.de1.de.geant.net (62.40.96.129)  109 ms 102 ms 104 ms</a:t>
            </a:r>
          </a:p>
          <a:p>
            <a:pPr eaLnBrk="1" hangingPunct="1">
              <a:lnSpc>
                <a:spcPct val="80000"/>
              </a:lnSpc>
              <a:spcBef>
                <a:spcPct val="0"/>
              </a:spcBef>
              <a:buFontTx/>
              <a:buNone/>
            </a:pPr>
            <a:r>
              <a:rPr lang="en-US" altLang="en-US" sz="1200">
                <a:solidFill>
                  <a:srgbClr val="000000"/>
                </a:solidFill>
              </a:rPr>
              <a:t>10  de.fr1.fr.geant.net (62.40.96.50)  113 ms 121 ms 114 ms</a:t>
            </a:r>
          </a:p>
          <a:p>
            <a:pPr eaLnBrk="1" hangingPunct="1">
              <a:lnSpc>
                <a:spcPct val="80000"/>
              </a:lnSpc>
              <a:spcBef>
                <a:spcPct val="0"/>
              </a:spcBef>
              <a:buFontTx/>
              <a:buNone/>
            </a:pPr>
            <a:r>
              <a:rPr lang="en-US" altLang="en-US" sz="1200">
                <a:solidFill>
                  <a:srgbClr val="000000"/>
                </a:solidFill>
              </a:rPr>
              <a:t>11  renater-gw.fr1.fr.geant.net (62.40.103.54)  112 ms  114 ms  112 ms</a:t>
            </a:r>
          </a:p>
          <a:p>
            <a:pPr eaLnBrk="1" hangingPunct="1">
              <a:lnSpc>
                <a:spcPct val="80000"/>
              </a:lnSpc>
              <a:spcBef>
                <a:spcPct val="0"/>
              </a:spcBef>
              <a:buFontTx/>
              <a:buNone/>
            </a:pPr>
            <a:r>
              <a:rPr lang="en-US" altLang="en-US" sz="1200">
                <a:solidFill>
                  <a:srgbClr val="000000"/>
                </a:solidFill>
              </a:rPr>
              <a:t>12  nio-n2.cssi.renater.fr (193.51.206.13)  111 ms  114 ms  116 ms</a:t>
            </a:r>
          </a:p>
          <a:p>
            <a:pPr eaLnBrk="1" hangingPunct="1">
              <a:lnSpc>
                <a:spcPct val="80000"/>
              </a:lnSpc>
              <a:spcBef>
                <a:spcPct val="0"/>
              </a:spcBef>
              <a:buFontTx/>
              <a:buNone/>
            </a:pPr>
            <a:r>
              <a:rPr lang="en-US" altLang="en-US" sz="1200">
                <a:solidFill>
                  <a:srgbClr val="000000"/>
                </a:solidFill>
              </a:rPr>
              <a:t>13  nice.cssi.renater.fr (195.220.98.102)  123 ms  125 ms  124 ms</a:t>
            </a:r>
          </a:p>
          <a:p>
            <a:pPr eaLnBrk="1" hangingPunct="1">
              <a:lnSpc>
                <a:spcPct val="80000"/>
              </a:lnSpc>
              <a:spcBef>
                <a:spcPct val="0"/>
              </a:spcBef>
              <a:buFontTx/>
              <a:buNone/>
            </a:pPr>
            <a:r>
              <a:rPr lang="en-US" altLang="en-US" sz="1200">
                <a:solidFill>
                  <a:srgbClr val="000000"/>
                </a:solidFill>
              </a:rPr>
              <a:t>14  r3t2-nice.cssi.renater.fr (195.220.98.110)  126 ms  126 ms  124 ms</a:t>
            </a:r>
          </a:p>
          <a:p>
            <a:pPr eaLnBrk="1" hangingPunct="1">
              <a:lnSpc>
                <a:spcPct val="80000"/>
              </a:lnSpc>
              <a:spcBef>
                <a:spcPct val="0"/>
              </a:spcBef>
              <a:buFontTx/>
              <a:buNone/>
            </a:pPr>
            <a:r>
              <a:rPr lang="en-US" altLang="en-US" sz="1200">
                <a:solidFill>
                  <a:srgbClr val="000000"/>
                </a:solidFill>
              </a:rPr>
              <a:t>15  eurecom-valbonne.r3t2.ft.net (193.48.50.54)  135 ms  128 ms  133 ms</a:t>
            </a:r>
          </a:p>
          <a:p>
            <a:pPr eaLnBrk="1" hangingPunct="1">
              <a:lnSpc>
                <a:spcPct val="80000"/>
              </a:lnSpc>
              <a:spcBef>
                <a:spcPct val="0"/>
              </a:spcBef>
              <a:buFontTx/>
              <a:buNone/>
            </a:pPr>
            <a:r>
              <a:rPr lang="en-US" altLang="en-US" sz="1200">
                <a:solidFill>
                  <a:srgbClr val="000000"/>
                </a:solidFill>
              </a:rPr>
              <a:t>16  194.214.211.25 (194.214.211.25)  126 ms  128 ms  126 ms</a:t>
            </a:r>
          </a:p>
          <a:p>
            <a:pPr eaLnBrk="1" hangingPunct="1">
              <a:lnSpc>
                <a:spcPct val="80000"/>
              </a:lnSpc>
              <a:spcBef>
                <a:spcPct val="0"/>
              </a:spcBef>
              <a:buFontTx/>
              <a:buNone/>
            </a:pPr>
            <a:r>
              <a:rPr lang="en-US" altLang="en-US" sz="1200">
                <a:solidFill>
                  <a:srgbClr val="000000"/>
                </a:solidFill>
              </a:rPr>
              <a:t>17  * * *</a:t>
            </a:r>
          </a:p>
          <a:p>
            <a:pPr eaLnBrk="1" hangingPunct="1">
              <a:lnSpc>
                <a:spcPct val="80000"/>
              </a:lnSpc>
              <a:spcBef>
                <a:spcPct val="0"/>
              </a:spcBef>
              <a:buFontTx/>
              <a:buNone/>
            </a:pPr>
            <a:r>
              <a:rPr lang="en-US" altLang="en-US" sz="1200">
                <a:solidFill>
                  <a:srgbClr val="000000"/>
                </a:solidFill>
              </a:rPr>
              <a:t>18  * * *</a:t>
            </a:r>
          </a:p>
          <a:p>
            <a:pPr eaLnBrk="1" hangingPunct="1">
              <a:lnSpc>
                <a:spcPct val="80000"/>
              </a:lnSpc>
              <a:spcBef>
                <a:spcPct val="0"/>
              </a:spcBef>
              <a:buFontTx/>
              <a:buNone/>
            </a:pPr>
            <a:r>
              <a:rPr lang="en-US" altLang="en-US" sz="1200">
                <a:solidFill>
                  <a:srgbClr val="000000"/>
                </a:solidFill>
              </a:rPr>
              <a:t>19  fantasia.eurecom.fr (193.55.113.142)  132 ms  128 ms  136</a:t>
            </a:r>
            <a:r>
              <a:rPr lang="en-US" altLang="en-US" sz="1800">
                <a:solidFill>
                  <a:srgbClr val="000000"/>
                </a:solidFill>
                <a:latin typeface="Times New Roman" panose="02020603050405020304" pitchFamily="18" charset="0"/>
              </a:rPr>
              <a:t> </a:t>
            </a:r>
            <a:r>
              <a:rPr lang="en-US" altLang="en-US" sz="1200">
                <a:solidFill>
                  <a:srgbClr val="000000"/>
                </a:solidFill>
                <a:latin typeface="Times New Roman" panose="02020603050405020304" pitchFamily="18" charset="0"/>
              </a:rPr>
              <a:t>ms</a:t>
            </a:r>
          </a:p>
        </p:txBody>
      </p:sp>
      <p:sp>
        <p:nvSpPr>
          <p:cNvPr id="22532" name="Text Box 5"/>
          <p:cNvSpPr txBox="1">
            <a:spLocks noChangeArrowheads="1"/>
          </p:cNvSpPr>
          <p:nvPr/>
        </p:nvSpPr>
        <p:spPr bwMode="auto">
          <a:xfrm>
            <a:off x="1263650" y="1676400"/>
            <a:ext cx="61436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100">
                <a:solidFill>
                  <a:srgbClr val="CC0000"/>
                </a:solidFill>
                <a:latin typeface="Calibri" panose="020F0502020204030204" pitchFamily="34" charset="0"/>
              </a:rPr>
              <a:t>traceroute:</a:t>
            </a:r>
            <a:r>
              <a:rPr lang="en-US" altLang="en-US" sz="2100">
                <a:solidFill>
                  <a:srgbClr val="000000"/>
                </a:solidFill>
                <a:latin typeface="Calibri" panose="020F0502020204030204" pitchFamily="34" charset="0"/>
              </a:rPr>
              <a:t> gaia.cs.umass.edu to www.eurecom.fr</a:t>
            </a:r>
          </a:p>
        </p:txBody>
      </p:sp>
      <p:sp>
        <p:nvSpPr>
          <p:cNvPr id="79" name="TextBox 1"/>
          <p:cNvSpPr txBox="1">
            <a:spLocks noChangeArrowheads="1"/>
          </p:cNvSpPr>
          <p:nvPr/>
        </p:nvSpPr>
        <p:spPr bwMode="auto">
          <a:xfrm>
            <a:off x="1277938" y="5551488"/>
            <a:ext cx="4940300" cy="300037"/>
          </a:xfrm>
          <a:prstGeom prst="rect">
            <a:avLst/>
          </a:prstGeom>
          <a:noFill/>
          <a:ln>
            <a:noFill/>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spcBef>
                <a:spcPts val="0"/>
              </a:spcBef>
              <a:spcAft>
                <a:spcPts val="0"/>
              </a:spcAft>
              <a:defRPr/>
            </a:pPr>
            <a:r>
              <a:rPr lang="en-US" altLang="en-US" sz="1350" dirty="0">
                <a:solidFill>
                  <a:prstClr val="black"/>
                </a:solidFill>
                <a:latin typeface="Calibri" panose="020F0502020204030204"/>
              </a:rPr>
              <a:t>* Do some traceroutes from exotic countries at www.traceroute.org</a:t>
            </a:r>
          </a:p>
        </p:txBody>
      </p:sp>
      <p:grpSp>
        <p:nvGrpSpPr>
          <p:cNvPr id="11" name="Group 10"/>
          <p:cNvGrpSpPr>
            <a:grpSpLocks/>
          </p:cNvGrpSpPr>
          <p:nvPr/>
        </p:nvGrpSpPr>
        <p:grpSpPr bwMode="auto">
          <a:xfrm>
            <a:off x="1847850" y="4956175"/>
            <a:ext cx="5470525" cy="322263"/>
            <a:chOff x="2464209" y="5464534"/>
            <a:chExt cx="7293694" cy="430886"/>
          </a:xfrm>
        </p:grpSpPr>
        <p:sp>
          <p:nvSpPr>
            <p:cNvPr id="22561" name="Text Box 12"/>
            <p:cNvSpPr txBox="1">
              <a:spLocks noChangeArrowheads="1"/>
            </p:cNvSpPr>
            <p:nvPr/>
          </p:nvSpPr>
          <p:spPr bwMode="auto">
            <a:xfrm>
              <a:off x="3471404" y="5464534"/>
              <a:ext cx="6286499" cy="43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CC0000"/>
                  </a:solidFill>
                  <a:latin typeface="Calibri" panose="020F0502020204030204" pitchFamily="34" charset="0"/>
                </a:rPr>
                <a:t>* means no response (probe lost, router not replying)</a:t>
              </a:r>
            </a:p>
          </p:txBody>
        </p:sp>
        <p:cxnSp>
          <p:nvCxnSpPr>
            <p:cNvPr id="23" name="Straight Arrow Connector 22"/>
            <p:cNvCxnSpPr>
              <a:cxnSpLocks/>
            </p:cNvCxnSpPr>
            <p:nvPr/>
          </p:nvCxnSpPr>
          <p:spPr>
            <a:xfrm flipH="1">
              <a:off x="2464209" y="5591889"/>
              <a:ext cx="1007486"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 name="Group 4"/>
          <p:cNvGrpSpPr>
            <a:grpSpLocks/>
          </p:cNvGrpSpPr>
          <p:nvPr/>
        </p:nvGrpSpPr>
        <p:grpSpPr bwMode="auto">
          <a:xfrm>
            <a:off x="1436688" y="2054225"/>
            <a:ext cx="7091362" cy="674688"/>
            <a:chOff x="1915886" y="1596610"/>
            <a:chExt cx="9454526" cy="899847"/>
          </a:xfrm>
        </p:grpSpPr>
        <p:sp>
          <p:nvSpPr>
            <p:cNvPr id="71" name="Text Box 7"/>
            <p:cNvSpPr txBox="1">
              <a:spLocks noChangeArrowheads="1"/>
            </p:cNvSpPr>
            <p:nvPr/>
          </p:nvSpPr>
          <p:spPr bwMode="auto">
            <a:xfrm>
              <a:off x="5433554" y="1596610"/>
              <a:ext cx="5936858" cy="647889"/>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85000"/>
                </a:lnSpc>
                <a:spcBef>
                  <a:spcPts val="0"/>
                </a:spcBef>
                <a:spcAft>
                  <a:spcPts val="0"/>
                </a:spcAft>
                <a:defRPr/>
              </a:pPr>
              <a:r>
                <a:rPr lang="en-US" altLang="en-US" sz="1500" dirty="0">
                  <a:solidFill>
                    <a:srgbClr val="CC0000"/>
                  </a:solidFill>
                  <a:latin typeface="Calibri" panose="020F0502020204030204"/>
                </a:rPr>
                <a:t>3 delay measurements from </a:t>
              </a:r>
            </a:p>
            <a:p>
              <a:pPr defTabSz="685800" eaLnBrk="1" fontAlgn="auto" hangingPunct="1">
                <a:lnSpc>
                  <a:spcPct val="85000"/>
                </a:lnSpc>
                <a:spcBef>
                  <a:spcPts val="0"/>
                </a:spcBef>
                <a:spcAft>
                  <a:spcPts val="0"/>
                </a:spcAft>
                <a:defRPr/>
              </a:pPr>
              <a:r>
                <a:rPr lang="en-US" altLang="en-US" sz="1350" dirty="0">
                  <a:solidFill>
                    <a:srgbClr val="CC0000"/>
                  </a:solidFill>
                  <a:latin typeface="Calibri" panose="020F0502020204030204"/>
                </a:rPr>
                <a:t>gaia.cs.umass.edu </a:t>
              </a:r>
              <a:r>
                <a:rPr lang="en-US" altLang="en-US" sz="1500" dirty="0">
                  <a:solidFill>
                    <a:srgbClr val="CC0000"/>
                  </a:solidFill>
                  <a:latin typeface="Calibri" panose="020F0502020204030204"/>
                </a:rPr>
                <a:t>to </a:t>
              </a:r>
              <a:r>
                <a:rPr lang="en-US" altLang="en-US" sz="1350" dirty="0">
                  <a:solidFill>
                    <a:srgbClr val="CC0000"/>
                  </a:solidFill>
                  <a:latin typeface="Calibri" panose="020F0502020204030204"/>
                </a:rPr>
                <a:t>cs-gw.cs.umass.edu </a:t>
              </a:r>
              <a:endParaRPr lang="en-US" altLang="en-US" sz="1500" dirty="0">
                <a:solidFill>
                  <a:srgbClr val="CC0000"/>
                </a:solidFill>
                <a:latin typeface="Calibri" panose="020F0502020204030204"/>
              </a:endParaRPr>
            </a:p>
          </p:txBody>
        </p:sp>
        <p:sp>
          <p:nvSpPr>
            <p:cNvPr id="72" name="Line 8"/>
            <p:cNvSpPr>
              <a:spLocks noChangeShapeType="1"/>
            </p:cNvSpPr>
            <p:nvPr/>
          </p:nvSpPr>
          <p:spPr bwMode="auto">
            <a:xfrm flipV="1">
              <a:off x="4430320" y="1909968"/>
              <a:ext cx="670938" cy="412871"/>
            </a:xfrm>
            <a:prstGeom prst="line">
              <a:avLst/>
            </a:prstGeom>
            <a:noFill/>
            <a:ln w="19050">
              <a:solidFill>
                <a:srgbClr val="CC0000"/>
              </a:solidFill>
              <a:round/>
              <a:headEnd type="triangle" w="med" len="med"/>
              <a:tailEn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73" name="Line 9"/>
            <p:cNvSpPr>
              <a:spLocks noChangeShapeType="1"/>
            </p:cNvSpPr>
            <p:nvPr/>
          </p:nvSpPr>
          <p:spPr bwMode="auto">
            <a:xfrm flipV="1">
              <a:off x="4970034" y="1899382"/>
              <a:ext cx="139691" cy="404401"/>
            </a:xfrm>
            <a:prstGeom prst="line">
              <a:avLst/>
            </a:prstGeom>
            <a:noFill/>
            <a:ln w="19050">
              <a:solidFill>
                <a:srgbClr val="CC0000"/>
              </a:solidFill>
              <a:round/>
              <a:headEnd type="triangle" w="med" len="med"/>
              <a:tailEn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74" name="Line 10"/>
            <p:cNvSpPr>
              <a:spLocks noChangeShapeType="1"/>
            </p:cNvSpPr>
            <p:nvPr/>
          </p:nvSpPr>
          <p:spPr bwMode="auto">
            <a:xfrm flipH="1" flipV="1">
              <a:off x="5105492" y="1907852"/>
              <a:ext cx="366160" cy="391697"/>
            </a:xfrm>
            <a:prstGeom prst="line">
              <a:avLst/>
            </a:prstGeom>
            <a:noFill/>
            <a:ln w="19050">
              <a:solidFill>
                <a:srgbClr val="CC0000"/>
              </a:solidFill>
              <a:round/>
              <a:headEnd type="triangle" w="med" len="med"/>
              <a:tailEn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cxnSp>
          <p:nvCxnSpPr>
            <p:cNvPr id="25" name="Straight Arrow Connector 24"/>
            <p:cNvCxnSpPr>
              <a:cxnSpLocks/>
            </p:cNvCxnSpPr>
            <p:nvPr/>
          </p:nvCxnSpPr>
          <p:spPr>
            <a:xfrm flipH="1">
              <a:off x="5101259" y="1907852"/>
              <a:ext cx="512200"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915886" y="2308018"/>
              <a:ext cx="639191" cy="188439"/>
            </a:xfrm>
            <a:prstGeom prst="rect">
              <a:avLst/>
            </a:prstGeom>
            <a:solidFill>
              <a:srgbClr val="FFFF00">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highlight>
                  <a:srgbClr val="FFFF00"/>
                </a:highlight>
                <a:latin typeface="Calibri" panose="020F0502020204030204"/>
              </a:endParaRPr>
            </a:p>
          </p:txBody>
        </p:sp>
      </p:grpSp>
      <p:grpSp>
        <p:nvGrpSpPr>
          <p:cNvPr id="8" name="Group 7"/>
          <p:cNvGrpSpPr>
            <a:grpSpLocks/>
          </p:cNvGrpSpPr>
          <p:nvPr/>
        </p:nvGrpSpPr>
        <p:grpSpPr bwMode="auto">
          <a:xfrm>
            <a:off x="1470025" y="2586038"/>
            <a:ext cx="7729538" cy="487362"/>
            <a:chOff x="1959429" y="2305498"/>
            <a:chExt cx="10306229" cy="648640"/>
          </a:xfrm>
        </p:grpSpPr>
        <p:sp>
          <p:nvSpPr>
            <p:cNvPr id="19" name="Text Box 7"/>
            <p:cNvSpPr txBox="1">
              <a:spLocks noChangeArrowheads="1"/>
            </p:cNvSpPr>
            <p:nvPr/>
          </p:nvSpPr>
          <p:spPr bwMode="auto">
            <a:xfrm>
              <a:off x="8180421" y="2305498"/>
              <a:ext cx="4085237" cy="648640"/>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1" fontAlgn="auto" hangingPunct="1">
                <a:lnSpc>
                  <a:spcPct val="85000"/>
                </a:lnSpc>
                <a:spcBef>
                  <a:spcPts val="0"/>
                </a:spcBef>
                <a:spcAft>
                  <a:spcPts val="0"/>
                </a:spcAft>
                <a:defRPr/>
              </a:pPr>
              <a:r>
                <a:rPr lang="en-US" altLang="en-US" sz="1500" dirty="0">
                  <a:solidFill>
                    <a:srgbClr val="CC0000"/>
                  </a:solidFill>
                  <a:latin typeface="Calibri" panose="020F0502020204030204"/>
                </a:rPr>
                <a:t>3 delay measurements</a:t>
              </a:r>
            </a:p>
            <a:p>
              <a:pPr defTabSz="685800" eaLnBrk="1" fontAlgn="auto" hangingPunct="1">
                <a:lnSpc>
                  <a:spcPct val="85000"/>
                </a:lnSpc>
                <a:spcBef>
                  <a:spcPts val="0"/>
                </a:spcBef>
                <a:spcAft>
                  <a:spcPts val="0"/>
                </a:spcAft>
                <a:defRPr/>
              </a:pPr>
              <a:r>
                <a:rPr lang="en-US" altLang="en-US" sz="1500" dirty="0">
                  <a:solidFill>
                    <a:srgbClr val="CC0000"/>
                  </a:solidFill>
                  <a:latin typeface="Calibri" panose="020F0502020204030204"/>
                </a:rPr>
                <a:t>to </a:t>
              </a:r>
              <a:r>
                <a:rPr lang="en-US" altLang="en-US" sz="1350" dirty="0">
                  <a:solidFill>
                    <a:srgbClr val="CC0000"/>
                  </a:solidFill>
                  <a:latin typeface="Calibri" panose="020F0502020204030204"/>
                </a:rPr>
                <a:t>border1-rt-fa5-1-0.gw.umass.edu </a:t>
              </a:r>
              <a:endParaRPr lang="en-US" altLang="en-US" sz="1500" dirty="0">
                <a:solidFill>
                  <a:srgbClr val="CC0000"/>
                </a:solidFill>
                <a:latin typeface="Calibri" panose="020F0502020204030204"/>
              </a:endParaRPr>
            </a:p>
          </p:txBody>
        </p:sp>
        <p:cxnSp>
          <p:nvCxnSpPr>
            <p:cNvPr id="4" name="Straight Arrow Connector 3"/>
            <p:cNvCxnSpPr/>
            <p:nvPr/>
          </p:nvCxnSpPr>
          <p:spPr>
            <a:xfrm flipH="1">
              <a:off x="8135969" y="2590730"/>
              <a:ext cx="738730"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959429" y="2525233"/>
              <a:ext cx="2976085" cy="160576"/>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nvGrpSpPr>
          <p:cNvPr id="13" name="Group 12"/>
          <p:cNvGrpSpPr>
            <a:grpSpLocks/>
          </p:cNvGrpSpPr>
          <p:nvPr/>
        </p:nvGrpSpPr>
        <p:grpSpPr bwMode="auto">
          <a:xfrm>
            <a:off x="5284788" y="3924300"/>
            <a:ext cx="3321050" cy="485775"/>
            <a:chOff x="7046686" y="4088438"/>
            <a:chExt cx="4427559" cy="648641"/>
          </a:xfrm>
        </p:grpSpPr>
        <p:grpSp>
          <p:nvGrpSpPr>
            <p:cNvPr id="22547" name="Group 9"/>
            <p:cNvGrpSpPr>
              <a:grpSpLocks/>
            </p:cNvGrpSpPr>
            <p:nvPr/>
          </p:nvGrpSpPr>
          <p:grpSpPr bwMode="auto">
            <a:xfrm>
              <a:off x="8136140" y="4088438"/>
              <a:ext cx="3338105" cy="648641"/>
              <a:chOff x="8136140" y="4088438"/>
              <a:chExt cx="3338105" cy="648641"/>
            </a:xfrm>
          </p:grpSpPr>
          <p:sp>
            <p:nvSpPr>
              <p:cNvPr id="22550" name="Text Box 7"/>
              <p:cNvSpPr txBox="1">
                <a:spLocks noChangeArrowheads="1"/>
              </p:cNvSpPr>
              <p:nvPr/>
            </p:nvSpPr>
            <p:spPr bwMode="auto">
              <a:xfrm>
                <a:off x="8731045" y="4088438"/>
                <a:ext cx="2743200" cy="64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buFontTx/>
                  <a:buNone/>
                </a:pPr>
                <a:r>
                  <a:rPr lang="en-US" altLang="en-US" sz="1500">
                    <a:solidFill>
                      <a:srgbClr val="CC0000"/>
                    </a:solidFill>
                    <a:latin typeface="Calibri" panose="020F0502020204030204" pitchFamily="34" charset="0"/>
                  </a:rPr>
                  <a:t>looks like delays </a:t>
                </a:r>
                <a:r>
                  <a:rPr lang="en-US" altLang="en-US" sz="1500" i="1">
                    <a:solidFill>
                      <a:srgbClr val="CC0000"/>
                    </a:solidFill>
                    <a:latin typeface="Calibri" panose="020F0502020204030204" pitchFamily="34" charset="0"/>
                  </a:rPr>
                  <a:t>decrease</a:t>
                </a:r>
                <a:r>
                  <a:rPr lang="en-US" altLang="en-US" sz="1500">
                    <a:solidFill>
                      <a:srgbClr val="CC0000"/>
                    </a:solidFill>
                    <a:latin typeface="Calibri" panose="020F0502020204030204" pitchFamily="34" charset="0"/>
                  </a:rPr>
                  <a:t>! Why?</a:t>
                </a:r>
              </a:p>
            </p:txBody>
          </p:sp>
          <p:cxnSp>
            <p:nvCxnSpPr>
              <p:cNvPr id="22" name="Straight Arrow Connector 21"/>
              <p:cNvCxnSpPr/>
              <p:nvPr/>
            </p:nvCxnSpPr>
            <p:spPr>
              <a:xfrm flipH="1">
                <a:off x="8136644" y="4380962"/>
                <a:ext cx="738633"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7402245" y="4224101"/>
              <a:ext cx="725933" cy="260729"/>
            </a:xfrm>
            <a:prstGeom prst="rect">
              <a:avLst/>
            </a:prstGeom>
            <a:solidFill>
              <a:srgbClr val="FFFF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highlight>
                  <a:srgbClr val="FFFF00"/>
                </a:highlight>
                <a:latin typeface="Calibri" panose="020F0502020204030204"/>
              </a:endParaRPr>
            </a:p>
          </p:txBody>
        </p:sp>
        <p:sp>
          <p:nvSpPr>
            <p:cNvPr id="31" name="Rectangle 30"/>
            <p:cNvSpPr/>
            <p:nvPr/>
          </p:nvSpPr>
          <p:spPr>
            <a:xfrm>
              <a:off x="7046686" y="4419118"/>
              <a:ext cx="725933" cy="260729"/>
            </a:xfrm>
            <a:prstGeom prst="rect">
              <a:avLst/>
            </a:prstGeom>
            <a:solidFill>
              <a:srgbClr val="FFFF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highlight>
                  <a:srgbClr val="FFFF00"/>
                </a:highlight>
                <a:latin typeface="Calibri" panose="020F0502020204030204"/>
              </a:endParaRPr>
            </a:p>
          </p:txBody>
        </p:sp>
      </p:grpSp>
      <p:grpSp>
        <p:nvGrpSpPr>
          <p:cNvPr id="15" name="Group 14"/>
          <p:cNvGrpSpPr>
            <a:grpSpLocks/>
          </p:cNvGrpSpPr>
          <p:nvPr/>
        </p:nvGrpSpPr>
        <p:grpSpPr bwMode="auto">
          <a:xfrm>
            <a:off x="1452563" y="3394075"/>
            <a:ext cx="6677025" cy="381000"/>
            <a:chOff x="1937658" y="3381528"/>
            <a:chExt cx="8901587" cy="508300"/>
          </a:xfrm>
        </p:grpSpPr>
        <p:grpSp>
          <p:nvGrpSpPr>
            <p:cNvPr id="22540" name="Group 8"/>
            <p:cNvGrpSpPr>
              <a:grpSpLocks/>
            </p:cNvGrpSpPr>
            <p:nvPr/>
          </p:nvGrpSpPr>
          <p:grpSpPr bwMode="auto">
            <a:xfrm>
              <a:off x="1937658" y="3381528"/>
              <a:ext cx="8901587" cy="460375"/>
              <a:chOff x="1937658" y="3381528"/>
              <a:chExt cx="8901587" cy="460375"/>
            </a:xfrm>
          </p:grpSpPr>
          <p:sp>
            <p:nvSpPr>
              <p:cNvPr id="77" name="Freeform 14"/>
              <p:cNvSpPr>
                <a:spLocks/>
              </p:cNvSpPr>
              <p:nvPr/>
            </p:nvSpPr>
            <p:spPr bwMode="auto">
              <a:xfrm>
                <a:off x="7050885" y="3595439"/>
                <a:ext cx="1013756" cy="245679"/>
              </a:xfrm>
              <a:custGeom>
                <a:avLst/>
                <a:gdLst>
                  <a:gd name="T0" fmla="*/ 2147483647 w 638"/>
                  <a:gd name="T1" fmla="*/ 0 h 155"/>
                  <a:gd name="T2" fmla="*/ 2147483647 w 638"/>
                  <a:gd name="T3" fmla="*/ 2147483647 h 155"/>
                  <a:gd name="T4" fmla="*/ 2147483647 w 638"/>
                  <a:gd name="T5" fmla="*/ 2147483647 h 155"/>
                  <a:gd name="T6" fmla="*/ 2147483647 w 638"/>
                  <a:gd name="T7" fmla="*/ 2147483647 h 155"/>
                  <a:gd name="T8" fmla="*/ 0 w 638"/>
                  <a:gd name="T9" fmla="*/ 2147483647 h 155"/>
                  <a:gd name="T10" fmla="*/ 0 60000 65536"/>
                  <a:gd name="T11" fmla="*/ 0 60000 65536"/>
                  <a:gd name="T12" fmla="*/ 0 60000 65536"/>
                  <a:gd name="T13" fmla="*/ 0 60000 65536"/>
                  <a:gd name="T14" fmla="*/ 0 60000 65536"/>
                  <a:gd name="T15" fmla="*/ 0 w 638"/>
                  <a:gd name="T16" fmla="*/ 0 h 155"/>
                  <a:gd name="T17" fmla="*/ 638 w 638"/>
                  <a:gd name="T18" fmla="*/ 155 h 155"/>
                </a:gdLst>
                <a:ahLst/>
                <a:cxnLst>
                  <a:cxn ang="T10">
                    <a:pos x="T0" y="T1"/>
                  </a:cxn>
                  <a:cxn ang="T11">
                    <a:pos x="T2" y="T3"/>
                  </a:cxn>
                  <a:cxn ang="T12">
                    <a:pos x="T4" y="T5"/>
                  </a:cxn>
                  <a:cxn ang="T13">
                    <a:pos x="T6" y="T7"/>
                  </a:cxn>
                  <a:cxn ang="T14">
                    <a:pos x="T8" y="T9"/>
                  </a:cxn>
                </a:cxnLst>
                <a:rect l="T15" t="T16" r="T17" b="T18"/>
                <a:pathLst>
                  <a:path w="638" h="155">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w="19050">
                <a:solidFill>
                  <a:srgbClr val="CC0000"/>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2544" name="Text Box 15"/>
              <p:cNvSpPr txBox="1">
                <a:spLocks noChangeArrowheads="1"/>
              </p:cNvSpPr>
              <p:nvPr/>
            </p:nvSpPr>
            <p:spPr bwMode="auto">
              <a:xfrm>
                <a:off x="8096045" y="3381528"/>
                <a:ext cx="2743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CC0000"/>
                    </a:solidFill>
                    <a:latin typeface="Calibri" panose="020F0502020204030204" pitchFamily="34" charset="0"/>
                  </a:rPr>
                  <a:t>trans-oceanic link</a:t>
                </a:r>
              </a:p>
            </p:txBody>
          </p:sp>
          <p:sp>
            <p:nvSpPr>
              <p:cNvPr id="26" name="Rectangle 25"/>
              <p:cNvSpPr/>
              <p:nvPr/>
            </p:nvSpPr>
            <p:spPr>
              <a:xfrm>
                <a:off x="1937658" y="3519193"/>
                <a:ext cx="2751323" cy="122839"/>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27" name="Rectangle 26"/>
              <p:cNvSpPr/>
              <p:nvPr/>
            </p:nvSpPr>
            <p:spPr>
              <a:xfrm>
                <a:off x="2003266" y="3686508"/>
                <a:ext cx="1305821" cy="144019"/>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14" name="Rectangle 13"/>
            <p:cNvSpPr/>
            <p:nvPr/>
          </p:nvSpPr>
          <p:spPr>
            <a:xfrm>
              <a:off x="7315435" y="3468363"/>
              <a:ext cx="666667" cy="203320"/>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4" name="Rectangle 33"/>
            <p:cNvSpPr/>
            <p:nvPr/>
          </p:nvSpPr>
          <p:spPr>
            <a:xfrm>
              <a:off x="6320726" y="3680155"/>
              <a:ext cx="776720" cy="209673"/>
            </a:xfrm>
            <a:prstGeom prst="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sp>
        <p:nvSpPr>
          <p:cNvPr id="22539"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F8F516DA-FF56-4B0F-8B6C-43DD95C16673}" type="slidenum">
              <a:rPr lang="en-US" altLang="en-US" sz="1100">
                <a:solidFill>
                  <a:srgbClr val="7F7F7F"/>
                </a:solidFill>
              </a:rPr>
              <a:pPr>
                <a:spcBef>
                  <a:spcPct val="0"/>
                </a:spcBef>
                <a:buFontTx/>
                <a:buNone/>
              </a:pPr>
              <a:t>10</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nodeType="clickEffect">
                                  <p:stCondLst>
                                    <p:cond delay="0"/>
                                  </p:stCondLst>
                                  <p:childTnLst>
                                    <p:animEffect transition="out" filter="dissolv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xit" presetSubtype="0" fill="hold" nodeType="clickEffect">
                                  <p:stCondLst>
                                    <p:cond delay="0"/>
                                  </p:stCondLst>
                                  <p:childTnLst>
                                    <p:animEffect transition="out" filter="dissolv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9"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dissolve">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xit" presetSubtype="0" fill="hold" nodeType="clickEffect">
                                  <p:stCondLst>
                                    <p:cond delay="0"/>
                                  </p:stCondLst>
                                  <p:childTnLst>
                                    <p:animEffect transition="out" filter="dissolve">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par>
                                <p:cTn id="29" presetID="9"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xit" presetSubtype="0" fill="hold" nodeType="clickEffect">
                                  <p:stCondLst>
                                    <p:cond delay="0"/>
                                  </p:stCondLst>
                                  <p:childTnLst>
                                    <p:animEffect transition="out" filter="dissolve">
                                      <p:cBhvr>
                                        <p:cTn id="35" dur="500"/>
                                        <p:tgtEl>
                                          <p:spTgt spid="13"/>
                                        </p:tgtEl>
                                      </p:cBhvr>
                                    </p:animEffect>
                                    <p:set>
                                      <p:cBhvr>
                                        <p:cTn id="36" dur="1" fill="hold">
                                          <p:stCondLst>
                                            <p:cond delay="499"/>
                                          </p:stCondLst>
                                        </p:cTn>
                                        <p:tgtEl>
                                          <p:spTgt spid="13"/>
                                        </p:tgtEl>
                                        <p:attrNameLst>
                                          <p:attrName>style.visibility</p:attrName>
                                        </p:attrNameLst>
                                      </p:cBhvr>
                                      <p:to>
                                        <p:strVal val="hidden"/>
                                      </p:to>
                                    </p:set>
                                  </p:childTnLst>
                                </p:cTn>
                              </p:par>
                              <p:par>
                                <p:cTn id="37" presetID="9"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52400" y="1258888"/>
            <a:ext cx="88392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eaLnBrk="1" hangingPunct="1">
              <a:spcBef>
                <a:spcPct val="0"/>
              </a:spcBef>
              <a:buFontTx/>
              <a:buNone/>
            </a:pPr>
            <a:r>
              <a:rPr lang="en-US" altLang="en-US" sz="2400">
                <a:cs typeface="Arial" panose="020B0604020202020204" pitchFamily="34" charset="0"/>
              </a:rPr>
              <a:t>What are the propagation time and the transmission time for a 2.5-kbyte message (an e-mail) if the bandwidth of the network is 1 Gbps? Assume that the distance between the sender and the receiver is 12,000 km and that light travels at 2.4 × 108 m/s.</a:t>
            </a:r>
          </a:p>
        </p:txBody>
      </p:sp>
      <p:sp>
        <p:nvSpPr>
          <p:cNvPr id="24579" name="Rectangle 2"/>
          <p:cNvSpPr txBox="1">
            <a:spLocks noChangeArrowheads="1"/>
          </p:cNvSpPr>
          <p:nvPr/>
        </p:nvSpPr>
        <p:spPr bwMode="auto">
          <a:xfrm>
            <a:off x="252413" y="130175"/>
            <a:ext cx="84470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3600" b="1">
                <a:solidFill>
                  <a:schemeClr val="tx2"/>
                </a:solidFill>
                <a:latin typeface="Gill Sans MT" pitchFamily="34" charset="0"/>
                <a:cs typeface="Arial" panose="020B0604020202020204" pitchFamily="34" charset="0"/>
              </a:rPr>
              <a:t>Example</a:t>
            </a:r>
            <a:endParaRPr lang="en-US" altLang="en-US" sz="4000" b="1">
              <a:solidFill>
                <a:schemeClr val="tx2"/>
              </a:solidFill>
              <a:latin typeface="Gill Sans MT" pitchFamily="34" charset="0"/>
              <a:cs typeface="Arial" panose="020B0604020202020204" pitchFamily="34" charset="0"/>
            </a:endParaRPr>
          </a:p>
        </p:txBody>
      </p:sp>
      <p:pic>
        <p:nvPicPr>
          <p:cNvPr id="24580" name="Picture 16"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915988"/>
            <a:ext cx="73136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1"/>
          <p:cNvSpPr>
            <a:spLocks noChangeArrowheads="1"/>
          </p:cNvSpPr>
          <p:nvPr/>
        </p:nvSpPr>
        <p:spPr bwMode="auto">
          <a:xfrm>
            <a:off x="76200" y="5257800"/>
            <a:ext cx="85344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eaLnBrk="1" hangingPunct="1">
              <a:spcBef>
                <a:spcPct val="0"/>
              </a:spcBef>
              <a:buFontTx/>
              <a:buNone/>
            </a:pPr>
            <a:r>
              <a:rPr lang="en-US" altLang="en-US" sz="2000">
                <a:cs typeface="Arial" panose="020B0604020202020204" pitchFamily="34" charset="0"/>
              </a:rPr>
              <a:t>Note that in this case, because the message is short and the bandwidth is high, the dominant factor is the propagation time, not the transmission time. The transmission time can be ignored.</a:t>
            </a:r>
          </a:p>
        </p:txBody>
      </p:sp>
      <p:pic>
        <p:nvPicPr>
          <p:cNvPr id="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663" y="3048000"/>
            <a:ext cx="5462587" cy="164623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108"/>
          <p:cNvGrpSpPr>
            <a:grpSpLocks/>
          </p:cNvGrpSpPr>
          <p:nvPr/>
        </p:nvGrpSpPr>
        <p:grpSpPr bwMode="auto">
          <a:xfrm>
            <a:off x="3413125" y="4033838"/>
            <a:ext cx="1098550" cy="554037"/>
            <a:chOff x="7493876" y="2774731"/>
            <a:chExt cx="1481958" cy="894622"/>
          </a:xfrm>
        </p:grpSpPr>
        <p:sp>
          <p:nvSpPr>
            <p:cNvPr id="110" name="Freeform 109"/>
            <p:cNvSpPr/>
            <p:nvPr/>
          </p:nvSpPr>
          <p:spPr>
            <a:xfrm>
              <a:off x="7493876" y="3084900"/>
              <a:ext cx="1481958" cy="584453"/>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111" name="Oval 110"/>
            <p:cNvSpPr/>
            <p:nvPr/>
          </p:nvSpPr>
          <p:spPr>
            <a:xfrm>
              <a:off x="7493876" y="2774731"/>
              <a:ext cx="1481958" cy="579326"/>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5641" name="Group 111"/>
            <p:cNvGrpSpPr>
              <a:grpSpLocks/>
            </p:cNvGrpSpPr>
            <p:nvPr/>
          </p:nvGrpSpPr>
          <p:grpSpPr bwMode="auto">
            <a:xfrm>
              <a:off x="7713663" y="2848339"/>
              <a:ext cx="1042107" cy="425543"/>
              <a:chOff x="7786941" y="2884917"/>
              <a:chExt cx="897649" cy="353919"/>
            </a:xfrm>
          </p:grpSpPr>
          <p:sp>
            <p:nvSpPr>
              <p:cNvPr id="113" name="Freeform 112"/>
              <p:cNvSpPr/>
              <p:nvPr/>
            </p:nvSpPr>
            <p:spPr>
              <a:xfrm>
                <a:off x="7811606" y="2885524"/>
                <a:ext cx="848559" cy="198271"/>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14" name="Freeform 113"/>
              <p:cNvSpPr/>
              <p:nvPr/>
            </p:nvSpPr>
            <p:spPr>
              <a:xfrm>
                <a:off x="8366859" y="3053948"/>
                <a:ext cx="317287" cy="170555"/>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15" name="Freeform 114"/>
              <p:cNvSpPr/>
              <p:nvPr/>
            </p:nvSpPr>
            <p:spPr>
              <a:xfrm>
                <a:off x="7787625" y="3053948"/>
                <a:ext cx="311752" cy="17055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116" name="Freeform 115"/>
              <p:cNvSpPr/>
              <p:nvPr/>
            </p:nvSpPr>
            <p:spPr>
              <a:xfrm>
                <a:off x="7896462" y="2970801"/>
                <a:ext cx="675158" cy="268624"/>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25603" name="Title 1"/>
          <p:cNvSpPr>
            <a:spLocks noGrp="1" noChangeArrowheads="1"/>
          </p:cNvSpPr>
          <p:nvPr>
            <p:ph type="title"/>
          </p:nvPr>
        </p:nvSpPr>
        <p:spPr>
          <a:xfrm>
            <a:off x="619125" y="1076325"/>
            <a:ext cx="7886700" cy="671513"/>
          </a:xfrm>
        </p:spPr>
        <p:txBody>
          <a:bodyPr/>
          <a:lstStyle/>
          <a:p>
            <a:r>
              <a:rPr lang="en-US" altLang="en-US" sz="3300" smtClean="0"/>
              <a:t>Packet loss</a:t>
            </a:r>
          </a:p>
        </p:txBody>
      </p:sp>
      <p:sp>
        <p:nvSpPr>
          <p:cNvPr id="25604" name="Rectangle 3"/>
          <p:cNvSpPr txBox="1">
            <a:spLocks noChangeArrowheads="1"/>
          </p:cNvSpPr>
          <p:nvPr/>
        </p:nvSpPr>
        <p:spPr bwMode="auto">
          <a:xfrm>
            <a:off x="731838" y="1900238"/>
            <a:ext cx="76612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queue (aka buffer) preceding link in buffer has finite capacity</a:t>
            </a:r>
          </a:p>
        </p:txBody>
      </p:sp>
      <p:sp>
        <p:nvSpPr>
          <p:cNvPr id="79" name="Rectangle 7"/>
          <p:cNvSpPr>
            <a:spLocks noChangeArrowheads="1"/>
          </p:cNvSpPr>
          <p:nvPr/>
        </p:nvSpPr>
        <p:spPr bwMode="auto">
          <a:xfrm>
            <a:off x="3479800" y="4221163"/>
            <a:ext cx="898525" cy="198437"/>
          </a:xfrm>
          <a:prstGeom prst="rect">
            <a:avLst/>
          </a:prstGeom>
          <a:solidFill>
            <a:srgbClr val="CCCCFF"/>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800" kern="0" dirty="0">
              <a:solidFill>
                <a:srgbClr val="CC0000"/>
              </a:solidFill>
              <a:cs typeface="Arial"/>
            </a:endParaRPr>
          </a:p>
        </p:txBody>
      </p:sp>
      <p:sp>
        <p:nvSpPr>
          <p:cNvPr id="80" name="Line 23"/>
          <p:cNvSpPr>
            <a:spLocks noChangeShapeType="1"/>
          </p:cNvSpPr>
          <p:nvPr/>
        </p:nvSpPr>
        <p:spPr bwMode="auto">
          <a:xfrm>
            <a:off x="2960688" y="4046538"/>
            <a:ext cx="523875" cy="250825"/>
          </a:xfrm>
          <a:prstGeom prst="line">
            <a:avLst/>
          </a:prstGeom>
          <a:noFill/>
          <a:ln w="19050">
            <a:solidFill>
              <a:srgbClr val="000000"/>
            </a:solidFill>
            <a:round/>
            <a:headEnd/>
            <a:tailEnd/>
          </a:ln>
        </p:spPr>
        <p:txBody>
          <a:bodyPr wrap="none" anchor="ct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81" name="Line 24"/>
          <p:cNvSpPr>
            <a:spLocks noChangeShapeType="1"/>
          </p:cNvSpPr>
          <p:nvPr/>
        </p:nvSpPr>
        <p:spPr bwMode="auto">
          <a:xfrm flipV="1">
            <a:off x="3176588" y="4341813"/>
            <a:ext cx="307975" cy="393700"/>
          </a:xfrm>
          <a:prstGeom prst="line">
            <a:avLst/>
          </a:prstGeom>
          <a:noFill/>
          <a:ln w="19050">
            <a:solidFill>
              <a:srgbClr val="000000"/>
            </a:solidFill>
            <a:round/>
            <a:headEnd/>
            <a:tailEnd/>
          </a:ln>
        </p:spPr>
        <p:txBody>
          <a:bodyPr wrap="none" anchor="ct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82" name="Line 25"/>
          <p:cNvSpPr>
            <a:spLocks noChangeShapeType="1"/>
          </p:cNvSpPr>
          <p:nvPr/>
        </p:nvSpPr>
        <p:spPr bwMode="auto">
          <a:xfrm>
            <a:off x="4375150" y="4344988"/>
            <a:ext cx="1449388" cy="6350"/>
          </a:xfrm>
          <a:prstGeom prst="line">
            <a:avLst/>
          </a:prstGeom>
          <a:noFill/>
          <a:ln w="19050">
            <a:solidFill>
              <a:srgbClr val="000000"/>
            </a:solidFill>
            <a:round/>
            <a:headEnd/>
            <a:tailEnd type="triangle" w="med" len="med"/>
          </a:ln>
        </p:spPr>
        <p:txBody>
          <a:bodyPr wrap="none" anchor="ct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83" name="Rectangle 28"/>
          <p:cNvSpPr>
            <a:spLocks noChangeArrowheads="1"/>
          </p:cNvSpPr>
          <p:nvPr/>
        </p:nvSpPr>
        <p:spPr bwMode="auto">
          <a:xfrm>
            <a:off x="5064125" y="4194175"/>
            <a:ext cx="111125" cy="150813"/>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84" name="Rectangle 29"/>
          <p:cNvSpPr>
            <a:spLocks noChangeArrowheads="1"/>
          </p:cNvSpPr>
          <p:nvPr/>
        </p:nvSpPr>
        <p:spPr bwMode="auto">
          <a:xfrm>
            <a:off x="4124325" y="4248150"/>
            <a:ext cx="111125" cy="1492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85" name="Rectangle 30"/>
          <p:cNvSpPr>
            <a:spLocks noChangeArrowheads="1"/>
          </p:cNvSpPr>
          <p:nvPr/>
        </p:nvSpPr>
        <p:spPr bwMode="auto">
          <a:xfrm>
            <a:off x="4246563" y="4248150"/>
            <a:ext cx="109537" cy="1492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25612" name="Text Box 35"/>
          <p:cNvSpPr txBox="1">
            <a:spLocks noChangeArrowheads="1"/>
          </p:cNvSpPr>
          <p:nvPr/>
        </p:nvSpPr>
        <p:spPr bwMode="auto">
          <a:xfrm>
            <a:off x="2222500" y="3692525"/>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800">
                <a:solidFill>
                  <a:srgbClr val="006600"/>
                </a:solidFill>
                <a:latin typeface="Calibri" panose="020F0502020204030204" pitchFamily="34" charset="0"/>
                <a:cs typeface="Arial" panose="020B0604020202020204" pitchFamily="34" charset="0"/>
              </a:rPr>
              <a:t>A</a:t>
            </a:r>
          </a:p>
        </p:txBody>
      </p:sp>
      <p:sp>
        <p:nvSpPr>
          <p:cNvPr id="25613" name="Text Box 36"/>
          <p:cNvSpPr txBox="1">
            <a:spLocks noChangeArrowheads="1"/>
          </p:cNvSpPr>
          <p:nvPr/>
        </p:nvSpPr>
        <p:spPr bwMode="auto">
          <a:xfrm>
            <a:off x="2463800" y="4432300"/>
            <a:ext cx="309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800">
                <a:solidFill>
                  <a:srgbClr val="000099"/>
                </a:solidFill>
                <a:latin typeface="Calibri" panose="020F0502020204030204" pitchFamily="34" charset="0"/>
                <a:cs typeface="Arial" panose="020B0604020202020204" pitchFamily="34" charset="0"/>
              </a:rPr>
              <a:t>B</a:t>
            </a:r>
          </a:p>
        </p:txBody>
      </p:sp>
      <p:sp>
        <p:nvSpPr>
          <p:cNvPr id="25614" name="Text Box 40"/>
          <p:cNvSpPr txBox="1">
            <a:spLocks noChangeArrowheads="1"/>
          </p:cNvSpPr>
          <p:nvPr/>
        </p:nvSpPr>
        <p:spPr bwMode="auto">
          <a:xfrm>
            <a:off x="4733925" y="3625850"/>
            <a:ext cx="21336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nSpc>
                <a:spcPct val="80000"/>
              </a:lnSpc>
              <a:spcBef>
                <a:spcPct val="0"/>
              </a:spcBef>
              <a:buFontTx/>
              <a:buNone/>
            </a:pPr>
            <a:r>
              <a:rPr lang="en-US" altLang="en-US" sz="1500">
                <a:solidFill>
                  <a:srgbClr val="CC0000"/>
                </a:solidFill>
                <a:latin typeface="Calibri" panose="020F0502020204030204" pitchFamily="34" charset="0"/>
                <a:cs typeface="Calibri" panose="020F0502020204030204" pitchFamily="34" charset="0"/>
              </a:rPr>
              <a:t>packet being transmitted</a:t>
            </a:r>
          </a:p>
        </p:txBody>
      </p:sp>
      <p:sp>
        <p:nvSpPr>
          <p:cNvPr id="25615" name="Line 41"/>
          <p:cNvSpPr>
            <a:spLocks noChangeShapeType="1"/>
          </p:cNvSpPr>
          <p:nvPr/>
        </p:nvSpPr>
        <p:spPr bwMode="auto">
          <a:xfrm rot="10800000" flipV="1">
            <a:off x="4406900" y="3844925"/>
            <a:ext cx="511175" cy="423863"/>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2" name="Rectangle 56"/>
          <p:cNvSpPr>
            <a:spLocks noChangeArrowheads="1"/>
          </p:cNvSpPr>
          <p:nvPr/>
        </p:nvSpPr>
        <p:spPr bwMode="auto">
          <a:xfrm>
            <a:off x="4002088" y="4246563"/>
            <a:ext cx="111125" cy="15081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93" name="Rectangle 57"/>
          <p:cNvSpPr>
            <a:spLocks noChangeArrowheads="1"/>
          </p:cNvSpPr>
          <p:nvPr/>
        </p:nvSpPr>
        <p:spPr bwMode="auto">
          <a:xfrm>
            <a:off x="3879850" y="4249738"/>
            <a:ext cx="111125" cy="1492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94" name="Rectangle 58"/>
          <p:cNvSpPr>
            <a:spLocks noChangeArrowheads="1"/>
          </p:cNvSpPr>
          <p:nvPr/>
        </p:nvSpPr>
        <p:spPr bwMode="auto">
          <a:xfrm>
            <a:off x="3756025" y="4246563"/>
            <a:ext cx="111125" cy="15081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95" name="Rectangle 59"/>
          <p:cNvSpPr>
            <a:spLocks noChangeArrowheads="1"/>
          </p:cNvSpPr>
          <p:nvPr/>
        </p:nvSpPr>
        <p:spPr bwMode="auto">
          <a:xfrm>
            <a:off x="3633788" y="4246563"/>
            <a:ext cx="111125" cy="15081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96" name="Rectangle 61"/>
          <p:cNvSpPr>
            <a:spLocks noChangeArrowheads="1"/>
          </p:cNvSpPr>
          <p:nvPr/>
        </p:nvSpPr>
        <p:spPr bwMode="auto">
          <a:xfrm>
            <a:off x="3509963" y="4248150"/>
            <a:ext cx="111125" cy="1492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97" name="Rectangle 62"/>
          <p:cNvSpPr>
            <a:spLocks noChangeArrowheads="1"/>
          </p:cNvSpPr>
          <p:nvPr/>
        </p:nvSpPr>
        <p:spPr bwMode="auto">
          <a:xfrm>
            <a:off x="3489325" y="4230688"/>
            <a:ext cx="877888" cy="180975"/>
          </a:xfrm>
          <a:prstGeom prst="rect">
            <a:avLst/>
          </a:prstGeom>
          <a:no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25622" name="Text Box 65"/>
          <p:cNvSpPr txBox="1">
            <a:spLocks noChangeArrowheads="1"/>
          </p:cNvSpPr>
          <p:nvPr/>
        </p:nvSpPr>
        <p:spPr bwMode="auto">
          <a:xfrm>
            <a:off x="3354388" y="3489325"/>
            <a:ext cx="125888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lnSpc>
                <a:spcPct val="80000"/>
              </a:lnSpc>
              <a:spcBef>
                <a:spcPct val="0"/>
              </a:spcBef>
              <a:buFontTx/>
              <a:buNone/>
            </a:pPr>
            <a:r>
              <a:rPr lang="en-US" altLang="en-US" sz="1500">
                <a:solidFill>
                  <a:srgbClr val="CC0000"/>
                </a:solidFill>
                <a:latin typeface="Calibri" panose="020F0502020204030204" pitchFamily="34" charset="0"/>
                <a:cs typeface="Calibri" panose="020F0502020204030204" pitchFamily="34" charset="0"/>
              </a:rPr>
              <a:t>buffer </a:t>
            </a:r>
          </a:p>
          <a:p>
            <a:pPr algn="ctr">
              <a:lnSpc>
                <a:spcPct val="80000"/>
              </a:lnSpc>
              <a:spcBef>
                <a:spcPct val="0"/>
              </a:spcBef>
              <a:buFontTx/>
              <a:buNone/>
            </a:pPr>
            <a:r>
              <a:rPr lang="en-US" altLang="en-US" sz="1500">
                <a:solidFill>
                  <a:srgbClr val="CC0000"/>
                </a:solidFill>
                <a:latin typeface="Calibri" panose="020F0502020204030204" pitchFamily="34" charset="0"/>
                <a:cs typeface="Calibri" panose="020F0502020204030204" pitchFamily="34" charset="0"/>
              </a:rPr>
              <a:t>(waiting area)</a:t>
            </a:r>
          </a:p>
        </p:txBody>
      </p:sp>
      <p:sp>
        <p:nvSpPr>
          <p:cNvPr id="25623" name="Line 66"/>
          <p:cNvSpPr>
            <a:spLocks noChangeShapeType="1"/>
          </p:cNvSpPr>
          <p:nvPr/>
        </p:nvSpPr>
        <p:spPr bwMode="auto">
          <a:xfrm>
            <a:off x="3589338" y="3944938"/>
            <a:ext cx="0" cy="25082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25624" name="Group 48"/>
          <p:cNvGrpSpPr>
            <a:grpSpLocks/>
          </p:cNvGrpSpPr>
          <p:nvPr/>
        </p:nvGrpSpPr>
        <p:grpSpPr bwMode="auto">
          <a:xfrm>
            <a:off x="2354263" y="3708400"/>
            <a:ext cx="615950" cy="517525"/>
            <a:chOff x="-44" y="1473"/>
            <a:chExt cx="981" cy="1105"/>
          </a:xfrm>
        </p:grpSpPr>
        <p:pic>
          <p:nvPicPr>
            <p:cNvPr id="25637" name="Picture 4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Freeform 50"/>
            <p:cNvSpPr>
              <a:spLocks/>
            </p:cNvSpPr>
            <p:nvPr/>
          </p:nvSpPr>
          <p:spPr bwMode="auto">
            <a:xfrm flipH="1">
              <a:off x="373" y="1578"/>
              <a:ext cx="478" cy="508"/>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1800" kern="0" dirty="0">
                <a:solidFill>
                  <a:srgbClr val="000000"/>
                </a:solidFill>
                <a:ea typeface="ＭＳ Ｐゴシック" panose="020B0600070205080204" pitchFamily="34" charset="-128"/>
                <a:cs typeface="Arial"/>
              </a:endParaRPr>
            </a:p>
          </p:txBody>
        </p:sp>
      </p:grpSp>
      <p:grpSp>
        <p:nvGrpSpPr>
          <p:cNvPr id="25625" name="Group 51"/>
          <p:cNvGrpSpPr>
            <a:grpSpLocks/>
          </p:cNvGrpSpPr>
          <p:nvPr/>
        </p:nvGrpSpPr>
        <p:grpSpPr bwMode="auto">
          <a:xfrm>
            <a:off x="2601913" y="4451350"/>
            <a:ext cx="615950" cy="517525"/>
            <a:chOff x="-44" y="1473"/>
            <a:chExt cx="981" cy="1105"/>
          </a:xfrm>
        </p:grpSpPr>
        <p:pic>
          <p:nvPicPr>
            <p:cNvPr id="25635" name="Picture 52"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53"/>
            <p:cNvSpPr>
              <a:spLocks/>
            </p:cNvSpPr>
            <p:nvPr/>
          </p:nvSpPr>
          <p:spPr bwMode="auto">
            <a:xfrm flipH="1">
              <a:off x="373" y="1578"/>
              <a:ext cx="478" cy="508"/>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1800" kern="0" dirty="0">
                <a:solidFill>
                  <a:srgbClr val="000000"/>
                </a:solidFill>
                <a:ea typeface="ＭＳ Ｐゴシック" panose="020B0600070205080204" pitchFamily="34" charset="-128"/>
                <a:cs typeface="Arial"/>
              </a:endParaRPr>
            </a:p>
          </p:txBody>
        </p:sp>
      </p:grpSp>
      <p:sp>
        <p:nvSpPr>
          <p:cNvPr id="108" name="TextBox 1"/>
          <p:cNvSpPr txBox="1">
            <a:spLocks noChangeArrowheads="1"/>
          </p:cNvSpPr>
          <p:nvPr/>
        </p:nvSpPr>
        <p:spPr bwMode="auto">
          <a:xfrm>
            <a:off x="938213" y="5443538"/>
            <a:ext cx="7224712" cy="300037"/>
          </a:xfrm>
          <a:prstGeom prst="rect">
            <a:avLst/>
          </a:prstGeom>
          <a:noFill/>
          <a:ln>
            <a:noFill/>
          </a:ln>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srgbClr val="000000"/>
                </a:solidFill>
                <a:latin typeface="Calibri" panose="020F0502020204030204"/>
                <a:cs typeface="Arial"/>
              </a:rPr>
              <a:t>* Check out the Java applet for an interactive animation (on publisher’s website) of queuing and loss</a:t>
            </a:r>
          </a:p>
        </p:txBody>
      </p:sp>
      <p:grpSp>
        <p:nvGrpSpPr>
          <p:cNvPr id="4" name="Group 3"/>
          <p:cNvGrpSpPr>
            <a:grpSpLocks/>
          </p:cNvGrpSpPr>
          <p:nvPr/>
        </p:nvGrpSpPr>
        <p:grpSpPr bwMode="auto">
          <a:xfrm>
            <a:off x="728663" y="2257425"/>
            <a:ext cx="7661275" cy="2927350"/>
            <a:chOff x="971989" y="1867073"/>
            <a:chExt cx="10214897" cy="3902375"/>
          </a:xfrm>
        </p:grpSpPr>
        <p:grpSp>
          <p:nvGrpSpPr>
            <p:cNvPr id="25629" name="Group 2"/>
            <p:cNvGrpSpPr>
              <a:grpSpLocks/>
            </p:cNvGrpSpPr>
            <p:nvPr/>
          </p:nvGrpSpPr>
          <p:grpSpPr bwMode="auto">
            <a:xfrm>
              <a:off x="4381500" y="4714353"/>
              <a:ext cx="2930356" cy="1055095"/>
              <a:chOff x="4381500" y="4714353"/>
              <a:chExt cx="2930356" cy="1055095"/>
            </a:xfrm>
          </p:grpSpPr>
          <p:sp>
            <p:nvSpPr>
              <p:cNvPr id="86" name="Rectangle 31"/>
              <p:cNvSpPr>
                <a:spLocks noChangeArrowheads="1"/>
              </p:cNvSpPr>
              <p:nvPr/>
            </p:nvSpPr>
            <p:spPr bwMode="auto">
              <a:xfrm>
                <a:off x="4411526" y="4867923"/>
                <a:ext cx="148165" cy="19892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CC0000"/>
                  </a:solidFill>
                  <a:cs typeface="Arial"/>
                </a:endParaRPr>
              </a:p>
            </p:txBody>
          </p:sp>
          <p:sp>
            <p:nvSpPr>
              <p:cNvPr id="87" name="Line 33"/>
              <p:cNvSpPr>
                <a:spLocks noChangeShapeType="1"/>
              </p:cNvSpPr>
              <p:nvPr/>
            </p:nvSpPr>
            <p:spPr bwMode="auto">
              <a:xfrm flipV="1">
                <a:off x="4381893" y="4713437"/>
                <a:ext cx="105832" cy="146021"/>
              </a:xfrm>
              <a:prstGeom prst="line">
                <a:avLst/>
              </a:prstGeom>
              <a:noFill/>
              <a:ln w="9525">
                <a:solidFill>
                  <a:srgbClr val="000000"/>
                </a:solidFill>
                <a:round/>
                <a:headEnd/>
                <a:tailEnd type="triangle" w="med" len="med"/>
              </a:ln>
            </p:spPr>
            <p:txBody>
              <a:bodyPr wrap="none" anchor="ct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5633" name="Line 63"/>
              <p:cNvSpPr>
                <a:spLocks noChangeShapeType="1"/>
              </p:cNvSpPr>
              <p:nvPr/>
            </p:nvSpPr>
            <p:spPr bwMode="auto">
              <a:xfrm rot="10800000">
                <a:off x="4638675" y="4988990"/>
                <a:ext cx="687388" cy="331788"/>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25634" name="Text Box 64"/>
              <p:cNvSpPr txBox="1">
                <a:spLocks noChangeArrowheads="1"/>
              </p:cNvSpPr>
              <p:nvPr/>
            </p:nvSpPr>
            <p:spPr bwMode="auto">
              <a:xfrm>
                <a:off x="5254625" y="5147740"/>
                <a:ext cx="2057231" cy="62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nSpc>
                    <a:spcPct val="80000"/>
                  </a:lnSpc>
                  <a:spcBef>
                    <a:spcPct val="0"/>
                  </a:spcBef>
                  <a:buFontTx/>
                  <a:buNone/>
                </a:pPr>
                <a:r>
                  <a:rPr lang="en-US" altLang="en-US" sz="1500">
                    <a:solidFill>
                      <a:srgbClr val="CC0000"/>
                    </a:solidFill>
                    <a:latin typeface="Calibri" panose="020F0502020204030204" pitchFamily="34" charset="0"/>
                    <a:cs typeface="Calibri" panose="020F0502020204030204" pitchFamily="34" charset="0"/>
                  </a:rPr>
                  <a:t>packet arriving to</a:t>
                </a:r>
              </a:p>
              <a:p>
                <a:pPr>
                  <a:lnSpc>
                    <a:spcPct val="80000"/>
                  </a:lnSpc>
                  <a:spcBef>
                    <a:spcPct val="0"/>
                  </a:spcBef>
                  <a:buFontTx/>
                  <a:buNone/>
                </a:pPr>
                <a:r>
                  <a:rPr lang="en-US" altLang="en-US" sz="1500">
                    <a:solidFill>
                      <a:srgbClr val="CC0000"/>
                    </a:solidFill>
                    <a:latin typeface="Calibri" panose="020F0502020204030204" pitchFamily="34" charset="0"/>
                    <a:cs typeface="Calibri" panose="020F0502020204030204" pitchFamily="34" charset="0"/>
                  </a:rPr>
                  <a:t>full buffer is </a:t>
                </a:r>
                <a:r>
                  <a:rPr lang="en-US" altLang="en-US" sz="1500" i="1">
                    <a:solidFill>
                      <a:srgbClr val="CC0000"/>
                    </a:solidFill>
                    <a:latin typeface="Calibri" panose="020F0502020204030204" pitchFamily="34" charset="0"/>
                    <a:cs typeface="Calibri" panose="020F0502020204030204" pitchFamily="34" charset="0"/>
                  </a:rPr>
                  <a:t>lost</a:t>
                </a:r>
              </a:p>
            </p:txBody>
          </p:sp>
        </p:grpSp>
        <p:sp>
          <p:nvSpPr>
            <p:cNvPr id="25630" name="Rectangle 3"/>
            <p:cNvSpPr txBox="1">
              <a:spLocks noChangeArrowheads="1"/>
            </p:cNvSpPr>
            <p:nvPr/>
          </p:nvSpPr>
          <p:spPr bwMode="auto">
            <a:xfrm>
              <a:off x="971989" y="1867073"/>
              <a:ext cx="10214897" cy="211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packet arriving to full queue dropped (aka lost)</a:t>
              </a:r>
            </a:p>
            <a:p>
              <a:pPr eaLnBrk="1" hangingPunct="1">
                <a:lnSpc>
                  <a:spcPct val="90000"/>
                </a:lnSpc>
                <a:spcBef>
                  <a:spcPts val="750"/>
                </a:spcBef>
                <a:buClr>
                  <a:srgbClr val="0000A3"/>
                </a:buClr>
                <a:buFont typeface="Wingdings" panose="05000000000000000000" pitchFamily="2" charset="2"/>
                <a:buChar char="§"/>
              </a:pPr>
              <a:r>
                <a:rPr lang="en-US" altLang="en-US" sz="2100">
                  <a:solidFill>
                    <a:srgbClr val="000000"/>
                  </a:solidFill>
                  <a:latin typeface="Calibri" panose="020F0502020204030204" pitchFamily="34" charset="0"/>
                </a:rPr>
                <a:t>lost packet may be retransmitted by previous node, by source end system, or not at all</a:t>
              </a:r>
            </a:p>
          </p:txBody>
        </p:sp>
      </p:grpSp>
      <p:sp>
        <p:nvSpPr>
          <p:cNvPr id="25628"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6945FA1A-096E-4E4B-BC98-C611EA7FA759}" type="slidenum">
              <a:rPr lang="en-US" altLang="en-US" sz="1100">
                <a:solidFill>
                  <a:srgbClr val="7F7F7F"/>
                </a:solidFill>
              </a:rPr>
              <a:pPr>
                <a:spcBef>
                  <a:spcPct val="0"/>
                </a:spcBef>
                <a:buFontTx/>
                <a:buNone/>
              </a:pPr>
              <a:t>12</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dissolve">
                                      <p:cBhvr>
                                        <p:cTn id="10"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Line 321"/>
          <p:cNvSpPr>
            <a:spLocks noChangeShapeType="1"/>
          </p:cNvSpPr>
          <p:nvPr/>
        </p:nvSpPr>
        <p:spPr bwMode="auto">
          <a:xfrm>
            <a:off x="2254250" y="4217988"/>
            <a:ext cx="4737100" cy="0"/>
          </a:xfrm>
          <a:prstGeom prst="line">
            <a:avLst/>
          </a:prstGeom>
          <a:noFill/>
          <a:ln w="28575">
            <a:solidFill>
              <a:srgbClr val="000000"/>
            </a:solidFill>
            <a:round/>
            <a:headEnd/>
            <a:tailEnd/>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grpSp>
        <p:nvGrpSpPr>
          <p:cNvPr id="27651" name="Group 306"/>
          <p:cNvGrpSpPr>
            <a:grpSpLocks/>
          </p:cNvGrpSpPr>
          <p:nvPr/>
        </p:nvGrpSpPr>
        <p:grpSpPr bwMode="auto">
          <a:xfrm>
            <a:off x="3413125" y="3935413"/>
            <a:ext cx="1098550" cy="552450"/>
            <a:chOff x="7493876" y="2774731"/>
            <a:chExt cx="1481958" cy="894622"/>
          </a:xfrm>
        </p:grpSpPr>
        <p:sp>
          <p:nvSpPr>
            <p:cNvPr id="308" name="Freeform 307"/>
            <p:cNvSpPr/>
            <p:nvPr/>
          </p:nvSpPr>
          <p:spPr>
            <a:xfrm>
              <a:off x="7493876" y="3083221"/>
              <a:ext cx="1481958" cy="586132"/>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309" name="Oval 308"/>
            <p:cNvSpPr/>
            <p:nvPr/>
          </p:nvSpPr>
          <p:spPr>
            <a:xfrm>
              <a:off x="7493876" y="2774731"/>
              <a:ext cx="1481958" cy="57841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27718" name="Group 309"/>
            <p:cNvGrpSpPr>
              <a:grpSpLocks/>
            </p:cNvGrpSpPr>
            <p:nvPr/>
          </p:nvGrpSpPr>
          <p:grpSpPr bwMode="auto">
            <a:xfrm>
              <a:off x="7713663" y="2848339"/>
              <a:ext cx="1042107" cy="425543"/>
              <a:chOff x="7786941" y="2884917"/>
              <a:chExt cx="897649" cy="353919"/>
            </a:xfrm>
          </p:grpSpPr>
          <p:sp>
            <p:nvSpPr>
              <p:cNvPr id="311" name="Freeform 310"/>
              <p:cNvSpPr/>
              <p:nvPr/>
            </p:nvSpPr>
            <p:spPr>
              <a:xfrm>
                <a:off x="7811606" y="2885701"/>
                <a:ext cx="848559" cy="196702"/>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2" name="Freeform 311"/>
              <p:cNvSpPr/>
              <p:nvPr/>
            </p:nvSpPr>
            <p:spPr>
              <a:xfrm>
                <a:off x="8366859" y="3054608"/>
                <a:ext cx="317287" cy="171045"/>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3" name="Freeform 312"/>
              <p:cNvSpPr/>
              <p:nvPr/>
            </p:nvSpPr>
            <p:spPr>
              <a:xfrm>
                <a:off x="7787625" y="3054608"/>
                <a:ext cx="311752" cy="168906"/>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314" name="Freeform 313"/>
              <p:cNvSpPr/>
              <p:nvPr/>
            </p:nvSpPr>
            <p:spPr>
              <a:xfrm>
                <a:off x="7896462" y="2971223"/>
                <a:ext cx="675158" cy="267258"/>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27652" name="Title 1"/>
          <p:cNvSpPr>
            <a:spLocks noGrp="1" noChangeArrowheads="1"/>
          </p:cNvSpPr>
          <p:nvPr>
            <p:ph type="title"/>
          </p:nvPr>
        </p:nvSpPr>
        <p:spPr>
          <a:xfrm>
            <a:off x="619125" y="1076325"/>
            <a:ext cx="7886700" cy="671513"/>
          </a:xfrm>
        </p:spPr>
        <p:txBody>
          <a:bodyPr/>
          <a:lstStyle/>
          <a:p>
            <a:r>
              <a:rPr lang="en-US" altLang="en-US" sz="3300" smtClean="0"/>
              <a:t>Throughput</a:t>
            </a:r>
          </a:p>
        </p:txBody>
      </p:sp>
      <p:sp>
        <p:nvSpPr>
          <p:cNvPr id="27653" name="Rectangle 3"/>
          <p:cNvSpPr txBox="1">
            <a:spLocks noChangeArrowheads="1"/>
          </p:cNvSpPr>
          <p:nvPr/>
        </p:nvSpPr>
        <p:spPr bwMode="auto">
          <a:xfrm>
            <a:off x="741363" y="1876425"/>
            <a:ext cx="8231187"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511175" indent="-1682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Char char="§"/>
            </a:pPr>
            <a:r>
              <a:rPr lang="en-US" altLang="en-US" sz="2100" i="1">
                <a:solidFill>
                  <a:srgbClr val="CC0000"/>
                </a:solidFill>
                <a:latin typeface="Calibri" panose="020F0502020204030204" pitchFamily="34" charset="0"/>
              </a:rPr>
              <a:t>throughput:</a:t>
            </a:r>
            <a:r>
              <a:rPr lang="en-US" altLang="en-US" sz="2100">
                <a:solidFill>
                  <a:srgbClr val="000000"/>
                </a:solidFill>
                <a:latin typeface="Calibri" panose="020F0502020204030204" pitchFamily="34" charset="0"/>
              </a:rPr>
              <a:t> rate (bits/time unit) at which bits are being sent from sender to receiver</a:t>
            </a:r>
          </a:p>
          <a:p>
            <a:pPr lvl="1" eaLnBrk="1" hangingPunct="1">
              <a:lnSpc>
                <a:spcPct val="90000"/>
              </a:lnSpc>
              <a:spcBef>
                <a:spcPts val="375"/>
              </a:spcBef>
              <a:buClr>
                <a:srgbClr val="0000A8"/>
              </a:buClr>
              <a:buFont typeface="Arial" panose="020B0604020202020204" pitchFamily="34" charset="0"/>
              <a:buChar char="•"/>
            </a:pPr>
            <a:r>
              <a:rPr lang="en-US" altLang="en-US" sz="2100" i="1">
                <a:solidFill>
                  <a:srgbClr val="CC0000"/>
                </a:solidFill>
                <a:latin typeface="Calibri" panose="020F0502020204030204" pitchFamily="34" charset="0"/>
                <a:cs typeface="Arial" panose="020B0604020202020204" pitchFamily="34" charset="0"/>
              </a:rPr>
              <a:t>instantaneous:</a:t>
            </a:r>
            <a:r>
              <a:rPr lang="en-US" altLang="en-US" sz="2100">
                <a:solidFill>
                  <a:srgbClr val="000000"/>
                </a:solidFill>
                <a:latin typeface="Calibri" panose="020F0502020204030204" pitchFamily="34" charset="0"/>
                <a:cs typeface="Arial" panose="020B0604020202020204" pitchFamily="34" charset="0"/>
              </a:rPr>
              <a:t> rate at given point in time</a:t>
            </a:r>
          </a:p>
          <a:p>
            <a:pPr lvl="1" eaLnBrk="1" hangingPunct="1">
              <a:lnSpc>
                <a:spcPct val="90000"/>
              </a:lnSpc>
              <a:spcBef>
                <a:spcPts val="375"/>
              </a:spcBef>
              <a:buClr>
                <a:srgbClr val="0000A8"/>
              </a:buClr>
              <a:buFont typeface="Arial" panose="020B0604020202020204" pitchFamily="34" charset="0"/>
              <a:buChar char="•"/>
            </a:pPr>
            <a:r>
              <a:rPr lang="en-US" altLang="en-US" sz="2100" i="1">
                <a:solidFill>
                  <a:srgbClr val="CC0000"/>
                </a:solidFill>
                <a:latin typeface="Calibri" panose="020F0502020204030204" pitchFamily="34" charset="0"/>
                <a:cs typeface="Arial" panose="020B0604020202020204" pitchFamily="34" charset="0"/>
              </a:rPr>
              <a:t>average:</a:t>
            </a:r>
            <a:r>
              <a:rPr lang="en-US" altLang="en-US" sz="2100">
                <a:solidFill>
                  <a:srgbClr val="000000"/>
                </a:solidFill>
                <a:latin typeface="Calibri" panose="020F0502020204030204" pitchFamily="34" charset="0"/>
                <a:cs typeface="Arial" panose="020B0604020202020204" pitchFamily="34" charset="0"/>
              </a:rPr>
              <a:t> rate over longer period of time</a:t>
            </a:r>
          </a:p>
        </p:txBody>
      </p:sp>
      <p:sp>
        <p:nvSpPr>
          <p:cNvPr id="232" name="AutoShape 327"/>
          <p:cNvSpPr>
            <a:spLocks noChangeArrowheads="1"/>
          </p:cNvSpPr>
          <p:nvPr/>
        </p:nvSpPr>
        <p:spPr bwMode="auto">
          <a:xfrm>
            <a:off x="1484313" y="3568700"/>
            <a:ext cx="376237" cy="434975"/>
          </a:xfrm>
          <a:prstGeom prst="can">
            <a:avLst>
              <a:gd name="adj" fmla="val 23491"/>
            </a:avLst>
          </a:prstGeom>
          <a:gradFill rotWithShape="1">
            <a:gsLst>
              <a:gs pos="0">
                <a:srgbClr val="000099"/>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Times New Roman" panose="02020603050405020304" pitchFamily="18" charset="0"/>
              <a:cs typeface="Arial"/>
            </a:endParaRPr>
          </a:p>
        </p:txBody>
      </p:sp>
      <p:grpSp>
        <p:nvGrpSpPr>
          <p:cNvPr id="27655" name="Group 64"/>
          <p:cNvGrpSpPr>
            <a:grpSpLocks/>
          </p:cNvGrpSpPr>
          <p:nvPr/>
        </p:nvGrpSpPr>
        <p:grpSpPr bwMode="auto">
          <a:xfrm>
            <a:off x="1903413" y="3873500"/>
            <a:ext cx="265112" cy="657225"/>
            <a:chOff x="4140" y="429"/>
            <a:chExt cx="1425" cy="2396"/>
          </a:xfrm>
        </p:grpSpPr>
        <p:sp>
          <p:nvSpPr>
            <p:cNvPr id="234" name="Freeform 65"/>
            <p:cNvSpPr>
              <a:spLocks/>
            </p:cNvSpPr>
            <p:nvPr/>
          </p:nvSpPr>
          <p:spPr bwMode="auto">
            <a:xfrm>
              <a:off x="5266" y="435"/>
              <a:ext cx="282"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35" name="Rectangle 66"/>
            <p:cNvSpPr>
              <a:spLocks noChangeArrowheads="1"/>
            </p:cNvSpPr>
            <p:nvPr/>
          </p:nvSpPr>
          <p:spPr bwMode="auto">
            <a:xfrm>
              <a:off x="4208" y="429"/>
              <a:ext cx="1041" cy="2280"/>
            </a:xfrm>
            <a:prstGeom prst="rect">
              <a:avLst/>
            </a:prstGeom>
            <a:gradFill rotWithShape="1">
              <a:gsLst>
                <a:gs pos="0">
                  <a:srgbClr val="292929"/>
                </a:gs>
                <a:gs pos="100000">
                  <a:srgbClr val="808080"/>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36" name="Freeform 67"/>
            <p:cNvSpPr>
              <a:spLocks/>
            </p:cNvSpPr>
            <p:nvPr/>
          </p:nvSpPr>
          <p:spPr bwMode="auto">
            <a:xfrm>
              <a:off x="5318" y="568"/>
              <a:ext cx="171" cy="2118"/>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37" name="Freeform 68"/>
            <p:cNvSpPr>
              <a:spLocks/>
            </p:cNvSpPr>
            <p:nvPr/>
          </p:nvSpPr>
          <p:spPr bwMode="auto">
            <a:xfrm>
              <a:off x="5283" y="1639"/>
              <a:ext cx="265" cy="191"/>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38" name="Rectangle 69"/>
            <p:cNvSpPr>
              <a:spLocks noChangeArrowheads="1"/>
            </p:cNvSpPr>
            <p:nvPr/>
          </p:nvSpPr>
          <p:spPr bwMode="auto">
            <a:xfrm>
              <a:off x="4208" y="695"/>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nvGrpSpPr>
            <p:cNvPr id="27689" name="Group 70"/>
            <p:cNvGrpSpPr>
              <a:grpSpLocks/>
            </p:cNvGrpSpPr>
            <p:nvPr/>
          </p:nvGrpSpPr>
          <p:grpSpPr bwMode="auto">
            <a:xfrm>
              <a:off x="4749" y="668"/>
              <a:ext cx="581" cy="145"/>
              <a:chOff x="614" y="2568"/>
              <a:chExt cx="725" cy="139"/>
            </a:xfrm>
          </p:grpSpPr>
          <p:sp>
            <p:nvSpPr>
              <p:cNvPr id="264" name="AutoShape 71"/>
              <p:cNvSpPr>
                <a:spLocks noChangeArrowheads="1"/>
              </p:cNvSpPr>
              <p:nvPr/>
            </p:nvSpPr>
            <p:spPr bwMode="auto">
              <a:xfrm>
                <a:off x="610" y="2566"/>
                <a:ext cx="724"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65" name="AutoShape 72"/>
              <p:cNvSpPr>
                <a:spLocks noChangeArrowheads="1"/>
              </p:cNvSpPr>
              <p:nvPr/>
            </p:nvSpPr>
            <p:spPr bwMode="auto">
              <a:xfrm>
                <a:off x="631" y="2583"/>
                <a:ext cx="681" cy="100"/>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sp>
          <p:nvSpPr>
            <p:cNvPr id="240" name="Rectangle 73"/>
            <p:cNvSpPr>
              <a:spLocks noChangeArrowheads="1"/>
            </p:cNvSpPr>
            <p:nvPr/>
          </p:nvSpPr>
          <p:spPr bwMode="auto">
            <a:xfrm>
              <a:off x="4225" y="1019"/>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nvGrpSpPr>
            <p:cNvPr id="27691" name="Group 74"/>
            <p:cNvGrpSpPr>
              <a:grpSpLocks/>
            </p:cNvGrpSpPr>
            <p:nvPr/>
          </p:nvGrpSpPr>
          <p:grpSpPr bwMode="auto">
            <a:xfrm>
              <a:off x="4747" y="994"/>
              <a:ext cx="581" cy="134"/>
              <a:chOff x="614" y="2568"/>
              <a:chExt cx="725" cy="139"/>
            </a:xfrm>
          </p:grpSpPr>
          <p:sp>
            <p:nvSpPr>
              <p:cNvPr id="262" name="AutoShape 75"/>
              <p:cNvSpPr>
                <a:spLocks noChangeArrowheads="1"/>
              </p:cNvSpPr>
              <p:nvPr/>
            </p:nvSpPr>
            <p:spPr bwMode="auto">
              <a:xfrm>
                <a:off x="613" y="2570"/>
                <a:ext cx="724" cy="138"/>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63" name="AutoShape 76"/>
              <p:cNvSpPr>
                <a:spLocks noChangeArrowheads="1"/>
              </p:cNvSpPr>
              <p:nvPr/>
            </p:nvSpPr>
            <p:spPr bwMode="auto">
              <a:xfrm>
                <a:off x="634" y="2588"/>
                <a:ext cx="681" cy="102"/>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sp>
          <p:nvSpPr>
            <p:cNvPr id="242" name="Rectangle 77"/>
            <p:cNvSpPr>
              <a:spLocks noChangeArrowheads="1"/>
            </p:cNvSpPr>
            <p:nvPr/>
          </p:nvSpPr>
          <p:spPr bwMode="auto">
            <a:xfrm>
              <a:off x="4217" y="1361"/>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43" name="Rectangle 78"/>
            <p:cNvSpPr>
              <a:spLocks noChangeArrowheads="1"/>
            </p:cNvSpPr>
            <p:nvPr/>
          </p:nvSpPr>
          <p:spPr bwMode="auto">
            <a:xfrm>
              <a:off x="4234" y="1650"/>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nvGrpSpPr>
            <p:cNvPr id="27694" name="Group 79"/>
            <p:cNvGrpSpPr>
              <a:grpSpLocks/>
            </p:cNvGrpSpPr>
            <p:nvPr/>
          </p:nvGrpSpPr>
          <p:grpSpPr bwMode="auto">
            <a:xfrm>
              <a:off x="4735" y="1627"/>
              <a:ext cx="582" cy="151"/>
              <a:chOff x="614" y="2568"/>
              <a:chExt cx="725" cy="139"/>
            </a:xfrm>
          </p:grpSpPr>
          <p:sp>
            <p:nvSpPr>
              <p:cNvPr id="260" name="AutoShape 80"/>
              <p:cNvSpPr>
                <a:spLocks noChangeArrowheads="1"/>
              </p:cNvSpPr>
              <p:nvPr/>
            </p:nvSpPr>
            <p:spPr bwMode="auto">
              <a:xfrm>
                <a:off x="617" y="2568"/>
                <a:ext cx="723"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61" name="AutoShape 81"/>
              <p:cNvSpPr>
                <a:spLocks noChangeArrowheads="1"/>
              </p:cNvSpPr>
              <p:nvPr/>
            </p:nvSpPr>
            <p:spPr bwMode="auto">
              <a:xfrm>
                <a:off x="638" y="2584"/>
                <a:ext cx="680" cy="107"/>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sp>
          <p:nvSpPr>
            <p:cNvPr id="245" name="Freeform 82"/>
            <p:cNvSpPr>
              <a:spLocks/>
            </p:cNvSpPr>
            <p:nvPr/>
          </p:nvSpPr>
          <p:spPr bwMode="auto">
            <a:xfrm>
              <a:off x="5292" y="1355"/>
              <a:ext cx="256" cy="18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grpSp>
          <p:nvGrpSpPr>
            <p:cNvPr id="27696" name="Group 83"/>
            <p:cNvGrpSpPr>
              <a:grpSpLocks/>
            </p:cNvGrpSpPr>
            <p:nvPr/>
          </p:nvGrpSpPr>
          <p:grpSpPr bwMode="auto">
            <a:xfrm>
              <a:off x="4739" y="1327"/>
              <a:ext cx="582" cy="139"/>
              <a:chOff x="614" y="2568"/>
              <a:chExt cx="725" cy="139"/>
            </a:xfrm>
          </p:grpSpPr>
          <p:sp>
            <p:nvSpPr>
              <p:cNvPr id="258" name="AutoShape 84"/>
              <p:cNvSpPr>
                <a:spLocks noChangeArrowheads="1"/>
              </p:cNvSpPr>
              <p:nvPr/>
            </p:nvSpPr>
            <p:spPr bwMode="auto">
              <a:xfrm>
                <a:off x="612" y="2567"/>
                <a:ext cx="723"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59" name="AutoShape 85"/>
              <p:cNvSpPr>
                <a:spLocks noChangeArrowheads="1"/>
              </p:cNvSpPr>
              <p:nvPr/>
            </p:nvSpPr>
            <p:spPr bwMode="auto">
              <a:xfrm>
                <a:off x="623" y="2584"/>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sp>
          <p:nvSpPr>
            <p:cNvPr id="247" name="Rectangle 86"/>
            <p:cNvSpPr>
              <a:spLocks noChangeArrowheads="1"/>
            </p:cNvSpPr>
            <p:nvPr/>
          </p:nvSpPr>
          <p:spPr bwMode="auto">
            <a:xfrm>
              <a:off x="5249" y="429"/>
              <a:ext cx="68"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48" name="Freeform 87"/>
            <p:cNvSpPr>
              <a:spLocks/>
            </p:cNvSpPr>
            <p:nvPr/>
          </p:nvSpPr>
          <p:spPr bwMode="auto">
            <a:xfrm>
              <a:off x="5309" y="1008"/>
              <a:ext cx="239" cy="214"/>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49" name="Freeform 88"/>
            <p:cNvSpPr>
              <a:spLocks/>
            </p:cNvSpPr>
            <p:nvPr/>
          </p:nvSpPr>
          <p:spPr bwMode="auto">
            <a:xfrm>
              <a:off x="5318" y="678"/>
              <a:ext cx="239" cy="24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50" name="Oval 89"/>
            <p:cNvSpPr>
              <a:spLocks noChangeArrowheads="1"/>
            </p:cNvSpPr>
            <p:nvPr/>
          </p:nvSpPr>
          <p:spPr bwMode="auto">
            <a:xfrm>
              <a:off x="5522" y="2611"/>
              <a:ext cx="43" cy="98"/>
            </a:xfrm>
            <a:prstGeom prst="ellipse">
              <a:avLst/>
            </a:prstGeom>
            <a:solidFill>
              <a:srgbClr val="3333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51" name="Freeform 90"/>
            <p:cNvSpPr>
              <a:spLocks/>
            </p:cNvSpPr>
            <p:nvPr/>
          </p:nvSpPr>
          <p:spPr bwMode="auto">
            <a:xfrm>
              <a:off x="5300" y="2617"/>
              <a:ext cx="247" cy="19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a:defRPr/>
              </a:pPr>
              <a:endParaRPr lang="en-US" sz="1800" kern="0" dirty="0">
                <a:solidFill>
                  <a:srgbClr val="000000"/>
                </a:solidFill>
                <a:ea typeface="ＭＳ Ｐゴシック" panose="020B0600070205080204" pitchFamily="34" charset="-128"/>
                <a:cs typeface="Arial"/>
              </a:endParaRPr>
            </a:p>
          </p:txBody>
        </p:sp>
        <p:sp>
          <p:nvSpPr>
            <p:cNvPr id="252" name="AutoShape 91"/>
            <p:cNvSpPr>
              <a:spLocks noChangeArrowheads="1"/>
            </p:cNvSpPr>
            <p:nvPr/>
          </p:nvSpPr>
          <p:spPr bwMode="auto">
            <a:xfrm>
              <a:off x="4140" y="2675"/>
              <a:ext cx="1203"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53" name="AutoShape 92"/>
            <p:cNvSpPr>
              <a:spLocks noChangeArrowheads="1"/>
            </p:cNvSpPr>
            <p:nvPr/>
          </p:nvSpPr>
          <p:spPr bwMode="auto">
            <a:xfrm>
              <a:off x="4208" y="2709"/>
              <a:ext cx="1067" cy="87"/>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54" name="Oval 93"/>
            <p:cNvSpPr>
              <a:spLocks noChangeArrowheads="1"/>
            </p:cNvSpPr>
            <p:nvPr/>
          </p:nvSpPr>
          <p:spPr bwMode="auto">
            <a:xfrm>
              <a:off x="4311" y="2379"/>
              <a:ext cx="154" cy="145"/>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55" name="Oval 94"/>
            <p:cNvSpPr>
              <a:spLocks noChangeArrowheads="1"/>
            </p:cNvSpPr>
            <p:nvPr/>
          </p:nvSpPr>
          <p:spPr bwMode="auto">
            <a:xfrm>
              <a:off x="4490" y="2379"/>
              <a:ext cx="154" cy="145"/>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350" kern="0" dirty="0">
                <a:solidFill>
                  <a:srgbClr val="FF0000"/>
                </a:solidFill>
                <a:cs typeface="Arial"/>
              </a:endParaRPr>
            </a:p>
          </p:txBody>
        </p:sp>
        <p:sp>
          <p:nvSpPr>
            <p:cNvPr id="256" name="Oval 95"/>
            <p:cNvSpPr>
              <a:spLocks noChangeArrowheads="1"/>
            </p:cNvSpPr>
            <p:nvPr/>
          </p:nvSpPr>
          <p:spPr bwMode="auto">
            <a:xfrm>
              <a:off x="4661" y="2379"/>
              <a:ext cx="162" cy="139"/>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sp>
          <p:nvSpPr>
            <p:cNvPr id="257" name="Rectangle 96"/>
            <p:cNvSpPr>
              <a:spLocks noChangeArrowheads="1"/>
            </p:cNvSpPr>
            <p:nvPr/>
          </p:nvSpPr>
          <p:spPr bwMode="auto">
            <a:xfrm>
              <a:off x="5062" y="1835"/>
              <a:ext cx="85" cy="758"/>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cs typeface="Arial"/>
              </a:endParaRPr>
            </a:p>
          </p:txBody>
        </p:sp>
      </p:grpSp>
      <p:grpSp>
        <p:nvGrpSpPr>
          <p:cNvPr id="27656" name="Group 61"/>
          <p:cNvGrpSpPr>
            <a:grpSpLocks/>
          </p:cNvGrpSpPr>
          <p:nvPr/>
        </p:nvGrpSpPr>
        <p:grpSpPr bwMode="auto">
          <a:xfrm flipH="1">
            <a:off x="7381875" y="3919538"/>
            <a:ext cx="895350" cy="879475"/>
            <a:chOff x="-44" y="1473"/>
            <a:chExt cx="981" cy="1105"/>
          </a:xfrm>
        </p:grpSpPr>
        <p:pic>
          <p:nvPicPr>
            <p:cNvPr id="27682" name="Picture 62"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 name="Freeform 63"/>
            <p:cNvSpPr>
              <a:spLocks/>
            </p:cNvSpPr>
            <p:nvPr/>
          </p:nvSpPr>
          <p:spPr bwMode="auto">
            <a:xfrm flipH="1">
              <a:off x="373" y="1579"/>
              <a:ext cx="478" cy="507"/>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1800" kern="0" dirty="0">
                <a:solidFill>
                  <a:srgbClr val="000000"/>
                </a:solidFill>
                <a:ea typeface="ＭＳ Ｐゴシック" panose="020B0600070205080204" pitchFamily="34" charset="-128"/>
                <a:cs typeface="Arial"/>
              </a:endParaRPr>
            </a:p>
          </p:txBody>
        </p:sp>
      </p:grpSp>
      <p:sp>
        <p:nvSpPr>
          <p:cNvPr id="27657" name="Text Box 325"/>
          <p:cNvSpPr txBox="1">
            <a:spLocks noChangeArrowheads="1"/>
          </p:cNvSpPr>
          <p:nvPr/>
        </p:nvSpPr>
        <p:spPr bwMode="auto">
          <a:xfrm>
            <a:off x="542925" y="4994275"/>
            <a:ext cx="1700213"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server, with</a:t>
            </a:r>
          </a:p>
          <a:p>
            <a:pPr algn="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file of F bits </a:t>
            </a:r>
          </a:p>
          <a:p>
            <a:pPr algn="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to send to client</a:t>
            </a:r>
          </a:p>
        </p:txBody>
      </p:sp>
      <p:sp>
        <p:nvSpPr>
          <p:cNvPr id="27658" name="Text Box 328"/>
          <p:cNvSpPr txBox="1">
            <a:spLocks noChangeArrowheads="1"/>
          </p:cNvSpPr>
          <p:nvPr/>
        </p:nvSpPr>
        <p:spPr bwMode="auto">
          <a:xfrm>
            <a:off x="2298700" y="4559300"/>
            <a:ext cx="1341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link capacity</a:t>
            </a:r>
          </a:p>
          <a:p>
            <a:pPr algn="ct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 R</a:t>
            </a:r>
            <a:r>
              <a:rPr lang="en-US" altLang="en-US" sz="2400" baseline="-25000">
                <a:solidFill>
                  <a:srgbClr val="000000"/>
                </a:solidFill>
                <a:latin typeface="Calibri" panose="020F0502020204030204" pitchFamily="34" charset="0"/>
                <a:cs typeface="Arial" panose="020B0604020202020204" pitchFamily="34" charset="0"/>
              </a:rPr>
              <a:t>s</a:t>
            </a:r>
            <a:r>
              <a:rPr lang="en-US" altLang="en-US" sz="1800" baseline="-25000">
                <a:solidFill>
                  <a:srgbClr val="000000"/>
                </a:solidFill>
                <a:latin typeface="Calibri" panose="020F0502020204030204" pitchFamily="34" charset="0"/>
                <a:cs typeface="Arial" panose="020B0604020202020204" pitchFamily="34" charset="0"/>
              </a:rPr>
              <a:t> </a:t>
            </a:r>
            <a:r>
              <a:rPr lang="en-US" altLang="en-US" sz="1800">
                <a:solidFill>
                  <a:srgbClr val="000000"/>
                </a:solidFill>
                <a:latin typeface="Calibri" panose="020F0502020204030204" pitchFamily="34" charset="0"/>
                <a:cs typeface="Arial" panose="020B0604020202020204" pitchFamily="34" charset="0"/>
              </a:rPr>
              <a:t>bits/sec</a:t>
            </a:r>
          </a:p>
        </p:txBody>
      </p:sp>
      <p:sp>
        <p:nvSpPr>
          <p:cNvPr id="27659" name="Text Box 329"/>
          <p:cNvSpPr txBox="1">
            <a:spLocks noChangeArrowheads="1"/>
          </p:cNvSpPr>
          <p:nvPr/>
        </p:nvSpPr>
        <p:spPr bwMode="auto">
          <a:xfrm>
            <a:off x="5389563" y="4560888"/>
            <a:ext cx="13398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link capacity</a:t>
            </a:r>
          </a:p>
          <a:p>
            <a:pPr algn="ctr">
              <a:lnSpc>
                <a:spcPct val="85000"/>
              </a:lnSpc>
              <a:spcBef>
                <a:spcPct val="0"/>
              </a:spcBef>
              <a:buFontTx/>
              <a:buNone/>
            </a:pPr>
            <a:r>
              <a:rPr lang="en-US" altLang="en-US" sz="1800">
                <a:solidFill>
                  <a:srgbClr val="000000"/>
                </a:solidFill>
                <a:latin typeface="Calibri" panose="020F0502020204030204" pitchFamily="34" charset="0"/>
                <a:cs typeface="Arial" panose="020B0604020202020204" pitchFamily="34" charset="0"/>
              </a:rPr>
              <a:t> R</a:t>
            </a:r>
            <a:r>
              <a:rPr lang="en-US" altLang="en-US" sz="2400" baseline="-25000">
                <a:solidFill>
                  <a:srgbClr val="000000"/>
                </a:solidFill>
                <a:latin typeface="Calibri" panose="020F0502020204030204" pitchFamily="34" charset="0"/>
                <a:cs typeface="Arial" panose="020B0604020202020204" pitchFamily="34" charset="0"/>
              </a:rPr>
              <a:t>c</a:t>
            </a:r>
            <a:r>
              <a:rPr lang="en-US" altLang="en-US" sz="1800" baseline="-25000">
                <a:solidFill>
                  <a:srgbClr val="000000"/>
                </a:solidFill>
                <a:latin typeface="Calibri" panose="020F0502020204030204" pitchFamily="34" charset="0"/>
                <a:cs typeface="Arial" panose="020B0604020202020204" pitchFamily="34" charset="0"/>
              </a:rPr>
              <a:t> </a:t>
            </a:r>
            <a:r>
              <a:rPr lang="en-US" altLang="en-US" sz="1800">
                <a:solidFill>
                  <a:srgbClr val="000000"/>
                </a:solidFill>
                <a:latin typeface="Calibri" panose="020F0502020204030204" pitchFamily="34" charset="0"/>
                <a:cs typeface="Arial" panose="020B0604020202020204" pitchFamily="34" charset="0"/>
              </a:rPr>
              <a:t>bits/sec</a:t>
            </a:r>
          </a:p>
        </p:txBody>
      </p:sp>
      <p:grpSp>
        <p:nvGrpSpPr>
          <p:cNvPr id="301" name="Group 99"/>
          <p:cNvGrpSpPr>
            <a:grpSpLocks/>
          </p:cNvGrpSpPr>
          <p:nvPr/>
        </p:nvGrpSpPr>
        <p:grpSpPr bwMode="auto">
          <a:xfrm>
            <a:off x="484188" y="4589463"/>
            <a:ext cx="6786562" cy="1136650"/>
            <a:chOff x="-335" y="3658"/>
            <a:chExt cx="5701" cy="955"/>
          </a:xfrm>
        </p:grpSpPr>
        <p:sp>
          <p:nvSpPr>
            <p:cNvPr id="302" name="Text Box 353"/>
            <p:cNvSpPr txBox="1">
              <a:spLocks noChangeArrowheads="1"/>
            </p:cNvSpPr>
            <p:nvPr/>
          </p:nvSpPr>
          <p:spPr bwMode="auto">
            <a:xfrm>
              <a:off x="-335" y="3942"/>
              <a:ext cx="1462" cy="671"/>
            </a:xfrm>
            <a:prstGeom prst="rect">
              <a:avLst/>
            </a:prstGeom>
            <a:solidFill>
              <a:srgbClr val="FFFFFF"/>
            </a:solid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85000"/>
                </a:lnSpc>
                <a:defRPr/>
              </a:pPr>
              <a:r>
                <a:rPr lang="en-US" altLang="en-US" sz="1800" kern="0" dirty="0">
                  <a:solidFill>
                    <a:srgbClr val="000000"/>
                  </a:solidFill>
                  <a:latin typeface="Calibri" panose="020F0502020204030204"/>
                  <a:cs typeface="Arial"/>
                </a:rPr>
                <a:t>server sends bits </a:t>
              </a:r>
            </a:p>
            <a:p>
              <a:pPr algn="ctr" defTabSz="685800">
                <a:lnSpc>
                  <a:spcPct val="85000"/>
                </a:lnSpc>
                <a:defRPr/>
              </a:pPr>
              <a:r>
                <a:rPr lang="en-US" altLang="en-US" sz="1800" kern="0" dirty="0">
                  <a:solidFill>
                    <a:srgbClr val="000000"/>
                  </a:solidFill>
                  <a:latin typeface="Calibri" panose="020F0502020204030204"/>
                  <a:cs typeface="Arial"/>
                </a:rPr>
                <a:t>(fluid) into pipe</a:t>
              </a:r>
            </a:p>
            <a:p>
              <a:pPr algn="ctr" defTabSz="685800">
                <a:lnSpc>
                  <a:spcPct val="85000"/>
                </a:lnSpc>
                <a:defRPr/>
              </a:pPr>
              <a:endParaRPr lang="en-US" altLang="en-US" sz="1800" kern="0" dirty="0">
                <a:solidFill>
                  <a:srgbClr val="000000"/>
                </a:solidFill>
                <a:latin typeface="Gill Sans MT" panose="020B0502020104020203" pitchFamily="34" charset="77"/>
                <a:cs typeface="Arial"/>
              </a:endParaRPr>
            </a:p>
          </p:txBody>
        </p:sp>
        <p:sp>
          <p:nvSpPr>
            <p:cNvPr id="303" name="Text Box 336"/>
            <p:cNvSpPr txBox="1">
              <a:spLocks noChangeArrowheads="1"/>
            </p:cNvSpPr>
            <p:nvPr/>
          </p:nvSpPr>
          <p:spPr bwMode="auto">
            <a:xfrm>
              <a:off x="1089" y="3661"/>
              <a:ext cx="1768" cy="674"/>
            </a:xfrm>
            <a:prstGeom prst="rect">
              <a:avLst/>
            </a:prstGeom>
            <a:solidFill>
              <a:srgbClr val="FFFFFF"/>
            </a:solid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85000"/>
                </a:lnSpc>
                <a:defRPr/>
              </a:pPr>
              <a:r>
                <a:rPr lang="en-US" altLang="en-US" sz="1800" kern="0" dirty="0">
                  <a:solidFill>
                    <a:srgbClr val="000000"/>
                  </a:solidFill>
                  <a:latin typeface="Gill Sans MT" panose="020B0502020104020203" pitchFamily="34" charset="77"/>
                  <a:cs typeface="Arial"/>
                </a:rPr>
                <a:t> </a:t>
              </a:r>
              <a:r>
                <a:rPr lang="en-US" altLang="en-US" sz="1800" kern="0" dirty="0">
                  <a:solidFill>
                    <a:srgbClr val="000000"/>
                  </a:solidFill>
                  <a:latin typeface="Calibri" panose="020F0502020204030204"/>
                  <a:cs typeface="Arial"/>
                </a:rPr>
                <a:t>pipe that can carry</a:t>
              </a:r>
            </a:p>
            <a:p>
              <a:pPr algn="ctr" defTabSz="685800">
                <a:lnSpc>
                  <a:spcPct val="85000"/>
                </a:lnSpc>
                <a:defRPr/>
              </a:pPr>
              <a:r>
                <a:rPr lang="en-US" altLang="en-US" sz="1800" kern="0" dirty="0">
                  <a:solidFill>
                    <a:srgbClr val="000000"/>
                  </a:solidFill>
                  <a:latin typeface="Calibri" panose="020F0502020204030204"/>
                  <a:cs typeface="Arial"/>
                </a:rPr>
                <a:t>fluid at rate</a:t>
              </a:r>
            </a:p>
            <a:p>
              <a:pPr algn="ctr" defTabSz="685800">
                <a:lnSpc>
                  <a:spcPct val="85000"/>
                </a:lnSpc>
                <a:defRPr/>
              </a:pPr>
              <a:r>
                <a:rPr lang="en-US" altLang="en-US" sz="1800" kern="0" dirty="0">
                  <a:solidFill>
                    <a:srgbClr val="000000"/>
                  </a:solidFill>
                  <a:latin typeface="Calibri" panose="020F0502020204030204"/>
                  <a:cs typeface="Arial"/>
                </a:rPr>
                <a:t> (</a:t>
              </a:r>
              <a:r>
                <a:rPr lang="en-US" altLang="en-US" sz="1800" i="1" kern="0" dirty="0">
                  <a:solidFill>
                    <a:srgbClr val="000000"/>
                  </a:solidFill>
                  <a:latin typeface="Calibri" panose="020F0502020204030204"/>
                  <a:cs typeface="Arial"/>
                </a:rPr>
                <a:t>R</a:t>
              </a:r>
              <a:r>
                <a:rPr lang="en-US" altLang="en-US" i="1" kern="0" baseline="-25000" dirty="0">
                  <a:solidFill>
                    <a:srgbClr val="000000"/>
                  </a:solidFill>
                  <a:latin typeface="Calibri" panose="020F0502020204030204"/>
                  <a:cs typeface="Arial"/>
                </a:rPr>
                <a:t>s</a:t>
              </a:r>
              <a:r>
                <a:rPr lang="en-US" altLang="en-US" sz="1800" i="1" kern="0" baseline="-25000" dirty="0">
                  <a:solidFill>
                    <a:srgbClr val="000000"/>
                  </a:solidFill>
                  <a:latin typeface="Calibri" panose="020F0502020204030204"/>
                  <a:cs typeface="Arial"/>
                </a:rPr>
                <a:t> </a:t>
              </a:r>
              <a:r>
                <a:rPr lang="en-US" altLang="en-US" sz="1800" kern="0" dirty="0">
                  <a:solidFill>
                    <a:srgbClr val="000000"/>
                  </a:solidFill>
                  <a:latin typeface="Calibri" panose="020F0502020204030204"/>
                  <a:cs typeface="Arial"/>
                </a:rPr>
                <a:t>bits/sec)</a:t>
              </a:r>
            </a:p>
          </p:txBody>
        </p:sp>
        <p:sp>
          <p:nvSpPr>
            <p:cNvPr id="304" name="Text Box 346"/>
            <p:cNvSpPr txBox="1">
              <a:spLocks noChangeArrowheads="1"/>
            </p:cNvSpPr>
            <p:nvPr/>
          </p:nvSpPr>
          <p:spPr bwMode="auto">
            <a:xfrm>
              <a:off x="3506" y="3658"/>
              <a:ext cx="1860" cy="674"/>
            </a:xfrm>
            <a:prstGeom prst="rect">
              <a:avLst/>
            </a:prstGeom>
            <a:solidFill>
              <a:srgbClr val="FFFFFF"/>
            </a:solid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85000"/>
                </a:lnSpc>
                <a:defRPr/>
              </a:pPr>
              <a:r>
                <a:rPr lang="en-US" altLang="en-US" sz="1800" kern="0" dirty="0">
                  <a:solidFill>
                    <a:srgbClr val="000000"/>
                  </a:solidFill>
                  <a:latin typeface="Calibri" panose="020F0502020204030204"/>
                  <a:cs typeface="Arial"/>
                </a:rPr>
                <a:t> pipe that can carry</a:t>
              </a:r>
            </a:p>
            <a:p>
              <a:pPr algn="ctr" defTabSz="685800">
                <a:lnSpc>
                  <a:spcPct val="85000"/>
                </a:lnSpc>
                <a:defRPr/>
              </a:pPr>
              <a:r>
                <a:rPr lang="en-US" altLang="en-US" sz="1800" kern="0" dirty="0">
                  <a:solidFill>
                    <a:srgbClr val="000000"/>
                  </a:solidFill>
                  <a:latin typeface="Calibri" panose="020F0502020204030204"/>
                  <a:cs typeface="Arial"/>
                </a:rPr>
                <a:t>fluid at rate</a:t>
              </a:r>
            </a:p>
            <a:p>
              <a:pPr algn="ctr" defTabSz="685800">
                <a:lnSpc>
                  <a:spcPct val="85000"/>
                </a:lnSpc>
                <a:defRPr/>
              </a:pPr>
              <a:r>
                <a:rPr lang="en-US" altLang="en-US" sz="1800" i="1" kern="0" dirty="0">
                  <a:solidFill>
                    <a:srgbClr val="000000"/>
                  </a:solidFill>
                  <a:latin typeface="Calibri" panose="020F0502020204030204"/>
                  <a:cs typeface="Arial"/>
                </a:rPr>
                <a:t> (R</a:t>
              </a:r>
              <a:r>
                <a:rPr lang="en-US" altLang="en-US" i="1" kern="0" baseline="-25000" dirty="0">
                  <a:solidFill>
                    <a:srgbClr val="000000"/>
                  </a:solidFill>
                  <a:latin typeface="Calibri" panose="020F0502020204030204"/>
                  <a:cs typeface="Arial"/>
                </a:rPr>
                <a:t>c</a:t>
              </a:r>
              <a:r>
                <a:rPr lang="en-US" altLang="en-US" sz="1800" i="1" kern="0" baseline="-25000" dirty="0">
                  <a:solidFill>
                    <a:srgbClr val="000000"/>
                  </a:solidFill>
                  <a:latin typeface="Calibri" panose="020F0502020204030204"/>
                  <a:cs typeface="Arial"/>
                </a:rPr>
                <a:t> </a:t>
              </a:r>
              <a:r>
                <a:rPr lang="en-US" altLang="en-US" sz="1800" kern="0" dirty="0">
                  <a:solidFill>
                    <a:srgbClr val="000000"/>
                  </a:solidFill>
                  <a:latin typeface="Calibri" panose="020F0502020204030204"/>
                  <a:cs typeface="Arial"/>
                </a:rPr>
                <a:t>bits/sec)</a:t>
              </a:r>
            </a:p>
          </p:txBody>
        </p:sp>
      </p:grpSp>
      <p:grpSp>
        <p:nvGrpSpPr>
          <p:cNvPr id="8" name="Group 7"/>
          <p:cNvGrpSpPr>
            <a:grpSpLocks/>
          </p:cNvGrpSpPr>
          <p:nvPr/>
        </p:nvGrpSpPr>
        <p:grpSpPr bwMode="auto">
          <a:xfrm>
            <a:off x="1554163" y="3867150"/>
            <a:ext cx="5868987" cy="573088"/>
            <a:chOff x="2071329" y="4013904"/>
            <a:chExt cx="7826649" cy="763664"/>
          </a:xfrm>
        </p:grpSpPr>
        <p:sp>
          <p:nvSpPr>
            <p:cNvPr id="27666" name="AutoShape 350"/>
            <p:cNvSpPr>
              <a:spLocks noChangeArrowheads="1"/>
            </p:cNvSpPr>
            <p:nvPr/>
          </p:nvSpPr>
          <p:spPr bwMode="auto">
            <a:xfrm>
              <a:off x="9008978" y="4275842"/>
              <a:ext cx="889000" cy="485775"/>
            </a:xfrm>
            <a:prstGeom prst="rightArrow">
              <a:avLst>
                <a:gd name="adj1" fmla="val 50000"/>
                <a:gd name="adj2" fmla="val 45752"/>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endParaRPr lang="en-US" altLang="en-US" sz="1800">
                <a:solidFill>
                  <a:srgbClr val="000000"/>
                </a:solidFill>
                <a:latin typeface="Times New Roman" panose="02020603050405020304" pitchFamily="18" charset="0"/>
                <a:cs typeface="Arial" panose="020B0604020202020204" pitchFamily="34" charset="0"/>
              </a:endParaRPr>
            </a:p>
          </p:txBody>
        </p:sp>
        <p:grpSp>
          <p:nvGrpSpPr>
            <p:cNvPr id="27667" name="Group 335"/>
            <p:cNvGrpSpPr>
              <a:grpSpLocks/>
            </p:cNvGrpSpPr>
            <p:nvPr/>
          </p:nvGrpSpPr>
          <p:grpSpPr bwMode="auto">
            <a:xfrm>
              <a:off x="3016469" y="4319954"/>
              <a:ext cx="2322512" cy="392112"/>
              <a:chOff x="2249" y="3430"/>
              <a:chExt cx="1389" cy="256"/>
            </a:xfrm>
          </p:grpSpPr>
          <p:sp>
            <p:nvSpPr>
              <p:cNvPr id="292" name="Oval 333"/>
              <p:cNvSpPr>
                <a:spLocks noChangeArrowheads="1"/>
              </p:cNvSpPr>
              <p:nvPr/>
            </p:nvSpPr>
            <p:spPr bwMode="auto">
              <a:xfrm>
                <a:off x="3569" y="3433"/>
                <a:ext cx="70" cy="253"/>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1800" kern="0" dirty="0">
                  <a:solidFill>
                    <a:srgbClr val="000000"/>
                  </a:solidFill>
                  <a:latin typeface="Times New Roman" charset="0"/>
                  <a:ea typeface="ＭＳ Ｐゴシック" charset="0"/>
                  <a:cs typeface="ＭＳ Ｐゴシック" charset="0"/>
                </a:endParaRPr>
              </a:p>
            </p:txBody>
          </p:sp>
          <p:sp>
            <p:nvSpPr>
              <p:cNvPr id="293" name="Rectangle 332"/>
              <p:cNvSpPr>
                <a:spLocks noChangeArrowheads="1"/>
              </p:cNvSpPr>
              <p:nvPr/>
            </p:nvSpPr>
            <p:spPr bwMode="auto">
              <a:xfrm>
                <a:off x="2275" y="3433"/>
                <a:ext cx="1327" cy="253"/>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1800" kern="0" dirty="0">
                  <a:solidFill>
                    <a:srgbClr val="000000"/>
                  </a:solidFill>
                  <a:latin typeface="Times New Roman" charset="0"/>
                  <a:ea typeface="ＭＳ Ｐゴシック" charset="0"/>
                  <a:cs typeface="ＭＳ Ｐゴシック" charset="0"/>
                </a:endParaRPr>
              </a:p>
            </p:txBody>
          </p:sp>
          <p:sp>
            <p:nvSpPr>
              <p:cNvPr id="294" name="Oval 331"/>
              <p:cNvSpPr>
                <a:spLocks noChangeArrowheads="1"/>
              </p:cNvSpPr>
              <p:nvPr/>
            </p:nvSpPr>
            <p:spPr bwMode="auto">
              <a:xfrm>
                <a:off x="2248" y="3430"/>
                <a:ext cx="70" cy="25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Times New Roman" panose="02020603050405020304" pitchFamily="18" charset="0"/>
                  <a:cs typeface="Arial"/>
                </a:endParaRPr>
              </a:p>
            </p:txBody>
          </p:sp>
          <p:sp>
            <p:nvSpPr>
              <p:cNvPr id="295" name="Rectangle 334"/>
              <p:cNvSpPr>
                <a:spLocks noChangeArrowheads="1"/>
              </p:cNvSpPr>
              <p:nvPr/>
            </p:nvSpPr>
            <p:spPr bwMode="auto">
              <a:xfrm>
                <a:off x="3563" y="3439"/>
                <a:ext cx="44" cy="24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1800" kern="0" dirty="0">
                  <a:solidFill>
                    <a:srgbClr val="000000"/>
                  </a:solidFill>
                  <a:latin typeface="Times New Roman" charset="0"/>
                  <a:ea typeface="ＭＳ Ｐゴシック" charset="0"/>
                  <a:cs typeface="ＭＳ Ｐゴシック" charset="0"/>
                </a:endParaRPr>
              </a:p>
            </p:txBody>
          </p:sp>
        </p:grpSp>
        <p:grpSp>
          <p:nvGrpSpPr>
            <p:cNvPr id="27668" name="Group 341"/>
            <p:cNvGrpSpPr>
              <a:grpSpLocks/>
            </p:cNvGrpSpPr>
            <p:nvPr/>
          </p:nvGrpSpPr>
          <p:grpSpPr bwMode="auto">
            <a:xfrm>
              <a:off x="6475852" y="4196543"/>
              <a:ext cx="2801937" cy="581025"/>
              <a:chOff x="2249" y="3430"/>
              <a:chExt cx="1389" cy="256"/>
            </a:xfrm>
          </p:grpSpPr>
          <p:sp>
            <p:nvSpPr>
              <p:cNvPr id="297" name="Oval 342"/>
              <p:cNvSpPr>
                <a:spLocks noChangeArrowheads="1"/>
              </p:cNvSpPr>
              <p:nvPr/>
            </p:nvSpPr>
            <p:spPr bwMode="auto">
              <a:xfrm>
                <a:off x="3569" y="3432"/>
                <a:ext cx="69" cy="254"/>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1800" kern="0" dirty="0">
                  <a:solidFill>
                    <a:srgbClr val="000000"/>
                  </a:solidFill>
                  <a:latin typeface="Times New Roman" charset="0"/>
                  <a:ea typeface="ＭＳ Ｐゴシック" charset="0"/>
                  <a:cs typeface="ＭＳ Ｐゴシック" charset="0"/>
                </a:endParaRPr>
              </a:p>
            </p:txBody>
          </p:sp>
          <p:sp>
            <p:nvSpPr>
              <p:cNvPr id="298" name="Rectangle 343"/>
              <p:cNvSpPr>
                <a:spLocks noChangeArrowheads="1"/>
              </p:cNvSpPr>
              <p:nvPr/>
            </p:nvSpPr>
            <p:spPr bwMode="auto">
              <a:xfrm>
                <a:off x="2276" y="3432"/>
                <a:ext cx="1325" cy="254"/>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1800" kern="0" dirty="0">
                  <a:solidFill>
                    <a:srgbClr val="000000"/>
                  </a:solidFill>
                  <a:latin typeface="Times New Roman" charset="0"/>
                  <a:ea typeface="ＭＳ Ｐゴシック" charset="0"/>
                  <a:cs typeface="ＭＳ Ｐゴシック" charset="0"/>
                </a:endParaRPr>
              </a:p>
            </p:txBody>
          </p:sp>
          <p:sp>
            <p:nvSpPr>
              <p:cNvPr id="299" name="Oval 344"/>
              <p:cNvSpPr>
                <a:spLocks noChangeArrowheads="1"/>
              </p:cNvSpPr>
              <p:nvPr/>
            </p:nvSpPr>
            <p:spPr bwMode="auto">
              <a:xfrm>
                <a:off x="2250" y="3430"/>
                <a:ext cx="69" cy="254"/>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Times New Roman" panose="02020603050405020304" pitchFamily="18" charset="0"/>
                  <a:cs typeface="Arial"/>
                </a:endParaRPr>
              </a:p>
            </p:txBody>
          </p:sp>
          <p:sp>
            <p:nvSpPr>
              <p:cNvPr id="300" name="Rectangle 345"/>
              <p:cNvSpPr>
                <a:spLocks noChangeArrowheads="1"/>
              </p:cNvSpPr>
              <p:nvPr/>
            </p:nvSpPr>
            <p:spPr bwMode="auto">
              <a:xfrm>
                <a:off x="3562" y="3438"/>
                <a:ext cx="44" cy="24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1800" kern="0" dirty="0">
                  <a:solidFill>
                    <a:srgbClr val="000000"/>
                  </a:solidFill>
                  <a:latin typeface="Times New Roman" charset="0"/>
                  <a:ea typeface="ＭＳ Ｐゴシック" charset="0"/>
                  <a:cs typeface="ＭＳ Ｐゴシック" charset="0"/>
                </a:endParaRPr>
              </a:p>
            </p:txBody>
          </p:sp>
        </p:grpSp>
        <p:sp>
          <p:nvSpPr>
            <p:cNvPr id="27669" name="AutoShape 351"/>
            <p:cNvSpPr>
              <a:spLocks noChangeArrowheads="1"/>
            </p:cNvSpPr>
            <p:nvPr/>
          </p:nvSpPr>
          <p:spPr bwMode="auto">
            <a:xfrm>
              <a:off x="5295542" y="4258379"/>
              <a:ext cx="1279525" cy="485775"/>
            </a:xfrm>
            <a:prstGeom prst="rightArrow">
              <a:avLst>
                <a:gd name="adj1" fmla="val 50000"/>
                <a:gd name="adj2" fmla="val 65850"/>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endParaRPr lang="en-US" altLang="en-US" sz="1800">
                <a:solidFill>
                  <a:srgbClr val="000000"/>
                </a:solidFill>
                <a:latin typeface="Times New Roman" panose="02020603050405020304" pitchFamily="18" charset="0"/>
                <a:cs typeface="Arial" panose="020B0604020202020204" pitchFamily="34" charset="0"/>
              </a:endParaRPr>
            </a:p>
          </p:txBody>
        </p:sp>
        <p:sp>
          <p:nvSpPr>
            <p:cNvPr id="27670" name="AutoShape 349"/>
            <p:cNvSpPr>
              <a:spLocks noChangeArrowheads="1"/>
            </p:cNvSpPr>
            <p:nvPr/>
          </p:nvSpPr>
          <p:spPr bwMode="auto">
            <a:xfrm flipV="1">
              <a:off x="2071329" y="4013904"/>
              <a:ext cx="974725" cy="72072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FFFFFF"/>
                </a:gs>
                <a:gs pos="100000">
                  <a:srgbClr val="CC0000"/>
                </a:gs>
              </a:gsLst>
              <a:lin ang="0" scaled="1"/>
            </a:gradFill>
            <a:ln w="9525">
              <a:solidFill>
                <a:srgbClr val="CC0000"/>
              </a:solidFill>
              <a:miter lim="800000"/>
              <a:headEnd/>
              <a:tailEnd/>
            </a:ln>
          </p:spPr>
          <p:txBody>
            <a:bodyPr rot="10800000" wrap="none" anchor="ctr"/>
            <a:lstStyle/>
            <a:p>
              <a:endParaRPr lang="en-GB"/>
            </a:p>
          </p:txBody>
        </p:sp>
      </p:grpSp>
      <p:cxnSp>
        <p:nvCxnSpPr>
          <p:cNvPr id="4" name="Straight Connector 3"/>
          <p:cNvCxnSpPr/>
          <p:nvPr/>
        </p:nvCxnSpPr>
        <p:spPr>
          <a:xfrm>
            <a:off x="1997075" y="4573588"/>
            <a:ext cx="0" cy="3746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p:cNvCxnSpPr/>
          <p:nvPr/>
        </p:nvCxnSpPr>
        <p:spPr>
          <a:xfrm>
            <a:off x="2752725" y="4286250"/>
            <a:ext cx="0" cy="3746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5829300" y="4287838"/>
            <a:ext cx="0" cy="3746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7665"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3474D98E-C4EE-44D9-8EBC-90E844C90820}" type="slidenum">
              <a:rPr lang="en-US" altLang="en-US" sz="1100">
                <a:solidFill>
                  <a:srgbClr val="7F7F7F"/>
                </a:solidFill>
              </a:rPr>
              <a:pPr>
                <a:spcBef>
                  <a:spcPct val="0"/>
                </a:spcBef>
                <a:buFontTx/>
                <a:buNone/>
              </a:pPr>
              <a:t>13</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Effect transition="in" filter="dissolve">
                                      <p:cBhvr>
                                        <p:cTn id="7" dur="500"/>
                                        <p:tgtEl>
                                          <p:spTgt spid="301"/>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a:off x="619125" y="1076325"/>
            <a:ext cx="7886700" cy="671513"/>
          </a:xfrm>
        </p:spPr>
        <p:txBody>
          <a:bodyPr/>
          <a:lstStyle/>
          <a:p>
            <a:r>
              <a:rPr lang="en-US" altLang="en-US" sz="3300" smtClean="0"/>
              <a:t>Throughput</a:t>
            </a:r>
          </a:p>
        </p:txBody>
      </p:sp>
      <p:grpSp>
        <p:nvGrpSpPr>
          <p:cNvPr id="429" name="Group 347"/>
          <p:cNvGrpSpPr>
            <a:grpSpLocks/>
          </p:cNvGrpSpPr>
          <p:nvPr/>
        </p:nvGrpSpPr>
        <p:grpSpPr bwMode="auto">
          <a:xfrm>
            <a:off x="3738563" y="4041775"/>
            <a:ext cx="684212" cy="311150"/>
            <a:chOff x="1871277" y="1576300"/>
            <a:chExt cx="1128371" cy="437861"/>
          </a:xfrm>
        </p:grpSpPr>
        <p:sp>
          <p:nvSpPr>
            <p:cNvPr id="430" name="Oval 429"/>
            <p:cNvSpPr>
              <a:spLocks noChangeArrowheads="1"/>
            </p:cNvSpPr>
            <p:nvPr/>
          </p:nvSpPr>
          <p:spPr bwMode="auto">
            <a:xfrm flipV="1">
              <a:off x="1873894" y="1694702"/>
              <a:ext cx="1125754" cy="319459"/>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800" kern="0" dirty="0">
                <a:ln>
                  <a:solidFill>
                    <a:srgbClr val="000000"/>
                  </a:solidFill>
                </a:ln>
                <a:solidFill>
                  <a:srgbClr val="FFFFFF"/>
                </a:solidFill>
                <a:latin typeface="Calibri" panose="020F0502020204030204"/>
                <a:ea typeface="ＭＳ Ｐゴシック" panose="020B0600070205080204" pitchFamily="34" charset="-128"/>
                <a:cs typeface="Arial"/>
              </a:endParaRPr>
            </a:p>
          </p:txBody>
        </p:sp>
        <p:sp>
          <p:nvSpPr>
            <p:cNvPr id="431" name="Rectangle 430"/>
            <p:cNvSpPr/>
            <p:nvPr/>
          </p:nvSpPr>
          <p:spPr bwMode="auto">
            <a:xfrm>
              <a:off x="1871277" y="1739382"/>
              <a:ext cx="1128371" cy="116167"/>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800" kern="0" dirty="0">
                <a:solidFill>
                  <a:srgbClr val="FFFFFF"/>
                </a:solidFill>
                <a:latin typeface="Calibri" panose="020F0502020204030204"/>
                <a:ea typeface="+mn-ea"/>
                <a:cs typeface="Arial"/>
              </a:endParaRPr>
            </a:p>
          </p:txBody>
        </p:sp>
        <p:sp>
          <p:nvSpPr>
            <p:cNvPr id="432" name="Oval 431"/>
            <p:cNvSpPr>
              <a:spLocks noChangeArrowheads="1"/>
            </p:cNvSpPr>
            <p:nvPr/>
          </p:nvSpPr>
          <p:spPr bwMode="auto">
            <a:xfrm flipV="1">
              <a:off x="1871277" y="1576300"/>
              <a:ext cx="1125754" cy="31946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800" kern="0" dirty="0">
                <a:ln>
                  <a:solidFill>
                    <a:srgbClr val="000000"/>
                  </a:solidFill>
                </a:ln>
                <a:solidFill>
                  <a:srgbClr val="FFFFFF"/>
                </a:solidFill>
                <a:latin typeface="Calibri" panose="020F0502020204030204"/>
                <a:ea typeface="ＭＳ Ｐゴシック" panose="020B0600070205080204" pitchFamily="34" charset="-128"/>
                <a:cs typeface="Arial"/>
              </a:endParaRPr>
            </a:p>
          </p:txBody>
        </p:sp>
        <p:sp>
          <p:nvSpPr>
            <p:cNvPr id="433" name="Freeform 432"/>
            <p:cNvSpPr/>
            <p:nvPr/>
          </p:nvSpPr>
          <p:spPr bwMode="auto">
            <a:xfrm>
              <a:off x="2159261" y="1672362"/>
              <a:ext cx="547168" cy="16084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800" kern="0" dirty="0">
                <a:solidFill>
                  <a:srgbClr val="FFFFFF"/>
                </a:solidFill>
                <a:latin typeface="Calibri" panose="020F0502020204030204"/>
                <a:ea typeface="+mn-ea"/>
                <a:cs typeface="Arial"/>
              </a:endParaRPr>
            </a:p>
          </p:txBody>
        </p:sp>
        <p:sp>
          <p:nvSpPr>
            <p:cNvPr id="434" name="Freeform 433"/>
            <p:cNvSpPr>
              <a:spLocks/>
            </p:cNvSpPr>
            <p:nvPr/>
          </p:nvSpPr>
          <p:spPr bwMode="auto">
            <a:xfrm>
              <a:off x="2101664" y="1632150"/>
              <a:ext cx="662361" cy="111699"/>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p:spPr>
          <p:txBody>
            <a:bodyPr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35" name="Freeform 434"/>
            <p:cNvSpPr>
              <a:spLocks/>
            </p:cNvSpPr>
            <p:nvPr/>
          </p:nvSpPr>
          <p:spPr bwMode="auto">
            <a:xfrm>
              <a:off x="2536257" y="1728211"/>
              <a:ext cx="243476" cy="96062"/>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p:spPr>
          <p:txBody>
            <a:bodyPr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36" name="Freeform 435"/>
            <p:cNvSpPr>
              <a:spLocks/>
            </p:cNvSpPr>
            <p:nvPr/>
          </p:nvSpPr>
          <p:spPr bwMode="auto">
            <a:xfrm>
              <a:off x="2091192" y="1730446"/>
              <a:ext cx="240859" cy="96061"/>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p:spPr>
          <p:txBody>
            <a:bodyPr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cxnSp>
          <p:nvCxnSpPr>
            <p:cNvPr id="437" name="Straight Connector 436"/>
            <p:cNvCxnSpPr>
              <a:cxnSpLocks noChangeShapeType="1"/>
              <a:endCxn id="432" idx="2"/>
            </p:cNvCxnSpPr>
            <p:nvPr/>
          </p:nvCxnSpPr>
          <p:spPr bwMode="auto">
            <a:xfrm flipH="1" flipV="1">
              <a:off x="1871277" y="1737147"/>
              <a:ext cx="2617" cy="122870"/>
            </a:xfrm>
            <a:prstGeom prst="line">
              <a:avLst/>
            </a:prstGeom>
            <a:noFill/>
            <a:ln w="6350">
              <a:solidFill>
                <a:srgbClr val="000000"/>
              </a:solidFill>
              <a:round/>
              <a:headEnd/>
              <a:tailEnd/>
            </a:ln>
            <a:effectLst>
              <a:outerShdw blurRad="40005" dist="19939" dir="5400000" algn="tl" rotWithShape="0">
                <a:srgbClr val="808080">
                  <a:alpha val="37999"/>
                </a:srgbClr>
              </a:outerShdw>
            </a:effectLst>
          </p:spPr>
        </p:cxnSp>
        <p:cxnSp>
          <p:nvCxnSpPr>
            <p:cNvPr id="438" name="Straight Connector 437"/>
            <p:cNvCxnSpPr>
              <a:cxnSpLocks noChangeShapeType="1"/>
            </p:cNvCxnSpPr>
            <p:nvPr/>
          </p:nvCxnSpPr>
          <p:spPr bwMode="auto">
            <a:xfrm flipH="1" flipV="1">
              <a:off x="2997031" y="1734914"/>
              <a:ext cx="2617" cy="122868"/>
            </a:xfrm>
            <a:prstGeom prst="line">
              <a:avLst/>
            </a:prstGeom>
            <a:noFill/>
            <a:ln w="6350">
              <a:solidFill>
                <a:srgbClr val="000000"/>
              </a:solidFill>
              <a:round/>
              <a:headEnd/>
              <a:tailEnd/>
            </a:ln>
            <a:effectLst>
              <a:outerShdw blurRad="40005" dist="19939" dir="5400000" algn="tl" rotWithShape="0">
                <a:srgbClr val="808080">
                  <a:alpha val="37999"/>
                </a:srgbClr>
              </a:outerShdw>
            </a:effectLst>
          </p:spPr>
        </p:cxnSp>
      </p:grpSp>
      <p:grpSp>
        <p:nvGrpSpPr>
          <p:cNvPr id="29700" name="Group 347"/>
          <p:cNvGrpSpPr>
            <a:grpSpLocks/>
          </p:cNvGrpSpPr>
          <p:nvPr/>
        </p:nvGrpSpPr>
        <p:grpSpPr bwMode="auto">
          <a:xfrm>
            <a:off x="3703638" y="2595563"/>
            <a:ext cx="682625" cy="312737"/>
            <a:chOff x="1871277" y="1576300"/>
            <a:chExt cx="1128371" cy="437861"/>
          </a:xfrm>
        </p:grpSpPr>
        <p:sp>
          <p:nvSpPr>
            <p:cNvPr id="440" name="Oval 439"/>
            <p:cNvSpPr>
              <a:spLocks noChangeArrowheads="1"/>
            </p:cNvSpPr>
            <p:nvPr/>
          </p:nvSpPr>
          <p:spPr bwMode="auto">
            <a:xfrm flipV="1">
              <a:off x="1873900" y="1694100"/>
              <a:ext cx="1125748" cy="320061"/>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800" kern="0" dirty="0">
                <a:ln>
                  <a:solidFill>
                    <a:srgbClr val="000000"/>
                  </a:solidFill>
                </a:ln>
                <a:solidFill>
                  <a:srgbClr val="FFFFFF"/>
                </a:solidFill>
                <a:latin typeface="Calibri" panose="020F0502020204030204"/>
                <a:ea typeface="ＭＳ Ｐゴシック" panose="020B0600070205080204" pitchFamily="34" charset="-128"/>
                <a:cs typeface="Arial"/>
              </a:endParaRPr>
            </a:p>
          </p:txBody>
        </p:sp>
        <p:sp>
          <p:nvSpPr>
            <p:cNvPr id="441" name="Rectangle 440"/>
            <p:cNvSpPr/>
            <p:nvPr/>
          </p:nvSpPr>
          <p:spPr bwMode="auto">
            <a:xfrm>
              <a:off x="1871277" y="1740776"/>
              <a:ext cx="1128371" cy="115578"/>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a:defRPr/>
              </a:pPr>
              <a:endParaRPr lang="en-US" sz="1800" kern="0" dirty="0">
                <a:solidFill>
                  <a:srgbClr val="FFFFFF"/>
                </a:solidFill>
                <a:latin typeface="Calibri" panose="020F0502020204030204"/>
                <a:ea typeface="+mn-ea"/>
                <a:cs typeface="Arial"/>
              </a:endParaRPr>
            </a:p>
          </p:txBody>
        </p:sp>
        <p:sp>
          <p:nvSpPr>
            <p:cNvPr id="442" name="Oval 441"/>
            <p:cNvSpPr>
              <a:spLocks noChangeArrowheads="1"/>
            </p:cNvSpPr>
            <p:nvPr/>
          </p:nvSpPr>
          <p:spPr bwMode="auto">
            <a:xfrm flipV="1">
              <a:off x="1871277" y="1576300"/>
              <a:ext cx="1125746" cy="32006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a:defRPr/>
              </a:pPr>
              <a:endParaRPr lang="en-US" sz="1800" kern="0" dirty="0">
                <a:ln>
                  <a:solidFill>
                    <a:srgbClr val="000000"/>
                  </a:solidFill>
                </a:ln>
                <a:solidFill>
                  <a:srgbClr val="FFFFFF"/>
                </a:solidFill>
                <a:latin typeface="Calibri" panose="020F0502020204030204"/>
                <a:ea typeface="ＭＳ Ｐゴシック" panose="020B0600070205080204" pitchFamily="34" charset="-128"/>
                <a:cs typeface="Arial"/>
              </a:endParaRPr>
            </a:p>
          </p:txBody>
        </p:sp>
        <p:sp>
          <p:nvSpPr>
            <p:cNvPr id="443" name="Freeform 442"/>
            <p:cNvSpPr/>
            <p:nvPr/>
          </p:nvSpPr>
          <p:spPr bwMode="auto">
            <a:xfrm>
              <a:off x="2159930" y="1674097"/>
              <a:ext cx="548440" cy="160031"/>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a:defRPr/>
              </a:pPr>
              <a:endParaRPr lang="en-US" sz="1800" kern="0" dirty="0">
                <a:solidFill>
                  <a:srgbClr val="FFFFFF"/>
                </a:solidFill>
                <a:latin typeface="Calibri" panose="020F0502020204030204"/>
                <a:ea typeface="+mn-ea"/>
                <a:cs typeface="Arial"/>
              </a:endParaRPr>
            </a:p>
          </p:txBody>
        </p:sp>
        <p:sp>
          <p:nvSpPr>
            <p:cNvPr id="444" name="Freeform 443"/>
            <p:cNvSpPr>
              <a:spLocks/>
            </p:cNvSpPr>
            <p:nvPr/>
          </p:nvSpPr>
          <p:spPr bwMode="auto">
            <a:xfrm>
              <a:off x="2102199" y="1634089"/>
              <a:ext cx="663901" cy="111132"/>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p:spPr>
          <p:txBody>
            <a:bodyPr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45" name="Freeform 444"/>
            <p:cNvSpPr>
              <a:spLocks/>
            </p:cNvSpPr>
            <p:nvPr/>
          </p:nvSpPr>
          <p:spPr bwMode="auto">
            <a:xfrm>
              <a:off x="2537803" y="1727440"/>
              <a:ext cx="244042" cy="97797"/>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p:spPr>
          <p:txBody>
            <a:bodyPr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46" name="Freeform 445"/>
            <p:cNvSpPr>
              <a:spLocks/>
            </p:cNvSpPr>
            <p:nvPr/>
          </p:nvSpPr>
          <p:spPr bwMode="auto">
            <a:xfrm>
              <a:off x="2089078" y="1729662"/>
              <a:ext cx="241419" cy="97797"/>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p:spPr>
          <p:txBody>
            <a:bodyPr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cxnSp>
          <p:nvCxnSpPr>
            <p:cNvPr id="447" name="Straight Connector 446"/>
            <p:cNvCxnSpPr>
              <a:cxnSpLocks noChangeShapeType="1"/>
              <a:endCxn id="442" idx="2"/>
            </p:cNvCxnSpPr>
            <p:nvPr/>
          </p:nvCxnSpPr>
          <p:spPr bwMode="auto">
            <a:xfrm flipH="1" flipV="1">
              <a:off x="1871277" y="1736331"/>
              <a:ext cx="2623" cy="124468"/>
            </a:xfrm>
            <a:prstGeom prst="line">
              <a:avLst/>
            </a:prstGeom>
            <a:noFill/>
            <a:ln w="6350">
              <a:solidFill>
                <a:srgbClr val="000000"/>
              </a:solidFill>
              <a:round/>
              <a:headEnd/>
              <a:tailEnd/>
            </a:ln>
            <a:effectLst>
              <a:outerShdw blurRad="40005" dist="19939" dir="5400000" algn="tl" rotWithShape="0">
                <a:srgbClr val="808080">
                  <a:alpha val="37999"/>
                </a:srgbClr>
              </a:outerShdw>
            </a:effectLst>
          </p:spPr>
        </p:cxnSp>
        <p:cxnSp>
          <p:nvCxnSpPr>
            <p:cNvPr id="448" name="Straight Connector 447"/>
            <p:cNvCxnSpPr>
              <a:cxnSpLocks noChangeShapeType="1"/>
            </p:cNvCxnSpPr>
            <p:nvPr/>
          </p:nvCxnSpPr>
          <p:spPr bwMode="auto">
            <a:xfrm flipH="1" flipV="1">
              <a:off x="2997023" y="1734107"/>
              <a:ext cx="2625" cy="124468"/>
            </a:xfrm>
            <a:prstGeom prst="line">
              <a:avLst/>
            </a:prstGeom>
            <a:noFill/>
            <a:ln w="6350">
              <a:solidFill>
                <a:srgbClr val="000000"/>
              </a:solidFill>
              <a:round/>
              <a:headEnd/>
              <a:tailEnd/>
            </a:ln>
            <a:effectLst>
              <a:outerShdw blurRad="40005" dist="19939" dir="5400000" algn="tl" rotWithShape="0">
                <a:srgbClr val="808080">
                  <a:alpha val="37999"/>
                </a:srgbClr>
              </a:outerShdw>
            </a:effectLst>
          </p:spPr>
        </p:cxnSp>
      </p:grpSp>
      <p:grpSp>
        <p:nvGrpSpPr>
          <p:cNvPr id="29701" name="Group 140"/>
          <p:cNvGrpSpPr>
            <a:grpSpLocks/>
          </p:cNvGrpSpPr>
          <p:nvPr/>
        </p:nvGrpSpPr>
        <p:grpSpPr bwMode="auto">
          <a:xfrm>
            <a:off x="1719263" y="2351088"/>
            <a:ext cx="265112" cy="657225"/>
            <a:chOff x="4140" y="429"/>
            <a:chExt cx="1425" cy="2396"/>
          </a:xfrm>
        </p:grpSpPr>
        <p:sp>
          <p:nvSpPr>
            <p:cNvPr id="450" name="Freeform 141"/>
            <p:cNvSpPr>
              <a:spLocks/>
            </p:cNvSpPr>
            <p:nvPr/>
          </p:nvSpPr>
          <p:spPr bwMode="auto">
            <a:xfrm>
              <a:off x="5266" y="435"/>
              <a:ext cx="282"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51" name="Rectangle 142"/>
            <p:cNvSpPr>
              <a:spLocks noChangeArrowheads="1"/>
            </p:cNvSpPr>
            <p:nvPr/>
          </p:nvSpPr>
          <p:spPr bwMode="auto">
            <a:xfrm>
              <a:off x="4208" y="429"/>
              <a:ext cx="1041" cy="2280"/>
            </a:xfrm>
            <a:prstGeom prst="rect">
              <a:avLst/>
            </a:prstGeom>
            <a:gradFill rotWithShape="1">
              <a:gsLst>
                <a:gs pos="0">
                  <a:srgbClr val="292929"/>
                </a:gs>
                <a:gs pos="100000">
                  <a:srgbClr val="808080"/>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52" name="Freeform 143"/>
            <p:cNvSpPr>
              <a:spLocks/>
            </p:cNvSpPr>
            <p:nvPr/>
          </p:nvSpPr>
          <p:spPr bwMode="auto">
            <a:xfrm>
              <a:off x="5318" y="568"/>
              <a:ext cx="171" cy="2118"/>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53" name="Freeform 144"/>
            <p:cNvSpPr>
              <a:spLocks/>
            </p:cNvSpPr>
            <p:nvPr/>
          </p:nvSpPr>
          <p:spPr bwMode="auto">
            <a:xfrm>
              <a:off x="5283" y="1639"/>
              <a:ext cx="265" cy="191"/>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54" name="Rectangle 145"/>
            <p:cNvSpPr>
              <a:spLocks noChangeArrowheads="1"/>
            </p:cNvSpPr>
            <p:nvPr/>
          </p:nvSpPr>
          <p:spPr bwMode="auto">
            <a:xfrm>
              <a:off x="4208" y="695"/>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798" name="Group 146"/>
            <p:cNvGrpSpPr>
              <a:grpSpLocks/>
            </p:cNvGrpSpPr>
            <p:nvPr/>
          </p:nvGrpSpPr>
          <p:grpSpPr bwMode="auto">
            <a:xfrm>
              <a:off x="4749" y="668"/>
              <a:ext cx="581" cy="145"/>
              <a:chOff x="614" y="2568"/>
              <a:chExt cx="725" cy="139"/>
            </a:xfrm>
          </p:grpSpPr>
          <p:sp>
            <p:nvSpPr>
              <p:cNvPr id="480" name="AutoShape 147"/>
              <p:cNvSpPr>
                <a:spLocks noChangeArrowheads="1"/>
              </p:cNvSpPr>
              <p:nvPr/>
            </p:nvSpPr>
            <p:spPr bwMode="auto">
              <a:xfrm>
                <a:off x="610" y="2566"/>
                <a:ext cx="724"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81" name="AutoShape 148"/>
              <p:cNvSpPr>
                <a:spLocks noChangeArrowheads="1"/>
              </p:cNvSpPr>
              <p:nvPr/>
            </p:nvSpPr>
            <p:spPr bwMode="auto">
              <a:xfrm>
                <a:off x="631" y="2583"/>
                <a:ext cx="681" cy="100"/>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456" name="Rectangle 149"/>
            <p:cNvSpPr>
              <a:spLocks noChangeArrowheads="1"/>
            </p:cNvSpPr>
            <p:nvPr/>
          </p:nvSpPr>
          <p:spPr bwMode="auto">
            <a:xfrm>
              <a:off x="4225" y="1019"/>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800" name="Group 150"/>
            <p:cNvGrpSpPr>
              <a:grpSpLocks/>
            </p:cNvGrpSpPr>
            <p:nvPr/>
          </p:nvGrpSpPr>
          <p:grpSpPr bwMode="auto">
            <a:xfrm>
              <a:off x="4747" y="994"/>
              <a:ext cx="581" cy="134"/>
              <a:chOff x="614" y="2568"/>
              <a:chExt cx="725" cy="139"/>
            </a:xfrm>
          </p:grpSpPr>
          <p:sp>
            <p:nvSpPr>
              <p:cNvPr id="478" name="AutoShape 151"/>
              <p:cNvSpPr>
                <a:spLocks noChangeArrowheads="1"/>
              </p:cNvSpPr>
              <p:nvPr/>
            </p:nvSpPr>
            <p:spPr bwMode="auto">
              <a:xfrm>
                <a:off x="613" y="2570"/>
                <a:ext cx="724" cy="138"/>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79" name="AutoShape 152"/>
              <p:cNvSpPr>
                <a:spLocks noChangeArrowheads="1"/>
              </p:cNvSpPr>
              <p:nvPr/>
            </p:nvSpPr>
            <p:spPr bwMode="auto">
              <a:xfrm>
                <a:off x="634" y="2588"/>
                <a:ext cx="681" cy="102"/>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458" name="Rectangle 153"/>
            <p:cNvSpPr>
              <a:spLocks noChangeArrowheads="1"/>
            </p:cNvSpPr>
            <p:nvPr/>
          </p:nvSpPr>
          <p:spPr bwMode="auto">
            <a:xfrm>
              <a:off x="4217" y="1361"/>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59" name="Rectangle 154"/>
            <p:cNvSpPr>
              <a:spLocks noChangeArrowheads="1"/>
            </p:cNvSpPr>
            <p:nvPr/>
          </p:nvSpPr>
          <p:spPr bwMode="auto">
            <a:xfrm>
              <a:off x="4234" y="1650"/>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803" name="Group 155"/>
            <p:cNvGrpSpPr>
              <a:grpSpLocks/>
            </p:cNvGrpSpPr>
            <p:nvPr/>
          </p:nvGrpSpPr>
          <p:grpSpPr bwMode="auto">
            <a:xfrm>
              <a:off x="4735" y="1627"/>
              <a:ext cx="582" cy="151"/>
              <a:chOff x="614" y="2568"/>
              <a:chExt cx="725" cy="139"/>
            </a:xfrm>
          </p:grpSpPr>
          <p:sp>
            <p:nvSpPr>
              <p:cNvPr id="476" name="AutoShape 156"/>
              <p:cNvSpPr>
                <a:spLocks noChangeArrowheads="1"/>
              </p:cNvSpPr>
              <p:nvPr/>
            </p:nvSpPr>
            <p:spPr bwMode="auto">
              <a:xfrm>
                <a:off x="617" y="2568"/>
                <a:ext cx="723"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77" name="AutoShape 157"/>
              <p:cNvSpPr>
                <a:spLocks noChangeArrowheads="1"/>
              </p:cNvSpPr>
              <p:nvPr/>
            </p:nvSpPr>
            <p:spPr bwMode="auto">
              <a:xfrm>
                <a:off x="638" y="2584"/>
                <a:ext cx="680" cy="107"/>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461" name="Freeform 158"/>
            <p:cNvSpPr>
              <a:spLocks/>
            </p:cNvSpPr>
            <p:nvPr/>
          </p:nvSpPr>
          <p:spPr bwMode="auto">
            <a:xfrm>
              <a:off x="5292" y="1355"/>
              <a:ext cx="256" cy="18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nvGrpSpPr>
            <p:cNvPr id="29805" name="Group 159"/>
            <p:cNvGrpSpPr>
              <a:grpSpLocks/>
            </p:cNvGrpSpPr>
            <p:nvPr/>
          </p:nvGrpSpPr>
          <p:grpSpPr bwMode="auto">
            <a:xfrm>
              <a:off x="4739" y="1327"/>
              <a:ext cx="582" cy="139"/>
              <a:chOff x="614" y="2568"/>
              <a:chExt cx="725" cy="139"/>
            </a:xfrm>
          </p:grpSpPr>
          <p:sp>
            <p:nvSpPr>
              <p:cNvPr id="474" name="AutoShape 160"/>
              <p:cNvSpPr>
                <a:spLocks noChangeArrowheads="1"/>
              </p:cNvSpPr>
              <p:nvPr/>
            </p:nvSpPr>
            <p:spPr bwMode="auto">
              <a:xfrm>
                <a:off x="612" y="2567"/>
                <a:ext cx="723"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75" name="AutoShape 161"/>
              <p:cNvSpPr>
                <a:spLocks noChangeArrowheads="1"/>
              </p:cNvSpPr>
              <p:nvPr/>
            </p:nvSpPr>
            <p:spPr bwMode="auto">
              <a:xfrm>
                <a:off x="623" y="2584"/>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463" name="Rectangle 162"/>
            <p:cNvSpPr>
              <a:spLocks noChangeArrowheads="1"/>
            </p:cNvSpPr>
            <p:nvPr/>
          </p:nvSpPr>
          <p:spPr bwMode="auto">
            <a:xfrm>
              <a:off x="5249" y="429"/>
              <a:ext cx="68"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64" name="Freeform 163"/>
            <p:cNvSpPr>
              <a:spLocks/>
            </p:cNvSpPr>
            <p:nvPr/>
          </p:nvSpPr>
          <p:spPr bwMode="auto">
            <a:xfrm>
              <a:off x="5309" y="1008"/>
              <a:ext cx="239" cy="214"/>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65" name="Freeform 164"/>
            <p:cNvSpPr>
              <a:spLocks/>
            </p:cNvSpPr>
            <p:nvPr/>
          </p:nvSpPr>
          <p:spPr bwMode="auto">
            <a:xfrm>
              <a:off x="5318" y="678"/>
              <a:ext cx="239" cy="24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66" name="Oval 165"/>
            <p:cNvSpPr>
              <a:spLocks noChangeArrowheads="1"/>
            </p:cNvSpPr>
            <p:nvPr/>
          </p:nvSpPr>
          <p:spPr bwMode="auto">
            <a:xfrm>
              <a:off x="5522" y="2611"/>
              <a:ext cx="43" cy="98"/>
            </a:xfrm>
            <a:prstGeom prst="ellipse">
              <a:avLst/>
            </a:prstGeom>
            <a:solidFill>
              <a:srgbClr val="3333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67" name="Freeform 166"/>
            <p:cNvSpPr>
              <a:spLocks/>
            </p:cNvSpPr>
            <p:nvPr/>
          </p:nvSpPr>
          <p:spPr bwMode="auto">
            <a:xfrm>
              <a:off x="5300" y="2617"/>
              <a:ext cx="247" cy="19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468" name="AutoShape 167"/>
            <p:cNvSpPr>
              <a:spLocks noChangeArrowheads="1"/>
            </p:cNvSpPr>
            <p:nvPr/>
          </p:nvSpPr>
          <p:spPr bwMode="auto">
            <a:xfrm>
              <a:off x="4140" y="2675"/>
              <a:ext cx="1203"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69" name="AutoShape 168"/>
            <p:cNvSpPr>
              <a:spLocks noChangeArrowheads="1"/>
            </p:cNvSpPr>
            <p:nvPr/>
          </p:nvSpPr>
          <p:spPr bwMode="auto">
            <a:xfrm>
              <a:off x="4208" y="2709"/>
              <a:ext cx="1067" cy="87"/>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70" name="Oval 169"/>
            <p:cNvSpPr>
              <a:spLocks noChangeArrowheads="1"/>
            </p:cNvSpPr>
            <p:nvPr/>
          </p:nvSpPr>
          <p:spPr bwMode="auto">
            <a:xfrm>
              <a:off x="4311" y="2379"/>
              <a:ext cx="154" cy="145"/>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71" name="Oval 170"/>
            <p:cNvSpPr>
              <a:spLocks noChangeArrowheads="1"/>
            </p:cNvSpPr>
            <p:nvPr/>
          </p:nvSpPr>
          <p:spPr bwMode="auto">
            <a:xfrm>
              <a:off x="4490" y="2379"/>
              <a:ext cx="154" cy="145"/>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350" kern="0" dirty="0">
                <a:solidFill>
                  <a:srgbClr val="FF0000"/>
                </a:solidFill>
                <a:latin typeface="Calibri" panose="020F0502020204030204"/>
                <a:cs typeface="Arial"/>
              </a:endParaRPr>
            </a:p>
          </p:txBody>
        </p:sp>
        <p:sp>
          <p:nvSpPr>
            <p:cNvPr id="472" name="Oval 171"/>
            <p:cNvSpPr>
              <a:spLocks noChangeArrowheads="1"/>
            </p:cNvSpPr>
            <p:nvPr/>
          </p:nvSpPr>
          <p:spPr bwMode="auto">
            <a:xfrm>
              <a:off x="4661" y="2379"/>
              <a:ext cx="162" cy="139"/>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73" name="Rectangle 172"/>
            <p:cNvSpPr>
              <a:spLocks noChangeArrowheads="1"/>
            </p:cNvSpPr>
            <p:nvPr/>
          </p:nvSpPr>
          <p:spPr bwMode="auto">
            <a:xfrm>
              <a:off x="5062" y="1835"/>
              <a:ext cx="85" cy="758"/>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482" name="Rectangle 4"/>
          <p:cNvSpPr txBox="1">
            <a:spLocks noChangeArrowheads="1"/>
          </p:cNvSpPr>
          <p:nvPr/>
        </p:nvSpPr>
        <p:spPr bwMode="auto">
          <a:xfrm>
            <a:off x="898525" y="1878013"/>
            <a:ext cx="6111875" cy="415925"/>
          </a:xfrm>
          <a:prstGeom prst="rect">
            <a:avLst/>
          </a:prstGeom>
          <a:noFill/>
          <a:ln>
            <a:noFill/>
          </a:ln>
        </p:spPr>
        <p:txBody>
          <a:bodyPr lIns="68580" tIns="34290" rIns="68580" bIns="34290"/>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5000"/>
              </a:lnSpc>
              <a:buClr>
                <a:srgbClr val="000090"/>
              </a:buClr>
              <a:buFont typeface="Wingdings" panose="05000000000000000000" pitchFamily="2" charset="2"/>
              <a:buNone/>
            </a:pPr>
            <a:r>
              <a:rPr lang="en-US" altLang="en-US" sz="2100" i="1">
                <a:solidFill>
                  <a:srgbClr val="CC0000"/>
                </a:solidFill>
                <a:latin typeface="Calibri" panose="020F0502020204030204" pitchFamily="34" charset="0"/>
              </a:rPr>
              <a:t>R</a:t>
            </a:r>
            <a:r>
              <a:rPr lang="en-US" altLang="en-US" sz="2100" i="1" baseline="-25000">
                <a:solidFill>
                  <a:srgbClr val="CC0000"/>
                </a:solidFill>
                <a:latin typeface="Calibri" panose="020F0502020204030204" pitchFamily="34" charset="0"/>
              </a:rPr>
              <a:t>s</a:t>
            </a:r>
            <a:r>
              <a:rPr lang="en-US" altLang="en-US" sz="2100" i="1">
                <a:solidFill>
                  <a:srgbClr val="CC0000"/>
                </a:solidFill>
                <a:latin typeface="Calibri" panose="020F0502020204030204" pitchFamily="34" charset="0"/>
              </a:rPr>
              <a:t> &lt; R</a:t>
            </a:r>
            <a:r>
              <a:rPr lang="en-US" altLang="en-US" sz="2100" i="1" baseline="-25000">
                <a:solidFill>
                  <a:srgbClr val="CC0000"/>
                </a:solidFill>
                <a:latin typeface="Calibri" panose="020F0502020204030204" pitchFamily="34" charset="0"/>
              </a:rPr>
              <a:t>c</a:t>
            </a:r>
            <a:r>
              <a:rPr lang="en-US" altLang="en-US" sz="2100" i="1">
                <a:solidFill>
                  <a:srgbClr val="FF3300"/>
                </a:solidFill>
                <a:latin typeface="Calibri" panose="020F0502020204030204" pitchFamily="34" charset="0"/>
              </a:rPr>
              <a:t>  </a:t>
            </a:r>
            <a:r>
              <a:rPr lang="en-US" altLang="en-US" sz="2100">
                <a:solidFill>
                  <a:srgbClr val="000000"/>
                </a:solidFill>
                <a:latin typeface="Calibri" panose="020F0502020204030204" pitchFamily="34" charset="0"/>
              </a:rPr>
              <a:t>What is average end-end throughput?</a:t>
            </a:r>
          </a:p>
        </p:txBody>
      </p:sp>
      <p:grpSp>
        <p:nvGrpSpPr>
          <p:cNvPr id="29703" name="Group 34"/>
          <p:cNvGrpSpPr>
            <a:grpSpLocks/>
          </p:cNvGrpSpPr>
          <p:nvPr/>
        </p:nvGrpSpPr>
        <p:grpSpPr bwMode="auto">
          <a:xfrm>
            <a:off x="2058988" y="2614613"/>
            <a:ext cx="1603375" cy="231775"/>
            <a:chOff x="2249" y="3430"/>
            <a:chExt cx="1389" cy="256"/>
          </a:xfrm>
        </p:grpSpPr>
        <p:sp>
          <p:nvSpPr>
            <p:cNvPr id="484" name="Oval 35"/>
            <p:cNvSpPr>
              <a:spLocks noChangeArrowheads="1"/>
            </p:cNvSpPr>
            <p:nvPr/>
          </p:nvSpPr>
          <p:spPr bwMode="auto">
            <a:xfrm>
              <a:off x="3569" y="3434"/>
              <a:ext cx="69" cy="25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485" name="Rectangle 36"/>
            <p:cNvSpPr>
              <a:spLocks noChangeArrowheads="1"/>
            </p:cNvSpPr>
            <p:nvPr/>
          </p:nvSpPr>
          <p:spPr bwMode="auto">
            <a:xfrm>
              <a:off x="2275" y="3434"/>
              <a:ext cx="1326" cy="25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486" name="Oval 37"/>
            <p:cNvSpPr>
              <a:spLocks noChangeArrowheads="1"/>
            </p:cNvSpPr>
            <p:nvPr/>
          </p:nvSpPr>
          <p:spPr bwMode="auto">
            <a:xfrm>
              <a:off x="2249" y="3430"/>
              <a:ext cx="69" cy="252"/>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87" name="Rectangle 38"/>
            <p:cNvSpPr>
              <a:spLocks noChangeArrowheads="1"/>
            </p:cNvSpPr>
            <p:nvPr/>
          </p:nvSpPr>
          <p:spPr bwMode="auto">
            <a:xfrm>
              <a:off x="3562" y="3439"/>
              <a:ext cx="44" cy="244"/>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grpSp>
      <p:sp>
        <p:nvSpPr>
          <p:cNvPr id="29704" name="Text Box 39"/>
          <p:cNvSpPr txBox="1">
            <a:spLocks noChangeArrowheads="1"/>
          </p:cNvSpPr>
          <p:nvPr/>
        </p:nvSpPr>
        <p:spPr bwMode="auto">
          <a:xfrm>
            <a:off x="1900238" y="2560638"/>
            <a:ext cx="193992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500">
                <a:solidFill>
                  <a:srgbClr val="000000"/>
                </a:solidFill>
                <a:latin typeface="Calibri" panose="020F0502020204030204" pitchFamily="34" charset="0"/>
                <a:cs typeface="Arial" panose="020B0604020202020204" pitchFamily="34" charset="0"/>
              </a:rPr>
              <a:t>  R</a:t>
            </a:r>
            <a:r>
              <a:rPr lang="en-US" altLang="en-US" sz="2100" baseline="-25000">
                <a:solidFill>
                  <a:srgbClr val="000000"/>
                </a:solidFill>
                <a:latin typeface="Calibri" panose="020F0502020204030204" pitchFamily="34" charset="0"/>
                <a:cs typeface="Arial" panose="020B0604020202020204" pitchFamily="34" charset="0"/>
              </a:rPr>
              <a:t>s</a:t>
            </a:r>
            <a:r>
              <a:rPr lang="en-US" altLang="en-US" sz="1500" baseline="-25000">
                <a:solidFill>
                  <a:srgbClr val="000000"/>
                </a:solidFill>
                <a:latin typeface="Calibri" panose="020F0502020204030204" pitchFamily="34" charset="0"/>
                <a:cs typeface="Arial" panose="020B0604020202020204" pitchFamily="34" charset="0"/>
              </a:rPr>
              <a:t> </a:t>
            </a:r>
            <a:r>
              <a:rPr lang="en-US" altLang="en-US" sz="1500">
                <a:solidFill>
                  <a:srgbClr val="000000"/>
                </a:solidFill>
                <a:latin typeface="Calibri" panose="020F0502020204030204" pitchFamily="34" charset="0"/>
                <a:cs typeface="Arial" panose="020B0604020202020204" pitchFamily="34" charset="0"/>
              </a:rPr>
              <a:t>bits/sec</a:t>
            </a:r>
          </a:p>
        </p:txBody>
      </p:sp>
      <p:sp>
        <p:nvSpPr>
          <p:cNvPr id="29705" name="AutoShape 42"/>
          <p:cNvSpPr>
            <a:spLocks noChangeArrowheads="1"/>
          </p:cNvSpPr>
          <p:nvPr/>
        </p:nvSpPr>
        <p:spPr bwMode="auto">
          <a:xfrm flipV="1">
            <a:off x="1450975" y="2441575"/>
            <a:ext cx="671513" cy="42386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FFFFFF"/>
              </a:gs>
              <a:gs pos="100000">
                <a:srgbClr val="CC0000"/>
              </a:gs>
            </a:gsLst>
            <a:lin ang="0" scaled="1"/>
          </a:gradFill>
          <a:ln w="9525">
            <a:solidFill>
              <a:srgbClr val="CC0000"/>
            </a:solidFill>
            <a:miter lim="800000"/>
            <a:headEnd/>
            <a:tailEnd/>
          </a:ln>
        </p:spPr>
        <p:txBody>
          <a:bodyPr rot="10800000" wrap="none" anchor="ctr"/>
          <a:lstStyle/>
          <a:p>
            <a:endParaRPr lang="en-GB"/>
          </a:p>
        </p:txBody>
      </p:sp>
      <p:sp>
        <p:nvSpPr>
          <p:cNvPr id="29706" name="AutoShape 43"/>
          <p:cNvSpPr>
            <a:spLocks noChangeArrowheads="1"/>
          </p:cNvSpPr>
          <p:nvPr/>
        </p:nvSpPr>
        <p:spPr bwMode="auto">
          <a:xfrm>
            <a:off x="6126163" y="2595563"/>
            <a:ext cx="706437" cy="284162"/>
          </a:xfrm>
          <a:prstGeom prst="rightArrow">
            <a:avLst>
              <a:gd name="adj1" fmla="val 50000"/>
              <a:gd name="adj2" fmla="val 53968"/>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endParaRPr lang="en-US" altLang="en-US" sz="1800">
              <a:solidFill>
                <a:srgbClr val="000000"/>
              </a:solidFill>
              <a:latin typeface="Calibri" panose="020F0502020204030204" pitchFamily="34" charset="0"/>
              <a:cs typeface="Arial" panose="020B0604020202020204" pitchFamily="34" charset="0"/>
            </a:endParaRPr>
          </a:p>
        </p:txBody>
      </p:sp>
      <p:grpSp>
        <p:nvGrpSpPr>
          <p:cNvPr id="29707" name="Group 54"/>
          <p:cNvGrpSpPr>
            <a:grpSpLocks/>
          </p:cNvGrpSpPr>
          <p:nvPr/>
        </p:nvGrpSpPr>
        <p:grpSpPr bwMode="auto">
          <a:xfrm>
            <a:off x="4589463" y="2514600"/>
            <a:ext cx="1933575" cy="427038"/>
            <a:chOff x="3130" y="3069"/>
            <a:chExt cx="1765" cy="366"/>
          </a:xfrm>
        </p:grpSpPr>
        <p:grpSp>
          <p:nvGrpSpPr>
            <p:cNvPr id="29783" name="Group 45"/>
            <p:cNvGrpSpPr>
              <a:grpSpLocks/>
            </p:cNvGrpSpPr>
            <p:nvPr/>
          </p:nvGrpSpPr>
          <p:grpSpPr bwMode="auto">
            <a:xfrm>
              <a:off x="3130" y="3069"/>
              <a:ext cx="1765" cy="366"/>
              <a:chOff x="2249" y="3430"/>
              <a:chExt cx="1389" cy="256"/>
            </a:xfrm>
          </p:grpSpPr>
          <p:sp>
            <p:nvSpPr>
              <p:cNvPr id="494" name="Oval 46"/>
              <p:cNvSpPr>
                <a:spLocks noChangeArrowheads="1"/>
              </p:cNvSpPr>
              <p:nvPr/>
            </p:nvSpPr>
            <p:spPr bwMode="auto">
              <a:xfrm>
                <a:off x="3568" y="3433"/>
                <a:ext cx="70" cy="253"/>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495" name="Rectangle 47"/>
              <p:cNvSpPr>
                <a:spLocks noChangeArrowheads="1"/>
              </p:cNvSpPr>
              <p:nvPr/>
            </p:nvSpPr>
            <p:spPr bwMode="auto">
              <a:xfrm>
                <a:off x="2275" y="3433"/>
                <a:ext cx="1329" cy="253"/>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496" name="Oval 48"/>
              <p:cNvSpPr>
                <a:spLocks noChangeArrowheads="1"/>
              </p:cNvSpPr>
              <p:nvPr/>
            </p:nvSpPr>
            <p:spPr bwMode="auto">
              <a:xfrm>
                <a:off x="2249" y="3430"/>
                <a:ext cx="70" cy="25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497" name="Rectangle 49"/>
              <p:cNvSpPr>
                <a:spLocks noChangeArrowheads="1"/>
              </p:cNvSpPr>
              <p:nvPr/>
            </p:nvSpPr>
            <p:spPr bwMode="auto">
              <a:xfrm>
                <a:off x="3562" y="3438"/>
                <a:ext cx="44" cy="24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grpSp>
        <p:sp>
          <p:nvSpPr>
            <p:cNvPr id="493" name="Text Box 50"/>
            <p:cNvSpPr txBox="1">
              <a:spLocks noChangeArrowheads="1"/>
            </p:cNvSpPr>
            <p:nvPr/>
          </p:nvSpPr>
          <p:spPr bwMode="auto">
            <a:xfrm>
              <a:off x="3181" y="3136"/>
              <a:ext cx="1703" cy="276"/>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500" kern="0" dirty="0">
                  <a:solidFill>
                    <a:srgbClr val="000000"/>
                  </a:solidFill>
                  <a:latin typeface="Calibri" panose="020F0502020204030204"/>
                  <a:cs typeface="Arial"/>
                </a:rPr>
                <a:t>R</a:t>
              </a:r>
              <a:r>
                <a:rPr lang="en-US" altLang="en-US" sz="2100" kern="0" baseline="-25000" dirty="0">
                  <a:solidFill>
                    <a:srgbClr val="000000"/>
                  </a:solidFill>
                  <a:latin typeface="Calibri" panose="020F0502020204030204"/>
                  <a:cs typeface="Arial"/>
                </a:rPr>
                <a:t>c</a:t>
              </a:r>
              <a:r>
                <a:rPr lang="en-US" altLang="en-US" sz="1500" kern="0" baseline="-25000" dirty="0">
                  <a:solidFill>
                    <a:srgbClr val="000000"/>
                  </a:solidFill>
                  <a:latin typeface="Calibri" panose="020F0502020204030204"/>
                  <a:cs typeface="Arial"/>
                </a:rPr>
                <a:t> </a:t>
              </a:r>
              <a:r>
                <a:rPr lang="en-US" altLang="en-US" sz="1500" kern="0" dirty="0">
                  <a:solidFill>
                    <a:srgbClr val="000000"/>
                  </a:solidFill>
                  <a:latin typeface="Calibri" panose="020F0502020204030204"/>
                  <a:cs typeface="Arial"/>
                </a:rPr>
                <a:t>bits/sec</a:t>
              </a:r>
            </a:p>
          </p:txBody>
        </p:sp>
      </p:grpSp>
      <p:sp>
        <p:nvSpPr>
          <p:cNvPr id="498" name="Rectangle 56"/>
          <p:cNvSpPr>
            <a:spLocks noChangeArrowheads="1"/>
          </p:cNvSpPr>
          <p:nvPr/>
        </p:nvSpPr>
        <p:spPr bwMode="auto">
          <a:xfrm>
            <a:off x="925513" y="3235325"/>
            <a:ext cx="604678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buClr>
                <a:srgbClr val="000099"/>
              </a:buClr>
              <a:buFontTx/>
              <a:buNone/>
            </a:pPr>
            <a:r>
              <a:rPr lang="en-US" altLang="en-US" sz="2100" i="1">
                <a:solidFill>
                  <a:srgbClr val="CC0000"/>
                </a:solidFill>
                <a:latin typeface="Calibri" panose="020F0502020204030204" pitchFamily="34" charset="0"/>
                <a:cs typeface="Arial" panose="020B0604020202020204" pitchFamily="34" charset="0"/>
              </a:rPr>
              <a:t>R</a:t>
            </a:r>
            <a:r>
              <a:rPr lang="en-US" altLang="en-US" sz="2100" i="1" baseline="-25000">
                <a:solidFill>
                  <a:srgbClr val="CC0000"/>
                </a:solidFill>
                <a:latin typeface="Calibri" panose="020F0502020204030204" pitchFamily="34" charset="0"/>
                <a:cs typeface="Arial" panose="020B0604020202020204" pitchFamily="34" charset="0"/>
              </a:rPr>
              <a:t>s</a:t>
            </a:r>
            <a:r>
              <a:rPr lang="en-US" altLang="en-US" sz="2100" i="1">
                <a:solidFill>
                  <a:srgbClr val="CC0000"/>
                </a:solidFill>
                <a:latin typeface="Calibri" panose="020F0502020204030204" pitchFamily="34" charset="0"/>
                <a:cs typeface="Arial" panose="020B0604020202020204" pitchFamily="34" charset="0"/>
              </a:rPr>
              <a:t> &gt; R</a:t>
            </a:r>
            <a:r>
              <a:rPr lang="en-US" altLang="en-US" sz="2100" i="1" baseline="-25000">
                <a:solidFill>
                  <a:srgbClr val="CC0000"/>
                </a:solidFill>
                <a:latin typeface="Calibri" panose="020F0502020204030204" pitchFamily="34" charset="0"/>
                <a:cs typeface="Arial" panose="020B0604020202020204" pitchFamily="34" charset="0"/>
              </a:rPr>
              <a:t>c</a:t>
            </a:r>
            <a:r>
              <a:rPr lang="en-US" altLang="en-US" sz="2100" i="1">
                <a:solidFill>
                  <a:srgbClr val="FF3300"/>
                </a:solidFill>
                <a:latin typeface="Calibri" panose="020F0502020204030204" pitchFamily="34" charset="0"/>
                <a:cs typeface="Arial" panose="020B0604020202020204" pitchFamily="34" charset="0"/>
              </a:rPr>
              <a:t>  </a:t>
            </a:r>
            <a:r>
              <a:rPr lang="en-US" altLang="en-US" sz="2100">
                <a:solidFill>
                  <a:srgbClr val="000000"/>
                </a:solidFill>
                <a:latin typeface="Calibri" panose="020F0502020204030204" pitchFamily="34" charset="0"/>
                <a:cs typeface="Arial" panose="020B0604020202020204" pitchFamily="34" charset="0"/>
              </a:rPr>
              <a:t>What is average end-end throughput?</a:t>
            </a:r>
          </a:p>
        </p:txBody>
      </p:sp>
      <p:grpSp>
        <p:nvGrpSpPr>
          <p:cNvPr id="499" name="Group 209"/>
          <p:cNvGrpSpPr>
            <a:grpSpLocks/>
          </p:cNvGrpSpPr>
          <p:nvPr/>
        </p:nvGrpSpPr>
        <p:grpSpPr bwMode="auto">
          <a:xfrm>
            <a:off x="995363" y="4691063"/>
            <a:ext cx="6635750" cy="962025"/>
            <a:chOff x="186" y="3246"/>
            <a:chExt cx="5573" cy="808"/>
          </a:xfrm>
        </p:grpSpPr>
        <p:sp>
          <p:nvSpPr>
            <p:cNvPr id="500" name="Rectangle 102"/>
            <p:cNvSpPr>
              <a:spLocks noChangeArrowheads="1"/>
            </p:cNvSpPr>
            <p:nvPr/>
          </p:nvSpPr>
          <p:spPr bwMode="auto">
            <a:xfrm>
              <a:off x="186" y="3414"/>
              <a:ext cx="5521" cy="640"/>
            </a:xfrm>
            <a:prstGeom prst="rect">
              <a:avLst/>
            </a:prstGeom>
            <a:solidFill>
              <a:srgbClr val="FFFFFF"/>
            </a:solidFill>
            <a:ln w="2857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01" name="Text Box 101"/>
            <p:cNvSpPr txBox="1">
              <a:spLocks noChangeArrowheads="1"/>
            </p:cNvSpPr>
            <p:nvPr/>
          </p:nvSpPr>
          <p:spPr bwMode="auto">
            <a:xfrm>
              <a:off x="238" y="3585"/>
              <a:ext cx="5521" cy="349"/>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2100" kern="0" dirty="0">
                  <a:solidFill>
                    <a:srgbClr val="000000"/>
                  </a:solidFill>
                  <a:latin typeface="Calibri" panose="020F0502020204030204"/>
                  <a:cs typeface="Arial"/>
                </a:rPr>
                <a:t>link on end-end path that constrains  end-end throughput</a:t>
              </a:r>
            </a:p>
          </p:txBody>
        </p:sp>
        <p:sp>
          <p:nvSpPr>
            <p:cNvPr id="502" name="Text Box 104"/>
            <p:cNvSpPr txBox="1">
              <a:spLocks noChangeArrowheads="1"/>
            </p:cNvSpPr>
            <p:nvPr/>
          </p:nvSpPr>
          <p:spPr bwMode="auto">
            <a:xfrm>
              <a:off x="375" y="3246"/>
              <a:ext cx="1629" cy="349"/>
            </a:xfrm>
            <a:prstGeom prst="rect">
              <a:avLst/>
            </a:prstGeom>
            <a:solidFill>
              <a:srgbClr val="FFFFFF"/>
            </a:solid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2100" i="1" kern="0" dirty="0">
                  <a:solidFill>
                    <a:srgbClr val="CC0000"/>
                  </a:solidFill>
                  <a:latin typeface="Calibri" panose="020F0502020204030204"/>
                  <a:cs typeface="Arial"/>
                </a:rPr>
                <a:t>bottleneck link</a:t>
              </a:r>
            </a:p>
          </p:txBody>
        </p:sp>
      </p:grpSp>
      <p:sp>
        <p:nvSpPr>
          <p:cNvPr id="29710" name="AutoShape 51"/>
          <p:cNvSpPr>
            <a:spLocks noChangeArrowheads="1"/>
          </p:cNvSpPr>
          <p:nvPr/>
        </p:nvSpPr>
        <p:spPr bwMode="auto">
          <a:xfrm>
            <a:off x="3662363" y="2590800"/>
            <a:ext cx="1023937" cy="285750"/>
          </a:xfrm>
          <a:prstGeom prst="rightArrow">
            <a:avLst>
              <a:gd name="adj1" fmla="val 50000"/>
              <a:gd name="adj2" fmla="val 89583"/>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endParaRPr lang="en-US" altLang="en-US" sz="1800">
              <a:solidFill>
                <a:srgbClr val="000000"/>
              </a:solidFill>
              <a:latin typeface="Calibri" panose="020F0502020204030204" pitchFamily="34" charset="0"/>
              <a:cs typeface="Arial" panose="020B0604020202020204" pitchFamily="34" charset="0"/>
            </a:endParaRPr>
          </a:p>
        </p:txBody>
      </p:sp>
      <p:grpSp>
        <p:nvGrpSpPr>
          <p:cNvPr id="29711" name="Group 132"/>
          <p:cNvGrpSpPr>
            <a:grpSpLocks/>
          </p:cNvGrpSpPr>
          <p:nvPr/>
        </p:nvGrpSpPr>
        <p:grpSpPr bwMode="auto">
          <a:xfrm flipH="1">
            <a:off x="6794500" y="2474913"/>
            <a:ext cx="652463" cy="665162"/>
            <a:chOff x="-44" y="1473"/>
            <a:chExt cx="981" cy="1105"/>
          </a:xfrm>
        </p:grpSpPr>
        <p:pic>
          <p:nvPicPr>
            <p:cNvPr id="29778" name="Picture 133"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6" name="Freeform 134"/>
            <p:cNvSpPr>
              <a:spLocks/>
            </p:cNvSpPr>
            <p:nvPr/>
          </p:nvSpPr>
          <p:spPr bwMode="auto">
            <a:xfrm flipH="1">
              <a:off x="374" y="1578"/>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sp>
        <p:nvSpPr>
          <p:cNvPr id="507" name="AutoShape 327"/>
          <p:cNvSpPr>
            <a:spLocks noChangeArrowheads="1"/>
          </p:cNvSpPr>
          <p:nvPr/>
        </p:nvSpPr>
        <p:spPr bwMode="auto">
          <a:xfrm>
            <a:off x="1385888" y="2247900"/>
            <a:ext cx="304800" cy="323850"/>
          </a:xfrm>
          <a:prstGeom prst="can">
            <a:avLst>
              <a:gd name="adj" fmla="val 21398"/>
            </a:avLst>
          </a:prstGeom>
          <a:gradFill rotWithShape="1">
            <a:gsLst>
              <a:gs pos="0">
                <a:srgbClr val="000099"/>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508" name="Group 206"/>
          <p:cNvGrpSpPr>
            <a:grpSpLocks/>
          </p:cNvGrpSpPr>
          <p:nvPr/>
        </p:nvGrpSpPr>
        <p:grpSpPr bwMode="auto">
          <a:xfrm>
            <a:off x="1431925" y="3649663"/>
            <a:ext cx="6094413" cy="874712"/>
            <a:chOff x="775" y="2474"/>
            <a:chExt cx="5119" cy="735"/>
          </a:xfrm>
        </p:grpSpPr>
        <p:grpSp>
          <p:nvGrpSpPr>
            <p:cNvPr id="29715" name="Group 173"/>
            <p:cNvGrpSpPr>
              <a:grpSpLocks/>
            </p:cNvGrpSpPr>
            <p:nvPr/>
          </p:nvGrpSpPr>
          <p:grpSpPr bwMode="auto">
            <a:xfrm>
              <a:off x="1056" y="2589"/>
              <a:ext cx="222" cy="552"/>
              <a:chOff x="4140" y="429"/>
              <a:chExt cx="1425" cy="2396"/>
            </a:xfrm>
          </p:grpSpPr>
          <p:sp>
            <p:nvSpPr>
              <p:cNvPr id="540" name="Freeform 174"/>
              <p:cNvSpPr>
                <a:spLocks/>
              </p:cNvSpPr>
              <p:nvPr/>
            </p:nvSpPr>
            <p:spPr bwMode="auto">
              <a:xfrm>
                <a:off x="5263" y="434"/>
                <a:ext cx="282" cy="2287"/>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41" name="Rectangle 175"/>
              <p:cNvSpPr>
                <a:spLocks noChangeArrowheads="1"/>
              </p:cNvSpPr>
              <p:nvPr/>
            </p:nvSpPr>
            <p:spPr bwMode="auto">
              <a:xfrm>
                <a:off x="4202" y="428"/>
                <a:ext cx="1044" cy="2281"/>
              </a:xfrm>
              <a:prstGeom prst="rect">
                <a:avLst/>
              </a:prstGeom>
              <a:gradFill rotWithShape="1">
                <a:gsLst>
                  <a:gs pos="0">
                    <a:srgbClr val="292929"/>
                  </a:gs>
                  <a:gs pos="100000">
                    <a:srgbClr val="808080"/>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42" name="Freeform 176"/>
              <p:cNvSpPr>
                <a:spLocks/>
              </p:cNvSpPr>
              <p:nvPr/>
            </p:nvSpPr>
            <p:spPr bwMode="auto">
              <a:xfrm>
                <a:off x="5323" y="567"/>
                <a:ext cx="163" cy="2119"/>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43" name="Freeform 177"/>
              <p:cNvSpPr>
                <a:spLocks/>
              </p:cNvSpPr>
              <p:nvPr/>
            </p:nvSpPr>
            <p:spPr bwMode="auto">
              <a:xfrm>
                <a:off x="5281" y="1638"/>
                <a:ext cx="265" cy="191"/>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44" name="Rectangle 178"/>
              <p:cNvSpPr>
                <a:spLocks noChangeArrowheads="1"/>
              </p:cNvSpPr>
              <p:nvPr/>
            </p:nvSpPr>
            <p:spPr bwMode="auto">
              <a:xfrm>
                <a:off x="4211" y="694"/>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751" name="Group 179"/>
              <p:cNvGrpSpPr>
                <a:grpSpLocks/>
              </p:cNvGrpSpPr>
              <p:nvPr/>
            </p:nvGrpSpPr>
            <p:grpSpPr bwMode="auto">
              <a:xfrm>
                <a:off x="4749" y="668"/>
                <a:ext cx="581" cy="145"/>
                <a:chOff x="614" y="2568"/>
                <a:chExt cx="725" cy="139"/>
              </a:xfrm>
            </p:grpSpPr>
            <p:sp>
              <p:nvSpPr>
                <p:cNvPr id="570" name="AutoShape 180"/>
                <p:cNvSpPr>
                  <a:spLocks noChangeArrowheads="1"/>
                </p:cNvSpPr>
                <p:nvPr/>
              </p:nvSpPr>
              <p:spPr bwMode="auto">
                <a:xfrm>
                  <a:off x="615" y="2565"/>
                  <a:ext cx="726"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71" name="AutoShape 181"/>
                <p:cNvSpPr>
                  <a:spLocks noChangeArrowheads="1"/>
                </p:cNvSpPr>
                <p:nvPr/>
              </p:nvSpPr>
              <p:spPr bwMode="auto">
                <a:xfrm>
                  <a:off x="637" y="2582"/>
                  <a:ext cx="684" cy="100"/>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546" name="Rectangle 182"/>
              <p:cNvSpPr>
                <a:spLocks noChangeArrowheads="1"/>
              </p:cNvSpPr>
              <p:nvPr/>
            </p:nvSpPr>
            <p:spPr bwMode="auto">
              <a:xfrm>
                <a:off x="4228" y="1018"/>
                <a:ext cx="591"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753" name="Group 183"/>
              <p:cNvGrpSpPr>
                <a:grpSpLocks/>
              </p:cNvGrpSpPr>
              <p:nvPr/>
            </p:nvGrpSpPr>
            <p:grpSpPr bwMode="auto">
              <a:xfrm>
                <a:off x="4747" y="994"/>
                <a:ext cx="581" cy="134"/>
                <a:chOff x="614" y="2568"/>
                <a:chExt cx="725" cy="139"/>
              </a:xfrm>
            </p:grpSpPr>
            <p:sp>
              <p:nvSpPr>
                <p:cNvPr id="568" name="AutoShape 184"/>
                <p:cNvSpPr>
                  <a:spLocks noChangeArrowheads="1"/>
                </p:cNvSpPr>
                <p:nvPr/>
              </p:nvSpPr>
              <p:spPr bwMode="auto">
                <a:xfrm>
                  <a:off x="618" y="2569"/>
                  <a:ext cx="716" cy="138"/>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69" name="AutoShape 185"/>
                <p:cNvSpPr>
                  <a:spLocks noChangeArrowheads="1"/>
                </p:cNvSpPr>
                <p:nvPr/>
              </p:nvSpPr>
              <p:spPr bwMode="auto">
                <a:xfrm>
                  <a:off x="639" y="2587"/>
                  <a:ext cx="684" cy="102"/>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548" name="Rectangle 186"/>
              <p:cNvSpPr>
                <a:spLocks noChangeArrowheads="1"/>
              </p:cNvSpPr>
              <p:nvPr/>
            </p:nvSpPr>
            <p:spPr bwMode="auto">
              <a:xfrm>
                <a:off x="4219" y="1360"/>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49" name="Rectangle 187"/>
              <p:cNvSpPr>
                <a:spLocks noChangeArrowheads="1"/>
              </p:cNvSpPr>
              <p:nvPr/>
            </p:nvSpPr>
            <p:spPr bwMode="auto">
              <a:xfrm>
                <a:off x="4228" y="1649"/>
                <a:ext cx="599"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756" name="Group 188"/>
              <p:cNvGrpSpPr>
                <a:grpSpLocks/>
              </p:cNvGrpSpPr>
              <p:nvPr/>
            </p:nvGrpSpPr>
            <p:grpSpPr bwMode="auto">
              <a:xfrm>
                <a:off x="4735" y="1627"/>
                <a:ext cx="582" cy="151"/>
                <a:chOff x="614" y="2568"/>
                <a:chExt cx="725" cy="139"/>
              </a:xfrm>
            </p:grpSpPr>
            <p:sp>
              <p:nvSpPr>
                <p:cNvPr id="566" name="AutoShape 189"/>
                <p:cNvSpPr>
                  <a:spLocks noChangeArrowheads="1"/>
                </p:cNvSpPr>
                <p:nvPr/>
              </p:nvSpPr>
              <p:spPr bwMode="auto">
                <a:xfrm>
                  <a:off x="611" y="2567"/>
                  <a:ext cx="725"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67" name="AutoShape 190"/>
                <p:cNvSpPr>
                  <a:spLocks noChangeArrowheads="1"/>
                </p:cNvSpPr>
                <p:nvPr/>
              </p:nvSpPr>
              <p:spPr bwMode="auto">
                <a:xfrm>
                  <a:off x="633" y="2583"/>
                  <a:ext cx="682" cy="107"/>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551" name="Freeform 191"/>
              <p:cNvSpPr>
                <a:spLocks/>
              </p:cNvSpPr>
              <p:nvPr/>
            </p:nvSpPr>
            <p:spPr bwMode="auto">
              <a:xfrm>
                <a:off x="5289" y="1354"/>
                <a:ext cx="257" cy="18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nvGrpSpPr>
              <p:cNvPr id="29758" name="Group 192"/>
              <p:cNvGrpSpPr>
                <a:grpSpLocks/>
              </p:cNvGrpSpPr>
              <p:nvPr/>
            </p:nvGrpSpPr>
            <p:grpSpPr bwMode="auto">
              <a:xfrm>
                <a:off x="4739" y="1327"/>
                <a:ext cx="582" cy="139"/>
                <a:chOff x="614" y="2568"/>
                <a:chExt cx="725" cy="139"/>
              </a:xfrm>
            </p:grpSpPr>
            <p:sp>
              <p:nvSpPr>
                <p:cNvPr id="564" name="AutoShape 193"/>
                <p:cNvSpPr>
                  <a:spLocks noChangeArrowheads="1"/>
                </p:cNvSpPr>
                <p:nvPr/>
              </p:nvSpPr>
              <p:spPr bwMode="auto">
                <a:xfrm>
                  <a:off x="617" y="2566"/>
                  <a:ext cx="725" cy="139"/>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65" name="AutoShape 194"/>
                <p:cNvSpPr>
                  <a:spLocks noChangeArrowheads="1"/>
                </p:cNvSpPr>
                <p:nvPr/>
              </p:nvSpPr>
              <p:spPr bwMode="auto">
                <a:xfrm>
                  <a:off x="628"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553" name="Rectangle 195"/>
              <p:cNvSpPr>
                <a:spLocks noChangeArrowheads="1"/>
              </p:cNvSpPr>
              <p:nvPr/>
            </p:nvSpPr>
            <p:spPr bwMode="auto">
              <a:xfrm>
                <a:off x="5246" y="428"/>
                <a:ext cx="77"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54" name="Freeform 196"/>
              <p:cNvSpPr>
                <a:spLocks/>
              </p:cNvSpPr>
              <p:nvPr/>
            </p:nvSpPr>
            <p:spPr bwMode="auto">
              <a:xfrm>
                <a:off x="5315" y="1007"/>
                <a:ext cx="231" cy="214"/>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55" name="Freeform 197"/>
              <p:cNvSpPr>
                <a:spLocks/>
              </p:cNvSpPr>
              <p:nvPr/>
            </p:nvSpPr>
            <p:spPr bwMode="auto">
              <a:xfrm>
                <a:off x="5315" y="677"/>
                <a:ext cx="240" cy="24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56" name="Oval 198"/>
              <p:cNvSpPr>
                <a:spLocks noChangeArrowheads="1"/>
              </p:cNvSpPr>
              <p:nvPr/>
            </p:nvSpPr>
            <p:spPr bwMode="auto">
              <a:xfrm>
                <a:off x="5520" y="2611"/>
                <a:ext cx="43" cy="98"/>
              </a:xfrm>
              <a:prstGeom prst="ellipse">
                <a:avLst/>
              </a:prstGeom>
              <a:solidFill>
                <a:srgbClr val="3333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57" name="Freeform 199"/>
              <p:cNvSpPr>
                <a:spLocks/>
              </p:cNvSpPr>
              <p:nvPr/>
            </p:nvSpPr>
            <p:spPr bwMode="auto">
              <a:xfrm>
                <a:off x="5298" y="2616"/>
                <a:ext cx="248" cy="19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58" name="AutoShape 200"/>
              <p:cNvSpPr>
                <a:spLocks noChangeArrowheads="1"/>
              </p:cNvSpPr>
              <p:nvPr/>
            </p:nvSpPr>
            <p:spPr bwMode="auto">
              <a:xfrm>
                <a:off x="4142" y="2674"/>
                <a:ext cx="1198" cy="151"/>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59" name="AutoShape 201"/>
              <p:cNvSpPr>
                <a:spLocks noChangeArrowheads="1"/>
              </p:cNvSpPr>
              <p:nvPr/>
            </p:nvSpPr>
            <p:spPr bwMode="auto">
              <a:xfrm>
                <a:off x="4202" y="2709"/>
                <a:ext cx="1070" cy="87"/>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60" name="Oval 202"/>
              <p:cNvSpPr>
                <a:spLocks noChangeArrowheads="1"/>
              </p:cNvSpPr>
              <p:nvPr/>
            </p:nvSpPr>
            <p:spPr bwMode="auto">
              <a:xfrm>
                <a:off x="4305" y="2379"/>
                <a:ext cx="163" cy="145"/>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61" name="Oval 203"/>
              <p:cNvSpPr>
                <a:spLocks noChangeArrowheads="1"/>
              </p:cNvSpPr>
              <p:nvPr/>
            </p:nvSpPr>
            <p:spPr bwMode="auto">
              <a:xfrm>
                <a:off x="4485" y="2379"/>
                <a:ext cx="163" cy="145"/>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350" kern="0" dirty="0">
                  <a:solidFill>
                    <a:srgbClr val="FF0000"/>
                  </a:solidFill>
                  <a:latin typeface="Calibri" panose="020F0502020204030204"/>
                  <a:cs typeface="Arial"/>
                </a:endParaRPr>
              </a:p>
            </p:txBody>
          </p:sp>
          <p:sp>
            <p:nvSpPr>
              <p:cNvPr id="562" name="Oval 204"/>
              <p:cNvSpPr>
                <a:spLocks noChangeArrowheads="1"/>
              </p:cNvSpPr>
              <p:nvPr/>
            </p:nvSpPr>
            <p:spPr bwMode="auto">
              <a:xfrm>
                <a:off x="4664" y="2379"/>
                <a:ext cx="154" cy="139"/>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63" name="Rectangle 205"/>
              <p:cNvSpPr>
                <a:spLocks noChangeArrowheads="1"/>
              </p:cNvSpPr>
              <p:nvPr/>
            </p:nvSpPr>
            <p:spPr bwMode="auto">
              <a:xfrm>
                <a:off x="5067" y="1835"/>
                <a:ext cx="77"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510" name="Line 57"/>
            <p:cNvSpPr>
              <a:spLocks noChangeShapeType="1"/>
            </p:cNvSpPr>
            <p:nvPr/>
          </p:nvSpPr>
          <p:spPr bwMode="auto">
            <a:xfrm>
              <a:off x="1354" y="2913"/>
              <a:ext cx="3662" cy="0"/>
            </a:xfrm>
            <a:prstGeom prst="line">
              <a:avLst/>
            </a:prstGeom>
            <a:noFill/>
            <a:ln w="9525">
              <a:solidFill>
                <a:srgbClr val="000000"/>
              </a:solidFill>
              <a:round/>
              <a:headEnd/>
              <a:tailEnd/>
            </a:ln>
          </p:spPr>
          <p:txBody>
            <a:bodyP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nvGrpSpPr>
            <p:cNvPr id="29717" name="Group 58"/>
            <p:cNvGrpSpPr>
              <a:grpSpLocks/>
            </p:cNvGrpSpPr>
            <p:nvPr/>
          </p:nvGrpSpPr>
          <p:grpSpPr bwMode="auto">
            <a:xfrm>
              <a:off x="2731" y="2870"/>
              <a:ext cx="607" cy="108"/>
              <a:chOff x="3603" y="243"/>
              <a:chExt cx="357" cy="106"/>
            </a:xfrm>
          </p:grpSpPr>
          <p:sp>
            <p:nvSpPr>
              <p:cNvPr id="531" name="Line 60"/>
              <p:cNvSpPr>
                <a:spLocks noChangeShapeType="1"/>
              </p:cNvSpPr>
              <p:nvPr/>
            </p:nvSpPr>
            <p:spPr bwMode="auto">
              <a:xfrm>
                <a:off x="3603" y="289"/>
                <a:ext cx="0" cy="60"/>
              </a:xfrm>
              <a:prstGeom prst="line">
                <a:avLst/>
              </a:prstGeom>
              <a:noFill/>
              <a:ln w="12700">
                <a:solidFill>
                  <a:srgbClr val="000000"/>
                </a:solidFill>
                <a:round/>
                <a:headEnd/>
                <a:tailEnd/>
              </a:ln>
            </p:spPr>
            <p:txBody>
              <a:bodyPr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32" name="Line 61"/>
              <p:cNvSpPr>
                <a:spLocks noChangeShapeType="1"/>
              </p:cNvSpPr>
              <p:nvPr/>
            </p:nvSpPr>
            <p:spPr bwMode="auto">
              <a:xfrm>
                <a:off x="3960" y="289"/>
                <a:ext cx="0" cy="60"/>
              </a:xfrm>
              <a:prstGeom prst="line">
                <a:avLst/>
              </a:prstGeom>
              <a:noFill/>
              <a:ln w="12700">
                <a:solidFill>
                  <a:srgbClr val="000000"/>
                </a:solidFill>
                <a:round/>
                <a:headEnd/>
                <a:tailEnd/>
              </a:ln>
            </p:spPr>
            <p:txBody>
              <a:bodyPr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33" name="Rectangle 62"/>
              <p:cNvSpPr>
                <a:spLocks noChangeArrowheads="1"/>
              </p:cNvSpPr>
              <p:nvPr/>
            </p:nvSpPr>
            <p:spPr bwMode="auto">
              <a:xfrm>
                <a:off x="3603" y="289"/>
                <a:ext cx="354" cy="59"/>
              </a:xfrm>
              <a:prstGeom prst="rect">
                <a:avLst/>
              </a:prstGeom>
              <a:solidFill>
                <a:srgbClr val="CCCCFF"/>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endParaRPr lang="en-US" altLang="en-US" sz="1800" kern="0" dirty="0">
                  <a:solidFill>
                    <a:srgbClr val="000000"/>
                  </a:solidFill>
                  <a:latin typeface="Calibri" panose="020F0502020204030204"/>
                  <a:cs typeface="Arial"/>
                </a:endParaRPr>
              </a:p>
            </p:txBody>
          </p:sp>
          <p:grpSp>
            <p:nvGrpSpPr>
              <p:cNvPr id="29740" name="Group 64"/>
              <p:cNvGrpSpPr>
                <a:grpSpLocks/>
              </p:cNvGrpSpPr>
              <p:nvPr/>
            </p:nvGrpSpPr>
            <p:grpSpPr bwMode="auto">
              <a:xfrm>
                <a:off x="3749" y="248"/>
                <a:ext cx="119" cy="65"/>
                <a:chOff x="2894" y="850"/>
                <a:chExt cx="94" cy="96"/>
              </a:xfrm>
            </p:grpSpPr>
            <p:sp>
              <p:nvSpPr>
                <p:cNvPr id="538" name="Line 66"/>
                <p:cNvSpPr>
                  <a:spLocks noChangeShapeType="1"/>
                </p:cNvSpPr>
                <p:nvPr/>
              </p:nvSpPr>
              <p:spPr bwMode="auto">
                <a:xfrm>
                  <a:off x="2944" y="945"/>
                  <a:ext cx="44" cy="0"/>
                </a:xfrm>
                <a:prstGeom prst="line">
                  <a:avLst/>
                </a:prstGeom>
                <a:noFill/>
                <a:ln w="28575">
                  <a:solidFill>
                    <a:srgbClr val="000000"/>
                  </a:solidFill>
                  <a:round/>
                  <a:headEnd/>
                  <a:tailEnd/>
                </a:ln>
              </p:spPr>
              <p:txBody>
                <a:bodyPr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39" name="Line 67"/>
                <p:cNvSpPr>
                  <a:spLocks noChangeShapeType="1"/>
                </p:cNvSpPr>
                <p:nvPr/>
              </p:nvSpPr>
              <p:spPr bwMode="auto">
                <a:xfrm>
                  <a:off x="2894" y="851"/>
                  <a:ext cx="52" cy="95"/>
                </a:xfrm>
                <a:prstGeom prst="line">
                  <a:avLst/>
                </a:prstGeom>
                <a:noFill/>
                <a:ln w="28575">
                  <a:solidFill>
                    <a:srgbClr val="000000"/>
                  </a:solidFill>
                  <a:round/>
                  <a:headEnd/>
                  <a:tailEnd/>
                </a:ln>
              </p:spPr>
              <p:txBody>
                <a:bodyPr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grpSp>
            <p:nvGrpSpPr>
              <p:cNvPr id="29741" name="Group 68"/>
              <p:cNvGrpSpPr>
                <a:grpSpLocks/>
              </p:cNvGrpSpPr>
              <p:nvPr/>
            </p:nvGrpSpPr>
            <p:grpSpPr bwMode="auto">
              <a:xfrm flipV="1">
                <a:off x="3689" y="243"/>
                <a:ext cx="124" cy="66"/>
                <a:chOff x="2848" y="848"/>
                <a:chExt cx="98" cy="98"/>
              </a:xfrm>
            </p:grpSpPr>
            <p:sp>
              <p:nvSpPr>
                <p:cNvPr id="536" name="Line 69"/>
                <p:cNvSpPr>
                  <a:spLocks noChangeShapeType="1"/>
                </p:cNvSpPr>
                <p:nvPr/>
              </p:nvSpPr>
              <p:spPr bwMode="auto">
                <a:xfrm flipV="1">
                  <a:off x="2848" y="849"/>
                  <a:ext cx="50" cy="2"/>
                </a:xfrm>
                <a:prstGeom prst="line">
                  <a:avLst/>
                </a:prstGeom>
                <a:noFill/>
                <a:ln w="28575">
                  <a:solidFill>
                    <a:srgbClr val="000000"/>
                  </a:solidFill>
                  <a:round/>
                  <a:headEnd/>
                  <a:tailEnd/>
                </a:ln>
              </p:spPr>
              <p:txBody>
                <a:bodyPr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sp>
              <p:nvSpPr>
                <p:cNvPr id="537" name="Line 71"/>
                <p:cNvSpPr>
                  <a:spLocks noChangeShapeType="1"/>
                </p:cNvSpPr>
                <p:nvPr/>
              </p:nvSpPr>
              <p:spPr bwMode="auto">
                <a:xfrm>
                  <a:off x="2894" y="850"/>
                  <a:ext cx="52" cy="95"/>
                </a:xfrm>
                <a:prstGeom prst="line">
                  <a:avLst/>
                </a:prstGeom>
                <a:noFill/>
                <a:ln w="28575">
                  <a:solidFill>
                    <a:srgbClr val="000000"/>
                  </a:solidFill>
                  <a:round/>
                  <a:headEnd/>
                  <a:tailEnd/>
                </a:ln>
              </p:spPr>
              <p:txBody>
                <a:bodyPr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grpSp>
        <p:sp>
          <p:nvSpPr>
            <p:cNvPr id="512" name="AutoShape 90"/>
            <p:cNvSpPr>
              <a:spLocks noChangeArrowheads="1"/>
            </p:cNvSpPr>
            <p:nvPr/>
          </p:nvSpPr>
          <p:spPr bwMode="auto">
            <a:xfrm>
              <a:off x="4741" y="2811"/>
              <a:ext cx="609" cy="240"/>
            </a:xfrm>
            <a:prstGeom prst="rightArrow">
              <a:avLst>
                <a:gd name="adj1" fmla="val 50000"/>
                <a:gd name="adj2" fmla="val 53870"/>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nvGrpSpPr>
            <p:cNvPr id="29719" name="Group 92"/>
            <p:cNvGrpSpPr>
              <a:grpSpLocks/>
            </p:cNvGrpSpPr>
            <p:nvPr/>
          </p:nvGrpSpPr>
          <p:grpSpPr bwMode="auto">
            <a:xfrm>
              <a:off x="1328" y="2739"/>
              <a:ext cx="1347" cy="360"/>
              <a:chOff x="2249" y="3459"/>
              <a:chExt cx="1389" cy="257"/>
            </a:xfrm>
          </p:grpSpPr>
          <p:sp>
            <p:nvSpPr>
              <p:cNvPr id="527" name="Oval 93"/>
              <p:cNvSpPr>
                <a:spLocks noChangeArrowheads="1"/>
              </p:cNvSpPr>
              <p:nvPr/>
            </p:nvSpPr>
            <p:spPr bwMode="auto">
              <a:xfrm>
                <a:off x="3569" y="3463"/>
                <a:ext cx="69" cy="253"/>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528" name="Rectangle 94"/>
              <p:cNvSpPr>
                <a:spLocks noChangeArrowheads="1"/>
              </p:cNvSpPr>
              <p:nvPr/>
            </p:nvSpPr>
            <p:spPr bwMode="auto">
              <a:xfrm>
                <a:off x="2276" y="3459"/>
                <a:ext cx="1325" cy="253"/>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529" name="Oval 95"/>
              <p:cNvSpPr>
                <a:spLocks noChangeArrowheads="1"/>
              </p:cNvSpPr>
              <p:nvPr/>
            </p:nvSpPr>
            <p:spPr bwMode="auto">
              <a:xfrm>
                <a:off x="2249" y="3460"/>
                <a:ext cx="69" cy="25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30" name="Rectangle 96"/>
              <p:cNvSpPr>
                <a:spLocks noChangeArrowheads="1"/>
              </p:cNvSpPr>
              <p:nvPr/>
            </p:nvSpPr>
            <p:spPr bwMode="auto">
              <a:xfrm>
                <a:off x="3563" y="3462"/>
                <a:ext cx="44" cy="24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grpSp>
        <p:sp>
          <p:nvSpPr>
            <p:cNvPr id="514" name="Text Box 97"/>
            <p:cNvSpPr txBox="1">
              <a:spLocks noChangeArrowheads="1"/>
            </p:cNvSpPr>
            <p:nvPr/>
          </p:nvSpPr>
          <p:spPr bwMode="auto">
            <a:xfrm>
              <a:off x="1312" y="2811"/>
              <a:ext cx="1420" cy="271"/>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500" kern="0" dirty="0">
                  <a:solidFill>
                    <a:srgbClr val="000000"/>
                  </a:solidFill>
                  <a:latin typeface="Calibri" panose="020F0502020204030204"/>
                  <a:cs typeface="Arial"/>
                </a:rPr>
                <a:t>R</a:t>
              </a:r>
              <a:r>
                <a:rPr lang="en-US" altLang="en-US" sz="2100" kern="0" baseline="-25000" dirty="0">
                  <a:solidFill>
                    <a:srgbClr val="000000"/>
                  </a:solidFill>
                  <a:latin typeface="Calibri" panose="020F0502020204030204"/>
                  <a:cs typeface="Arial"/>
                </a:rPr>
                <a:t>s</a:t>
              </a:r>
              <a:r>
                <a:rPr lang="en-US" altLang="en-US" sz="1500" kern="0" baseline="-25000" dirty="0">
                  <a:solidFill>
                    <a:srgbClr val="000000"/>
                  </a:solidFill>
                  <a:latin typeface="Calibri" panose="020F0502020204030204"/>
                  <a:cs typeface="Arial"/>
                </a:rPr>
                <a:t> </a:t>
              </a:r>
              <a:r>
                <a:rPr lang="en-US" altLang="en-US" sz="1500" kern="0" dirty="0">
                  <a:solidFill>
                    <a:srgbClr val="000000"/>
                  </a:solidFill>
                  <a:latin typeface="Calibri" panose="020F0502020204030204"/>
                  <a:cs typeface="Arial"/>
                </a:rPr>
                <a:t>bits/sec</a:t>
              </a:r>
            </a:p>
          </p:txBody>
        </p:sp>
        <p:grpSp>
          <p:nvGrpSpPr>
            <p:cNvPr id="29721" name="Group 83"/>
            <p:cNvGrpSpPr>
              <a:grpSpLocks/>
            </p:cNvGrpSpPr>
            <p:nvPr/>
          </p:nvGrpSpPr>
          <p:grpSpPr bwMode="auto">
            <a:xfrm>
              <a:off x="3419" y="2828"/>
              <a:ext cx="1621" cy="194"/>
              <a:chOff x="2249" y="3430"/>
              <a:chExt cx="1389" cy="256"/>
            </a:xfrm>
          </p:grpSpPr>
          <p:sp>
            <p:nvSpPr>
              <p:cNvPr id="523" name="Oval 84"/>
              <p:cNvSpPr>
                <a:spLocks noChangeArrowheads="1"/>
              </p:cNvSpPr>
              <p:nvPr/>
            </p:nvSpPr>
            <p:spPr bwMode="auto">
              <a:xfrm>
                <a:off x="3570" y="3433"/>
                <a:ext cx="69" cy="253"/>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524" name="Rectangle 85"/>
              <p:cNvSpPr>
                <a:spLocks noChangeArrowheads="1"/>
              </p:cNvSpPr>
              <p:nvPr/>
            </p:nvSpPr>
            <p:spPr bwMode="auto">
              <a:xfrm>
                <a:off x="2275" y="3433"/>
                <a:ext cx="1327" cy="253"/>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sp>
            <p:nvSpPr>
              <p:cNvPr id="525" name="Oval 86"/>
              <p:cNvSpPr>
                <a:spLocks noChangeArrowheads="1"/>
              </p:cNvSpPr>
              <p:nvPr/>
            </p:nvSpPr>
            <p:spPr bwMode="auto">
              <a:xfrm>
                <a:off x="2249" y="3429"/>
                <a:ext cx="69" cy="25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26" name="Rectangle 87"/>
              <p:cNvSpPr>
                <a:spLocks noChangeArrowheads="1"/>
              </p:cNvSpPr>
              <p:nvPr/>
            </p:nvSpPr>
            <p:spPr bwMode="auto">
              <a:xfrm>
                <a:off x="3562" y="3438"/>
                <a:ext cx="46" cy="24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1800" kern="0" dirty="0">
                  <a:solidFill>
                    <a:srgbClr val="000000"/>
                  </a:solidFill>
                  <a:latin typeface="Calibri" panose="020F0502020204030204"/>
                  <a:ea typeface="ＭＳ Ｐゴシック" charset="0"/>
                  <a:cs typeface="ＭＳ Ｐゴシック" charset="0"/>
                </a:endParaRPr>
              </a:p>
            </p:txBody>
          </p:sp>
        </p:grpSp>
        <p:sp>
          <p:nvSpPr>
            <p:cNvPr id="516" name="Text Box 88"/>
            <p:cNvSpPr txBox="1">
              <a:spLocks noChangeArrowheads="1"/>
            </p:cNvSpPr>
            <p:nvPr/>
          </p:nvSpPr>
          <p:spPr bwMode="auto">
            <a:xfrm>
              <a:off x="3475" y="2779"/>
              <a:ext cx="1629" cy="272"/>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500" kern="0" dirty="0">
                  <a:solidFill>
                    <a:srgbClr val="000000"/>
                  </a:solidFill>
                  <a:latin typeface="Calibri" panose="020F0502020204030204"/>
                  <a:cs typeface="Arial"/>
                </a:rPr>
                <a:t>  R</a:t>
              </a:r>
              <a:r>
                <a:rPr lang="en-US" altLang="en-US" sz="2100" kern="0" baseline="-25000" dirty="0">
                  <a:solidFill>
                    <a:srgbClr val="000000"/>
                  </a:solidFill>
                  <a:latin typeface="Calibri" panose="020F0502020204030204"/>
                  <a:cs typeface="Arial"/>
                </a:rPr>
                <a:t>c</a:t>
              </a:r>
              <a:r>
                <a:rPr lang="en-US" altLang="en-US" sz="1500" kern="0" baseline="-25000" dirty="0">
                  <a:solidFill>
                    <a:srgbClr val="000000"/>
                  </a:solidFill>
                  <a:latin typeface="Calibri" panose="020F0502020204030204"/>
                  <a:cs typeface="Arial"/>
                </a:rPr>
                <a:t> </a:t>
              </a:r>
              <a:r>
                <a:rPr lang="en-US" altLang="en-US" sz="1500" kern="0" dirty="0">
                  <a:solidFill>
                    <a:srgbClr val="000000"/>
                  </a:solidFill>
                  <a:latin typeface="Calibri" panose="020F0502020204030204"/>
                  <a:cs typeface="Arial"/>
                </a:rPr>
                <a:t>bits/sec</a:t>
              </a:r>
            </a:p>
          </p:txBody>
        </p:sp>
        <p:sp>
          <p:nvSpPr>
            <p:cNvPr id="517" name="AutoShape 98"/>
            <p:cNvSpPr>
              <a:spLocks noChangeArrowheads="1"/>
            </p:cNvSpPr>
            <p:nvPr/>
          </p:nvSpPr>
          <p:spPr bwMode="auto">
            <a:xfrm>
              <a:off x="2668" y="2807"/>
              <a:ext cx="860" cy="240"/>
            </a:xfrm>
            <a:prstGeom prst="rightArrow">
              <a:avLst>
                <a:gd name="adj1" fmla="val 50000"/>
                <a:gd name="adj2" fmla="val 89583"/>
              </a:avLst>
            </a:prstGeom>
            <a:gradFill rotWithShape="1">
              <a:gsLst>
                <a:gs pos="0">
                  <a:srgbClr val="FFFFFF"/>
                </a:gs>
                <a:gs pos="100000">
                  <a:srgbClr val="CC0000"/>
                </a:gs>
              </a:gsLst>
              <a:lin ang="0" scaled="1"/>
            </a:gradFill>
            <a:ln w="9525">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sp>
          <p:nvSpPr>
            <p:cNvPr id="518" name="AutoShape 89"/>
            <p:cNvSpPr>
              <a:spLocks noChangeArrowheads="1"/>
            </p:cNvSpPr>
            <p:nvPr/>
          </p:nvSpPr>
          <p:spPr bwMode="auto">
            <a:xfrm flipV="1">
              <a:off x="814" y="2682"/>
              <a:ext cx="564" cy="35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09 w 21600"/>
                <a:gd name="T13" fmla="*/ 2912 h 21600"/>
                <a:gd name="T14" fmla="*/ 18230 w 21600"/>
                <a:gd name="T15" fmla="*/ 922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FFFFFF"/>
                </a:gs>
                <a:gs pos="100000">
                  <a:srgbClr val="CC0000"/>
                </a:gs>
              </a:gsLst>
              <a:lin ang="0" scaled="1"/>
            </a:gradFill>
            <a:ln w="9525">
              <a:solidFill>
                <a:srgbClr val="CC0000"/>
              </a:solidFill>
              <a:miter lim="800000"/>
              <a:headEnd/>
              <a:tailEnd/>
            </a:ln>
          </p:spPr>
          <p:txBody>
            <a:bodyPr rot="10800000" wrap="none" anchor="ctr"/>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nvGrpSpPr>
            <p:cNvPr id="29725" name="Group 135"/>
            <p:cNvGrpSpPr>
              <a:grpSpLocks/>
            </p:cNvGrpSpPr>
            <p:nvPr/>
          </p:nvGrpSpPr>
          <p:grpSpPr bwMode="auto">
            <a:xfrm flipH="1">
              <a:off x="5345" y="2651"/>
              <a:ext cx="549" cy="558"/>
              <a:chOff x="-248" y="1473"/>
              <a:chExt cx="981" cy="1105"/>
            </a:xfrm>
          </p:grpSpPr>
          <p:pic>
            <p:nvPicPr>
              <p:cNvPr id="29727" name="Picture 136"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8"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 name="Freeform 137"/>
              <p:cNvSpPr>
                <a:spLocks/>
              </p:cNvSpPr>
              <p:nvPr/>
            </p:nvSpPr>
            <p:spPr bwMode="auto">
              <a:xfrm flipH="1">
                <a:off x="205" y="1579"/>
                <a:ext cx="477" cy="507"/>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1800" kern="0" dirty="0">
                  <a:solidFill>
                    <a:srgbClr val="000000"/>
                  </a:solidFill>
                  <a:latin typeface="Calibri" panose="020F0502020204030204"/>
                  <a:ea typeface="ＭＳ Ｐゴシック" panose="020B0600070205080204" pitchFamily="34" charset="-128"/>
                  <a:cs typeface="Arial"/>
                </a:endParaRPr>
              </a:p>
            </p:txBody>
          </p:sp>
        </p:grpSp>
        <p:sp>
          <p:nvSpPr>
            <p:cNvPr id="520" name="AutoShape 327"/>
            <p:cNvSpPr>
              <a:spLocks noChangeArrowheads="1"/>
            </p:cNvSpPr>
            <p:nvPr/>
          </p:nvSpPr>
          <p:spPr bwMode="auto">
            <a:xfrm>
              <a:off x="775" y="2474"/>
              <a:ext cx="257" cy="272"/>
            </a:xfrm>
            <a:prstGeom prst="can">
              <a:avLst>
                <a:gd name="adj" fmla="val 21398"/>
              </a:avLst>
            </a:prstGeom>
            <a:gradFill rotWithShape="1">
              <a:gsLst>
                <a:gs pos="0">
                  <a:srgbClr val="000099"/>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kern="0" dirty="0">
                <a:solidFill>
                  <a:srgbClr val="000000"/>
                </a:solidFill>
                <a:latin typeface="Calibri" panose="020F0502020204030204"/>
                <a:cs typeface="Arial"/>
              </a:endParaRPr>
            </a:p>
          </p:txBody>
        </p:sp>
      </p:grpSp>
      <p:sp>
        <p:nvSpPr>
          <p:cNvPr id="29714"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F072E1ED-6077-408B-B28E-4163C784F9E4}" type="slidenum">
              <a:rPr lang="en-US" altLang="en-US" sz="1100">
                <a:solidFill>
                  <a:srgbClr val="7F7F7F"/>
                </a:solidFill>
              </a:rPr>
              <a:pPr>
                <a:spcBef>
                  <a:spcPct val="0"/>
                </a:spcBef>
                <a:buFontTx/>
                <a:buNone/>
              </a:pPr>
              <a:t>14</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noChangeArrowheads="1"/>
          </p:cNvSpPr>
          <p:nvPr>
            <p:ph type="title"/>
          </p:nvPr>
        </p:nvSpPr>
        <p:spPr>
          <a:xfrm>
            <a:off x="619125" y="1076325"/>
            <a:ext cx="7886700" cy="671513"/>
          </a:xfrm>
        </p:spPr>
        <p:txBody>
          <a:bodyPr/>
          <a:lstStyle/>
          <a:p>
            <a:r>
              <a:rPr lang="en-US" altLang="en-US" sz="3300" smtClean="0"/>
              <a:t>Throughput: network scenario</a:t>
            </a:r>
          </a:p>
        </p:txBody>
      </p:sp>
      <p:grpSp>
        <p:nvGrpSpPr>
          <p:cNvPr id="31747" name="Group 2"/>
          <p:cNvGrpSpPr>
            <a:grpSpLocks/>
          </p:cNvGrpSpPr>
          <p:nvPr/>
        </p:nvGrpSpPr>
        <p:grpSpPr bwMode="auto">
          <a:xfrm>
            <a:off x="800100" y="1835150"/>
            <a:ext cx="3565525" cy="3789363"/>
            <a:chOff x="6096000" y="1390614"/>
            <a:chExt cx="4754562" cy="5052775"/>
          </a:xfrm>
        </p:grpSpPr>
        <p:sp>
          <p:nvSpPr>
            <p:cNvPr id="31752" name="Text Box 44"/>
            <p:cNvSpPr txBox="1">
              <a:spLocks noChangeArrowheads="1"/>
            </p:cNvSpPr>
            <p:nvPr/>
          </p:nvSpPr>
          <p:spPr bwMode="auto">
            <a:xfrm>
              <a:off x="6096000" y="5581614"/>
              <a:ext cx="4754562" cy="86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10 connections (fairly) share backbone bottleneck link </a:t>
              </a:r>
              <a:r>
                <a:rPr lang="en-US" altLang="en-US" sz="1800" i="1">
                  <a:solidFill>
                    <a:srgbClr val="000000"/>
                  </a:solidFill>
                  <a:latin typeface="Calibri" panose="020F0502020204030204" pitchFamily="34" charset="0"/>
                  <a:cs typeface="Arial" panose="020B0604020202020204" pitchFamily="34" charset="0"/>
                </a:rPr>
                <a:t>R</a:t>
              </a:r>
              <a:r>
                <a:rPr lang="en-US" altLang="en-US" sz="1800" baseline="-25000">
                  <a:solidFill>
                    <a:srgbClr val="000000"/>
                  </a:solidFill>
                  <a:latin typeface="Calibri" panose="020F0502020204030204" pitchFamily="34" charset="0"/>
                  <a:cs typeface="Arial" panose="020B0604020202020204" pitchFamily="34" charset="0"/>
                </a:rPr>
                <a:t> </a:t>
              </a:r>
              <a:r>
                <a:rPr lang="en-US" altLang="en-US" sz="1800">
                  <a:solidFill>
                    <a:srgbClr val="000000"/>
                  </a:solidFill>
                  <a:latin typeface="Calibri" panose="020F0502020204030204" pitchFamily="34" charset="0"/>
                  <a:cs typeface="Arial" panose="020B0604020202020204" pitchFamily="34" charset="0"/>
                </a:rPr>
                <a:t>bits/sec</a:t>
              </a:r>
            </a:p>
          </p:txBody>
        </p:sp>
        <p:sp>
          <p:nvSpPr>
            <p:cNvPr id="31753" name="Freeform 296"/>
            <p:cNvSpPr>
              <a:spLocks/>
            </p:cNvSpPr>
            <p:nvPr/>
          </p:nvSpPr>
          <p:spPr bwMode="auto">
            <a:xfrm>
              <a:off x="6742112" y="2666964"/>
              <a:ext cx="3127375" cy="1498600"/>
            </a:xfrm>
            <a:custGeom>
              <a:avLst/>
              <a:gdLst>
                <a:gd name="T0" fmla="*/ 2147483646 w 1877"/>
                <a:gd name="T1" fmla="*/ 2147483646 h 917"/>
                <a:gd name="T2" fmla="*/ 2147483646 w 1877"/>
                <a:gd name="T3" fmla="*/ 2147483646 h 917"/>
                <a:gd name="T4" fmla="*/ 2147483646 w 1877"/>
                <a:gd name="T5" fmla="*/ 2147483646 h 917"/>
                <a:gd name="T6" fmla="*/ 2147483646 w 1877"/>
                <a:gd name="T7" fmla="*/ 2147483646 h 917"/>
                <a:gd name="T8" fmla="*/ 2147483646 w 1877"/>
                <a:gd name="T9" fmla="*/ 2147483646 h 917"/>
                <a:gd name="T10" fmla="*/ 2147483646 w 1877"/>
                <a:gd name="T11" fmla="*/ 2147483646 h 917"/>
                <a:gd name="T12" fmla="*/ 2147483646 w 1877"/>
                <a:gd name="T13" fmla="*/ 2147483646 h 917"/>
                <a:gd name="T14" fmla="*/ 2147483646 w 1877"/>
                <a:gd name="T15" fmla="*/ 2147483646 h 917"/>
                <a:gd name="T16" fmla="*/ 2147483646 w 1877"/>
                <a:gd name="T17" fmla="*/ 2147483646 h 917"/>
                <a:gd name="T18" fmla="*/ 2147483646 w 1877"/>
                <a:gd name="T19" fmla="*/ 2147483646 h 917"/>
                <a:gd name="T20" fmla="*/ 2147483646 w 1877"/>
                <a:gd name="T21" fmla="*/ 2147483646 h 917"/>
                <a:gd name="T22" fmla="*/ 2147483646 w 1877"/>
                <a:gd name="T23" fmla="*/ 2147483646 h 917"/>
                <a:gd name="T24" fmla="*/ 2147483646 w 1877"/>
                <a:gd name="T25" fmla="*/ 2147483646 h 917"/>
                <a:gd name="T26" fmla="*/ 2147483646 w 1877"/>
                <a:gd name="T27" fmla="*/ 2147483646 h 917"/>
                <a:gd name="T28" fmla="*/ 2147483646 w 1877"/>
                <a:gd name="T29" fmla="*/ 2147483646 h 917"/>
                <a:gd name="T30" fmla="*/ 2147483646 w 1877"/>
                <a:gd name="T31" fmla="*/ 2147483646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754" name="Text Box 35"/>
            <p:cNvSpPr txBox="1">
              <a:spLocks noChangeArrowheads="1"/>
            </p:cNvSpPr>
            <p:nvPr/>
          </p:nvSpPr>
          <p:spPr bwMode="auto">
            <a:xfrm>
              <a:off x="6605587" y="2290727"/>
              <a:ext cx="6762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r>
                <a:rPr lang="en-US" altLang="en-US" sz="2400" baseline="-25000">
                  <a:solidFill>
                    <a:srgbClr val="000000"/>
                  </a:solidFill>
                  <a:latin typeface="Calibri" panose="020F0502020204030204" pitchFamily="34" charset="0"/>
                  <a:cs typeface="Arial" panose="020B0604020202020204" pitchFamily="34" charset="0"/>
                </a:rPr>
                <a:t>s</a:t>
              </a:r>
              <a:endParaRPr lang="en-US" altLang="en-US" sz="1800">
                <a:solidFill>
                  <a:srgbClr val="000000"/>
                </a:solidFill>
                <a:latin typeface="Calibri" panose="020F0502020204030204" pitchFamily="34" charset="0"/>
                <a:cs typeface="Arial" panose="020B0604020202020204" pitchFamily="34" charset="0"/>
              </a:endParaRPr>
            </a:p>
          </p:txBody>
        </p:sp>
        <p:sp>
          <p:nvSpPr>
            <p:cNvPr id="605" name="Oval 40"/>
            <p:cNvSpPr>
              <a:spLocks noChangeArrowheads="1"/>
            </p:cNvSpPr>
            <p:nvPr/>
          </p:nvSpPr>
          <p:spPr bwMode="auto">
            <a:xfrm rot="5400000">
              <a:off x="8470108" y="3718009"/>
              <a:ext cx="50803" cy="527108"/>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06" name="Rectangle 41"/>
            <p:cNvSpPr>
              <a:spLocks noChangeArrowheads="1"/>
            </p:cNvSpPr>
            <p:nvPr/>
          </p:nvSpPr>
          <p:spPr bwMode="auto">
            <a:xfrm rot="5400000">
              <a:off x="8003356" y="3223739"/>
              <a:ext cx="984307" cy="527108"/>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07" name="Oval 42"/>
            <p:cNvSpPr>
              <a:spLocks noChangeArrowheads="1"/>
            </p:cNvSpPr>
            <p:nvPr/>
          </p:nvSpPr>
          <p:spPr bwMode="auto">
            <a:xfrm rot="5400000">
              <a:off x="8474341" y="2740054"/>
              <a:ext cx="52919" cy="524992"/>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08" name="Rectangle 43"/>
            <p:cNvSpPr>
              <a:spLocks noChangeArrowheads="1"/>
            </p:cNvSpPr>
            <p:nvPr/>
          </p:nvSpPr>
          <p:spPr bwMode="auto">
            <a:xfrm rot="5400000">
              <a:off x="8474340" y="3711659"/>
              <a:ext cx="31752" cy="51229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09" name="Oval 31"/>
            <p:cNvSpPr>
              <a:spLocks noChangeArrowheads="1"/>
            </p:cNvSpPr>
            <p:nvPr/>
          </p:nvSpPr>
          <p:spPr bwMode="auto">
            <a:xfrm rot="1792560">
              <a:off x="7480454" y="2614118"/>
              <a:ext cx="38104" cy="15876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10" name="Rectangle 32"/>
            <p:cNvSpPr>
              <a:spLocks noChangeArrowheads="1"/>
            </p:cNvSpPr>
            <p:nvPr/>
          </p:nvSpPr>
          <p:spPr bwMode="auto">
            <a:xfrm rot="1792560">
              <a:off x="6815747" y="2410906"/>
              <a:ext cx="730332" cy="15876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11" name="Oval 33"/>
            <p:cNvSpPr>
              <a:spLocks noChangeArrowheads="1"/>
            </p:cNvSpPr>
            <p:nvPr/>
          </p:nvSpPr>
          <p:spPr bwMode="auto">
            <a:xfrm rot="1792560">
              <a:off x="6849617" y="2211928"/>
              <a:ext cx="38104" cy="15876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12" name="Rectangle 34"/>
            <p:cNvSpPr>
              <a:spLocks noChangeArrowheads="1"/>
            </p:cNvSpPr>
            <p:nvPr/>
          </p:nvSpPr>
          <p:spPr bwMode="auto">
            <a:xfrm rot="1792560">
              <a:off x="7476220" y="2612002"/>
              <a:ext cx="25403" cy="152409"/>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31763" name="Line 456"/>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4" name="Oval 469"/>
            <p:cNvSpPr>
              <a:spLocks noChangeArrowheads="1"/>
            </p:cNvSpPr>
            <p:nvPr/>
          </p:nvSpPr>
          <p:spPr bwMode="auto">
            <a:xfrm rot="2768172">
              <a:off x="7989569" y="2617290"/>
              <a:ext cx="48687" cy="143949"/>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15" name="Rectangle 470"/>
            <p:cNvSpPr>
              <a:spLocks noChangeArrowheads="1"/>
            </p:cNvSpPr>
            <p:nvPr/>
          </p:nvSpPr>
          <p:spPr bwMode="auto">
            <a:xfrm rot="2768172">
              <a:off x="7267730" y="2284954"/>
              <a:ext cx="916570" cy="143949"/>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16" name="Oval 471"/>
            <p:cNvSpPr>
              <a:spLocks noChangeArrowheads="1"/>
            </p:cNvSpPr>
            <p:nvPr/>
          </p:nvSpPr>
          <p:spPr bwMode="auto">
            <a:xfrm rot="2768172">
              <a:off x="7420123" y="1958970"/>
              <a:ext cx="46569" cy="141832"/>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17" name="Rectangle 472"/>
            <p:cNvSpPr>
              <a:spLocks noChangeArrowheads="1"/>
            </p:cNvSpPr>
            <p:nvPr/>
          </p:nvSpPr>
          <p:spPr bwMode="auto">
            <a:xfrm rot="2768172">
              <a:off x="7988513" y="2609881"/>
              <a:ext cx="31751" cy="13759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31768" name="Line 473"/>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19" name="Oval 476"/>
            <p:cNvSpPr>
              <a:spLocks noChangeArrowheads="1"/>
            </p:cNvSpPr>
            <p:nvPr/>
          </p:nvSpPr>
          <p:spPr bwMode="auto">
            <a:xfrm rot="19807440" flipH="1">
              <a:off x="6942761" y="4466308"/>
              <a:ext cx="38104" cy="158758"/>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20" name="Rectangle 477"/>
            <p:cNvSpPr>
              <a:spLocks noChangeArrowheads="1"/>
            </p:cNvSpPr>
            <p:nvPr/>
          </p:nvSpPr>
          <p:spPr bwMode="auto">
            <a:xfrm rot="19807440" flipH="1">
              <a:off x="6917358" y="4263097"/>
              <a:ext cx="730332" cy="158758"/>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21" name="Oval 478"/>
            <p:cNvSpPr>
              <a:spLocks noChangeArrowheads="1"/>
            </p:cNvSpPr>
            <p:nvPr/>
          </p:nvSpPr>
          <p:spPr bwMode="auto">
            <a:xfrm rot="19807440" flipH="1">
              <a:off x="7575715" y="4064119"/>
              <a:ext cx="35987" cy="158758"/>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22" name="Rectangle 479"/>
            <p:cNvSpPr>
              <a:spLocks noChangeArrowheads="1"/>
            </p:cNvSpPr>
            <p:nvPr/>
          </p:nvSpPr>
          <p:spPr bwMode="auto">
            <a:xfrm rot="19807440" flipH="1">
              <a:off x="6959696" y="4464191"/>
              <a:ext cx="23287" cy="15452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31773" name="Line 480"/>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24" name="Oval 483"/>
            <p:cNvSpPr>
              <a:spLocks noChangeArrowheads="1"/>
            </p:cNvSpPr>
            <p:nvPr/>
          </p:nvSpPr>
          <p:spPr bwMode="auto">
            <a:xfrm rot="18831828" flipV="1">
              <a:off x="8198084" y="4239809"/>
              <a:ext cx="46569" cy="143949"/>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25" name="Rectangle 484"/>
            <p:cNvSpPr>
              <a:spLocks noChangeArrowheads="1"/>
            </p:cNvSpPr>
            <p:nvPr/>
          </p:nvSpPr>
          <p:spPr bwMode="auto">
            <a:xfrm rot="18831828" flipV="1">
              <a:off x="7476245" y="4572144"/>
              <a:ext cx="916570" cy="14183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26" name="Oval 485"/>
            <p:cNvSpPr>
              <a:spLocks noChangeArrowheads="1"/>
            </p:cNvSpPr>
            <p:nvPr/>
          </p:nvSpPr>
          <p:spPr bwMode="auto">
            <a:xfrm rot="18831828" flipV="1">
              <a:off x="7629697" y="4899187"/>
              <a:ext cx="46569" cy="14183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27" name="Rectangle 486"/>
            <p:cNvSpPr>
              <a:spLocks noChangeArrowheads="1"/>
            </p:cNvSpPr>
            <p:nvPr/>
          </p:nvSpPr>
          <p:spPr bwMode="auto">
            <a:xfrm rot="18831828" flipV="1">
              <a:off x="8198085" y="4248275"/>
              <a:ext cx="29635" cy="139716"/>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31778" name="Line 487"/>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en-GB"/>
            </a:p>
          </p:txBody>
        </p:sp>
        <p:sp>
          <p:nvSpPr>
            <p:cNvPr id="629" name="Oval 500"/>
            <p:cNvSpPr>
              <a:spLocks noChangeArrowheads="1"/>
            </p:cNvSpPr>
            <p:nvPr/>
          </p:nvSpPr>
          <p:spPr bwMode="auto">
            <a:xfrm rot="19807440" flipH="1">
              <a:off x="9150690" y="2586600"/>
              <a:ext cx="38104" cy="158758"/>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30" name="Rectangle 501"/>
            <p:cNvSpPr>
              <a:spLocks noChangeArrowheads="1"/>
            </p:cNvSpPr>
            <p:nvPr/>
          </p:nvSpPr>
          <p:spPr bwMode="auto">
            <a:xfrm rot="19807440" flipH="1">
              <a:off x="9123170" y="2383389"/>
              <a:ext cx="730332" cy="158758"/>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31" name="Oval 502"/>
            <p:cNvSpPr>
              <a:spLocks noChangeArrowheads="1"/>
            </p:cNvSpPr>
            <p:nvPr/>
          </p:nvSpPr>
          <p:spPr bwMode="auto">
            <a:xfrm rot="19807440" flipH="1">
              <a:off x="9781527" y="2182293"/>
              <a:ext cx="38104" cy="15876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32" name="Rectangle 503"/>
            <p:cNvSpPr>
              <a:spLocks noChangeArrowheads="1"/>
            </p:cNvSpPr>
            <p:nvPr/>
          </p:nvSpPr>
          <p:spPr bwMode="auto">
            <a:xfrm rot="19807440" flipH="1">
              <a:off x="9165508" y="2582367"/>
              <a:ext cx="25403" cy="15452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31783" name="Line 504"/>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4" name="Oval 507"/>
            <p:cNvSpPr>
              <a:spLocks noChangeArrowheads="1"/>
            </p:cNvSpPr>
            <p:nvPr/>
          </p:nvSpPr>
          <p:spPr bwMode="auto">
            <a:xfrm rot="1792560">
              <a:off x="9908541" y="4546746"/>
              <a:ext cx="38104" cy="158758"/>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35" name="Rectangle 508"/>
            <p:cNvSpPr>
              <a:spLocks noChangeArrowheads="1"/>
            </p:cNvSpPr>
            <p:nvPr/>
          </p:nvSpPr>
          <p:spPr bwMode="auto">
            <a:xfrm rot="1792560">
              <a:off x="9241716" y="4341417"/>
              <a:ext cx="730332" cy="15876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636" name="Oval 509"/>
            <p:cNvSpPr>
              <a:spLocks noChangeArrowheads="1"/>
            </p:cNvSpPr>
            <p:nvPr/>
          </p:nvSpPr>
          <p:spPr bwMode="auto">
            <a:xfrm rot="1792560">
              <a:off x="9275587" y="4142439"/>
              <a:ext cx="38104" cy="15876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37" name="Rectangle 510"/>
            <p:cNvSpPr>
              <a:spLocks noChangeArrowheads="1"/>
            </p:cNvSpPr>
            <p:nvPr/>
          </p:nvSpPr>
          <p:spPr bwMode="auto">
            <a:xfrm rot="1792560">
              <a:off x="9902190" y="4542513"/>
              <a:ext cx="25403" cy="152409"/>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defTabSz="685800">
                <a:defRPr/>
              </a:pPr>
              <a:endParaRPr lang="en-US" sz="2100" kern="0" dirty="0">
                <a:solidFill>
                  <a:srgbClr val="000000"/>
                </a:solidFill>
                <a:latin typeface="Calibri" panose="020F0502020204030204"/>
                <a:ea typeface="ＭＳ Ｐゴシック" charset="0"/>
                <a:cs typeface="ＭＳ Ｐゴシック" charset="0"/>
              </a:endParaRPr>
            </a:p>
          </p:txBody>
        </p:sp>
        <p:sp>
          <p:nvSpPr>
            <p:cNvPr id="31788" name="Line 511"/>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1789" name="Text Box 513"/>
            <p:cNvSpPr txBox="1">
              <a:spLocks noChangeArrowheads="1"/>
            </p:cNvSpPr>
            <p:nvPr/>
          </p:nvSpPr>
          <p:spPr bwMode="auto">
            <a:xfrm>
              <a:off x="7575550" y="1849402"/>
              <a:ext cx="6762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r>
                <a:rPr lang="en-US" altLang="en-US" sz="2400" baseline="-25000">
                  <a:solidFill>
                    <a:srgbClr val="000000"/>
                  </a:solidFill>
                  <a:latin typeface="Calibri" panose="020F0502020204030204" pitchFamily="34" charset="0"/>
                  <a:cs typeface="Arial" panose="020B0604020202020204" pitchFamily="34" charset="0"/>
                </a:rPr>
                <a:t>s</a:t>
              </a:r>
              <a:endParaRPr lang="en-US" altLang="en-US" sz="1800">
                <a:solidFill>
                  <a:srgbClr val="000000"/>
                </a:solidFill>
                <a:latin typeface="Calibri" panose="020F0502020204030204" pitchFamily="34" charset="0"/>
                <a:cs typeface="Arial" panose="020B0604020202020204" pitchFamily="34" charset="0"/>
              </a:endParaRPr>
            </a:p>
          </p:txBody>
        </p:sp>
        <p:sp>
          <p:nvSpPr>
            <p:cNvPr id="31790" name="Text Box 514"/>
            <p:cNvSpPr txBox="1">
              <a:spLocks noChangeArrowheads="1"/>
            </p:cNvSpPr>
            <p:nvPr/>
          </p:nvSpPr>
          <p:spPr bwMode="auto">
            <a:xfrm>
              <a:off x="9402762" y="2357402"/>
              <a:ext cx="6762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r>
                <a:rPr lang="en-US" altLang="en-US" sz="2400" baseline="-25000">
                  <a:solidFill>
                    <a:srgbClr val="000000"/>
                  </a:solidFill>
                  <a:latin typeface="Calibri" panose="020F0502020204030204" pitchFamily="34" charset="0"/>
                  <a:cs typeface="Arial" panose="020B0604020202020204" pitchFamily="34" charset="0"/>
                </a:rPr>
                <a:t>s</a:t>
              </a:r>
              <a:endParaRPr lang="en-US" altLang="en-US" sz="1800">
                <a:solidFill>
                  <a:srgbClr val="000000"/>
                </a:solidFill>
                <a:latin typeface="Calibri" panose="020F0502020204030204" pitchFamily="34" charset="0"/>
                <a:cs typeface="Arial" panose="020B0604020202020204" pitchFamily="34" charset="0"/>
              </a:endParaRPr>
            </a:p>
          </p:txBody>
        </p:sp>
        <p:sp>
          <p:nvSpPr>
            <p:cNvPr id="31791" name="Freeform 515"/>
            <p:cNvSpPr>
              <a:spLocks/>
            </p:cNvSpPr>
            <p:nvPr/>
          </p:nvSpPr>
          <p:spPr bwMode="auto">
            <a:xfrm>
              <a:off x="7569200" y="2717764"/>
              <a:ext cx="800100" cy="1381125"/>
            </a:xfrm>
            <a:custGeom>
              <a:avLst/>
              <a:gdLst>
                <a:gd name="T0" fmla="*/ 0 w 504"/>
                <a:gd name="T1" fmla="*/ 0 h 870"/>
                <a:gd name="T2" fmla="*/ 2147483646 w 504"/>
                <a:gd name="T3" fmla="*/ 2147483646 h 870"/>
                <a:gd name="T4" fmla="*/ 2147483646 w 504"/>
                <a:gd name="T5" fmla="*/ 2147483646 h 870"/>
                <a:gd name="T6" fmla="*/ 2147483646 w 504"/>
                <a:gd name="T7" fmla="*/ 2147483646 h 870"/>
                <a:gd name="T8" fmla="*/ 2147483646 w 504"/>
                <a:gd name="T9" fmla="*/ 2147483646 h 870"/>
                <a:gd name="T10" fmla="*/ 2147483646 w 504"/>
                <a:gd name="T11" fmla="*/ 2147483646 h 870"/>
                <a:gd name="T12" fmla="*/ 2147483646 w 504"/>
                <a:gd name="T13" fmla="*/ 2147483646 h 870"/>
                <a:gd name="T14" fmla="*/ 2147483646 w 504"/>
                <a:gd name="T15" fmla="*/ 2147483646 h 870"/>
                <a:gd name="T16" fmla="*/ 2147483646 w 504"/>
                <a:gd name="T17" fmla="*/ 2147483646 h 870"/>
                <a:gd name="T18" fmla="*/ 2147483646 w 504"/>
                <a:gd name="T19" fmla="*/ 2147483646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1792" name="Text Box 516"/>
            <p:cNvSpPr txBox="1">
              <a:spLocks noChangeArrowheads="1"/>
            </p:cNvSpPr>
            <p:nvPr/>
          </p:nvSpPr>
          <p:spPr bwMode="auto">
            <a:xfrm>
              <a:off x="6583363" y="3833062"/>
              <a:ext cx="67468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r>
                <a:rPr lang="en-US" altLang="en-US" sz="2400" baseline="-25000">
                  <a:solidFill>
                    <a:srgbClr val="000000"/>
                  </a:solidFill>
                  <a:latin typeface="Calibri" panose="020F0502020204030204" pitchFamily="34" charset="0"/>
                  <a:cs typeface="Arial" panose="020B0604020202020204" pitchFamily="34" charset="0"/>
                </a:rPr>
                <a:t>c</a:t>
              </a:r>
              <a:endParaRPr lang="en-US" altLang="en-US" sz="1800">
                <a:solidFill>
                  <a:srgbClr val="000000"/>
                </a:solidFill>
                <a:latin typeface="Calibri" panose="020F0502020204030204" pitchFamily="34" charset="0"/>
                <a:cs typeface="Arial" panose="020B0604020202020204" pitchFamily="34" charset="0"/>
              </a:endParaRPr>
            </a:p>
          </p:txBody>
        </p:sp>
        <p:sp>
          <p:nvSpPr>
            <p:cNvPr id="31793" name="Freeform 517"/>
            <p:cNvSpPr>
              <a:spLocks/>
            </p:cNvSpPr>
            <p:nvPr/>
          </p:nvSpPr>
          <p:spPr bwMode="auto">
            <a:xfrm>
              <a:off x="8032750" y="2695539"/>
              <a:ext cx="431800" cy="1570038"/>
            </a:xfrm>
            <a:custGeom>
              <a:avLst/>
              <a:gdLst>
                <a:gd name="T0" fmla="*/ 0 w 272"/>
                <a:gd name="T1" fmla="*/ 0 h 989"/>
                <a:gd name="T2" fmla="*/ 2147483646 w 272"/>
                <a:gd name="T3" fmla="*/ 2147483646 h 989"/>
                <a:gd name="T4" fmla="*/ 2147483646 w 272"/>
                <a:gd name="T5" fmla="*/ 2147483646 h 989"/>
                <a:gd name="T6" fmla="*/ 2147483646 w 272"/>
                <a:gd name="T7" fmla="*/ 2147483646 h 989"/>
                <a:gd name="T8" fmla="*/ 2147483646 w 272"/>
                <a:gd name="T9" fmla="*/ 2147483646 h 989"/>
                <a:gd name="T10" fmla="*/ 2147483646 w 272"/>
                <a:gd name="T11" fmla="*/ 2147483646 h 989"/>
                <a:gd name="T12" fmla="*/ 2147483646 w 272"/>
                <a:gd name="T13" fmla="*/ 2147483646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1794" name="Freeform 518"/>
            <p:cNvSpPr>
              <a:spLocks/>
            </p:cNvSpPr>
            <p:nvPr/>
          </p:nvSpPr>
          <p:spPr bwMode="auto">
            <a:xfrm>
              <a:off x="8616950" y="2679664"/>
              <a:ext cx="638175" cy="1538288"/>
            </a:xfrm>
            <a:custGeom>
              <a:avLst/>
              <a:gdLst>
                <a:gd name="T0" fmla="*/ 2147483646 w 402"/>
                <a:gd name="T1" fmla="*/ 0 h 969"/>
                <a:gd name="T2" fmla="*/ 2147483646 w 402"/>
                <a:gd name="T3" fmla="*/ 2147483646 h 969"/>
                <a:gd name="T4" fmla="*/ 2147483646 w 402"/>
                <a:gd name="T5" fmla="*/ 2147483646 h 969"/>
                <a:gd name="T6" fmla="*/ 2147483646 w 402"/>
                <a:gd name="T7" fmla="*/ 2147483646 h 969"/>
                <a:gd name="T8" fmla="*/ 2147483646 w 402"/>
                <a:gd name="T9" fmla="*/ 2147483646 h 969"/>
                <a:gd name="T10" fmla="*/ 2147483646 w 402"/>
                <a:gd name="T11" fmla="*/ 2147483646 h 969"/>
                <a:gd name="T12" fmla="*/ 2147483646 w 402"/>
                <a:gd name="T13" fmla="*/ 2147483646 h 969"/>
                <a:gd name="T14" fmla="*/ 2147483646 w 402"/>
                <a:gd name="T15" fmla="*/ 2147483646 h 969"/>
                <a:gd name="T16" fmla="*/ 2147483646 w 402"/>
                <a:gd name="T17" fmla="*/ 2147483646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1795" name="Text Box 519"/>
            <p:cNvSpPr txBox="1">
              <a:spLocks noChangeArrowheads="1"/>
            </p:cNvSpPr>
            <p:nvPr/>
          </p:nvSpPr>
          <p:spPr bwMode="auto">
            <a:xfrm>
              <a:off x="7842250" y="4444964"/>
              <a:ext cx="6762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r>
                <a:rPr lang="en-US" altLang="en-US" sz="2400" baseline="-25000">
                  <a:solidFill>
                    <a:srgbClr val="000000"/>
                  </a:solidFill>
                  <a:latin typeface="Calibri" panose="020F0502020204030204" pitchFamily="34" charset="0"/>
                  <a:cs typeface="Arial" panose="020B0604020202020204" pitchFamily="34" charset="0"/>
                </a:rPr>
                <a:t>c</a:t>
              </a:r>
              <a:endParaRPr lang="en-US" altLang="en-US" sz="1800">
                <a:solidFill>
                  <a:srgbClr val="000000"/>
                </a:solidFill>
                <a:latin typeface="Calibri" panose="020F0502020204030204" pitchFamily="34" charset="0"/>
                <a:cs typeface="Arial" panose="020B0604020202020204" pitchFamily="34" charset="0"/>
              </a:endParaRPr>
            </a:p>
          </p:txBody>
        </p:sp>
        <p:sp>
          <p:nvSpPr>
            <p:cNvPr id="31796" name="Text Box 520"/>
            <p:cNvSpPr txBox="1">
              <a:spLocks noChangeArrowheads="1"/>
            </p:cNvSpPr>
            <p:nvPr/>
          </p:nvSpPr>
          <p:spPr bwMode="auto">
            <a:xfrm>
              <a:off x="9529762" y="3932202"/>
              <a:ext cx="67468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r>
                <a:rPr lang="en-US" altLang="en-US" sz="2400" baseline="-25000">
                  <a:solidFill>
                    <a:srgbClr val="000000"/>
                  </a:solidFill>
                  <a:latin typeface="Calibri" panose="020F0502020204030204" pitchFamily="34" charset="0"/>
                  <a:cs typeface="Arial" panose="020B0604020202020204" pitchFamily="34" charset="0"/>
                </a:rPr>
                <a:t>c</a:t>
              </a:r>
              <a:endParaRPr lang="en-US" altLang="en-US" sz="1800">
                <a:solidFill>
                  <a:srgbClr val="000000"/>
                </a:solidFill>
                <a:latin typeface="Calibri" panose="020F0502020204030204" pitchFamily="34" charset="0"/>
                <a:cs typeface="Arial" panose="020B0604020202020204" pitchFamily="34" charset="0"/>
              </a:endParaRPr>
            </a:p>
          </p:txBody>
        </p:sp>
        <p:sp>
          <p:nvSpPr>
            <p:cNvPr id="31797" name="Text Box 521"/>
            <p:cNvSpPr txBox="1">
              <a:spLocks noChangeArrowheads="1"/>
            </p:cNvSpPr>
            <p:nvPr/>
          </p:nvSpPr>
          <p:spPr bwMode="auto">
            <a:xfrm>
              <a:off x="8558212" y="3303551"/>
              <a:ext cx="6762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FontTx/>
                <a:buNone/>
              </a:pPr>
              <a:r>
                <a:rPr lang="en-US" altLang="en-US" sz="1800">
                  <a:solidFill>
                    <a:srgbClr val="000000"/>
                  </a:solidFill>
                  <a:latin typeface="Calibri" panose="020F0502020204030204" pitchFamily="34" charset="0"/>
                  <a:cs typeface="Arial" panose="020B0604020202020204" pitchFamily="34" charset="0"/>
                </a:rPr>
                <a:t>R</a:t>
              </a:r>
            </a:p>
          </p:txBody>
        </p:sp>
        <p:grpSp>
          <p:nvGrpSpPr>
            <p:cNvPr id="31798" name="Group 81"/>
            <p:cNvGrpSpPr>
              <a:grpSpLocks/>
            </p:cNvGrpSpPr>
            <p:nvPr/>
          </p:nvGrpSpPr>
          <p:grpSpPr bwMode="auto">
            <a:xfrm>
              <a:off x="6435725" y="1730339"/>
              <a:ext cx="352425" cy="660400"/>
              <a:chOff x="4140" y="429"/>
              <a:chExt cx="1425" cy="2396"/>
            </a:xfrm>
          </p:grpSpPr>
          <p:sp>
            <p:nvSpPr>
              <p:cNvPr id="650" name="Freeform 82"/>
              <p:cNvSpPr>
                <a:spLocks/>
              </p:cNvSpPr>
              <p:nvPr/>
            </p:nvSpPr>
            <p:spPr bwMode="auto">
              <a:xfrm>
                <a:off x="5266" y="433"/>
                <a:ext cx="282" cy="2281"/>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51" name="Rectangle 83"/>
              <p:cNvSpPr>
                <a:spLocks noChangeArrowheads="1"/>
              </p:cNvSpPr>
              <p:nvPr/>
            </p:nvSpPr>
            <p:spPr bwMode="auto">
              <a:xfrm>
                <a:off x="4204" y="425"/>
                <a:ext cx="1044" cy="2289"/>
              </a:xfrm>
              <a:prstGeom prst="rect">
                <a:avLst/>
              </a:prstGeom>
              <a:gradFill rotWithShape="1">
                <a:gsLst>
                  <a:gs pos="0">
                    <a:srgbClr val="292929"/>
                  </a:gs>
                  <a:gs pos="100000">
                    <a:srgbClr val="808080"/>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52" name="Freeform 84"/>
              <p:cNvSpPr>
                <a:spLocks/>
              </p:cNvSpPr>
              <p:nvPr/>
            </p:nvSpPr>
            <p:spPr bwMode="auto">
              <a:xfrm>
                <a:off x="5317" y="563"/>
                <a:ext cx="171" cy="21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53" name="Freeform 85"/>
              <p:cNvSpPr>
                <a:spLocks/>
              </p:cNvSpPr>
              <p:nvPr/>
            </p:nvSpPr>
            <p:spPr bwMode="auto">
              <a:xfrm>
                <a:off x="5283" y="1639"/>
                <a:ext cx="265" cy="184"/>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54" name="Rectangle 86"/>
              <p:cNvSpPr>
                <a:spLocks noChangeArrowheads="1"/>
              </p:cNvSpPr>
              <p:nvPr/>
            </p:nvSpPr>
            <p:spPr bwMode="auto">
              <a:xfrm>
                <a:off x="4204" y="694"/>
                <a:ext cx="599" cy="3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79" name="Group 87"/>
              <p:cNvGrpSpPr>
                <a:grpSpLocks/>
              </p:cNvGrpSpPr>
              <p:nvPr/>
            </p:nvGrpSpPr>
            <p:grpSpPr bwMode="auto">
              <a:xfrm>
                <a:off x="4749" y="668"/>
                <a:ext cx="581" cy="145"/>
                <a:chOff x="614" y="2568"/>
                <a:chExt cx="725" cy="139"/>
              </a:xfrm>
            </p:grpSpPr>
            <p:sp>
              <p:nvSpPr>
                <p:cNvPr id="680" name="AutoShape 88"/>
                <p:cNvSpPr>
                  <a:spLocks noChangeArrowheads="1"/>
                </p:cNvSpPr>
                <p:nvPr/>
              </p:nvSpPr>
              <p:spPr bwMode="auto">
                <a:xfrm>
                  <a:off x="607" y="2556"/>
                  <a:ext cx="726" cy="147"/>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81" name="AutoShape 89"/>
                <p:cNvSpPr>
                  <a:spLocks noChangeArrowheads="1"/>
                </p:cNvSpPr>
                <p:nvPr/>
              </p:nvSpPr>
              <p:spPr bwMode="auto">
                <a:xfrm>
                  <a:off x="629" y="2578"/>
                  <a:ext cx="684" cy="110"/>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56" name="Rectangle 90"/>
              <p:cNvSpPr>
                <a:spLocks noChangeArrowheads="1"/>
              </p:cNvSpPr>
              <p:nvPr/>
            </p:nvSpPr>
            <p:spPr bwMode="auto">
              <a:xfrm>
                <a:off x="4221" y="1009"/>
                <a:ext cx="599" cy="54"/>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81" name="Group 91"/>
              <p:cNvGrpSpPr>
                <a:grpSpLocks/>
              </p:cNvGrpSpPr>
              <p:nvPr/>
            </p:nvGrpSpPr>
            <p:grpSpPr bwMode="auto">
              <a:xfrm>
                <a:off x="4747" y="994"/>
                <a:ext cx="581" cy="134"/>
                <a:chOff x="614" y="2568"/>
                <a:chExt cx="725" cy="139"/>
              </a:xfrm>
            </p:grpSpPr>
            <p:sp>
              <p:nvSpPr>
                <p:cNvPr id="678" name="AutoShape 92"/>
                <p:cNvSpPr>
                  <a:spLocks noChangeArrowheads="1"/>
                </p:cNvSpPr>
                <p:nvPr/>
              </p:nvSpPr>
              <p:spPr bwMode="auto">
                <a:xfrm>
                  <a:off x="610" y="2568"/>
                  <a:ext cx="726" cy="135"/>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79" name="AutoShape 93"/>
                <p:cNvSpPr>
                  <a:spLocks noChangeArrowheads="1"/>
                </p:cNvSpPr>
                <p:nvPr/>
              </p:nvSpPr>
              <p:spPr bwMode="auto">
                <a:xfrm>
                  <a:off x="631" y="2583"/>
                  <a:ext cx="684" cy="104"/>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58" name="Rectangle 94"/>
              <p:cNvSpPr>
                <a:spLocks noChangeArrowheads="1"/>
              </p:cNvSpPr>
              <p:nvPr/>
            </p:nvSpPr>
            <p:spPr bwMode="auto">
              <a:xfrm>
                <a:off x="4213" y="1355"/>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59" name="Rectangle 95"/>
              <p:cNvSpPr>
                <a:spLocks noChangeArrowheads="1"/>
              </p:cNvSpPr>
              <p:nvPr/>
            </p:nvSpPr>
            <p:spPr bwMode="auto">
              <a:xfrm>
                <a:off x="4230" y="1654"/>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84" name="Group 96"/>
              <p:cNvGrpSpPr>
                <a:grpSpLocks/>
              </p:cNvGrpSpPr>
              <p:nvPr/>
            </p:nvGrpSpPr>
            <p:grpSpPr bwMode="auto">
              <a:xfrm>
                <a:off x="4735" y="1627"/>
                <a:ext cx="582" cy="151"/>
                <a:chOff x="614" y="2568"/>
                <a:chExt cx="725" cy="139"/>
              </a:xfrm>
            </p:grpSpPr>
            <p:sp>
              <p:nvSpPr>
                <p:cNvPr id="676" name="AutoShape 97"/>
                <p:cNvSpPr>
                  <a:spLocks noChangeArrowheads="1"/>
                </p:cNvSpPr>
                <p:nvPr/>
              </p:nvSpPr>
              <p:spPr bwMode="auto">
                <a:xfrm>
                  <a:off x="614" y="2565"/>
                  <a:ext cx="725" cy="141"/>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77" name="AutoShape 98"/>
                <p:cNvSpPr>
                  <a:spLocks noChangeArrowheads="1"/>
                </p:cNvSpPr>
                <p:nvPr/>
              </p:nvSpPr>
              <p:spPr bwMode="auto">
                <a:xfrm>
                  <a:off x="635" y="2579"/>
                  <a:ext cx="682" cy="113"/>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61" name="Freeform 99"/>
              <p:cNvSpPr>
                <a:spLocks/>
              </p:cNvSpPr>
              <p:nvPr/>
            </p:nvSpPr>
            <p:spPr bwMode="auto">
              <a:xfrm>
                <a:off x="5291" y="1347"/>
                <a:ext cx="257" cy="192"/>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grpSp>
            <p:nvGrpSpPr>
              <p:cNvPr id="31886" name="Group 100"/>
              <p:cNvGrpSpPr>
                <a:grpSpLocks/>
              </p:cNvGrpSpPr>
              <p:nvPr/>
            </p:nvGrpSpPr>
            <p:grpSpPr bwMode="auto">
              <a:xfrm>
                <a:off x="4739" y="1327"/>
                <a:ext cx="582" cy="139"/>
                <a:chOff x="614" y="2568"/>
                <a:chExt cx="725" cy="139"/>
              </a:xfrm>
            </p:grpSpPr>
            <p:sp>
              <p:nvSpPr>
                <p:cNvPr id="674" name="AutoShape 101"/>
                <p:cNvSpPr>
                  <a:spLocks noChangeArrowheads="1"/>
                </p:cNvSpPr>
                <p:nvPr/>
              </p:nvSpPr>
              <p:spPr bwMode="auto">
                <a:xfrm>
                  <a:off x="609" y="2565"/>
                  <a:ext cx="725" cy="138"/>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75" name="AutoShape 102"/>
                <p:cNvSpPr>
                  <a:spLocks noChangeArrowheads="1"/>
                </p:cNvSpPr>
                <p:nvPr/>
              </p:nvSpPr>
              <p:spPr bwMode="auto">
                <a:xfrm>
                  <a:off x="620" y="2580"/>
                  <a:ext cx="693" cy="108"/>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63" name="Rectangle 103"/>
              <p:cNvSpPr>
                <a:spLocks noChangeArrowheads="1"/>
              </p:cNvSpPr>
              <p:nvPr/>
            </p:nvSpPr>
            <p:spPr bwMode="auto">
              <a:xfrm>
                <a:off x="5249" y="425"/>
                <a:ext cx="68"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64" name="Freeform 104"/>
              <p:cNvSpPr>
                <a:spLocks/>
              </p:cNvSpPr>
              <p:nvPr/>
            </p:nvSpPr>
            <p:spPr bwMode="auto">
              <a:xfrm>
                <a:off x="5309" y="1001"/>
                <a:ext cx="240" cy="215"/>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65" name="Freeform 105"/>
              <p:cNvSpPr>
                <a:spLocks/>
              </p:cNvSpPr>
              <p:nvPr/>
            </p:nvSpPr>
            <p:spPr bwMode="auto">
              <a:xfrm>
                <a:off x="5317" y="679"/>
                <a:ext cx="240" cy="238"/>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66" name="Oval 106"/>
              <p:cNvSpPr>
                <a:spLocks noChangeArrowheads="1"/>
              </p:cNvSpPr>
              <p:nvPr/>
            </p:nvSpPr>
            <p:spPr bwMode="auto">
              <a:xfrm>
                <a:off x="5523" y="2606"/>
                <a:ext cx="43" cy="100"/>
              </a:xfrm>
              <a:prstGeom prst="ellipse">
                <a:avLst/>
              </a:prstGeom>
              <a:solidFill>
                <a:srgbClr val="3333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67" name="Freeform 107"/>
              <p:cNvSpPr>
                <a:spLocks/>
              </p:cNvSpPr>
              <p:nvPr/>
            </p:nvSpPr>
            <p:spPr bwMode="auto">
              <a:xfrm>
                <a:off x="5300" y="2614"/>
                <a:ext cx="248"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68" name="AutoShape 108"/>
              <p:cNvSpPr>
                <a:spLocks noChangeArrowheads="1"/>
              </p:cNvSpPr>
              <p:nvPr/>
            </p:nvSpPr>
            <p:spPr bwMode="auto">
              <a:xfrm>
                <a:off x="4136" y="2668"/>
                <a:ext cx="1207" cy="154"/>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69" name="AutoShape 109"/>
              <p:cNvSpPr>
                <a:spLocks noChangeArrowheads="1"/>
              </p:cNvSpPr>
              <p:nvPr/>
            </p:nvSpPr>
            <p:spPr bwMode="auto">
              <a:xfrm>
                <a:off x="4204" y="2706"/>
                <a:ext cx="1070" cy="84"/>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70" name="Oval 110"/>
              <p:cNvSpPr>
                <a:spLocks noChangeArrowheads="1"/>
              </p:cNvSpPr>
              <p:nvPr/>
            </p:nvSpPr>
            <p:spPr bwMode="auto">
              <a:xfrm>
                <a:off x="4307" y="2376"/>
                <a:ext cx="154" cy="146"/>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71" name="Oval 111"/>
              <p:cNvSpPr>
                <a:spLocks noChangeArrowheads="1"/>
              </p:cNvSpPr>
              <p:nvPr/>
            </p:nvSpPr>
            <p:spPr bwMode="auto">
              <a:xfrm>
                <a:off x="4487" y="2376"/>
                <a:ext cx="154" cy="146"/>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500" kern="0" dirty="0">
                  <a:solidFill>
                    <a:srgbClr val="FF0000"/>
                  </a:solidFill>
                  <a:latin typeface="Calibri" panose="020F0502020204030204"/>
                  <a:cs typeface="Arial"/>
                </a:endParaRPr>
              </a:p>
            </p:txBody>
          </p:sp>
          <p:sp>
            <p:nvSpPr>
              <p:cNvPr id="672" name="Oval 112"/>
              <p:cNvSpPr>
                <a:spLocks noChangeArrowheads="1"/>
              </p:cNvSpPr>
              <p:nvPr/>
            </p:nvSpPr>
            <p:spPr bwMode="auto">
              <a:xfrm>
                <a:off x="4658" y="2376"/>
                <a:ext cx="163" cy="138"/>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73" name="Rectangle 113"/>
              <p:cNvSpPr>
                <a:spLocks noChangeArrowheads="1"/>
              </p:cNvSpPr>
              <p:nvPr/>
            </p:nvSpPr>
            <p:spPr bwMode="auto">
              <a:xfrm>
                <a:off x="5060" y="1831"/>
                <a:ext cx="86"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grpSp>
          <p:nvGrpSpPr>
            <p:cNvPr id="31799" name="Group 114"/>
            <p:cNvGrpSpPr>
              <a:grpSpLocks/>
            </p:cNvGrpSpPr>
            <p:nvPr/>
          </p:nvGrpSpPr>
          <p:grpSpPr bwMode="auto">
            <a:xfrm>
              <a:off x="7010400" y="1390614"/>
              <a:ext cx="352425" cy="660400"/>
              <a:chOff x="4140" y="429"/>
              <a:chExt cx="1425" cy="2396"/>
            </a:xfrm>
          </p:grpSpPr>
          <p:sp>
            <p:nvSpPr>
              <p:cNvPr id="683" name="Freeform 115"/>
              <p:cNvSpPr>
                <a:spLocks/>
              </p:cNvSpPr>
              <p:nvPr/>
            </p:nvSpPr>
            <p:spPr bwMode="auto">
              <a:xfrm>
                <a:off x="5262" y="437"/>
                <a:ext cx="282" cy="2281"/>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84" name="Rectangle 116"/>
              <p:cNvSpPr>
                <a:spLocks noChangeArrowheads="1"/>
              </p:cNvSpPr>
              <p:nvPr/>
            </p:nvSpPr>
            <p:spPr bwMode="auto">
              <a:xfrm>
                <a:off x="4200" y="429"/>
                <a:ext cx="1044" cy="2289"/>
              </a:xfrm>
              <a:prstGeom prst="rect">
                <a:avLst/>
              </a:prstGeom>
              <a:gradFill rotWithShape="1">
                <a:gsLst>
                  <a:gs pos="0">
                    <a:srgbClr val="292929"/>
                  </a:gs>
                  <a:gs pos="100000">
                    <a:srgbClr val="808080"/>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85" name="Freeform 117"/>
              <p:cNvSpPr>
                <a:spLocks/>
              </p:cNvSpPr>
              <p:nvPr/>
            </p:nvSpPr>
            <p:spPr bwMode="auto">
              <a:xfrm>
                <a:off x="5322" y="567"/>
                <a:ext cx="163" cy="21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86" name="Freeform 118"/>
              <p:cNvSpPr>
                <a:spLocks/>
              </p:cNvSpPr>
              <p:nvPr/>
            </p:nvSpPr>
            <p:spPr bwMode="auto">
              <a:xfrm>
                <a:off x="5279" y="1642"/>
                <a:ext cx="265" cy="184"/>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87" name="Rectangle 119"/>
              <p:cNvSpPr>
                <a:spLocks noChangeArrowheads="1"/>
              </p:cNvSpPr>
              <p:nvPr/>
            </p:nvSpPr>
            <p:spPr bwMode="auto">
              <a:xfrm>
                <a:off x="4209" y="698"/>
                <a:ext cx="599" cy="3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47" name="Group 120"/>
              <p:cNvGrpSpPr>
                <a:grpSpLocks/>
              </p:cNvGrpSpPr>
              <p:nvPr/>
            </p:nvGrpSpPr>
            <p:grpSpPr bwMode="auto">
              <a:xfrm>
                <a:off x="4749" y="668"/>
                <a:ext cx="581" cy="145"/>
                <a:chOff x="614" y="2568"/>
                <a:chExt cx="725" cy="139"/>
              </a:xfrm>
            </p:grpSpPr>
            <p:sp>
              <p:nvSpPr>
                <p:cNvPr id="713" name="AutoShape 121"/>
                <p:cNvSpPr>
                  <a:spLocks noChangeArrowheads="1"/>
                </p:cNvSpPr>
                <p:nvPr/>
              </p:nvSpPr>
              <p:spPr bwMode="auto">
                <a:xfrm>
                  <a:off x="613" y="2560"/>
                  <a:ext cx="726" cy="147"/>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14" name="AutoShape 122"/>
                <p:cNvSpPr>
                  <a:spLocks noChangeArrowheads="1"/>
                </p:cNvSpPr>
                <p:nvPr/>
              </p:nvSpPr>
              <p:spPr bwMode="auto">
                <a:xfrm>
                  <a:off x="634" y="2582"/>
                  <a:ext cx="684" cy="110"/>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89" name="Rectangle 123"/>
              <p:cNvSpPr>
                <a:spLocks noChangeArrowheads="1"/>
              </p:cNvSpPr>
              <p:nvPr/>
            </p:nvSpPr>
            <p:spPr bwMode="auto">
              <a:xfrm>
                <a:off x="4226" y="1013"/>
                <a:ext cx="591" cy="54"/>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49" name="Group 124"/>
              <p:cNvGrpSpPr>
                <a:grpSpLocks/>
              </p:cNvGrpSpPr>
              <p:nvPr/>
            </p:nvGrpSpPr>
            <p:grpSpPr bwMode="auto">
              <a:xfrm>
                <a:off x="4747" y="994"/>
                <a:ext cx="581" cy="134"/>
                <a:chOff x="614" y="2568"/>
                <a:chExt cx="725" cy="139"/>
              </a:xfrm>
            </p:grpSpPr>
            <p:sp>
              <p:nvSpPr>
                <p:cNvPr id="711" name="AutoShape 125"/>
                <p:cNvSpPr>
                  <a:spLocks noChangeArrowheads="1"/>
                </p:cNvSpPr>
                <p:nvPr/>
              </p:nvSpPr>
              <p:spPr bwMode="auto">
                <a:xfrm>
                  <a:off x="615" y="2571"/>
                  <a:ext cx="716" cy="135"/>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12" name="AutoShape 126"/>
                <p:cNvSpPr>
                  <a:spLocks noChangeArrowheads="1"/>
                </p:cNvSpPr>
                <p:nvPr/>
              </p:nvSpPr>
              <p:spPr bwMode="auto">
                <a:xfrm>
                  <a:off x="637" y="2587"/>
                  <a:ext cx="684" cy="104"/>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91" name="Rectangle 127"/>
              <p:cNvSpPr>
                <a:spLocks noChangeArrowheads="1"/>
              </p:cNvSpPr>
              <p:nvPr/>
            </p:nvSpPr>
            <p:spPr bwMode="auto">
              <a:xfrm>
                <a:off x="4217" y="1358"/>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92" name="Rectangle 128"/>
              <p:cNvSpPr>
                <a:spLocks noChangeArrowheads="1"/>
              </p:cNvSpPr>
              <p:nvPr/>
            </p:nvSpPr>
            <p:spPr bwMode="auto">
              <a:xfrm>
                <a:off x="4226" y="1658"/>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52" name="Group 129"/>
              <p:cNvGrpSpPr>
                <a:grpSpLocks/>
              </p:cNvGrpSpPr>
              <p:nvPr/>
            </p:nvGrpSpPr>
            <p:grpSpPr bwMode="auto">
              <a:xfrm>
                <a:off x="4735" y="1627"/>
                <a:ext cx="582" cy="151"/>
                <a:chOff x="614" y="2568"/>
                <a:chExt cx="725" cy="139"/>
              </a:xfrm>
            </p:grpSpPr>
            <p:sp>
              <p:nvSpPr>
                <p:cNvPr id="709" name="AutoShape 130"/>
                <p:cNvSpPr>
                  <a:spLocks noChangeArrowheads="1"/>
                </p:cNvSpPr>
                <p:nvPr/>
              </p:nvSpPr>
              <p:spPr bwMode="auto">
                <a:xfrm>
                  <a:off x="609" y="2568"/>
                  <a:ext cx="725" cy="141"/>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10" name="AutoShape 131"/>
                <p:cNvSpPr>
                  <a:spLocks noChangeArrowheads="1"/>
                </p:cNvSpPr>
                <p:nvPr/>
              </p:nvSpPr>
              <p:spPr bwMode="auto">
                <a:xfrm>
                  <a:off x="630" y="2582"/>
                  <a:ext cx="682" cy="113"/>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94" name="Freeform 132"/>
              <p:cNvSpPr>
                <a:spLocks/>
              </p:cNvSpPr>
              <p:nvPr/>
            </p:nvSpPr>
            <p:spPr bwMode="auto">
              <a:xfrm>
                <a:off x="5287" y="1351"/>
                <a:ext cx="257" cy="192"/>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grpSp>
            <p:nvGrpSpPr>
              <p:cNvPr id="31854" name="Group 133"/>
              <p:cNvGrpSpPr>
                <a:grpSpLocks/>
              </p:cNvGrpSpPr>
              <p:nvPr/>
            </p:nvGrpSpPr>
            <p:grpSpPr bwMode="auto">
              <a:xfrm>
                <a:off x="4739" y="1327"/>
                <a:ext cx="582" cy="139"/>
                <a:chOff x="614" y="2568"/>
                <a:chExt cx="725" cy="139"/>
              </a:xfrm>
            </p:grpSpPr>
            <p:sp>
              <p:nvSpPr>
                <p:cNvPr id="707" name="AutoShape 134"/>
                <p:cNvSpPr>
                  <a:spLocks noChangeArrowheads="1"/>
                </p:cNvSpPr>
                <p:nvPr/>
              </p:nvSpPr>
              <p:spPr bwMode="auto">
                <a:xfrm>
                  <a:off x="615" y="2569"/>
                  <a:ext cx="725" cy="138"/>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08" name="AutoShape 135"/>
                <p:cNvSpPr>
                  <a:spLocks noChangeArrowheads="1"/>
                </p:cNvSpPr>
                <p:nvPr/>
              </p:nvSpPr>
              <p:spPr bwMode="auto">
                <a:xfrm>
                  <a:off x="625" y="2584"/>
                  <a:ext cx="693" cy="108"/>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696" name="Rectangle 136"/>
              <p:cNvSpPr>
                <a:spLocks noChangeArrowheads="1"/>
              </p:cNvSpPr>
              <p:nvPr/>
            </p:nvSpPr>
            <p:spPr bwMode="auto">
              <a:xfrm>
                <a:off x="5245" y="429"/>
                <a:ext cx="77"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697" name="Freeform 137"/>
              <p:cNvSpPr>
                <a:spLocks/>
              </p:cNvSpPr>
              <p:nvPr/>
            </p:nvSpPr>
            <p:spPr bwMode="auto">
              <a:xfrm>
                <a:off x="5313" y="1005"/>
                <a:ext cx="231" cy="215"/>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98" name="Freeform 138"/>
              <p:cNvSpPr>
                <a:spLocks/>
              </p:cNvSpPr>
              <p:nvPr/>
            </p:nvSpPr>
            <p:spPr bwMode="auto">
              <a:xfrm>
                <a:off x="5313" y="682"/>
                <a:ext cx="240" cy="238"/>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699" name="Oval 139"/>
              <p:cNvSpPr>
                <a:spLocks noChangeArrowheads="1"/>
              </p:cNvSpPr>
              <p:nvPr/>
            </p:nvSpPr>
            <p:spPr bwMode="auto">
              <a:xfrm>
                <a:off x="5518" y="2610"/>
                <a:ext cx="43" cy="100"/>
              </a:xfrm>
              <a:prstGeom prst="ellipse">
                <a:avLst/>
              </a:prstGeom>
              <a:solidFill>
                <a:srgbClr val="3333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00" name="Freeform 140"/>
              <p:cNvSpPr>
                <a:spLocks/>
              </p:cNvSpPr>
              <p:nvPr/>
            </p:nvSpPr>
            <p:spPr bwMode="auto">
              <a:xfrm>
                <a:off x="5296" y="2618"/>
                <a:ext cx="248"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01" name="AutoShape 141"/>
              <p:cNvSpPr>
                <a:spLocks noChangeArrowheads="1"/>
              </p:cNvSpPr>
              <p:nvPr/>
            </p:nvSpPr>
            <p:spPr bwMode="auto">
              <a:xfrm>
                <a:off x="4140" y="2672"/>
                <a:ext cx="1198" cy="154"/>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02" name="AutoShape 142"/>
              <p:cNvSpPr>
                <a:spLocks noChangeArrowheads="1"/>
              </p:cNvSpPr>
              <p:nvPr/>
            </p:nvSpPr>
            <p:spPr bwMode="auto">
              <a:xfrm>
                <a:off x="4200" y="2710"/>
                <a:ext cx="1070" cy="84"/>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03" name="Oval 143"/>
              <p:cNvSpPr>
                <a:spLocks noChangeArrowheads="1"/>
              </p:cNvSpPr>
              <p:nvPr/>
            </p:nvSpPr>
            <p:spPr bwMode="auto">
              <a:xfrm>
                <a:off x="4303" y="2380"/>
                <a:ext cx="163" cy="146"/>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04" name="Oval 144"/>
              <p:cNvSpPr>
                <a:spLocks noChangeArrowheads="1"/>
              </p:cNvSpPr>
              <p:nvPr/>
            </p:nvSpPr>
            <p:spPr bwMode="auto">
              <a:xfrm>
                <a:off x="4483" y="2380"/>
                <a:ext cx="163" cy="146"/>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500" kern="0" dirty="0">
                  <a:solidFill>
                    <a:srgbClr val="FF0000"/>
                  </a:solidFill>
                  <a:latin typeface="Calibri" panose="020F0502020204030204"/>
                  <a:cs typeface="Arial"/>
                </a:endParaRPr>
              </a:p>
            </p:txBody>
          </p:sp>
          <p:sp>
            <p:nvSpPr>
              <p:cNvPr id="705" name="Oval 145"/>
              <p:cNvSpPr>
                <a:spLocks noChangeArrowheads="1"/>
              </p:cNvSpPr>
              <p:nvPr/>
            </p:nvSpPr>
            <p:spPr bwMode="auto">
              <a:xfrm>
                <a:off x="4663" y="2380"/>
                <a:ext cx="154" cy="138"/>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06" name="Rectangle 146"/>
              <p:cNvSpPr>
                <a:spLocks noChangeArrowheads="1"/>
              </p:cNvSpPr>
              <p:nvPr/>
            </p:nvSpPr>
            <p:spPr bwMode="auto">
              <a:xfrm>
                <a:off x="5065" y="1834"/>
                <a:ext cx="77"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grpSp>
          <p:nvGrpSpPr>
            <p:cNvPr id="31800" name="Group 147"/>
            <p:cNvGrpSpPr>
              <a:grpSpLocks/>
            </p:cNvGrpSpPr>
            <p:nvPr/>
          </p:nvGrpSpPr>
          <p:grpSpPr bwMode="auto">
            <a:xfrm>
              <a:off x="9861550" y="1646202"/>
              <a:ext cx="352425" cy="660400"/>
              <a:chOff x="4140" y="429"/>
              <a:chExt cx="1425" cy="2396"/>
            </a:xfrm>
          </p:grpSpPr>
          <p:sp>
            <p:nvSpPr>
              <p:cNvPr id="716" name="Freeform 148"/>
              <p:cNvSpPr>
                <a:spLocks/>
              </p:cNvSpPr>
              <p:nvPr/>
            </p:nvSpPr>
            <p:spPr bwMode="auto">
              <a:xfrm>
                <a:off x="5263" y="439"/>
                <a:ext cx="282" cy="2281"/>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17" name="Rectangle 149"/>
              <p:cNvSpPr>
                <a:spLocks noChangeArrowheads="1"/>
              </p:cNvSpPr>
              <p:nvPr/>
            </p:nvSpPr>
            <p:spPr bwMode="auto">
              <a:xfrm>
                <a:off x="4202" y="431"/>
                <a:ext cx="1044" cy="2289"/>
              </a:xfrm>
              <a:prstGeom prst="rect">
                <a:avLst/>
              </a:prstGeom>
              <a:gradFill rotWithShape="1">
                <a:gsLst>
                  <a:gs pos="0">
                    <a:srgbClr val="292929"/>
                  </a:gs>
                  <a:gs pos="100000">
                    <a:srgbClr val="808080"/>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18" name="Freeform 150"/>
              <p:cNvSpPr>
                <a:spLocks/>
              </p:cNvSpPr>
              <p:nvPr/>
            </p:nvSpPr>
            <p:spPr bwMode="auto">
              <a:xfrm>
                <a:off x="5323" y="569"/>
                <a:ext cx="163" cy="21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19" name="Freeform 151"/>
              <p:cNvSpPr>
                <a:spLocks/>
              </p:cNvSpPr>
              <p:nvPr/>
            </p:nvSpPr>
            <p:spPr bwMode="auto">
              <a:xfrm>
                <a:off x="5280" y="1644"/>
                <a:ext cx="265" cy="184"/>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20" name="Rectangle 152"/>
              <p:cNvSpPr>
                <a:spLocks noChangeArrowheads="1"/>
              </p:cNvSpPr>
              <p:nvPr/>
            </p:nvSpPr>
            <p:spPr bwMode="auto">
              <a:xfrm>
                <a:off x="4210" y="700"/>
                <a:ext cx="599" cy="38"/>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15" name="Group 153"/>
              <p:cNvGrpSpPr>
                <a:grpSpLocks/>
              </p:cNvGrpSpPr>
              <p:nvPr/>
            </p:nvGrpSpPr>
            <p:grpSpPr bwMode="auto">
              <a:xfrm>
                <a:off x="4749" y="668"/>
                <a:ext cx="581" cy="145"/>
                <a:chOff x="614" y="2568"/>
                <a:chExt cx="725" cy="139"/>
              </a:xfrm>
            </p:grpSpPr>
            <p:sp>
              <p:nvSpPr>
                <p:cNvPr id="746" name="AutoShape 154"/>
                <p:cNvSpPr>
                  <a:spLocks noChangeArrowheads="1"/>
                </p:cNvSpPr>
                <p:nvPr/>
              </p:nvSpPr>
              <p:spPr bwMode="auto">
                <a:xfrm>
                  <a:off x="615" y="2562"/>
                  <a:ext cx="726" cy="147"/>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47" name="AutoShape 155"/>
                <p:cNvSpPr>
                  <a:spLocks noChangeArrowheads="1"/>
                </p:cNvSpPr>
                <p:nvPr/>
              </p:nvSpPr>
              <p:spPr bwMode="auto">
                <a:xfrm>
                  <a:off x="636" y="2584"/>
                  <a:ext cx="684" cy="110"/>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722" name="Rectangle 156"/>
              <p:cNvSpPr>
                <a:spLocks noChangeArrowheads="1"/>
              </p:cNvSpPr>
              <p:nvPr/>
            </p:nvSpPr>
            <p:spPr bwMode="auto">
              <a:xfrm>
                <a:off x="4227" y="1015"/>
                <a:ext cx="591" cy="54"/>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17" name="Group 157"/>
              <p:cNvGrpSpPr>
                <a:grpSpLocks/>
              </p:cNvGrpSpPr>
              <p:nvPr/>
            </p:nvGrpSpPr>
            <p:grpSpPr bwMode="auto">
              <a:xfrm>
                <a:off x="4747" y="994"/>
                <a:ext cx="581" cy="134"/>
                <a:chOff x="614" y="2568"/>
                <a:chExt cx="725" cy="139"/>
              </a:xfrm>
            </p:grpSpPr>
            <p:sp>
              <p:nvSpPr>
                <p:cNvPr id="744" name="AutoShape 158"/>
                <p:cNvSpPr>
                  <a:spLocks noChangeArrowheads="1"/>
                </p:cNvSpPr>
                <p:nvPr/>
              </p:nvSpPr>
              <p:spPr bwMode="auto">
                <a:xfrm>
                  <a:off x="617" y="2573"/>
                  <a:ext cx="716" cy="135"/>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45" name="AutoShape 159"/>
                <p:cNvSpPr>
                  <a:spLocks noChangeArrowheads="1"/>
                </p:cNvSpPr>
                <p:nvPr/>
              </p:nvSpPr>
              <p:spPr bwMode="auto">
                <a:xfrm>
                  <a:off x="638" y="2589"/>
                  <a:ext cx="684" cy="104"/>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724" name="Rectangle 160"/>
              <p:cNvSpPr>
                <a:spLocks noChangeArrowheads="1"/>
              </p:cNvSpPr>
              <p:nvPr/>
            </p:nvSpPr>
            <p:spPr bwMode="auto">
              <a:xfrm>
                <a:off x="4219" y="1360"/>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25" name="Rectangle 161"/>
              <p:cNvSpPr>
                <a:spLocks noChangeArrowheads="1"/>
              </p:cNvSpPr>
              <p:nvPr/>
            </p:nvSpPr>
            <p:spPr bwMode="auto">
              <a:xfrm>
                <a:off x="4227" y="1660"/>
                <a:ext cx="599"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nvGrpSpPr>
              <p:cNvPr id="31820" name="Group 162"/>
              <p:cNvGrpSpPr>
                <a:grpSpLocks/>
              </p:cNvGrpSpPr>
              <p:nvPr/>
            </p:nvGrpSpPr>
            <p:grpSpPr bwMode="auto">
              <a:xfrm>
                <a:off x="4735" y="1627"/>
                <a:ext cx="582" cy="151"/>
                <a:chOff x="614" y="2568"/>
                <a:chExt cx="725" cy="139"/>
              </a:xfrm>
            </p:grpSpPr>
            <p:sp>
              <p:nvSpPr>
                <p:cNvPr id="742" name="AutoShape 163"/>
                <p:cNvSpPr>
                  <a:spLocks noChangeArrowheads="1"/>
                </p:cNvSpPr>
                <p:nvPr/>
              </p:nvSpPr>
              <p:spPr bwMode="auto">
                <a:xfrm>
                  <a:off x="611" y="2570"/>
                  <a:ext cx="725" cy="141"/>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43" name="AutoShape 164"/>
                <p:cNvSpPr>
                  <a:spLocks noChangeArrowheads="1"/>
                </p:cNvSpPr>
                <p:nvPr/>
              </p:nvSpPr>
              <p:spPr bwMode="auto">
                <a:xfrm>
                  <a:off x="632" y="2584"/>
                  <a:ext cx="682" cy="113"/>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727" name="Freeform 165"/>
              <p:cNvSpPr>
                <a:spLocks/>
              </p:cNvSpPr>
              <p:nvPr/>
            </p:nvSpPr>
            <p:spPr bwMode="auto">
              <a:xfrm>
                <a:off x="5289" y="1353"/>
                <a:ext cx="257" cy="192"/>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grpSp>
            <p:nvGrpSpPr>
              <p:cNvPr id="31822" name="Group 166"/>
              <p:cNvGrpSpPr>
                <a:grpSpLocks/>
              </p:cNvGrpSpPr>
              <p:nvPr/>
            </p:nvGrpSpPr>
            <p:grpSpPr bwMode="auto">
              <a:xfrm>
                <a:off x="4739" y="1327"/>
                <a:ext cx="582" cy="139"/>
                <a:chOff x="614" y="2568"/>
                <a:chExt cx="725" cy="139"/>
              </a:xfrm>
            </p:grpSpPr>
            <p:sp>
              <p:nvSpPr>
                <p:cNvPr id="740" name="AutoShape 167"/>
                <p:cNvSpPr>
                  <a:spLocks noChangeArrowheads="1"/>
                </p:cNvSpPr>
                <p:nvPr/>
              </p:nvSpPr>
              <p:spPr bwMode="auto">
                <a:xfrm>
                  <a:off x="616" y="2571"/>
                  <a:ext cx="725" cy="138"/>
                </a:xfrm>
                <a:prstGeom prst="roundRect">
                  <a:avLst>
                    <a:gd name="adj" fmla="val 50000"/>
                  </a:avLst>
                </a:prstGeom>
                <a:solidFill>
                  <a:srgbClr val="00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41" name="AutoShape 168"/>
                <p:cNvSpPr>
                  <a:spLocks noChangeArrowheads="1"/>
                </p:cNvSpPr>
                <p:nvPr/>
              </p:nvSpPr>
              <p:spPr bwMode="auto">
                <a:xfrm>
                  <a:off x="627" y="2586"/>
                  <a:ext cx="693" cy="108"/>
                </a:xfrm>
                <a:prstGeom prst="roundRect">
                  <a:avLst>
                    <a:gd name="adj" fmla="val 50000"/>
                  </a:avLst>
                </a:prstGeom>
                <a:gradFill rotWithShape="1">
                  <a:gsLst>
                    <a:gs pos="0">
                      <a:srgbClr val="0000FF"/>
                    </a:gs>
                    <a:gs pos="50000">
                      <a:srgbClr val="99CCFF"/>
                    </a:gs>
                    <a:gs pos="100000">
                      <a:srgbClr val="0000FF"/>
                    </a:gs>
                  </a:gsLst>
                  <a:lin ang="0" scaled="1"/>
                </a:gra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sp>
            <p:nvSpPr>
              <p:cNvPr id="729" name="Rectangle 169"/>
              <p:cNvSpPr>
                <a:spLocks noChangeArrowheads="1"/>
              </p:cNvSpPr>
              <p:nvPr/>
            </p:nvSpPr>
            <p:spPr bwMode="auto">
              <a:xfrm>
                <a:off x="5246" y="431"/>
                <a:ext cx="77" cy="228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30" name="Freeform 170"/>
              <p:cNvSpPr>
                <a:spLocks/>
              </p:cNvSpPr>
              <p:nvPr/>
            </p:nvSpPr>
            <p:spPr bwMode="auto">
              <a:xfrm>
                <a:off x="5314" y="1007"/>
                <a:ext cx="231" cy="215"/>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31" name="Freeform 171"/>
              <p:cNvSpPr>
                <a:spLocks/>
              </p:cNvSpPr>
              <p:nvPr/>
            </p:nvSpPr>
            <p:spPr bwMode="auto">
              <a:xfrm>
                <a:off x="5314" y="684"/>
                <a:ext cx="240" cy="238"/>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32" name="Oval 172"/>
              <p:cNvSpPr>
                <a:spLocks noChangeArrowheads="1"/>
              </p:cNvSpPr>
              <p:nvPr/>
            </p:nvSpPr>
            <p:spPr bwMode="auto">
              <a:xfrm>
                <a:off x="5520" y="2612"/>
                <a:ext cx="43" cy="100"/>
              </a:xfrm>
              <a:prstGeom prst="ellipse">
                <a:avLst/>
              </a:prstGeom>
              <a:solidFill>
                <a:srgbClr val="3333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33" name="Freeform 173"/>
              <p:cNvSpPr>
                <a:spLocks/>
              </p:cNvSpPr>
              <p:nvPr/>
            </p:nvSpPr>
            <p:spPr bwMode="auto">
              <a:xfrm>
                <a:off x="5297" y="2620"/>
                <a:ext cx="248"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sp>
            <p:nvSpPr>
              <p:cNvPr id="734" name="AutoShape 174"/>
              <p:cNvSpPr>
                <a:spLocks noChangeArrowheads="1"/>
              </p:cNvSpPr>
              <p:nvPr/>
            </p:nvSpPr>
            <p:spPr bwMode="auto">
              <a:xfrm>
                <a:off x="4142" y="2674"/>
                <a:ext cx="1198" cy="154"/>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35" name="AutoShape 175"/>
              <p:cNvSpPr>
                <a:spLocks noChangeArrowheads="1"/>
              </p:cNvSpPr>
              <p:nvPr/>
            </p:nvSpPr>
            <p:spPr bwMode="auto">
              <a:xfrm>
                <a:off x="4202" y="2712"/>
                <a:ext cx="1070" cy="84"/>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36" name="Oval 176"/>
              <p:cNvSpPr>
                <a:spLocks noChangeArrowheads="1"/>
              </p:cNvSpPr>
              <p:nvPr/>
            </p:nvSpPr>
            <p:spPr bwMode="auto">
              <a:xfrm>
                <a:off x="4304" y="2382"/>
                <a:ext cx="163" cy="146"/>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37" name="Oval 177"/>
              <p:cNvSpPr>
                <a:spLocks noChangeArrowheads="1"/>
              </p:cNvSpPr>
              <p:nvPr/>
            </p:nvSpPr>
            <p:spPr bwMode="auto">
              <a:xfrm>
                <a:off x="4484" y="2382"/>
                <a:ext cx="163" cy="146"/>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hangingPunct="1">
                  <a:defRPr/>
                </a:pPr>
                <a:endParaRPr lang="en-US" altLang="en-US" sz="1500" kern="0" dirty="0">
                  <a:solidFill>
                    <a:srgbClr val="FF0000"/>
                  </a:solidFill>
                  <a:latin typeface="Calibri" panose="020F0502020204030204"/>
                  <a:cs typeface="Arial"/>
                </a:endParaRPr>
              </a:p>
            </p:txBody>
          </p:sp>
          <p:sp>
            <p:nvSpPr>
              <p:cNvPr id="738" name="Oval 178"/>
              <p:cNvSpPr>
                <a:spLocks noChangeArrowheads="1"/>
              </p:cNvSpPr>
              <p:nvPr/>
            </p:nvSpPr>
            <p:spPr bwMode="auto">
              <a:xfrm>
                <a:off x="4664" y="2382"/>
                <a:ext cx="154" cy="138"/>
              </a:xfrm>
              <a:prstGeom prst="ellipse">
                <a:avLst/>
              </a:prstGeom>
              <a:solidFill>
                <a:srgbClr val="33CC33"/>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sp>
            <p:nvSpPr>
              <p:cNvPr id="739" name="Rectangle 179"/>
              <p:cNvSpPr>
                <a:spLocks noChangeArrowheads="1"/>
              </p:cNvSpPr>
              <p:nvPr/>
            </p:nvSpPr>
            <p:spPr bwMode="auto">
              <a:xfrm>
                <a:off x="5066" y="1836"/>
                <a:ext cx="77"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2100" kern="0" dirty="0">
                  <a:solidFill>
                    <a:srgbClr val="000000"/>
                  </a:solidFill>
                  <a:latin typeface="Calibri" panose="020F0502020204030204"/>
                  <a:cs typeface="Arial"/>
                </a:endParaRPr>
              </a:p>
            </p:txBody>
          </p:sp>
        </p:grpSp>
        <p:grpSp>
          <p:nvGrpSpPr>
            <p:cNvPr id="31801" name="Group 180"/>
            <p:cNvGrpSpPr>
              <a:grpSpLocks/>
            </p:cNvGrpSpPr>
            <p:nvPr/>
          </p:nvGrpSpPr>
          <p:grpSpPr bwMode="auto">
            <a:xfrm flipH="1">
              <a:off x="10010775" y="4435439"/>
              <a:ext cx="803275" cy="771525"/>
              <a:chOff x="-44" y="1473"/>
              <a:chExt cx="981" cy="1105"/>
            </a:xfrm>
          </p:grpSpPr>
          <p:pic>
            <p:nvPicPr>
              <p:cNvPr id="31808" name="Picture 18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0" name="Freeform 182"/>
              <p:cNvSpPr>
                <a:spLocks/>
              </p:cNvSpPr>
              <p:nvPr/>
            </p:nvSpPr>
            <p:spPr bwMode="auto">
              <a:xfrm flipH="1">
                <a:off x="374" y="1578"/>
                <a:ext cx="478"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grpSp>
        <p:grpSp>
          <p:nvGrpSpPr>
            <p:cNvPr id="31802" name="Group 183"/>
            <p:cNvGrpSpPr>
              <a:grpSpLocks/>
            </p:cNvGrpSpPr>
            <p:nvPr/>
          </p:nvGrpSpPr>
          <p:grpSpPr bwMode="auto">
            <a:xfrm>
              <a:off x="6096000" y="4416389"/>
              <a:ext cx="803275" cy="771525"/>
              <a:chOff x="-44" y="1473"/>
              <a:chExt cx="981" cy="1105"/>
            </a:xfrm>
          </p:grpSpPr>
          <p:pic>
            <p:nvPicPr>
              <p:cNvPr id="31806" name="Picture 184"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3" name="Freeform 185"/>
              <p:cNvSpPr>
                <a:spLocks/>
              </p:cNvSpPr>
              <p:nvPr/>
            </p:nvSpPr>
            <p:spPr bwMode="auto">
              <a:xfrm flipH="1">
                <a:off x="372" y="1578"/>
                <a:ext cx="478"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grpSp>
        <p:grpSp>
          <p:nvGrpSpPr>
            <p:cNvPr id="31803" name="Group 186"/>
            <p:cNvGrpSpPr>
              <a:grpSpLocks/>
            </p:cNvGrpSpPr>
            <p:nvPr/>
          </p:nvGrpSpPr>
          <p:grpSpPr bwMode="auto">
            <a:xfrm>
              <a:off x="6718300" y="4865652"/>
              <a:ext cx="803275" cy="771525"/>
              <a:chOff x="-44" y="1473"/>
              <a:chExt cx="981" cy="1105"/>
            </a:xfrm>
          </p:grpSpPr>
          <p:pic>
            <p:nvPicPr>
              <p:cNvPr id="31804" name="Picture 18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6" name="Freeform 188"/>
              <p:cNvSpPr>
                <a:spLocks/>
              </p:cNvSpPr>
              <p:nvPr/>
            </p:nvSpPr>
            <p:spPr bwMode="auto">
              <a:xfrm flipH="1">
                <a:off x="372" y="1580"/>
                <a:ext cx="478"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p:spPr>
            <p:txBody>
              <a:bodyPr wrap="none"/>
              <a:lstStyle/>
              <a:p>
                <a:pPr defTabSz="685800">
                  <a:defRPr/>
                </a:pPr>
                <a:endParaRPr lang="en-US" sz="2100" kern="0" dirty="0">
                  <a:solidFill>
                    <a:srgbClr val="000000"/>
                  </a:solidFill>
                  <a:latin typeface="Calibri" panose="020F0502020204030204"/>
                  <a:ea typeface="ＭＳ Ｐゴシック" panose="020B0600070205080204" pitchFamily="34" charset="-128"/>
                  <a:cs typeface="Arial"/>
                </a:endParaRPr>
              </a:p>
            </p:txBody>
          </p:sp>
        </p:grpSp>
      </p:grpSp>
      <p:grpSp>
        <p:nvGrpSpPr>
          <p:cNvPr id="4" name="Group 3"/>
          <p:cNvGrpSpPr>
            <a:grpSpLocks/>
          </p:cNvGrpSpPr>
          <p:nvPr/>
        </p:nvGrpSpPr>
        <p:grpSpPr bwMode="auto">
          <a:xfrm>
            <a:off x="4818063" y="1976438"/>
            <a:ext cx="3529012" cy="3086100"/>
            <a:chOff x="877941" y="1593850"/>
            <a:chExt cx="4706682" cy="4114800"/>
          </a:xfrm>
        </p:grpSpPr>
        <p:sp>
          <p:nvSpPr>
            <p:cNvPr id="648" name="Rectangle 523"/>
            <p:cNvSpPr txBox="1">
              <a:spLocks noChangeArrowheads="1"/>
            </p:cNvSpPr>
            <p:nvPr/>
          </p:nvSpPr>
          <p:spPr bwMode="auto">
            <a:xfrm>
              <a:off x="877941" y="1593850"/>
              <a:ext cx="4522481" cy="4114800"/>
            </a:xfrm>
            <a:prstGeom prst="rect">
              <a:avLst/>
            </a:prstGeom>
            <a:noFill/>
            <a:ln>
              <a:noFill/>
            </a:ln>
          </p:spPr>
          <p:txBody>
            <a:bodyPr lIns="68580" tIns="34290" rIns="68580" bIns="34290"/>
            <a:lstStyle>
              <a:lvl1pPr marL="257175" indent="-257175"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5000"/>
                </a:lnSpc>
                <a:buClr>
                  <a:srgbClr val="000090"/>
                </a:buClr>
                <a:buFont typeface="Wingdings" panose="05000000000000000000" pitchFamily="2" charset="2"/>
                <a:buChar char="§"/>
              </a:pPr>
              <a:r>
                <a:rPr lang="en-US" altLang="en-US" sz="2400">
                  <a:solidFill>
                    <a:srgbClr val="000000"/>
                  </a:solidFill>
                  <a:latin typeface="Calibri" panose="020F0502020204030204" pitchFamily="34" charset="0"/>
                </a:rPr>
                <a:t>per-connection end-end throughput: </a:t>
              </a:r>
              <a:r>
                <a:rPr lang="en-US" altLang="en-US" sz="2400" i="1">
                  <a:solidFill>
                    <a:srgbClr val="000000"/>
                  </a:solidFill>
                  <a:latin typeface="Calibri" panose="020F0502020204030204" pitchFamily="34" charset="0"/>
                </a:rPr>
                <a:t>min(R</a:t>
              </a:r>
              <a:r>
                <a:rPr lang="en-US" altLang="en-US" sz="2400" i="1" baseline="-25000">
                  <a:solidFill>
                    <a:srgbClr val="000000"/>
                  </a:solidFill>
                  <a:latin typeface="Calibri" panose="020F0502020204030204" pitchFamily="34" charset="0"/>
                </a:rPr>
                <a:t>c</a:t>
              </a:r>
              <a:r>
                <a:rPr lang="en-US" altLang="en-US" sz="2400" i="1">
                  <a:solidFill>
                    <a:srgbClr val="000000"/>
                  </a:solidFill>
                  <a:latin typeface="Calibri" panose="020F0502020204030204" pitchFamily="34" charset="0"/>
                </a:rPr>
                <a:t>,R</a:t>
              </a:r>
              <a:r>
                <a:rPr lang="en-US" altLang="en-US" sz="2400" i="1" baseline="-25000">
                  <a:solidFill>
                    <a:srgbClr val="000000"/>
                  </a:solidFill>
                  <a:latin typeface="Calibri" panose="020F0502020204030204" pitchFamily="34" charset="0"/>
                </a:rPr>
                <a:t>s</a:t>
              </a:r>
              <a:r>
                <a:rPr lang="en-US" altLang="en-US" sz="2400" i="1">
                  <a:solidFill>
                    <a:srgbClr val="000000"/>
                  </a:solidFill>
                  <a:latin typeface="Calibri" panose="020F0502020204030204" pitchFamily="34" charset="0"/>
                </a:rPr>
                <a:t>,R/10)</a:t>
              </a:r>
            </a:p>
            <a:p>
              <a:pPr eaLnBrk="1" hangingPunct="1">
                <a:lnSpc>
                  <a:spcPct val="85000"/>
                </a:lnSpc>
                <a:buClr>
                  <a:srgbClr val="000090"/>
                </a:buClr>
                <a:buFont typeface="Wingdings" panose="05000000000000000000" pitchFamily="2" charset="2"/>
                <a:buChar char="§"/>
              </a:pPr>
              <a:r>
                <a:rPr lang="en-US" altLang="en-US" sz="2400">
                  <a:solidFill>
                    <a:srgbClr val="000000"/>
                  </a:solidFill>
                  <a:latin typeface="Calibri" panose="020F0502020204030204" pitchFamily="34" charset="0"/>
                </a:rPr>
                <a:t>in practice: </a:t>
              </a:r>
              <a:r>
                <a:rPr lang="en-US" altLang="en-US" sz="2400" i="1">
                  <a:solidFill>
                    <a:srgbClr val="000000"/>
                  </a:solidFill>
                  <a:latin typeface="Calibri" panose="020F0502020204030204" pitchFamily="34" charset="0"/>
                </a:rPr>
                <a:t>R</a:t>
              </a:r>
              <a:r>
                <a:rPr lang="en-US" altLang="en-US" sz="2400" i="1" baseline="-25000">
                  <a:solidFill>
                    <a:srgbClr val="000000"/>
                  </a:solidFill>
                  <a:latin typeface="Calibri" panose="020F0502020204030204" pitchFamily="34" charset="0"/>
                </a:rPr>
                <a:t>c</a:t>
              </a:r>
              <a:r>
                <a:rPr lang="en-US" altLang="en-US" sz="2400">
                  <a:solidFill>
                    <a:srgbClr val="000000"/>
                  </a:solidFill>
                  <a:latin typeface="Calibri" panose="020F0502020204030204" pitchFamily="34" charset="0"/>
                </a:rPr>
                <a:t> or </a:t>
              </a:r>
              <a:r>
                <a:rPr lang="en-US" altLang="en-US" sz="2400" i="1">
                  <a:solidFill>
                    <a:srgbClr val="000000"/>
                  </a:solidFill>
                  <a:latin typeface="Calibri" panose="020F0502020204030204" pitchFamily="34" charset="0"/>
                </a:rPr>
                <a:t>R</a:t>
              </a:r>
              <a:r>
                <a:rPr lang="en-US" altLang="en-US" sz="2400" i="1" baseline="-25000">
                  <a:solidFill>
                    <a:srgbClr val="000000"/>
                  </a:solidFill>
                  <a:latin typeface="Calibri" panose="020F0502020204030204" pitchFamily="34" charset="0"/>
                </a:rPr>
                <a:t>s</a:t>
              </a:r>
              <a:r>
                <a:rPr lang="en-US" altLang="en-US" sz="2400">
                  <a:solidFill>
                    <a:srgbClr val="000000"/>
                  </a:solidFill>
                  <a:latin typeface="Calibri" panose="020F0502020204030204" pitchFamily="34" charset="0"/>
                </a:rPr>
                <a:t> is often bottleneck</a:t>
              </a:r>
            </a:p>
          </p:txBody>
        </p:sp>
        <p:sp>
          <p:nvSpPr>
            <p:cNvPr id="757" name="TextBox 1"/>
            <p:cNvSpPr txBox="1">
              <a:spLocks noChangeArrowheads="1"/>
            </p:cNvSpPr>
            <p:nvPr/>
          </p:nvSpPr>
          <p:spPr bwMode="auto">
            <a:xfrm>
              <a:off x="1076964" y="4984750"/>
              <a:ext cx="4507659" cy="554567"/>
            </a:xfrm>
            <a:prstGeom prst="rect">
              <a:avLst/>
            </a:prstGeom>
            <a:no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050" dirty="0">
                  <a:solidFill>
                    <a:srgbClr val="000000"/>
                  </a:solidFill>
                  <a:cs typeface="Arial"/>
                </a:rPr>
                <a:t>* Check out the online interactive exercises for more examples: h</a:t>
              </a:r>
              <a:r>
                <a:rPr lang="en-US" altLang="en-US" sz="900" dirty="0">
                  <a:solidFill>
                    <a:srgbClr val="000000"/>
                  </a:solidFill>
                  <a:cs typeface="Arial"/>
                </a:rPr>
                <a:t>ttp://gaia.cs.umass.edu/kurose_ross/</a:t>
              </a:r>
            </a:p>
          </p:txBody>
        </p:sp>
      </p:grpSp>
      <p:sp>
        <p:nvSpPr>
          <p:cNvPr id="31749"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0AD805A6-A5E9-452E-B350-0485BCD75E5C}" type="slidenum">
              <a:rPr lang="en-US" altLang="en-US" sz="1100">
                <a:solidFill>
                  <a:srgbClr val="7F7F7F"/>
                </a:solidFill>
              </a:rPr>
              <a:pPr>
                <a:spcBef>
                  <a:spcPct val="0"/>
                </a:spcBef>
                <a:buFontTx/>
                <a:buNone/>
              </a:pPr>
              <a:t>15</a:t>
            </a:fld>
            <a:endParaRPr lang="en-US" altLang="en-US" sz="11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title"/>
          </p:nvPr>
        </p:nvSpPr>
        <p:spPr>
          <a:xfrm>
            <a:off x="598488" y="1074738"/>
            <a:ext cx="7886700" cy="669925"/>
          </a:xfrm>
        </p:spPr>
        <p:txBody>
          <a:bodyPr/>
          <a:lstStyle/>
          <a:p>
            <a:r>
              <a:rPr lang="en-US" altLang="en-US" smtClean="0">
                <a:cs typeface="Calibri" panose="020F0502020204030204" pitchFamily="34" charset="0"/>
              </a:rPr>
              <a:t>Chapter 1: roadmap</a:t>
            </a:r>
            <a:endParaRPr lang="en-US" altLang="en-US" smtClean="0"/>
          </a:p>
        </p:txBody>
      </p:sp>
      <p:sp>
        <p:nvSpPr>
          <p:cNvPr id="33795" name="Slide Number Placeholder 5"/>
          <p:cNvSpPr>
            <a:spLocks noGrp="1" noChangeArrowheads="1"/>
          </p:cNvSpPr>
          <p:nvPr>
            <p:ph type="sldNum" sz="quarter" idx="12"/>
          </p:nvPr>
        </p:nvSpPr>
        <p:spPr>
          <a:xfrm>
            <a:off x="9220200" y="644366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100">
                <a:solidFill>
                  <a:srgbClr val="7F7F7F"/>
                </a:solidFill>
              </a:rPr>
              <a:t>Introduction: 1-</a:t>
            </a:r>
            <a:fld id="{B86839B1-6EDE-4270-B981-35D130D05C0C}" type="slidenum">
              <a:rPr lang="en-US" altLang="en-US" sz="1100">
                <a:solidFill>
                  <a:srgbClr val="7F7F7F"/>
                </a:solidFill>
              </a:rPr>
              <a:pPr>
                <a:spcBef>
                  <a:spcPct val="0"/>
                </a:spcBef>
                <a:buFontTx/>
                <a:buNone/>
              </a:pPr>
              <a:t>16</a:t>
            </a:fld>
            <a:endParaRPr lang="en-US" altLang="en-US" sz="1100">
              <a:solidFill>
                <a:srgbClr val="7F7F7F"/>
              </a:solidFill>
            </a:endParaRPr>
          </a:p>
        </p:txBody>
      </p:sp>
      <p:sp>
        <p:nvSpPr>
          <p:cNvPr id="9" name="Rectangle 4"/>
          <p:cNvSpPr>
            <a:spLocks noGrp="1" noChangeArrowheads="1"/>
          </p:cNvSpPr>
          <p:nvPr>
            <p:ph sz="half" idx="2"/>
          </p:nvPr>
        </p:nvSpPr>
        <p:spPr>
          <a:xfrm>
            <a:off x="598488" y="1917700"/>
            <a:ext cx="4964112" cy="3771900"/>
          </a:xfrm>
        </p:spPr>
        <p:txBody>
          <a:bodyPr>
            <a:normAutofit fontScale="92500" lnSpcReduction="10000"/>
          </a:bodyPr>
          <a:lstStyle/>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What </a:t>
            </a:r>
            <a:r>
              <a:rPr lang="en-US" altLang="en-US" sz="2400" i="1" dirty="0">
                <a:solidFill>
                  <a:schemeClr val="bg1">
                    <a:lumMod val="65000"/>
                  </a:schemeClr>
                </a:solidFill>
                <a:latin typeface="Calibri" panose="020F0502020204030204" pitchFamily="34" charset="0"/>
                <a:ea typeface="+mn-ea"/>
                <a:cs typeface="Calibri" panose="020F0502020204030204" pitchFamily="34" charset="0"/>
              </a:rPr>
              <a:t>is</a:t>
            </a:r>
            <a:r>
              <a:rPr lang="en-US" altLang="ja-JP" sz="2400" dirty="0">
                <a:solidFill>
                  <a:schemeClr val="bg1">
                    <a:lumMod val="65000"/>
                  </a:schemeClr>
                </a:solidFill>
                <a:latin typeface="Calibri" panose="020F0502020204030204" pitchFamily="34" charset="0"/>
                <a:ea typeface="+mn-ea"/>
                <a:cs typeface="Calibri" panose="020F0502020204030204" pitchFamily="34" charset="0"/>
              </a:rPr>
              <a:t> the Internet?</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What</a:t>
            </a:r>
            <a:r>
              <a:rPr lang="en-US" altLang="en-US" sz="2400" i="1" dirty="0">
                <a:solidFill>
                  <a:schemeClr val="bg1">
                    <a:lumMod val="65000"/>
                  </a:schemeClr>
                </a:solidFill>
                <a:latin typeface="Calibri" panose="020F0502020204030204" pitchFamily="34" charset="0"/>
                <a:ea typeface="+mn-ea"/>
                <a:cs typeface="Calibri" panose="020F0502020204030204" pitchFamily="34" charset="0"/>
              </a:rPr>
              <a:t> is </a:t>
            </a:r>
            <a:r>
              <a:rPr lang="en-US" altLang="ja-JP" sz="2400" dirty="0">
                <a:solidFill>
                  <a:schemeClr val="bg1">
                    <a:lumMod val="65000"/>
                  </a:schemeClr>
                </a:solidFill>
                <a:latin typeface="Calibri" panose="020F0502020204030204" pitchFamily="34" charset="0"/>
                <a:ea typeface="+mn-ea"/>
                <a:cs typeface="Calibri" panose="020F0502020204030204" pitchFamily="34" charset="0"/>
              </a:rPr>
              <a:t>a protocol?</a:t>
            </a:r>
          </a:p>
          <a:p>
            <a:pPr marL="302419" indent="-214313" eaLnBrk="1" hangingPunct="1">
              <a:spcBef>
                <a:spcPts val="600"/>
              </a:spcBef>
              <a:buClr>
                <a:schemeClr val="bg1">
                  <a:lumMod val="75000"/>
                </a:schemeClr>
              </a:buClr>
              <a:defRPr/>
            </a:pPr>
            <a:r>
              <a:rPr lang="en-US" altLang="en-US" sz="2400" dirty="0">
                <a:solidFill>
                  <a:schemeClr val="bg1">
                    <a:lumMod val="75000"/>
                  </a:schemeClr>
                </a:solidFill>
                <a:latin typeface="Calibri" panose="020F0502020204030204" pitchFamily="34" charset="0"/>
                <a:ea typeface="+mn-ea"/>
                <a:cs typeface="Calibri" panose="020F0502020204030204" pitchFamily="34" charset="0"/>
              </a:rPr>
              <a:t>Network edge: hosts, access network, physical media</a:t>
            </a:r>
          </a:p>
          <a:p>
            <a:pPr marL="302419" indent="-214313" eaLnBrk="1" hangingPunct="1">
              <a:spcBef>
                <a:spcPts val="600"/>
              </a:spcBef>
              <a:buClr>
                <a:schemeClr val="bg1">
                  <a:lumMod val="85000"/>
                </a:schemeClr>
              </a:buClr>
              <a:defRPr/>
            </a:pPr>
            <a:r>
              <a:rPr lang="en-US" altLang="en-US" sz="2400" dirty="0">
                <a:solidFill>
                  <a:schemeClr val="bg1">
                    <a:lumMod val="75000"/>
                  </a:schemeClr>
                </a:solidFill>
                <a:latin typeface="Calibri" panose="020F0502020204030204" pitchFamily="34" charset="0"/>
                <a:ea typeface="+mn-ea"/>
                <a:cs typeface="Calibri" panose="020F0502020204030204" pitchFamily="34" charset="0"/>
              </a:rPr>
              <a:t>Network core: packet/circuit switching, internet structure</a:t>
            </a:r>
          </a:p>
          <a:p>
            <a:pPr marL="302419" indent="-214313" eaLnBrk="1" hangingPunct="1">
              <a:spcBef>
                <a:spcPts val="600"/>
              </a:spcBef>
              <a:buClr>
                <a:schemeClr val="bg1">
                  <a:lumMod val="85000"/>
                </a:schemeClr>
              </a:buClr>
              <a:defRPr/>
            </a:pPr>
            <a:r>
              <a:rPr lang="en-US" altLang="en-US" sz="2400" dirty="0">
                <a:solidFill>
                  <a:schemeClr val="bg1">
                    <a:lumMod val="75000"/>
                  </a:schemeClr>
                </a:solidFill>
                <a:latin typeface="Calibri" panose="020F0502020204030204" pitchFamily="34" charset="0"/>
                <a:ea typeface="+mn-ea"/>
                <a:cs typeface="Calibri" panose="020F0502020204030204" pitchFamily="34" charset="0"/>
              </a:rPr>
              <a:t>Performance: loss, delay, throughput</a:t>
            </a:r>
          </a:p>
          <a:p>
            <a:pPr marL="302419" indent="-214313" eaLnBrk="1" hangingPunct="1">
              <a:spcBef>
                <a:spcPts val="600"/>
              </a:spcBef>
              <a:buClr>
                <a:schemeClr val="bg1">
                  <a:lumMod val="75000"/>
                </a:schemeClr>
              </a:buClr>
              <a:defRPr/>
            </a:pPr>
            <a:r>
              <a:rPr lang="en-US" altLang="en-US" sz="2400" dirty="0">
                <a:latin typeface="Calibri" panose="020F0502020204030204" pitchFamily="34" charset="0"/>
                <a:ea typeface="+mn-ea"/>
                <a:cs typeface="Calibri" panose="020F0502020204030204" pitchFamily="34" charset="0"/>
              </a:rPr>
              <a:t>Security</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Protocol layers, service models</a:t>
            </a:r>
          </a:p>
          <a:p>
            <a:pPr marL="302419" indent="-214313" eaLnBrk="1" hangingPunct="1">
              <a:spcBef>
                <a:spcPts val="600"/>
              </a:spcBef>
              <a:buClr>
                <a:schemeClr val="bg1">
                  <a:lumMod val="75000"/>
                </a:schemeClr>
              </a:buClr>
              <a:defRPr/>
            </a:pPr>
            <a:r>
              <a:rPr lang="en-US" altLang="en-US" sz="2400" dirty="0">
                <a:solidFill>
                  <a:schemeClr val="bg1">
                    <a:lumMod val="65000"/>
                  </a:schemeClr>
                </a:solidFill>
                <a:latin typeface="Calibri" panose="020F0502020204030204" pitchFamily="34" charset="0"/>
                <a:ea typeface="+mn-ea"/>
                <a:cs typeface="Calibri" panose="020F0502020204030204" pitchFamily="34" charset="0"/>
              </a:rPr>
              <a:t>History</a:t>
            </a:r>
          </a:p>
          <a:p>
            <a:pPr eaLnBrk="1" hangingPunct="1">
              <a:buFont typeface="Wingdings" panose="05000000000000000000" pitchFamily="2" charset="2"/>
              <a:buNone/>
              <a:defRPr/>
            </a:pPr>
            <a:endParaRPr lang="en-US" altLang="en-US" sz="1800" dirty="0">
              <a:ea typeface="+mn-ea"/>
            </a:endParaRPr>
          </a:p>
        </p:txBody>
      </p:sp>
      <p:pic>
        <p:nvPicPr>
          <p:cNvPr id="33797" name="Picture 6" descr="Kurose&amp;Ross 8th ed cover pi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888" y="1827213"/>
            <a:ext cx="2743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noChangeArrowheads="1"/>
          </p:cNvSpPr>
          <p:nvPr>
            <p:ph type="title"/>
          </p:nvPr>
        </p:nvSpPr>
        <p:spPr>
          <a:xfrm>
            <a:off x="619125" y="1076325"/>
            <a:ext cx="7886700" cy="671513"/>
          </a:xfrm>
        </p:spPr>
        <p:txBody>
          <a:bodyPr/>
          <a:lstStyle/>
          <a:p>
            <a:r>
              <a:rPr lang="en-US" altLang="en-US" sz="3300" smtClean="0"/>
              <a:t>Network security</a:t>
            </a:r>
          </a:p>
        </p:txBody>
      </p:sp>
      <p:sp>
        <p:nvSpPr>
          <p:cNvPr id="17" name="Rectangle 5"/>
          <p:cNvSpPr txBox="1">
            <a:spLocks noChangeArrowheads="1"/>
          </p:cNvSpPr>
          <p:nvPr/>
        </p:nvSpPr>
        <p:spPr bwMode="auto">
          <a:xfrm>
            <a:off x="735013" y="1997075"/>
            <a:ext cx="7756525"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14313" indent="-214313">
              <a:spcBef>
                <a:spcPct val="20000"/>
              </a:spcBef>
              <a:buChar char="•"/>
              <a:defRPr sz="3200">
                <a:solidFill>
                  <a:schemeClr val="tx1"/>
                </a:solidFill>
                <a:latin typeface="Arial" panose="020B0604020202020204" pitchFamily="34" charset="0"/>
                <a:ea typeface="MS PGothic" panose="020B0600070205080204" pitchFamily="34" charset="-128"/>
              </a:defRPr>
            </a:lvl1pPr>
            <a:lvl2pPr marL="511175" indent="-168275">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1000"/>
              </a:spcBef>
              <a:buClr>
                <a:srgbClr val="0000A3"/>
              </a:buClr>
              <a:buFont typeface="Wingdings" panose="05000000000000000000" pitchFamily="2" charset="2"/>
              <a:buChar char="§"/>
            </a:pPr>
            <a:r>
              <a:rPr lang="en-US" altLang="en-US" sz="2400">
                <a:solidFill>
                  <a:srgbClr val="C00000"/>
                </a:solidFill>
              </a:rPr>
              <a:t>Internet not originally designed with (much) security in mind</a:t>
            </a:r>
          </a:p>
          <a:p>
            <a:pPr lvl="1" eaLnBrk="1" hangingPunct="1">
              <a:lnSpc>
                <a:spcPct val="90000"/>
              </a:lnSpc>
              <a:spcBef>
                <a:spcPts val="500"/>
              </a:spcBef>
              <a:buClr>
                <a:srgbClr val="0000A8"/>
              </a:buClr>
              <a:buFont typeface="Arial" panose="020B0604020202020204" pitchFamily="34" charset="0"/>
              <a:buChar char="•"/>
            </a:pPr>
            <a:r>
              <a:rPr lang="en-US" altLang="en-US" sz="2100" i="1">
                <a:cs typeface="Arial" panose="020B0604020202020204" pitchFamily="34" charset="0"/>
              </a:rPr>
              <a:t>original vision:</a:t>
            </a:r>
            <a:r>
              <a:rPr lang="en-US" altLang="en-US" sz="2100">
                <a:cs typeface="Arial" panose="020B0604020202020204" pitchFamily="34" charset="0"/>
              </a:rPr>
              <a:t> </a:t>
            </a:r>
            <a:r>
              <a:rPr lang="en-US" altLang="en-US" sz="2100"/>
              <a:t>“</a:t>
            </a:r>
            <a:r>
              <a:rPr lang="en-US" altLang="ja-JP" sz="2100"/>
              <a:t>a group of mutually trusting users attached to a transparent network” </a:t>
            </a:r>
            <a:r>
              <a:rPr lang="en-US" altLang="ja-JP" sz="2100">
                <a:sym typeface="Wingdings" panose="05000000000000000000" pitchFamily="2" charset="2"/>
              </a:rPr>
              <a:t></a:t>
            </a:r>
            <a:endParaRPr lang="en-US" altLang="ja-JP" sz="2100"/>
          </a:p>
          <a:p>
            <a:pPr lvl="1" eaLnBrk="1" hangingPunct="1">
              <a:lnSpc>
                <a:spcPct val="90000"/>
              </a:lnSpc>
              <a:spcBef>
                <a:spcPts val="500"/>
              </a:spcBef>
              <a:buClr>
                <a:srgbClr val="0000A8"/>
              </a:buClr>
              <a:buFont typeface="Arial" panose="020B0604020202020204" pitchFamily="34" charset="0"/>
              <a:buChar char="•"/>
            </a:pPr>
            <a:r>
              <a:rPr lang="en-US" altLang="en-US" sz="2100">
                <a:cs typeface="Arial" panose="020B0604020202020204" pitchFamily="34" charset="0"/>
              </a:rPr>
              <a:t>Internet protocol designers playing </a:t>
            </a:r>
            <a:r>
              <a:rPr lang="en-US" altLang="en-US" sz="2100"/>
              <a:t>“</a:t>
            </a:r>
            <a:r>
              <a:rPr lang="en-US" altLang="ja-JP" sz="2100"/>
              <a:t>catch-up”</a:t>
            </a:r>
          </a:p>
          <a:p>
            <a:pPr lvl="1" eaLnBrk="1" hangingPunct="1">
              <a:lnSpc>
                <a:spcPct val="90000"/>
              </a:lnSpc>
              <a:spcBef>
                <a:spcPts val="500"/>
              </a:spcBef>
              <a:buClr>
                <a:srgbClr val="0000A8"/>
              </a:buClr>
              <a:buFont typeface="Arial" panose="020B0604020202020204" pitchFamily="34" charset="0"/>
              <a:buChar char="•"/>
            </a:pPr>
            <a:r>
              <a:rPr lang="en-US" altLang="en-US" sz="2100">
                <a:cs typeface="Arial" panose="020B0604020202020204" pitchFamily="34" charset="0"/>
              </a:rPr>
              <a:t>security considerations in all layers!</a:t>
            </a:r>
          </a:p>
          <a:p>
            <a:pPr eaLnBrk="1" hangingPunct="1">
              <a:lnSpc>
                <a:spcPct val="90000"/>
              </a:lnSpc>
              <a:spcBef>
                <a:spcPts val="1000"/>
              </a:spcBef>
              <a:buClr>
                <a:srgbClr val="0000A3"/>
              </a:buClr>
              <a:buFont typeface="Wingdings" panose="05000000000000000000" pitchFamily="2" charset="2"/>
              <a:buChar char="§"/>
            </a:pPr>
            <a:r>
              <a:rPr lang="en-US" altLang="en-US" sz="2400">
                <a:solidFill>
                  <a:srgbClr val="C00000"/>
                </a:solidFill>
                <a:cs typeface="Arial" panose="020B0604020202020204" pitchFamily="34" charset="0"/>
              </a:rPr>
              <a:t>We now need to think about:</a:t>
            </a:r>
          </a:p>
          <a:p>
            <a:pPr lvl="1" eaLnBrk="1" hangingPunct="1">
              <a:lnSpc>
                <a:spcPct val="90000"/>
              </a:lnSpc>
              <a:spcBef>
                <a:spcPts val="500"/>
              </a:spcBef>
              <a:buClr>
                <a:srgbClr val="0000A8"/>
              </a:buClr>
              <a:buFont typeface="Arial" panose="020B0604020202020204" pitchFamily="34" charset="0"/>
              <a:buChar char="•"/>
            </a:pPr>
            <a:r>
              <a:rPr lang="en-US" altLang="en-US" sz="2100">
                <a:cs typeface="Arial" panose="020B0604020202020204" pitchFamily="34" charset="0"/>
              </a:rPr>
              <a:t>how bad guys can attack computer networks</a:t>
            </a:r>
          </a:p>
          <a:p>
            <a:pPr lvl="1" eaLnBrk="1" hangingPunct="1">
              <a:lnSpc>
                <a:spcPct val="90000"/>
              </a:lnSpc>
              <a:spcBef>
                <a:spcPts val="500"/>
              </a:spcBef>
              <a:buClr>
                <a:srgbClr val="0000A8"/>
              </a:buClr>
              <a:buFont typeface="Arial" panose="020B0604020202020204" pitchFamily="34" charset="0"/>
              <a:buChar char="•"/>
            </a:pPr>
            <a:r>
              <a:rPr lang="en-US" altLang="en-US" sz="2100">
                <a:cs typeface="Arial" panose="020B0604020202020204" pitchFamily="34" charset="0"/>
              </a:rPr>
              <a:t>how we can defend networks against attacks</a:t>
            </a:r>
          </a:p>
          <a:p>
            <a:pPr lvl="1" eaLnBrk="1" hangingPunct="1">
              <a:lnSpc>
                <a:spcPct val="90000"/>
              </a:lnSpc>
              <a:spcBef>
                <a:spcPts val="500"/>
              </a:spcBef>
              <a:buClr>
                <a:srgbClr val="0000A8"/>
              </a:buClr>
              <a:buFont typeface="Arial" panose="020B0604020202020204" pitchFamily="34" charset="0"/>
              <a:buChar char="•"/>
            </a:pPr>
            <a:r>
              <a:rPr lang="en-US" altLang="en-US" sz="2100">
                <a:cs typeface="Arial" panose="020B0604020202020204" pitchFamily="34" charset="0"/>
              </a:rPr>
              <a:t>how to design architectures that are immune to attacks</a:t>
            </a:r>
          </a:p>
        </p:txBody>
      </p:sp>
      <p:sp>
        <p:nvSpPr>
          <p:cNvPr id="4" name="Slide Number Placeholder 5"/>
          <p:cNvSpPr>
            <a:spLocks noGrp="1"/>
          </p:cNvSpPr>
          <p:nvPr>
            <p:ph type="sldNum" sz="quarter" idx="12"/>
          </p:nvPr>
        </p:nvSpPr>
        <p:spPr>
          <a:xfrm>
            <a:off x="6915150" y="5689600"/>
            <a:ext cx="2057400" cy="273050"/>
          </a:xfrm>
        </p:spPr>
        <p:txBody>
          <a:bodyPr lIns="68580" tIns="34290" rIns="68580" bIns="34290"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34290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6858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0287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13716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1828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286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2743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2004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800">
                <a:solidFill>
                  <a:srgbClr val="7F7F7F"/>
                </a:solidFill>
              </a:rPr>
              <a:t>Introduction: 1-</a:t>
            </a:r>
            <a:fld id="{E398F0C4-E975-4957-BFE4-A884452772DF}" type="slidenum">
              <a:rPr lang="en-US" altLang="en-US" sz="800">
                <a:solidFill>
                  <a:srgbClr val="7F7F7F"/>
                </a:solidFill>
              </a:rPr>
              <a:pPr>
                <a:spcBef>
                  <a:spcPct val="0"/>
                </a:spcBef>
                <a:buFontTx/>
                <a:buNone/>
              </a:pPr>
              <a:t>17</a:t>
            </a:fld>
            <a:endParaRPr lang="en-US" altLang="en-US" sz="800">
              <a:solidFill>
                <a:srgbClr val="7F7F7F"/>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
                                            <p:txEl>
                                              <p:pRg st="4" end="4"/>
                                            </p:txEl>
                                          </p:spTgt>
                                        </p:tgtEl>
                                        <p:attrNameLst>
                                          <p:attrName>style.visibility</p:attrName>
                                        </p:attrNameLst>
                                      </p:cBhvr>
                                      <p:to>
                                        <p:strVal val="visible"/>
                                      </p:to>
                                    </p:set>
                                    <p:animEffect transition="in" filter="dissolve">
                                      <p:cBhvr>
                                        <p:cTn id="7" dur="500"/>
                                        <p:tgtEl>
                                          <p:spTgt spid="17">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
                                            <p:txEl>
                                              <p:pRg st="5" end="5"/>
                                            </p:txEl>
                                          </p:spTgt>
                                        </p:tgtEl>
                                        <p:attrNameLst>
                                          <p:attrName>style.visibility</p:attrName>
                                        </p:attrNameLst>
                                      </p:cBhvr>
                                      <p:to>
                                        <p:strVal val="visible"/>
                                      </p:to>
                                    </p:set>
                                    <p:animEffect transition="in" filter="dissolve">
                                      <p:cBhvr>
                                        <p:cTn id="10" dur="500"/>
                                        <p:tgtEl>
                                          <p:spTgt spid="17">
                                            <p:txEl>
                                              <p:pRg st="5" end="5"/>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17">
                                            <p:txEl>
                                              <p:pRg st="6" end="6"/>
                                            </p:txEl>
                                          </p:spTgt>
                                        </p:tgtEl>
                                        <p:attrNameLst>
                                          <p:attrName>style.visibility</p:attrName>
                                        </p:attrNameLst>
                                      </p:cBhvr>
                                      <p:to>
                                        <p:strVal val="visible"/>
                                      </p:to>
                                    </p:set>
                                    <p:animEffect transition="in" filter="dissolve">
                                      <p:cBhvr>
                                        <p:cTn id="15" dur="500"/>
                                        <p:tgtEl>
                                          <p:spTgt spid="17">
                                            <p:txEl>
                                              <p:pRg st="6" end="6"/>
                                            </p:txEl>
                                          </p:spTgt>
                                        </p:tgtEl>
                                      </p:cBhvr>
                                    </p:animEffect>
                                  </p:childTnLst>
                                </p:cTn>
                              </p:par>
                            </p:childTnLst>
                          </p:cTn>
                        </p:par>
                        <p:par>
                          <p:cTn id="16" fill="hold" nodeType="afterGroup">
                            <p:stCondLst>
                              <p:cond delay="500"/>
                            </p:stCondLst>
                            <p:childTnLst>
                              <p:par>
                                <p:cTn id="17" presetID="9" presetClass="entr" presetSubtype="0" fill="hold" nodeType="afterEffect">
                                  <p:stCondLst>
                                    <p:cond delay="0"/>
                                  </p:stCondLst>
                                  <p:childTnLst>
                                    <p:set>
                                      <p:cBhvr>
                                        <p:cTn id="18" dur="1" fill="hold">
                                          <p:stCondLst>
                                            <p:cond delay="0"/>
                                          </p:stCondLst>
                                        </p:cTn>
                                        <p:tgtEl>
                                          <p:spTgt spid="17">
                                            <p:txEl>
                                              <p:pRg st="7" end="7"/>
                                            </p:txEl>
                                          </p:spTgt>
                                        </p:tgtEl>
                                        <p:attrNameLst>
                                          <p:attrName>style.visibility</p:attrName>
                                        </p:attrNameLst>
                                      </p:cBhvr>
                                      <p:to>
                                        <p:strVal val="visible"/>
                                      </p:to>
                                    </p:set>
                                    <p:animEffect transition="in" filter="dissolve">
                                      <p:cBhvr>
                                        <p:cTn id="19" dur="500"/>
                                        <p:tgtEl>
                                          <p:spTgt spid="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noChangeArrowheads="1"/>
          </p:cNvSpPr>
          <p:nvPr>
            <p:ph type="title"/>
          </p:nvPr>
        </p:nvSpPr>
        <p:spPr>
          <a:xfrm>
            <a:off x="619125" y="1076325"/>
            <a:ext cx="7886700" cy="671513"/>
          </a:xfrm>
        </p:spPr>
        <p:txBody>
          <a:bodyPr/>
          <a:lstStyle/>
          <a:p>
            <a:r>
              <a:rPr lang="en-US" altLang="en-US" sz="3300" smtClean="0"/>
              <a:t>Bad </a:t>
            </a:r>
            <a:r>
              <a:rPr lang="en-US" altLang="en-US" smtClean="0"/>
              <a:t>g</a:t>
            </a:r>
            <a:r>
              <a:rPr lang="en-US" altLang="en-US" sz="3300" smtClean="0"/>
              <a:t>uys: packet </a:t>
            </a:r>
            <a:r>
              <a:rPr lang="en-US" altLang="en-US" smtClean="0"/>
              <a:t>i</a:t>
            </a:r>
            <a:r>
              <a:rPr lang="en-US" altLang="en-US" sz="3300" smtClean="0"/>
              <a:t>nterception</a:t>
            </a:r>
          </a:p>
        </p:txBody>
      </p:sp>
      <p:sp>
        <p:nvSpPr>
          <p:cNvPr id="37891" name="Rectangle 5"/>
          <p:cNvSpPr txBox="1">
            <a:spLocks noChangeArrowheads="1"/>
          </p:cNvSpPr>
          <p:nvPr/>
        </p:nvSpPr>
        <p:spPr bwMode="auto">
          <a:xfrm>
            <a:off x="630238" y="1865313"/>
            <a:ext cx="7758112"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63525" indent="-166688"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520700" indent="-173038"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None/>
            </a:pPr>
            <a:r>
              <a:rPr lang="en-US" altLang="en-US" sz="2400" i="1">
                <a:solidFill>
                  <a:srgbClr val="C00000"/>
                </a:solidFill>
                <a:latin typeface="Calibri" panose="020F0502020204030204" pitchFamily="34" charset="0"/>
              </a:rPr>
              <a:t>packet “</a:t>
            </a:r>
            <a:r>
              <a:rPr lang="en-US" altLang="ja-JP" sz="2400" i="1">
                <a:solidFill>
                  <a:srgbClr val="C00000"/>
                </a:solidFill>
                <a:latin typeface="Calibri" panose="020F0502020204030204" pitchFamily="34" charset="0"/>
              </a:rPr>
              <a:t>sniffing”:</a:t>
            </a:r>
            <a:r>
              <a:rPr lang="en-US" altLang="ja-JP" sz="2100" i="1">
                <a:solidFill>
                  <a:srgbClr val="C00000"/>
                </a:solidFill>
                <a:latin typeface="Calibri" panose="020F0502020204030204" pitchFamily="34" charset="0"/>
              </a:rPr>
              <a:t> </a:t>
            </a:r>
          </a:p>
          <a:p>
            <a:pPr lvl="1" eaLnBrk="1" hangingPunct="1">
              <a:lnSpc>
                <a:spcPct val="90000"/>
              </a:lnSpc>
              <a:spcBef>
                <a:spcPts val="375"/>
              </a:spcBef>
              <a:buClr>
                <a:srgbClr val="0000A8"/>
              </a:buClr>
              <a:buFont typeface="Wingdings" panose="05000000000000000000" pitchFamily="2" charset="2"/>
              <a:buChar char="§"/>
            </a:pPr>
            <a:r>
              <a:rPr lang="en-US" altLang="en-US" sz="2100">
                <a:solidFill>
                  <a:srgbClr val="000000"/>
                </a:solidFill>
                <a:latin typeface="Calibri" panose="020F0502020204030204" pitchFamily="34" charset="0"/>
                <a:cs typeface="Arial" panose="020B0604020202020204" pitchFamily="34" charset="0"/>
              </a:rPr>
              <a:t>broadcast media (shared Ethernet, wireless)</a:t>
            </a:r>
          </a:p>
          <a:p>
            <a:pPr lvl="1" eaLnBrk="1" hangingPunct="1">
              <a:lnSpc>
                <a:spcPct val="90000"/>
              </a:lnSpc>
              <a:spcBef>
                <a:spcPts val="375"/>
              </a:spcBef>
              <a:buClr>
                <a:srgbClr val="0000A8"/>
              </a:buClr>
              <a:buFont typeface="Wingdings" panose="05000000000000000000" pitchFamily="2" charset="2"/>
              <a:buChar char="§"/>
            </a:pPr>
            <a:r>
              <a:rPr lang="en-US" altLang="en-US" sz="2100">
                <a:solidFill>
                  <a:srgbClr val="000000"/>
                </a:solidFill>
                <a:latin typeface="Calibri" panose="020F0502020204030204" pitchFamily="34" charset="0"/>
                <a:cs typeface="Arial" panose="020B0604020202020204" pitchFamily="34" charset="0"/>
              </a:rPr>
              <a:t>promiscuous network interface reads/records all packets (e.g., including passwords!) passing by</a:t>
            </a:r>
          </a:p>
        </p:txBody>
      </p:sp>
      <p:grpSp>
        <p:nvGrpSpPr>
          <p:cNvPr id="37892" name="Group 90"/>
          <p:cNvGrpSpPr>
            <a:grpSpLocks/>
          </p:cNvGrpSpPr>
          <p:nvPr/>
        </p:nvGrpSpPr>
        <p:grpSpPr bwMode="auto">
          <a:xfrm flipH="1">
            <a:off x="4397375" y="3405188"/>
            <a:ext cx="552450" cy="511175"/>
            <a:chOff x="-44" y="1473"/>
            <a:chExt cx="981" cy="1105"/>
          </a:xfrm>
        </p:grpSpPr>
        <p:pic>
          <p:nvPicPr>
            <p:cNvPr id="37958" name="Picture 9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p:cNvSpPr>
              <a:spLocks/>
            </p:cNvSpPr>
            <p:nvPr/>
          </p:nvSpPr>
          <p:spPr bwMode="auto">
            <a:xfrm flipH="1">
              <a:off x="373" y="1579"/>
              <a:ext cx="476"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9" name="Freeform 43"/>
          <p:cNvSpPr>
            <a:spLocks/>
          </p:cNvSpPr>
          <p:nvPr/>
        </p:nvSpPr>
        <p:spPr bwMode="auto">
          <a:xfrm>
            <a:off x="2519363" y="3957638"/>
            <a:ext cx="3440112" cy="546100"/>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 name="Freeform 44"/>
          <p:cNvSpPr>
            <a:spLocks/>
          </p:cNvSpPr>
          <p:nvPr/>
        </p:nvSpPr>
        <p:spPr bwMode="auto">
          <a:xfrm>
            <a:off x="4643438" y="3859213"/>
            <a:ext cx="3175" cy="392112"/>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 name="Line 45"/>
          <p:cNvSpPr>
            <a:spLocks noChangeShapeType="1"/>
          </p:cNvSpPr>
          <p:nvPr/>
        </p:nvSpPr>
        <p:spPr bwMode="auto">
          <a:xfrm flipV="1">
            <a:off x="3400425" y="4251325"/>
            <a:ext cx="0" cy="280988"/>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2" name="Line 46"/>
          <p:cNvSpPr>
            <a:spLocks noChangeShapeType="1"/>
          </p:cNvSpPr>
          <p:nvPr/>
        </p:nvSpPr>
        <p:spPr bwMode="auto">
          <a:xfrm flipV="1">
            <a:off x="3414713" y="4784725"/>
            <a:ext cx="0" cy="180975"/>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7897" name="Text Box 47"/>
          <p:cNvSpPr txBox="1">
            <a:spLocks noChangeArrowheads="1"/>
          </p:cNvSpPr>
          <p:nvPr/>
        </p:nvSpPr>
        <p:spPr bwMode="auto">
          <a:xfrm>
            <a:off x="2087563" y="3424238"/>
            <a:ext cx="33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solidFill>
                  <a:srgbClr val="000000"/>
                </a:solidFill>
              </a:rPr>
              <a:t>A</a:t>
            </a:r>
          </a:p>
        </p:txBody>
      </p:sp>
      <p:sp>
        <p:nvSpPr>
          <p:cNvPr id="37898" name="Text Box 48"/>
          <p:cNvSpPr txBox="1">
            <a:spLocks noChangeArrowheads="1"/>
          </p:cNvSpPr>
          <p:nvPr/>
        </p:nvSpPr>
        <p:spPr bwMode="auto">
          <a:xfrm>
            <a:off x="6189663" y="4521200"/>
            <a:ext cx="33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solidFill>
                  <a:srgbClr val="000000"/>
                </a:solidFill>
              </a:rPr>
              <a:t>B</a:t>
            </a:r>
          </a:p>
        </p:txBody>
      </p:sp>
      <p:sp>
        <p:nvSpPr>
          <p:cNvPr id="37899" name="Text Box 49"/>
          <p:cNvSpPr txBox="1">
            <a:spLocks noChangeArrowheads="1"/>
          </p:cNvSpPr>
          <p:nvPr/>
        </p:nvSpPr>
        <p:spPr bwMode="auto">
          <a:xfrm>
            <a:off x="4764088" y="3406775"/>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solidFill>
                  <a:srgbClr val="000000"/>
                </a:solidFill>
              </a:rPr>
              <a:t>C</a:t>
            </a:r>
          </a:p>
        </p:txBody>
      </p:sp>
      <p:grpSp>
        <p:nvGrpSpPr>
          <p:cNvPr id="4" name="Group 3"/>
          <p:cNvGrpSpPr>
            <a:grpSpLocks/>
          </p:cNvGrpSpPr>
          <p:nvPr/>
        </p:nvGrpSpPr>
        <p:grpSpPr bwMode="auto">
          <a:xfrm>
            <a:off x="3867150" y="3860800"/>
            <a:ext cx="1976438" cy="947738"/>
            <a:chOff x="5156078" y="4004689"/>
            <a:chExt cx="2635250" cy="1263659"/>
          </a:xfrm>
        </p:grpSpPr>
        <p:grpSp>
          <p:nvGrpSpPr>
            <p:cNvPr id="37950" name="Group 50"/>
            <p:cNvGrpSpPr>
              <a:grpSpLocks/>
            </p:cNvGrpSpPr>
            <p:nvPr/>
          </p:nvGrpSpPr>
          <p:grpSpPr bwMode="auto">
            <a:xfrm>
              <a:off x="5187828" y="4652397"/>
              <a:ext cx="2295525" cy="615951"/>
              <a:chOff x="2418" y="3342"/>
              <a:chExt cx="1446" cy="388"/>
            </a:xfrm>
          </p:grpSpPr>
          <p:sp>
            <p:nvSpPr>
              <p:cNvPr id="37953" name="Rectangle 51"/>
              <p:cNvSpPr>
                <a:spLocks noChangeArrowheads="1"/>
              </p:cNvSpPr>
              <p:nvPr/>
            </p:nvSpPr>
            <p:spPr bwMode="auto">
              <a:xfrm>
                <a:off x="2463" y="3366"/>
                <a:ext cx="1356" cy="174"/>
              </a:xfrm>
              <a:prstGeom prst="rect">
                <a:avLst/>
              </a:prstGeom>
              <a:solidFill>
                <a:srgbClr val="FFFFFF"/>
              </a:solidFill>
              <a:ln w="12700">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Times New Roman" panose="02020603050405020304" pitchFamily="18" charset="0"/>
                </a:endParaRPr>
              </a:p>
            </p:txBody>
          </p:sp>
          <p:sp>
            <p:nvSpPr>
              <p:cNvPr id="19" name="Line 52"/>
              <p:cNvSpPr>
                <a:spLocks noChangeShapeType="1"/>
              </p:cNvSpPr>
              <p:nvPr/>
            </p:nvSpPr>
            <p:spPr bwMode="auto">
              <a:xfrm>
                <a:off x="2785" y="3373"/>
                <a:ext cx="0" cy="16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0" name="Line 53"/>
              <p:cNvSpPr>
                <a:spLocks noChangeShapeType="1"/>
              </p:cNvSpPr>
              <p:nvPr/>
            </p:nvSpPr>
            <p:spPr bwMode="auto">
              <a:xfrm>
                <a:off x="3186" y="3375"/>
                <a:ext cx="0" cy="16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1" name="Line 54"/>
              <p:cNvSpPr>
                <a:spLocks noChangeShapeType="1"/>
              </p:cNvSpPr>
              <p:nvPr/>
            </p:nvSpPr>
            <p:spPr bwMode="auto">
              <a:xfrm>
                <a:off x="3322" y="3375"/>
                <a:ext cx="0" cy="16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7957" name="Text Box 55"/>
              <p:cNvSpPr txBox="1">
                <a:spLocks noChangeArrowheads="1"/>
              </p:cNvSpPr>
              <p:nvPr/>
            </p:nvSpPr>
            <p:spPr bwMode="auto">
              <a:xfrm>
                <a:off x="2418" y="3342"/>
                <a:ext cx="144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rgbClr val="000000"/>
                    </a:solidFill>
                  </a:rPr>
                  <a:t>src:B dest:A     payload</a:t>
                </a:r>
                <a:endParaRPr lang="en-US" altLang="en-US" sz="1200">
                  <a:solidFill>
                    <a:srgbClr val="000000"/>
                  </a:solidFill>
                  <a:latin typeface="Times New Roman" panose="02020603050405020304" pitchFamily="18" charset="0"/>
                </a:endParaRPr>
              </a:p>
            </p:txBody>
          </p:sp>
        </p:grpSp>
        <p:sp>
          <p:nvSpPr>
            <p:cNvPr id="23" name="Freeform 56"/>
            <p:cNvSpPr>
              <a:spLocks/>
            </p:cNvSpPr>
            <p:nvPr/>
          </p:nvSpPr>
          <p:spPr bwMode="auto">
            <a:xfrm>
              <a:off x="5156078" y="4607944"/>
              <a:ext cx="2635250" cy="241302"/>
            </a:xfrm>
            <a:custGeom>
              <a:avLst/>
              <a:gdLst>
                <a:gd name="T0" fmla="*/ 2147483647 w 1660"/>
                <a:gd name="T1" fmla="*/ 2147483647 h 152"/>
                <a:gd name="T2" fmla="*/ 2147483647 w 1660"/>
                <a:gd name="T3" fmla="*/ 0 h 152"/>
                <a:gd name="T4" fmla="*/ 0 w 1660"/>
                <a:gd name="T5" fmla="*/ 2147483647 h 152"/>
                <a:gd name="T6" fmla="*/ 0 60000 65536"/>
                <a:gd name="T7" fmla="*/ 0 60000 65536"/>
                <a:gd name="T8" fmla="*/ 0 60000 65536"/>
                <a:gd name="T9" fmla="*/ 0 w 1660"/>
                <a:gd name="T10" fmla="*/ 0 h 152"/>
                <a:gd name="T11" fmla="*/ 1660 w 1660"/>
                <a:gd name="T12" fmla="*/ 152 h 152"/>
              </a:gdLst>
              <a:ahLst/>
              <a:cxnLst>
                <a:cxn ang="T6">
                  <a:pos x="T0" y="T1"/>
                </a:cxn>
                <a:cxn ang="T7">
                  <a:pos x="T2" y="T3"/>
                </a:cxn>
                <a:cxn ang="T8">
                  <a:pos x="T4" y="T5"/>
                </a:cxn>
              </a:cxnLst>
              <a:rect l="T9" t="T10" r="T11" b="T12"/>
              <a:pathLst>
                <a:path w="1660" h="152">
                  <a:moveTo>
                    <a:pt x="1660" y="152"/>
                  </a:moveTo>
                  <a:lnTo>
                    <a:pt x="1660" y="0"/>
                  </a:lnTo>
                  <a:lnTo>
                    <a:pt x="0" y="4"/>
                  </a:lnTo>
                </a:path>
              </a:pathLst>
            </a:custGeom>
            <a:noFill/>
            <a:ln w="28575">
              <a:solidFill>
                <a:srgbClr val="CC0000"/>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4" name="Line 57"/>
            <p:cNvSpPr>
              <a:spLocks noChangeShapeType="1"/>
            </p:cNvSpPr>
            <p:nvPr/>
          </p:nvSpPr>
          <p:spPr bwMode="auto">
            <a:xfrm flipV="1">
              <a:off x="6299078" y="4004689"/>
              <a:ext cx="0" cy="603255"/>
            </a:xfrm>
            <a:prstGeom prst="line">
              <a:avLst/>
            </a:prstGeom>
            <a:noFill/>
            <a:ln w="28575">
              <a:solidFill>
                <a:srgbClr val="CC0000"/>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pic>
        <p:nvPicPr>
          <p:cNvPr id="26"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8013" y="3457575"/>
            <a:ext cx="354012"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37902" name="Group 54"/>
          <p:cNvGrpSpPr>
            <a:grpSpLocks/>
          </p:cNvGrpSpPr>
          <p:nvPr/>
        </p:nvGrpSpPr>
        <p:grpSpPr bwMode="auto">
          <a:xfrm>
            <a:off x="2387600" y="3452813"/>
            <a:ext cx="274638" cy="533400"/>
            <a:chOff x="4140" y="429"/>
            <a:chExt cx="1425" cy="2396"/>
          </a:xfrm>
        </p:grpSpPr>
        <p:sp>
          <p:nvSpPr>
            <p:cNvPr id="28" name="Freeform 55"/>
            <p:cNvSpPr>
              <a:spLocks/>
            </p:cNvSpPr>
            <p:nvPr/>
          </p:nvSpPr>
          <p:spPr bwMode="auto">
            <a:xfrm>
              <a:off x="5268" y="436"/>
              <a:ext cx="280" cy="2282"/>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7919" name="Rectangle 56"/>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0" name="Freeform 57"/>
            <p:cNvSpPr>
              <a:spLocks/>
            </p:cNvSpPr>
            <p:nvPr/>
          </p:nvSpPr>
          <p:spPr bwMode="auto">
            <a:xfrm>
              <a:off x="5318" y="572"/>
              <a:ext cx="173" cy="2111"/>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1" name="Freeform 58"/>
            <p:cNvSpPr>
              <a:spLocks/>
            </p:cNvSpPr>
            <p:nvPr/>
          </p:nvSpPr>
          <p:spPr bwMode="auto">
            <a:xfrm>
              <a:off x="5285" y="1641"/>
              <a:ext cx="264" cy="18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7922" name="Rectangle 59"/>
            <p:cNvSpPr>
              <a:spLocks noChangeArrowheads="1"/>
            </p:cNvSpPr>
            <p:nvPr/>
          </p:nvSpPr>
          <p:spPr bwMode="auto">
            <a:xfrm>
              <a:off x="4214" y="690"/>
              <a:ext cx="595" cy="48"/>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37923" name="Group 60"/>
            <p:cNvGrpSpPr>
              <a:grpSpLocks/>
            </p:cNvGrpSpPr>
            <p:nvPr/>
          </p:nvGrpSpPr>
          <p:grpSpPr bwMode="auto">
            <a:xfrm>
              <a:off x="4749" y="668"/>
              <a:ext cx="581" cy="145"/>
              <a:chOff x="614" y="2568"/>
              <a:chExt cx="725" cy="139"/>
            </a:xfrm>
          </p:grpSpPr>
          <p:sp>
            <p:nvSpPr>
              <p:cNvPr id="37948" name="AutoShape 61"/>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49" name="AutoShape 62"/>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7924" name="Rectangle 63"/>
            <p:cNvSpPr>
              <a:spLocks noChangeArrowheads="1"/>
            </p:cNvSpPr>
            <p:nvPr/>
          </p:nvSpPr>
          <p:spPr bwMode="auto">
            <a:xfrm>
              <a:off x="4227" y="1021"/>
              <a:ext cx="595" cy="43"/>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37925" name="Group 64"/>
            <p:cNvGrpSpPr>
              <a:grpSpLocks/>
            </p:cNvGrpSpPr>
            <p:nvPr/>
          </p:nvGrpSpPr>
          <p:grpSpPr bwMode="auto">
            <a:xfrm>
              <a:off x="4747" y="994"/>
              <a:ext cx="581" cy="134"/>
              <a:chOff x="614" y="2568"/>
              <a:chExt cx="725" cy="139"/>
            </a:xfrm>
          </p:grpSpPr>
          <p:sp>
            <p:nvSpPr>
              <p:cNvPr id="37946" name="AutoShape 65"/>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47" name="AutoShape 66"/>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7926" name="Rectangle 67"/>
            <p:cNvSpPr>
              <a:spLocks noChangeArrowheads="1"/>
            </p:cNvSpPr>
            <p:nvPr/>
          </p:nvSpPr>
          <p:spPr bwMode="auto">
            <a:xfrm>
              <a:off x="4214" y="1358"/>
              <a:ext cx="601" cy="48"/>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27" name="Rectangle 68"/>
            <p:cNvSpPr>
              <a:spLocks noChangeArrowheads="1"/>
            </p:cNvSpPr>
            <p:nvPr/>
          </p:nvSpPr>
          <p:spPr bwMode="auto">
            <a:xfrm>
              <a:off x="4227" y="1656"/>
              <a:ext cx="595" cy="48"/>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37928" name="Group 69"/>
            <p:cNvGrpSpPr>
              <a:grpSpLocks/>
            </p:cNvGrpSpPr>
            <p:nvPr/>
          </p:nvGrpSpPr>
          <p:grpSpPr bwMode="auto">
            <a:xfrm>
              <a:off x="4735" y="1627"/>
              <a:ext cx="582" cy="151"/>
              <a:chOff x="614" y="2568"/>
              <a:chExt cx="725" cy="139"/>
            </a:xfrm>
          </p:grpSpPr>
          <p:sp>
            <p:nvSpPr>
              <p:cNvPr id="37944" name="AutoShape 70"/>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45" name="AutoShape 71"/>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9" name="Freeform 72"/>
            <p:cNvSpPr>
              <a:spLocks/>
            </p:cNvSpPr>
            <p:nvPr/>
          </p:nvSpPr>
          <p:spPr bwMode="auto">
            <a:xfrm>
              <a:off x="5285" y="1356"/>
              <a:ext cx="264" cy="18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37930" name="Group 73"/>
            <p:cNvGrpSpPr>
              <a:grpSpLocks/>
            </p:cNvGrpSpPr>
            <p:nvPr/>
          </p:nvGrpSpPr>
          <p:grpSpPr bwMode="auto">
            <a:xfrm>
              <a:off x="4739" y="1327"/>
              <a:ext cx="582" cy="139"/>
              <a:chOff x="614" y="2568"/>
              <a:chExt cx="725" cy="139"/>
            </a:xfrm>
          </p:grpSpPr>
          <p:sp>
            <p:nvSpPr>
              <p:cNvPr id="37942" name="AutoShape 74"/>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43" name="AutoShape 75"/>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7931" name="Rectangle 76"/>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 name="Freeform 77"/>
            <p:cNvSpPr>
              <a:spLocks/>
            </p:cNvSpPr>
            <p:nvPr/>
          </p:nvSpPr>
          <p:spPr bwMode="auto">
            <a:xfrm>
              <a:off x="5310" y="1007"/>
              <a:ext cx="239" cy="214"/>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3" name="Freeform 78"/>
            <p:cNvSpPr>
              <a:spLocks/>
            </p:cNvSpPr>
            <p:nvPr/>
          </p:nvSpPr>
          <p:spPr bwMode="auto">
            <a:xfrm>
              <a:off x="5318" y="679"/>
              <a:ext cx="239" cy="242"/>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7934" name="Oval 79"/>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5" name="Freeform 80"/>
            <p:cNvSpPr>
              <a:spLocks/>
            </p:cNvSpPr>
            <p:nvPr/>
          </p:nvSpPr>
          <p:spPr bwMode="auto">
            <a:xfrm>
              <a:off x="5301" y="2611"/>
              <a:ext cx="247"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7936" name="AutoShape 81"/>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37" name="AutoShape 82"/>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38" name="Oval 83"/>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9" name="Oval 84"/>
            <p:cNvSpPr>
              <a:spLocks noChangeArrowheads="1"/>
            </p:cNvSpPr>
            <p:nvPr/>
          </p:nvSpPr>
          <p:spPr bwMode="auto">
            <a:xfrm>
              <a:off x="4486" y="2383"/>
              <a:ext cx="165" cy="143"/>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endParaRPr lang="en-US" altLang="en-US" sz="1350" dirty="0">
                <a:solidFill>
                  <a:srgbClr val="FF0000"/>
                </a:solidFill>
              </a:endParaRPr>
            </a:p>
          </p:txBody>
        </p:sp>
        <p:sp>
          <p:nvSpPr>
            <p:cNvPr id="37940" name="Oval 85"/>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7941" name="Rectangle 86"/>
            <p:cNvSpPr>
              <a:spLocks noChangeArrowheads="1"/>
            </p:cNvSpPr>
            <p:nvPr/>
          </p:nvSpPr>
          <p:spPr bwMode="auto">
            <a:xfrm>
              <a:off x="5063" y="1832"/>
              <a:ext cx="87" cy="763"/>
            </a:xfrm>
            <a:prstGeom prst="rect">
              <a:avLst/>
            </a:prstGeom>
            <a:solidFill>
              <a:srgbClr val="292929"/>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grpSp>
        <p:nvGrpSpPr>
          <p:cNvPr id="37903" name="Group 87"/>
          <p:cNvGrpSpPr>
            <a:grpSpLocks/>
          </p:cNvGrpSpPr>
          <p:nvPr/>
        </p:nvGrpSpPr>
        <p:grpSpPr bwMode="auto">
          <a:xfrm flipH="1">
            <a:off x="5757863" y="4440238"/>
            <a:ext cx="550862" cy="511175"/>
            <a:chOff x="-44" y="1473"/>
            <a:chExt cx="981" cy="1105"/>
          </a:xfrm>
        </p:grpSpPr>
        <p:pic>
          <p:nvPicPr>
            <p:cNvPr id="37916" name="Picture 88"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3" name="Group 2"/>
          <p:cNvGrpSpPr>
            <a:grpSpLocks/>
          </p:cNvGrpSpPr>
          <p:nvPr/>
        </p:nvGrpSpPr>
        <p:grpSpPr bwMode="auto">
          <a:xfrm>
            <a:off x="1092200" y="5075238"/>
            <a:ext cx="7880350" cy="773112"/>
            <a:chOff x="1456133" y="5624388"/>
            <a:chExt cx="10506683" cy="1029566"/>
          </a:xfrm>
        </p:grpSpPr>
        <p:sp>
          <p:nvSpPr>
            <p:cNvPr id="25" name="Rectangle 59"/>
            <p:cNvSpPr>
              <a:spLocks noChangeArrowheads="1"/>
            </p:cNvSpPr>
            <p:nvPr/>
          </p:nvSpPr>
          <p:spPr bwMode="auto">
            <a:xfrm>
              <a:off x="1712239" y="5738549"/>
              <a:ext cx="10250577" cy="915405"/>
            </a:xfrm>
            <a:prstGeom prst="rect">
              <a:avLst/>
            </a:prstGeom>
            <a:noFill/>
            <a:ln>
              <a:noFill/>
            </a:ln>
          </p:spPr>
          <p:txBody>
            <a:bodyPr/>
            <a:lstStyle/>
            <a:p>
              <a:pPr marL="342900" lvl="1" defTabSz="685800" eaLnBrk="1" fontAlgn="auto" hangingPunct="1">
                <a:spcBef>
                  <a:spcPct val="20000"/>
                </a:spcBef>
                <a:spcAft>
                  <a:spcPts val="0"/>
                </a:spcAft>
                <a:buClr>
                  <a:srgbClr val="000090"/>
                </a:buClr>
                <a:buSzPct val="100000"/>
                <a:defRPr/>
              </a:pPr>
              <a:r>
                <a:rPr lang="en-US" sz="1800" dirty="0">
                  <a:solidFill>
                    <a:prstClr val="black"/>
                  </a:solidFill>
                  <a:latin typeface="Calibri" panose="020F0502020204030204"/>
                  <a:ea typeface="ＭＳ Ｐゴシック" charset="0"/>
                  <a:cs typeface="ＭＳ Ｐゴシック" charset="0"/>
                </a:rPr>
                <a:t>Wireshark software used for our end-of-chapter labs is a (free) packet-sniffer</a:t>
              </a:r>
            </a:p>
            <a:p>
              <a:pPr marL="557213" lvl="1" indent="-214313" defTabSz="685800" eaLnBrk="1" fontAlgn="auto" hangingPunct="1">
                <a:spcBef>
                  <a:spcPct val="20000"/>
                </a:spcBef>
                <a:spcAft>
                  <a:spcPts val="0"/>
                </a:spcAft>
                <a:buClr>
                  <a:srgbClr val="ED7D31"/>
                </a:buClr>
                <a:buSzPct val="75000"/>
                <a:defRPr/>
              </a:pPr>
              <a:endParaRPr lang="en-US" sz="1350" dirty="0">
                <a:solidFill>
                  <a:prstClr val="black"/>
                </a:solidFill>
                <a:latin typeface="Gill Sans MT" charset="0"/>
                <a:ea typeface="ＭＳ Ｐゴシック" charset="0"/>
                <a:cs typeface="ＭＳ Ｐゴシック" charset="0"/>
              </a:endParaRPr>
            </a:p>
          </p:txBody>
        </p:sp>
        <p:pic>
          <p:nvPicPr>
            <p:cNvPr id="37915" name="Picture 2" descr="Image result for wireshark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6133" y="5624388"/>
              <a:ext cx="667509" cy="667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7905" name="Group 81"/>
          <p:cNvGrpSpPr>
            <a:grpSpLocks/>
          </p:cNvGrpSpPr>
          <p:nvPr/>
        </p:nvGrpSpPr>
        <p:grpSpPr bwMode="auto">
          <a:xfrm>
            <a:off x="3040063" y="4445000"/>
            <a:ext cx="719137" cy="357188"/>
            <a:chOff x="7493876" y="2774731"/>
            <a:chExt cx="1481958" cy="894622"/>
          </a:xfrm>
        </p:grpSpPr>
        <p:sp>
          <p:nvSpPr>
            <p:cNvPr id="83" name="Freeform 82"/>
            <p:cNvSpPr/>
            <p:nvPr/>
          </p:nvSpPr>
          <p:spPr>
            <a:xfrm>
              <a:off x="7493876" y="3084866"/>
              <a:ext cx="1481958" cy="58448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84" name="Oval 83"/>
            <p:cNvSpPr/>
            <p:nvPr/>
          </p:nvSpPr>
          <p:spPr>
            <a:xfrm>
              <a:off x="7493876" y="2774731"/>
              <a:ext cx="1481958" cy="58050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7909" name="Group 84"/>
            <p:cNvGrpSpPr>
              <a:grpSpLocks/>
            </p:cNvGrpSpPr>
            <p:nvPr/>
          </p:nvGrpSpPr>
          <p:grpSpPr bwMode="auto">
            <a:xfrm>
              <a:off x="7713663" y="2848339"/>
              <a:ext cx="1042107" cy="425543"/>
              <a:chOff x="7786941" y="2884917"/>
              <a:chExt cx="897649" cy="353919"/>
            </a:xfrm>
          </p:grpSpPr>
          <p:sp>
            <p:nvSpPr>
              <p:cNvPr id="86" name="Freeform 85"/>
              <p:cNvSpPr/>
              <p:nvPr/>
            </p:nvSpPr>
            <p:spPr>
              <a:xfrm>
                <a:off x="7811785" y="2886529"/>
                <a:ext cx="851019" cy="198412"/>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7" name="Freeform 86"/>
              <p:cNvSpPr/>
              <p:nvPr/>
            </p:nvSpPr>
            <p:spPr>
              <a:xfrm>
                <a:off x="8366919" y="3055178"/>
                <a:ext cx="318429" cy="171957"/>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8" name="Freeform 87"/>
              <p:cNvSpPr/>
              <p:nvPr/>
            </p:nvSpPr>
            <p:spPr>
              <a:xfrm>
                <a:off x="7786423" y="3055178"/>
                <a:ext cx="312793" cy="168651"/>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9" name="Freeform 88"/>
              <p:cNvSpPr/>
              <p:nvPr/>
            </p:nvSpPr>
            <p:spPr>
              <a:xfrm>
                <a:off x="7893505" y="2972508"/>
                <a:ext cx="679126" cy="267855"/>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sp>
        <p:nvSpPr>
          <p:cNvPr id="71" name="Slide Number Placeholder 5"/>
          <p:cNvSpPr>
            <a:spLocks noGrp="1"/>
          </p:cNvSpPr>
          <p:nvPr>
            <p:ph type="sldNum" sz="quarter" idx="12"/>
          </p:nvPr>
        </p:nvSpPr>
        <p:spPr>
          <a:xfrm>
            <a:off x="6915150" y="5689600"/>
            <a:ext cx="2057400" cy="273050"/>
          </a:xfrm>
        </p:spPr>
        <p:txBody>
          <a:bodyPr lIns="68580" tIns="34290" rIns="68580" bIns="34290"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34290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6858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0287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13716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1828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286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2743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2004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800">
                <a:solidFill>
                  <a:srgbClr val="7F7F7F"/>
                </a:solidFill>
              </a:rPr>
              <a:t>Introduction: 1-</a:t>
            </a:r>
            <a:fld id="{D6ECAF78-8E32-4AD6-9F2F-E5C949C5B43B}" type="slidenum">
              <a:rPr lang="en-US" altLang="en-US" sz="800">
                <a:solidFill>
                  <a:srgbClr val="7F7F7F"/>
                </a:solidFill>
              </a:rPr>
              <a:pPr>
                <a:spcBef>
                  <a:spcPct val="0"/>
                </a:spcBef>
                <a:buFontTx/>
                <a:buNone/>
              </a:pPr>
              <a:t>18</a:t>
            </a:fld>
            <a:endParaRPr lang="en-US" altLang="en-US" sz="800">
              <a:solidFill>
                <a:srgbClr val="7F7F7F"/>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righ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a:xfrm>
            <a:off x="619125" y="1076325"/>
            <a:ext cx="7886700" cy="671513"/>
          </a:xfrm>
        </p:spPr>
        <p:txBody>
          <a:bodyPr/>
          <a:lstStyle/>
          <a:p>
            <a:r>
              <a:rPr lang="en-US" altLang="en-US" sz="3300" smtClean="0"/>
              <a:t>Bad guys:  fake identity</a:t>
            </a:r>
          </a:p>
        </p:txBody>
      </p:sp>
      <p:sp>
        <p:nvSpPr>
          <p:cNvPr id="39939" name="Rectangle 5"/>
          <p:cNvSpPr txBox="1">
            <a:spLocks noChangeArrowheads="1"/>
          </p:cNvSpPr>
          <p:nvPr/>
        </p:nvSpPr>
        <p:spPr bwMode="auto">
          <a:xfrm>
            <a:off x="581025" y="2027238"/>
            <a:ext cx="7756525"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63525" indent="-166688"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None/>
            </a:pPr>
            <a:r>
              <a:rPr lang="en-US" altLang="en-US" sz="2700" i="1">
                <a:solidFill>
                  <a:srgbClr val="C00000"/>
                </a:solidFill>
                <a:latin typeface="Calibri" panose="020F0502020204030204" pitchFamily="34" charset="0"/>
              </a:rPr>
              <a:t>IP spoofing:</a:t>
            </a:r>
            <a:r>
              <a:rPr lang="en-US" altLang="en-US" sz="2400" i="1">
                <a:solidFill>
                  <a:srgbClr val="C00000"/>
                </a:solidFill>
                <a:latin typeface="Calibri" panose="020F0502020204030204" pitchFamily="34" charset="0"/>
              </a:rPr>
              <a:t> </a:t>
            </a:r>
            <a:r>
              <a:rPr lang="en-US" altLang="en-US" sz="2400">
                <a:solidFill>
                  <a:srgbClr val="000000"/>
                </a:solidFill>
                <a:latin typeface="Calibri" panose="020F0502020204030204" pitchFamily="34" charset="0"/>
              </a:rPr>
              <a:t>injection of packet with false source address</a:t>
            </a:r>
          </a:p>
        </p:txBody>
      </p:sp>
      <p:grpSp>
        <p:nvGrpSpPr>
          <p:cNvPr id="39940" name="Group 90"/>
          <p:cNvGrpSpPr>
            <a:grpSpLocks/>
          </p:cNvGrpSpPr>
          <p:nvPr/>
        </p:nvGrpSpPr>
        <p:grpSpPr bwMode="auto">
          <a:xfrm flipH="1">
            <a:off x="4387850" y="3119438"/>
            <a:ext cx="550863" cy="511175"/>
            <a:chOff x="-44" y="1473"/>
            <a:chExt cx="981" cy="1105"/>
          </a:xfrm>
        </p:grpSpPr>
        <p:pic>
          <p:nvPicPr>
            <p:cNvPr id="40002" name="Picture 9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sp>
        <p:nvSpPr>
          <p:cNvPr id="9" name="Freeform 43"/>
          <p:cNvSpPr>
            <a:spLocks/>
          </p:cNvSpPr>
          <p:nvPr/>
        </p:nvSpPr>
        <p:spPr bwMode="auto">
          <a:xfrm>
            <a:off x="2508250" y="3670300"/>
            <a:ext cx="3441700" cy="546100"/>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0" name="Freeform 44"/>
          <p:cNvSpPr>
            <a:spLocks/>
          </p:cNvSpPr>
          <p:nvPr/>
        </p:nvSpPr>
        <p:spPr bwMode="auto">
          <a:xfrm>
            <a:off x="4632325" y="3573463"/>
            <a:ext cx="4763" cy="390525"/>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1" name="Line 45"/>
          <p:cNvSpPr>
            <a:spLocks noChangeShapeType="1"/>
          </p:cNvSpPr>
          <p:nvPr/>
        </p:nvSpPr>
        <p:spPr bwMode="auto">
          <a:xfrm flipV="1">
            <a:off x="3389313" y="3963988"/>
            <a:ext cx="0" cy="280987"/>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2" name="Line 46"/>
          <p:cNvSpPr>
            <a:spLocks noChangeShapeType="1"/>
          </p:cNvSpPr>
          <p:nvPr/>
        </p:nvSpPr>
        <p:spPr bwMode="auto">
          <a:xfrm flipV="1">
            <a:off x="3403600" y="4497388"/>
            <a:ext cx="0" cy="180975"/>
          </a:xfrm>
          <a:prstGeom prst="line">
            <a:avLst/>
          </a:prstGeom>
          <a:noFill/>
          <a:ln w="1905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945" name="Text Box 47"/>
          <p:cNvSpPr txBox="1">
            <a:spLocks noChangeArrowheads="1"/>
          </p:cNvSpPr>
          <p:nvPr/>
        </p:nvSpPr>
        <p:spPr bwMode="auto">
          <a:xfrm>
            <a:off x="2078038" y="3136900"/>
            <a:ext cx="338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solidFill>
                  <a:srgbClr val="000000"/>
                </a:solidFill>
              </a:rPr>
              <a:t>A</a:t>
            </a:r>
          </a:p>
        </p:txBody>
      </p:sp>
      <p:sp>
        <p:nvSpPr>
          <p:cNvPr id="39946" name="Text Box 48"/>
          <p:cNvSpPr txBox="1">
            <a:spLocks noChangeArrowheads="1"/>
          </p:cNvSpPr>
          <p:nvPr/>
        </p:nvSpPr>
        <p:spPr bwMode="auto">
          <a:xfrm>
            <a:off x="6180138" y="4235450"/>
            <a:ext cx="338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solidFill>
                  <a:srgbClr val="000000"/>
                </a:solidFill>
              </a:rPr>
              <a:t>B</a:t>
            </a:r>
          </a:p>
        </p:txBody>
      </p:sp>
      <p:sp>
        <p:nvSpPr>
          <p:cNvPr id="39947" name="Text Box 49"/>
          <p:cNvSpPr txBox="1">
            <a:spLocks noChangeArrowheads="1"/>
          </p:cNvSpPr>
          <p:nvPr/>
        </p:nvSpPr>
        <p:spPr bwMode="auto">
          <a:xfrm>
            <a:off x="4752975" y="3121025"/>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solidFill>
                  <a:srgbClr val="000000"/>
                </a:solidFill>
              </a:rPr>
              <a:t>C</a:t>
            </a:r>
          </a:p>
        </p:txBody>
      </p:sp>
      <p:pic>
        <p:nvPicPr>
          <p:cNvPr id="39948"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8488" y="3170238"/>
            <a:ext cx="3524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39949" name="Group 54"/>
          <p:cNvGrpSpPr>
            <a:grpSpLocks/>
          </p:cNvGrpSpPr>
          <p:nvPr/>
        </p:nvGrpSpPr>
        <p:grpSpPr bwMode="auto">
          <a:xfrm>
            <a:off x="2378075" y="3165475"/>
            <a:ext cx="273050" cy="534988"/>
            <a:chOff x="4140" y="429"/>
            <a:chExt cx="1425" cy="2396"/>
          </a:xfrm>
        </p:grpSpPr>
        <p:sp>
          <p:nvSpPr>
            <p:cNvPr id="28" name="Freeform 55"/>
            <p:cNvSpPr>
              <a:spLocks/>
            </p:cNvSpPr>
            <p:nvPr/>
          </p:nvSpPr>
          <p:spPr bwMode="auto">
            <a:xfrm>
              <a:off x="5267" y="436"/>
              <a:ext cx="282" cy="2282"/>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971" name="Rectangle 56"/>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0" name="Freeform 57"/>
            <p:cNvSpPr>
              <a:spLocks/>
            </p:cNvSpPr>
            <p:nvPr/>
          </p:nvSpPr>
          <p:spPr bwMode="auto">
            <a:xfrm>
              <a:off x="5325" y="571"/>
              <a:ext cx="166" cy="2112"/>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1" name="Freeform 58"/>
            <p:cNvSpPr>
              <a:spLocks/>
            </p:cNvSpPr>
            <p:nvPr/>
          </p:nvSpPr>
          <p:spPr bwMode="auto">
            <a:xfrm>
              <a:off x="5283" y="1638"/>
              <a:ext cx="265" cy="192"/>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974" name="Rectangle 59"/>
            <p:cNvSpPr>
              <a:spLocks noChangeArrowheads="1"/>
            </p:cNvSpPr>
            <p:nvPr/>
          </p:nvSpPr>
          <p:spPr bwMode="auto">
            <a:xfrm>
              <a:off x="4214" y="690"/>
              <a:ext cx="595" cy="48"/>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39975" name="Group 60"/>
            <p:cNvGrpSpPr>
              <a:grpSpLocks/>
            </p:cNvGrpSpPr>
            <p:nvPr/>
          </p:nvGrpSpPr>
          <p:grpSpPr bwMode="auto">
            <a:xfrm>
              <a:off x="4749" y="668"/>
              <a:ext cx="581" cy="145"/>
              <a:chOff x="614" y="2568"/>
              <a:chExt cx="725" cy="139"/>
            </a:xfrm>
          </p:grpSpPr>
          <p:sp>
            <p:nvSpPr>
              <p:cNvPr id="40000" name="AutoShape 61"/>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0001" name="AutoShape 62"/>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9976" name="Rectangle 63"/>
            <p:cNvSpPr>
              <a:spLocks noChangeArrowheads="1"/>
            </p:cNvSpPr>
            <p:nvPr/>
          </p:nvSpPr>
          <p:spPr bwMode="auto">
            <a:xfrm>
              <a:off x="4227" y="1021"/>
              <a:ext cx="595" cy="43"/>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39977" name="Group 64"/>
            <p:cNvGrpSpPr>
              <a:grpSpLocks/>
            </p:cNvGrpSpPr>
            <p:nvPr/>
          </p:nvGrpSpPr>
          <p:grpSpPr bwMode="auto">
            <a:xfrm>
              <a:off x="4747" y="994"/>
              <a:ext cx="581" cy="134"/>
              <a:chOff x="614" y="2568"/>
              <a:chExt cx="725" cy="139"/>
            </a:xfrm>
          </p:grpSpPr>
          <p:sp>
            <p:nvSpPr>
              <p:cNvPr id="39998" name="AutoShape 65"/>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99" name="AutoShape 66"/>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9978" name="Rectangle 67"/>
            <p:cNvSpPr>
              <a:spLocks noChangeArrowheads="1"/>
            </p:cNvSpPr>
            <p:nvPr/>
          </p:nvSpPr>
          <p:spPr bwMode="auto">
            <a:xfrm>
              <a:off x="4214" y="1358"/>
              <a:ext cx="601" cy="48"/>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79" name="Rectangle 68"/>
            <p:cNvSpPr>
              <a:spLocks noChangeArrowheads="1"/>
            </p:cNvSpPr>
            <p:nvPr/>
          </p:nvSpPr>
          <p:spPr bwMode="auto">
            <a:xfrm>
              <a:off x="4227" y="1656"/>
              <a:ext cx="595" cy="48"/>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39980" name="Group 69"/>
            <p:cNvGrpSpPr>
              <a:grpSpLocks/>
            </p:cNvGrpSpPr>
            <p:nvPr/>
          </p:nvGrpSpPr>
          <p:grpSpPr bwMode="auto">
            <a:xfrm>
              <a:off x="4735" y="1627"/>
              <a:ext cx="582" cy="151"/>
              <a:chOff x="614" y="2568"/>
              <a:chExt cx="725" cy="139"/>
            </a:xfrm>
          </p:grpSpPr>
          <p:sp>
            <p:nvSpPr>
              <p:cNvPr id="39996" name="AutoShape 70"/>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97" name="AutoShape 71"/>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9" name="Freeform 72"/>
            <p:cNvSpPr>
              <a:spLocks/>
            </p:cNvSpPr>
            <p:nvPr/>
          </p:nvSpPr>
          <p:spPr bwMode="auto">
            <a:xfrm>
              <a:off x="5292" y="1353"/>
              <a:ext cx="257" cy="192"/>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39982" name="Group 73"/>
            <p:cNvGrpSpPr>
              <a:grpSpLocks/>
            </p:cNvGrpSpPr>
            <p:nvPr/>
          </p:nvGrpSpPr>
          <p:grpSpPr bwMode="auto">
            <a:xfrm>
              <a:off x="4739" y="1327"/>
              <a:ext cx="582" cy="139"/>
              <a:chOff x="614" y="2568"/>
              <a:chExt cx="725" cy="139"/>
            </a:xfrm>
          </p:grpSpPr>
          <p:sp>
            <p:nvSpPr>
              <p:cNvPr id="39994" name="AutoShape 74"/>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95" name="AutoShape 75"/>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39983" name="Rectangle 76"/>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 name="Freeform 77"/>
            <p:cNvSpPr>
              <a:spLocks/>
            </p:cNvSpPr>
            <p:nvPr/>
          </p:nvSpPr>
          <p:spPr bwMode="auto">
            <a:xfrm>
              <a:off x="5308" y="1005"/>
              <a:ext cx="240"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3" name="Freeform 78"/>
            <p:cNvSpPr>
              <a:spLocks/>
            </p:cNvSpPr>
            <p:nvPr/>
          </p:nvSpPr>
          <p:spPr bwMode="auto">
            <a:xfrm>
              <a:off x="5316" y="678"/>
              <a:ext cx="240" cy="242"/>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986" name="Oval 79"/>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5" name="Freeform 80"/>
            <p:cNvSpPr>
              <a:spLocks/>
            </p:cNvSpPr>
            <p:nvPr/>
          </p:nvSpPr>
          <p:spPr bwMode="auto">
            <a:xfrm>
              <a:off x="5300" y="2612"/>
              <a:ext cx="249" cy="199"/>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988" name="AutoShape 81"/>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89" name="AutoShape 82"/>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90" name="Oval 83"/>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9" name="Oval 84"/>
            <p:cNvSpPr>
              <a:spLocks noChangeArrowheads="1"/>
            </p:cNvSpPr>
            <p:nvPr/>
          </p:nvSpPr>
          <p:spPr bwMode="auto">
            <a:xfrm>
              <a:off x="4488" y="2384"/>
              <a:ext cx="157" cy="142"/>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endParaRPr lang="en-US" altLang="en-US" sz="1350" dirty="0">
                <a:solidFill>
                  <a:srgbClr val="FF0000"/>
                </a:solidFill>
              </a:endParaRPr>
            </a:p>
          </p:txBody>
        </p:sp>
        <p:sp>
          <p:nvSpPr>
            <p:cNvPr id="39992" name="Oval 85"/>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9993" name="Rectangle 86"/>
            <p:cNvSpPr>
              <a:spLocks noChangeArrowheads="1"/>
            </p:cNvSpPr>
            <p:nvPr/>
          </p:nvSpPr>
          <p:spPr bwMode="auto">
            <a:xfrm>
              <a:off x="5063" y="1832"/>
              <a:ext cx="87" cy="763"/>
            </a:xfrm>
            <a:prstGeom prst="rect">
              <a:avLst/>
            </a:prstGeom>
            <a:solidFill>
              <a:srgbClr val="292929"/>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grpSp>
        <p:nvGrpSpPr>
          <p:cNvPr id="39950" name="Group 87"/>
          <p:cNvGrpSpPr>
            <a:grpSpLocks/>
          </p:cNvGrpSpPr>
          <p:nvPr/>
        </p:nvGrpSpPr>
        <p:grpSpPr bwMode="auto">
          <a:xfrm flipH="1">
            <a:off x="5746750" y="4154488"/>
            <a:ext cx="552450" cy="509587"/>
            <a:chOff x="-44" y="1473"/>
            <a:chExt cx="981" cy="1105"/>
          </a:xfrm>
        </p:grpSpPr>
        <p:pic>
          <p:nvPicPr>
            <p:cNvPr id="39968" name="Picture 88"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p:cNvSpPr>
              <a:spLocks/>
            </p:cNvSpPr>
            <p:nvPr/>
          </p:nvSpPr>
          <p:spPr bwMode="auto">
            <a:xfrm flipH="1">
              <a:off x="373" y="1580"/>
              <a:ext cx="476"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39951" name="Group 81"/>
          <p:cNvGrpSpPr>
            <a:grpSpLocks/>
          </p:cNvGrpSpPr>
          <p:nvPr/>
        </p:nvGrpSpPr>
        <p:grpSpPr bwMode="auto">
          <a:xfrm>
            <a:off x="3030538" y="4159250"/>
            <a:ext cx="719137" cy="357188"/>
            <a:chOff x="7493876" y="2774731"/>
            <a:chExt cx="1481958" cy="894622"/>
          </a:xfrm>
        </p:grpSpPr>
        <p:sp>
          <p:nvSpPr>
            <p:cNvPr id="83" name="Freeform 82"/>
            <p:cNvSpPr/>
            <p:nvPr/>
          </p:nvSpPr>
          <p:spPr>
            <a:xfrm>
              <a:off x="7493876" y="3084866"/>
              <a:ext cx="1481958" cy="58448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sp>
          <p:nvSpPr>
            <p:cNvPr id="84" name="Oval 83"/>
            <p:cNvSpPr/>
            <p:nvPr/>
          </p:nvSpPr>
          <p:spPr>
            <a:xfrm>
              <a:off x="7493876" y="2774731"/>
              <a:ext cx="1481958" cy="58050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r>
                <a:rPr lang="en-US" sz="1350" dirty="0">
                  <a:solidFill>
                    <a:prstClr val="white"/>
                  </a:solidFill>
                  <a:latin typeface="Calibri" panose="020F0502020204030204"/>
                </a:rPr>
                <a:t>              </a:t>
              </a:r>
            </a:p>
          </p:txBody>
        </p:sp>
        <p:grpSp>
          <p:nvGrpSpPr>
            <p:cNvPr id="39963" name="Group 84"/>
            <p:cNvGrpSpPr>
              <a:grpSpLocks/>
            </p:cNvGrpSpPr>
            <p:nvPr/>
          </p:nvGrpSpPr>
          <p:grpSpPr bwMode="auto">
            <a:xfrm>
              <a:off x="7713663" y="2848339"/>
              <a:ext cx="1042107" cy="425543"/>
              <a:chOff x="7786941" y="2884917"/>
              <a:chExt cx="897649" cy="353919"/>
            </a:xfrm>
          </p:grpSpPr>
          <p:sp>
            <p:nvSpPr>
              <p:cNvPr id="86" name="Freeform 85"/>
              <p:cNvSpPr/>
              <p:nvPr/>
            </p:nvSpPr>
            <p:spPr>
              <a:xfrm>
                <a:off x="7811785" y="2886529"/>
                <a:ext cx="851019" cy="198412"/>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7" name="Freeform 86"/>
              <p:cNvSpPr/>
              <p:nvPr/>
            </p:nvSpPr>
            <p:spPr>
              <a:xfrm>
                <a:off x="8366919" y="3055178"/>
                <a:ext cx="318429" cy="171957"/>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8" name="Freeform 87"/>
              <p:cNvSpPr/>
              <p:nvPr/>
            </p:nvSpPr>
            <p:spPr>
              <a:xfrm>
                <a:off x="7786423" y="3055178"/>
                <a:ext cx="312793" cy="168651"/>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sp>
            <p:nvSpPr>
              <p:cNvPr id="89" name="Freeform 88"/>
              <p:cNvSpPr/>
              <p:nvPr/>
            </p:nvSpPr>
            <p:spPr>
              <a:xfrm>
                <a:off x="7893505" y="2972508"/>
                <a:ext cx="679126" cy="267855"/>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dirty="0">
                  <a:solidFill>
                    <a:prstClr val="white"/>
                  </a:solidFill>
                  <a:latin typeface="Calibri" panose="020F0502020204030204"/>
                </a:endParaRPr>
              </a:p>
            </p:txBody>
          </p:sp>
        </p:grpSp>
      </p:grpSp>
      <p:grpSp>
        <p:nvGrpSpPr>
          <p:cNvPr id="4" name="Group 3"/>
          <p:cNvGrpSpPr>
            <a:grpSpLocks/>
          </p:cNvGrpSpPr>
          <p:nvPr/>
        </p:nvGrpSpPr>
        <p:grpSpPr bwMode="auto">
          <a:xfrm>
            <a:off x="2460625" y="3546475"/>
            <a:ext cx="2224088" cy="823913"/>
            <a:chOff x="3293812" y="3967064"/>
            <a:chExt cx="2967038" cy="1098559"/>
          </a:xfrm>
        </p:grpSpPr>
        <p:sp>
          <p:nvSpPr>
            <p:cNvPr id="72" name="Freeform 77"/>
            <p:cNvSpPr>
              <a:spLocks/>
            </p:cNvSpPr>
            <p:nvPr/>
          </p:nvSpPr>
          <p:spPr bwMode="auto">
            <a:xfrm>
              <a:off x="3293812" y="3967064"/>
              <a:ext cx="2967038" cy="704856"/>
            </a:xfrm>
            <a:custGeom>
              <a:avLst/>
              <a:gdLst>
                <a:gd name="T0" fmla="*/ 2147483647 w 1869"/>
                <a:gd name="T1" fmla="*/ 0 h 444"/>
                <a:gd name="T2" fmla="*/ 2147483647 w 1869"/>
                <a:gd name="T3" fmla="*/ 2147483647 h 444"/>
                <a:gd name="T4" fmla="*/ 0 w 1869"/>
                <a:gd name="T5" fmla="*/ 2147483647 h 444"/>
                <a:gd name="T6" fmla="*/ 0 60000 65536"/>
                <a:gd name="T7" fmla="*/ 0 60000 65536"/>
                <a:gd name="T8" fmla="*/ 0 60000 65536"/>
                <a:gd name="T9" fmla="*/ 0 w 1869"/>
                <a:gd name="T10" fmla="*/ 0 h 444"/>
                <a:gd name="T11" fmla="*/ 1869 w 1869"/>
                <a:gd name="T12" fmla="*/ 444 h 444"/>
              </a:gdLst>
              <a:ahLst/>
              <a:cxnLst>
                <a:cxn ang="T6">
                  <a:pos x="T0" y="T1"/>
                </a:cxn>
                <a:cxn ang="T7">
                  <a:pos x="T2" y="T3"/>
                </a:cxn>
                <a:cxn ang="T8">
                  <a:pos x="T4" y="T5"/>
                </a:cxn>
              </a:cxnLst>
              <a:rect l="T9" t="T10" r="T11" b="T12"/>
              <a:pathLst>
                <a:path w="1869" h="444">
                  <a:moveTo>
                    <a:pt x="1869" y="0"/>
                  </a:moveTo>
                  <a:lnTo>
                    <a:pt x="1869" y="444"/>
                  </a:lnTo>
                  <a:lnTo>
                    <a:pt x="0" y="444"/>
                  </a:lnTo>
                </a:path>
              </a:pathLst>
            </a:custGeom>
            <a:noFill/>
            <a:ln w="28575">
              <a:solidFill>
                <a:srgbClr val="CC0000"/>
              </a:solidFill>
              <a:round/>
              <a:headEnd/>
              <a:tailEnd type="triangle" w="med" len="me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39955" name="Group 78"/>
            <p:cNvGrpSpPr>
              <a:grpSpLocks/>
            </p:cNvGrpSpPr>
            <p:nvPr/>
          </p:nvGrpSpPr>
          <p:grpSpPr bwMode="auto">
            <a:xfrm>
              <a:off x="3760537" y="4449672"/>
              <a:ext cx="2295525" cy="615951"/>
              <a:chOff x="2418" y="3342"/>
              <a:chExt cx="1446" cy="388"/>
            </a:xfrm>
          </p:grpSpPr>
          <p:sp>
            <p:nvSpPr>
              <p:cNvPr id="39956" name="Rectangle 79"/>
              <p:cNvSpPr>
                <a:spLocks noChangeArrowheads="1"/>
              </p:cNvSpPr>
              <p:nvPr/>
            </p:nvSpPr>
            <p:spPr bwMode="auto">
              <a:xfrm>
                <a:off x="2463" y="3366"/>
                <a:ext cx="1356" cy="174"/>
              </a:xfrm>
              <a:prstGeom prst="rect">
                <a:avLst/>
              </a:prstGeom>
              <a:solidFill>
                <a:srgbClr val="FFFFFF"/>
              </a:solidFill>
              <a:ln w="12700">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latin typeface="Times New Roman" panose="02020603050405020304" pitchFamily="18" charset="0"/>
                </a:endParaRPr>
              </a:p>
            </p:txBody>
          </p:sp>
          <p:sp>
            <p:nvSpPr>
              <p:cNvPr id="75" name="Line 80"/>
              <p:cNvSpPr>
                <a:spLocks noChangeShapeType="1"/>
              </p:cNvSpPr>
              <p:nvPr/>
            </p:nvSpPr>
            <p:spPr bwMode="auto">
              <a:xfrm>
                <a:off x="2783" y="3373"/>
                <a:ext cx="0" cy="16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76" name="Line 81"/>
              <p:cNvSpPr>
                <a:spLocks noChangeShapeType="1"/>
              </p:cNvSpPr>
              <p:nvPr/>
            </p:nvSpPr>
            <p:spPr bwMode="auto">
              <a:xfrm>
                <a:off x="3186" y="3375"/>
                <a:ext cx="0" cy="16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77" name="Line 82"/>
              <p:cNvSpPr>
                <a:spLocks noChangeShapeType="1"/>
              </p:cNvSpPr>
              <p:nvPr/>
            </p:nvSpPr>
            <p:spPr bwMode="auto">
              <a:xfrm>
                <a:off x="3321" y="3375"/>
                <a:ext cx="0" cy="168"/>
              </a:xfrm>
              <a:prstGeom prst="line">
                <a:avLst/>
              </a:prstGeom>
              <a:noFill/>
              <a:ln w="12700">
                <a:solidFill>
                  <a:schemeClr val="tx1"/>
                </a:solidFill>
                <a:round/>
                <a:headEnd/>
                <a:tailEnd/>
              </a:ln>
            </p:spPr>
            <p:txBody>
              <a:bodyPr wrap="none" anchor="ct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39960" name="Text Box 83"/>
              <p:cNvSpPr txBox="1">
                <a:spLocks noChangeArrowheads="1"/>
              </p:cNvSpPr>
              <p:nvPr/>
            </p:nvSpPr>
            <p:spPr bwMode="auto">
              <a:xfrm>
                <a:off x="2418" y="3342"/>
                <a:ext cx="144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200">
                    <a:solidFill>
                      <a:srgbClr val="CC0000"/>
                    </a:solidFill>
                  </a:rPr>
                  <a:t>src:B</a:t>
                </a:r>
                <a:r>
                  <a:rPr lang="en-US" altLang="en-US" sz="1200">
                    <a:solidFill>
                      <a:srgbClr val="000000"/>
                    </a:solidFill>
                  </a:rPr>
                  <a:t> dest:A     payload</a:t>
                </a:r>
                <a:endParaRPr lang="en-US" altLang="en-US" sz="1200">
                  <a:solidFill>
                    <a:srgbClr val="000000"/>
                  </a:solidFill>
                  <a:latin typeface="Times New Roman" panose="02020603050405020304" pitchFamily="18" charset="0"/>
                </a:endParaRPr>
              </a:p>
            </p:txBody>
          </p:sp>
        </p:grpSp>
      </p:grpSp>
      <p:sp>
        <p:nvSpPr>
          <p:cNvPr id="67" name="Slide Number Placeholder 5"/>
          <p:cNvSpPr>
            <a:spLocks noGrp="1"/>
          </p:cNvSpPr>
          <p:nvPr>
            <p:ph type="sldNum" sz="quarter" idx="12"/>
          </p:nvPr>
        </p:nvSpPr>
        <p:spPr>
          <a:xfrm>
            <a:off x="6915150" y="5689600"/>
            <a:ext cx="2057400" cy="273050"/>
          </a:xfrm>
        </p:spPr>
        <p:txBody>
          <a:bodyPr lIns="68580" tIns="34290" rIns="68580" bIns="34290"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34290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6858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0287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13716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1828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286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2743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2004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800">
                <a:solidFill>
                  <a:srgbClr val="7F7F7F"/>
                </a:solidFill>
              </a:rPr>
              <a:t>Introduction: 1-</a:t>
            </a:r>
            <a:fld id="{0361EF5D-FB68-442E-B72B-D1E82C01F9D5}" type="slidenum">
              <a:rPr lang="en-US" altLang="en-US" sz="800">
                <a:solidFill>
                  <a:srgbClr val="7F7F7F"/>
                </a:solidFill>
              </a:rPr>
              <a:pPr>
                <a:spcBef>
                  <a:spcPct val="0"/>
                </a:spcBef>
                <a:buFontTx/>
                <a:buNone/>
              </a:pPr>
              <a:t>19</a:t>
            </a:fld>
            <a:endParaRPr lang="en-US" altLang="en-US" sz="800">
              <a:solidFill>
                <a:srgbClr val="7F7F7F"/>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a:xfrm>
            <a:off x="619125" y="1076325"/>
            <a:ext cx="7886700" cy="671513"/>
          </a:xfrm>
        </p:spPr>
        <p:txBody>
          <a:bodyPr/>
          <a:lstStyle/>
          <a:p>
            <a:r>
              <a:rPr lang="en-US" altLang="en-US" sz="3300" smtClean="0"/>
              <a:t>Bad guys: denial of service</a:t>
            </a:r>
          </a:p>
        </p:txBody>
      </p:sp>
      <p:grpSp>
        <p:nvGrpSpPr>
          <p:cNvPr id="41987" name="Group 131"/>
          <p:cNvGrpSpPr>
            <a:grpSpLocks/>
          </p:cNvGrpSpPr>
          <p:nvPr/>
        </p:nvGrpSpPr>
        <p:grpSpPr bwMode="auto">
          <a:xfrm flipH="1">
            <a:off x="5659438" y="3676650"/>
            <a:ext cx="550862" cy="511175"/>
            <a:chOff x="-44" y="1473"/>
            <a:chExt cx="981" cy="1105"/>
          </a:xfrm>
        </p:grpSpPr>
        <p:pic>
          <p:nvPicPr>
            <p:cNvPr id="42086" name="Picture 132"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133"/>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9" name="Group 186"/>
          <p:cNvGrpSpPr>
            <a:grpSpLocks/>
          </p:cNvGrpSpPr>
          <p:nvPr/>
        </p:nvGrpSpPr>
        <p:grpSpPr bwMode="auto">
          <a:xfrm>
            <a:off x="6065838" y="3859213"/>
            <a:ext cx="676275" cy="969962"/>
            <a:chOff x="5069" y="1396"/>
            <a:chExt cx="568" cy="815"/>
          </a:xfrm>
        </p:grpSpPr>
        <p:sp>
          <p:nvSpPr>
            <p:cNvPr id="42052" name="Text Box 21"/>
            <p:cNvSpPr txBox="1">
              <a:spLocks noChangeArrowheads="1"/>
            </p:cNvSpPr>
            <p:nvPr/>
          </p:nvSpPr>
          <p:spPr bwMode="auto">
            <a:xfrm>
              <a:off x="5069" y="1940"/>
              <a:ext cx="56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500">
                  <a:solidFill>
                    <a:srgbClr val="000000"/>
                  </a:solidFill>
                </a:rPr>
                <a:t>target</a:t>
              </a:r>
            </a:p>
          </p:txBody>
        </p:sp>
        <p:grpSp>
          <p:nvGrpSpPr>
            <p:cNvPr id="42053" name="Group 153"/>
            <p:cNvGrpSpPr>
              <a:grpSpLocks/>
            </p:cNvGrpSpPr>
            <p:nvPr/>
          </p:nvGrpSpPr>
          <p:grpSpPr bwMode="auto">
            <a:xfrm>
              <a:off x="5200" y="1396"/>
              <a:ext cx="258" cy="574"/>
              <a:chOff x="4140" y="429"/>
              <a:chExt cx="1425" cy="2396"/>
            </a:xfrm>
          </p:grpSpPr>
          <p:sp>
            <p:nvSpPr>
              <p:cNvPr id="12" name="Freeform 154"/>
              <p:cNvSpPr>
                <a:spLocks/>
              </p:cNvSpPr>
              <p:nvPr/>
            </p:nvSpPr>
            <p:spPr bwMode="auto">
              <a:xfrm>
                <a:off x="5272" y="435"/>
                <a:ext cx="280" cy="2283"/>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2055" name="Rectangle 155"/>
              <p:cNvSpPr>
                <a:spLocks noChangeArrowheads="1"/>
              </p:cNvSpPr>
              <p:nvPr/>
            </p:nvSpPr>
            <p:spPr bwMode="auto">
              <a:xfrm>
                <a:off x="4206" y="429"/>
                <a:ext cx="1049"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14" name="Freeform 156"/>
              <p:cNvSpPr>
                <a:spLocks/>
              </p:cNvSpPr>
              <p:nvPr/>
            </p:nvSpPr>
            <p:spPr bwMode="auto">
              <a:xfrm>
                <a:off x="5324" y="568"/>
                <a:ext cx="169" cy="2116"/>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15" name="Freeform 157"/>
              <p:cNvSpPr>
                <a:spLocks/>
              </p:cNvSpPr>
              <p:nvPr/>
            </p:nvSpPr>
            <p:spPr bwMode="auto">
              <a:xfrm>
                <a:off x="5287" y="1637"/>
                <a:ext cx="265"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2058" name="Rectangle 158"/>
              <p:cNvSpPr>
                <a:spLocks noChangeArrowheads="1"/>
              </p:cNvSpPr>
              <p:nvPr/>
            </p:nvSpPr>
            <p:spPr bwMode="auto">
              <a:xfrm>
                <a:off x="4212" y="692"/>
                <a:ext cx="597" cy="50"/>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42059" name="Group 159"/>
              <p:cNvGrpSpPr>
                <a:grpSpLocks/>
              </p:cNvGrpSpPr>
              <p:nvPr/>
            </p:nvGrpSpPr>
            <p:grpSpPr bwMode="auto">
              <a:xfrm>
                <a:off x="4749" y="668"/>
                <a:ext cx="581" cy="145"/>
                <a:chOff x="614" y="2568"/>
                <a:chExt cx="725" cy="139"/>
              </a:xfrm>
            </p:grpSpPr>
            <p:sp>
              <p:nvSpPr>
                <p:cNvPr id="42084" name="AutoShape 160"/>
                <p:cNvSpPr>
                  <a:spLocks noChangeArrowheads="1"/>
                </p:cNvSpPr>
                <p:nvPr/>
              </p:nvSpPr>
              <p:spPr bwMode="auto">
                <a:xfrm>
                  <a:off x="612" y="2567"/>
                  <a:ext cx="724"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85" name="AutoShape 161"/>
                <p:cNvSpPr>
                  <a:spLocks noChangeArrowheads="1"/>
                </p:cNvSpPr>
                <p:nvPr/>
              </p:nvSpPr>
              <p:spPr bwMode="auto">
                <a:xfrm>
                  <a:off x="626" y="2583"/>
                  <a:ext cx="689"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42060" name="Rectangle 162"/>
              <p:cNvSpPr>
                <a:spLocks noChangeArrowheads="1"/>
              </p:cNvSpPr>
              <p:nvPr/>
            </p:nvSpPr>
            <p:spPr bwMode="auto">
              <a:xfrm>
                <a:off x="4223" y="1018"/>
                <a:ext cx="597" cy="50"/>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42061" name="Group 163"/>
              <p:cNvGrpSpPr>
                <a:grpSpLocks/>
              </p:cNvGrpSpPr>
              <p:nvPr/>
            </p:nvGrpSpPr>
            <p:grpSpPr bwMode="auto">
              <a:xfrm>
                <a:off x="4747" y="994"/>
                <a:ext cx="581" cy="134"/>
                <a:chOff x="614" y="2568"/>
                <a:chExt cx="725" cy="139"/>
              </a:xfrm>
            </p:grpSpPr>
            <p:sp>
              <p:nvSpPr>
                <p:cNvPr id="42082" name="AutoShape 164"/>
                <p:cNvSpPr>
                  <a:spLocks noChangeArrowheads="1"/>
                </p:cNvSpPr>
                <p:nvPr/>
              </p:nvSpPr>
              <p:spPr bwMode="auto">
                <a:xfrm>
                  <a:off x="615" y="2566"/>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83" name="AutoShape 165"/>
                <p:cNvSpPr>
                  <a:spLocks noChangeArrowheads="1"/>
                </p:cNvSpPr>
                <p:nvPr/>
              </p:nvSpPr>
              <p:spPr bwMode="auto">
                <a:xfrm>
                  <a:off x="628" y="2584"/>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42062" name="Rectangle 166"/>
              <p:cNvSpPr>
                <a:spLocks noChangeArrowheads="1"/>
              </p:cNvSpPr>
              <p:nvPr/>
            </p:nvSpPr>
            <p:spPr bwMode="auto">
              <a:xfrm>
                <a:off x="4217" y="1360"/>
                <a:ext cx="597" cy="46"/>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63" name="Rectangle 167"/>
              <p:cNvSpPr>
                <a:spLocks noChangeArrowheads="1"/>
              </p:cNvSpPr>
              <p:nvPr/>
            </p:nvSpPr>
            <p:spPr bwMode="auto">
              <a:xfrm>
                <a:off x="4228" y="1656"/>
                <a:ext cx="597" cy="46"/>
              </a:xfrm>
              <a:prstGeom prst="rect">
                <a:avLst/>
              </a:prstGeom>
              <a:solidFill>
                <a:schemeClr val="tx1"/>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nvGrpSpPr>
              <p:cNvPr id="42064" name="Group 168"/>
              <p:cNvGrpSpPr>
                <a:grpSpLocks/>
              </p:cNvGrpSpPr>
              <p:nvPr/>
            </p:nvGrpSpPr>
            <p:grpSpPr bwMode="auto">
              <a:xfrm>
                <a:off x="4735" y="1627"/>
                <a:ext cx="582" cy="151"/>
                <a:chOff x="614" y="2568"/>
                <a:chExt cx="725" cy="139"/>
              </a:xfrm>
            </p:grpSpPr>
            <p:sp>
              <p:nvSpPr>
                <p:cNvPr id="42080" name="AutoShape 169"/>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81" name="AutoShape 170"/>
                <p:cNvSpPr>
                  <a:spLocks noChangeArrowheads="1"/>
                </p:cNvSpPr>
                <p:nvPr/>
              </p:nvSpPr>
              <p:spPr bwMode="auto">
                <a:xfrm>
                  <a:off x="630" y="2583"/>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24" name="Freeform 171"/>
              <p:cNvSpPr>
                <a:spLocks/>
              </p:cNvSpPr>
              <p:nvPr/>
            </p:nvSpPr>
            <p:spPr bwMode="auto">
              <a:xfrm>
                <a:off x="5287" y="1353"/>
                <a:ext cx="265" cy="189"/>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nvGrpSpPr>
              <p:cNvPr id="42066" name="Group 172"/>
              <p:cNvGrpSpPr>
                <a:grpSpLocks/>
              </p:cNvGrpSpPr>
              <p:nvPr/>
            </p:nvGrpSpPr>
            <p:grpSpPr bwMode="auto">
              <a:xfrm>
                <a:off x="4739" y="1327"/>
                <a:ext cx="582" cy="139"/>
                <a:chOff x="614" y="2568"/>
                <a:chExt cx="725" cy="139"/>
              </a:xfrm>
            </p:grpSpPr>
            <p:sp>
              <p:nvSpPr>
                <p:cNvPr id="42078" name="AutoShape 173"/>
                <p:cNvSpPr>
                  <a:spLocks noChangeArrowheads="1"/>
                </p:cNvSpPr>
                <p:nvPr/>
              </p:nvSpPr>
              <p:spPr bwMode="auto">
                <a:xfrm>
                  <a:off x="611" y="2567"/>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79" name="AutoShape 174"/>
                <p:cNvSpPr>
                  <a:spLocks noChangeArrowheads="1"/>
                </p:cNvSpPr>
                <p:nvPr/>
              </p:nvSpPr>
              <p:spPr bwMode="auto">
                <a:xfrm>
                  <a:off x="625" y="2584"/>
                  <a:ext cx="695" cy="10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sp>
            <p:nvSpPr>
              <p:cNvPr id="42067" name="Rectangle 175"/>
              <p:cNvSpPr>
                <a:spLocks noChangeArrowheads="1"/>
              </p:cNvSpPr>
              <p:nvPr/>
            </p:nvSpPr>
            <p:spPr bwMode="auto">
              <a:xfrm>
                <a:off x="5250" y="429"/>
                <a:ext cx="66"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27" name="Freeform 176"/>
              <p:cNvSpPr>
                <a:spLocks/>
              </p:cNvSpPr>
              <p:nvPr/>
            </p:nvSpPr>
            <p:spPr bwMode="auto">
              <a:xfrm>
                <a:off x="5316" y="1008"/>
                <a:ext cx="236" cy="212"/>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28" name="Freeform 177"/>
              <p:cNvSpPr>
                <a:spLocks/>
              </p:cNvSpPr>
              <p:nvPr/>
            </p:nvSpPr>
            <p:spPr bwMode="auto">
              <a:xfrm>
                <a:off x="5316" y="680"/>
                <a:ext cx="243" cy="239"/>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2070" name="Oval 178"/>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0" name="Freeform 179"/>
              <p:cNvSpPr>
                <a:spLocks/>
              </p:cNvSpPr>
              <p:nvPr/>
            </p:nvSpPr>
            <p:spPr bwMode="auto">
              <a:xfrm>
                <a:off x="5302" y="2612"/>
                <a:ext cx="250"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42072" name="AutoShape 180"/>
              <p:cNvSpPr>
                <a:spLocks noChangeArrowheads="1"/>
              </p:cNvSpPr>
              <p:nvPr/>
            </p:nvSpPr>
            <p:spPr bwMode="auto">
              <a:xfrm>
                <a:off x="4140" y="2679"/>
                <a:ext cx="1199" cy="146"/>
              </a:xfrm>
              <a:prstGeom prst="roundRect">
                <a:avLst>
                  <a:gd name="adj" fmla="val 50000"/>
                </a:avLst>
              </a:prstGeom>
              <a:solidFill>
                <a:srgbClr val="DDDDDD"/>
              </a:solidFill>
              <a:ln w="9525">
                <a:solidFill>
                  <a:schemeClr val="tx1"/>
                </a:solidFill>
                <a:round/>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73" name="AutoShape 181"/>
              <p:cNvSpPr>
                <a:spLocks noChangeArrowheads="1"/>
              </p:cNvSpPr>
              <p:nvPr/>
            </p:nvSpPr>
            <p:spPr bwMode="auto">
              <a:xfrm>
                <a:off x="4206" y="2712"/>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74" name="Oval 182"/>
              <p:cNvSpPr>
                <a:spLocks noChangeArrowheads="1"/>
              </p:cNvSpPr>
              <p:nvPr/>
            </p:nvSpPr>
            <p:spPr bwMode="auto">
              <a:xfrm>
                <a:off x="4306" y="2383"/>
                <a:ext cx="160"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34" name="Oval 183"/>
              <p:cNvSpPr>
                <a:spLocks noChangeArrowheads="1"/>
              </p:cNvSpPr>
              <p:nvPr/>
            </p:nvSpPr>
            <p:spPr bwMode="auto">
              <a:xfrm>
                <a:off x="4484" y="2383"/>
                <a:ext cx="162" cy="145"/>
              </a:xfrm>
              <a:prstGeom prst="ellipse">
                <a:avLst/>
              </a:prstGeom>
              <a:solidFill>
                <a:srgbClr val="FF0000"/>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1" fontAlgn="auto" hangingPunct="1">
                  <a:spcBef>
                    <a:spcPts val="0"/>
                  </a:spcBef>
                  <a:spcAft>
                    <a:spcPts val="0"/>
                  </a:spcAft>
                  <a:defRPr/>
                </a:pPr>
                <a:endParaRPr lang="en-US" altLang="en-US" sz="1350" dirty="0">
                  <a:solidFill>
                    <a:srgbClr val="FF0000"/>
                  </a:solidFill>
                </a:endParaRPr>
              </a:p>
            </p:txBody>
          </p:sp>
          <p:sp>
            <p:nvSpPr>
              <p:cNvPr id="42076" name="Oval 184"/>
              <p:cNvSpPr>
                <a:spLocks noChangeArrowheads="1"/>
              </p:cNvSpPr>
              <p:nvPr/>
            </p:nvSpPr>
            <p:spPr bwMode="auto">
              <a:xfrm>
                <a:off x="4665" y="2383"/>
                <a:ext cx="155"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sp>
            <p:nvSpPr>
              <p:cNvPr id="42077" name="Rectangle 185"/>
              <p:cNvSpPr>
                <a:spLocks noChangeArrowheads="1"/>
              </p:cNvSpPr>
              <p:nvPr/>
            </p:nvSpPr>
            <p:spPr bwMode="auto">
              <a:xfrm>
                <a:off x="5062" y="1836"/>
                <a:ext cx="83" cy="760"/>
              </a:xfrm>
              <a:prstGeom prst="rect">
                <a:avLst/>
              </a:prstGeom>
              <a:solidFill>
                <a:srgbClr val="292929"/>
              </a:solidFill>
              <a:ln w="9525">
                <a:solidFill>
                  <a:schemeClr val="tx1"/>
                </a:solidFill>
                <a:miter lim="800000"/>
                <a:headEnd/>
                <a:tailEnd/>
              </a:ln>
            </p:spPr>
            <p:txBody>
              <a:bodyPr wrap="none"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1800">
                  <a:solidFill>
                    <a:srgbClr val="000000"/>
                  </a:solidFill>
                </a:endParaRPr>
              </a:p>
            </p:txBody>
          </p:sp>
        </p:grpSp>
      </p:grpSp>
      <p:sp>
        <p:nvSpPr>
          <p:cNvPr id="41989" name="Rectangle 3"/>
          <p:cNvSpPr txBox="1">
            <a:spLocks noChangeArrowheads="1"/>
          </p:cNvSpPr>
          <p:nvPr/>
        </p:nvSpPr>
        <p:spPr bwMode="auto">
          <a:xfrm>
            <a:off x="546100" y="1901825"/>
            <a:ext cx="7397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63525" indent="-166688"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695325" indent="-231775"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750"/>
              </a:spcBef>
              <a:buClr>
                <a:srgbClr val="0000A3"/>
              </a:buClr>
              <a:buFont typeface="Wingdings" panose="05000000000000000000" pitchFamily="2" charset="2"/>
              <a:buNone/>
            </a:pPr>
            <a:r>
              <a:rPr lang="en-US" altLang="en-US" sz="2400" i="1">
                <a:solidFill>
                  <a:srgbClr val="C00000"/>
                </a:solidFill>
                <a:latin typeface="Calibri" panose="020F0502020204030204" pitchFamily="34" charset="0"/>
              </a:rPr>
              <a:t>Denial of Service (DoS):</a:t>
            </a:r>
            <a:r>
              <a:rPr lang="en-US" altLang="en-US" sz="2400">
                <a:solidFill>
                  <a:srgbClr val="C00000"/>
                </a:solidFill>
                <a:latin typeface="Calibri" panose="020F0502020204030204" pitchFamily="34" charset="0"/>
              </a:rPr>
              <a:t> </a:t>
            </a:r>
            <a:r>
              <a:rPr lang="en-US" altLang="en-US" sz="2400">
                <a:solidFill>
                  <a:srgbClr val="000000"/>
                </a:solidFill>
                <a:latin typeface="Calibri" panose="020F0502020204030204" pitchFamily="34" charset="0"/>
              </a:rPr>
              <a:t>attackers make resources (server, bandwidth) unavailable to legitimate traffic by overwhelming resource with bogus traffic</a:t>
            </a:r>
          </a:p>
        </p:txBody>
      </p:sp>
      <p:sp>
        <p:nvSpPr>
          <p:cNvPr id="46" name="Rectangle 4"/>
          <p:cNvSpPr>
            <a:spLocks noChangeArrowheads="1"/>
          </p:cNvSpPr>
          <p:nvPr/>
        </p:nvSpPr>
        <p:spPr bwMode="auto">
          <a:xfrm>
            <a:off x="1320800" y="3195638"/>
            <a:ext cx="3086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buClr>
                <a:srgbClr val="ED7D31"/>
              </a:buClr>
              <a:buSzPct val="85000"/>
              <a:buFontTx/>
              <a:buNone/>
            </a:pPr>
            <a:r>
              <a:rPr lang="en-US" altLang="en-US" sz="2100">
                <a:solidFill>
                  <a:srgbClr val="000099"/>
                </a:solidFill>
                <a:latin typeface="Calibri" panose="020F0502020204030204" pitchFamily="34" charset="0"/>
              </a:rPr>
              <a:t>1.</a:t>
            </a:r>
            <a:r>
              <a:rPr lang="en-US" altLang="en-US" sz="2100">
                <a:solidFill>
                  <a:srgbClr val="000000"/>
                </a:solidFill>
                <a:latin typeface="Calibri" panose="020F0502020204030204" pitchFamily="34" charset="0"/>
              </a:rPr>
              <a:t> select target</a:t>
            </a:r>
          </a:p>
        </p:txBody>
      </p:sp>
      <p:sp>
        <p:nvSpPr>
          <p:cNvPr id="47" name="Rectangle 5"/>
          <p:cNvSpPr>
            <a:spLocks noChangeArrowheads="1"/>
          </p:cNvSpPr>
          <p:nvPr/>
        </p:nvSpPr>
        <p:spPr bwMode="auto">
          <a:xfrm>
            <a:off x="1341438" y="3584575"/>
            <a:ext cx="28463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buClr>
                <a:srgbClr val="ED7D31"/>
              </a:buClr>
              <a:buSzPct val="85000"/>
              <a:buFontTx/>
              <a:buNone/>
            </a:pPr>
            <a:r>
              <a:rPr lang="en-US" altLang="en-US" sz="2100">
                <a:solidFill>
                  <a:srgbClr val="000099"/>
                </a:solidFill>
                <a:latin typeface="Calibri" panose="020F0502020204030204" pitchFamily="34" charset="0"/>
              </a:rPr>
              <a:t>2.</a:t>
            </a:r>
            <a:r>
              <a:rPr lang="en-US" altLang="en-US" sz="2100">
                <a:solidFill>
                  <a:srgbClr val="000000"/>
                </a:solidFill>
                <a:latin typeface="Calibri" panose="020F0502020204030204" pitchFamily="34" charset="0"/>
              </a:rPr>
              <a:t> break into hosts around the network (see botnet)</a:t>
            </a:r>
          </a:p>
          <a:p>
            <a:pPr eaLnBrk="1" hangingPunct="1">
              <a:buClr>
                <a:srgbClr val="ED7D31"/>
              </a:buClr>
              <a:buSzPct val="85000"/>
              <a:buFont typeface="ZapfDingbats" pitchFamily="82" charset="2"/>
              <a:buAutoNum type="arabicPeriod" startAt="2"/>
            </a:pPr>
            <a:endParaRPr lang="en-US" altLang="en-US" sz="2100">
              <a:solidFill>
                <a:srgbClr val="000000"/>
              </a:solidFill>
              <a:latin typeface="Calibri" panose="020F0502020204030204" pitchFamily="34" charset="0"/>
            </a:endParaRPr>
          </a:p>
        </p:txBody>
      </p:sp>
      <p:sp>
        <p:nvSpPr>
          <p:cNvPr id="48" name="Rectangle 6"/>
          <p:cNvSpPr>
            <a:spLocks noChangeArrowheads="1"/>
          </p:cNvSpPr>
          <p:nvPr/>
        </p:nvSpPr>
        <p:spPr bwMode="auto">
          <a:xfrm>
            <a:off x="1296988" y="4527550"/>
            <a:ext cx="3086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buClr>
                <a:srgbClr val="ED7D31"/>
              </a:buClr>
              <a:buSzPct val="85000"/>
              <a:buFontTx/>
              <a:buNone/>
            </a:pPr>
            <a:r>
              <a:rPr lang="en-US" altLang="en-US" sz="2100">
                <a:solidFill>
                  <a:srgbClr val="000099"/>
                </a:solidFill>
                <a:latin typeface="Calibri" panose="020F0502020204030204" pitchFamily="34" charset="0"/>
              </a:rPr>
              <a:t>3.</a:t>
            </a:r>
            <a:r>
              <a:rPr lang="en-US" altLang="en-US" sz="2100">
                <a:solidFill>
                  <a:srgbClr val="000000"/>
                </a:solidFill>
                <a:latin typeface="Calibri" panose="020F0502020204030204" pitchFamily="34" charset="0"/>
              </a:rPr>
              <a:t> send packets to target from compromised hosts</a:t>
            </a:r>
          </a:p>
        </p:txBody>
      </p:sp>
      <p:grpSp>
        <p:nvGrpSpPr>
          <p:cNvPr id="49" name="Group 152"/>
          <p:cNvGrpSpPr>
            <a:grpSpLocks/>
          </p:cNvGrpSpPr>
          <p:nvPr/>
        </p:nvGrpSpPr>
        <p:grpSpPr bwMode="auto">
          <a:xfrm>
            <a:off x="5157788" y="3330575"/>
            <a:ext cx="2039937" cy="2006600"/>
            <a:chOff x="-262" y="2555"/>
            <a:chExt cx="1714" cy="1685"/>
          </a:xfrm>
        </p:grpSpPr>
        <p:sp>
          <p:nvSpPr>
            <p:cNvPr id="50" name="Line 63"/>
            <p:cNvSpPr>
              <a:spLocks noChangeShapeType="1"/>
            </p:cNvSpPr>
            <p:nvPr/>
          </p:nvSpPr>
          <p:spPr bwMode="auto">
            <a:xfrm flipV="1">
              <a:off x="159" y="3262"/>
              <a:ext cx="436" cy="165"/>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1" name="Line 64"/>
            <p:cNvSpPr>
              <a:spLocks noChangeShapeType="1"/>
            </p:cNvSpPr>
            <p:nvPr/>
          </p:nvSpPr>
          <p:spPr bwMode="auto">
            <a:xfrm flipV="1">
              <a:off x="413" y="3469"/>
              <a:ext cx="225" cy="324"/>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2" name="Line 65"/>
            <p:cNvSpPr>
              <a:spLocks noChangeShapeType="1"/>
            </p:cNvSpPr>
            <p:nvPr/>
          </p:nvSpPr>
          <p:spPr bwMode="auto">
            <a:xfrm flipH="1" flipV="1">
              <a:off x="857" y="3409"/>
              <a:ext cx="595" cy="456"/>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3" name="Line 66"/>
            <p:cNvSpPr>
              <a:spLocks noChangeShapeType="1"/>
            </p:cNvSpPr>
            <p:nvPr/>
          </p:nvSpPr>
          <p:spPr bwMode="auto">
            <a:xfrm>
              <a:off x="734" y="2555"/>
              <a:ext cx="16" cy="460"/>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4" name="Line 67"/>
            <p:cNvSpPr>
              <a:spLocks noChangeShapeType="1"/>
            </p:cNvSpPr>
            <p:nvPr/>
          </p:nvSpPr>
          <p:spPr bwMode="auto">
            <a:xfrm flipH="1">
              <a:off x="829" y="3011"/>
              <a:ext cx="474" cy="181"/>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5" name="Line 68"/>
            <p:cNvSpPr>
              <a:spLocks noChangeShapeType="1"/>
            </p:cNvSpPr>
            <p:nvPr/>
          </p:nvSpPr>
          <p:spPr bwMode="auto">
            <a:xfrm>
              <a:off x="-262" y="3083"/>
              <a:ext cx="879" cy="111"/>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6" name="Line 69"/>
            <p:cNvSpPr>
              <a:spLocks noChangeShapeType="1"/>
            </p:cNvSpPr>
            <p:nvPr/>
          </p:nvSpPr>
          <p:spPr bwMode="auto">
            <a:xfrm flipV="1">
              <a:off x="-201" y="3362"/>
              <a:ext cx="799" cy="649"/>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7" name="Line 70"/>
            <p:cNvSpPr>
              <a:spLocks noChangeShapeType="1"/>
            </p:cNvSpPr>
            <p:nvPr/>
          </p:nvSpPr>
          <p:spPr bwMode="auto">
            <a:xfrm flipH="1">
              <a:off x="852" y="2623"/>
              <a:ext cx="352" cy="399"/>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8" name="Line 71"/>
            <p:cNvSpPr>
              <a:spLocks noChangeShapeType="1"/>
            </p:cNvSpPr>
            <p:nvPr/>
          </p:nvSpPr>
          <p:spPr bwMode="auto">
            <a:xfrm flipV="1">
              <a:off x="494" y="3581"/>
              <a:ext cx="197" cy="659"/>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sp>
          <p:nvSpPr>
            <p:cNvPr id="59" name="Line 72"/>
            <p:cNvSpPr>
              <a:spLocks noChangeShapeType="1"/>
            </p:cNvSpPr>
            <p:nvPr/>
          </p:nvSpPr>
          <p:spPr bwMode="auto">
            <a:xfrm>
              <a:off x="162" y="2738"/>
              <a:ext cx="416" cy="259"/>
            </a:xfrm>
            <a:prstGeom prst="line">
              <a:avLst/>
            </a:prstGeom>
            <a:noFill/>
            <a:ln w="57150">
              <a:solidFill>
                <a:srgbClr val="FF0000"/>
              </a:solidFill>
              <a:round/>
              <a:headEnd/>
              <a:tailEnd type="triangle" w="med" len="med"/>
            </a:ln>
          </p:spPr>
          <p:txBody>
            <a:bodyPr/>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1994" name="Group 113"/>
          <p:cNvGrpSpPr>
            <a:grpSpLocks/>
          </p:cNvGrpSpPr>
          <p:nvPr/>
        </p:nvGrpSpPr>
        <p:grpSpPr bwMode="auto">
          <a:xfrm flipH="1">
            <a:off x="6781800" y="3060700"/>
            <a:ext cx="550863" cy="511175"/>
            <a:chOff x="-44" y="1473"/>
            <a:chExt cx="981" cy="1105"/>
          </a:xfrm>
        </p:grpSpPr>
        <p:pic>
          <p:nvPicPr>
            <p:cNvPr id="42040" name="Picture 114"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15"/>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1995" name="Group 116"/>
          <p:cNvGrpSpPr>
            <a:grpSpLocks/>
          </p:cNvGrpSpPr>
          <p:nvPr/>
        </p:nvGrpSpPr>
        <p:grpSpPr bwMode="auto">
          <a:xfrm flipH="1">
            <a:off x="6996113" y="3687763"/>
            <a:ext cx="552450" cy="511175"/>
            <a:chOff x="-44" y="1473"/>
            <a:chExt cx="981" cy="1105"/>
          </a:xfrm>
        </p:grpSpPr>
        <p:pic>
          <p:nvPicPr>
            <p:cNvPr id="42038" name="Picture 11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eform 118"/>
            <p:cNvSpPr>
              <a:spLocks/>
            </p:cNvSpPr>
            <p:nvPr/>
          </p:nvSpPr>
          <p:spPr bwMode="auto">
            <a:xfrm flipH="1">
              <a:off x="373" y="1579"/>
              <a:ext cx="476"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1996" name="Group 119"/>
          <p:cNvGrpSpPr>
            <a:grpSpLocks/>
          </p:cNvGrpSpPr>
          <p:nvPr/>
        </p:nvGrpSpPr>
        <p:grpSpPr bwMode="auto">
          <a:xfrm flipH="1">
            <a:off x="7040563" y="4214813"/>
            <a:ext cx="550862" cy="509587"/>
            <a:chOff x="-44" y="1473"/>
            <a:chExt cx="981" cy="1105"/>
          </a:xfrm>
        </p:grpSpPr>
        <p:pic>
          <p:nvPicPr>
            <p:cNvPr id="42036" name="Picture 12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Freeform 121"/>
            <p:cNvSpPr>
              <a:spLocks/>
            </p:cNvSpPr>
            <p:nvPr/>
          </p:nvSpPr>
          <p:spPr bwMode="auto">
            <a:xfrm flipH="1">
              <a:off x="374" y="1580"/>
              <a:ext cx="478"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1997" name="Group 122"/>
          <p:cNvGrpSpPr>
            <a:grpSpLocks/>
          </p:cNvGrpSpPr>
          <p:nvPr/>
        </p:nvGrpSpPr>
        <p:grpSpPr bwMode="auto">
          <a:xfrm flipH="1">
            <a:off x="7067550" y="4800600"/>
            <a:ext cx="552450" cy="509588"/>
            <a:chOff x="-44" y="1473"/>
            <a:chExt cx="981" cy="1105"/>
          </a:xfrm>
        </p:grpSpPr>
        <p:pic>
          <p:nvPicPr>
            <p:cNvPr id="42034" name="Picture 123"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124"/>
            <p:cNvSpPr>
              <a:spLocks/>
            </p:cNvSpPr>
            <p:nvPr/>
          </p:nvSpPr>
          <p:spPr bwMode="auto">
            <a:xfrm flipH="1">
              <a:off x="373" y="1580"/>
              <a:ext cx="476"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1998" name="Group 125"/>
          <p:cNvGrpSpPr>
            <a:grpSpLocks/>
          </p:cNvGrpSpPr>
          <p:nvPr/>
        </p:nvGrpSpPr>
        <p:grpSpPr bwMode="auto">
          <a:xfrm flipH="1">
            <a:off x="6059488" y="3157538"/>
            <a:ext cx="550862" cy="509587"/>
            <a:chOff x="-44" y="1473"/>
            <a:chExt cx="981" cy="1105"/>
          </a:xfrm>
        </p:grpSpPr>
        <p:pic>
          <p:nvPicPr>
            <p:cNvPr id="42032" name="Picture 126"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27"/>
            <p:cNvSpPr>
              <a:spLocks/>
            </p:cNvSpPr>
            <p:nvPr/>
          </p:nvSpPr>
          <p:spPr bwMode="auto">
            <a:xfrm flipH="1">
              <a:off x="374" y="1580"/>
              <a:ext cx="478"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1999" name="Group 128"/>
          <p:cNvGrpSpPr>
            <a:grpSpLocks/>
          </p:cNvGrpSpPr>
          <p:nvPr/>
        </p:nvGrpSpPr>
        <p:grpSpPr bwMode="auto">
          <a:xfrm flipH="1">
            <a:off x="5305425" y="3203575"/>
            <a:ext cx="552450" cy="511175"/>
            <a:chOff x="-44" y="1473"/>
            <a:chExt cx="981" cy="1105"/>
          </a:xfrm>
        </p:grpSpPr>
        <p:pic>
          <p:nvPicPr>
            <p:cNvPr id="42030" name="Picture 129"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30"/>
            <p:cNvSpPr>
              <a:spLocks/>
            </p:cNvSpPr>
            <p:nvPr/>
          </p:nvSpPr>
          <p:spPr bwMode="auto">
            <a:xfrm flipH="1">
              <a:off x="373" y="1579"/>
              <a:ext cx="476"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2000" name="Group 134"/>
          <p:cNvGrpSpPr>
            <a:grpSpLocks/>
          </p:cNvGrpSpPr>
          <p:nvPr/>
        </p:nvGrpSpPr>
        <p:grpSpPr bwMode="auto">
          <a:xfrm flipH="1">
            <a:off x="4768850" y="3732213"/>
            <a:ext cx="550863" cy="511175"/>
            <a:chOff x="-44" y="1473"/>
            <a:chExt cx="981" cy="1105"/>
          </a:xfrm>
        </p:grpSpPr>
        <p:pic>
          <p:nvPicPr>
            <p:cNvPr id="42028" name="Picture 135"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Freeform 136"/>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2001" name="Group 137"/>
          <p:cNvGrpSpPr>
            <a:grpSpLocks/>
          </p:cNvGrpSpPr>
          <p:nvPr/>
        </p:nvGrpSpPr>
        <p:grpSpPr bwMode="auto">
          <a:xfrm flipH="1">
            <a:off x="5243513" y="4283075"/>
            <a:ext cx="550862" cy="511175"/>
            <a:chOff x="-44" y="1473"/>
            <a:chExt cx="981" cy="1105"/>
          </a:xfrm>
        </p:grpSpPr>
        <p:pic>
          <p:nvPicPr>
            <p:cNvPr id="42026" name="Picture 138"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Freeform 139"/>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2002" name="Group 140"/>
          <p:cNvGrpSpPr>
            <a:grpSpLocks/>
          </p:cNvGrpSpPr>
          <p:nvPr/>
        </p:nvGrpSpPr>
        <p:grpSpPr bwMode="auto">
          <a:xfrm flipH="1">
            <a:off x="5640388" y="4740275"/>
            <a:ext cx="550862" cy="511175"/>
            <a:chOff x="-44" y="1473"/>
            <a:chExt cx="981" cy="1105"/>
          </a:xfrm>
        </p:grpSpPr>
        <p:pic>
          <p:nvPicPr>
            <p:cNvPr id="42024" name="Picture 14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Freeform 142"/>
            <p:cNvSpPr>
              <a:spLocks/>
            </p:cNvSpPr>
            <p:nvPr/>
          </p:nvSpPr>
          <p:spPr bwMode="auto">
            <a:xfrm flipH="1">
              <a:off x="374" y="1579"/>
              <a:ext cx="478"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2003" name="Group 143"/>
          <p:cNvGrpSpPr>
            <a:grpSpLocks/>
          </p:cNvGrpSpPr>
          <p:nvPr/>
        </p:nvGrpSpPr>
        <p:grpSpPr bwMode="auto">
          <a:xfrm flipH="1">
            <a:off x="4948238" y="4957763"/>
            <a:ext cx="552450" cy="511175"/>
            <a:chOff x="-44" y="1473"/>
            <a:chExt cx="981" cy="1105"/>
          </a:xfrm>
        </p:grpSpPr>
        <p:pic>
          <p:nvPicPr>
            <p:cNvPr id="42022" name="Picture 144"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Freeform 145"/>
            <p:cNvSpPr>
              <a:spLocks/>
            </p:cNvSpPr>
            <p:nvPr/>
          </p:nvSpPr>
          <p:spPr bwMode="auto">
            <a:xfrm flipH="1">
              <a:off x="373" y="1579"/>
              <a:ext cx="476"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2004" name="Group 146"/>
          <p:cNvGrpSpPr>
            <a:grpSpLocks/>
          </p:cNvGrpSpPr>
          <p:nvPr/>
        </p:nvGrpSpPr>
        <p:grpSpPr bwMode="auto">
          <a:xfrm flipH="1">
            <a:off x="5843588" y="5338763"/>
            <a:ext cx="550862" cy="509587"/>
            <a:chOff x="-44" y="1473"/>
            <a:chExt cx="981" cy="1105"/>
          </a:xfrm>
        </p:grpSpPr>
        <p:pic>
          <p:nvPicPr>
            <p:cNvPr id="42020" name="Picture 14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Freeform 148"/>
            <p:cNvSpPr>
              <a:spLocks/>
            </p:cNvSpPr>
            <p:nvPr/>
          </p:nvSpPr>
          <p:spPr bwMode="auto">
            <a:xfrm flipH="1">
              <a:off x="374" y="1580"/>
              <a:ext cx="478"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42005" name="Group 149"/>
          <p:cNvGrpSpPr>
            <a:grpSpLocks/>
          </p:cNvGrpSpPr>
          <p:nvPr/>
        </p:nvGrpSpPr>
        <p:grpSpPr bwMode="auto">
          <a:xfrm flipH="1">
            <a:off x="6400800" y="5046663"/>
            <a:ext cx="552450" cy="511175"/>
            <a:chOff x="-44" y="1473"/>
            <a:chExt cx="981" cy="1105"/>
          </a:xfrm>
        </p:grpSpPr>
        <p:pic>
          <p:nvPicPr>
            <p:cNvPr id="42018" name="Picture 15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51"/>
            <p:cNvSpPr>
              <a:spLocks/>
            </p:cNvSpPr>
            <p:nvPr/>
          </p:nvSpPr>
          <p:spPr bwMode="auto">
            <a:xfrm flipH="1">
              <a:off x="373" y="1579"/>
              <a:ext cx="476" cy="504"/>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p:spPr>
          <p:txBody>
            <a:bodyPr wrap="none"/>
            <a:lstStyle/>
            <a:p>
              <a:pPr defTabSz="685800" eaLnBrk="1" fontAlgn="auto" hangingPunct="1">
                <a:spcBef>
                  <a:spcPts val="0"/>
                </a:spcBef>
                <a:spcAft>
                  <a:spcPts val="0"/>
                </a:spcAft>
                <a:defRPr/>
              </a:pPr>
              <a:endParaRPr lang="en-US" sz="1350" dirty="0">
                <a:solidFill>
                  <a:prstClr val="black"/>
                </a:solidFill>
                <a:latin typeface="Calibri" panose="020F0502020204030204"/>
                <a:ea typeface="+mn-ea"/>
              </a:endParaRPr>
            </a:p>
          </p:txBody>
        </p:sp>
      </p:grpSp>
      <p:grpSp>
        <p:nvGrpSpPr>
          <p:cNvPr id="96" name="Group 89"/>
          <p:cNvGrpSpPr>
            <a:grpSpLocks/>
          </p:cNvGrpSpPr>
          <p:nvPr/>
        </p:nvGrpSpPr>
        <p:grpSpPr bwMode="auto">
          <a:xfrm>
            <a:off x="4787900" y="3111500"/>
            <a:ext cx="2644775" cy="2555875"/>
            <a:chOff x="2920" y="1824"/>
            <a:chExt cx="2221" cy="2147"/>
          </a:xfrm>
        </p:grpSpPr>
        <p:pic>
          <p:nvPicPr>
            <p:cNvPr id="4200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09"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1"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0" y="2376"/>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1"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 y="2803"/>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2" name="Picture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0" y="3230"/>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3" name="Picture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 y="369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4"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4" y="3308"/>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5"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8" y="2339"/>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6" name="Picture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 y="3395"/>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42017" name="Picture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 y="1824"/>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sp>
        <p:nvSpPr>
          <p:cNvPr id="107" name="Slide Number Placeholder 5"/>
          <p:cNvSpPr>
            <a:spLocks noGrp="1"/>
          </p:cNvSpPr>
          <p:nvPr>
            <p:ph type="sldNum" sz="quarter" idx="12"/>
          </p:nvPr>
        </p:nvSpPr>
        <p:spPr>
          <a:xfrm>
            <a:off x="6915150" y="5689600"/>
            <a:ext cx="2057400" cy="273050"/>
          </a:xfrm>
        </p:spPr>
        <p:txBody>
          <a:bodyPr lIns="68580" tIns="34290" rIns="68580" bIns="34290"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34290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6858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0287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13716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1828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286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2743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2004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800">
                <a:solidFill>
                  <a:srgbClr val="7F7F7F"/>
                </a:solidFill>
              </a:rPr>
              <a:t>Introduction: 1-</a:t>
            </a:r>
            <a:fld id="{9C943096-7471-4B09-B5D9-364BF2B26D08}" type="slidenum">
              <a:rPr lang="en-US" altLang="en-US" sz="800">
                <a:solidFill>
                  <a:srgbClr val="7F7F7F"/>
                </a:solidFill>
              </a:rPr>
              <a:pPr>
                <a:spcBef>
                  <a:spcPct val="0"/>
                </a:spcBef>
                <a:buFontTx/>
                <a:buNone/>
              </a:pPr>
              <a:t>20</a:t>
            </a:fld>
            <a:endParaRPr lang="en-US" altLang="en-US" sz="800">
              <a:solidFill>
                <a:srgbClr val="7F7F7F"/>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7"/>
                                        </p:tgtEl>
                                        <p:attrNameLst>
                                          <p:attrName>style.visibility</p:attrName>
                                        </p:attrNameLst>
                                      </p:cBhvr>
                                      <p:to>
                                        <p:strVal val="visible"/>
                                      </p:to>
                                    </p:set>
                                  </p:childTnLst>
                                </p:cTn>
                              </p:par>
                              <p:par>
                                <p:cTn id="13" presetID="9" presetClass="entr" presetSubtype="0" fill="hold" nodeType="with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dissolve">
                                      <p:cBhvr>
                                        <p:cTn id="15" dur="500"/>
                                        <p:tgtEl>
                                          <p:spTgt spid="9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8"/>
                                        </p:tgtEl>
                                        <p:attrNameLst>
                                          <p:attrName>style.visibility</p:attrName>
                                        </p:attrNameLst>
                                      </p:cBhvr>
                                      <p:to>
                                        <p:strVal val="visible"/>
                                      </p:to>
                                    </p:set>
                                  </p:childTnLst>
                                </p:cTn>
                              </p:par>
                            </p:childTnLst>
                          </p:cTn>
                        </p:par>
                        <p:par>
                          <p:cTn id="20" fill="hold" nodeType="afterGroup">
                            <p:stCondLst>
                              <p:cond delay="500"/>
                            </p:stCondLst>
                            <p:childTnLst>
                              <p:par>
                                <p:cTn id="21" presetID="9"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autoUpdateAnimBg="0"/>
      <p:bldP spid="47" grpId="0" autoUpdateAnimBg="0"/>
      <p:bldP spid="4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a:xfrm>
            <a:off x="619125" y="1076325"/>
            <a:ext cx="7886700" cy="671513"/>
          </a:xfrm>
        </p:spPr>
        <p:txBody>
          <a:bodyPr/>
          <a:lstStyle/>
          <a:p>
            <a:r>
              <a:rPr lang="en-US" altLang="en-US" smtClean="0"/>
              <a:t>Lines of defense:</a:t>
            </a:r>
          </a:p>
        </p:txBody>
      </p:sp>
      <p:sp>
        <p:nvSpPr>
          <p:cNvPr id="107" name="Rectangle 5"/>
          <p:cNvSpPr txBox="1">
            <a:spLocks noChangeArrowheads="1"/>
          </p:cNvSpPr>
          <p:nvPr/>
        </p:nvSpPr>
        <p:spPr>
          <a:xfrm>
            <a:off x="630238" y="1865313"/>
            <a:ext cx="7758112" cy="3670300"/>
          </a:xfrm>
          <a:prstGeom prst="rect">
            <a:avLst/>
          </a:prstGeom>
        </p:spPr>
        <p:txBody>
          <a:bodyPr lIns="68580" tIns="34290" rIns="68580" bIns="3429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3610" indent="-205979" defTabSz="685800" fontAlgn="auto">
              <a:spcBef>
                <a:spcPts val="750"/>
              </a:spcBef>
              <a:spcAft>
                <a:spcPts val="0"/>
              </a:spcAft>
              <a:defRPr/>
            </a:pPr>
            <a:r>
              <a:rPr lang="en-US" altLang="en-US" sz="2400" dirty="0">
                <a:solidFill>
                  <a:srgbClr val="C00000"/>
                </a:solidFill>
                <a:latin typeface="Calibri" panose="020F0502020204030204"/>
                <a:ea typeface="Arial" panose="020B0604020202020204" pitchFamily="34" charset="0"/>
              </a:rPr>
              <a:t>authentication: </a:t>
            </a:r>
            <a:r>
              <a:rPr lang="en-US" altLang="en-US" sz="2400" dirty="0">
                <a:solidFill>
                  <a:prstClr val="black"/>
                </a:solidFill>
                <a:latin typeface="Calibri" panose="020F0502020204030204"/>
                <a:ea typeface="Arial" panose="020B0604020202020204" pitchFamily="34" charset="0"/>
              </a:rPr>
              <a:t>proving you are who you say you are</a:t>
            </a:r>
          </a:p>
          <a:p>
            <a:pPr marL="560785" lvl="1" indent="-205979" defTabSz="685800" fontAlgn="auto">
              <a:spcBef>
                <a:spcPts val="375"/>
              </a:spcBef>
              <a:spcAft>
                <a:spcPts val="0"/>
              </a:spcAft>
              <a:defRPr/>
            </a:pPr>
            <a:r>
              <a:rPr lang="en-US" altLang="en-US" sz="2100" dirty="0">
                <a:solidFill>
                  <a:prstClr val="black"/>
                </a:solidFill>
                <a:latin typeface="Calibri" panose="020F0502020204030204"/>
                <a:ea typeface="Arial" panose="020B0604020202020204" pitchFamily="34" charset="0"/>
              </a:rPr>
              <a:t>cellular networks provides hardware identity via SIM card; no such hardware assist in traditional Internet</a:t>
            </a:r>
          </a:p>
          <a:p>
            <a:pPr marL="303610" indent="-205979" defTabSz="685800" fontAlgn="auto">
              <a:spcBef>
                <a:spcPts val="750"/>
              </a:spcBef>
              <a:spcAft>
                <a:spcPts val="0"/>
              </a:spcAft>
              <a:defRPr/>
            </a:pPr>
            <a:r>
              <a:rPr lang="en-US" altLang="en-US" sz="2400" dirty="0">
                <a:solidFill>
                  <a:srgbClr val="C00000"/>
                </a:solidFill>
                <a:latin typeface="Calibri" panose="020F0502020204030204"/>
                <a:ea typeface="Arial" panose="020B0604020202020204" pitchFamily="34" charset="0"/>
              </a:rPr>
              <a:t>confidentiality: </a:t>
            </a:r>
            <a:r>
              <a:rPr lang="en-US" altLang="en-US" sz="2400" dirty="0">
                <a:solidFill>
                  <a:prstClr val="black"/>
                </a:solidFill>
                <a:latin typeface="Calibri" panose="020F0502020204030204"/>
                <a:ea typeface="Arial" panose="020B0604020202020204" pitchFamily="34" charset="0"/>
              </a:rPr>
              <a:t>via encryption</a:t>
            </a:r>
          </a:p>
          <a:p>
            <a:pPr marL="303610" indent="-205979" defTabSz="685800" fontAlgn="auto">
              <a:spcBef>
                <a:spcPts val="750"/>
              </a:spcBef>
              <a:spcAft>
                <a:spcPts val="0"/>
              </a:spcAft>
              <a:defRPr/>
            </a:pPr>
            <a:r>
              <a:rPr lang="en-US" altLang="en-US" sz="2400" dirty="0">
                <a:solidFill>
                  <a:srgbClr val="C00000"/>
                </a:solidFill>
                <a:latin typeface="Calibri" panose="020F0502020204030204"/>
                <a:ea typeface="Arial" panose="020B0604020202020204" pitchFamily="34" charset="0"/>
              </a:rPr>
              <a:t>integrity checks: </a:t>
            </a:r>
            <a:r>
              <a:rPr lang="en-US" altLang="en-US" sz="2400" dirty="0">
                <a:solidFill>
                  <a:prstClr val="black"/>
                </a:solidFill>
                <a:latin typeface="Calibri" panose="020F0502020204030204"/>
                <a:ea typeface="Arial" panose="020B0604020202020204" pitchFamily="34" charset="0"/>
              </a:rPr>
              <a:t>digital signatures prevent/detect tampering</a:t>
            </a:r>
          </a:p>
          <a:p>
            <a:pPr marL="303610" indent="-205979" defTabSz="685800" fontAlgn="auto">
              <a:spcBef>
                <a:spcPts val="750"/>
              </a:spcBef>
              <a:spcAft>
                <a:spcPts val="0"/>
              </a:spcAft>
              <a:defRPr/>
            </a:pPr>
            <a:r>
              <a:rPr lang="en-US" altLang="en-US" sz="2400" dirty="0">
                <a:solidFill>
                  <a:srgbClr val="C00000"/>
                </a:solidFill>
                <a:latin typeface="Calibri" panose="020F0502020204030204"/>
                <a:ea typeface="Arial" panose="020B0604020202020204" pitchFamily="34" charset="0"/>
              </a:rPr>
              <a:t>access restrictions:  </a:t>
            </a:r>
            <a:r>
              <a:rPr lang="en-US" altLang="en-US" sz="2400" dirty="0">
                <a:solidFill>
                  <a:prstClr val="black"/>
                </a:solidFill>
                <a:latin typeface="Calibri" panose="020F0502020204030204"/>
                <a:ea typeface="Arial" panose="020B0604020202020204" pitchFamily="34" charset="0"/>
              </a:rPr>
              <a:t>password-protected VPNs</a:t>
            </a:r>
          </a:p>
          <a:p>
            <a:pPr marL="303610" indent="-205979" defTabSz="685800" fontAlgn="auto">
              <a:spcBef>
                <a:spcPts val="750"/>
              </a:spcBef>
              <a:spcAft>
                <a:spcPts val="0"/>
              </a:spcAft>
              <a:defRPr/>
            </a:pPr>
            <a:r>
              <a:rPr lang="en-US" altLang="en-US" sz="2400" dirty="0">
                <a:solidFill>
                  <a:srgbClr val="C00000"/>
                </a:solidFill>
                <a:latin typeface="Calibri" panose="020F0502020204030204"/>
                <a:ea typeface="Arial" panose="020B0604020202020204" pitchFamily="34" charset="0"/>
              </a:rPr>
              <a:t>firewalls: </a:t>
            </a:r>
            <a:r>
              <a:rPr lang="en-US" altLang="en-US" sz="2400" dirty="0">
                <a:solidFill>
                  <a:prstClr val="black"/>
                </a:solidFill>
                <a:latin typeface="Calibri" panose="020F0502020204030204"/>
                <a:ea typeface="Arial" panose="020B0604020202020204" pitchFamily="34" charset="0"/>
              </a:rPr>
              <a:t>specialized “middleboxes” in access and core networks:</a:t>
            </a:r>
          </a:p>
          <a:p>
            <a:pPr marL="857250" lvl="2" indent="-171450" defTabSz="685800" fontAlgn="auto">
              <a:spcBef>
                <a:spcPts val="375"/>
              </a:spcBef>
              <a:spcAft>
                <a:spcPts val="0"/>
              </a:spcAft>
              <a:buFont typeface="Wingdings" pitchFamily="2" charset="2"/>
              <a:buChar char="§"/>
              <a:defRPr/>
            </a:pPr>
            <a:r>
              <a:rPr lang="en-US" altLang="en-US" sz="2100" dirty="0">
                <a:solidFill>
                  <a:prstClr val="black"/>
                </a:solidFill>
                <a:latin typeface="Calibri" panose="020F0502020204030204"/>
                <a:ea typeface="Arial" panose="020B0604020202020204" pitchFamily="34" charset="0"/>
              </a:rPr>
              <a:t>off-by-default: filter incoming packets to restrict senders, receivers, applications </a:t>
            </a:r>
          </a:p>
          <a:p>
            <a:pPr marL="857250" lvl="2" indent="-171450" defTabSz="685800" fontAlgn="auto">
              <a:spcBef>
                <a:spcPts val="375"/>
              </a:spcBef>
              <a:spcAft>
                <a:spcPts val="0"/>
              </a:spcAft>
              <a:buFont typeface="Wingdings" pitchFamily="2" charset="2"/>
              <a:buChar char="§"/>
              <a:defRPr/>
            </a:pPr>
            <a:r>
              <a:rPr lang="en-US" altLang="en-US" sz="2100" dirty="0">
                <a:solidFill>
                  <a:prstClr val="black"/>
                </a:solidFill>
                <a:latin typeface="Calibri" panose="020F0502020204030204"/>
                <a:ea typeface="Arial" panose="020B0604020202020204" pitchFamily="34" charset="0"/>
              </a:rPr>
              <a:t>detecting/reacting to DOS attacks</a:t>
            </a:r>
          </a:p>
          <a:p>
            <a:pPr marL="521494" lvl="1" indent="-173831" defTabSz="685800" fontAlgn="auto">
              <a:spcBef>
                <a:spcPts val="375"/>
              </a:spcBef>
              <a:spcAft>
                <a:spcPts val="0"/>
              </a:spcAft>
              <a:buFont typeface="Wingdings" pitchFamily="2" charset="2"/>
              <a:buChar char="§"/>
              <a:defRPr/>
            </a:pPr>
            <a:endParaRPr lang="en-US" altLang="en-US" sz="2100" dirty="0">
              <a:solidFill>
                <a:prstClr val="black"/>
              </a:solidFill>
              <a:latin typeface="Calibri" panose="020F0502020204030204"/>
              <a:ea typeface="Arial" panose="020B0604020202020204" pitchFamily="34" charset="0"/>
            </a:endParaRPr>
          </a:p>
        </p:txBody>
      </p:sp>
      <p:sp>
        <p:nvSpPr>
          <p:cNvPr id="108" name="Rectangle 59"/>
          <p:cNvSpPr>
            <a:spLocks noChangeArrowheads="1"/>
          </p:cNvSpPr>
          <p:nvPr/>
        </p:nvSpPr>
        <p:spPr bwMode="auto">
          <a:xfrm>
            <a:off x="811213" y="5486400"/>
            <a:ext cx="7688262" cy="514350"/>
          </a:xfrm>
          <a:prstGeom prst="rect">
            <a:avLst/>
          </a:prstGeom>
          <a:noFill/>
          <a:ln>
            <a:noFill/>
          </a:ln>
        </p:spPr>
        <p:txBody>
          <a:bodyPr/>
          <a:lstStyle/>
          <a:p>
            <a:pPr defTabSz="685800" eaLnBrk="1" fontAlgn="auto" hangingPunct="1">
              <a:spcBef>
                <a:spcPts val="0"/>
              </a:spcBef>
              <a:spcAft>
                <a:spcPts val="0"/>
              </a:spcAft>
              <a:defRPr/>
            </a:pPr>
            <a:r>
              <a:rPr lang="en-US" altLang="en-US" sz="2100" i="1" dirty="0">
                <a:solidFill>
                  <a:prstClr val="black"/>
                </a:solidFill>
                <a:latin typeface="Calibri" panose="020F0502020204030204"/>
                <a:ea typeface="+mn-ea"/>
              </a:rPr>
              <a:t>… lots more on security (throughout, Chapter 8)</a:t>
            </a:r>
          </a:p>
        </p:txBody>
      </p:sp>
      <p:sp>
        <p:nvSpPr>
          <p:cNvPr id="5" name="Slide Number Placeholder 5"/>
          <p:cNvSpPr>
            <a:spLocks noGrp="1"/>
          </p:cNvSpPr>
          <p:nvPr>
            <p:ph type="sldNum" sz="quarter" idx="12"/>
          </p:nvPr>
        </p:nvSpPr>
        <p:spPr>
          <a:xfrm>
            <a:off x="6915150" y="5689600"/>
            <a:ext cx="2057400" cy="273050"/>
          </a:xfrm>
        </p:spPr>
        <p:txBody>
          <a:bodyPr lIns="68580" tIns="34290" rIns="68580" bIns="34290" anchor="ctr"/>
          <a:lstStyle>
            <a:lvl1pPr defTabSz="6858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342900" indent="-285750" defTabSz="685800">
              <a:spcBef>
                <a:spcPct val="20000"/>
              </a:spcBef>
              <a:buChar char="–"/>
              <a:defRPr sz="2800">
                <a:solidFill>
                  <a:schemeClr val="tx1"/>
                </a:solidFill>
                <a:latin typeface="Arial" panose="020B0604020202020204" pitchFamily="34" charset="0"/>
                <a:ea typeface="MS PGothic" panose="020B0600070205080204" pitchFamily="34" charset="-128"/>
              </a:defRPr>
            </a:lvl2pPr>
            <a:lvl3pPr marL="685800" indent="-228600" defTabSz="6858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0287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1371600" indent="-228600" defTabSz="6858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18288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2860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27432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200400" indent="-228600" defTabSz="6858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800">
                <a:solidFill>
                  <a:srgbClr val="7F7F7F"/>
                </a:solidFill>
              </a:rPr>
              <a:t>Introduction: 1-</a:t>
            </a:r>
            <a:fld id="{B6E938B0-EB65-4D45-956E-4E1A54B78EC2}" type="slidenum">
              <a:rPr lang="en-US" altLang="en-US" sz="800">
                <a:solidFill>
                  <a:srgbClr val="7F7F7F"/>
                </a:solidFill>
              </a:rPr>
              <a:pPr>
                <a:spcBef>
                  <a:spcPct val="0"/>
                </a:spcBef>
                <a:buFontTx/>
                <a:buNone/>
              </a:pPr>
              <a:t>21</a:t>
            </a:fld>
            <a:endParaRPr lang="en-US" altLang="en-US" sz="800">
              <a:solidFill>
                <a:srgbClr val="7F7F7F"/>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animEffect transition="in" filter="dissolve">
                                      <p:cBhvr>
                                        <p:cTn id="7" dur="500"/>
                                        <p:tgtEl>
                                          <p:spTgt spid="10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7">
                                            <p:txEl>
                                              <p:pRg st="1" end="1"/>
                                            </p:txEl>
                                          </p:spTgt>
                                        </p:tgtEl>
                                        <p:attrNameLst>
                                          <p:attrName>style.visibility</p:attrName>
                                        </p:attrNameLst>
                                      </p:cBhvr>
                                      <p:to>
                                        <p:strVal val="visible"/>
                                      </p:to>
                                    </p:set>
                                    <p:animEffect transition="in" filter="dissolve">
                                      <p:cBhvr>
                                        <p:cTn id="10" dur="500"/>
                                        <p:tgtEl>
                                          <p:spTgt spid="10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107">
                                            <p:txEl>
                                              <p:pRg st="2" end="2"/>
                                            </p:txEl>
                                          </p:spTgt>
                                        </p:tgtEl>
                                        <p:attrNameLst>
                                          <p:attrName>style.visibility</p:attrName>
                                        </p:attrNameLst>
                                      </p:cBhvr>
                                      <p:to>
                                        <p:strVal val="visible"/>
                                      </p:to>
                                    </p:set>
                                    <p:animEffect transition="in" filter="dissolve">
                                      <p:cBhvr>
                                        <p:cTn id="15" dur="500"/>
                                        <p:tgtEl>
                                          <p:spTgt spid="10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07">
                                            <p:txEl>
                                              <p:pRg st="3" end="3"/>
                                            </p:txEl>
                                          </p:spTgt>
                                        </p:tgtEl>
                                        <p:attrNameLst>
                                          <p:attrName>style.visibility</p:attrName>
                                        </p:attrNameLst>
                                      </p:cBhvr>
                                      <p:to>
                                        <p:strVal val="visible"/>
                                      </p:to>
                                    </p:set>
                                    <p:animEffect transition="in" filter="dissolve">
                                      <p:cBhvr>
                                        <p:cTn id="20" dur="500"/>
                                        <p:tgtEl>
                                          <p:spTgt spid="10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107">
                                            <p:txEl>
                                              <p:pRg st="4" end="4"/>
                                            </p:txEl>
                                          </p:spTgt>
                                        </p:tgtEl>
                                        <p:attrNameLst>
                                          <p:attrName>style.visibility</p:attrName>
                                        </p:attrNameLst>
                                      </p:cBhvr>
                                      <p:to>
                                        <p:strVal val="visible"/>
                                      </p:to>
                                    </p:set>
                                    <p:animEffect transition="in" filter="dissolve">
                                      <p:cBhvr>
                                        <p:cTn id="25" dur="500"/>
                                        <p:tgtEl>
                                          <p:spTgt spid="10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107">
                                            <p:txEl>
                                              <p:pRg st="5" end="5"/>
                                            </p:txEl>
                                          </p:spTgt>
                                        </p:tgtEl>
                                        <p:attrNameLst>
                                          <p:attrName>style.visibility</p:attrName>
                                        </p:attrNameLst>
                                      </p:cBhvr>
                                      <p:to>
                                        <p:strVal val="visible"/>
                                      </p:to>
                                    </p:set>
                                    <p:animEffect transition="in" filter="dissolve">
                                      <p:cBhvr>
                                        <p:cTn id="30" dur="500"/>
                                        <p:tgtEl>
                                          <p:spTgt spid="107">
                                            <p:txEl>
                                              <p:pRg st="5" end="5"/>
                                            </p:txEl>
                                          </p:spTgt>
                                        </p:tgtEl>
                                      </p:cBhvr>
                                    </p:animEffect>
                                  </p:childTnLst>
                                </p:cTn>
                              </p:par>
                              <p:par>
                                <p:cTn id="31" presetID="9" presetClass="entr" presetSubtype="0" fill="hold" nodeType="withEffect">
                                  <p:stCondLst>
                                    <p:cond delay="0"/>
                                  </p:stCondLst>
                                  <p:childTnLst>
                                    <p:set>
                                      <p:cBhvr>
                                        <p:cTn id="32" dur="1" fill="hold">
                                          <p:stCondLst>
                                            <p:cond delay="0"/>
                                          </p:stCondLst>
                                        </p:cTn>
                                        <p:tgtEl>
                                          <p:spTgt spid="107">
                                            <p:txEl>
                                              <p:pRg st="6" end="6"/>
                                            </p:txEl>
                                          </p:spTgt>
                                        </p:tgtEl>
                                        <p:attrNameLst>
                                          <p:attrName>style.visibility</p:attrName>
                                        </p:attrNameLst>
                                      </p:cBhvr>
                                      <p:to>
                                        <p:strVal val="visible"/>
                                      </p:to>
                                    </p:set>
                                    <p:animEffect transition="in" filter="dissolve">
                                      <p:cBhvr>
                                        <p:cTn id="33" dur="500"/>
                                        <p:tgtEl>
                                          <p:spTgt spid="107">
                                            <p:txEl>
                                              <p:pRg st="6" end="6"/>
                                            </p:txEl>
                                          </p:spTgt>
                                        </p:tgtEl>
                                      </p:cBhvr>
                                    </p:animEffect>
                                  </p:childTnLst>
                                </p:cTn>
                              </p:par>
                              <p:par>
                                <p:cTn id="34" presetID="9" presetClass="entr" presetSubtype="0" fill="hold" nodeType="withEffect">
                                  <p:stCondLst>
                                    <p:cond delay="0"/>
                                  </p:stCondLst>
                                  <p:childTnLst>
                                    <p:set>
                                      <p:cBhvr>
                                        <p:cTn id="35" dur="1" fill="hold">
                                          <p:stCondLst>
                                            <p:cond delay="0"/>
                                          </p:stCondLst>
                                        </p:cTn>
                                        <p:tgtEl>
                                          <p:spTgt spid="107">
                                            <p:txEl>
                                              <p:pRg st="7" end="7"/>
                                            </p:txEl>
                                          </p:spTgt>
                                        </p:tgtEl>
                                        <p:attrNameLst>
                                          <p:attrName>style.visibility</p:attrName>
                                        </p:attrNameLst>
                                      </p:cBhvr>
                                      <p:to>
                                        <p:strVal val="visible"/>
                                      </p:to>
                                    </p:set>
                                    <p:animEffect transition="in" filter="dissolve">
                                      <p:cBhvr>
                                        <p:cTn id="36" dur="500"/>
                                        <p:tgtEl>
                                          <p:spTgt spid="107">
                                            <p:txEl>
                                              <p:pRg st="7" end="7"/>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8"/>
                                        </p:tgtEl>
                                        <p:attrNameLst>
                                          <p:attrName>style.visibility</p:attrName>
                                        </p:attrNameLst>
                                      </p:cBhvr>
                                      <p:to>
                                        <p:strVal val="visible"/>
                                      </p:to>
                                    </p:set>
                                    <p:animEffect transition="in" filter="dissolve">
                                      <p:cBhvr>
                                        <p:cTn id="41"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382588" y="762000"/>
            <a:ext cx="8761412"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buFontTx/>
              <a:buNone/>
            </a:pPr>
            <a:r>
              <a:rPr lang="en-US" altLang="en-US" sz="2800" i="1">
                <a:solidFill>
                  <a:srgbClr val="008000"/>
                </a:solidFill>
                <a:latin typeface="Gill Sans MT" pitchFamily="34" charset="0"/>
              </a:rPr>
              <a:t>Computer Networking: A Top Down Approach </a:t>
            </a:r>
            <a:r>
              <a:rPr lang="en-US" altLang="en-US" sz="2800">
                <a:solidFill>
                  <a:srgbClr val="008000"/>
                </a:solidFill>
                <a:latin typeface="Gill Sans MT" pitchFamily="34" charset="0"/>
              </a:rPr>
              <a:t/>
            </a:r>
            <a:br>
              <a:rPr lang="en-US" altLang="en-US" sz="2800">
                <a:solidFill>
                  <a:srgbClr val="008000"/>
                </a:solidFill>
                <a:latin typeface="Gill Sans MT" pitchFamily="34" charset="0"/>
              </a:rPr>
            </a:br>
            <a:r>
              <a:rPr lang="en-US" altLang="en-US" sz="2000">
                <a:solidFill>
                  <a:srgbClr val="008000"/>
                </a:solidFill>
                <a:latin typeface="Gill Sans MT" pitchFamily="34" charset="0"/>
              </a:rPr>
              <a:t>8</a:t>
            </a:r>
            <a:r>
              <a:rPr lang="en-US" altLang="en-US" sz="2000" baseline="30000">
                <a:solidFill>
                  <a:srgbClr val="008000"/>
                </a:solidFill>
                <a:latin typeface="Gill Sans MT" pitchFamily="34" charset="0"/>
              </a:rPr>
              <a:t>th</a:t>
            </a:r>
            <a:r>
              <a:rPr lang="en-US" altLang="en-US" sz="2000">
                <a:solidFill>
                  <a:srgbClr val="008000"/>
                </a:solidFill>
                <a:latin typeface="Gill Sans MT" pitchFamily="34" charset="0"/>
              </a:rPr>
              <a:t> edition </a:t>
            </a:r>
            <a:br>
              <a:rPr lang="en-US" altLang="en-US" sz="2000">
                <a:solidFill>
                  <a:srgbClr val="008000"/>
                </a:solidFill>
                <a:latin typeface="Gill Sans MT" pitchFamily="34" charset="0"/>
              </a:rPr>
            </a:br>
            <a:r>
              <a:rPr lang="en-US" altLang="en-US" sz="2000">
                <a:solidFill>
                  <a:srgbClr val="008000"/>
                </a:solidFill>
                <a:latin typeface="Gill Sans MT" pitchFamily="34" charset="0"/>
              </a:rPr>
              <a:t>Jim Kurose, Keith Ross</a:t>
            </a:r>
            <a:br>
              <a:rPr lang="en-US" altLang="en-US" sz="2000">
                <a:solidFill>
                  <a:srgbClr val="008000"/>
                </a:solidFill>
                <a:latin typeface="Gill Sans MT" pitchFamily="34" charset="0"/>
              </a:rPr>
            </a:br>
            <a:r>
              <a:rPr lang="en-US" altLang="en-US" sz="2000">
                <a:solidFill>
                  <a:srgbClr val="008000"/>
                </a:solidFill>
                <a:latin typeface="Gill Sans MT" pitchFamily="34" charset="0"/>
              </a:rPr>
              <a:t>Addison-Wesley</a:t>
            </a:r>
            <a:br>
              <a:rPr lang="en-US" altLang="en-US" sz="2000">
                <a:solidFill>
                  <a:srgbClr val="008000"/>
                </a:solidFill>
                <a:latin typeface="Gill Sans MT" pitchFamily="34" charset="0"/>
              </a:rPr>
            </a:br>
            <a:endParaRPr lang="en-US" altLang="en-US" sz="2000">
              <a:solidFill>
                <a:srgbClr val="008000"/>
              </a:solidFill>
              <a:latin typeface="Gill Sans MT" pitchFamily="34" charset="0"/>
            </a:endParaRPr>
          </a:p>
        </p:txBody>
      </p:sp>
      <p:sp>
        <p:nvSpPr>
          <p:cNvPr id="46083" name="Text Box 6"/>
          <p:cNvSpPr txBox="1">
            <a:spLocks noChangeArrowheads="1"/>
          </p:cNvSpPr>
          <p:nvPr/>
        </p:nvSpPr>
        <p:spPr bwMode="auto">
          <a:xfrm>
            <a:off x="457200" y="3429000"/>
            <a:ext cx="678180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t>A note on the origin of these ppt slides:</a:t>
            </a:r>
          </a:p>
          <a:p>
            <a:pPr eaLnBrk="1" hangingPunct="1">
              <a:spcBef>
                <a:spcPct val="0"/>
              </a:spcBef>
              <a:buFontTx/>
              <a:buNone/>
            </a:pPr>
            <a:endParaRPr lang="en-US" altLang="ja-JP" sz="1200"/>
          </a:p>
          <a:p>
            <a:pPr eaLnBrk="1" hangingPunct="1">
              <a:spcBef>
                <a:spcPct val="0"/>
              </a:spcBef>
              <a:buFontTx/>
              <a:buNone/>
            </a:pPr>
            <a:r>
              <a:rPr lang="en-US" altLang="ja-JP" sz="1200"/>
              <a:t>These slides </a:t>
            </a:r>
            <a:r>
              <a:rPr lang="fr-FR" altLang="ja-JP" sz="1200"/>
              <a:t>are </a:t>
            </a:r>
            <a:r>
              <a:rPr lang="en-US" altLang="ja-JP" sz="1200"/>
              <a:t>freely provided by the book authors and it represents a </a:t>
            </a:r>
            <a:r>
              <a:rPr lang="en-US" altLang="ja-JP" sz="1200" i="1"/>
              <a:t>lot</a:t>
            </a:r>
            <a:r>
              <a:rPr lang="en-US" altLang="ja-JP" sz="1200"/>
              <a:t> of work on their part. We would like to thank </a:t>
            </a:r>
            <a:r>
              <a:rPr lang="en-US" altLang="en-US" sz="1200"/>
              <a:t> J.F Kurose and K.W. Ross.</a:t>
            </a:r>
          </a:p>
          <a:p>
            <a:pPr eaLnBrk="1" hangingPunct="1">
              <a:spcBef>
                <a:spcPct val="0"/>
              </a:spcBef>
              <a:buFontTx/>
              <a:buNone/>
            </a:pPr>
            <a:endParaRPr lang="en-US" altLang="ja-JP" sz="1200"/>
          </a:p>
          <a:p>
            <a:pPr eaLnBrk="1" hangingPunct="1">
              <a:spcBef>
                <a:spcPct val="0"/>
              </a:spcBef>
              <a:buFontTx/>
              <a:buNone/>
            </a:pPr>
            <a:endParaRPr lang="en-US" altLang="ja-JP" sz="1200"/>
          </a:p>
          <a:p>
            <a:pPr eaLnBrk="1" hangingPunct="1">
              <a:spcBef>
                <a:spcPct val="0"/>
              </a:spcBef>
              <a:buFontTx/>
              <a:buNone/>
            </a:pPr>
            <a:endParaRPr lang="en-US" altLang="ja-JP" sz="1200"/>
          </a:p>
          <a:p>
            <a:pPr eaLnBrk="1" hangingPunct="1">
              <a:spcBef>
                <a:spcPct val="0"/>
              </a:spcBef>
              <a:buFontTx/>
              <a:buNone/>
            </a:pPr>
            <a:endParaRPr lang="en-US" altLang="ja-JP" sz="1200"/>
          </a:p>
          <a:p>
            <a:pPr eaLnBrk="1" hangingPunct="1">
              <a:lnSpc>
                <a:spcPct val="85000"/>
              </a:lnSpc>
              <a:spcBef>
                <a:spcPct val="0"/>
              </a:spcBef>
              <a:buFontTx/>
              <a:buNone/>
            </a:pPr>
            <a:endParaRPr lang="en-US" altLang="en-US" sz="1400"/>
          </a:p>
        </p:txBody>
      </p:sp>
      <p:sp>
        <p:nvSpPr>
          <p:cNvPr id="4608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2B7333F2-651A-475D-A847-63C559A18E5E}" type="slidenum">
              <a:rPr lang="en-US" altLang="en-US" sz="1400"/>
              <a:pPr>
                <a:spcBef>
                  <a:spcPct val="0"/>
                </a:spcBef>
                <a:buFontTx/>
                <a:buNone/>
              </a:pPr>
              <a:t>22</a:t>
            </a:fld>
            <a:endParaRPr lang="en-US" altLang="en-US" sz="14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9"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 y="892175"/>
            <a:ext cx="4113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2"/>
          <p:cNvSpPr>
            <a:spLocks noGrp="1" noChangeArrowheads="1"/>
          </p:cNvSpPr>
          <p:nvPr>
            <p:ph type="title" idx="4294967295"/>
          </p:nvPr>
        </p:nvSpPr>
        <p:spPr>
          <a:xfrm>
            <a:off x="333375" y="77788"/>
            <a:ext cx="7772400" cy="1143000"/>
          </a:xfrm>
        </p:spPr>
        <p:txBody>
          <a:bodyPr/>
          <a:lstStyle/>
          <a:p>
            <a:pPr eaLnBrk="1" hangingPunct="1"/>
            <a:r>
              <a:rPr lang="en-US" altLang="en-US" sz="3200" smtClean="0">
                <a:latin typeface="Gill Sans MT" pitchFamily="34" charset="0"/>
                <a:cs typeface="Arial" panose="020B0604020202020204" pitchFamily="34" charset="0"/>
              </a:rPr>
              <a:t>Network security</a:t>
            </a:r>
          </a:p>
        </p:txBody>
      </p:sp>
      <p:sp>
        <p:nvSpPr>
          <p:cNvPr id="47108" name="Rectangle 3"/>
          <p:cNvSpPr>
            <a:spLocks noGrp="1" noChangeArrowheads="1"/>
          </p:cNvSpPr>
          <p:nvPr>
            <p:ph type="body" idx="4294967295"/>
          </p:nvPr>
        </p:nvSpPr>
        <p:spPr>
          <a:xfrm>
            <a:off x="533400" y="1365250"/>
            <a:ext cx="7772400" cy="5119688"/>
          </a:xfrm>
        </p:spPr>
        <p:txBody>
          <a:bodyPr/>
          <a:lstStyle/>
          <a:p>
            <a:pPr eaLnBrk="1" hangingPunct="1">
              <a:buSzPct val="75000"/>
            </a:pPr>
            <a:r>
              <a:rPr lang="en-US" altLang="en-US" sz="2800" smtClean="0">
                <a:solidFill>
                  <a:srgbClr val="CC0000"/>
                </a:solidFill>
                <a:latin typeface="Gill Sans MT" pitchFamily="34" charset="0"/>
                <a:cs typeface="Arial" panose="020B0604020202020204" pitchFamily="34" charset="0"/>
              </a:rPr>
              <a:t>field of network security:</a:t>
            </a:r>
          </a:p>
          <a:p>
            <a:pPr lvl="1" eaLnBrk="1" hangingPunct="1"/>
            <a:r>
              <a:rPr lang="en-US" altLang="en-US" sz="2400" smtClean="0">
                <a:latin typeface="Gill Sans MT" pitchFamily="34" charset="0"/>
                <a:cs typeface="Arial" panose="020B0604020202020204" pitchFamily="34" charset="0"/>
              </a:rPr>
              <a:t>how bad guys can attack computer networks</a:t>
            </a:r>
          </a:p>
          <a:p>
            <a:pPr lvl="1" eaLnBrk="1" hangingPunct="1"/>
            <a:r>
              <a:rPr lang="en-US" altLang="en-US" sz="2400" smtClean="0">
                <a:latin typeface="Gill Sans MT" pitchFamily="34" charset="0"/>
                <a:cs typeface="Arial" panose="020B0604020202020204" pitchFamily="34" charset="0"/>
              </a:rPr>
              <a:t>how we can defend networks against attacks</a:t>
            </a:r>
          </a:p>
          <a:p>
            <a:pPr lvl="1" eaLnBrk="1" hangingPunct="1"/>
            <a:r>
              <a:rPr lang="en-US" altLang="en-US" sz="2400" smtClean="0">
                <a:latin typeface="Gill Sans MT" pitchFamily="34" charset="0"/>
                <a:cs typeface="Arial" panose="020B0604020202020204" pitchFamily="34" charset="0"/>
              </a:rPr>
              <a:t>how to design architectures that are immune to attacks</a:t>
            </a:r>
          </a:p>
          <a:p>
            <a:pPr eaLnBrk="1" hangingPunct="1">
              <a:buSzPct val="75000"/>
            </a:pPr>
            <a:r>
              <a:rPr lang="en-US" altLang="en-US" sz="2800" smtClean="0">
                <a:solidFill>
                  <a:srgbClr val="CC0000"/>
                </a:solidFill>
                <a:latin typeface="Gill Sans MT" pitchFamily="34" charset="0"/>
                <a:cs typeface="Arial" panose="020B0604020202020204" pitchFamily="34" charset="0"/>
              </a:rPr>
              <a:t>Internet not originally designed with (much) security in mind</a:t>
            </a:r>
          </a:p>
          <a:p>
            <a:pPr lvl="1" eaLnBrk="1" hangingPunct="1"/>
            <a:r>
              <a:rPr lang="en-US" altLang="en-US" sz="2400" i="1" smtClean="0">
                <a:latin typeface="Gill Sans MT" pitchFamily="34" charset="0"/>
                <a:cs typeface="Arial" panose="020B0604020202020204" pitchFamily="34" charset="0"/>
              </a:rPr>
              <a:t>original vision:</a:t>
            </a:r>
            <a:r>
              <a:rPr lang="en-US" altLang="en-US" sz="2400" smtClean="0">
                <a:latin typeface="Gill Sans MT" pitchFamily="34" charset="0"/>
                <a:cs typeface="Arial" panose="020B0604020202020204" pitchFamily="34" charset="0"/>
              </a:rPr>
              <a:t> </a:t>
            </a:r>
            <a:r>
              <a:rPr lang="ja-JP" altLang="en-US" sz="2400" smtClean="0">
                <a:latin typeface="Gill Sans MT" pitchFamily="34" charset="0"/>
              </a:rPr>
              <a:t>“</a:t>
            </a:r>
            <a:r>
              <a:rPr lang="en-US" altLang="ja-JP" sz="2400" smtClean="0">
                <a:latin typeface="Gill Sans MT" pitchFamily="34" charset="0"/>
              </a:rPr>
              <a:t>a group of mutually trusting users attached to a transparent network</a:t>
            </a:r>
            <a:r>
              <a:rPr lang="ja-JP" altLang="en-US" sz="2400" smtClean="0">
                <a:latin typeface="Gill Sans MT" pitchFamily="34" charset="0"/>
              </a:rPr>
              <a:t>”</a:t>
            </a:r>
            <a:r>
              <a:rPr lang="en-US" altLang="ja-JP" sz="2400" smtClean="0">
                <a:latin typeface="Gill Sans MT" pitchFamily="34" charset="0"/>
              </a:rPr>
              <a:t> </a:t>
            </a:r>
            <a:r>
              <a:rPr lang="en-US" altLang="ja-JP" sz="2400" smtClean="0">
                <a:latin typeface="Gill Sans MT" pitchFamily="34" charset="0"/>
                <a:sym typeface="Wingdings" panose="05000000000000000000" pitchFamily="2" charset="2"/>
              </a:rPr>
              <a:t></a:t>
            </a:r>
            <a:endParaRPr lang="en-US" altLang="ja-JP" sz="2400" smtClean="0">
              <a:latin typeface="Gill Sans MT" pitchFamily="34" charset="0"/>
            </a:endParaRPr>
          </a:p>
          <a:p>
            <a:pPr lvl="1" eaLnBrk="1" hangingPunct="1"/>
            <a:r>
              <a:rPr lang="en-US" altLang="en-US" sz="2400" smtClean="0">
                <a:latin typeface="Gill Sans MT" pitchFamily="34" charset="0"/>
                <a:cs typeface="Arial" panose="020B0604020202020204" pitchFamily="34" charset="0"/>
              </a:rPr>
              <a:t>Internet protocol designers playing </a:t>
            </a:r>
            <a:r>
              <a:rPr lang="ja-JP" altLang="en-US" sz="2400" smtClean="0">
                <a:latin typeface="Gill Sans MT" pitchFamily="34" charset="0"/>
              </a:rPr>
              <a:t>“</a:t>
            </a:r>
            <a:r>
              <a:rPr lang="en-US" altLang="ja-JP" sz="2400" smtClean="0">
                <a:latin typeface="Gill Sans MT" pitchFamily="34" charset="0"/>
              </a:rPr>
              <a:t>catch-up</a:t>
            </a:r>
            <a:r>
              <a:rPr lang="ja-JP" altLang="en-US" sz="2400" smtClean="0">
                <a:latin typeface="Gill Sans MT" pitchFamily="34" charset="0"/>
              </a:rPr>
              <a:t>”</a:t>
            </a:r>
            <a:endParaRPr lang="en-US" altLang="ja-JP" sz="2400" smtClean="0">
              <a:latin typeface="Gill Sans MT" pitchFamily="34" charset="0"/>
            </a:endParaRPr>
          </a:p>
          <a:p>
            <a:pPr lvl="1" eaLnBrk="1" hangingPunct="1"/>
            <a:r>
              <a:rPr lang="en-US" altLang="en-US" sz="2400" smtClean="0">
                <a:latin typeface="Gill Sans MT" pitchFamily="34" charset="0"/>
                <a:cs typeface="Arial" panose="020B0604020202020204" pitchFamily="34" charset="0"/>
              </a:rPr>
              <a:t>security considerations in all layers!</a:t>
            </a:r>
          </a:p>
          <a:p>
            <a:pPr eaLnBrk="1" hangingPunct="1"/>
            <a:endParaRPr lang="en-US" altLang="en-US" sz="2800" smtClean="0">
              <a:latin typeface="Gill Sans MT" pitchFamily="34" charset="0"/>
              <a:cs typeface="Arial" panose="020B0604020202020204" pitchFamily="34" charset="0"/>
            </a:endParaRPr>
          </a:p>
        </p:txBody>
      </p:sp>
      <p:sp>
        <p:nvSpPr>
          <p:cNvPr id="47109"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3B54E364-D27F-44EE-BBE5-B96C86E206FF}" type="slidenum">
              <a:rPr lang="en-US" altLang="en-US" sz="1400"/>
              <a:pPr>
                <a:spcBef>
                  <a:spcPct val="0"/>
                </a:spcBef>
                <a:buFontTx/>
                <a:buNone/>
              </a:pPr>
              <a:t>23</a:t>
            </a:fld>
            <a:endParaRPr lang="en-US" altLang="en-US" sz="14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sz="3200" smtClean="0">
                <a:latin typeface="Gill Sans MT" pitchFamily="34" charset="0"/>
              </a:rPr>
              <a:t>What is network security?</a:t>
            </a:r>
          </a:p>
        </p:txBody>
      </p:sp>
      <p:sp>
        <p:nvSpPr>
          <p:cNvPr id="48131" name="Rectangle 3"/>
          <p:cNvSpPr>
            <a:spLocks noGrp="1" noChangeArrowheads="1"/>
          </p:cNvSpPr>
          <p:nvPr>
            <p:ph type="body" idx="1"/>
          </p:nvPr>
        </p:nvSpPr>
        <p:spPr/>
        <p:txBody>
          <a:bodyPr/>
          <a:lstStyle/>
          <a:p>
            <a:pPr>
              <a:buFont typeface="Wingdings" panose="05000000000000000000" pitchFamily="2" charset="2"/>
              <a:buNone/>
            </a:pPr>
            <a:r>
              <a:rPr lang="en-US" altLang="en-US" sz="2800" i="1" smtClean="0">
                <a:solidFill>
                  <a:srgbClr val="C00000"/>
                </a:solidFill>
                <a:latin typeface="Gill Sans MT" pitchFamily="34" charset="0"/>
              </a:rPr>
              <a:t>Confidentiality</a:t>
            </a:r>
            <a:r>
              <a:rPr lang="en-US" altLang="en-US" sz="2800" smtClean="0">
                <a:solidFill>
                  <a:srgbClr val="C00000"/>
                </a:solidFill>
                <a:latin typeface="Gill Sans MT" pitchFamily="34" charset="0"/>
              </a:rPr>
              <a:t>: </a:t>
            </a:r>
            <a:r>
              <a:rPr lang="en-US" altLang="en-US" sz="2000" smtClean="0">
                <a:latin typeface="Gill Sans MT" pitchFamily="34" charset="0"/>
              </a:rPr>
              <a:t>only sender, intended receiver should </a:t>
            </a:r>
            <a:r>
              <a:rPr lang="ja-JP" altLang="en-US" sz="2000" smtClean="0">
                <a:latin typeface="Gill Sans MT" pitchFamily="34" charset="0"/>
              </a:rPr>
              <a:t>“</a:t>
            </a:r>
            <a:r>
              <a:rPr lang="en-US" altLang="ja-JP" sz="2000" smtClean="0">
                <a:latin typeface="Gill Sans MT" pitchFamily="34" charset="0"/>
              </a:rPr>
              <a:t>understand</a:t>
            </a:r>
            <a:r>
              <a:rPr lang="ja-JP" altLang="en-US" sz="2000" smtClean="0">
                <a:latin typeface="Gill Sans MT" pitchFamily="34" charset="0"/>
              </a:rPr>
              <a:t>”</a:t>
            </a:r>
            <a:r>
              <a:rPr lang="en-US" altLang="ja-JP" sz="2000" smtClean="0">
                <a:latin typeface="Gill Sans MT" pitchFamily="34" charset="0"/>
              </a:rPr>
              <a:t> message contents.</a:t>
            </a:r>
            <a:r>
              <a:rPr lang="en-GB" altLang="ja-JP" sz="2000" smtClean="0">
                <a:latin typeface="Gill Sans MT" pitchFamily="34" charset="0"/>
              </a:rPr>
              <a:t> Access must be restricted to those authorized to view the data in question.</a:t>
            </a:r>
            <a:endParaRPr lang="en-US" altLang="ja-JP" sz="2000" smtClean="0">
              <a:latin typeface="Gill Sans MT" pitchFamily="34" charset="0"/>
            </a:endParaRPr>
          </a:p>
          <a:p>
            <a:pPr lvl="1"/>
            <a:r>
              <a:rPr lang="en-US" altLang="en-US" sz="2400" smtClean="0">
                <a:latin typeface="Gill Sans MT" pitchFamily="34" charset="0"/>
              </a:rPr>
              <a:t>sender encrypts message</a:t>
            </a:r>
          </a:p>
          <a:p>
            <a:pPr lvl="1"/>
            <a:r>
              <a:rPr lang="en-US" altLang="en-US" sz="2400" smtClean="0">
                <a:latin typeface="Gill Sans MT" pitchFamily="34" charset="0"/>
              </a:rPr>
              <a:t>receiver decrypts message</a:t>
            </a:r>
          </a:p>
          <a:p>
            <a:pPr>
              <a:buFontTx/>
              <a:buNone/>
            </a:pPr>
            <a:r>
              <a:rPr lang="en-US" altLang="en-US" sz="3600" i="1" smtClean="0">
                <a:solidFill>
                  <a:srgbClr val="C00000"/>
                </a:solidFill>
                <a:latin typeface="Gill Sans MT" pitchFamily="34" charset="0"/>
              </a:rPr>
              <a:t>Authentication: </a:t>
            </a:r>
            <a:r>
              <a:rPr lang="en-US" altLang="en-US" sz="2000" smtClean="0">
                <a:latin typeface="Gill Sans MT" pitchFamily="34" charset="0"/>
              </a:rPr>
              <a:t>sender, receiver want to confirm identity of each other</a:t>
            </a:r>
          </a:p>
          <a:p>
            <a:pPr>
              <a:buFont typeface="Wingdings" panose="05000000000000000000" pitchFamily="2" charset="2"/>
              <a:buNone/>
            </a:pPr>
            <a:r>
              <a:rPr lang="en-US" altLang="en-US" sz="2800" i="1" smtClean="0">
                <a:solidFill>
                  <a:srgbClr val="C00000"/>
                </a:solidFill>
                <a:latin typeface="Gill Sans MT" pitchFamily="34" charset="0"/>
              </a:rPr>
              <a:t>Message integrity: </a:t>
            </a:r>
            <a:r>
              <a:rPr lang="en-US" altLang="en-US" sz="2000" smtClean="0">
                <a:latin typeface="Gill Sans MT" pitchFamily="34" charset="0"/>
              </a:rPr>
              <a:t>sender, receiver want to ensure message not altered (in transit, or afterwards) without detection</a:t>
            </a:r>
          </a:p>
          <a:p>
            <a:pPr>
              <a:buFont typeface="Wingdings" panose="05000000000000000000" pitchFamily="2" charset="2"/>
              <a:buNone/>
            </a:pPr>
            <a:r>
              <a:rPr lang="en-US" altLang="en-US" sz="2800" i="1" smtClean="0">
                <a:solidFill>
                  <a:srgbClr val="C00000"/>
                </a:solidFill>
                <a:latin typeface="Gill Sans MT" pitchFamily="34" charset="0"/>
              </a:rPr>
              <a:t>Access and Availability</a:t>
            </a:r>
            <a:r>
              <a:rPr lang="en-US" altLang="en-US" sz="2000" smtClean="0">
                <a:solidFill>
                  <a:srgbClr val="FF0000"/>
                </a:solidFill>
                <a:latin typeface="Gill Sans MT" pitchFamily="34" charset="0"/>
              </a:rPr>
              <a:t>:</a:t>
            </a:r>
            <a:r>
              <a:rPr lang="en-US" altLang="en-US" sz="2000" smtClean="0">
                <a:latin typeface="Gill Sans MT" pitchFamily="34" charset="0"/>
              </a:rPr>
              <a:t> services must be accessible and available to users</a:t>
            </a:r>
          </a:p>
        </p:txBody>
      </p:sp>
      <p:pic>
        <p:nvPicPr>
          <p:cNvPr id="48132" name="Picture 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63" y="10414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3BD144C9-95A2-436D-915E-1AB5707B2C6A}" type="slidenum">
              <a:rPr lang="en-US" altLang="en-US" sz="1400"/>
              <a:pPr>
                <a:spcBef>
                  <a:spcPct val="0"/>
                </a:spcBef>
                <a:buFontTx/>
                <a:buNone/>
              </a:pPr>
              <a:t>24</a:t>
            </a:fld>
            <a:endParaRPr lang="en-US" altLang="en-US" sz="140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28600" y="152400"/>
            <a:ext cx="8404225" cy="990600"/>
          </a:xfrm>
        </p:spPr>
        <p:txBody>
          <a:bodyPr/>
          <a:lstStyle/>
          <a:p>
            <a:r>
              <a:rPr lang="en-US" altLang="en-US" sz="3200" smtClean="0">
                <a:latin typeface="Gill Sans MT" pitchFamily="34" charset="0"/>
              </a:rPr>
              <a:t>Friends and enemies: Alice, Bob, Trudy</a:t>
            </a:r>
          </a:p>
        </p:txBody>
      </p:sp>
      <p:sp>
        <p:nvSpPr>
          <p:cNvPr id="50179" name="Rectangle 3"/>
          <p:cNvSpPr>
            <a:spLocks noGrp="1" noChangeArrowheads="1"/>
          </p:cNvSpPr>
          <p:nvPr>
            <p:ph type="body" sz="half" idx="1"/>
          </p:nvPr>
        </p:nvSpPr>
        <p:spPr>
          <a:xfrm>
            <a:off x="533400" y="1282700"/>
            <a:ext cx="8142288" cy="1617663"/>
          </a:xfrm>
        </p:spPr>
        <p:txBody>
          <a:bodyPr/>
          <a:lstStyle/>
          <a:p>
            <a:r>
              <a:rPr lang="en-US" altLang="en-US" sz="2000" smtClean="0">
                <a:latin typeface="Gill Sans MT" pitchFamily="34" charset="0"/>
              </a:rPr>
              <a:t>well-known in network security world</a:t>
            </a:r>
          </a:p>
          <a:p>
            <a:r>
              <a:rPr lang="en-US" altLang="en-US" sz="2000" smtClean="0">
                <a:latin typeface="Gill Sans MT" pitchFamily="34" charset="0"/>
              </a:rPr>
              <a:t>Bob, Alice want to communicate </a:t>
            </a:r>
            <a:r>
              <a:rPr lang="ja-JP" altLang="en-US" sz="2000" smtClean="0">
                <a:latin typeface="Gill Sans MT" pitchFamily="34" charset="0"/>
              </a:rPr>
              <a:t>“</a:t>
            </a:r>
            <a:r>
              <a:rPr lang="en-US" altLang="ja-JP" sz="2000" smtClean="0">
                <a:latin typeface="Gill Sans MT" pitchFamily="34" charset="0"/>
              </a:rPr>
              <a:t>securely</a:t>
            </a:r>
            <a:r>
              <a:rPr lang="ja-JP" altLang="en-US" sz="2000" smtClean="0">
                <a:latin typeface="Gill Sans MT" pitchFamily="34" charset="0"/>
              </a:rPr>
              <a:t>”</a:t>
            </a:r>
            <a:endParaRPr lang="en-US" altLang="ja-JP" sz="2000" smtClean="0">
              <a:latin typeface="Gill Sans MT" pitchFamily="34" charset="0"/>
            </a:endParaRPr>
          </a:p>
          <a:p>
            <a:r>
              <a:rPr lang="en-US" altLang="en-US" sz="2000" smtClean="0">
                <a:latin typeface="Gill Sans MT" pitchFamily="34" charset="0"/>
              </a:rPr>
              <a:t>Trudy (intruder) may </a:t>
            </a:r>
            <a:r>
              <a:rPr lang="en-US" altLang="en-US" sz="2000" u="sng" smtClean="0">
                <a:latin typeface="Gill Sans MT" pitchFamily="34" charset="0"/>
              </a:rPr>
              <a:t>intercept, delete, add messages</a:t>
            </a:r>
          </a:p>
        </p:txBody>
      </p:sp>
      <p:pic>
        <p:nvPicPr>
          <p:cNvPr id="50180" name="Picture 6"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950" y="3370263"/>
            <a:ext cx="6985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1825" y="34178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9" descr="Eve"/>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022725" y="5486400"/>
            <a:ext cx="1082675" cy="1295400"/>
          </a:xfrm>
        </p:spPr>
      </p:pic>
      <p:sp>
        <p:nvSpPr>
          <p:cNvPr id="50183" name="Rectangle 11"/>
          <p:cNvSpPr>
            <a:spLocks noChangeArrowheads="1"/>
          </p:cNvSpPr>
          <p:nvPr/>
        </p:nvSpPr>
        <p:spPr bwMode="auto">
          <a:xfrm>
            <a:off x="2038350" y="4205288"/>
            <a:ext cx="1293813" cy="803275"/>
          </a:xfrm>
          <a:prstGeom prst="rect">
            <a:avLst/>
          </a:prstGeom>
          <a:solidFill>
            <a:srgbClr val="008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400">
              <a:cs typeface="Arial" panose="020B0604020202020204" pitchFamily="34" charset="0"/>
            </a:endParaRPr>
          </a:p>
        </p:txBody>
      </p:sp>
      <p:sp>
        <p:nvSpPr>
          <p:cNvPr id="50184" name="Text Box 12"/>
          <p:cNvSpPr txBox="1">
            <a:spLocks noChangeArrowheads="1"/>
          </p:cNvSpPr>
          <p:nvPr/>
        </p:nvSpPr>
        <p:spPr bwMode="auto">
          <a:xfrm>
            <a:off x="2152650" y="4235450"/>
            <a:ext cx="890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chemeClr val="bg1"/>
                </a:solidFill>
                <a:cs typeface="Arial" panose="020B0604020202020204" pitchFamily="34" charset="0"/>
              </a:rPr>
              <a:t>secure</a:t>
            </a:r>
          </a:p>
          <a:p>
            <a:pPr eaLnBrk="1" hangingPunct="1">
              <a:spcBef>
                <a:spcPct val="0"/>
              </a:spcBef>
              <a:buFontTx/>
              <a:buNone/>
            </a:pPr>
            <a:r>
              <a:rPr lang="en-US" altLang="en-US" sz="1800">
                <a:solidFill>
                  <a:schemeClr val="bg1"/>
                </a:solidFill>
                <a:cs typeface="Arial" panose="020B0604020202020204" pitchFamily="34" charset="0"/>
              </a:rPr>
              <a:t>sender</a:t>
            </a:r>
          </a:p>
        </p:txBody>
      </p:sp>
      <p:sp>
        <p:nvSpPr>
          <p:cNvPr id="50185" name="Rectangle 13"/>
          <p:cNvSpPr>
            <a:spLocks noChangeArrowheads="1"/>
          </p:cNvSpPr>
          <p:nvPr/>
        </p:nvSpPr>
        <p:spPr bwMode="auto">
          <a:xfrm>
            <a:off x="5780088" y="4217988"/>
            <a:ext cx="1293812" cy="803275"/>
          </a:xfrm>
          <a:prstGeom prst="rect">
            <a:avLst/>
          </a:prstGeom>
          <a:solidFill>
            <a:srgbClr val="008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400">
                <a:cs typeface="Arial" panose="020B0604020202020204" pitchFamily="34" charset="0"/>
              </a:rPr>
              <a:t>s</a:t>
            </a:r>
          </a:p>
        </p:txBody>
      </p:sp>
      <p:sp>
        <p:nvSpPr>
          <p:cNvPr id="50186" name="Text Box 14"/>
          <p:cNvSpPr txBox="1">
            <a:spLocks noChangeArrowheads="1"/>
          </p:cNvSpPr>
          <p:nvPr/>
        </p:nvSpPr>
        <p:spPr bwMode="auto">
          <a:xfrm>
            <a:off x="5867400" y="4248150"/>
            <a:ext cx="10048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chemeClr val="bg1"/>
                </a:solidFill>
                <a:cs typeface="Arial" panose="020B0604020202020204" pitchFamily="34" charset="0"/>
              </a:rPr>
              <a:t>secure</a:t>
            </a:r>
          </a:p>
          <a:p>
            <a:pPr eaLnBrk="1" hangingPunct="1">
              <a:spcBef>
                <a:spcPct val="0"/>
              </a:spcBef>
              <a:buFontTx/>
              <a:buNone/>
            </a:pPr>
            <a:r>
              <a:rPr lang="en-US" altLang="en-US" sz="1800">
                <a:solidFill>
                  <a:schemeClr val="bg1"/>
                </a:solidFill>
                <a:cs typeface="Arial" panose="020B0604020202020204" pitchFamily="34" charset="0"/>
              </a:rPr>
              <a:t>receiver</a:t>
            </a:r>
          </a:p>
        </p:txBody>
      </p:sp>
      <p:sp>
        <p:nvSpPr>
          <p:cNvPr id="50187" name="Text Box 18"/>
          <p:cNvSpPr txBox="1">
            <a:spLocks noChangeArrowheads="1"/>
          </p:cNvSpPr>
          <p:nvPr/>
        </p:nvSpPr>
        <p:spPr bwMode="auto">
          <a:xfrm>
            <a:off x="3052763" y="3460750"/>
            <a:ext cx="993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cs typeface="Arial" panose="020B0604020202020204" pitchFamily="34" charset="0"/>
              </a:rPr>
              <a:t>channel</a:t>
            </a:r>
          </a:p>
        </p:txBody>
      </p:sp>
      <p:sp>
        <p:nvSpPr>
          <p:cNvPr id="50188" name="Line 19"/>
          <p:cNvSpPr>
            <a:spLocks noChangeShapeType="1"/>
          </p:cNvSpPr>
          <p:nvPr/>
        </p:nvSpPr>
        <p:spPr bwMode="auto">
          <a:xfrm>
            <a:off x="3768725" y="3883025"/>
            <a:ext cx="238125" cy="449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189" name="Rectangle 21"/>
          <p:cNvSpPr>
            <a:spLocks noChangeArrowheads="1"/>
          </p:cNvSpPr>
          <p:nvPr/>
        </p:nvSpPr>
        <p:spPr bwMode="auto">
          <a:xfrm>
            <a:off x="3332163" y="4403725"/>
            <a:ext cx="2447925" cy="366713"/>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400">
              <a:cs typeface="Arial" panose="020B0604020202020204" pitchFamily="34" charset="0"/>
            </a:endParaRPr>
          </a:p>
        </p:txBody>
      </p:sp>
      <p:sp>
        <p:nvSpPr>
          <p:cNvPr id="50190" name="Line 17"/>
          <p:cNvSpPr>
            <a:spLocks noChangeShapeType="1"/>
          </p:cNvSpPr>
          <p:nvPr/>
        </p:nvSpPr>
        <p:spPr bwMode="auto">
          <a:xfrm flipV="1">
            <a:off x="3375025" y="4616450"/>
            <a:ext cx="2460625" cy="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0191" name="Text Box 23"/>
          <p:cNvSpPr txBox="1">
            <a:spLocks noChangeArrowheads="1"/>
          </p:cNvSpPr>
          <p:nvPr/>
        </p:nvSpPr>
        <p:spPr bwMode="auto">
          <a:xfrm>
            <a:off x="4200525" y="3417888"/>
            <a:ext cx="1889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600">
                <a:cs typeface="Arial" panose="020B0604020202020204" pitchFamily="34" charset="0"/>
              </a:rPr>
              <a:t>data, control messages</a:t>
            </a:r>
          </a:p>
        </p:txBody>
      </p:sp>
      <p:sp>
        <p:nvSpPr>
          <p:cNvPr id="50192" name="Line 24"/>
          <p:cNvSpPr>
            <a:spLocks noChangeShapeType="1"/>
          </p:cNvSpPr>
          <p:nvPr/>
        </p:nvSpPr>
        <p:spPr bwMode="auto">
          <a:xfrm>
            <a:off x="5046663" y="4035425"/>
            <a:ext cx="223837" cy="517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0193" name="Freeform 25"/>
          <p:cNvSpPr>
            <a:spLocks/>
          </p:cNvSpPr>
          <p:nvPr/>
        </p:nvSpPr>
        <p:spPr bwMode="auto">
          <a:xfrm>
            <a:off x="3854450" y="4656138"/>
            <a:ext cx="573088" cy="914400"/>
          </a:xfrm>
          <a:custGeom>
            <a:avLst/>
            <a:gdLst>
              <a:gd name="T0" fmla="*/ 0 w 344"/>
              <a:gd name="T1" fmla="*/ 0 h 789"/>
              <a:gd name="T2" fmla="*/ 2147483646 w 344"/>
              <a:gd name="T3" fmla="*/ 2147483646 h 789"/>
              <a:gd name="T4" fmla="*/ 2147483646 w 344"/>
              <a:gd name="T5" fmla="*/ 2147483646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571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0194" name="Freeform 26"/>
          <p:cNvSpPr>
            <a:spLocks/>
          </p:cNvSpPr>
          <p:nvPr/>
        </p:nvSpPr>
        <p:spPr bwMode="auto">
          <a:xfrm flipH="1">
            <a:off x="4529138" y="4654550"/>
            <a:ext cx="573087" cy="914400"/>
          </a:xfrm>
          <a:custGeom>
            <a:avLst/>
            <a:gdLst>
              <a:gd name="T0" fmla="*/ 0 w 344"/>
              <a:gd name="T1" fmla="*/ 0 h 789"/>
              <a:gd name="T2" fmla="*/ 2147483646 w 344"/>
              <a:gd name="T3" fmla="*/ 2147483646 h 789"/>
              <a:gd name="T4" fmla="*/ 2147483646 w 344"/>
              <a:gd name="T5" fmla="*/ 2147483646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571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0195" name="Line 27"/>
          <p:cNvSpPr>
            <a:spLocks noChangeShapeType="1"/>
          </p:cNvSpPr>
          <p:nvPr/>
        </p:nvSpPr>
        <p:spPr bwMode="auto">
          <a:xfrm flipV="1">
            <a:off x="1279525" y="4586288"/>
            <a:ext cx="8143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0196" name="Text Box 28"/>
          <p:cNvSpPr txBox="1">
            <a:spLocks noChangeArrowheads="1"/>
          </p:cNvSpPr>
          <p:nvPr/>
        </p:nvSpPr>
        <p:spPr bwMode="auto">
          <a:xfrm>
            <a:off x="504825" y="4316413"/>
            <a:ext cx="633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cs typeface="Arial" panose="020B0604020202020204" pitchFamily="34" charset="0"/>
              </a:rPr>
              <a:t>data</a:t>
            </a:r>
          </a:p>
        </p:txBody>
      </p:sp>
      <p:sp>
        <p:nvSpPr>
          <p:cNvPr id="50197" name="Line 29"/>
          <p:cNvSpPr>
            <a:spLocks noChangeShapeType="1"/>
          </p:cNvSpPr>
          <p:nvPr/>
        </p:nvSpPr>
        <p:spPr bwMode="auto">
          <a:xfrm flipV="1">
            <a:off x="7086600" y="4556125"/>
            <a:ext cx="8143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0198" name="Text Box 30"/>
          <p:cNvSpPr txBox="1">
            <a:spLocks noChangeArrowheads="1"/>
          </p:cNvSpPr>
          <p:nvPr/>
        </p:nvSpPr>
        <p:spPr bwMode="auto">
          <a:xfrm>
            <a:off x="7874000" y="4286250"/>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cs typeface="Arial" panose="020B0604020202020204" pitchFamily="34" charset="0"/>
              </a:rPr>
              <a:t>data</a:t>
            </a:r>
          </a:p>
        </p:txBody>
      </p:sp>
      <p:sp>
        <p:nvSpPr>
          <p:cNvPr id="50199" name="Text Box 31"/>
          <p:cNvSpPr txBox="1">
            <a:spLocks noChangeArrowheads="1"/>
          </p:cNvSpPr>
          <p:nvPr/>
        </p:nvSpPr>
        <p:spPr bwMode="auto">
          <a:xfrm>
            <a:off x="701675" y="3089275"/>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000099"/>
                </a:solidFill>
                <a:cs typeface="Arial" panose="020B0604020202020204" pitchFamily="34" charset="0"/>
              </a:rPr>
              <a:t>Alice</a:t>
            </a:r>
          </a:p>
        </p:txBody>
      </p:sp>
      <p:sp>
        <p:nvSpPr>
          <p:cNvPr id="50200" name="Text Box 32"/>
          <p:cNvSpPr txBox="1">
            <a:spLocks noChangeArrowheads="1"/>
          </p:cNvSpPr>
          <p:nvPr/>
        </p:nvSpPr>
        <p:spPr bwMode="auto">
          <a:xfrm>
            <a:off x="7670800" y="3100388"/>
            <a:ext cx="595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000099"/>
                </a:solidFill>
                <a:cs typeface="Arial" panose="020B0604020202020204" pitchFamily="34" charset="0"/>
              </a:rPr>
              <a:t>Bob</a:t>
            </a:r>
          </a:p>
        </p:txBody>
      </p:sp>
      <p:sp>
        <p:nvSpPr>
          <p:cNvPr id="50201" name="Text Box 33"/>
          <p:cNvSpPr txBox="1">
            <a:spLocks noChangeArrowheads="1"/>
          </p:cNvSpPr>
          <p:nvPr/>
        </p:nvSpPr>
        <p:spPr bwMode="auto">
          <a:xfrm>
            <a:off x="3359150" y="5727700"/>
            <a:ext cx="766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solidFill>
                  <a:srgbClr val="000099"/>
                </a:solidFill>
                <a:cs typeface="Arial" panose="020B0604020202020204" pitchFamily="34" charset="0"/>
              </a:rPr>
              <a:t>Trudy</a:t>
            </a:r>
          </a:p>
        </p:txBody>
      </p:sp>
      <p:pic>
        <p:nvPicPr>
          <p:cNvPr id="50202" name="Picture 6" descr="underline_ba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063" y="850900"/>
            <a:ext cx="8228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z="3200" smtClean="0">
                <a:latin typeface="Gill Sans MT" pitchFamily="34" charset="0"/>
              </a:rPr>
              <a:t>Who might Bob, Alice be?</a:t>
            </a:r>
          </a:p>
        </p:txBody>
      </p:sp>
      <p:sp>
        <p:nvSpPr>
          <p:cNvPr id="52227" name="Rectangle 3"/>
          <p:cNvSpPr>
            <a:spLocks noGrp="1" noChangeArrowheads="1"/>
          </p:cNvSpPr>
          <p:nvPr>
            <p:ph type="body" idx="1"/>
          </p:nvPr>
        </p:nvSpPr>
        <p:spPr>
          <a:xfrm>
            <a:off x="533400" y="1600200"/>
            <a:ext cx="7772400" cy="3240088"/>
          </a:xfrm>
        </p:spPr>
        <p:txBody>
          <a:bodyPr/>
          <a:lstStyle/>
          <a:p>
            <a:pPr>
              <a:lnSpc>
                <a:spcPct val="90000"/>
              </a:lnSpc>
            </a:pPr>
            <a:r>
              <a:rPr lang="en-US" altLang="en-US" sz="2800" smtClean="0">
                <a:latin typeface="Gill Sans MT" pitchFamily="34" charset="0"/>
              </a:rPr>
              <a:t>… well, </a:t>
            </a:r>
            <a:r>
              <a:rPr lang="en-US" altLang="en-US" sz="2800" i="1" smtClean="0">
                <a:latin typeface="Gill Sans MT" pitchFamily="34" charset="0"/>
              </a:rPr>
              <a:t>real-life</a:t>
            </a:r>
            <a:r>
              <a:rPr lang="en-US" altLang="en-US" sz="2800" smtClean="0">
                <a:latin typeface="Gill Sans MT" pitchFamily="34" charset="0"/>
              </a:rPr>
              <a:t> Bobs and Alices!</a:t>
            </a:r>
          </a:p>
          <a:p>
            <a:pPr>
              <a:lnSpc>
                <a:spcPct val="90000"/>
              </a:lnSpc>
            </a:pPr>
            <a:r>
              <a:rPr lang="en-US" altLang="en-US" sz="2800" smtClean="0">
                <a:latin typeface="Gill Sans MT" pitchFamily="34" charset="0"/>
              </a:rPr>
              <a:t>Web browser/server for electronic transactions (e.g., on-line purchases)</a:t>
            </a:r>
          </a:p>
          <a:p>
            <a:pPr>
              <a:lnSpc>
                <a:spcPct val="90000"/>
              </a:lnSpc>
            </a:pPr>
            <a:r>
              <a:rPr lang="en-US" altLang="en-US" sz="2800" smtClean="0">
                <a:latin typeface="Gill Sans MT" pitchFamily="34" charset="0"/>
              </a:rPr>
              <a:t>on-line banking client/server</a:t>
            </a:r>
          </a:p>
          <a:p>
            <a:pPr>
              <a:lnSpc>
                <a:spcPct val="90000"/>
              </a:lnSpc>
            </a:pPr>
            <a:r>
              <a:rPr lang="en-US" altLang="en-US" sz="2800" smtClean="0">
                <a:latin typeface="Gill Sans MT" pitchFamily="34" charset="0"/>
              </a:rPr>
              <a:t>DNS servers</a:t>
            </a:r>
          </a:p>
          <a:p>
            <a:pPr>
              <a:lnSpc>
                <a:spcPct val="90000"/>
              </a:lnSpc>
            </a:pPr>
            <a:r>
              <a:rPr lang="en-US" altLang="en-US" sz="2800" smtClean="0">
                <a:latin typeface="Gill Sans MT" pitchFamily="34" charset="0"/>
              </a:rPr>
              <a:t>routers exchanging routing table updates</a:t>
            </a:r>
          </a:p>
          <a:p>
            <a:pPr>
              <a:lnSpc>
                <a:spcPct val="90000"/>
              </a:lnSpc>
            </a:pPr>
            <a:r>
              <a:rPr lang="en-US" altLang="en-US" sz="2800" smtClean="0">
                <a:latin typeface="Gill Sans MT" pitchFamily="34" charset="0"/>
              </a:rPr>
              <a:t>…</a:t>
            </a:r>
          </a:p>
        </p:txBody>
      </p:sp>
      <p:pic>
        <p:nvPicPr>
          <p:cNvPr id="52228" name="Picture 19"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 y="1055688"/>
            <a:ext cx="5942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7BD23F23-3575-41BF-BF0E-C2B7560AB112}" type="slidenum">
              <a:rPr lang="en-US" altLang="en-US" sz="1400"/>
              <a:pPr>
                <a:spcBef>
                  <a:spcPct val="0"/>
                </a:spcBef>
                <a:buFontTx/>
                <a:buNone/>
              </a:pPr>
              <a:t>26</a:t>
            </a:fld>
            <a:endParaRPr lang="en-US" altLang="en-US" sz="140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smtClean="0">
                <a:latin typeface="Gill Sans MT" pitchFamily="34" charset="0"/>
              </a:rPr>
              <a:t>Roadmap</a:t>
            </a:r>
          </a:p>
        </p:txBody>
      </p:sp>
      <p:sp>
        <p:nvSpPr>
          <p:cNvPr id="33795" name="Rectangle 3"/>
          <p:cNvSpPr>
            <a:spLocks noGrp="1" noChangeArrowheads="1"/>
          </p:cNvSpPr>
          <p:nvPr>
            <p:ph type="body" idx="1"/>
          </p:nvPr>
        </p:nvSpPr>
        <p:spPr>
          <a:xfrm>
            <a:off x="650875" y="1668463"/>
            <a:ext cx="7772400" cy="4648200"/>
          </a:xfrm>
        </p:spPr>
        <p:txBody>
          <a:bodyPr/>
          <a:lstStyle/>
          <a:p>
            <a:pPr>
              <a:defRPr/>
            </a:pPr>
            <a:r>
              <a:rPr lang="en-US" dirty="0">
                <a:solidFill>
                  <a:schemeClr val="bg1">
                    <a:lumMod val="75000"/>
                  </a:schemeClr>
                </a:solidFill>
                <a:latin typeface="Gill Sans MT" charset="0"/>
                <a:ea typeface="+mn-ea"/>
              </a:rPr>
              <a:t>What is network security?</a:t>
            </a:r>
          </a:p>
          <a:p>
            <a:pPr>
              <a:defRPr/>
            </a:pPr>
            <a:r>
              <a:rPr lang="en-US" i="1" dirty="0">
                <a:solidFill>
                  <a:srgbClr val="FF3300"/>
                </a:solidFill>
                <a:latin typeface="Gill Sans MT" charset="0"/>
                <a:ea typeface="+mn-ea"/>
              </a:rPr>
              <a:t>Principles of cryptography</a:t>
            </a:r>
          </a:p>
          <a:p>
            <a:pPr>
              <a:defRPr/>
            </a:pPr>
            <a:r>
              <a:rPr lang="en-US" dirty="0">
                <a:solidFill>
                  <a:schemeClr val="bg1">
                    <a:lumMod val="75000"/>
                  </a:schemeClr>
                </a:solidFill>
                <a:latin typeface="Gill Sans MT" charset="0"/>
                <a:ea typeface="+mn-ea"/>
              </a:rPr>
              <a:t>Authentication</a:t>
            </a:r>
          </a:p>
          <a:p>
            <a:pPr>
              <a:defRPr/>
            </a:pPr>
            <a:r>
              <a:rPr lang="en-US" dirty="0">
                <a:solidFill>
                  <a:schemeClr val="bg1">
                    <a:lumMod val="75000"/>
                  </a:schemeClr>
                </a:solidFill>
                <a:latin typeface="Gill Sans MT" charset="0"/>
                <a:ea typeface="+mn-ea"/>
              </a:rPr>
              <a:t>Message integrity</a:t>
            </a:r>
          </a:p>
        </p:txBody>
      </p:sp>
      <p:sp>
        <p:nvSpPr>
          <p:cNvPr id="54276"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43F1DCB5-0B20-4332-AA05-33741A2EAF89}" type="slidenum">
              <a:rPr lang="en-US" altLang="en-US" sz="1400"/>
              <a:pPr>
                <a:spcBef>
                  <a:spcPct val="0"/>
                </a:spcBef>
                <a:buFontTx/>
                <a:buNone/>
              </a:pPr>
              <a:t>27</a:t>
            </a:fld>
            <a:endParaRPr lang="en-US" altLang="en-US" sz="14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533400" y="0"/>
            <a:ext cx="7772400" cy="1143000"/>
          </a:xfrm>
        </p:spPr>
        <p:txBody>
          <a:bodyPr/>
          <a:lstStyle/>
          <a:p>
            <a:r>
              <a:rPr lang="en-US" altLang="en-US" smtClean="0">
                <a:latin typeface="Gill Sans MT" pitchFamily="34" charset="0"/>
              </a:rPr>
              <a:t>The language of cryptography</a:t>
            </a:r>
          </a:p>
        </p:txBody>
      </p:sp>
      <p:grpSp>
        <p:nvGrpSpPr>
          <p:cNvPr id="56323" name="Group 4"/>
          <p:cNvGrpSpPr>
            <a:grpSpLocks/>
          </p:cNvGrpSpPr>
          <p:nvPr/>
        </p:nvGrpSpPr>
        <p:grpSpPr bwMode="auto">
          <a:xfrm>
            <a:off x="652463" y="1447800"/>
            <a:ext cx="7750175" cy="3309938"/>
            <a:chOff x="392" y="896"/>
            <a:chExt cx="4882" cy="2085"/>
          </a:xfrm>
        </p:grpSpPr>
        <p:sp>
          <p:nvSpPr>
            <p:cNvPr id="56326" name="Text Box 5"/>
            <p:cNvSpPr txBox="1">
              <a:spLocks noChangeArrowheads="1"/>
            </p:cNvSpPr>
            <p:nvPr/>
          </p:nvSpPr>
          <p:spPr bwMode="auto">
            <a:xfrm>
              <a:off x="392" y="1679"/>
              <a:ext cx="718"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plaintext</a:t>
              </a:r>
            </a:p>
          </p:txBody>
        </p:sp>
        <p:sp>
          <p:nvSpPr>
            <p:cNvPr id="56327" name="Text Box 6"/>
            <p:cNvSpPr txBox="1">
              <a:spLocks noChangeArrowheads="1"/>
            </p:cNvSpPr>
            <p:nvPr/>
          </p:nvSpPr>
          <p:spPr bwMode="auto">
            <a:xfrm>
              <a:off x="4517" y="1667"/>
              <a:ext cx="718"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plaintext</a:t>
              </a:r>
            </a:p>
          </p:txBody>
        </p:sp>
        <p:sp>
          <p:nvSpPr>
            <p:cNvPr id="56328" name="Text Box 7"/>
            <p:cNvSpPr txBox="1">
              <a:spLocks noChangeArrowheads="1"/>
            </p:cNvSpPr>
            <p:nvPr/>
          </p:nvSpPr>
          <p:spPr bwMode="auto">
            <a:xfrm>
              <a:off x="2442" y="1655"/>
              <a:ext cx="81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ciphertext</a:t>
              </a:r>
            </a:p>
          </p:txBody>
        </p:sp>
        <p:grpSp>
          <p:nvGrpSpPr>
            <p:cNvPr id="56329" name="Group 8"/>
            <p:cNvGrpSpPr>
              <a:grpSpLocks/>
            </p:cNvGrpSpPr>
            <p:nvPr/>
          </p:nvGrpSpPr>
          <p:grpSpPr bwMode="auto">
            <a:xfrm>
              <a:off x="1336" y="1036"/>
              <a:ext cx="335" cy="383"/>
              <a:chOff x="189" y="1789"/>
              <a:chExt cx="335" cy="383"/>
            </a:xfrm>
          </p:grpSpPr>
          <p:sp>
            <p:nvSpPr>
              <p:cNvPr id="56351" name="Text Box 9"/>
              <p:cNvSpPr txBox="1">
                <a:spLocks noChangeArrowheads="1"/>
              </p:cNvSpPr>
              <p:nvPr/>
            </p:nvSpPr>
            <p:spPr bwMode="auto">
              <a:xfrm>
                <a:off x="189" y="1789"/>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solidFill>
                      <a:srgbClr val="C00000"/>
                    </a:solidFill>
                    <a:cs typeface="Arial" panose="020B0604020202020204" pitchFamily="34" charset="0"/>
                  </a:rPr>
                  <a:t>K</a:t>
                </a:r>
              </a:p>
            </p:txBody>
          </p:sp>
          <p:sp>
            <p:nvSpPr>
              <p:cNvPr id="56352" name="Text Box 10"/>
              <p:cNvSpPr txBox="1">
                <a:spLocks noChangeArrowheads="1"/>
              </p:cNvSpPr>
              <p:nvPr/>
            </p:nvSpPr>
            <p:spPr bwMode="auto">
              <a:xfrm>
                <a:off x="291" y="1922"/>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A</a:t>
                </a:r>
              </a:p>
            </p:txBody>
          </p:sp>
        </p:grpSp>
        <p:pic>
          <p:nvPicPr>
            <p:cNvPr id="56330" name="Picture 11"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 y="1050"/>
              <a:ext cx="440"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1" name="Picture 12"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3" y="2165"/>
              <a:ext cx="682"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2" name="Rectangle 13"/>
            <p:cNvSpPr>
              <a:spLocks noChangeArrowheads="1"/>
            </p:cNvSpPr>
            <p:nvPr/>
          </p:nvSpPr>
          <p:spPr bwMode="auto">
            <a:xfrm>
              <a:off x="1249" y="1621"/>
              <a:ext cx="877" cy="50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800">
                <a:cs typeface="Arial" panose="020B0604020202020204" pitchFamily="34" charset="0"/>
              </a:endParaRPr>
            </a:p>
          </p:txBody>
        </p:sp>
        <p:sp>
          <p:nvSpPr>
            <p:cNvPr id="56333" name="Text Box 14"/>
            <p:cNvSpPr txBox="1">
              <a:spLocks noChangeArrowheads="1"/>
            </p:cNvSpPr>
            <p:nvPr/>
          </p:nvSpPr>
          <p:spPr bwMode="auto">
            <a:xfrm>
              <a:off x="1265" y="1627"/>
              <a:ext cx="86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chemeClr val="bg1"/>
                  </a:solidFill>
                  <a:cs typeface="Arial" panose="020B0604020202020204" pitchFamily="34" charset="0"/>
                </a:rPr>
                <a:t>encryption</a:t>
              </a:r>
            </a:p>
            <a:p>
              <a:pPr algn="ctr" eaLnBrk="1" hangingPunct="1">
                <a:spcBef>
                  <a:spcPct val="0"/>
                </a:spcBef>
                <a:buFontTx/>
                <a:buNone/>
              </a:pPr>
              <a:r>
                <a:rPr lang="en-US" altLang="en-US" sz="2000">
                  <a:solidFill>
                    <a:schemeClr val="bg1"/>
                  </a:solidFill>
                  <a:cs typeface="Arial" panose="020B0604020202020204" pitchFamily="34" charset="0"/>
                </a:rPr>
                <a:t>algorithm</a:t>
              </a:r>
            </a:p>
          </p:txBody>
        </p:sp>
        <p:sp>
          <p:nvSpPr>
            <p:cNvPr id="56334" name="Rectangle 15"/>
            <p:cNvSpPr>
              <a:spLocks noChangeArrowheads="1"/>
            </p:cNvSpPr>
            <p:nvPr/>
          </p:nvSpPr>
          <p:spPr bwMode="auto">
            <a:xfrm>
              <a:off x="3606" y="1629"/>
              <a:ext cx="868" cy="50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800">
                <a:cs typeface="Arial" panose="020B0604020202020204" pitchFamily="34" charset="0"/>
              </a:endParaRPr>
            </a:p>
          </p:txBody>
        </p:sp>
        <p:sp>
          <p:nvSpPr>
            <p:cNvPr id="56335" name="Text Box 16"/>
            <p:cNvSpPr txBox="1">
              <a:spLocks noChangeArrowheads="1"/>
            </p:cNvSpPr>
            <p:nvPr/>
          </p:nvSpPr>
          <p:spPr bwMode="auto">
            <a:xfrm>
              <a:off x="3619" y="1644"/>
              <a:ext cx="90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chemeClr val="bg1"/>
                  </a:solidFill>
                  <a:cs typeface="Arial" panose="020B0604020202020204" pitchFamily="34" charset="0"/>
                </a:rPr>
                <a:t>decryption </a:t>
              </a:r>
            </a:p>
            <a:p>
              <a:pPr algn="ctr" eaLnBrk="1" hangingPunct="1">
                <a:spcBef>
                  <a:spcPct val="0"/>
                </a:spcBef>
                <a:buFontTx/>
                <a:buNone/>
              </a:pPr>
              <a:r>
                <a:rPr lang="en-US" altLang="en-US" sz="2000">
                  <a:solidFill>
                    <a:schemeClr val="bg1"/>
                  </a:solidFill>
                  <a:cs typeface="Arial" panose="020B0604020202020204" pitchFamily="34" charset="0"/>
                </a:rPr>
                <a:t>algorithm</a:t>
              </a:r>
            </a:p>
          </p:txBody>
        </p:sp>
        <p:sp>
          <p:nvSpPr>
            <p:cNvPr id="56336" name="Line 17"/>
            <p:cNvSpPr>
              <a:spLocks noChangeShapeType="1"/>
            </p:cNvSpPr>
            <p:nvPr/>
          </p:nvSpPr>
          <p:spPr bwMode="auto">
            <a:xfrm>
              <a:off x="2144" y="1881"/>
              <a:ext cx="1450" cy="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6337" name="Freeform 18"/>
            <p:cNvSpPr>
              <a:spLocks/>
            </p:cNvSpPr>
            <p:nvPr/>
          </p:nvSpPr>
          <p:spPr bwMode="auto">
            <a:xfrm>
              <a:off x="2446" y="1914"/>
              <a:ext cx="361" cy="576"/>
            </a:xfrm>
            <a:custGeom>
              <a:avLst/>
              <a:gdLst>
                <a:gd name="T0" fmla="*/ 0 w 344"/>
                <a:gd name="T1" fmla="*/ 0 h 789"/>
                <a:gd name="T2" fmla="*/ 1039 w 344"/>
                <a:gd name="T3" fmla="*/ 1 h 789"/>
                <a:gd name="T4" fmla="*/ 1100 w 344"/>
                <a:gd name="T5" fmla="*/ 1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190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38" name="Freeform 19"/>
            <p:cNvSpPr>
              <a:spLocks/>
            </p:cNvSpPr>
            <p:nvPr/>
          </p:nvSpPr>
          <p:spPr bwMode="auto">
            <a:xfrm flipH="1">
              <a:off x="2871" y="1913"/>
              <a:ext cx="361" cy="576"/>
            </a:xfrm>
            <a:custGeom>
              <a:avLst/>
              <a:gdLst>
                <a:gd name="T0" fmla="*/ 0 w 344"/>
                <a:gd name="T1" fmla="*/ 0 h 789"/>
                <a:gd name="T2" fmla="*/ 1039 w 344"/>
                <a:gd name="T3" fmla="*/ 1 h 789"/>
                <a:gd name="T4" fmla="*/ 1100 w 344"/>
                <a:gd name="T5" fmla="*/ 1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1905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6339" name="Line 20"/>
            <p:cNvSpPr>
              <a:spLocks noChangeShapeType="1"/>
            </p:cNvSpPr>
            <p:nvPr/>
          </p:nvSpPr>
          <p:spPr bwMode="auto">
            <a:xfrm flipH="1">
              <a:off x="1495" y="1382"/>
              <a:ext cx="1" cy="24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6340" name="Line 21"/>
            <p:cNvSpPr>
              <a:spLocks noChangeShapeType="1"/>
            </p:cNvSpPr>
            <p:nvPr/>
          </p:nvSpPr>
          <p:spPr bwMode="auto">
            <a:xfrm flipH="1">
              <a:off x="3744" y="1363"/>
              <a:ext cx="1" cy="24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6341" name="Text Box 22"/>
            <p:cNvSpPr txBox="1">
              <a:spLocks noChangeArrowheads="1"/>
            </p:cNvSpPr>
            <p:nvPr/>
          </p:nvSpPr>
          <p:spPr bwMode="auto">
            <a:xfrm>
              <a:off x="1603" y="897"/>
              <a:ext cx="950" cy="6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000">
                  <a:cs typeface="Arial" panose="020B0604020202020204" pitchFamily="34" charset="0"/>
                </a:rPr>
                <a:t>Alice</a:t>
              </a:r>
              <a:r>
                <a:rPr lang="ja-JP" altLang="en-US" sz="2000">
                  <a:cs typeface="Arial" panose="020B0604020202020204" pitchFamily="34" charset="0"/>
                </a:rPr>
                <a:t>’</a:t>
              </a:r>
              <a:r>
                <a:rPr lang="en-US" altLang="ja-JP" sz="2000">
                  <a:cs typeface="Arial" panose="020B0604020202020204" pitchFamily="34" charset="0"/>
                </a:rPr>
                <a:t>s </a:t>
              </a:r>
            </a:p>
            <a:p>
              <a:pPr eaLnBrk="1" hangingPunct="1">
                <a:spcBef>
                  <a:spcPct val="0"/>
                </a:spcBef>
                <a:buFontTx/>
                <a:buNone/>
              </a:pPr>
              <a:r>
                <a:rPr lang="en-US" altLang="en-US" sz="2000">
                  <a:cs typeface="Arial" panose="020B0604020202020204" pitchFamily="34" charset="0"/>
                </a:rPr>
                <a:t>encryption</a:t>
              </a:r>
            </a:p>
            <a:p>
              <a:pPr eaLnBrk="1" hangingPunct="1">
                <a:spcBef>
                  <a:spcPct val="0"/>
                </a:spcBef>
                <a:buFontTx/>
                <a:buNone/>
              </a:pPr>
              <a:r>
                <a:rPr lang="en-US" altLang="en-US" sz="2000">
                  <a:cs typeface="Arial" panose="020B0604020202020204" pitchFamily="34" charset="0"/>
                </a:rPr>
                <a:t>key</a:t>
              </a:r>
            </a:p>
          </p:txBody>
        </p:sp>
        <p:sp>
          <p:nvSpPr>
            <p:cNvPr id="56342" name="Text Box 23"/>
            <p:cNvSpPr txBox="1">
              <a:spLocks noChangeArrowheads="1"/>
            </p:cNvSpPr>
            <p:nvPr/>
          </p:nvSpPr>
          <p:spPr bwMode="auto">
            <a:xfrm>
              <a:off x="3896" y="940"/>
              <a:ext cx="950" cy="6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000">
                  <a:cs typeface="Arial" panose="020B0604020202020204" pitchFamily="34" charset="0"/>
                </a:rPr>
                <a:t>Bob</a:t>
              </a:r>
              <a:r>
                <a:rPr lang="ja-JP" altLang="en-US" sz="2000">
                  <a:cs typeface="Arial" panose="020B0604020202020204" pitchFamily="34" charset="0"/>
                </a:rPr>
                <a:t>’</a:t>
              </a:r>
              <a:r>
                <a:rPr lang="en-US" altLang="ja-JP" sz="2000">
                  <a:cs typeface="Arial" panose="020B0604020202020204" pitchFamily="34" charset="0"/>
                </a:rPr>
                <a:t>s </a:t>
              </a:r>
            </a:p>
            <a:p>
              <a:pPr eaLnBrk="1" hangingPunct="1">
                <a:spcBef>
                  <a:spcPct val="0"/>
                </a:spcBef>
                <a:buFontTx/>
                <a:buNone/>
              </a:pPr>
              <a:r>
                <a:rPr lang="en-US" altLang="en-US" sz="2000">
                  <a:cs typeface="Arial" panose="020B0604020202020204" pitchFamily="34" charset="0"/>
                </a:rPr>
                <a:t>decryption</a:t>
              </a:r>
            </a:p>
            <a:p>
              <a:pPr eaLnBrk="1" hangingPunct="1">
                <a:spcBef>
                  <a:spcPct val="0"/>
                </a:spcBef>
                <a:buFontTx/>
                <a:buNone/>
              </a:pPr>
              <a:r>
                <a:rPr lang="en-US" altLang="en-US" sz="2000">
                  <a:cs typeface="Arial" panose="020B0604020202020204" pitchFamily="34" charset="0"/>
                </a:rPr>
                <a:t>key</a:t>
              </a:r>
            </a:p>
          </p:txBody>
        </p:sp>
        <p:pic>
          <p:nvPicPr>
            <p:cNvPr id="56343" name="Picture 24"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 y="1178"/>
              <a:ext cx="51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44" name="Group 25"/>
            <p:cNvGrpSpPr>
              <a:grpSpLocks/>
            </p:cNvGrpSpPr>
            <p:nvPr/>
          </p:nvGrpSpPr>
          <p:grpSpPr bwMode="auto">
            <a:xfrm>
              <a:off x="3650" y="1118"/>
              <a:ext cx="360" cy="385"/>
              <a:chOff x="189" y="1789"/>
              <a:chExt cx="360" cy="385"/>
            </a:xfrm>
          </p:grpSpPr>
          <p:sp>
            <p:nvSpPr>
              <p:cNvPr id="56349" name="Text Box 26"/>
              <p:cNvSpPr txBox="1">
                <a:spLocks noChangeArrowheads="1"/>
              </p:cNvSpPr>
              <p:nvPr/>
            </p:nvSpPr>
            <p:spPr bwMode="auto">
              <a:xfrm>
                <a:off x="189" y="1789"/>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solidFill>
                      <a:srgbClr val="C00000"/>
                    </a:solidFill>
                    <a:cs typeface="Arial" panose="020B0604020202020204" pitchFamily="34" charset="0"/>
                  </a:rPr>
                  <a:t>K</a:t>
                </a:r>
              </a:p>
            </p:txBody>
          </p:sp>
          <p:sp>
            <p:nvSpPr>
              <p:cNvPr id="56350" name="Text Box 27"/>
              <p:cNvSpPr txBox="1">
                <a:spLocks noChangeArrowheads="1"/>
              </p:cNvSpPr>
              <p:nvPr/>
            </p:nvSpPr>
            <p:spPr bwMode="auto">
              <a:xfrm>
                <a:off x="325" y="1922"/>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B</a:t>
                </a:r>
              </a:p>
            </p:txBody>
          </p:sp>
        </p:grpSp>
        <p:sp>
          <p:nvSpPr>
            <p:cNvPr id="56345" name="Line 28"/>
            <p:cNvSpPr>
              <a:spLocks noChangeShapeType="1"/>
            </p:cNvSpPr>
            <p:nvPr/>
          </p:nvSpPr>
          <p:spPr bwMode="auto">
            <a:xfrm>
              <a:off x="780" y="1897"/>
              <a:ext cx="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6346" name="Line 29"/>
            <p:cNvSpPr>
              <a:spLocks noChangeShapeType="1"/>
            </p:cNvSpPr>
            <p:nvPr/>
          </p:nvSpPr>
          <p:spPr bwMode="auto">
            <a:xfrm>
              <a:off x="4518" y="1904"/>
              <a:ext cx="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56347" name="Picture 30" descr="BS00768_[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1371" y="896"/>
              <a:ext cx="293"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8" name="Picture 31" descr="BS00768_[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3625" y="955"/>
              <a:ext cx="293"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6324" name="Picture 19"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113" y="784225"/>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Slide Number Placeholder 3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3CEE8F25-D374-45C8-8F92-04C4F67C7799}" type="slidenum">
              <a:rPr lang="en-US" altLang="en-US" sz="1400"/>
              <a:pPr>
                <a:spcBef>
                  <a:spcPct val="0"/>
                </a:spcBef>
                <a:buFontTx/>
                <a:buNone/>
              </a:pPr>
              <a:t>28</a:t>
            </a:fld>
            <a:endParaRPr lang="en-US" altLang="en-US" sz="14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81000" y="141288"/>
            <a:ext cx="7772400" cy="1143000"/>
          </a:xfrm>
        </p:spPr>
        <p:txBody>
          <a:bodyPr/>
          <a:lstStyle/>
          <a:p>
            <a:r>
              <a:rPr lang="en-US" altLang="en-US" smtClean="0">
                <a:latin typeface="Gill Sans MT" pitchFamily="34" charset="0"/>
              </a:rPr>
              <a:t>Symmetric key cryptography</a:t>
            </a:r>
          </a:p>
        </p:txBody>
      </p:sp>
      <p:sp>
        <p:nvSpPr>
          <p:cNvPr id="57347" name="Rectangle 3"/>
          <p:cNvSpPr>
            <a:spLocks noGrp="1" noChangeArrowheads="1"/>
          </p:cNvSpPr>
          <p:nvPr>
            <p:ph type="body" idx="1"/>
          </p:nvPr>
        </p:nvSpPr>
        <p:spPr>
          <a:xfrm>
            <a:off x="625475" y="4021138"/>
            <a:ext cx="8218488" cy="1979612"/>
          </a:xfrm>
        </p:spPr>
        <p:txBody>
          <a:bodyPr/>
          <a:lstStyle/>
          <a:p>
            <a:pPr>
              <a:lnSpc>
                <a:spcPct val="90000"/>
              </a:lnSpc>
              <a:buFont typeface="Wingdings" panose="05000000000000000000" pitchFamily="2" charset="2"/>
              <a:buNone/>
            </a:pPr>
            <a:r>
              <a:rPr lang="en-US" altLang="en-US" sz="2400" smtClean="0">
                <a:solidFill>
                  <a:srgbClr val="C00000"/>
                </a:solidFill>
                <a:latin typeface="Gill Sans MT" pitchFamily="34" charset="0"/>
              </a:rPr>
              <a:t>symmetric key crypto</a:t>
            </a:r>
            <a:r>
              <a:rPr lang="en-US" altLang="en-US" sz="2400" smtClean="0">
                <a:latin typeface="Gill Sans MT" pitchFamily="34" charset="0"/>
              </a:rPr>
              <a:t>: Bob and Alice share same (symmetric) key: K</a:t>
            </a:r>
          </a:p>
          <a:p>
            <a:pPr>
              <a:lnSpc>
                <a:spcPct val="90000"/>
              </a:lnSpc>
              <a:buFont typeface="Wingdings" panose="05000000000000000000" pitchFamily="2" charset="2"/>
              <a:buNone/>
            </a:pPr>
            <a:endParaRPr lang="en-US" altLang="en-US" sz="2400" i="1" u="sng" smtClean="0">
              <a:solidFill>
                <a:srgbClr val="C00000"/>
              </a:solidFill>
              <a:latin typeface="Gill Sans MT" pitchFamily="34" charset="0"/>
            </a:endParaRPr>
          </a:p>
          <a:p>
            <a:pPr>
              <a:lnSpc>
                <a:spcPct val="90000"/>
              </a:lnSpc>
              <a:buFont typeface="Wingdings" panose="05000000000000000000" pitchFamily="2" charset="2"/>
              <a:buNone/>
            </a:pPr>
            <a:r>
              <a:rPr lang="en-US" altLang="en-US" sz="2400" i="1" u="sng" smtClean="0">
                <a:solidFill>
                  <a:srgbClr val="C00000"/>
                </a:solidFill>
                <a:latin typeface="Gill Sans MT" pitchFamily="34" charset="0"/>
              </a:rPr>
              <a:t>Q:</a:t>
            </a:r>
            <a:r>
              <a:rPr lang="en-US" altLang="en-US" sz="2400" i="1" smtClean="0">
                <a:solidFill>
                  <a:srgbClr val="C00000"/>
                </a:solidFill>
                <a:latin typeface="Gill Sans MT" pitchFamily="34" charset="0"/>
              </a:rPr>
              <a:t> </a:t>
            </a:r>
            <a:r>
              <a:rPr lang="en-US" altLang="en-US" sz="2400" smtClean="0">
                <a:latin typeface="Gill Sans MT" pitchFamily="34" charset="0"/>
              </a:rPr>
              <a:t>how do Bob and Alice agree on key value?</a:t>
            </a:r>
            <a:endParaRPr lang="en-US" altLang="en-US" sz="2400" i="1" smtClean="0">
              <a:latin typeface="Gill Sans MT" pitchFamily="34" charset="0"/>
            </a:endParaRPr>
          </a:p>
        </p:txBody>
      </p:sp>
      <p:sp>
        <p:nvSpPr>
          <p:cNvPr id="57348" name="Text Box 4"/>
          <p:cNvSpPr txBox="1">
            <a:spLocks noChangeArrowheads="1"/>
          </p:cNvSpPr>
          <p:nvPr/>
        </p:nvSpPr>
        <p:spPr bwMode="auto">
          <a:xfrm>
            <a:off x="6546850" y="2632075"/>
            <a:ext cx="11414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plaintext</a:t>
            </a:r>
          </a:p>
        </p:txBody>
      </p:sp>
      <p:sp>
        <p:nvSpPr>
          <p:cNvPr id="57349" name="Text Box 5"/>
          <p:cNvSpPr txBox="1">
            <a:spLocks noChangeArrowheads="1"/>
          </p:cNvSpPr>
          <p:nvPr/>
        </p:nvSpPr>
        <p:spPr bwMode="auto">
          <a:xfrm>
            <a:off x="3543300" y="2613025"/>
            <a:ext cx="12954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ciphertext</a:t>
            </a:r>
          </a:p>
        </p:txBody>
      </p:sp>
      <p:grpSp>
        <p:nvGrpSpPr>
          <p:cNvPr id="57350" name="Group 6"/>
          <p:cNvGrpSpPr>
            <a:grpSpLocks/>
          </p:cNvGrpSpPr>
          <p:nvPr/>
        </p:nvGrpSpPr>
        <p:grpSpPr bwMode="auto">
          <a:xfrm>
            <a:off x="2165350" y="1716088"/>
            <a:ext cx="642938" cy="579437"/>
            <a:chOff x="1382" y="1036"/>
            <a:chExt cx="405" cy="365"/>
          </a:xfrm>
        </p:grpSpPr>
        <p:sp>
          <p:nvSpPr>
            <p:cNvPr id="57374" name="Text Box 7"/>
            <p:cNvSpPr txBox="1">
              <a:spLocks noChangeArrowheads="1"/>
            </p:cNvSpPr>
            <p:nvPr/>
          </p:nvSpPr>
          <p:spPr bwMode="auto">
            <a:xfrm>
              <a:off x="1382" y="1036"/>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solidFill>
                    <a:srgbClr val="C00000"/>
                  </a:solidFill>
                  <a:cs typeface="Arial" panose="020B0604020202020204" pitchFamily="34" charset="0"/>
                </a:rPr>
                <a:t>K</a:t>
              </a:r>
            </a:p>
          </p:txBody>
        </p:sp>
        <p:sp>
          <p:nvSpPr>
            <p:cNvPr id="57375" name="Text Box 8"/>
            <p:cNvSpPr txBox="1">
              <a:spLocks noChangeArrowheads="1"/>
            </p:cNvSpPr>
            <p:nvPr/>
          </p:nvSpPr>
          <p:spPr bwMode="auto">
            <a:xfrm>
              <a:off x="1560" y="1151"/>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S</a:t>
              </a:r>
            </a:p>
          </p:txBody>
        </p:sp>
      </p:grpSp>
      <p:pic>
        <p:nvPicPr>
          <p:cNvPr id="57351" name="Picture 9"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950" y="1666875"/>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2" name="Rectangle 10"/>
          <p:cNvSpPr>
            <a:spLocks noChangeArrowheads="1"/>
          </p:cNvSpPr>
          <p:nvPr/>
        </p:nvSpPr>
        <p:spPr bwMode="auto">
          <a:xfrm>
            <a:off x="1982788" y="2573338"/>
            <a:ext cx="1392237" cy="80327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800">
              <a:cs typeface="Arial" panose="020B0604020202020204" pitchFamily="34" charset="0"/>
            </a:endParaRPr>
          </a:p>
        </p:txBody>
      </p:sp>
      <p:sp>
        <p:nvSpPr>
          <p:cNvPr id="57353" name="Text Box 11"/>
          <p:cNvSpPr txBox="1">
            <a:spLocks noChangeArrowheads="1"/>
          </p:cNvSpPr>
          <p:nvPr/>
        </p:nvSpPr>
        <p:spPr bwMode="auto">
          <a:xfrm>
            <a:off x="2008188" y="2582863"/>
            <a:ext cx="1368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chemeClr val="bg1"/>
                </a:solidFill>
                <a:cs typeface="Arial" panose="020B0604020202020204" pitchFamily="34" charset="0"/>
              </a:rPr>
              <a:t>encryption</a:t>
            </a:r>
          </a:p>
          <a:p>
            <a:pPr algn="ctr" eaLnBrk="1" hangingPunct="1">
              <a:spcBef>
                <a:spcPct val="0"/>
              </a:spcBef>
              <a:buFontTx/>
              <a:buNone/>
            </a:pPr>
            <a:r>
              <a:rPr lang="en-US" altLang="en-US" sz="2000">
                <a:solidFill>
                  <a:schemeClr val="bg1"/>
                </a:solidFill>
                <a:cs typeface="Arial" panose="020B0604020202020204" pitchFamily="34" charset="0"/>
              </a:rPr>
              <a:t>algorithm</a:t>
            </a:r>
          </a:p>
        </p:txBody>
      </p:sp>
      <p:sp>
        <p:nvSpPr>
          <p:cNvPr id="57354" name="Rectangle 12"/>
          <p:cNvSpPr>
            <a:spLocks noChangeArrowheads="1"/>
          </p:cNvSpPr>
          <p:nvPr/>
        </p:nvSpPr>
        <p:spPr bwMode="auto">
          <a:xfrm>
            <a:off x="5100638" y="2571750"/>
            <a:ext cx="1377950" cy="80327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800">
              <a:cs typeface="Arial" panose="020B0604020202020204" pitchFamily="34" charset="0"/>
            </a:endParaRPr>
          </a:p>
        </p:txBody>
      </p:sp>
      <p:sp>
        <p:nvSpPr>
          <p:cNvPr id="57355" name="Text Box 13"/>
          <p:cNvSpPr txBox="1">
            <a:spLocks noChangeArrowheads="1"/>
          </p:cNvSpPr>
          <p:nvPr/>
        </p:nvSpPr>
        <p:spPr bwMode="auto">
          <a:xfrm>
            <a:off x="5121275" y="2595563"/>
            <a:ext cx="14382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chemeClr val="bg1"/>
                </a:solidFill>
                <a:cs typeface="Arial" panose="020B0604020202020204" pitchFamily="34" charset="0"/>
              </a:rPr>
              <a:t>decryption </a:t>
            </a:r>
          </a:p>
          <a:p>
            <a:pPr algn="ctr" eaLnBrk="1" hangingPunct="1">
              <a:spcBef>
                <a:spcPct val="0"/>
              </a:spcBef>
              <a:buFontTx/>
              <a:buNone/>
            </a:pPr>
            <a:r>
              <a:rPr lang="en-US" altLang="en-US" sz="2000">
                <a:solidFill>
                  <a:schemeClr val="bg1"/>
                </a:solidFill>
                <a:cs typeface="Arial" panose="020B0604020202020204" pitchFamily="34" charset="0"/>
              </a:rPr>
              <a:t>algorithm</a:t>
            </a:r>
          </a:p>
        </p:txBody>
      </p:sp>
      <p:sp>
        <p:nvSpPr>
          <p:cNvPr id="57356" name="Line 14"/>
          <p:cNvSpPr>
            <a:spLocks noChangeShapeType="1"/>
          </p:cNvSpPr>
          <p:nvPr/>
        </p:nvSpPr>
        <p:spPr bwMode="auto">
          <a:xfrm>
            <a:off x="3403600" y="2986088"/>
            <a:ext cx="1692275" cy="79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7357" name="Line 15"/>
          <p:cNvSpPr>
            <a:spLocks noChangeShapeType="1"/>
          </p:cNvSpPr>
          <p:nvPr/>
        </p:nvSpPr>
        <p:spPr bwMode="auto">
          <a:xfrm flipH="1">
            <a:off x="2373313" y="2193925"/>
            <a:ext cx="1587" cy="3921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57358" name="Picture 16"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5788" y="18557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9" name="Line 17"/>
          <p:cNvSpPr>
            <a:spLocks noChangeShapeType="1"/>
          </p:cNvSpPr>
          <p:nvPr/>
        </p:nvSpPr>
        <p:spPr bwMode="auto">
          <a:xfrm>
            <a:off x="1238250" y="3011488"/>
            <a:ext cx="674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7360" name="Line 18"/>
          <p:cNvSpPr>
            <a:spLocks noChangeShapeType="1"/>
          </p:cNvSpPr>
          <p:nvPr/>
        </p:nvSpPr>
        <p:spPr bwMode="auto">
          <a:xfrm>
            <a:off x="6548438" y="3008313"/>
            <a:ext cx="6746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57361" name="Picture 19" descr="BS00768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2511425" y="1639888"/>
            <a:ext cx="465138"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62" name="Text Box 20"/>
          <p:cNvSpPr txBox="1">
            <a:spLocks noChangeArrowheads="1"/>
          </p:cNvSpPr>
          <p:nvPr/>
        </p:nvSpPr>
        <p:spPr bwMode="auto">
          <a:xfrm>
            <a:off x="1773238" y="4481513"/>
            <a:ext cx="3254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S</a:t>
            </a:r>
          </a:p>
        </p:txBody>
      </p:sp>
      <p:grpSp>
        <p:nvGrpSpPr>
          <p:cNvPr id="57363" name="Group 21"/>
          <p:cNvGrpSpPr>
            <a:grpSpLocks/>
          </p:cNvGrpSpPr>
          <p:nvPr/>
        </p:nvGrpSpPr>
        <p:grpSpPr bwMode="auto">
          <a:xfrm>
            <a:off x="5351463" y="1665288"/>
            <a:ext cx="642937" cy="579437"/>
            <a:chOff x="1382" y="1036"/>
            <a:chExt cx="405" cy="365"/>
          </a:xfrm>
        </p:grpSpPr>
        <p:sp>
          <p:nvSpPr>
            <p:cNvPr id="57372" name="Text Box 22"/>
            <p:cNvSpPr txBox="1">
              <a:spLocks noChangeArrowheads="1"/>
            </p:cNvSpPr>
            <p:nvPr/>
          </p:nvSpPr>
          <p:spPr bwMode="auto">
            <a:xfrm>
              <a:off x="1382" y="1036"/>
              <a:ext cx="246" cy="2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solidFill>
                    <a:srgbClr val="C00000"/>
                  </a:solidFill>
                  <a:cs typeface="Arial" panose="020B0604020202020204" pitchFamily="34" charset="0"/>
                </a:rPr>
                <a:t>K</a:t>
              </a:r>
            </a:p>
          </p:txBody>
        </p:sp>
        <p:sp>
          <p:nvSpPr>
            <p:cNvPr id="57373" name="Text Box 23"/>
            <p:cNvSpPr txBox="1">
              <a:spLocks noChangeArrowheads="1"/>
            </p:cNvSpPr>
            <p:nvPr/>
          </p:nvSpPr>
          <p:spPr bwMode="auto">
            <a:xfrm>
              <a:off x="1560" y="1151"/>
              <a:ext cx="2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S</a:t>
              </a:r>
            </a:p>
          </p:txBody>
        </p:sp>
      </p:grpSp>
      <p:sp>
        <p:nvSpPr>
          <p:cNvPr id="57364" name="Line 24"/>
          <p:cNvSpPr>
            <a:spLocks noChangeShapeType="1"/>
          </p:cNvSpPr>
          <p:nvPr/>
        </p:nvSpPr>
        <p:spPr bwMode="auto">
          <a:xfrm flipH="1">
            <a:off x="5559425" y="2143125"/>
            <a:ext cx="1588" cy="3921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57365" name="Picture 25" descr="BS00768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5697538" y="1589088"/>
            <a:ext cx="46513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66" name="Text Box 26"/>
          <p:cNvSpPr txBox="1">
            <a:spLocks noChangeArrowheads="1"/>
          </p:cNvSpPr>
          <p:nvPr/>
        </p:nvSpPr>
        <p:spPr bwMode="auto">
          <a:xfrm>
            <a:off x="355600" y="2643188"/>
            <a:ext cx="15795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plaintext</a:t>
            </a:r>
          </a:p>
          <a:p>
            <a:pPr algn="ctr" eaLnBrk="1" hangingPunct="1">
              <a:spcBef>
                <a:spcPct val="0"/>
              </a:spcBef>
              <a:buFontTx/>
              <a:buNone/>
            </a:pPr>
            <a:r>
              <a:rPr lang="en-US" altLang="en-US" sz="2000">
                <a:solidFill>
                  <a:srgbClr val="C00000"/>
                </a:solidFill>
                <a:cs typeface="Arial" panose="020B0604020202020204" pitchFamily="34" charset="0"/>
              </a:rPr>
              <a:t>message, m</a:t>
            </a:r>
          </a:p>
        </p:txBody>
      </p:sp>
      <p:sp>
        <p:nvSpPr>
          <p:cNvPr id="57367" name="Text Box 27"/>
          <p:cNvSpPr txBox="1">
            <a:spLocks noChangeArrowheads="1"/>
          </p:cNvSpPr>
          <p:nvPr/>
        </p:nvSpPr>
        <p:spPr bwMode="auto">
          <a:xfrm>
            <a:off x="3662363" y="3149600"/>
            <a:ext cx="1028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K    (m)</a:t>
            </a:r>
          </a:p>
        </p:txBody>
      </p:sp>
      <p:sp>
        <p:nvSpPr>
          <p:cNvPr id="57368" name="Text Box 28"/>
          <p:cNvSpPr txBox="1">
            <a:spLocks noChangeArrowheads="1"/>
          </p:cNvSpPr>
          <p:nvPr/>
        </p:nvSpPr>
        <p:spPr bwMode="auto">
          <a:xfrm>
            <a:off x="3914775" y="3341688"/>
            <a:ext cx="3254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rgbClr val="FF0000"/>
                </a:solidFill>
                <a:cs typeface="Arial" panose="020B0604020202020204" pitchFamily="34" charset="0"/>
              </a:rPr>
              <a:t>S</a:t>
            </a:r>
          </a:p>
        </p:txBody>
      </p:sp>
      <p:sp>
        <p:nvSpPr>
          <p:cNvPr id="57369" name="Text Box 35"/>
          <p:cNvSpPr txBox="1">
            <a:spLocks noChangeArrowheads="1"/>
          </p:cNvSpPr>
          <p:nvPr/>
        </p:nvSpPr>
        <p:spPr bwMode="auto">
          <a:xfrm>
            <a:off x="6689725" y="3141663"/>
            <a:ext cx="1811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2000">
                <a:solidFill>
                  <a:srgbClr val="C00000"/>
                </a:solidFill>
                <a:cs typeface="Arial" panose="020B0604020202020204" pitchFamily="34" charset="0"/>
              </a:rPr>
              <a:t>m = K</a:t>
            </a:r>
            <a:r>
              <a:rPr lang="en-US" altLang="en-US" sz="2000" baseline="-25000">
                <a:solidFill>
                  <a:srgbClr val="C00000"/>
                </a:solidFill>
                <a:cs typeface="Arial" panose="020B0604020202020204" pitchFamily="34" charset="0"/>
              </a:rPr>
              <a:t>S</a:t>
            </a:r>
            <a:r>
              <a:rPr lang="en-US" altLang="en-US" sz="2000">
                <a:solidFill>
                  <a:srgbClr val="C00000"/>
                </a:solidFill>
                <a:cs typeface="Arial" panose="020B0604020202020204" pitchFamily="34" charset="0"/>
              </a:rPr>
              <a:t>(K</a:t>
            </a:r>
            <a:r>
              <a:rPr lang="en-US" altLang="en-US" sz="2000" baseline="-25000">
                <a:solidFill>
                  <a:srgbClr val="C00000"/>
                </a:solidFill>
                <a:cs typeface="Arial" panose="020B0604020202020204" pitchFamily="34" charset="0"/>
              </a:rPr>
              <a:t>S</a:t>
            </a:r>
            <a:r>
              <a:rPr lang="en-US" altLang="en-US" sz="2000">
                <a:solidFill>
                  <a:srgbClr val="C00000"/>
                </a:solidFill>
                <a:cs typeface="Arial" panose="020B0604020202020204" pitchFamily="34" charset="0"/>
              </a:rPr>
              <a:t>(m))</a:t>
            </a:r>
          </a:p>
        </p:txBody>
      </p:sp>
      <p:pic>
        <p:nvPicPr>
          <p:cNvPr id="57370" name="Picture 20"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 y="95091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71" name="Slide Number Placeholder 3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4B1C66F6-854F-4885-A5BE-91331B8FC44E}" type="slidenum">
              <a:rPr lang="en-US" altLang="en-US" sz="1400"/>
              <a:pPr>
                <a:spcBef>
                  <a:spcPct val="0"/>
                </a:spcBef>
                <a:buFontTx/>
                <a:buNone/>
              </a:pPr>
              <a:t>29</a:t>
            </a:fld>
            <a:endParaRPr lang="en-US" altLang="en-US" sz="140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81000" y="141288"/>
            <a:ext cx="7772400" cy="1143000"/>
          </a:xfrm>
        </p:spPr>
        <p:txBody>
          <a:bodyPr/>
          <a:lstStyle/>
          <a:p>
            <a:r>
              <a:rPr lang="en-US" altLang="en-US" smtClean="0">
                <a:latin typeface="Gill Sans MT" pitchFamily="34" charset="0"/>
              </a:rPr>
              <a:t>Symmetric key cryptography</a:t>
            </a:r>
          </a:p>
        </p:txBody>
      </p:sp>
      <p:sp>
        <p:nvSpPr>
          <p:cNvPr id="17411" name="Rectangle 3"/>
          <p:cNvSpPr>
            <a:spLocks noGrp="1" noChangeArrowheads="1"/>
          </p:cNvSpPr>
          <p:nvPr>
            <p:ph type="body" idx="1"/>
          </p:nvPr>
        </p:nvSpPr>
        <p:spPr>
          <a:xfrm>
            <a:off x="457200" y="1295400"/>
            <a:ext cx="8218488" cy="1979613"/>
          </a:xfrm>
        </p:spPr>
        <p:txBody>
          <a:bodyPr/>
          <a:lstStyle/>
          <a:p>
            <a:pPr>
              <a:lnSpc>
                <a:spcPct val="90000"/>
              </a:lnSpc>
              <a:buFont typeface="Wingdings" pitchFamily="2" charset="2"/>
              <a:buNone/>
              <a:defRPr/>
            </a:pPr>
            <a:r>
              <a:rPr lang="en-US" altLang="en-US" sz="2000" dirty="0">
                <a:solidFill>
                  <a:srgbClr val="C00000"/>
                </a:solidFill>
                <a:latin typeface="Gill Sans MT" pitchFamily="34" charset="0"/>
                <a:ea typeface="+mn-ea"/>
              </a:rPr>
              <a:t>Advantages: </a:t>
            </a:r>
          </a:p>
          <a:p>
            <a:pPr>
              <a:lnSpc>
                <a:spcPct val="90000"/>
              </a:lnSpc>
              <a:defRPr/>
            </a:pPr>
            <a:r>
              <a:rPr lang="en-US" altLang="en-US" sz="2000" i="1" dirty="0">
                <a:solidFill>
                  <a:schemeClr val="accent6">
                    <a:lumMod val="50000"/>
                  </a:schemeClr>
                </a:solidFill>
                <a:latin typeface="Gill Sans MT" pitchFamily="34" charset="0"/>
                <a:ea typeface="+mn-ea"/>
              </a:rPr>
              <a:t>Simple</a:t>
            </a:r>
          </a:p>
          <a:p>
            <a:pPr>
              <a:lnSpc>
                <a:spcPct val="90000"/>
              </a:lnSpc>
              <a:defRPr/>
            </a:pPr>
            <a:r>
              <a:rPr lang="en-US" altLang="en-US" sz="2000" i="1" dirty="0">
                <a:solidFill>
                  <a:schemeClr val="accent6">
                    <a:lumMod val="50000"/>
                  </a:schemeClr>
                </a:solidFill>
                <a:latin typeface="Gill Sans MT" pitchFamily="34" charset="0"/>
                <a:ea typeface="+mn-ea"/>
              </a:rPr>
              <a:t>Fast</a:t>
            </a:r>
          </a:p>
          <a:p>
            <a:pPr>
              <a:lnSpc>
                <a:spcPct val="90000"/>
              </a:lnSpc>
              <a:defRPr/>
            </a:pPr>
            <a:r>
              <a:rPr lang="en-GB" altLang="en-US" sz="2000" i="1" dirty="0">
                <a:solidFill>
                  <a:schemeClr val="accent6">
                    <a:lumMod val="50000"/>
                  </a:schemeClr>
                </a:solidFill>
                <a:latin typeface="Gill Sans MT" pitchFamily="34" charset="0"/>
                <a:ea typeface="+mn-ea"/>
              </a:rPr>
              <a:t>Encrypt and decrypt your own files</a:t>
            </a:r>
          </a:p>
          <a:p>
            <a:pPr>
              <a:lnSpc>
                <a:spcPct val="90000"/>
              </a:lnSpc>
              <a:defRPr/>
            </a:pPr>
            <a:r>
              <a:rPr lang="en-GB" altLang="en-US" sz="2000" i="1" dirty="0">
                <a:solidFill>
                  <a:schemeClr val="accent6">
                    <a:lumMod val="50000"/>
                  </a:schemeClr>
                </a:solidFill>
                <a:latin typeface="Gill Sans MT" pitchFamily="34" charset="0"/>
                <a:ea typeface="+mn-ea"/>
              </a:rPr>
              <a:t>Uses less computer resources: Single-key encryption does not require a lot of computer resources when compared to public key encryption</a:t>
            </a:r>
          </a:p>
          <a:p>
            <a:pPr marL="0" indent="0">
              <a:lnSpc>
                <a:spcPct val="90000"/>
              </a:lnSpc>
              <a:buFontTx/>
              <a:buNone/>
              <a:defRPr/>
            </a:pPr>
            <a:r>
              <a:rPr lang="en-US" altLang="en-US" sz="2000" dirty="0">
                <a:solidFill>
                  <a:srgbClr val="C00000"/>
                </a:solidFill>
                <a:latin typeface="Gill Sans MT" pitchFamily="34" charset="0"/>
                <a:ea typeface="+mn-ea"/>
              </a:rPr>
              <a:t>Disadvantages: </a:t>
            </a:r>
          </a:p>
          <a:p>
            <a:pPr>
              <a:lnSpc>
                <a:spcPct val="90000"/>
              </a:lnSpc>
              <a:defRPr/>
            </a:pPr>
            <a:r>
              <a:rPr lang="en-GB" altLang="en-US" sz="2000" dirty="0">
                <a:solidFill>
                  <a:schemeClr val="accent6">
                    <a:lumMod val="50000"/>
                  </a:schemeClr>
                </a:solidFill>
                <a:latin typeface="Gill Sans MT" pitchFamily="34" charset="0"/>
                <a:ea typeface="+mn-ea"/>
              </a:rPr>
              <a:t>Need for secure channel for secret key exchange</a:t>
            </a:r>
          </a:p>
          <a:p>
            <a:pPr>
              <a:lnSpc>
                <a:spcPct val="90000"/>
              </a:lnSpc>
              <a:defRPr/>
            </a:pPr>
            <a:r>
              <a:rPr lang="en-GB" altLang="en-US" sz="2000" dirty="0">
                <a:solidFill>
                  <a:schemeClr val="accent6">
                    <a:lumMod val="50000"/>
                  </a:schemeClr>
                </a:solidFill>
                <a:latin typeface="Gill Sans MT" pitchFamily="34" charset="0"/>
                <a:ea typeface="+mn-ea"/>
              </a:rPr>
              <a:t>Too many keys: A new shared key has to be generated for communication with every different party. This creates a problem with managing and ensuring the security of all these keys.</a:t>
            </a:r>
          </a:p>
          <a:p>
            <a:pPr>
              <a:lnSpc>
                <a:spcPct val="90000"/>
              </a:lnSpc>
              <a:defRPr/>
            </a:pPr>
            <a:r>
              <a:rPr lang="en-GB" altLang="en-US" sz="2000" dirty="0">
                <a:solidFill>
                  <a:schemeClr val="accent6">
                    <a:lumMod val="50000"/>
                  </a:schemeClr>
                </a:solidFill>
                <a:latin typeface="Gill Sans MT" pitchFamily="34" charset="0"/>
                <a:ea typeface="+mn-ea"/>
              </a:rPr>
              <a:t>Origin and authenticity of message cannot be guaranteed: Since both sender and receiver use the same key, messages cannot be verified to have come from a particular user. This may be a problem if there is a dispute.</a:t>
            </a:r>
            <a:endParaRPr lang="en-US" altLang="en-US" sz="2000" dirty="0">
              <a:solidFill>
                <a:schemeClr val="accent6">
                  <a:lumMod val="50000"/>
                </a:schemeClr>
              </a:solidFill>
              <a:latin typeface="Gill Sans MT" pitchFamily="34" charset="0"/>
              <a:ea typeface="+mn-ea"/>
            </a:endParaRPr>
          </a:p>
          <a:p>
            <a:pPr>
              <a:lnSpc>
                <a:spcPct val="90000"/>
              </a:lnSpc>
              <a:defRPr/>
            </a:pPr>
            <a:endParaRPr lang="en-US" altLang="en-US" sz="2400" i="1" dirty="0">
              <a:solidFill>
                <a:schemeClr val="accent6">
                  <a:lumMod val="50000"/>
                </a:schemeClr>
              </a:solidFill>
              <a:latin typeface="Gill Sans MT" pitchFamily="34" charset="0"/>
              <a:ea typeface="+mn-ea"/>
            </a:endParaRPr>
          </a:p>
        </p:txBody>
      </p:sp>
      <p:pic>
        <p:nvPicPr>
          <p:cNvPr id="58372"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95091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Slide Number Placeholder 3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2780EE45-194B-4D01-822C-FBB104A7784B}" type="slidenum">
              <a:rPr lang="en-US" altLang="en-US" sz="1400"/>
              <a:pPr>
                <a:spcBef>
                  <a:spcPct val="0"/>
                </a:spcBef>
                <a:buFontTx/>
                <a:buNone/>
              </a:pPr>
              <a:t>30</a:t>
            </a:fld>
            <a:endParaRPr lang="en-US" altLang="en-US" sz="14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33400" y="0"/>
            <a:ext cx="7772400" cy="1143000"/>
          </a:xfrm>
        </p:spPr>
        <p:txBody>
          <a:bodyPr/>
          <a:lstStyle/>
          <a:p>
            <a:r>
              <a:rPr lang="en-US" altLang="en-US" smtClean="0">
                <a:latin typeface="Gill Sans MT" pitchFamily="34" charset="0"/>
              </a:rPr>
              <a:t>Symmetric key crypto: DES</a:t>
            </a:r>
          </a:p>
        </p:txBody>
      </p:sp>
      <p:sp>
        <p:nvSpPr>
          <p:cNvPr id="41987" name="Rectangle 3"/>
          <p:cNvSpPr>
            <a:spLocks noGrp="1" noChangeArrowheads="1"/>
          </p:cNvSpPr>
          <p:nvPr>
            <p:ph type="body" idx="1"/>
          </p:nvPr>
        </p:nvSpPr>
        <p:spPr>
          <a:xfrm>
            <a:off x="579438" y="1206500"/>
            <a:ext cx="8278812" cy="4648200"/>
          </a:xfrm>
        </p:spPr>
        <p:txBody>
          <a:bodyPr/>
          <a:lstStyle/>
          <a:p>
            <a:pPr>
              <a:buFont typeface="Wingdings" charset="0"/>
              <a:buNone/>
              <a:defRPr/>
            </a:pPr>
            <a:r>
              <a:rPr lang="en-US" dirty="0">
                <a:solidFill>
                  <a:srgbClr val="C00000"/>
                </a:solidFill>
                <a:latin typeface="Gill Sans MT" charset="0"/>
                <a:ea typeface="+mn-ea"/>
              </a:rPr>
              <a:t>DES: Data Encryption Standard</a:t>
            </a:r>
            <a:endParaRPr lang="en-US" sz="2400" dirty="0">
              <a:solidFill>
                <a:srgbClr val="C00000"/>
              </a:solidFill>
              <a:latin typeface="Gill Sans MT" charset="0"/>
              <a:ea typeface="+mn-ea"/>
            </a:endParaRPr>
          </a:p>
          <a:p>
            <a:pPr>
              <a:defRPr/>
            </a:pPr>
            <a:r>
              <a:rPr lang="en-US" sz="2400" dirty="0">
                <a:latin typeface="Gill Sans MT" charset="0"/>
                <a:ea typeface="+mn-ea"/>
              </a:rPr>
              <a:t>US encryption standard [NIST 1993]</a:t>
            </a:r>
          </a:p>
          <a:p>
            <a:pPr marL="0" indent="0">
              <a:buFontTx/>
              <a:buNone/>
              <a:defRPr/>
            </a:pPr>
            <a:endParaRPr lang="en-US" sz="2400" dirty="0">
              <a:latin typeface="Gill Sans MT" charset="0"/>
              <a:ea typeface="+mn-ea"/>
            </a:endParaRPr>
          </a:p>
          <a:p>
            <a:pPr>
              <a:defRPr/>
            </a:pPr>
            <a:r>
              <a:rPr lang="en-US" sz="2400" dirty="0">
                <a:latin typeface="Gill Sans MT" charset="0"/>
                <a:ea typeface="+mn-ea"/>
              </a:rPr>
              <a:t>how secure is DES?</a:t>
            </a:r>
          </a:p>
          <a:p>
            <a:pPr lvl="1">
              <a:defRPr/>
            </a:pPr>
            <a:r>
              <a:rPr lang="en-US" dirty="0">
                <a:latin typeface="Gill Sans MT" charset="0"/>
                <a:ea typeface="+mn-ea"/>
              </a:rPr>
              <a:t>DES Challenge: 56-bit-key-encrypted phrase  decrypted (brute force) in less than a day</a:t>
            </a:r>
          </a:p>
          <a:p>
            <a:pPr>
              <a:defRPr/>
            </a:pPr>
            <a:r>
              <a:rPr lang="en-US" sz="2400" dirty="0">
                <a:latin typeface="Gill Sans MT" charset="0"/>
                <a:ea typeface="+mn-ea"/>
              </a:rPr>
              <a:t>making DES more secure:</a:t>
            </a:r>
          </a:p>
          <a:p>
            <a:pPr lvl="1">
              <a:defRPr/>
            </a:pPr>
            <a:r>
              <a:rPr lang="en-US" dirty="0">
                <a:latin typeface="Gill Sans MT" charset="0"/>
                <a:ea typeface="+mn-ea"/>
              </a:rPr>
              <a:t>3DES: encrypt 3 times with 3 different keys</a:t>
            </a:r>
          </a:p>
        </p:txBody>
      </p:sp>
      <p:pic>
        <p:nvPicPr>
          <p:cNvPr id="59396" name="Picture 20"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613" y="754063"/>
            <a:ext cx="5484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E938E0F9-B5C3-4144-95A7-7B6BCA507FE2}" type="slidenum">
              <a:rPr lang="en-US" altLang="en-US" sz="1400"/>
              <a:pPr>
                <a:spcBef>
                  <a:spcPct val="0"/>
                </a:spcBef>
                <a:buFontTx/>
                <a:buNone/>
              </a:pPr>
              <a:t>31</a:t>
            </a:fld>
            <a:endParaRPr lang="en-US" altLang="en-US" sz="14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33400" y="228600"/>
            <a:ext cx="8207375" cy="1143000"/>
          </a:xfrm>
        </p:spPr>
        <p:txBody>
          <a:bodyPr/>
          <a:lstStyle/>
          <a:p>
            <a:r>
              <a:rPr lang="en-US" altLang="en-US" smtClean="0"/>
              <a:t>AES: Advanced Encryption Standard</a:t>
            </a:r>
          </a:p>
        </p:txBody>
      </p:sp>
      <p:sp>
        <p:nvSpPr>
          <p:cNvPr id="60419" name="Rectangle 3"/>
          <p:cNvSpPr>
            <a:spLocks noGrp="1" noChangeArrowheads="1"/>
          </p:cNvSpPr>
          <p:nvPr>
            <p:ph type="body" idx="1"/>
          </p:nvPr>
        </p:nvSpPr>
        <p:spPr/>
        <p:txBody>
          <a:bodyPr/>
          <a:lstStyle/>
          <a:p>
            <a:r>
              <a:rPr lang="en-US" altLang="en-US" smtClean="0"/>
              <a:t>New (Nov. 2001) symmetric-key NIST standard, replacing DES</a:t>
            </a:r>
          </a:p>
          <a:p>
            <a:r>
              <a:rPr lang="en-US" altLang="en-US" smtClean="0"/>
              <a:t>Processes data in 128 bit blocks</a:t>
            </a:r>
          </a:p>
          <a:p>
            <a:r>
              <a:rPr lang="en-US" altLang="en-US" smtClean="0"/>
              <a:t>128, 192, or 256 bit keys</a:t>
            </a:r>
          </a:p>
          <a:p>
            <a:r>
              <a:rPr lang="en-US" altLang="en-US" smtClean="0"/>
              <a:t>Brute force decryption (try each key) takes 149 trillion years for AES</a:t>
            </a:r>
          </a:p>
        </p:txBody>
      </p:sp>
      <p:sp>
        <p:nvSpPr>
          <p:cNvPr id="60420"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E63BC38B-5D4D-4276-9CFD-9FDF2FF50DD6}" type="slidenum">
              <a:rPr lang="en-US" altLang="en-US" sz="1400"/>
              <a:pPr>
                <a:spcBef>
                  <a:spcPct val="0"/>
                </a:spcBef>
                <a:buFontTx/>
                <a:buNone/>
              </a:pPr>
              <a:t>32</a:t>
            </a:fld>
            <a:endParaRPr lang="en-US" altLang="en-US" sz="14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smtClean="0">
                <a:latin typeface="Gill Sans MT" pitchFamily="34" charset="0"/>
              </a:rPr>
              <a:t>Roadmap</a:t>
            </a:r>
          </a:p>
        </p:txBody>
      </p:sp>
      <p:sp>
        <p:nvSpPr>
          <p:cNvPr id="33795" name="Rectangle 3"/>
          <p:cNvSpPr>
            <a:spLocks noGrp="1" noChangeArrowheads="1"/>
          </p:cNvSpPr>
          <p:nvPr>
            <p:ph type="body" idx="1"/>
          </p:nvPr>
        </p:nvSpPr>
        <p:spPr>
          <a:xfrm>
            <a:off x="650875" y="1668463"/>
            <a:ext cx="7772400" cy="4648200"/>
          </a:xfrm>
        </p:spPr>
        <p:txBody>
          <a:bodyPr/>
          <a:lstStyle/>
          <a:p>
            <a:pPr>
              <a:defRPr/>
            </a:pPr>
            <a:r>
              <a:rPr lang="en-US" dirty="0">
                <a:solidFill>
                  <a:schemeClr val="bg1">
                    <a:lumMod val="75000"/>
                  </a:schemeClr>
                </a:solidFill>
                <a:latin typeface="Gill Sans MT" charset="0"/>
                <a:ea typeface="+mn-ea"/>
              </a:rPr>
              <a:t>What is network security?</a:t>
            </a:r>
          </a:p>
          <a:p>
            <a:pPr>
              <a:defRPr/>
            </a:pPr>
            <a:r>
              <a:rPr lang="en-US" i="1" dirty="0">
                <a:solidFill>
                  <a:srgbClr val="BFBFBF"/>
                </a:solidFill>
                <a:latin typeface="Gill Sans MT" charset="0"/>
                <a:ea typeface="+mn-ea"/>
              </a:rPr>
              <a:t>Principles of cryptography</a:t>
            </a:r>
          </a:p>
          <a:p>
            <a:pPr>
              <a:defRPr/>
            </a:pPr>
            <a:r>
              <a:rPr lang="en-US" dirty="0">
                <a:solidFill>
                  <a:srgbClr val="FF3300"/>
                </a:solidFill>
                <a:latin typeface="Gill Sans MT" charset="0"/>
                <a:ea typeface="+mn-ea"/>
              </a:rPr>
              <a:t>Authentication</a:t>
            </a:r>
          </a:p>
          <a:p>
            <a:pPr>
              <a:defRPr/>
            </a:pPr>
            <a:r>
              <a:rPr lang="en-US" dirty="0">
                <a:solidFill>
                  <a:schemeClr val="bg1">
                    <a:lumMod val="75000"/>
                  </a:schemeClr>
                </a:solidFill>
                <a:latin typeface="Gill Sans MT" charset="0"/>
                <a:ea typeface="+mn-ea"/>
              </a:rPr>
              <a:t>Message integrity</a:t>
            </a:r>
          </a:p>
        </p:txBody>
      </p:sp>
      <p:sp>
        <p:nvSpPr>
          <p:cNvPr id="62468"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0ADB31D0-45B7-4B34-95BD-6375957A1CFE}" type="slidenum">
              <a:rPr lang="en-US" altLang="en-US" sz="1400"/>
              <a:pPr>
                <a:spcBef>
                  <a:spcPct val="0"/>
                </a:spcBef>
                <a:buFontTx/>
                <a:buNone/>
              </a:pPr>
              <a:t>33</a:t>
            </a:fld>
            <a:endParaRPr lang="en-US" altLang="en-US" sz="14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90538" y="312738"/>
            <a:ext cx="4276725" cy="1143000"/>
          </a:xfrm>
        </p:spPr>
        <p:txBody>
          <a:bodyPr/>
          <a:lstStyle/>
          <a:p>
            <a:r>
              <a:rPr lang="en-US" altLang="en-US" sz="3200" smtClean="0">
                <a:latin typeface="Gill Sans MT" pitchFamily="34" charset="0"/>
              </a:rPr>
              <a:t>Authentication</a:t>
            </a:r>
          </a:p>
        </p:txBody>
      </p:sp>
      <p:sp>
        <p:nvSpPr>
          <p:cNvPr id="64515" name="Rectangle 3"/>
          <p:cNvSpPr>
            <a:spLocks noGrp="1" noChangeArrowheads="1"/>
          </p:cNvSpPr>
          <p:nvPr>
            <p:ph type="body" idx="1"/>
          </p:nvPr>
        </p:nvSpPr>
        <p:spPr>
          <a:xfrm>
            <a:off x="533400" y="1600200"/>
            <a:ext cx="7978775" cy="966788"/>
          </a:xfrm>
        </p:spPr>
        <p:txBody>
          <a:bodyPr/>
          <a:lstStyle/>
          <a:p>
            <a:pPr>
              <a:buFont typeface="Wingdings" panose="05000000000000000000" pitchFamily="2" charset="2"/>
              <a:buNone/>
            </a:pPr>
            <a:r>
              <a:rPr lang="en-US" altLang="en-US" sz="2800" i="1" smtClean="0">
                <a:solidFill>
                  <a:srgbClr val="C00000"/>
                </a:solidFill>
                <a:latin typeface="Gill Sans MT" pitchFamily="34" charset="0"/>
              </a:rPr>
              <a:t>Goal: </a:t>
            </a:r>
            <a:r>
              <a:rPr lang="en-US" altLang="en-US" sz="2800" smtClean="0">
                <a:latin typeface="Gill Sans MT" pitchFamily="34" charset="0"/>
              </a:rPr>
              <a:t>Bob wants Alice to </a:t>
            </a:r>
            <a:r>
              <a:rPr lang="ja-JP" altLang="en-US" sz="2800" smtClean="0">
                <a:latin typeface="Gill Sans MT" pitchFamily="34" charset="0"/>
              </a:rPr>
              <a:t>“</a:t>
            </a:r>
            <a:r>
              <a:rPr lang="en-US" altLang="ja-JP" sz="2800" smtClean="0">
                <a:latin typeface="Gill Sans MT" pitchFamily="34" charset="0"/>
              </a:rPr>
              <a:t>prove</a:t>
            </a:r>
            <a:r>
              <a:rPr lang="ja-JP" altLang="en-US" sz="2800" smtClean="0">
                <a:latin typeface="Gill Sans MT" pitchFamily="34" charset="0"/>
              </a:rPr>
              <a:t>”</a:t>
            </a:r>
            <a:r>
              <a:rPr lang="en-US" altLang="ja-JP" sz="2800" smtClean="0">
                <a:latin typeface="Gill Sans MT" pitchFamily="34" charset="0"/>
              </a:rPr>
              <a:t> her identity to him</a:t>
            </a:r>
            <a:endParaRPr lang="en-US" altLang="en-US" sz="2800" smtClean="0">
              <a:latin typeface="Gill Sans MT" pitchFamily="34" charset="0"/>
            </a:endParaRPr>
          </a:p>
        </p:txBody>
      </p:sp>
      <p:sp>
        <p:nvSpPr>
          <p:cNvPr id="64516" name="Text Box 4"/>
          <p:cNvSpPr txBox="1">
            <a:spLocks noChangeArrowheads="1"/>
          </p:cNvSpPr>
          <p:nvPr/>
        </p:nvSpPr>
        <p:spPr bwMode="auto">
          <a:xfrm>
            <a:off x="846138" y="2262188"/>
            <a:ext cx="4865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i="1" u="sng">
                <a:solidFill>
                  <a:srgbClr val="C00000"/>
                </a:solidFill>
                <a:latin typeface="Gill Sans MT" pitchFamily="34" charset="0"/>
              </a:rPr>
              <a:t>Protocol ap1.0:</a:t>
            </a:r>
            <a:r>
              <a:rPr lang="en-US" altLang="en-US" sz="2400" i="1">
                <a:solidFill>
                  <a:srgbClr val="C00000"/>
                </a:solidFill>
                <a:latin typeface="Gill Sans MT" pitchFamily="34" charset="0"/>
              </a:rPr>
              <a:t>  </a:t>
            </a:r>
            <a:r>
              <a:rPr lang="en-US" altLang="en-US" sz="2400">
                <a:latin typeface="Gill Sans MT" pitchFamily="34" charset="0"/>
              </a:rPr>
              <a:t>Alice says </a:t>
            </a:r>
            <a:r>
              <a:rPr lang="ja-JP" altLang="en-US" sz="2400">
                <a:latin typeface="Gill Sans MT" pitchFamily="34" charset="0"/>
              </a:rPr>
              <a:t>“</a:t>
            </a:r>
            <a:r>
              <a:rPr lang="en-US" altLang="ja-JP" sz="2400">
                <a:latin typeface="Gill Sans MT" pitchFamily="34" charset="0"/>
              </a:rPr>
              <a:t>I am Alice</a:t>
            </a:r>
            <a:r>
              <a:rPr lang="ja-JP" altLang="en-US" sz="2400">
                <a:latin typeface="Gill Sans MT" pitchFamily="34" charset="0"/>
              </a:rPr>
              <a:t>”</a:t>
            </a:r>
            <a:endParaRPr lang="en-US" altLang="en-US" sz="2400">
              <a:latin typeface="Gill Sans MT" pitchFamily="34" charset="0"/>
            </a:endParaRPr>
          </a:p>
        </p:txBody>
      </p:sp>
      <p:sp>
        <p:nvSpPr>
          <p:cNvPr id="64517" name="Text Box 5"/>
          <p:cNvSpPr txBox="1">
            <a:spLocks noChangeArrowheads="1"/>
          </p:cNvSpPr>
          <p:nvPr/>
        </p:nvSpPr>
        <p:spPr bwMode="auto">
          <a:xfrm>
            <a:off x="5513388" y="4135438"/>
            <a:ext cx="2293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cs typeface="Arial" panose="020B0604020202020204" pitchFamily="34" charset="0"/>
              </a:rPr>
              <a:t>Failure scenario??</a:t>
            </a:r>
          </a:p>
        </p:txBody>
      </p:sp>
      <p:pic>
        <p:nvPicPr>
          <p:cNvPr id="64518" name="Picture 6"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7"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0" name="Picture 8"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363" y="38115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1" name="Line 9"/>
          <p:cNvSpPr>
            <a:spLocks noChangeShapeType="1"/>
          </p:cNvSpPr>
          <p:nvPr/>
        </p:nvSpPr>
        <p:spPr bwMode="auto">
          <a:xfrm>
            <a:off x="1490663" y="4248150"/>
            <a:ext cx="187007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4522" name="Text Box 10"/>
          <p:cNvSpPr txBox="1">
            <a:spLocks noChangeArrowheads="1"/>
          </p:cNvSpPr>
          <p:nvPr/>
        </p:nvSpPr>
        <p:spPr bwMode="auto">
          <a:xfrm>
            <a:off x="1620838" y="3749675"/>
            <a:ext cx="1554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2000">
                <a:cs typeface="Arial" panose="020B0604020202020204" pitchFamily="34" charset="0"/>
              </a:rPr>
              <a:t>“</a:t>
            </a:r>
            <a:r>
              <a:rPr lang="en-US" altLang="ja-JP" sz="2000">
                <a:cs typeface="Arial" panose="020B0604020202020204" pitchFamily="34" charset="0"/>
              </a:rPr>
              <a:t>I am Alice</a:t>
            </a:r>
            <a:r>
              <a:rPr lang="ja-JP" altLang="en-US" sz="2000">
                <a:cs typeface="Arial" panose="020B0604020202020204" pitchFamily="34" charset="0"/>
              </a:rPr>
              <a:t>”</a:t>
            </a:r>
            <a:endParaRPr lang="en-US" altLang="en-US" sz="2000">
              <a:cs typeface="Arial" panose="020B0604020202020204" pitchFamily="34" charset="0"/>
            </a:endParaRPr>
          </a:p>
        </p:txBody>
      </p:sp>
      <p:pic>
        <p:nvPicPr>
          <p:cNvPr id="64523" name="Picture 24"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75" y="1109663"/>
            <a:ext cx="3656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4" name="Slide Number Placeholder 1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A92B6E20-3F77-41FE-942C-769B75184240}" type="slidenum">
              <a:rPr lang="en-US" altLang="en-US" sz="1400"/>
              <a:pPr>
                <a:spcBef>
                  <a:spcPct val="0"/>
                </a:spcBef>
                <a:buFontTx/>
                <a:buNone/>
              </a:pPr>
              <a:t>34</a:t>
            </a:fld>
            <a:endParaRPr lang="en-US" altLang="en-US" sz="140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5"/>
          <p:cNvSpPr txBox="1">
            <a:spLocks noChangeArrowheads="1"/>
          </p:cNvSpPr>
          <p:nvPr/>
        </p:nvSpPr>
        <p:spPr bwMode="auto">
          <a:xfrm>
            <a:off x="5094288" y="3840163"/>
            <a:ext cx="358616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cs typeface="Arial" panose="020B0604020202020204" pitchFamily="34" charset="0"/>
              </a:rPr>
              <a:t>in a network,</a:t>
            </a:r>
          </a:p>
          <a:p>
            <a:pPr algn="ctr" eaLnBrk="1" hangingPunct="1">
              <a:spcBef>
                <a:spcPct val="0"/>
              </a:spcBef>
              <a:buFontTx/>
              <a:buNone/>
            </a:pPr>
            <a:r>
              <a:rPr lang="en-US" altLang="en-US" sz="2000">
                <a:cs typeface="Arial" panose="020B0604020202020204" pitchFamily="34" charset="0"/>
              </a:rPr>
              <a:t>Bob can not </a:t>
            </a:r>
            <a:r>
              <a:rPr lang="ja-JP" altLang="en-US" sz="2000">
                <a:cs typeface="Arial" panose="020B0604020202020204" pitchFamily="34" charset="0"/>
              </a:rPr>
              <a:t>“</a:t>
            </a:r>
            <a:r>
              <a:rPr lang="en-US" altLang="ja-JP" sz="2000">
                <a:cs typeface="Arial" panose="020B0604020202020204" pitchFamily="34" charset="0"/>
              </a:rPr>
              <a:t>see</a:t>
            </a:r>
            <a:r>
              <a:rPr lang="ja-JP" altLang="en-US" sz="2000">
                <a:cs typeface="Arial" panose="020B0604020202020204" pitchFamily="34" charset="0"/>
              </a:rPr>
              <a:t>”</a:t>
            </a:r>
            <a:r>
              <a:rPr lang="en-US" altLang="ja-JP" sz="2000">
                <a:cs typeface="Arial" panose="020B0604020202020204" pitchFamily="34" charset="0"/>
              </a:rPr>
              <a:t> Alice, so Trudy simply declares</a:t>
            </a:r>
          </a:p>
          <a:p>
            <a:pPr algn="ctr" eaLnBrk="1" hangingPunct="1">
              <a:spcBef>
                <a:spcPct val="0"/>
              </a:spcBef>
              <a:buFontTx/>
              <a:buNone/>
            </a:pPr>
            <a:r>
              <a:rPr lang="en-US" altLang="en-US" sz="2000">
                <a:cs typeface="Arial" panose="020B0604020202020204" pitchFamily="34" charset="0"/>
              </a:rPr>
              <a:t>herself to be Alice</a:t>
            </a:r>
          </a:p>
        </p:txBody>
      </p:sp>
      <p:pic>
        <p:nvPicPr>
          <p:cNvPr id="65539" name="Picture 6"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7"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8"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1063" y="3813175"/>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Line 9"/>
          <p:cNvSpPr>
            <a:spLocks noChangeShapeType="1"/>
          </p:cNvSpPr>
          <p:nvPr/>
        </p:nvSpPr>
        <p:spPr bwMode="auto">
          <a:xfrm flipV="1">
            <a:off x="2784475" y="4473575"/>
            <a:ext cx="773113" cy="1027113"/>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5543" name="Text Box 10"/>
          <p:cNvSpPr txBox="1">
            <a:spLocks noChangeArrowheads="1"/>
          </p:cNvSpPr>
          <p:nvPr/>
        </p:nvSpPr>
        <p:spPr bwMode="auto">
          <a:xfrm>
            <a:off x="3195638" y="5002213"/>
            <a:ext cx="1554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2000">
                <a:cs typeface="Arial" panose="020B0604020202020204" pitchFamily="34" charset="0"/>
              </a:rPr>
              <a:t>“</a:t>
            </a:r>
            <a:r>
              <a:rPr lang="en-US" altLang="ja-JP" sz="2000">
                <a:cs typeface="Arial" panose="020B0604020202020204" pitchFamily="34" charset="0"/>
              </a:rPr>
              <a:t>I am Alice</a:t>
            </a:r>
            <a:r>
              <a:rPr lang="ja-JP" altLang="en-US" sz="2000">
                <a:cs typeface="Arial" panose="020B0604020202020204" pitchFamily="34" charset="0"/>
              </a:rPr>
              <a:t>”</a:t>
            </a:r>
            <a:endParaRPr lang="en-US" altLang="en-US" sz="2000">
              <a:cs typeface="Arial" panose="020B0604020202020204" pitchFamily="34" charset="0"/>
            </a:endParaRPr>
          </a:p>
        </p:txBody>
      </p:sp>
      <p:sp>
        <p:nvSpPr>
          <p:cNvPr id="65544" name="Rectangle 2"/>
          <p:cNvSpPr>
            <a:spLocks noGrp="1" noChangeArrowheads="1"/>
          </p:cNvSpPr>
          <p:nvPr>
            <p:ph type="title"/>
          </p:nvPr>
        </p:nvSpPr>
        <p:spPr>
          <a:xfrm>
            <a:off x="490538" y="312738"/>
            <a:ext cx="4276725" cy="1143000"/>
          </a:xfrm>
        </p:spPr>
        <p:txBody>
          <a:bodyPr/>
          <a:lstStyle/>
          <a:p>
            <a:r>
              <a:rPr lang="en-US" altLang="en-US" sz="3200" smtClean="0">
                <a:latin typeface="Gill Sans MT" pitchFamily="34" charset="0"/>
              </a:rPr>
              <a:t>Authentication</a:t>
            </a:r>
          </a:p>
        </p:txBody>
      </p:sp>
      <p:pic>
        <p:nvPicPr>
          <p:cNvPr id="65545" name="Picture 24"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175" y="1109663"/>
            <a:ext cx="36560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6" name="Rectangle 3"/>
          <p:cNvSpPr txBox="1">
            <a:spLocks noChangeArrowheads="1"/>
          </p:cNvSpPr>
          <p:nvPr/>
        </p:nvSpPr>
        <p:spPr bwMode="auto">
          <a:xfrm>
            <a:off x="533400" y="1600200"/>
            <a:ext cx="7978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buClr>
                <a:srgbClr val="000099"/>
              </a:buClr>
              <a:buSzPct val="70000"/>
              <a:buFont typeface="Wingdings" panose="05000000000000000000" pitchFamily="2" charset="2"/>
              <a:buNone/>
            </a:pPr>
            <a:r>
              <a:rPr lang="en-US" altLang="en-US" sz="2400" i="1">
                <a:solidFill>
                  <a:srgbClr val="C00000"/>
                </a:solidFill>
                <a:latin typeface="Gill Sans MT" pitchFamily="34" charset="0"/>
              </a:rPr>
              <a:t>Goal:  </a:t>
            </a:r>
            <a:r>
              <a:rPr lang="en-US" altLang="en-US" sz="2400">
                <a:latin typeface="Gill Sans MT" pitchFamily="34" charset="0"/>
              </a:rPr>
              <a:t>Bob wants Alice to </a:t>
            </a:r>
            <a:r>
              <a:rPr lang="ja-JP" altLang="en-US" sz="2400">
                <a:latin typeface="Gill Sans MT" pitchFamily="34" charset="0"/>
              </a:rPr>
              <a:t>“</a:t>
            </a:r>
            <a:r>
              <a:rPr lang="en-US" altLang="ja-JP" sz="2400">
                <a:latin typeface="Gill Sans MT" pitchFamily="34" charset="0"/>
              </a:rPr>
              <a:t>prove</a:t>
            </a:r>
            <a:r>
              <a:rPr lang="ja-JP" altLang="en-US" sz="2400">
                <a:latin typeface="Gill Sans MT" pitchFamily="34" charset="0"/>
              </a:rPr>
              <a:t>”</a:t>
            </a:r>
            <a:r>
              <a:rPr lang="en-US" altLang="ja-JP" sz="2400">
                <a:latin typeface="Gill Sans MT" pitchFamily="34" charset="0"/>
              </a:rPr>
              <a:t> her identity to him</a:t>
            </a:r>
            <a:endParaRPr lang="en-US" altLang="en-US" sz="2400">
              <a:latin typeface="Gill Sans MT" pitchFamily="34" charset="0"/>
            </a:endParaRPr>
          </a:p>
        </p:txBody>
      </p:sp>
      <p:sp>
        <p:nvSpPr>
          <p:cNvPr id="65547" name="Text Box 4"/>
          <p:cNvSpPr txBox="1">
            <a:spLocks noChangeArrowheads="1"/>
          </p:cNvSpPr>
          <p:nvPr/>
        </p:nvSpPr>
        <p:spPr bwMode="auto">
          <a:xfrm>
            <a:off x="846138" y="2262188"/>
            <a:ext cx="4865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i="1" u="sng">
                <a:solidFill>
                  <a:srgbClr val="C00000"/>
                </a:solidFill>
                <a:latin typeface="Gill Sans MT" pitchFamily="34" charset="0"/>
              </a:rPr>
              <a:t>Protocol ap1.0:</a:t>
            </a:r>
            <a:r>
              <a:rPr lang="en-US" altLang="en-US" sz="2400" i="1">
                <a:solidFill>
                  <a:srgbClr val="C00000"/>
                </a:solidFill>
                <a:latin typeface="Gill Sans MT" pitchFamily="34" charset="0"/>
              </a:rPr>
              <a:t>  </a:t>
            </a:r>
            <a:r>
              <a:rPr lang="en-US" altLang="en-US" sz="2400">
                <a:latin typeface="Gill Sans MT" pitchFamily="34" charset="0"/>
              </a:rPr>
              <a:t>Alice says </a:t>
            </a:r>
            <a:r>
              <a:rPr lang="ja-JP" altLang="en-US" sz="2400">
                <a:latin typeface="Gill Sans MT" pitchFamily="34" charset="0"/>
              </a:rPr>
              <a:t>“</a:t>
            </a:r>
            <a:r>
              <a:rPr lang="en-US" altLang="ja-JP" sz="2400">
                <a:latin typeface="Gill Sans MT" pitchFamily="34" charset="0"/>
              </a:rPr>
              <a:t>I am Alice</a:t>
            </a:r>
            <a:r>
              <a:rPr lang="ja-JP" altLang="en-US" sz="2400">
                <a:latin typeface="Gill Sans MT" pitchFamily="34" charset="0"/>
              </a:rPr>
              <a:t>”</a:t>
            </a:r>
            <a:endParaRPr lang="en-US" altLang="en-US" sz="2400">
              <a:latin typeface="Gill Sans MT" pitchFamily="34" charset="0"/>
            </a:endParaRPr>
          </a:p>
        </p:txBody>
      </p:sp>
      <p:sp>
        <p:nvSpPr>
          <p:cNvPr id="65548" name="Slide Number Placeholder 1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E1CA54AE-4C1D-41EB-AFED-C411139F8823}" type="slidenum">
              <a:rPr lang="en-US" altLang="en-US" sz="1400"/>
              <a:pPr>
                <a:spcBef>
                  <a:spcPct val="0"/>
                </a:spcBef>
                <a:buFontTx/>
                <a:buNone/>
              </a:pPr>
              <a:t>35</a:t>
            </a:fld>
            <a:endParaRPr lang="en-US" altLang="en-US" sz="140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58775" y="130175"/>
            <a:ext cx="7772400" cy="1143000"/>
          </a:xfrm>
        </p:spPr>
        <p:txBody>
          <a:bodyPr/>
          <a:lstStyle/>
          <a:p>
            <a:r>
              <a:rPr lang="en-US" altLang="en-US" smtClean="0">
                <a:latin typeface="Gill Sans MT" pitchFamily="34" charset="0"/>
              </a:rPr>
              <a:t>Authentication: another try</a:t>
            </a:r>
          </a:p>
        </p:txBody>
      </p:sp>
      <p:sp>
        <p:nvSpPr>
          <p:cNvPr id="66563" name="Text Box 3"/>
          <p:cNvSpPr txBox="1">
            <a:spLocks noChangeArrowheads="1"/>
          </p:cNvSpPr>
          <p:nvPr/>
        </p:nvSpPr>
        <p:spPr bwMode="auto">
          <a:xfrm>
            <a:off x="725488" y="1452563"/>
            <a:ext cx="782955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cs typeface="Arial" panose="020B0604020202020204" pitchFamily="34" charset="0"/>
              </a:rPr>
              <a:t>Protocol ap2.0: </a:t>
            </a:r>
            <a:r>
              <a:rPr lang="en-US" altLang="en-US" sz="2400">
                <a:cs typeface="Arial" panose="020B0604020202020204" pitchFamily="34" charset="0"/>
              </a:rPr>
              <a:t>Alice says </a:t>
            </a:r>
            <a:r>
              <a:rPr lang="ja-JP" altLang="en-US" sz="2400">
                <a:cs typeface="Arial" panose="020B0604020202020204" pitchFamily="34" charset="0"/>
              </a:rPr>
              <a:t>“</a:t>
            </a:r>
            <a:r>
              <a:rPr lang="en-US" altLang="ja-JP" sz="2400">
                <a:cs typeface="Arial" panose="020B0604020202020204" pitchFamily="34" charset="0"/>
              </a:rPr>
              <a:t>I am Alice</a:t>
            </a:r>
            <a:r>
              <a:rPr lang="ja-JP" altLang="en-US" sz="2400">
                <a:cs typeface="Arial" panose="020B0604020202020204" pitchFamily="34" charset="0"/>
              </a:rPr>
              <a:t>”</a:t>
            </a:r>
            <a:r>
              <a:rPr lang="en-US" altLang="ja-JP" sz="2400">
                <a:cs typeface="Arial" panose="020B0604020202020204" pitchFamily="34" charset="0"/>
              </a:rPr>
              <a:t> in an IP packet</a:t>
            </a:r>
          </a:p>
          <a:p>
            <a:pPr algn="r" eaLnBrk="1" hangingPunct="1">
              <a:spcBef>
                <a:spcPct val="0"/>
              </a:spcBef>
              <a:buFontTx/>
              <a:buNone/>
            </a:pPr>
            <a:r>
              <a:rPr lang="en-US" altLang="en-US" sz="2400">
                <a:cs typeface="Arial" panose="020B0604020202020204" pitchFamily="34" charset="0"/>
              </a:rPr>
              <a:t>containing her source IP address </a:t>
            </a:r>
          </a:p>
        </p:txBody>
      </p:sp>
      <p:sp>
        <p:nvSpPr>
          <p:cNvPr id="66564" name="Text Box 4"/>
          <p:cNvSpPr txBox="1">
            <a:spLocks noChangeArrowheads="1"/>
          </p:cNvSpPr>
          <p:nvPr/>
        </p:nvSpPr>
        <p:spPr bwMode="auto">
          <a:xfrm>
            <a:off x="6030913" y="4113213"/>
            <a:ext cx="2757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cs typeface="Arial" panose="020B0604020202020204" pitchFamily="34" charset="0"/>
              </a:rPr>
              <a:t>Failure scenario??</a:t>
            </a:r>
          </a:p>
        </p:txBody>
      </p:sp>
      <p:pic>
        <p:nvPicPr>
          <p:cNvPr id="66565"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6"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7"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36845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8" name="Line 8"/>
          <p:cNvSpPr>
            <a:spLocks noChangeShapeType="1"/>
          </p:cNvSpPr>
          <p:nvPr/>
        </p:nvSpPr>
        <p:spPr bwMode="auto">
          <a:xfrm>
            <a:off x="1238250" y="4262438"/>
            <a:ext cx="3798888"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66569" name="Group 9"/>
          <p:cNvGrpSpPr>
            <a:grpSpLocks/>
          </p:cNvGrpSpPr>
          <p:nvPr/>
        </p:nvGrpSpPr>
        <p:grpSpPr bwMode="auto">
          <a:xfrm>
            <a:off x="1574800" y="3433763"/>
            <a:ext cx="2870200" cy="649287"/>
            <a:chOff x="531" y="1791"/>
            <a:chExt cx="1808" cy="409"/>
          </a:xfrm>
        </p:grpSpPr>
        <p:sp>
          <p:nvSpPr>
            <p:cNvPr id="66572" name="Rectangle 10"/>
            <p:cNvSpPr>
              <a:spLocks noChangeArrowheads="1"/>
            </p:cNvSpPr>
            <p:nvPr/>
          </p:nvSpPr>
          <p:spPr bwMode="auto">
            <a:xfrm>
              <a:off x="540" y="1791"/>
              <a:ext cx="1799" cy="399"/>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6573" name="Text Box 11"/>
            <p:cNvSpPr txBox="1">
              <a:spLocks noChangeArrowheads="1"/>
            </p:cNvSpPr>
            <p:nvPr/>
          </p:nvSpPr>
          <p:spPr bwMode="auto">
            <a:xfrm>
              <a:off x="1369" y="1877"/>
              <a:ext cx="9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2000">
                  <a:cs typeface="Arial" panose="020B0604020202020204" pitchFamily="34" charset="0"/>
                </a:rPr>
                <a:t>“</a:t>
              </a:r>
              <a:r>
                <a:rPr lang="en-US" altLang="ja-JP" sz="2000">
                  <a:cs typeface="Arial" panose="020B0604020202020204" pitchFamily="34" charset="0"/>
                </a:rPr>
                <a:t>I am Alice</a:t>
              </a:r>
              <a:r>
                <a:rPr lang="ja-JP" altLang="en-US" sz="2000">
                  <a:cs typeface="Arial" panose="020B0604020202020204" pitchFamily="34" charset="0"/>
                </a:rPr>
                <a:t>”</a:t>
              </a:r>
              <a:endParaRPr lang="en-US" altLang="en-US" sz="2000">
                <a:cs typeface="Arial" panose="020B0604020202020204" pitchFamily="34" charset="0"/>
              </a:endParaRPr>
            </a:p>
          </p:txBody>
        </p:sp>
        <p:sp>
          <p:nvSpPr>
            <p:cNvPr id="66574" name="Text Box 12"/>
            <p:cNvSpPr txBox="1">
              <a:spLocks noChangeArrowheads="1"/>
            </p:cNvSpPr>
            <p:nvPr/>
          </p:nvSpPr>
          <p:spPr bwMode="auto">
            <a:xfrm>
              <a:off x="531" y="1793"/>
              <a:ext cx="80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cs typeface="Arial" panose="020B0604020202020204" pitchFamily="34" charset="0"/>
                </a:rPr>
                <a:t>Alice</a:t>
              </a:r>
              <a:r>
                <a:rPr lang="ja-JP" altLang="en-US" sz="1800">
                  <a:cs typeface="Arial" panose="020B0604020202020204" pitchFamily="34" charset="0"/>
                </a:rPr>
                <a:t>’</a:t>
              </a:r>
              <a:r>
                <a:rPr lang="en-US" altLang="ja-JP" sz="1800">
                  <a:cs typeface="Arial" panose="020B0604020202020204" pitchFamily="34" charset="0"/>
                </a:rPr>
                <a:t>s </a:t>
              </a:r>
            </a:p>
            <a:p>
              <a:pPr algn="ctr" eaLnBrk="1" hangingPunct="1">
                <a:spcBef>
                  <a:spcPct val="0"/>
                </a:spcBef>
                <a:buFontTx/>
                <a:buNone/>
              </a:pPr>
              <a:r>
                <a:rPr lang="en-US" altLang="en-US" sz="1800">
                  <a:cs typeface="Arial" panose="020B0604020202020204" pitchFamily="34" charset="0"/>
                </a:rPr>
                <a:t>IP address</a:t>
              </a:r>
            </a:p>
          </p:txBody>
        </p:sp>
        <p:sp>
          <p:nvSpPr>
            <p:cNvPr id="66575" name="Line 13"/>
            <p:cNvSpPr>
              <a:spLocks noChangeShapeType="1"/>
            </p:cNvSpPr>
            <p:nvPr/>
          </p:nvSpPr>
          <p:spPr bwMode="auto">
            <a:xfrm flipH="1">
              <a:off x="1338" y="1797"/>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pic>
        <p:nvPicPr>
          <p:cNvPr id="66570" name="Picture 18"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63" y="9652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1" name="Slide Number Placeholder 1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9FE5E250-ECA5-466E-97FD-A5DDB105566D}" type="slidenum">
              <a:rPr lang="en-US" altLang="en-US" sz="1400"/>
              <a:pPr>
                <a:spcBef>
                  <a:spcPct val="0"/>
                </a:spcBef>
                <a:buFontTx/>
                <a:buNone/>
              </a:pPr>
              <a:t>36</a:t>
            </a:fld>
            <a:endParaRPr lang="en-US" altLang="en-US" sz="14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4"/>
          <p:cNvSpPr txBox="1">
            <a:spLocks noChangeArrowheads="1"/>
          </p:cNvSpPr>
          <p:nvPr/>
        </p:nvSpPr>
        <p:spPr bwMode="auto">
          <a:xfrm>
            <a:off x="6351588" y="3986213"/>
            <a:ext cx="27924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cs typeface="Arial" panose="020B0604020202020204" pitchFamily="34" charset="0"/>
              </a:rPr>
              <a:t>Trudy can create</a:t>
            </a:r>
          </a:p>
          <a:p>
            <a:pPr algn="ctr" eaLnBrk="1" hangingPunct="1">
              <a:spcBef>
                <a:spcPct val="0"/>
              </a:spcBef>
              <a:buFontTx/>
              <a:buNone/>
            </a:pPr>
            <a:r>
              <a:rPr lang="en-US" altLang="en-US" sz="2400">
                <a:cs typeface="Arial" panose="020B0604020202020204" pitchFamily="34" charset="0"/>
              </a:rPr>
              <a:t>a packet </a:t>
            </a:r>
            <a:r>
              <a:rPr lang="ja-JP" altLang="en-US" sz="2400">
                <a:cs typeface="Arial" panose="020B0604020202020204" pitchFamily="34" charset="0"/>
              </a:rPr>
              <a:t>“</a:t>
            </a:r>
            <a:r>
              <a:rPr lang="en-US" altLang="ja-JP" sz="2400">
                <a:cs typeface="Arial" panose="020B0604020202020204" pitchFamily="34" charset="0"/>
              </a:rPr>
              <a:t>spoofing</a:t>
            </a:r>
            <a:r>
              <a:rPr lang="ja-JP" altLang="en-US" sz="2400">
                <a:cs typeface="Arial" panose="020B0604020202020204" pitchFamily="34" charset="0"/>
              </a:rPr>
              <a:t>”</a:t>
            </a:r>
            <a:endParaRPr lang="en-US" altLang="ja-JP" sz="2400">
              <a:cs typeface="Arial" panose="020B0604020202020204" pitchFamily="34" charset="0"/>
            </a:endParaRPr>
          </a:p>
          <a:p>
            <a:pPr algn="ctr" eaLnBrk="1" hangingPunct="1">
              <a:spcBef>
                <a:spcPct val="0"/>
              </a:spcBef>
              <a:buFontTx/>
              <a:buNone/>
            </a:pPr>
            <a:r>
              <a:rPr lang="en-US" altLang="en-US" sz="2400">
                <a:cs typeface="Arial" panose="020B0604020202020204" pitchFamily="34" charset="0"/>
              </a:rPr>
              <a:t>Alice</a:t>
            </a:r>
            <a:r>
              <a:rPr lang="ja-JP" altLang="en-US" sz="2400">
                <a:cs typeface="Arial" panose="020B0604020202020204" pitchFamily="34" charset="0"/>
              </a:rPr>
              <a:t>’</a:t>
            </a:r>
            <a:r>
              <a:rPr lang="en-US" altLang="ja-JP" sz="2400">
                <a:cs typeface="Arial" panose="020B0604020202020204" pitchFamily="34" charset="0"/>
              </a:rPr>
              <a:t>s address</a:t>
            </a:r>
            <a:endParaRPr lang="en-US" altLang="en-US" sz="2400">
              <a:cs typeface="Arial" panose="020B0604020202020204" pitchFamily="34" charset="0"/>
            </a:endParaRPr>
          </a:p>
        </p:txBody>
      </p:sp>
      <p:pic>
        <p:nvPicPr>
          <p:cNvPr id="67587"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983163"/>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3684588"/>
            <a:ext cx="812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Line 8"/>
          <p:cNvSpPr>
            <a:spLocks noChangeShapeType="1"/>
          </p:cNvSpPr>
          <p:nvPr/>
        </p:nvSpPr>
        <p:spPr bwMode="auto">
          <a:xfrm flipV="1">
            <a:off x="2925763" y="4262438"/>
            <a:ext cx="2111375" cy="123825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67591" name="Group 9"/>
          <p:cNvGrpSpPr>
            <a:grpSpLocks/>
          </p:cNvGrpSpPr>
          <p:nvPr/>
        </p:nvGrpSpPr>
        <p:grpSpPr bwMode="auto">
          <a:xfrm>
            <a:off x="3460750" y="4938713"/>
            <a:ext cx="2870200" cy="649287"/>
            <a:chOff x="531" y="1791"/>
            <a:chExt cx="1808" cy="409"/>
          </a:xfrm>
        </p:grpSpPr>
        <p:sp>
          <p:nvSpPr>
            <p:cNvPr id="67596" name="Rectangle 10"/>
            <p:cNvSpPr>
              <a:spLocks noChangeArrowheads="1"/>
            </p:cNvSpPr>
            <p:nvPr/>
          </p:nvSpPr>
          <p:spPr bwMode="auto">
            <a:xfrm>
              <a:off x="540" y="1791"/>
              <a:ext cx="1799" cy="399"/>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7597" name="Text Box 11"/>
            <p:cNvSpPr txBox="1">
              <a:spLocks noChangeArrowheads="1"/>
            </p:cNvSpPr>
            <p:nvPr/>
          </p:nvSpPr>
          <p:spPr bwMode="auto">
            <a:xfrm>
              <a:off x="1369" y="1877"/>
              <a:ext cx="9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2000">
                  <a:cs typeface="Arial" panose="020B0604020202020204" pitchFamily="34" charset="0"/>
                </a:rPr>
                <a:t>“</a:t>
              </a:r>
              <a:r>
                <a:rPr lang="en-US" altLang="ja-JP" sz="2000">
                  <a:cs typeface="Arial" panose="020B0604020202020204" pitchFamily="34" charset="0"/>
                </a:rPr>
                <a:t>I am Alice</a:t>
              </a:r>
              <a:r>
                <a:rPr lang="ja-JP" altLang="en-US" sz="2000">
                  <a:cs typeface="Arial" panose="020B0604020202020204" pitchFamily="34" charset="0"/>
                </a:rPr>
                <a:t>”</a:t>
              </a:r>
              <a:endParaRPr lang="en-US" altLang="en-US" sz="2000">
                <a:cs typeface="Arial" panose="020B0604020202020204" pitchFamily="34" charset="0"/>
              </a:endParaRPr>
            </a:p>
          </p:txBody>
        </p:sp>
        <p:sp>
          <p:nvSpPr>
            <p:cNvPr id="67598" name="Text Box 12"/>
            <p:cNvSpPr txBox="1">
              <a:spLocks noChangeArrowheads="1"/>
            </p:cNvSpPr>
            <p:nvPr/>
          </p:nvSpPr>
          <p:spPr bwMode="auto">
            <a:xfrm>
              <a:off x="531" y="1793"/>
              <a:ext cx="80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cs typeface="Arial" panose="020B0604020202020204" pitchFamily="34" charset="0"/>
                </a:rPr>
                <a:t>Alice</a:t>
              </a:r>
              <a:r>
                <a:rPr lang="ja-JP" altLang="en-US" sz="1800">
                  <a:cs typeface="Arial" panose="020B0604020202020204" pitchFamily="34" charset="0"/>
                </a:rPr>
                <a:t>’</a:t>
              </a:r>
              <a:r>
                <a:rPr lang="en-US" altLang="ja-JP" sz="1800">
                  <a:cs typeface="Arial" panose="020B0604020202020204" pitchFamily="34" charset="0"/>
                </a:rPr>
                <a:t>s </a:t>
              </a:r>
            </a:p>
            <a:p>
              <a:pPr algn="ctr" eaLnBrk="1" hangingPunct="1">
                <a:spcBef>
                  <a:spcPct val="0"/>
                </a:spcBef>
                <a:buFontTx/>
                <a:buNone/>
              </a:pPr>
              <a:r>
                <a:rPr lang="en-US" altLang="en-US" sz="1800">
                  <a:cs typeface="Arial" panose="020B0604020202020204" pitchFamily="34" charset="0"/>
                </a:rPr>
                <a:t>IP address</a:t>
              </a:r>
            </a:p>
          </p:txBody>
        </p:sp>
        <p:sp>
          <p:nvSpPr>
            <p:cNvPr id="67599" name="Line 13"/>
            <p:cNvSpPr>
              <a:spLocks noChangeShapeType="1"/>
            </p:cNvSpPr>
            <p:nvPr/>
          </p:nvSpPr>
          <p:spPr bwMode="auto">
            <a:xfrm flipH="1">
              <a:off x="1338" y="1797"/>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67592" name="Rectangle 2"/>
          <p:cNvSpPr>
            <a:spLocks noGrp="1" noChangeArrowheads="1"/>
          </p:cNvSpPr>
          <p:nvPr>
            <p:ph type="title"/>
          </p:nvPr>
        </p:nvSpPr>
        <p:spPr>
          <a:xfrm>
            <a:off x="358775" y="130175"/>
            <a:ext cx="7772400" cy="1143000"/>
          </a:xfrm>
        </p:spPr>
        <p:txBody>
          <a:bodyPr/>
          <a:lstStyle/>
          <a:p>
            <a:r>
              <a:rPr lang="en-US" altLang="en-US" smtClean="0">
                <a:latin typeface="Gill Sans MT" pitchFamily="34" charset="0"/>
              </a:rPr>
              <a:t>Authentication: another try</a:t>
            </a:r>
          </a:p>
        </p:txBody>
      </p:sp>
      <p:sp>
        <p:nvSpPr>
          <p:cNvPr id="67593" name="Text Box 3"/>
          <p:cNvSpPr txBox="1">
            <a:spLocks noChangeArrowheads="1"/>
          </p:cNvSpPr>
          <p:nvPr/>
        </p:nvSpPr>
        <p:spPr bwMode="auto">
          <a:xfrm>
            <a:off x="725488" y="1452563"/>
            <a:ext cx="782955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cs typeface="Arial" panose="020B0604020202020204" pitchFamily="34" charset="0"/>
              </a:rPr>
              <a:t>Protocol ap2.0: </a:t>
            </a:r>
            <a:r>
              <a:rPr lang="en-US" altLang="en-US" sz="2400">
                <a:cs typeface="Arial" panose="020B0604020202020204" pitchFamily="34" charset="0"/>
              </a:rPr>
              <a:t>Alice says </a:t>
            </a:r>
            <a:r>
              <a:rPr lang="ja-JP" altLang="en-US" sz="2400">
                <a:cs typeface="Arial" panose="020B0604020202020204" pitchFamily="34" charset="0"/>
              </a:rPr>
              <a:t>“</a:t>
            </a:r>
            <a:r>
              <a:rPr lang="en-US" altLang="ja-JP" sz="2400">
                <a:cs typeface="Arial" panose="020B0604020202020204" pitchFamily="34" charset="0"/>
              </a:rPr>
              <a:t>I am Alice</a:t>
            </a:r>
            <a:r>
              <a:rPr lang="ja-JP" altLang="en-US" sz="2400">
                <a:cs typeface="Arial" panose="020B0604020202020204" pitchFamily="34" charset="0"/>
              </a:rPr>
              <a:t>”</a:t>
            </a:r>
            <a:r>
              <a:rPr lang="en-US" altLang="ja-JP" sz="2400">
                <a:cs typeface="Arial" panose="020B0604020202020204" pitchFamily="34" charset="0"/>
              </a:rPr>
              <a:t> in an IP packet</a:t>
            </a:r>
          </a:p>
          <a:p>
            <a:pPr algn="r" eaLnBrk="1" hangingPunct="1">
              <a:spcBef>
                <a:spcPct val="0"/>
              </a:spcBef>
              <a:buFontTx/>
              <a:buNone/>
            </a:pPr>
            <a:r>
              <a:rPr lang="en-US" altLang="en-US" sz="2400">
                <a:cs typeface="Arial" panose="020B0604020202020204" pitchFamily="34" charset="0"/>
              </a:rPr>
              <a:t>containing her source IP address </a:t>
            </a:r>
          </a:p>
        </p:txBody>
      </p:sp>
      <p:pic>
        <p:nvPicPr>
          <p:cNvPr id="67594" name="Picture 18"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63" y="965200"/>
            <a:ext cx="6399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5" name="Slide Number Placeholder 1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614BDA4E-0F38-40BD-B341-737C7BCF37FD}" type="slidenum">
              <a:rPr lang="en-US" altLang="en-US" sz="1400"/>
              <a:pPr>
                <a:spcBef>
                  <a:spcPct val="0"/>
                </a:spcBef>
                <a:buFontTx/>
                <a:buNone/>
              </a:pPr>
              <a:t>37</a:t>
            </a:fld>
            <a:endParaRPr lang="en-US" altLang="en-US" sz="140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28600" y="457200"/>
            <a:ext cx="8229600" cy="685800"/>
          </a:xfrm>
        </p:spPr>
        <p:txBody>
          <a:bodyPr/>
          <a:lstStyle/>
          <a:p>
            <a:r>
              <a:rPr lang="en-US" altLang="en-US" smtClean="0">
                <a:latin typeface="Gill Sans MT" pitchFamily="34" charset="0"/>
              </a:rPr>
              <a:t>Authentication: yet another try</a:t>
            </a:r>
          </a:p>
        </p:txBody>
      </p:sp>
      <p:sp>
        <p:nvSpPr>
          <p:cNvPr id="68611" name="Text Box 3"/>
          <p:cNvSpPr txBox="1">
            <a:spLocks noChangeArrowheads="1"/>
          </p:cNvSpPr>
          <p:nvPr/>
        </p:nvSpPr>
        <p:spPr bwMode="auto">
          <a:xfrm>
            <a:off x="1049338" y="1452563"/>
            <a:ext cx="75057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latin typeface="Gill Sans MT" pitchFamily="34" charset="0"/>
              </a:rPr>
              <a:t>Protocol ap3: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r>
              <a:rPr lang="en-US" altLang="ja-JP" sz="2800">
                <a:latin typeface="Gill Sans MT" pitchFamily="34" charset="0"/>
              </a:rPr>
              <a:t> and sends her</a:t>
            </a:r>
          </a:p>
          <a:p>
            <a:pPr algn="r" eaLnBrk="1" hangingPunct="1">
              <a:spcBef>
                <a:spcPct val="0"/>
              </a:spcBef>
              <a:buFontTx/>
              <a:buNone/>
            </a:pPr>
            <a:r>
              <a:rPr lang="en-US" altLang="en-US" sz="2800" i="1">
                <a:solidFill>
                  <a:srgbClr val="FF0000"/>
                </a:solidFill>
                <a:latin typeface="Gill Sans MT" pitchFamily="34" charset="0"/>
              </a:rPr>
              <a:t> </a:t>
            </a:r>
            <a:r>
              <a:rPr lang="en-US" altLang="en-US" sz="2800" i="1">
                <a:solidFill>
                  <a:srgbClr val="C00000"/>
                </a:solidFill>
                <a:latin typeface="Gill Sans MT" pitchFamily="34" charset="0"/>
              </a:rPr>
              <a:t>encrypted</a:t>
            </a:r>
            <a:r>
              <a:rPr lang="en-US" altLang="en-US" sz="2800">
                <a:solidFill>
                  <a:srgbClr val="C00000"/>
                </a:solidFill>
                <a:latin typeface="Gill Sans MT" pitchFamily="34" charset="0"/>
              </a:rPr>
              <a:t> </a:t>
            </a:r>
            <a:r>
              <a:rPr lang="en-US" altLang="en-US" sz="2800">
                <a:latin typeface="Gill Sans MT" pitchFamily="34" charset="0"/>
              </a:rPr>
              <a:t>secret password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it.</a:t>
            </a:r>
            <a:endParaRPr lang="en-US" altLang="en-US" sz="2800">
              <a:latin typeface="Gill Sans MT" pitchFamily="34" charset="0"/>
            </a:endParaRPr>
          </a:p>
        </p:txBody>
      </p:sp>
      <p:sp>
        <p:nvSpPr>
          <p:cNvPr id="68612" name="Text Box 4"/>
          <p:cNvSpPr txBox="1">
            <a:spLocks noChangeArrowheads="1"/>
          </p:cNvSpPr>
          <p:nvPr/>
        </p:nvSpPr>
        <p:spPr bwMode="auto">
          <a:xfrm>
            <a:off x="6030913" y="4113213"/>
            <a:ext cx="2757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cs typeface="Arial" panose="020B0604020202020204" pitchFamily="34" charset="0"/>
              </a:rPr>
              <a:t>Failure scenario??</a:t>
            </a:r>
          </a:p>
        </p:txBody>
      </p:sp>
      <p:pic>
        <p:nvPicPr>
          <p:cNvPr id="68613"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194300"/>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367030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Line 8"/>
          <p:cNvSpPr>
            <a:spLocks noChangeShapeType="1"/>
          </p:cNvSpPr>
          <p:nvPr/>
        </p:nvSpPr>
        <p:spPr bwMode="auto">
          <a:xfrm>
            <a:off x="1209675" y="4065588"/>
            <a:ext cx="3798888"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68617" name="Group 9"/>
          <p:cNvGrpSpPr>
            <a:grpSpLocks/>
          </p:cNvGrpSpPr>
          <p:nvPr/>
        </p:nvGrpSpPr>
        <p:grpSpPr bwMode="auto">
          <a:xfrm>
            <a:off x="1504950" y="3306763"/>
            <a:ext cx="3046413" cy="633412"/>
            <a:chOff x="806" y="1799"/>
            <a:chExt cx="1919" cy="399"/>
          </a:xfrm>
        </p:grpSpPr>
        <p:sp>
          <p:nvSpPr>
            <p:cNvPr id="68627" name="Rectangle 10"/>
            <p:cNvSpPr>
              <a:spLocks noChangeArrowheads="1"/>
            </p:cNvSpPr>
            <p:nvPr/>
          </p:nvSpPr>
          <p:spPr bwMode="auto">
            <a:xfrm>
              <a:off x="806" y="1799"/>
              <a:ext cx="1919" cy="399"/>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8628" name="Text Box 11"/>
            <p:cNvSpPr txBox="1">
              <a:spLocks noChangeArrowheads="1"/>
            </p:cNvSpPr>
            <p:nvPr/>
          </p:nvSpPr>
          <p:spPr bwMode="auto">
            <a:xfrm>
              <a:off x="1964" y="1876"/>
              <a:ext cx="7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1800">
                  <a:cs typeface="Arial" panose="020B0604020202020204" pitchFamily="34" charset="0"/>
                </a:rPr>
                <a:t>“</a:t>
              </a:r>
              <a:r>
                <a:rPr lang="en-US" altLang="ja-JP" sz="1800">
                  <a:cs typeface="Arial" panose="020B0604020202020204" pitchFamily="34" charset="0"/>
                </a:rPr>
                <a:t>I</a:t>
              </a:r>
              <a:r>
                <a:rPr lang="ja-JP" altLang="en-US" sz="1800">
                  <a:cs typeface="Arial" panose="020B0604020202020204" pitchFamily="34" charset="0"/>
                </a:rPr>
                <a:t>’</a:t>
              </a:r>
              <a:r>
                <a:rPr lang="en-US" altLang="ja-JP" sz="1800">
                  <a:cs typeface="Arial" panose="020B0604020202020204" pitchFamily="34" charset="0"/>
                </a:rPr>
                <a:t>m Alice</a:t>
              </a:r>
              <a:r>
                <a:rPr lang="ja-JP" altLang="en-US" sz="1800">
                  <a:cs typeface="Arial" panose="020B0604020202020204" pitchFamily="34" charset="0"/>
                </a:rPr>
                <a:t>”</a:t>
              </a:r>
              <a:endParaRPr lang="en-US" altLang="en-US" sz="1800">
                <a:cs typeface="Arial" panose="020B0604020202020204" pitchFamily="34" charset="0"/>
              </a:endParaRPr>
            </a:p>
          </p:txBody>
        </p:sp>
        <p:sp>
          <p:nvSpPr>
            <p:cNvPr id="68629" name="Text Box 12"/>
            <p:cNvSpPr txBox="1">
              <a:spLocks noChangeArrowheads="1"/>
            </p:cNvSpPr>
            <p:nvPr/>
          </p:nvSpPr>
          <p:spPr bwMode="auto">
            <a:xfrm>
              <a:off x="809" y="1822"/>
              <a:ext cx="5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Alice</a:t>
              </a:r>
              <a:r>
                <a:rPr lang="ja-JP" altLang="en-US" sz="1600">
                  <a:cs typeface="Arial" panose="020B0604020202020204" pitchFamily="34" charset="0"/>
                </a:rPr>
                <a:t>’</a:t>
              </a:r>
              <a:r>
                <a:rPr lang="en-US" altLang="ja-JP" sz="1600">
                  <a:cs typeface="Arial" panose="020B0604020202020204" pitchFamily="34" charset="0"/>
                </a:rPr>
                <a:t>s </a:t>
              </a:r>
            </a:p>
            <a:p>
              <a:pPr algn="ctr" eaLnBrk="1" hangingPunct="1">
                <a:spcBef>
                  <a:spcPct val="0"/>
                </a:spcBef>
                <a:buFontTx/>
                <a:buNone/>
              </a:pPr>
              <a:r>
                <a:rPr lang="en-US" altLang="en-US" sz="1600">
                  <a:cs typeface="Arial" panose="020B0604020202020204" pitchFamily="34" charset="0"/>
                </a:rPr>
                <a:t>IP addr</a:t>
              </a:r>
            </a:p>
          </p:txBody>
        </p:sp>
        <p:sp>
          <p:nvSpPr>
            <p:cNvPr id="68630" name="Line 13"/>
            <p:cNvSpPr>
              <a:spLocks noChangeShapeType="1"/>
            </p:cNvSpPr>
            <p:nvPr/>
          </p:nvSpPr>
          <p:spPr bwMode="auto">
            <a:xfrm flipH="1">
              <a:off x="1337" y="1805"/>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8631" name="Text Box 14"/>
            <p:cNvSpPr txBox="1">
              <a:spLocks noChangeArrowheads="1"/>
            </p:cNvSpPr>
            <p:nvPr/>
          </p:nvSpPr>
          <p:spPr bwMode="auto">
            <a:xfrm>
              <a:off x="1304" y="1813"/>
              <a:ext cx="72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encrypted </a:t>
              </a:r>
            </a:p>
            <a:p>
              <a:pPr algn="ctr" eaLnBrk="1" hangingPunct="1">
                <a:spcBef>
                  <a:spcPct val="0"/>
                </a:spcBef>
                <a:buFontTx/>
                <a:buNone/>
              </a:pPr>
              <a:r>
                <a:rPr lang="en-US" altLang="en-US" sz="1600">
                  <a:cs typeface="Arial" panose="020B0604020202020204" pitchFamily="34" charset="0"/>
                </a:rPr>
                <a:t>password</a:t>
              </a:r>
            </a:p>
          </p:txBody>
        </p:sp>
        <p:sp>
          <p:nvSpPr>
            <p:cNvPr id="68632" name="Line 15"/>
            <p:cNvSpPr>
              <a:spLocks noChangeShapeType="1"/>
            </p:cNvSpPr>
            <p:nvPr/>
          </p:nvSpPr>
          <p:spPr bwMode="auto">
            <a:xfrm flipH="1">
              <a:off x="1973" y="1805"/>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68618" name="Group 16"/>
          <p:cNvGrpSpPr>
            <a:grpSpLocks/>
          </p:cNvGrpSpPr>
          <p:nvPr/>
        </p:nvGrpSpPr>
        <p:grpSpPr bwMode="auto">
          <a:xfrm>
            <a:off x="3063875" y="4235450"/>
            <a:ext cx="1489075" cy="633413"/>
            <a:chOff x="1000" y="2719"/>
            <a:chExt cx="938" cy="399"/>
          </a:xfrm>
        </p:grpSpPr>
        <p:sp>
          <p:nvSpPr>
            <p:cNvPr id="68623" name="Rectangle 17"/>
            <p:cNvSpPr>
              <a:spLocks noChangeArrowheads="1"/>
            </p:cNvSpPr>
            <p:nvPr/>
          </p:nvSpPr>
          <p:spPr bwMode="auto">
            <a:xfrm>
              <a:off x="1000" y="2719"/>
              <a:ext cx="938" cy="399"/>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8624" name="Text Box 18"/>
            <p:cNvSpPr txBox="1">
              <a:spLocks noChangeArrowheads="1"/>
            </p:cNvSpPr>
            <p:nvPr/>
          </p:nvSpPr>
          <p:spPr bwMode="auto">
            <a:xfrm>
              <a:off x="1574" y="2793"/>
              <a:ext cx="3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cs typeface="Arial" panose="020B0604020202020204" pitchFamily="34" charset="0"/>
                </a:rPr>
                <a:t>OK</a:t>
              </a:r>
            </a:p>
          </p:txBody>
        </p:sp>
        <p:sp>
          <p:nvSpPr>
            <p:cNvPr id="68625" name="Text Box 19"/>
            <p:cNvSpPr txBox="1">
              <a:spLocks noChangeArrowheads="1"/>
            </p:cNvSpPr>
            <p:nvPr/>
          </p:nvSpPr>
          <p:spPr bwMode="auto">
            <a:xfrm>
              <a:off x="1003" y="2742"/>
              <a:ext cx="5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Alice</a:t>
              </a:r>
              <a:r>
                <a:rPr lang="ja-JP" altLang="en-US" sz="1600">
                  <a:cs typeface="Arial" panose="020B0604020202020204" pitchFamily="34" charset="0"/>
                </a:rPr>
                <a:t>’</a:t>
              </a:r>
              <a:r>
                <a:rPr lang="en-US" altLang="ja-JP" sz="1600">
                  <a:cs typeface="Arial" panose="020B0604020202020204" pitchFamily="34" charset="0"/>
                </a:rPr>
                <a:t>s </a:t>
              </a:r>
            </a:p>
            <a:p>
              <a:pPr algn="ctr" eaLnBrk="1" hangingPunct="1">
                <a:spcBef>
                  <a:spcPct val="0"/>
                </a:spcBef>
                <a:buFontTx/>
                <a:buNone/>
              </a:pPr>
              <a:r>
                <a:rPr lang="en-US" altLang="en-US" sz="1600">
                  <a:cs typeface="Arial" panose="020B0604020202020204" pitchFamily="34" charset="0"/>
                </a:rPr>
                <a:t>IP addr</a:t>
              </a:r>
            </a:p>
          </p:txBody>
        </p:sp>
        <p:sp>
          <p:nvSpPr>
            <p:cNvPr id="68626" name="Line 20"/>
            <p:cNvSpPr>
              <a:spLocks noChangeShapeType="1"/>
            </p:cNvSpPr>
            <p:nvPr/>
          </p:nvSpPr>
          <p:spPr bwMode="auto">
            <a:xfrm flipH="1">
              <a:off x="1531" y="2725"/>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68619" name="Line 21"/>
          <p:cNvSpPr>
            <a:spLocks noChangeShapeType="1"/>
          </p:cNvSpPr>
          <p:nvPr/>
        </p:nvSpPr>
        <p:spPr bwMode="auto">
          <a:xfrm>
            <a:off x="4627563" y="3600450"/>
            <a:ext cx="561975"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8620" name="Line 22"/>
          <p:cNvSpPr>
            <a:spLocks noChangeShapeType="1"/>
          </p:cNvSpPr>
          <p:nvPr/>
        </p:nvSpPr>
        <p:spPr bwMode="auto">
          <a:xfrm flipH="1" flipV="1">
            <a:off x="2424113" y="4537075"/>
            <a:ext cx="5413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68621" name="Picture 16" descr="underline_bas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75" y="103187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22" name="Slide Number Placeholder 2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DFB22CF1-CAE3-4493-9CA4-FFC856EABD9A}" type="slidenum">
              <a:rPr lang="en-US" altLang="en-US" sz="1400"/>
              <a:pPr>
                <a:spcBef>
                  <a:spcPct val="0"/>
                </a:spcBef>
                <a:buFontTx/>
                <a:buNone/>
              </a:pPr>
              <a:t>38</a:t>
            </a:fld>
            <a:endParaRPr lang="en-US" altLang="en-US" sz="140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4"/>
          <p:cNvSpPr txBox="1">
            <a:spLocks noChangeArrowheads="1"/>
          </p:cNvSpPr>
          <p:nvPr/>
        </p:nvSpPr>
        <p:spPr bwMode="auto">
          <a:xfrm>
            <a:off x="6765925" y="3436938"/>
            <a:ext cx="16049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cs typeface="Arial" panose="020B0604020202020204" pitchFamily="34" charset="0"/>
              </a:rPr>
              <a:t>record</a:t>
            </a:r>
          </a:p>
          <a:p>
            <a:pPr algn="ctr" eaLnBrk="1" hangingPunct="1">
              <a:spcBef>
                <a:spcPct val="0"/>
              </a:spcBef>
              <a:buFontTx/>
              <a:buNone/>
            </a:pPr>
            <a:r>
              <a:rPr lang="en-US" altLang="en-US" sz="2400">
                <a:cs typeface="Arial" panose="020B0604020202020204" pitchFamily="34" charset="0"/>
              </a:rPr>
              <a:t>and</a:t>
            </a:r>
          </a:p>
          <a:p>
            <a:pPr algn="ctr" eaLnBrk="1" hangingPunct="1">
              <a:spcBef>
                <a:spcPct val="0"/>
              </a:spcBef>
              <a:buFontTx/>
              <a:buNone/>
            </a:pPr>
            <a:r>
              <a:rPr lang="en-US" altLang="en-US" sz="2400">
                <a:cs typeface="Arial" panose="020B0604020202020204" pitchFamily="34" charset="0"/>
              </a:rPr>
              <a:t>playback</a:t>
            </a:r>
          </a:p>
          <a:p>
            <a:pPr algn="ctr" eaLnBrk="1" hangingPunct="1">
              <a:spcBef>
                <a:spcPct val="0"/>
              </a:spcBef>
              <a:buFontTx/>
              <a:buNone/>
            </a:pPr>
            <a:r>
              <a:rPr lang="en-US" altLang="en-US" sz="2400" i="1">
                <a:solidFill>
                  <a:srgbClr val="C00000"/>
                </a:solidFill>
                <a:cs typeface="Arial" panose="020B0604020202020204" pitchFamily="34" charset="0"/>
              </a:rPr>
              <a:t>still</a:t>
            </a:r>
            <a:r>
              <a:rPr lang="en-US" altLang="en-US" sz="2400">
                <a:solidFill>
                  <a:srgbClr val="FF0000"/>
                </a:solidFill>
                <a:cs typeface="Arial" panose="020B0604020202020204" pitchFamily="34" charset="0"/>
              </a:rPr>
              <a:t> </a:t>
            </a:r>
            <a:r>
              <a:rPr lang="en-US" altLang="en-US" sz="2400">
                <a:cs typeface="Arial" panose="020B0604020202020204" pitchFamily="34" charset="0"/>
              </a:rPr>
              <a:t>works!</a:t>
            </a:r>
          </a:p>
        </p:txBody>
      </p:sp>
      <p:pic>
        <p:nvPicPr>
          <p:cNvPr id="69635" name="Picture 5"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721100"/>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6" descr="Ev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194300"/>
            <a:ext cx="1082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7"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3670300"/>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Line 8"/>
          <p:cNvSpPr>
            <a:spLocks noChangeShapeType="1"/>
          </p:cNvSpPr>
          <p:nvPr/>
        </p:nvSpPr>
        <p:spPr bwMode="auto">
          <a:xfrm>
            <a:off x="1209675" y="4065588"/>
            <a:ext cx="3798888" cy="0"/>
          </a:xfrm>
          <a:prstGeom prst="line">
            <a:avLst/>
          </a:prstGeom>
          <a:noFill/>
          <a:ln w="571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9639" name="Rectangle 9"/>
          <p:cNvSpPr>
            <a:spLocks noChangeArrowheads="1"/>
          </p:cNvSpPr>
          <p:nvPr/>
        </p:nvSpPr>
        <p:spPr bwMode="auto">
          <a:xfrm>
            <a:off x="1504950" y="3306763"/>
            <a:ext cx="3046413" cy="633412"/>
          </a:xfrm>
          <a:prstGeom prst="rect">
            <a:avLst/>
          </a:prstGeom>
          <a:solidFill>
            <a:srgbClr val="DDDDDD"/>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9640" name="Text Box 10"/>
          <p:cNvSpPr txBox="1">
            <a:spLocks noChangeArrowheads="1"/>
          </p:cNvSpPr>
          <p:nvPr/>
        </p:nvSpPr>
        <p:spPr bwMode="auto">
          <a:xfrm>
            <a:off x="3343275" y="3429000"/>
            <a:ext cx="1198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1800">
                <a:solidFill>
                  <a:schemeClr val="bg2"/>
                </a:solidFill>
                <a:cs typeface="Arial" panose="020B0604020202020204" pitchFamily="34" charset="0"/>
              </a:rPr>
              <a:t>“</a:t>
            </a:r>
            <a:r>
              <a:rPr lang="en-US" altLang="ja-JP" sz="1800">
                <a:solidFill>
                  <a:schemeClr val="bg2"/>
                </a:solidFill>
                <a:cs typeface="Arial" panose="020B0604020202020204" pitchFamily="34" charset="0"/>
              </a:rPr>
              <a:t>I</a:t>
            </a:r>
            <a:r>
              <a:rPr lang="ja-JP" altLang="en-US" sz="1800">
                <a:solidFill>
                  <a:schemeClr val="bg2"/>
                </a:solidFill>
                <a:cs typeface="Arial" panose="020B0604020202020204" pitchFamily="34" charset="0"/>
              </a:rPr>
              <a:t>’</a:t>
            </a:r>
            <a:r>
              <a:rPr lang="en-US" altLang="ja-JP" sz="1800">
                <a:solidFill>
                  <a:schemeClr val="bg2"/>
                </a:solidFill>
                <a:cs typeface="Arial" panose="020B0604020202020204" pitchFamily="34" charset="0"/>
              </a:rPr>
              <a:t>m Alice</a:t>
            </a:r>
            <a:r>
              <a:rPr lang="ja-JP" altLang="en-US" sz="1800">
                <a:solidFill>
                  <a:schemeClr val="bg2"/>
                </a:solidFill>
                <a:cs typeface="Arial" panose="020B0604020202020204" pitchFamily="34" charset="0"/>
              </a:rPr>
              <a:t>”</a:t>
            </a:r>
            <a:endParaRPr lang="en-US" altLang="en-US" sz="1800">
              <a:solidFill>
                <a:schemeClr val="bg2"/>
              </a:solidFill>
              <a:cs typeface="Arial" panose="020B0604020202020204" pitchFamily="34" charset="0"/>
            </a:endParaRPr>
          </a:p>
        </p:txBody>
      </p:sp>
      <p:sp>
        <p:nvSpPr>
          <p:cNvPr id="69641" name="Text Box 11"/>
          <p:cNvSpPr txBox="1">
            <a:spLocks noChangeArrowheads="1"/>
          </p:cNvSpPr>
          <p:nvPr/>
        </p:nvSpPr>
        <p:spPr bwMode="auto">
          <a:xfrm>
            <a:off x="1509713" y="3343275"/>
            <a:ext cx="8429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chemeClr val="bg2"/>
                </a:solidFill>
                <a:cs typeface="Arial" panose="020B0604020202020204" pitchFamily="34" charset="0"/>
              </a:rPr>
              <a:t>Alice</a:t>
            </a:r>
            <a:r>
              <a:rPr lang="ja-JP" altLang="en-US" sz="1600">
                <a:solidFill>
                  <a:schemeClr val="bg2"/>
                </a:solidFill>
                <a:cs typeface="Arial" panose="020B0604020202020204" pitchFamily="34" charset="0"/>
              </a:rPr>
              <a:t>’</a:t>
            </a:r>
            <a:r>
              <a:rPr lang="en-US" altLang="ja-JP" sz="1600">
                <a:solidFill>
                  <a:schemeClr val="bg2"/>
                </a:solidFill>
                <a:cs typeface="Arial" panose="020B0604020202020204" pitchFamily="34" charset="0"/>
              </a:rPr>
              <a:t>s </a:t>
            </a:r>
          </a:p>
          <a:p>
            <a:pPr algn="ctr" eaLnBrk="1" hangingPunct="1">
              <a:spcBef>
                <a:spcPct val="0"/>
              </a:spcBef>
              <a:buFontTx/>
              <a:buNone/>
            </a:pPr>
            <a:r>
              <a:rPr lang="en-US" altLang="en-US" sz="1600">
                <a:solidFill>
                  <a:schemeClr val="bg2"/>
                </a:solidFill>
                <a:cs typeface="Arial" panose="020B0604020202020204" pitchFamily="34" charset="0"/>
              </a:rPr>
              <a:t>IP addr</a:t>
            </a:r>
          </a:p>
        </p:txBody>
      </p:sp>
      <p:sp>
        <p:nvSpPr>
          <p:cNvPr id="69642" name="Line 12"/>
          <p:cNvSpPr>
            <a:spLocks noChangeShapeType="1"/>
          </p:cNvSpPr>
          <p:nvPr/>
        </p:nvSpPr>
        <p:spPr bwMode="auto">
          <a:xfrm flipH="1">
            <a:off x="2347913" y="3316288"/>
            <a:ext cx="0" cy="623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9643" name="Text Box 13"/>
          <p:cNvSpPr txBox="1">
            <a:spLocks noChangeArrowheads="1"/>
          </p:cNvSpPr>
          <p:nvPr/>
        </p:nvSpPr>
        <p:spPr bwMode="auto">
          <a:xfrm>
            <a:off x="2325688" y="3328988"/>
            <a:ext cx="10842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chemeClr val="bg2"/>
                </a:solidFill>
                <a:cs typeface="Arial" panose="020B0604020202020204" pitchFamily="34" charset="0"/>
              </a:rPr>
              <a:t>encrypted</a:t>
            </a:r>
          </a:p>
          <a:p>
            <a:pPr algn="ctr" eaLnBrk="1" hangingPunct="1">
              <a:spcBef>
                <a:spcPct val="0"/>
              </a:spcBef>
              <a:buFontTx/>
              <a:buNone/>
            </a:pPr>
            <a:r>
              <a:rPr lang="en-US" altLang="en-US" sz="1600">
                <a:solidFill>
                  <a:schemeClr val="bg2"/>
                </a:solidFill>
                <a:cs typeface="Arial" panose="020B0604020202020204" pitchFamily="34" charset="0"/>
              </a:rPr>
              <a:t>password</a:t>
            </a:r>
          </a:p>
        </p:txBody>
      </p:sp>
      <p:sp>
        <p:nvSpPr>
          <p:cNvPr id="69644" name="Line 14"/>
          <p:cNvSpPr>
            <a:spLocks noChangeShapeType="1"/>
          </p:cNvSpPr>
          <p:nvPr/>
        </p:nvSpPr>
        <p:spPr bwMode="auto">
          <a:xfrm flipH="1">
            <a:off x="3357563" y="3316288"/>
            <a:ext cx="0" cy="623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69645" name="Group 15"/>
          <p:cNvGrpSpPr>
            <a:grpSpLocks/>
          </p:cNvGrpSpPr>
          <p:nvPr/>
        </p:nvGrpSpPr>
        <p:grpSpPr bwMode="auto">
          <a:xfrm>
            <a:off x="3327400" y="4224338"/>
            <a:ext cx="1489075" cy="633412"/>
            <a:chOff x="1000" y="2719"/>
            <a:chExt cx="938" cy="399"/>
          </a:xfrm>
        </p:grpSpPr>
        <p:sp>
          <p:nvSpPr>
            <p:cNvPr id="69663" name="Rectangle 16"/>
            <p:cNvSpPr>
              <a:spLocks noChangeArrowheads="1"/>
            </p:cNvSpPr>
            <p:nvPr/>
          </p:nvSpPr>
          <p:spPr bwMode="auto">
            <a:xfrm>
              <a:off x="1000" y="2719"/>
              <a:ext cx="938" cy="399"/>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9664" name="Text Box 17"/>
            <p:cNvSpPr txBox="1">
              <a:spLocks noChangeArrowheads="1"/>
            </p:cNvSpPr>
            <p:nvPr/>
          </p:nvSpPr>
          <p:spPr bwMode="auto">
            <a:xfrm>
              <a:off x="1574" y="2793"/>
              <a:ext cx="3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cs typeface="Arial" panose="020B0604020202020204" pitchFamily="34" charset="0"/>
                </a:rPr>
                <a:t>OK</a:t>
              </a:r>
            </a:p>
          </p:txBody>
        </p:sp>
        <p:sp>
          <p:nvSpPr>
            <p:cNvPr id="69665" name="Text Box 18"/>
            <p:cNvSpPr txBox="1">
              <a:spLocks noChangeArrowheads="1"/>
            </p:cNvSpPr>
            <p:nvPr/>
          </p:nvSpPr>
          <p:spPr bwMode="auto">
            <a:xfrm>
              <a:off x="1003" y="2742"/>
              <a:ext cx="5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Alice</a:t>
              </a:r>
              <a:r>
                <a:rPr lang="ja-JP" altLang="en-US" sz="1600">
                  <a:cs typeface="Arial" panose="020B0604020202020204" pitchFamily="34" charset="0"/>
                </a:rPr>
                <a:t>’</a:t>
              </a:r>
              <a:r>
                <a:rPr lang="en-US" altLang="ja-JP" sz="1600">
                  <a:cs typeface="Arial" panose="020B0604020202020204" pitchFamily="34" charset="0"/>
                </a:rPr>
                <a:t>s </a:t>
              </a:r>
            </a:p>
            <a:p>
              <a:pPr algn="ctr" eaLnBrk="1" hangingPunct="1">
                <a:spcBef>
                  <a:spcPct val="0"/>
                </a:spcBef>
                <a:buFontTx/>
                <a:buNone/>
              </a:pPr>
              <a:r>
                <a:rPr lang="en-US" altLang="en-US" sz="1600">
                  <a:cs typeface="Arial" panose="020B0604020202020204" pitchFamily="34" charset="0"/>
                </a:rPr>
                <a:t>IP addr</a:t>
              </a:r>
            </a:p>
          </p:txBody>
        </p:sp>
        <p:sp>
          <p:nvSpPr>
            <p:cNvPr id="69666" name="Line 19"/>
            <p:cNvSpPr>
              <a:spLocks noChangeShapeType="1"/>
            </p:cNvSpPr>
            <p:nvPr/>
          </p:nvSpPr>
          <p:spPr bwMode="auto">
            <a:xfrm flipH="1">
              <a:off x="1531" y="2725"/>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69646" name="Line 20"/>
          <p:cNvSpPr>
            <a:spLocks noChangeShapeType="1"/>
          </p:cNvSpPr>
          <p:nvPr/>
        </p:nvSpPr>
        <p:spPr bwMode="auto">
          <a:xfrm>
            <a:off x="4627563" y="3600450"/>
            <a:ext cx="561975" cy="1588"/>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pic>
        <p:nvPicPr>
          <p:cNvPr id="69647" name="Picture 21" descr="EN00179_[1]"/>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1949450" y="5337175"/>
            <a:ext cx="862013" cy="668338"/>
          </a:xfrm>
          <a:noFill/>
        </p:spPr>
      </p:pic>
      <p:sp>
        <p:nvSpPr>
          <p:cNvPr id="69648" name="Line 22"/>
          <p:cNvSpPr>
            <a:spLocks noChangeShapeType="1"/>
          </p:cNvSpPr>
          <p:nvPr/>
        </p:nvSpPr>
        <p:spPr bwMode="auto">
          <a:xfrm>
            <a:off x="1857375" y="4106863"/>
            <a:ext cx="623888" cy="129222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9649" name="Line 23"/>
          <p:cNvSpPr>
            <a:spLocks noChangeShapeType="1"/>
          </p:cNvSpPr>
          <p:nvPr/>
        </p:nvSpPr>
        <p:spPr bwMode="auto">
          <a:xfrm flipH="1">
            <a:off x="3344863" y="4214813"/>
            <a:ext cx="1857375" cy="1554162"/>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69650" name="Group 24"/>
          <p:cNvGrpSpPr>
            <a:grpSpLocks/>
          </p:cNvGrpSpPr>
          <p:nvPr/>
        </p:nvGrpSpPr>
        <p:grpSpPr bwMode="auto">
          <a:xfrm>
            <a:off x="3551238" y="5368925"/>
            <a:ext cx="3046412" cy="633413"/>
            <a:chOff x="806" y="1799"/>
            <a:chExt cx="1919" cy="399"/>
          </a:xfrm>
        </p:grpSpPr>
        <p:sp>
          <p:nvSpPr>
            <p:cNvPr id="69657" name="Rectangle 25"/>
            <p:cNvSpPr>
              <a:spLocks noChangeArrowheads="1"/>
            </p:cNvSpPr>
            <p:nvPr/>
          </p:nvSpPr>
          <p:spPr bwMode="auto">
            <a:xfrm>
              <a:off x="806" y="1799"/>
              <a:ext cx="1919" cy="399"/>
            </a:xfrm>
            <a:prstGeom prst="rect">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69658" name="Text Box 26"/>
            <p:cNvSpPr txBox="1">
              <a:spLocks noChangeArrowheads="1"/>
            </p:cNvSpPr>
            <p:nvPr/>
          </p:nvSpPr>
          <p:spPr bwMode="auto">
            <a:xfrm>
              <a:off x="1964" y="1876"/>
              <a:ext cx="7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1800">
                  <a:cs typeface="Arial" panose="020B0604020202020204" pitchFamily="34" charset="0"/>
                </a:rPr>
                <a:t>“</a:t>
              </a:r>
              <a:r>
                <a:rPr lang="en-US" altLang="ja-JP" sz="1800">
                  <a:cs typeface="Arial" panose="020B0604020202020204" pitchFamily="34" charset="0"/>
                </a:rPr>
                <a:t>I</a:t>
              </a:r>
              <a:r>
                <a:rPr lang="ja-JP" altLang="en-US" sz="1800">
                  <a:cs typeface="Arial" panose="020B0604020202020204" pitchFamily="34" charset="0"/>
                </a:rPr>
                <a:t>’</a:t>
              </a:r>
              <a:r>
                <a:rPr lang="en-US" altLang="ja-JP" sz="1800">
                  <a:cs typeface="Arial" panose="020B0604020202020204" pitchFamily="34" charset="0"/>
                </a:rPr>
                <a:t>m Alice</a:t>
              </a:r>
              <a:r>
                <a:rPr lang="ja-JP" altLang="en-US" sz="1800">
                  <a:cs typeface="Arial" panose="020B0604020202020204" pitchFamily="34" charset="0"/>
                </a:rPr>
                <a:t>”</a:t>
              </a:r>
              <a:endParaRPr lang="en-US" altLang="en-US" sz="1800">
                <a:cs typeface="Arial" panose="020B0604020202020204" pitchFamily="34" charset="0"/>
              </a:endParaRPr>
            </a:p>
          </p:txBody>
        </p:sp>
        <p:sp>
          <p:nvSpPr>
            <p:cNvPr id="69659" name="Text Box 27"/>
            <p:cNvSpPr txBox="1">
              <a:spLocks noChangeArrowheads="1"/>
            </p:cNvSpPr>
            <p:nvPr/>
          </p:nvSpPr>
          <p:spPr bwMode="auto">
            <a:xfrm>
              <a:off x="809" y="1822"/>
              <a:ext cx="5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Alice</a:t>
              </a:r>
              <a:r>
                <a:rPr lang="ja-JP" altLang="en-US" sz="1600">
                  <a:cs typeface="Arial" panose="020B0604020202020204" pitchFamily="34" charset="0"/>
                </a:rPr>
                <a:t>’</a:t>
              </a:r>
              <a:r>
                <a:rPr lang="en-US" altLang="ja-JP" sz="1600">
                  <a:cs typeface="Arial" panose="020B0604020202020204" pitchFamily="34" charset="0"/>
                </a:rPr>
                <a:t>s </a:t>
              </a:r>
            </a:p>
            <a:p>
              <a:pPr algn="ctr" eaLnBrk="1" hangingPunct="1">
                <a:spcBef>
                  <a:spcPct val="0"/>
                </a:spcBef>
                <a:buFontTx/>
                <a:buNone/>
              </a:pPr>
              <a:r>
                <a:rPr lang="en-US" altLang="en-US" sz="1600">
                  <a:cs typeface="Arial" panose="020B0604020202020204" pitchFamily="34" charset="0"/>
                </a:rPr>
                <a:t>IP addr</a:t>
              </a:r>
            </a:p>
          </p:txBody>
        </p:sp>
        <p:sp>
          <p:nvSpPr>
            <p:cNvPr id="69660" name="Line 28"/>
            <p:cNvSpPr>
              <a:spLocks noChangeShapeType="1"/>
            </p:cNvSpPr>
            <p:nvPr/>
          </p:nvSpPr>
          <p:spPr bwMode="auto">
            <a:xfrm flipH="1">
              <a:off x="1337" y="1805"/>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9661" name="Text Box 29"/>
            <p:cNvSpPr txBox="1">
              <a:spLocks noChangeArrowheads="1"/>
            </p:cNvSpPr>
            <p:nvPr/>
          </p:nvSpPr>
          <p:spPr bwMode="auto">
            <a:xfrm>
              <a:off x="1323" y="1813"/>
              <a:ext cx="68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cs typeface="Arial" panose="020B0604020202020204" pitchFamily="34" charset="0"/>
                </a:rPr>
                <a:t>encrypted</a:t>
              </a:r>
            </a:p>
            <a:p>
              <a:pPr algn="ctr" eaLnBrk="1" hangingPunct="1">
                <a:spcBef>
                  <a:spcPct val="0"/>
                </a:spcBef>
                <a:buFontTx/>
                <a:buNone/>
              </a:pPr>
              <a:r>
                <a:rPr lang="en-US" altLang="en-US" sz="1600">
                  <a:cs typeface="Arial" panose="020B0604020202020204" pitchFamily="34" charset="0"/>
                </a:rPr>
                <a:t>password</a:t>
              </a:r>
            </a:p>
          </p:txBody>
        </p:sp>
        <p:sp>
          <p:nvSpPr>
            <p:cNvPr id="69662" name="Line 30"/>
            <p:cNvSpPr>
              <a:spLocks noChangeShapeType="1"/>
            </p:cNvSpPr>
            <p:nvPr/>
          </p:nvSpPr>
          <p:spPr bwMode="auto">
            <a:xfrm flipH="1">
              <a:off x="1973" y="1805"/>
              <a:ext cx="0" cy="3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69651" name="Line 31"/>
          <p:cNvSpPr>
            <a:spLocks noChangeShapeType="1"/>
          </p:cNvSpPr>
          <p:nvPr/>
        </p:nvSpPr>
        <p:spPr bwMode="auto">
          <a:xfrm flipV="1">
            <a:off x="4548188" y="4741863"/>
            <a:ext cx="679450" cy="5794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9652" name="Line 32"/>
          <p:cNvSpPr>
            <a:spLocks noChangeShapeType="1"/>
          </p:cNvSpPr>
          <p:nvPr/>
        </p:nvSpPr>
        <p:spPr bwMode="auto">
          <a:xfrm flipH="1">
            <a:off x="3697288" y="4878388"/>
            <a:ext cx="365125"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9653" name="Rectangle 2"/>
          <p:cNvSpPr>
            <a:spLocks noGrp="1" noChangeArrowheads="1"/>
          </p:cNvSpPr>
          <p:nvPr>
            <p:ph type="title"/>
          </p:nvPr>
        </p:nvSpPr>
        <p:spPr>
          <a:xfrm>
            <a:off x="228600" y="457200"/>
            <a:ext cx="8229600" cy="685800"/>
          </a:xfrm>
        </p:spPr>
        <p:txBody>
          <a:bodyPr/>
          <a:lstStyle/>
          <a:p>
            <a:r>
              <a:rPr lang="en-US" altLang="en-US" smtClean="0">
                <a:latin typeface="Gill Sans MT" pitchFamily="34" charset="0"/>
              </a:rPr>
              <a:t>Authentication: yet another try</a:t>
            </a:r>
          </a:p>
        </p:txBody>
      </p:sp>
      <p:sp>
        <p:nvSpPr>
          <p:cNvPr id="69654" name="Text Box 3"/>
          <p:cNvSpPr txBox="1">
            <a:spLocks noChangeArrowheads="1"/>
          </p:cNvSpPr>
          <p:nvPr/>
        </p:nvSpPr>
        <p:spPr bwMode="auto">
          <a:xfrm>
            <a:off x="1049338" y="1452563"/>
            <a:ext cx="75057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latin typeface="Gill Sans MT" pitchFamily="34" charset="0"/>
              </a:rPr>
              <a:t>Protocol ap3:  </a:t>
            </a:r>
            <a:r>
              <a:rPr lang="en-US" altLang="en-US" sz="2800">
                <a:latin typeface="Gill Sans MT" pitchFamily="34" charset="0"/>
              </a:rPr>
              <a:t>Alice says </a:t>
            </a:r>
            <a:r>
              <a:rPr lang="ja-JP" altLang="en-US" sz="2800">
                <a:latin typeface="Gill Sans MT" pitchFamily="34" charset="0"/>
              </a:rPr>
              <a:t>“</a:t>
            </a:r>
            <a:r>
              <a:rPr lang="en-US" altLang="ja-JP" sz="2800">
                <a:latin typeface="Gill Sans MT" pitchFamily="34" charset="0"/>
              </a:rPr>
              <a:t>I am Alice</a:t>
            </a:r>
            <a:r>
              <a:rPr lang="ja-JP" altLang="en-US" sz="2800">
                <a:latin typeface="Gill Sans MT" pitchFamily="34" charset="0"/>
              </a:rPr>
              <a:t>”</a:t>
            </a:r>
            <a:r>
              <a:rPr lang="en-US" altLang="ja-JP" sz="2800">
                <a:latin typeface="Gill Sans MT" pitchFamily="34" charset="0"/>
              </a:rPr>
              <a:t> and sends her</a:t>
            </a:r>
          </a:p>
          <a:p>
            <a:pPr algn="r" eaLnBrk="1" hangingPunct="1">
              <a:spcBef>
                <a:spcPct val="0"/>
              </a:spcBef>
              <a:buFontTx/>
              <a:buNone/>
            </a:pPr>
            <a:r>
              <a:rPr lang="en-US" altLang="en-US" sz="2800" i="1">
                <a:solidFill>
                  <a:srgbClr val="FF0000"/>
                </a:solidFill>
                <a:latin typeface="Gill Sans MT" pitchFamily="34" charset="0"/>
              </a:rPr>
              <a:t> </a:t>
            </a:r>
            <a:r>
              <a:rPr lang="en-US" altLang="en-US" sz="2800" i="1">
                <a:solidFill>
                  <a:srgbClr val="C00000"/>
                </a:solidFill>
                <a:latin typeface="Gill Sans MT" pitchFamily="34" charset="0"/>
              </a:rPr>
              <a:t>encrypted</a:t>
            </a:r>
            <a:r>
              <a:rPr lang="en-US" altLang="en-US" sz="2800">
                <a:solidFill>
                  <a:srgbClr val="C00000"/>
                </a:solidFill>
                <a:latin typeface="Gill Sans MT" pitchFamily="34" charset="0"/>
              </a:rPr>
              <a:t> </a:t>
            </a:r>
            <a:r>
              <a:rPr lang="en-US" altLang="en-US" sz="2800">
                <a:latin typeface="Gill Sans MT" pitchFamily="34" charset="0"/>
              </a:rPr>
              <a:t>secret password to </a:t>
            </a:r>
            <a:r>
              <a:rPr lang="ja-JP" altLang="en-US" sz="2800">
                <a:latin typeface="Gill Sans MT" pitchFamily="34" charset="0"/>
              </a:rPr>
              <a:t>“</a:t>
            </a:r>
            <a:r>
              <a:rPr lang="en-US" altLang="ja-JP" sz="2800">
                <a:latin typeface="Gill Sans MT" pitchFamily="34" charset="0"/>
              </a:rPr>
              <a:t>prove</a:t>
            </a:r>
            <a:r>
              <a:rPr lang="ja-JP" altLang="en-US" sz="2800">
                <a:latin typeface="Gill Sans MT" pitchFamily="34" charset="0"/>
              </a:rPr>
              <a:t>”</a:t>
            </a:r>
            <a:r>
              <a:rPr lang="en-US" altLang="ja-JP" sz="2800">
                <a:latin typeface="Gill Sans MT" pitchFamily="34" charset="0"/>
              </a:rPr>
              <a:t> it.</a:t>
            </a:r>
            <a:endParaRPr lang="en-US" altLang="en-US" sz="2800">
              <a:latin typeface="Gill Sans MT" pitchFamily="34" charset="0"/>
            </a:endParaRPr>
          </a:p>
        </p:txBody>
      </p:sp>
      <p:pic>
        <p:nvPicPr>
          <p:cNvPr id="69655" name="Picture 16" descr="underline_bas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375" y="1031875"/>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56" name="Slide Number Placeholder 3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212FAB87-15FE-4DA5-B34F-22CA8BF5A48E}" type="slidenum">
              <a:rPr lang="en-US" altLang="en-US" sz="1400"/>
              <a:pPr>
                <a:spcBef>
                  <a:spcPct val="0"/>
                </a:spcBef>
                <a:buFontTx/>
                <a:buNone/>
              </a:pPr>
              <a:t>39</a:t>
            </a:fld>
            <a:endParaRPr lang="en-US" altLang="en-US" sz="140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3"/>
          <p:cNvSpPr txBox="1">
            <a:spLocks noChangeArrowheads="1"/>
          </p:cNvSpPr>
          <p:nvPr/>
        </p:nvSpPr>
        <p:spPr bwMode="auto">
          <a:xfrm>
            <a:off x="974725" y="1316038"/>
            <a:ext cx="3536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latin typeface="Gill Sans MT" pitchFamily="34" charset="0"/>
              </a:rPr>
              <a:t>Goal: </a:t>
            </a:r>
            <a:r>
              <a:rPr lang="en-US" altLang="en-US" sz="2400">
                <a:latin typeface="Gill Sans MT" pitchFamily="34" charset="0"/>
              </a:rPr>
              <a:t>avoid playback attack</a:t>
            </a:r>
          </a:p>
        </p:txBody>
      </p:sp>
      <p:sp>
        <p:nvSpPr>
          <p:cNvPr id="70659" name="Text Box 5"/>
          <p:cNvSpPr txBox="1">
            <a:spLocks noChangeArrowheads="1"/>
          </p:cNvSpPr>
          <p:nvPr/>
        </p:nvSpPr>
        <p:spPr bwMode="auto">
          <a:xfrm>
            <a:off x="903288" y="1755775"/>
            <a:ext cx="5911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latin typeface="Gill Sans MT" pitchFamily="34" charset="0"/>
              </a:rPr>
              <a:t>nonce: </a:t>
            </a:r>
            <a:r>
              <a:rPr lang="en-US" altLang="en-US" sz="2400">
                <a:latin typeface="Gill Sans MT" pitchFamily="34" charset="0"/>
              </a:rPr>
              <a:t>number (R) used only </a:t>
            </a:r>
            <a:r>
              <a:rPr lang="en-US" altLang="en-US" sz="2400" i="1">
                <a:solidFill>
                  <a:srgbClr val="000099"/>
                </a:solidFill>
                <a:latin typeface="Gill Sans MT" pitchFamily="34" charset="0"/>
              </a:rPr>
              <a:t>once-in-a-lifetime</a:t>
            </a:r>
          </a:p>
        </p:txBody>
      </p:sp>
      <p:sp>
        <p:nvSpPr>
          <p:cNvPr id="70660" name="Text Box 6"/>
          <p:cNvSpPr txBox="1">
            <a:spLocks noChangeArrowheads="1"/>
          </p:cNvSpPr>
          <p:nvPr/>
        </p:nvSpPr>
        <p:spPr bwMode="auto">
          <a:xfrm>
            <a:off x="750888" y="2162175"/>
            <a:ext cx="7564437"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buFontTx/>
              <a:buNone/>
            </a:pPr>
            <a:r>
              <a:rPr lang="en-US" altLang="en-US" sz="2800" i="1">
                <a:solidFill>
                  <a:srgbClr val="C00000"/>
                </a:solidFill>
                <a:latin typeface="Gill Sans MT" pitchFamily="34" charset="0"/>
              </a:rPr>
              <a:t>ap4.0: </a:t>
            </a:r>
            <a:r>
              <a:rPr lang="en-US" altLang="en-US" sz="2400">
                <a:latin typeface="Gill Sans MT" pitchFamily="34" charset="0"/>
              </a:rPr>
              <a:t>to prove Alice </a:t>
            </a:r>
            <a:r>
              <a:rPr lang="ja-JP" altLang="en-US" sz="2400">
                <a:latin typeface="Gill Sans MT" pitchFamily="34" charset="0"/>
              </a:rPr>
              <a:t>“</a:t>
            </a:r>
            <a:r>
              <a:rPr lang="en-US" altLang="ja-JP" sz="2400">
                <a:latin typeface="Gill Sans MT" pitchFamily="34" charset="0"/>
              </a:rPr>
              <a:t>live</a:t>
            </a:r>
            <a:r>
              <a:rPr lang="ja-JP" altLang="en-US" sz="2400">
                <a:latin typeface="Gill Sans MT" pitchFamily="34" charset="0"/>
              </a:rPr>
              <a:t>”</a:t>
            </a:r>
            <a:r>
              <a:rPr lang="en-US" altLang="ja-JP" sz="2400">
                <a:latin typeface="Gill Sans MT" pitchFamily="34" charset="0"/>
              </a:rPr>
              <a:t>, Bob sends Alice </a:t>
            </a:r>
            <a:r>
              <a:rPr lang="en-US" altLang="ja-JP" sz="2400" i="1">
                <a:solidFill>
                  <a:srgbClr val="C00000"/>
                </a:solidFill>
                <a:latin typeface="Gill Sans MT" pitchFamily="34" charset="0"/>
              </a:rPr>
              <a:t>nonce</a:t>
            </a:r>
            <a:r>
              <a:rPr lang="en-US" altLang="ja-JP" sz="2400">
                <a:latin typeface="Gill Sans MT" pitchFamily="34" charset="0"/>
              </a:rPr>
              <a:t>, R.  Alice</a:t>
            </a:r>
          </a:p>
          <a:p>
            <a:pPr algn="r" eaLnBrk="1" hangingPunct="1">
              <a:spcBef>
                <a:spcPct val="0"/>
              </a:spcBef>
              <a:buFontTx/>
              <a:buNone/>
            </a:pPr>
            <a:r>
              <a:rPr lang="en-US" altLang="en-US" sz="2400">
                <a:latin typeface="Gill Sans MT" pitchFamily="34" charset="0"/>
              </a:rPr>
              <a:t>must return R, encrypted with shared secret key</a:t>
            </a:r>
          </a:p>
        </p:txBody>
      </p:sp>
      <p:pic>
        <p:nvPicPr>
          <p:cNvPr id="70661" name="Picture 7" descr="A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938" y="3736975"/>
            <a:ext cx="6985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8" descr="Bo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4300" y="3686175"/>
            <a:ext cx="81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p:cNvGrpSpPr>
            <a:grpSpLocks/>
          </p:cNvGrpSpPr>
          <p:nvPr/>
        </p:nvGrpSpPr>
        <p:grpSpPr bwMode="auto">
          <a:xfrm>
            <a:off x="2733675" y="3467100"/>
            <a:ext cx="3697288" cy="614363"/>
            <a:chOff x="2733675" y="3467100"/>
            <a:chExt cx="3697288" cy="614363"/>
          </a:xfrm>
        </p:grpSpPr>
        <p:sp>
          <p:nvSpPr>
            <p:cNvPr id="70676" name="Line 9"/>
            <p:cNvSpPr>
              <a:spLocks noChangeShapeType="1"/>
            </p:cNvSpPr>
            <p:nvPr/>
          </p:nvSpPr>
          <p:spPr bwMode="auto">
            <a:xfrm>
              <a:off x="2733675" y="3819525"/>
              <a:ext cx="3697288" cy="2619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0677" name="Text Box 10"/>
            <p:cNvSpPr txBox="1">
              <a:spLocks noChangeArrowheads="1"/>
            </p:cNvSpPr>
            <p:nvPr/>
          </p:nvSpPr>
          <p:spPr bwMode="auto">
            <a:xfrm>
              <a:off x="3740150" y="3467100"/>
              <a:ext cx="17256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ja-JP" altLang="en-US" sz="2400">
                  <a:cs typeface="Arial" panose="020B0604020202020204" pitchFamily="34" charset="0"/>
                </a:rPr>
                <a:t>“</a:t>
              </a:r>
              <a:r>
                <a:rPr lang="en-US" altLang="ja-JP" sz="2400">
                  <a:cs typeface="Arial" panose="020B0604020202020204" pitchFamily="34" charset="0"/>
                </a:rPr>
                <a:t>I am Alice</a:t>
              </a:r>
              <a:r>
                <a:rPr lang="ja-JP" altLang="en-US" sz="2400">
                  <a:cs typeface="Arial" panose="020B0604020202020204" pitchFamily="34" charset="0"/>
                </a:rPr>
                <a:t>”</a:t>
              </a:r>
              <a:endParaRPr lang="en-US" altLang="en-US" sz="2400">
                <a:cs typeface="Arial" panose="020B0604020202020204" pitchFamily="34" charset="0"/>
              </a:endParaRPr>
            </a:p>
          </p:txBody>
        </p:sp>
      </p:grpSp>
      <p:grpSp>
        <p:nvGrpSpPr>
          <p:cNvPr id="3" name="Group 2"/>
          <p:cNvGrpSpPr>
            <a:grpSpLocks/>
          </p:cNvGrpSpPr>
          <p:nvPr/>
        </p:nvGrpSpPr>
        <p:grpSpPr bwMode="auto">
          <a:xfrm>
            <a:off x="2727325" y="4141788"/>
            <a:ext cx="3697288" cy="557212"/>
            <a:chOff x="2727325" y="4141788"/>
            <a:chExt cx="3697288" cy="557212"/>
          </a:xfrm>
        </p:grpSpPr>
        <p:sp>
          <p:nvSpPr>
            <p:cNvPr id="70674" name="Line 11"/>
            <p:cNvSpPr>
              <a:spLocks noChangeShapeType="1"/>
            </p:cNvSpPr>
            <p:nvPr/>
          </p:nvSpPr>
          <p:spPr bwMode="auto">
            <a:xfrm flipH="1">
              <a:off x="2727325" y="4437063"/>
              <a:ext cx="3697288" cy="26193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0675" name="Text Box 13"/>
            <p:cNvSpPr txBox="1">
              <a:spLocks noChangeArrowheads="1"/>
            </p:cNvSpPr>
            <p:nvPr/>
          </p:nvSpPr>
          <p:spPr bwMode="auto">
            <a:xfrm>
              <a:off x="4276725" y="4141788"/>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cs typeface="Arial" panose="020B0604020202020204" pitchFamily="34" charset="0"/>
                </a:rPr>
                <a:t>R</a:t>
              </a:r>
            </a:p>
          </p:txBody>
        </p:sp>
      </p:grpSp>
      <p:grpSp>
        <p:nvGrpSpPr>
          <p:cNvPr id="4" name="Group 3"/>
          <p:cNvGrpSpPr>
            <a:grpSpLocks/>
          </p:cNvGrpSpPr>
          <p:nvPr/>
        </p:nvGrpSpPr>
        <p:grpSpPr bwMode="auto">
          <a:xfrm>
            <a:off x="2735263" y="4700588"/>
            <a:ext cx="5965825" cy="1616075"/>
            <a:chOff x="2735263" y="4700588"/>
            <a:chExt cx="5965825" cy="1616075"/>
          </a:xfrm>
        </p:grpSpPr>
        <p:sp>
          <p:nvSpPr>
            <p:cNvPr id="70669" name="Line 12"/>
            <p:cNvSpPr>
              <a:spLocks noChangeShapeType="1"/>
            </p:cNvSpPr>
            <p:nvPr/>
          </p:nvSpPr>
          <p:spPr bwMode="auto">
            <a:xfrm>
              <a:off x="2735263" y="5097463"/>
              <a:ext cx="3697287" cy="26193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nvGrpSpPr>
            <p:cNvPr id="70670" name="Group 14"/>
            <p:cNvGrpSpPr>
              <a:grpSpLocks/>
            </p:cNvGrpSpPr>
            <p:nvPr/>
          </p:nvGrpSpPr>
          <p:grpSpPr bwMode="auto">
            <a:xfrm>
              <a:off x="4521202" y="4743450"/>
              <a:ext cx="1157288" cy="577850"/>
              <a:chOff x="2693" y="3555"/>
              <a:chExt cx="729" cy="364"/>
            </a:xfrm>
          </p:grpSpPr>
          <p:sp>
            <p:nvSpPr>
              <p:cNvPr id="70672" name="Text Box 15"/>
              <p:cNvSpPr txBox="1">
                <a:spLocks noChangeArrowheads="1"/>
              </p:cNvSpPr>
              <p:nvPr/>
            </p:nvSpPr>
            <p:spPr bwMode="auto">
              <a:xfrm>
                <a:off x="2693" y="3555"/>
                <a:ext cx="7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400">
                    <a:cs typeface="Arial" panose="020B0604020202020204" pitchFamily="34" charset="0"/>
                  </a:rPr>
                  <a:t>K    (R)</a:t>
                </a:r>
              </a:p>
            </p:txBody>
          </p:sp>
          <p:sp>
            <p:nvSpPr>
              <p:cNvPr id="70673" name="Text Box 16"/>
              <p:cNvSpPr txBox="1">
                <a:spLocks noChangeArrowheads="1"/>
              </p:cNvSpPr>
              <p:nvPr/>
            </p:nvSpPr>
            <p:spPr bwMode="auto">
              <a:xfrm>
                <a:off x="2786" y="3688"/>
                <a:ext cx="3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800">
                    <a:cs typeface="Arial" panose="020B0604020202020204" pitchFamily="34" charset="0"/>
                  </a:rPr>
                  <a:t>A-B</a:t>
                </a:r>
              </a:p>
            </p:txBody>
          </p:sp>
        </p:grpSp>
        <p:sp>
          <p:nvSpPr>
            <p:cNvPr id="70671" name="Text Box 17"/>
            <p:cNvSpPr txBox="1">
              <a:spLocks noChangeArrowheads="1"/>
            </p:cNvSpPr>
            <p:nvPr/>
          </p:nvSpPr>
          <p:spPr bwMode="auto">
            <a:xfrm>
              <a:off x="6369050" y="4700588"/>
              <a:ext cx="233203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cs typeface="Arial" panose="020B0604020202020204" pitchFamily="34" charset="0"/>
                </a:rPr>
                <a:t>Alice is live, and only Alice knows key to encrypt nonce, so it must be Alice!</a:t>
              </a:r>
            </a:p>
          </p:txBody>
        </p:sp>
      </p:grpSp>
      <p:sp>
        <p:nvSpPr>
          <p:cNvPr id="70666" name="Rectangle 2"/>
          <p:cNvSpPr>
            <a:spLocks noGrp="1" noChangeArrowheads="1"/>
          </p:cNvSpPr>
          <p:nvPr>
            <p:ph type="title"/>
          </p:nvPr>
        </p:nvSpPr>
        <p:spPr>
          <a:xfrm>
            <a:off x="468313" y="152400"/>
            <a:ext cx="7772400" cy="1143000"/>
          </a:xfrm>
        </p:spPr>
        <p:txBody>
          <a:bodyPr/>
          <a:lstStyle/>
          <a:p>
            <a:r>
              <a:rPr lang="en-US" altLang="en-US" smtClean="0">
                <a:latin typeface="Gill Sans MT" pitchFamily="34" charset="0"/>
              </a:rPr>
              <a:t>Authentication: yet another try</a:t>
            </a:r>
          </a:p>
        </p:txBody>
      </p:sp>
      <p:pic>
        <p:nvPicPr>
          <p:cNvPr id="70667" name="Picture 16" descr="underline_bas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288" y="944563"/>
            <a:ext cx="73136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8" name="Slide Number Placeholder 2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7CB81FFA-EC56-4A79-82FC-8584201A5507}" type="slidenum">
              <a:rPr lang="en-US" altLang="en-US" sz="1400"/>
              <a:pPr>
                <a:spcBef>
                  <a:spcPct val="0"/>
                </a:spcBef>
                <a:buFontTx/>
                <a:buNone/>
              </a:pPr>
              <a:t>40</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smtClean="0">
                <a:latin typeface="Gill Sans MT" pitchFamily="34" charset="0"/>
              </a:rPr>
              <a:t>Roadmap</a:t>
            </a:r>
          </a:p>
        </p:txBody>
      </p:sp>
      <p:sp>
        <p:nvSpPr>
          <p:cNvPr id="33795" name="Rectangle 3"/>
          <p:cNvSpPr>
            <a:spLocks noGrp="1" noChangeArrowheads="1"/>
          </p:cNvSpPr>
          <p:nvPr>
            <p:ph type="body" idx="1"/>
          </p:nvPr>
        </p:nvSpPr>
        <p:spPr>
          <a:xfrm>
            <a:off x="650875" y="1668463"/>
            <a:ext cx="7772400" cy="4648200"/>
          </a:xfrm>
        </p:spPr>
        <p:txBody>
          <a:bodyPr/>
          <a:lstStyle/>
          <a:p>
            <a:pPr>
              <a:defRPr/>
            </a:pPr>
            <a:r>
              <a:rPr lang="en-US" dirty="0">
                <a:solidFill>
                  <a:schemeClr val="bg1">
                    <a:lumMod val="75000"/>
                  </a:schemeClr>
                </a:solidFill>
                <a:latin typeface="Gill Sans MT" charset="0"/>
                <a:ea typeface="+mn-ea"/>
              </a:rPr>
              <a:t>What is network security?</a:t>
            </a:r>
          </a:p>
          <a:p>
            <a:pPr>
              <a:defRPr/>
            </a:pPr>
            <a:r>
              <a:rPr lang="en-US" i="1" dirty="0">
                <a:solidFill>
                  <a:schemeClr val="bg1">
                    <a:lumMod val="75000"/>
                  </a:schemeClr>
                </a:solidFill>
                <a:latin typeface="Gill Sans MT" charset="0"/>
                <a:ea typeface="+mn-ea"/>
              </a:rPr>
              <a:t>Principles of cryptography</a:t>
            </a:r>
          </a:p>
          <a:p>
            <a:pPr>
              <a:defRPr/>
            </a:pPr>
            <a:r>
              <a:rPr lang="en-US" dirty="0">
                <a:solidFill>
                  <a:schemeClr val="bg1">
                    <a:lumMod val="75000"/>
                  </a:schemeClr>
                </a:solidFill>
                <a:latin typeface="Gill Sans MT" charset="0"/>
                <a:ea typeface="+mn-ea"/>
              </a:rPr>
              <a:t>Authentication</a:t>
            </a:r>
          </a:p>
          <a:p>
            <a:pPr>
              <a:defRPr/>
            </a:pPr>
            <a:r>
              <a:rPr lang="en-US" dirty="0">
                <a:solidFill>
                  <a:srgbClr val="FF3300"/>
                </a:solidFill>
                <a:latin typeface="Gill Sans MT" charset="0"/>
                <a:ea typeface="+mn-ea"/>
              </a:rPr>
              <a:t>Message integrity</a:t>
            </a:r>
          </a:p>
        </p:txBody>
      </p:sp>
      <p:sp>
        <p:nvSpPr>
          <p:cNvPr id="71684" name="Slide Number Placeholder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BFAF88E8-06C7-4B00-BC73-0E0CC641A627}" type="slidenum">
              <a:rPr lang="en-US" altLang="en-US" sz="1400"/>
              <a:pPr>
                <a:spcBef>
                  <a:spcPct val="0"/>
                </a:spcBef>
                <a:buFontTx/>
                <a:buNone/>
              </a:pPr>
              <a:t>41</a:t>
            </a:fld>
            <a:endParaRPr lang="en-US" altLang="en-US" sz="140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en-US" smtClean="0"/>
              <a:t>Message Integrity</a:t>
            </a:r>
          </a:p>
        </p:txBody>
      </p:sp>
      <p:sp>
        <p:nvSpPr>
          <p:cNvPr id="73731" name="Rectangle 3"/>
          <p:cNvSpPr>
            <a:spLocks noGrp="1" noChangeArrowheads="1"/>
          </p:cNvSpPr>
          <p:nvPr>
            <p:ph type="body" sz="half" idx="1"/>
          </p:nvPr>
        </p:nvSpPr>
        <p:spPr>
          <a:xfrm>
            <a:off x="609600" y="1371600"/>
            <a:ext cx="8013700" cy="4648200"/>
          </a:xfrm>
        </p:spPr>
        <p:txBody>
          <a:bodyPr/>
          <a:lstStyle/>
          <a:p>
            <a:pPr>
              <a:lnSpc>
                <a:spcPct val="90000"/>
              </a:lnSpc>
              <a:buFont typeface="ZapfDingbats" pitchFamily="82" charset="2"/>
              <a:buNone/>
            </a:pPr>
            <a:r>
              <a:rPr lang="en-US" altLang="en-US" smtClean="0"/>
              <a:t>Bob receives msg from Alice, wants to ensure:</a:t>
            </a:r>
            <a:endParaRPr lang="en-US" altLang="en-US" sz="2400" smtClean="0"/>
          </a:p>
          <a:p>
            <a:pPr>
              <a:lnSpc>
                <a:spcPct val="90000"/>
              </a:lnSpc>
            </a:pPr>
            <a:r>
              <a:rPr lang="en-US" altLang="en-US" sz="2400" smtClean="0"/>
              <a:t>message originally came from Alice </a:t>
            </a:r>
          </a:p>
          <a:p>
            <a:pPr>
              <a:lnSpc>
                <a:spcPct val="90000"/>
              </a:lnSpc>
            </a:pPr>
            <a:r>
              <a:rPr lang="en-US" altLang="en-US" sz="2400" smtClean="0"/>
              <a:t>message not changed since sent by Alice</a:t>
            </a:r>
          </a:p>
          <a:p>
            <a:pPr>
              <a:lnSpc>
                <a:spcPct val="90000"/>
              </a:lnSpc>
            </a:pPr>
            <a:endParaRPr lang="en-US" altLang="en-US" sz="2400" smtClean="0"/>
          </a:p>
          <a:p>
            <a:pPr>
              <a:lnSpc>
                <a:spcPct val="90000"/>
              </a:lnSpc>
              <a:buFont typeface="ZapfDingbats" pitchFamily="82" charset="2"/>
              <a:buNone/>
            </a:pPr>
            <a:endParaRPr lang="en-US" altLang="en-US" sz="2400" smtClean="0"/>
          </a:p>
        </p:txBody>
      </p:sp>
      <p:sp>
        <p:nvSpPr>
          <p:cNvPr id="7373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6BB8A289-2824-47A9-94A5-1874B3A31EA8}" type="slidenum">
              <a:rPr lang="en-US" altLang="en-US" sz="1400"/>
              <a:pPr>
                <a:spcBef>
                  <a:spcPct val="0"/>
                </a:spcBef>
                <a:buFontTx/>
                <a:buNone/>
              </a:pPr>
              <a:t>42</a:t>
            </a:fld>
            <a:endParaRPr lang="en-US" altLang="en-US" sz="14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33400" y="228600"/>
            <a:ext cx="4583113" cy="1143000"/>
          </a:xfrm>
        </p:spPr>
        <p:txBody>
          <a:bodyPr/>
          <a:lstStyle/>
          <a:p>
            <a:r>
              <a:rPr lang="en-US" altLang="en-US" smtClean="0">
                <a:latin typeface="Gill Sans MT" pitchFamily="34" charset="0"/>
              </a:rPr>
              <a:t>Digital signatures </a:t>
            </a:r>
          </a:p>
        </p:txBody>
      </p:sp>
      <p:sp>
        <p:nvSpPr>
          <p:cNvPr id="75779" name="Rectangle 3"/>
          <p:cNvSpPr>
            <a:spLocks noGrp="1" noChangeArrowheads="1"/>
          </p:cNvSpPr>
          <p:nvPr>
            <p:ph type="body" sz="half" idx="1"/>
          </p:nvPr>
        </p:nvSpPr>
        <p:spPr>
          <a:xfrm>
            <a:off x="711200" y="1677988"/>
            <a:ext cx="7708900" cy="4648200"/>
          </a:xfrm>
        </p:spPr>
        <p:txBody>
          <a:bodyPr/>
          <a:lstStyle/>
          <a:p>
            <a:pPr>
              <a:buFont typeface="Wingdings" panose="05000000000000000000" pitchFamily="2" charset="2"/>
              <a:buNone/>
            </a:pPr>
            <a:r>
              <a:rPr lang="en-US" altLang="en-US" smtClean="0">
                <a:solidFill>
                  <a:srgbClr val="C00000"/>
                </a:solidFill>
                <a:latin typeface="Gill Sans MT" pitchFamily="34" charset="0"/>
              </a:rPr>
              <a:t>cryptographic technique analogous to hand-written signatures:</a:t>
            </a:r>
          </a:p>
          <a:p>
            <a:r>
              <a:rPr lang="en-US" altLang="en-US" sz="2600" smtClean="0">
                <a:latin typeface="Gill Sans MT" pitchFamily="34" charset="0"/>
              </a:rPr>
              <a:t>sender (Bob) digitally signs document,  establishing he is document owner/creator. </a:t>
            </a:r>
          </a:p>
          <a:p>
            <a:r>
              <a:rPr lang="en-US" altLang="en-US" sz="2600" i="1" smtClean="0">
                <a:solidFill>
                  <a:srgbClr val="000099"/>
                </a:solidFill>
                <a:latin typeface="Gill Sans MT" pitchFamily="34" charset="0"/>
              </a:rPr>
              <a:t>verifiable, nonforgeable:</a:t>
            </a:r>
            <a:r>
              <a:rPr lang="en-US" altLang="en-US" sz="2600" i="1" smtClean="0">
                <a:latin typeface="Gill Sans MT" pitchFamily="34" charset="0"/>
              </a:rPr>
              <a:t> </a:t>
            </a:r>
            <a:r>
              <a:rPr lang="en-US" altLang="en-US" sz="2600" smtClean="0">
                <a:latin typeface="Gill Sans MT" pitchFamily="34" charset="0"/>
              </a:rPr>
              <a:t>recipient (Alice) can prove to someone that Bob, and no one else (including Alice), must have signed document </a:t>
            </a:r>
          </a:p>
        </p:txBody>
      </p:sp>
      <p:pic>
        <p:nvPicPr>
          <p:cNvPr id="75780"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88" y="1081088"/>
            <a:ext cx="4113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A973D083-86E9-44B7-A6E4-042289D026AA}" type="slidenum">
              <a:rPr lang="en-US" altLang="en-US" sz="1400"/>
              <a:pPr>
                <a:spcBef>
                  <a:spcPct val="0"/>
                </a:spcBef>
                <a:buFontTx/>
                <a:buNone/>
              </a:pPr>
              <a:t>43</a:t>
            </a:fld>
            <a:endParaRPr lang="en-US" altLang="en-US" sz="140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6311900" y="3794125"/>
            <a:ext cx="2311400" cy="1549400"/>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76803" name="Rectangle 3"/>
          <p:cNvSpPr>
            <a:spLocks noChangeArrowheads="1"/>
          </p:cNvSpPr>
          <p:nvPr/>
        </p:nvSpPr>
        <p:spPr bwMode="auto">
          <a:xfrm>
            <a:off x="952500" y="3717925"/>
            <a:ext cx="2311400" cy="1549400"/>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en-US" altLang="en-US" sz="2800">
              <a:cs typeface="Arial" panose="020B0604020202020204" pitchFamily="34" charset="0"/>
            </a:endParaRPr>
          </a:p>
        </p:txBody>
      </p:sp>
      <p:sp>
        <p:nvSpPr>
          <p:cNvPr id="76804" name="Rectangle 5"/>
          <p:cNvSpPr>
            <a:spLocks noGrp="1" noChangeArrowheads="1"/>
          </p:cNvSpPr>
          <p:nvPr>
            <p:ph type="body" sz="half" idx="2"/>
          </p:nvPr>
        </p:nvSpPr>
        <p:spPr>
          <a:xfrm>
            <a:off x="903288" y="1436688"/>
            <a:ext cx="7391400" cy="2032000"/>
          </a:xfrm>
        </p:spPr>
        <p:txBody>
          <a:bodyPr/>
          <a:lstStyle/>
          <a:p>
            <a:pPr>
              <a:buFont typeface="Wingdings" panose="05000000000000000000" pitchFamily="2" charset="2"/>
              <a:buNone/>
            </a:pPr>
            <a:r>
              <a:rPr lang="en-US" altLang="en-US" smtClean="0">
                <a:solidFill>
                  <a:srgbClr val="C00000"/>
                </a:solidFill>
                <a:latin typeface="Gill Sans MT" pitchFamily="34" charset="0"/>
              </a:rPr>
              <a:t>simple digital signature for message m:</a:t>
            </a:r>
          </a:p>
          <a:p>
            <a:r>
              <a:rPr lang="en-US" altLang="en-US" sz="2400" smtClean="0">
                <a:latin typeface="Gill Sans MT" pitchFamily="34" charset="0"/>
              </a:rPr>
              <a:t>Bob signs m by encrypting with his private key K</a:t>
            </a:r>
            <a:r>
              <a:rPr lang="en-US" altLang="en-US" sz="2400" baseline="-25000" smtClean="0">
                <a:latin typeface="Gill Sans MT" pitchFamily="34" charset="0"/>
              </a:rPr>
              <a:t>B</a:t>
            </a:r>
            <a:r>
              <a:rPr lang="en-US" altLang="en-US" sz="2400" smtClean="0">
                <a:latin typeface="Gill Sans MT" pitchFamily="34" charset="0"/>
              </a:rPr>
              <a:t>, creating </a:t>
            </a:r>
            <a:r>
              <a:rPr lang="ja-JP" altLang="en-US" sz="2400" smtClean="0">
                <a:latin typeface="Gill Sans MT" pitchFamily="34" charset="0"/>
              </a:rPr>
              <a:t>“</a:t>
            </a:r>
            <a:r>
              <a:rPr lang="en-US" altLang="ja-JP" sz="2400" smtClean="0">
                <a:latin typeface="Gill Sans MT" pitchFamily="34" charset="0"/>
              </a:rPr>
              <a:t>signed</a:t>
            </a:r>
            <a:r>
              <a:rPr lang="ja-JP" altLang="en-US" sz="2400" smtClean="0">
                <a:latin typeface="Gill Sans MT" pitchFamily="34" charset="0"/>
              </a:rPr>
              <a:t>”</a:t>
            </a:r>
            <a:r>
              <a:rPr lang="en-US" altLang="ja-JP" sz="2400" smtClean="0">
                <a:latin typeface="Gill Sans MT" pitchFamily="34" charset="0"/>
              </a:rPr>
              <a:t> message, K</a:t>
            </a:r>
            <a:r>
              <a:rPr lang="en-US" altLang="ja-JP" sz="2400" baseline="-25000" smtClean="0">
                <a:latin typeface="Gill Sans MT" pitchFamily="34" charset="0"/>
              </a:rPr>
              <a:t>B</a:t>
            </a:r>
            <a:r>
              <a:rPr lang="en-US" altLang="ja-JP" sz="2400" smtClean="0">
                <a:latin typeface="Gill Sans MT" pitchFamily="34" charset="0"/>
              </a:rPr>
              <a:t>(m)</a:t>
            </a:r>
            <a:endParaRPr lang="en-US" altLang="en-US" smtClean="0">
              <a:latin typeface="Gill Sans MT" pitchFamily="34" charset="0"/>
            </a:endParaRPr>
          </a:p>
        </p:txBody>
      </p:sp>
      <p:sp>
        <p:nvSpPr>
          <p:cNvPr id="76805" name="Text Box 6"/>
          <p:cNvSpPr txBox="1">
            <a:spLocks noChangeArrowheads="1"/>
          </p:cNvSpPr>
          <p:nvPr/>
        </p:nvSpPr>
        <p:spPr bwMode="auto">
          <a:xfrm>
            <a:off x="4638675" y="2152650"/>
            <a:ext cx="596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2000">
                <a:latin typeface="Comic Sans MS" panose="030F0702030302020204" pitchFamily="66" charset="0"/>
              </a:rPr>
              <a:t>-</a:t>
            </a:r>
          </a:p>
        </p:txBody>
      </p:sp>
      <p:sp>
        <p:nvSpPr>
          <p:cNvPr id="76806" name="Text Box 7"/>
          <p:cNvSpPr txBox="1">
            <a:spLocks noChangeArrowheads="1"/>
          </p:cNvSpPr>
          <p:nvPr/>
        </p:nvSpPr>
        <p:spPr bwMode="auto">
          <a:xfrm>
            <a:off x="7088188" y="1804988"/>
            <a:ext cx="596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2000">
                <a:latin typeface="Comic Sans MS" panose="030F0702030302020204" pitchFamily="66" charset="0"/>
              </a:rPr>
              <a:t>-</a:t>
            </a:r>
          </a:p>
        </p:txBody>
      </p:sp>
      <p:sp>
        <p:nvSpPr>
          <p:cNvPr id="76807" name="Text Box 8"/>
          <p:cNvSpPr txBox="1">
            <a:spLocks noChangeArrowheads="1"/>
          </p:cNvSpPr>
          <p:nvPr/>
        </p:nvSpPr>
        <p:spPr bwMode="auto">
          <a:xfrm>
            <a:off x="990600" y="3717925"/>
            <a:ext cx="21209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Tx/>
              <a:buNone/>
            </a:pPr>
            <a:r>
              <a:rPr lang="en-US" altLang="en-US" sz="1800">
                <a:ea typeface="Arial Unicode MS" pitchFamily="34" charset="-128"/>
              </a:rPr>
              <a:t>Dear Alice</a:t>
            </a:r>
          </a:p>
          <a:p>
            <a:pPr eaLnBrk="1" hangingPunct="1">
              <a:spcBef>
                <a:spcPct val="50000"/>
              </a:spcBef>
              <a:buFontTx/>
              <a:buNone/>
            </a:pPr>
            <a:r>
              <a:rPr lang="en-US" altLang="en-US" sz="1400">
                <a:ea typeface="Arial Unicode MS" pitchFamily="34" charset="-128"/>
              </a:rPr>
              <a:t>Oh, how I have missed you. I think of you all the time! …(blah blah blah)</a:t>
            </a:r>
          </a:p>
          <a:p>
            <a:pPr eaLnBrk="1" hangingPunct="1">
              <a:spcBef>
                <a:spcPct val="50000"/>
              </a:spcBef>
              <a:buFontTx/>
              <a:buNone/>
            </a:pPr>
            <a:r>
              <a:rPr lang="en-US" altLang="en-US" sz="1800">
                <a:ea typeface="Arial Unicode MS" pitchFamily="34" charset="-128"/>
              </a:rPr>
              <a:t>Bob</a:t>
            </a:r>
          </a:p>
        </p:txBody>
      </p:sp>
      <p:sp>
        <p:nvSpPr>
          <p:cNvPr id="76808" name="Text Box 9"/>
          <p:cNvSpPr txBox="1">
            <a:spLocks noChangeArrowheads="1"/>
          </p:cNvSpPr>
          <p:nvPr/>
        </p:nvSpPr>
        <p:spPr bwMode="auto">
          <a:xfrm>
            <a:off x="652463" y="3298825"/>
            <a:ext cx="2735262"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Bob</a:t>
            </a:r>
            <a:r>
              <a:rPr lang="ja-JP" altLang="en-US" sz="2000">
                <a:solidFill>
                  <a:srgbClr val="C00000"/>
                </a:solidFill>
                <a:cs typeface="Arial" panose="020B0604020202020204" pitchFamily="34" charset="0"/>
              </a:rPr>
              <a:t>’</a:t>
            </a:r>
            <a:r>
              <a:rPr lang="en-US" altLang="ja-JP" sz="2000">
                <a:solidFill>
                  <a:srgbClr val="C00000"/>
                </a:solidFill>
                <a:cs typeface="Arial" panose="020B0604020202020204" pitchFamily="34" charset="0"/>
              </a:rPr>
              <a:t>s message, m</a:t>
            </a:r>
            <a:endParaRPr lang="en-US" altLang="en-US" sz="2000">
              <a:solidFill>
                <a:srgbClr val="C00000"/>
              </a:solidFill>
              <a:cs typeface="Arial" panose="020B0604020202020204" pitchFamily="34" charset="0"/>
            </a:endParaRPr>
          </a:p>
        </p:txBody>
      </p:sp>
      <p:sp>
        <p:nvSpPr>
          <p:cNvPr id="76809" name="Rectangle 10"/>
          <p:cNvSpPr>
            <a:spLocks noChangeArrowheads="1"/>
          </p:cNvSpPr>
          <p:nvPr/>
        </p:nvSpPr>
        <p:spPr bwMode="auto">
          <a:xfrm>
            <a:off x="4141788" y="4060825"/>
            <a:ext cx="1417637" cy="1082675"/>
          </a:xfrm>
          <a:prstGeom prst="rect">
            <a:avLst/>
          </a:prstGeom>
          <a:solidFill>
            <a:srgbClr val="008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endParaRPr lang="fr-FR" altLang="en-US" sz="2800">
              <a:cs typeface="Arial" panose="020B0604020202020204" pitchFamily="34" charset="0"/>
            </a:endParaRPr>
          </a:p>
        </p:txBody>
      </p:sp>
      <p:sp>
        <p:nvSpPr>
          <p:cNvPr id="76810" name="Text Box 11"/>
          <p:cNvSpPr txBox="1">
            <a:spLocks noChangeArrowheads="1"/>
          </p:cNvSpPr>
          <p:nvPr/>
        </p:nvSpPr>
        <p:spPr bwMode="auto">
          <a:xfrm>
            <a:off x="4181475" y="4095750"/>
            <a:ext cx="1368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chemeClr val="bg1"/>
                </a:solidFill>
                <a:cs typeface="Arial" panose="020B0604020202020204" pitchFamily="34" charset="0"/>
              </a:rPr>
              <a:t>Public key</a:t>
            </a:r>
          </a:p>
          <a:p>
            <a:pPr algn="ctr" eaLnBrk="1" hangingPunct="1">
              <a:spcBef>
                <a:spcPct val="0"/>
              </a:spcBef>
              <a:buFontTx/>
              <a:buNone/>
            </a:pPr>
            <a:r>
              <a:rPr lang="en-US" altLang="en-US" sz="2000">
                <a:solidFill>
                  <a:schemeClr val="bg1"/>
                </a:solidFill>
                <a:cs typeface="Arial" panose="020B0604020202020204" pitchFamily="34" charset="0"/>
              </a:rPr>
              <a:t>encryption</a:t>
            </a:r>
          </a:p>
          <a:p>
            <a:pPr algn="ctr" eaLnBrk="1" hangingPunct="1">
              <a:spcBef>
                <a:spcPct val="0"/>
              </a:spcBef>
              <a:buFontTx/>
              <a:buNone/>
            </a:pPr>
            <a:r>
              <a:rPr lang="en-US" altLang="en-US" sz="2000">
                <a:solidFill>
                  <a:schemeClr val="bg1"/>
                </a:solidFill>
                <a:cs typeface="Arial" panose="020B0604020202020204" pitchFamily="34" charset="0"/>
              </a:rPr>
              <a:t>algorithm</a:t>
            </a:r>
          </a:p>
        </p:txBody>
      </p:sp>
      <p:sp>
        <p:nvSpPr>
          <p:cNvPr id="76811" name="Line 12"/>
          <p:cNvSpPr>
            <a:spLocks noChangeShapeType="1"/>
          </p:cNvSpPr>
          <p:nvPr/>
        </p:nvSpPr>
        <p:spPr bwMode="auto">
          <a:xfrm>
            <a:off x="3409950" y="4524375"/>
            <a:ext cx="674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6812" name="Text Box 13"/>
          <p:cNvSpPr txBox="1">
            <a:spLocks noChangeArrowheads="1"/>
          </p:cNvSpPr>
          <p:nvPr/>
        </p:nvSpPr>
        <p:spPr bwMode="auto">
          <a:xfrm>
            <a:off x="4908550" y="3251200"/>
            <a:ext cx="17621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US" altLang="en-US" sz="1800">
                <a:cs typeface="Arial" panose="020B0604020202020204" pitchFamily="34" charset="0"/>
              </a:rPr>
              <a:t>Bob</a:t>
            </a:r>
            <a:r>
              <a:rPr lang="ja-JP" altLang="en-US" sz="1800">
                <a:cs typeface="Arial" panose="020B0604020202020204" pitchFamily="34" charset="0"/>
              </a:rPr>
              <a:t>’</a:t>
            </a:r>
            <a:r>
              <a:rPr lang="en-US" altLang="ja-JP" sz="1800">
                <a:cs typeface="Arial" panose="020B0604020202020204" pitchFamily="34" charset="0"/>
              </a:rPr>
              <a:t>s private</a:t>
            </a:r>
          </a:p>
          <a:p>
            <a:pPr eaLnBrk="1" hangingPunct="1">
              <a:spcBef>
                <a:spcPct val="0"/>
              </a:spcBef>
              <a:buFontTx/>
              <a:buNone/>
            </a:pPr>
            <a:r>
              <a:rPr lang="en-US" altLang="en-US" sz="1800">
                <a:cs typeface="Arial" panose="020B0604020202020204" pitchFamily="34" charset="0"/>
              </a:rPr>
              <a:t>key </a:t>
            </a:r>
          </a:p>
        </p:txBody>
      </p:sp>
      <p:pic>
        <p:nvPicPr>
          <p:cNvPr id="76813" name="Picture 14" descr="BS00768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flipV="1">
            <a:off x="4014788" y="3432175"/>
            <a:ext cx="458787"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814" name="Group 15"/>
          <p:cNvGrpSpPr>
            <a:grpSpLocks/>
          </p:cNvGrpSpPr>
          <p:nvPr/>
        </p:nvGrpSpPr>
        <p:grpSpPr bwMode="auto">
          <a:xfrm>
            <a:off x="4486275" y="3200400"/>
            <a:ext cx="533400" cy="628650"/>
            <a:chOff x="2994" y="2058"/>
            <a:chExt cx="336" cy="396"/>
          </a:xfrm>
        </p:grpSpPr>
        <p:grpSp>
          <p:nvGrpSpPr>
            <p:cNvPr id="76825" name="Group 16"/>
            <p:cNvGrpSpPr>
              <a:grpSpLocks/>
            </p:cNvGrpSpPr>
            <p:nvPr/>
          </p:nvGrpSpPr>
          <p:grpSpPr bwMode="auto">
            <a:xfrm>
              <a:off x="2994" y="2144"/>
              <a:ext cx="336" cy="310"/>
              <a:chOff x="2994" y="2144"/>
              <a:chExt cx="336" cy="310"/>
            </a:xfrm>
          </p:grpSpPr>
          <p:sp>
            <p:nvSpPr>
              <p:cNvPr id="76827" name="Text Box 17"/>
              <p:cNvSpPr txBox="1">
                <a:spLocks noChangeArrowheads="1"/>
              </p:cNvSpPr>
              <p:nvPr/>
            </p:nvSpPr>
            <p:spPr bwMode="auto">
              <a:xfrm>
                <a:off x="2994" y="2144"/>
                <a:ext cx="2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K </a:t>
                </a:r>
              </a:p>
            </p:txBody>
          </p:sp>
          <p:sp>
            <p:nvSpPr>
              <p:cNvPr id="76828" name="Text Box 18"/>
              <p:cNvSpPr txBox="1">
                <a:spLocks noChangeArrowheads="1"/>
              </p:cNvSpPr>
              <p:nvPr/>
            </p:nvSpPr>
            <p:spPr bwMode="auto">
              <a:xfrm>
                <a:off x="3128" y="2241"/>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rgbClr val="C00000"/>
                    </a:solidFill>
                    <a:cs typeface="Arial" panose="020B0604020202020204" pitchFamily="34" charset="0"/>
                  </a:rPr>
                  <a:t>B</a:t>
                </a:r>
              </a:p>
            </p:txBody>
          </p:sp>
        </p:grpSp>
        <p:sp>
          <p:nvSpPr>
            <p:cNvPr id="76826" name="Text Box 19"/>
            <p:cNvSpPr txBox="1">
              <a:spLocks noChangeArrowheads="1"/>
            </p:cNvSpPr>
            <p:nvPr/>
          </p:nvSpPr>
          <p:spPr bwMode="auto">
            <a:xfrm>
              <a:off x="3140" y="2058"/>
              <a:ext cx="1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rgbClr val="C00000"/>
                  </a:solidFill>
                  <a:cs typeface="Arial" panose="020B0604020202020204" pitchFamily="34" charset="0"/>
                </a:rPr>
                <a:t>-</a:t>
              </a:r>
            </a:p>
          </p:txBody>
        </p:sp>
      </p:grpSp>
      <p:sp>
        <p:nvSpPr>
          <p:cNvPr id="76815" name="Line 20"/>
          <p:cNvSpPr>
            <a:spLocks noChangeShapeType="1"/>
          </p:cNvSpPr>
          <p:nvPr/>
        </p:nvSpPr>
        <p:spPr bwMode="auto">
          <a:xfrm>
            <a:off x="4489450" y="3584575"/>
            <a:ext cx="1588" cy="469900"/>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6816" name="Line 21"/>
          <p:cNvSpPr>
            <a:spLocks noChangeShapeType="1"/>
          </p:cNvSpPr>
          <p:nvPr/>
        </p:nvSpPr>
        <p:spPr bwMode="auto">
          <a:xfrm>
            <a:off x="5594350" y="4524375"/>
            <a:ext cx="674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76817" name="Text Box 22"/>
          <p:cNvSpPr txBox="1">
            <a:spLocks noChangeArrowheads="1"/>
          </p:cNvSpPr>
          <p:nvPr/>
        </p:nvSpPr>
        <p:spPr bwMode="auto">
          <a:xfrm>
            <a:off x="6438900" y="3895725"/>
            <a:ext cx="21209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50000"/>
              </a:spcBef>
              <a:buFontTx/>
              <a:buNone/>
            </a:pPr>
            <a:r>
              <a:rPr lang="en-US" altLang="en-US" sz="1800">
                <a:ea typeface="Arial Unicode MS" pitchFamily="34" charset="-128"/>
              </a:rPr>
              <a:t>Bob</a:t>
            </a:r>
            <a:r>
              <a:rPr lang="ja-JP" altLang="en-US" sz="1800">
                <a:ea typeface="Arial Unicode MS" pitchFamily="34" charset="-128"/>
              </a:rPr>
              <a:t>’</a:t>
            </a:r>
            <a:r>
              <a:rPr lang="en-US" altLang="ja-JP" sz="1800">
                <a:ea typeface="Arial Unicode MS" pitchFamily="34" charset="-128"/>
                <a:cs typeface="Arial" panose="020B0604020202020204" pitchFamily="34" charset="0"/>
              </a:rPr>
              <a:t>s message, m, signed (encrypted) with his private key</a:t>
            </a:r>
            <a:endParaRPr lang="en-US" altLang="en-US" sz="1800">
              <a:ea typeface="Arial Unicode MS" pitchFamily="34" charset="-128"/>
              <a:cs typeface="Arial" panose="020B0604020202020204" pitchFamily="34" charset="0"/>
            </a:endParaRPr>
          </a:p>
        </p:txBody>
      </p:sp>
      <p:sp>
        <p:nvSpPr>
          <p:cNvPr id="76818" name="Text Box 25"/>
          <p:cNvSpPr txBox="1">
            <a:spLocks noChangeArrowheads="1"/>
          </p:cNvSpPr>
          <p:nvPr/>
        </p:nvSpPr>
        <p:spPr bwMode="auto">
          <a:xfrm>
            <a:off x="6859588" y="3375025"/>
            <a:ext cx="71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m,K </a:t>
            </a:r>
          </a:p>
        </p:txBody>
      </p:sp>
      <p:sp>
        <p:nvSpPr>
          <p:cNvPr id="76819" name="Text Box 26"/>
          <p:cNvSpPr txBox="1">
            <a:spLocks noChangeArrowheads="1"/>
          </p:cNvSpPr>
          <p:nvPr/>
        </p:nvSpPr>
        <p:spPr bwMode="auto">
          <a:xfrm>
            <a:off x="7356475" y="3529013"/>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rgbClr val="C00000"/>
                </a:solidFill>
                <a:cs typeface="Arial" panose="020B0604020202020204" pitchFamily="34" charset="0"/>
              </a:rPr>
              <a:t>B</a:t>
            </a:r>
          </a:p>
        </p:txBody>
      </p:sp>
      <p:sp>
        <p:nvSpPr>
          <p:cNvPr id="76820" name="Text Box 27"/>
          <p:cNvSpPr txBox="1">
            <a:spLocks noChangeArrowheads="1"/>
          </p:cNvSpPr>
          <p:nvPr/>
        </p:nvSpPr>
        <p:spPr bwMode="auto">
          <a:xfrm>
            <a:off x="7362825" y="3228975"/>
            <a:ext cx="25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1600">
                <a:solidFill>
                  <a:srgbClr val="C00000"/>
                </a:solidFill>
                <a:cs typeface="Arial" panose="020B0604020202020204" pitchFamily="34" charset="0"/>
              </a:rPr>
              <a:t>-</a:t>
            </a:r>
          </a:p>
        </p:txBody>
      </p:sp>
      <p:sp>
        <p:nvSpPr>
          <p:cNvPr id="76821" name="Text Box 28"/>
          <p:cNvSpPr txBox="1">
            <a:spLocks noChangeArrowheads="1"/>
          </p:cNvSpPr>
          <p:nvPr/>
        </p:nvSpPr>
        <p:spPr bwMode="auto">
          <a:xfrm>
            <a:off x="7381875" y="3344863"/>
            <a:ext cx="677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2000">
                <a:solidFill>
                  <a:srgbClr val="C00000"/>
                </a:solidFill>
                <a:cs typeface="Arial" panose="020B0604020202020204" pitchFamily="34" charset="0"/>
              </a:rPr>
              <a:t> (m)</a:t>
            </a:r>
          </a:p>
        </p:txBody>
      </p:sp>
      <p:sp>
        <p:nvSpPr>
          <p:cNvPr id="76822" name="Rectangle 2"/>
          <p:cNvSpPr>
            <a:spLocks noGrp="1" noChangeArrowheads="1"/>
          </p:cNvSpPr>
          <p:nvPr>
            <p:ph type="title"/>
          </p:nvPr>
        </p:nvSpPr>
        <p:spPr>
          <a:xfrm>
            <a:off x="533400" y="174625"/>
            <a:ext cx="8458200" cy="1143000"/>
          </a:xfrm>
        </p:spPr>
        <p:txBody>
          <a:bodyPr/>
          <a:lstStyle/>
          <a:p>
            <a:r>
              <a:rPr lang="en-US" altLang="en-US" sz="2800" smtClean="0">
                <a:latin typeface="Gill Sans MT" pitchFamily="34" charset="0"/>
              </a:rPr>
              <a:t>Digital signatures (Asymmetric cryptography)</a:t>
            </a:r>
          </a:p>
        </p:txBody>
      </p:sp>
      <p:pic>
        <p:nvPicPr>
          <p:cNvPr id="76823" name="Picture 23"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24" name="Slide Number Placeholder 28"/>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81C29310-6767-4D50-A5E1-AF1582BB8616}" type="slidenum">
              <a:rPr lang="en-US" altLang="en-US" sz="1400"/>
              <a:pPr>
                <a:spcBef>
                  <a:spcPct val="0"/>
                </a:spcBef>
                <a:buFontTx/>
                <a:buNone/>
              </a:pPr>
              <a:t>44</a:t>
            </a:fld>
            <a:endParaRPr lang="en-US" altLang="en-US" sz="140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7"/>
          <p:cNvSpPr txBox="1">
            <a:spLocks noChangeArrowheads="1"/>
          </p:cNvSpPr>
          <p:nvPr/>
        </p:nvSpPr>
        <p:spPr bwMode="auto">
          <a:xfrm>
            <a:off x="7034213" y="1116013"/>
            <a:ext cx="736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120000"/>
              </a:lnSpc>
              <a:spcBef>
                <a:spcPct val="50000"/>
              </a:spcBef>
              <a:buFontTx/>
              <a:buNone/>
            </a:pPr>
            <a:r>
              <a:rPr lang="en-US" altLang="en-US" sz="1800">
                <a:latin typeface="Arial Unicode MS" pitchFamily="34" charset="-128"/>
                <a:ea typeface="Arial Unicode MS" pitchFamily="34" charset="-128"/>
              </a:rPr>
              <a:t>-</a:t>
            </a:r>
          </a:p>
        </p:txBody>
      </p:sp>
      <p:sp>
        <p:nvSpPr>
          <p:cNvPr id="77827" name="Rectangle 11"/>
          <p:cNvSpPr>
            <a:spLocks noGrp="1" noChangeArrowheads="1"/>
          </p:cNvSpPr>
          <p:nvPr>
            <p:ph type="body" sz="half" idx="2"/>
          </p:nvPr>
        </p:nvSpPr>
        <p:spPr>
          <a:xfrm>
            <a:off x="990600" y="2819400"/>
            <a:ext cx="7391400" cy="2311400"/>
          </a:xfrm>
        </p:spPr>
        <p:txBody>
          <a:bodyPr/>
          <a:lstStyle/>
          <a:p>
            <a:pPr marL="381000" indent="-381000">
              <a:lnSpc>
                <a:spcPct val="90000"/>
              </a:lnSpc>
              <a:buFont typeface="Wingdings" panose="05000000000000000000" pitchFamily="2" charset="2"/>
              <a:buNone/>
            </a:pPr>
            <a:r>
              <a:rPr lang="en-US" altLang="en-US" sz="2400" smtClean="0">
                <a:solidFill>
                  <a:srgbClr val="C00000"/>
                </a:solidFill>
                <a:latin typeface="Gill Sans MT" pitchFamily="34" charset="0"/>
              </a:rPr>
              <a:t>Alice thus verifies that:</a:t>
            </a:r>
          </a:p>
          <a:p>
            <a:pPr marL="800100" lvl="1" indent="-342900">
              <a:lnSpc>
                <a:spcPct val="90000"/>
              </a:lnSpc>
              <a:buFont typeface="ZapfDingbats" pitchFamily="82" charset="2"/>
              <a:buChar char="ü"/>
            </a:pPr>
            <a:r>
              <a:rPr lang="en-US" altLang="en-US" smtClean="0">
                <a:latin typeface="Gill Sans MT" pitchFamily="34" charset="0"/>
              </a:rPr>
              <a:t>Bob signed m</a:t>
            </a:r>
          </a:p>
          <a:p>
            <a:pPr marL="800100" lvl="1" indent="-342900">
              <a:lnSpc>
                <a:spcPct val="90000"/>
              </a:lnSpc>
              <a:buFont typeface="ZapfDingbats" pitchFamily="82" charset="2"/>
              <a:buChar char="ü"/>
            </a:pPr>
            <a:r>
              <a:rPr lang="en-US" altLang="en-US" smtClean="0">
                <a:latin typeface="Gill Sans MT" pitchFamily="34" charset="0"/>
              </a:rPr>
              <a:t>no one else signed m</a:t>
            </a:r>
          </a:p>
          <a:p>
            <a:pPr marL="381000" indent="-381000">
              <a:lnSpc>
                <a:spcPct val="90000"/>
              </a:lnSpc>
              <a:buFont typeface="Wingdings" panose="05000000000000000000" pitchFamily="2" charset="2"/>
              <a:buNone/>
            </a:pPr>
            <a:r>
              <a:rPr lang="en-US" altLang="en-US" sz="2400" smtClean="0">
                <a:solidFill>
                  <a:srgbClr val="C00000"/>
                </a:solidFill>
                <a:latin typeface="Gill Sans MT" pitchFamily="34" charset="0"/>
              </a:rPr>
              <a:t>non-repudiation:</a:t>
            </a:r>
          </a:p>
          <a:p>
            <a:pPr marL="800100" lvl="1" indent="-342900">
              <a:lnSpc>
                <a:spcPct val="90000"/>
              </a:lnSpc>
              <a:buFont typeface="Wingdings" panose="05000000000000000000" pitchFamily="2" charset="2"/>
              <a:buChar char="ü"/>
            </a:pPr>
            <a:r>
              <a:rPr lang="en-US" altLang="en-US" smtClean="0">
                <a:latin typeface="Gill Sans MT" pitchFamily="34" charset="0"/>
              </a:rPr>
              <a:t>Alice can take m, and signature K</a:t>
            </a:r>
            <a:r>
              <a:rPr lang="en-US" altLang="en-US" baseline="-25000" smtClean="0">
                <a:latin typeface="Gill Sans MT" pitchFamily="34" charset="0"/>
              </a:rPr>
              <a:t>B</a:t>
            </a:r>
            <a:r>
              <a:rPr lang="en-US" altLang="en-US" smtClean="0">
                <a:latin typeface="Gill Sans MT" pitchFamily="34" charset="0"/>
              </a:rPr>
              <a:t>(m) to court and prove that Bob signed m</a:t>
            </a:r>
          </a:p>
          <a:p>
            <a:pPr marL="381000" indent="-381000">
              <a:lnSpc>
                <a:spcPct val="90000"/>
              </a:lnSpc>
              <a:buFont typeface="Wingdings" panose="05000000000000000000" pitchFamily="2" charset="2"/>
              <a:buChar char="ü"/>
            </a:pPr>
            <a:endParaRPr lang="en-US" altLang="en-US" sz="2400" smtClean="0">
              <a:latin typeface="Gill Sans MT" pitchFamily="34" charset="0"/>
            </a:endParaRPr>
          </a:p>
        </p:txBody>
      </p:sp>
      <p:sp>
        <p:nvSpPr>
          <p:cNvPr id="77828" name="Text Box 12"/>
          <p:cNvSpPr txBox="1">
            <a:spLocks noChangeArrowheads="1"/>
          </p:cNvSpPr>
          <p:nvPr/>
        </p:nvSpPr>
        <p:spPr bwMode="auto">
          <a:xfrm>
            <a:off x="5673725" y="5435600"/>
            <a:ext cx="7366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lnSpc>
                <a:spcPct val="120000"/>
              </a:lnSpc>
              <a:spcBef>
                <a:spcPct val="50000"/>
              </a:spcBef>
              <a:buFontTx/>
              <a:buNone/>
            </a:pPr>
            <a:r>
              <a:rPr lang="en-US" altLang="en-US" sz="1800">
                <a:latin typeface="Arial Unicode MS" pitchFamily="34" charset="-128"/>
                <a:ea typeface="Arial Unicode MS" pitchFamily="34" charset="-128"/>
              </a:rPr>
              <a:t>-</a:t>
            </a:r>
          </a:p>
        </p:txBody>
      </p:sp>
      <p:sp>
        <p:nvSpPr>
          <p:cNvPr id="77829" name="Rectangle 2"/>
          <p:cNvSpPr>
            <a:spLocks noGrp="1" noChangeArrowheads="1"/>
          </p:cNvSpPr>
          <p:nvPr>
            <p:ph type="title"/>
          </p:nvPr>
        </p:nvSpPr>
        <p:spPr>
          <a:xfrm>
            <a:off x="533400" y="174625"/>
            <a:ext cx="4583113" cy="1143000"/>
          </a:xfrm>
        </p:spPr>
        <p:txBody>
          <a:bodyPr/>
          <a:lstStyle/>
          <a:p>
            <a:r>
              <a:rPr lang="en-US" altLang="en-US" smtClean="0">
                <a:latin typeface="Gill Sans MT" pitchFamily="34" charset="0"/>
              </a:rPr>
              <a:t>Digital signatures </a:t>
            </a:r>
          </a:p>
        </p:txBody>
      </p:sp>
      <p:pic>
        <p:nvPicPr>
          <p:cNvPr id="77830" name="Picture 23"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1025525"/>
            <a:ext cx="41132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1" name="Rectangle 3"/>
          <p:cNvSpPr txBox="1">
            <a:spLocks noChangeArrowheads="1"/>
          </p:cNvSpPr>
          <p:nvPr/>
        </p:nvSpPr>
        <p:spPr bwMode="auto">
          <a:xfrm>
            <a:off x="757238" y="1239838"/>
            <a:ext cx="81470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lnSpc>
                <a:spcPct val="110000"/>
              </a:lnSpc>
              <a:buClr>
                <a:srgbClr val="000099"/>
              </a:buClr>
              <a:buSzPct val="70000"/>
              <a:buFont typeface="Wingdings" panose="05000000000000000000" pitchFamily="2" charset="2"/>
              <a:buChar char="v"/>
            </a:pPr>
            <a:r>
              <a:rPr lang="en-US" altLang="en-US" sz="2400">
                <a:latin typeface="Gill Sans MT" pitchFamily="34" charset="0"/>
              </a:rPr>
              <a:t>suppose Alice receives msg m, with signature: m, K</a:t>
            </a:r>
            <a:r>
              <a:rPr lang="en-US" altLang="en-US" sz="2400" baseline="-25000">
                <a:latin typeface="Gill Sans MT" pitchFamily="34" charset="0"/>
              </a:rPr>
              <a:t>B</a:t>
            </a:r>
            <a:r>
              <a:rPr lang="en-US" altLang="en-US" sz="2400">
                <a:latin typeface="Gill Sans MT" pitchFamily="34" charset="0"/>
              </a:rPr>
              <a:t>(m)</a:t>
            </a:r>
          </a:p>
          <a:p>
            <a:pPr eaLnBrk="1" hangingPunct="1">
              <a:lnSpc>
                <a:spcPct val="110000"/>
              </a:lnSpc>
              <a:buClr>
                <a:srgbClr val="000099"/>
              </a:buClr>
              <a:buSzPct val="70000"/>
              <a:buFont typeface="Wingdings" panose="05000000000000000000" pitchFamily="2" charset="2"/>
              <a:buChar char="v"/>
            </a:pPr>
            <a:r>
              <a:rPr lang="en-US" altLang="en-US" sz="2400">
                <a:latin typeface="Gill Sans MT" pitchFamily="34" charset="0"/>
              </a:rPr>
              <a:t>Alice verifies m signed by Bob by applying Bob</a:t>
            </a:r>
            <a:r>
              <a:rPr lang="ja-JP" altLang="en-US" sz="2400">
                <a:latin typeface="Gill Sans MT" pitchFamily="34" charset="0"/>
              </a:rPr>
              <a:t>’</a:t>
            </a:r>
            <a:r>
              <a:rPr lang="en-US" altLang="ja-JP" sz="2400">
                <a:latin typeface="Gill Sans MT" pitchFamily="34" charset="0"/>
              </a:rPr>
              <a:t>s public key</a:t>
            </a:r>
            <a:endParaRPr lang="en-US" altLang="en-US" sz="2400">
              <a:latin typeface="Gill Sans MT" pitchFamily="34" charset="0"/>
            </a:endParaRPr>
          </a:p>
        </p:txBody>
      </p:sp>
      <p:sp>
        <p:nvSpPr>
          <p:cNvPr id="77832" name="Slide Number Placeholder 8"/>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97B711D6-6F9D-4C28-8BEC-B63BCC423A95}" type="slidenum">
              <a:rPr lang="en-US" altLang="en-US" sz="1400"/>
              <a:pPr>
                <a:spcBef>
                  <a:spcPct val="0"/>
                </a:spcBef>
                <a:buFontTx/>
                <a:buNone/>
              </a:pPr>
              <a:t>45</a:t>
            </a:fld>
            <a:endParaRPr lang="en-US" altLang="en-US" sz="140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AB7E7DE8-4FE3-42E9-887E-3BB2DA04A888}" type="slidenum">
              <a:rPr lang="en-US" altLang="en-US" sz="1400"/>
              <a:pPr>
                <a:spcBef>
                  <a:spcPct val="0"/>
                </a:spcBef>
                <a:buFontTx/>
                <a:buNone/>
              </a:pPr>
              <a:t>46</a:t>
            </a:fld>
            <a:endParaRPr lang="en-US" altLang="en-US" sz="1400"/>
          </a:p>
        </p:txBody>
      </p:sp>
      <p:sp>
        <p:nvSpPr>
          <p:cNvPr id="79875" name="Rectangle 2"/>
          <p:cNvSpPr>
            <a:spLocks noChangeArrowheads="1"/>
          </p:cNvSpPr>
          <p:nvPr/>
        </p:nvSpPr>
        <p:spPr bwMode="auto">
          <a:xfrm>
            <a:off x="288925" y="129540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lang="en-GB" altLang="en-US" sz="2400"/>
              <a:t>When encrypting, you use </a:t>
            </a:r>
            <a:r>
              <a:rPr lang="en-GB" altLang="en-US" sz="2400" b="1"/>
              <a:t>their public key</a:t>
            </a:r>
            <a:r>
              <a:rPr lang="en-GB" altLang="en-US" sz="2400"/>
              <a:t> to write message and they use </a:t>
            </a:r>
            <a:r>
              <a:rPr lang="en-GB" altLang="en-US" sz="2400" b="1"/>
              <a:t>their private key</a:t>
            </a:r>
            <a:r>
              <a:rPr lang="en-GB" altLang="en-US" sz="2400"/>
              <a:t> to read it.</a:t>
            </a:r>
          </a:p>
          <a:p>
            <a:pPr eaLnBrk="1" hangingPunct="1">
              <a:spcBef>
                <a:spcPct val="0"/>
              </a:spcBef>
            </a:pPr>
            <a:endParaRPr lang="en-GB" altLang="en-US" sz="2400"/>
          </a:p>
        </p:txBody>
      </p:sp>
      <p:pic>
        <p:nvPicPr>
          <p:cNvPr id="79876" name="Picture 5" descr="http://oz.stern.nyu.edu/fall99/readings/security/ecc1_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886200"/>
            <a:ext cx="41275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7" name="Picture 7" descr="http://oz.stern.nyu.edu/fall99/readings/security/ecc1_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2209800"/>
            <a:ext cx="4608512"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8" name="Rectangle 2"/>
          <p:cNvSpPr txBox="1">
            <a:spLocks noChangeArrowheads="1"/>
          </p:cNvSpPr>
          <p:nvPr/>
        </p:nvSpPr>
        <p:spPr bwMode="auto">
          <a:xfrm>
            <a:off x="76200" y="457200"/>
            <a:ext cx="95154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GB" altLang="en-US" b="1">
                <a:solidFill>
                  <a:schemeClr val="tx2"/>
                </a:solidFill>
                <a:latin typeface="Trebuchet MS" panose="020B0603020202020204" pitchFamily="34" charset="0"/>
              </a:rPr>
              <a:t>Asymmetric  (</a:t>
            </a:r>
            <a:r>
              <a:rPr lang="en-GB" altLang="en-US">
                <a:solidFill>
                  <a:schemeClr val="tx2"/>
                </a:solidFill>
                <a:latin typeface="Trebuchet MS" panose="020B0603020202020204" pitchFamily="34" charset="0"/>
              </a:rPr>
              <a:t>Public-key) </a:t>
            </a:r>
            <a:r>
              <a:rPr lang="en-GB" altLang="en-US" b="1">
                <a:solidFill>
                  <a:schemeClr val="tx2"/>
                </a:solidFill>
                <a:latin typeface="Trebuchet MS" panose="020B0603020202020204" pitchFamily="34" charset="0"/>
              </a:rPr>
              <a:t>cryptography</a:t>
            </a:r>
          </a:p>
        </p:txBody>
      </p:sp>
      <p:pic>
        <p:nvPicPr>
          <p:cNvPr id="79879" name="Picture 23" descr="underline_bas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1081088"/>
            <a:ext cx="4113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77C190BF-A110-47D8-97F6-F7A685E28D70}" type="slidenum">
              <a:rPr lang="en-US" altLang="en-US" sz="1400"/>
              <a:pPr>
                <a:spcBef>
                  <a:spcPct val="0"/>
                </a:spcBef>
                <a:buFontTx/>
                <a:buNone/>
              </a:pPr>
              <a:t>47</a:t>
            </a:fld>
            <a:endParaRPr lang="en-US" altLang="en-US" sz="1400"/>
          </a:p>
        </p:txBody>
      </p:sp>
      <p:sp>
        <p:nvSpPr>
          <p:cNvPr id="80899" name="Rectangle 2"/>
          <p:cNvSpPr>
            <a:spLocks noChangeArrowheads="1"/>
          </p:cNvSpPr>
          <p:nvPr/>
        </p:nvSpPr>
        <p:spPr bwMode="auto">
          <a:xfrm>
            <a:off x="152400" y="1219200"/>
            <a:ext cx="8458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endParaRPr lang="en-GB" altLang="en-US" sz="2400"/>
          </a:p>
          <a:p>
            <a:pPr eaLnBrk="1" hangingPunct="1">
              <a:spcBef>
                <a:spcPct val="0"/>
              </a:spcBef>
            </a:pPr>
            <a:r>
              <a:rPr lang="en-GB" altLang="en-US" sz="2400"/>
              <a:t>When signing, you use </a:t>
            </a:r>
            <a:r>
              <a:rPr lang="en-GB" altLang="en-US" sz="2400" b="1"/>
              <a:t>your private key</a:t>
            </a:r>
            <a:r>
              <a:rPr lang="en-GB" altLang="en-US" sz="2400"/>
              <a:t> to write message's signature, and they use </a:t>
            </a:r>
            <a:r>
              <a:rPr lang="en-GB" altLang="en-US" sz="2400" b="1"/>
              <a:t>your public key</a:t>
            </a:r>
            <a:r>
              <a:rPr lang="en-GB" altLang="en-US" sz="2400"/>
              <a:t> to check if it's really yours.</a:t>
            </a:r>
          </a:p>
        </p:txBody>
      </p:sp>
      <p:sp>
        <p:nvSpPr>
          <p:cNvPr id="4" name="Rectangle 2"/>
          <p:cNvSpPr txBox="1">
            <a:spLocks noChangeArrowheads="1"/>
          </p:cNvSpPr>
          <p:nvPr/>
        </p:nvSpPr>
        <p:spPr>
          <a:xfrm>
            <a:off x="533400" y="457200"/>
            <a:ext cx="8458200" cy="1143000"/>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a:lstStyle>
          <a:p>
            <a:pPr>
              <a:defRPr/>
            </a:pPr>
            <a:r>
              <a:rPr lang="en-US" altLang="en-US" sz="2400" kern="0" dirty="0">
                <a:latin typeface="Gill Sans MT" pitchFamily="34" charset="0"/>
              </a:rPr>
              <a:t>Digital signatures (Asymmetric cryptography) = Authentication</a:t>
            </a:r>
          </a:p>
        </p:txBody>
      </p:sp>
      <p:pic>
        <p:nvPicPr>
          <p:cNvPr id="80901"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25" y="1295400"/>
            <a:ext cx="4113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2" name="Picture 2" descr="http://oz.stern.nyu.edu/fall99/readings/security/ecc1_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048000"/>
            <a:ext cx="5410200" cy="342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fld id="{798FE9F3-A9B5-406E-8071-02E2FEEB3AB3}" type="slidenum">
              <a:rPr lang="en-US" altLang="en-US" sz="1400"/>
              <a:pPr>
                <a:spcBef>
                  <a:spcPct val="0"/>
                </a:spcBef>
                <a:buFontTx/>
                <a:buNone/>
              </a:pPr>
              <a:t>48</a:t>
            </a:fld>
            <a:endParaRPr lang="en-US" altLang="en-US" sz="1400"/>
          </a:p>
        </p:txBody>
      </p:sp>
      <p:sp>
        <p:nvSpPr>
          <p:cNvPr id="4" name="Rectangle 2"/>
          <p:cNvSpPr txBox="1">
            <a:spLocks noChangeArrowheads="1"/>
          </p:cNvSpPr>
          <p:nvPr/>
        </p:nvSpPr>
        <p:spPr>
          <a:xfrm>
            <a:off x="533400" y="457200"/>
            <a:ext cx="8458200" cy="1143000"/>
          </a:xfrm>
          <a:prstGeom prst="rect">
            <a:avLst/>
          </a:prstGeom>
        </p:spPr>
        <p:txBody>
          <a:bodyPr/>
          <a:lst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a:lstStyle>
          <a:p>
            <a:pPr>
              <a:defRPr/>
            </a:pPr>
            <a:r>
              <a:rPr lang="en-US" altLang="en-US" sz="2400" kern="0" dirty="0">
                <a:latin typeface="Gill Sans MT" pitchFamily="34" charset="0"/>
              </a:rPr>
              <a:t>Digital signatures (with Hashing) = Authentication + Message integrity</a:t>
            </a:r>
          </a:p>
        </p:txBody>
      </p:sp>
      <p:pic>
        <p:nvPicPr>
          <p:cNvPr id="81924" name="Picture 23"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25" y="1295400"/>
            <a:ext cx="4113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5" name="Picture 2" descr="http://oz.stern.nyu.edu/fall99/readings/security/ecc1_5.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76400"/>
            <a:ext cx="5614988"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6" name="TextBox 1"/>
          <p:cNvSpPr txBox="1">
            <a:spLocks noChangeArrowheads="1"/>
          </p:cNvSpPr>
          <p:nvPr/>
        </p:nvSpPr>
        <p:spPr bwMode="auto">
          <a:xfrm>
            <a:off x="2738438" y="3597275"/>
            <a:ext cx="17129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GB" altLang="en-US" sz="1600" b="1"/>
              <a:t>Bob private key</a:t>
            </a:r>
          </a:p>
        </p:txBody>
      </p:sp>
      <p:sp>
        <p:nvSpPr>
          <p:cNvPr id="81927" name="TextBox 8"/>
          <p:cNvSpPr txBox="1">
            <a:spLocks noChangeArrowheads="1"/>
          </p:cNvSpPr>
          <p:nvPr/>
        </p:nvSpPr>
        <p:spPr bwMode="auto">
          <a:xfrm>
            <a:off x="6781800" y="3616325"/>
            <a:ext cx="16430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FontTx/>
              <a:buNone/>
            </a:pPr>
            <a:r>
              <a:rPr lang="en-GB" altLang="en-US" sz="1600" b="1"/>
              <a:t>Bob public key</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 27-Sorting Arrays</Template>
  <TotalTime>9124</TotalTime>
  <Words>2933</Words>
  <Application>Microsoft Office PowerPoint</Application>
  <PresentationFormat>On-screen Show (4:3)</PresentationFormat>
  <Paragraphs>591</Paragraphs>
  <Slides>48</Slides>
  <Notes>29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0</vt:i4>
      </vt:variant>
      <vt:variant>
        <vt:lpstr>Slide Titles</vt:lpstr>
      </vt:variant>
      <vt:variant>
        <vt:i4>48</vt:i4>
      </vt:variant>
    </vt:vector>
  </HeadingPairs>
  <TitlesOfParts>
    <vt:vector size="59" baseType="lpstr">
      <vt:lpstr>Arial</vt:lpstr>
      <vt:lpstr>MS PGothic</vt:lpstr>
      <vt:lpstr>Trebuchet MS</vt:lpstr>
      <vt:lpstr>Calibri</vt:lpstr>
      <vt:lpstr>Wingdings</vt:lpstr>
      <vt:lpstr>Times New Roman</vt:lpstr>
      <vt:lpstr>Gill Sans MT</vt:lpstr>
      <vt:lpstr>ZapfDingbats</vt:lpstr>
      <vt:lpstr>Comic Sans MS</vt:lpstr>
      <vt:lpstr>Arial Unicode MS</vt:lpstr>
      <vt:lpstr>Lecture6 (Number System)</vt:lpstr>
      <vt:lpstr>Fall 2024 BSCS Lecture 04 Network Performance(Delay, Loss, Throughput)  and Security  </vt:lpstr>
      <vt:lpstr>Chapter 1: roadmap</vt:lpstr>
      <vt:lpstr>How do packet delay and loss occur?</vt:lpstr>
      <vt:lpstr>Packet delay: four sources</vt:lpstr>
      <vt:lpstr>Packet delay: four sources</vt:lpstr>
      <vt:lpstr>Caravan analogy</vt:lpstr>
      <vt:lpstr>Caravan analogy</vt:lpstr>
      <vt:lpstr>Packet queueing delay (revisited)</vt:lpstr>
      <vt:lpstr>“Real” Internet delays and routes</vt:lpstr>
      <vt:lpstr>Real Internet delays and routes</vt:lpstr>
      <vt:lpstr>PowerPoint Presentation</vt:lpstr>
      <vt:lpstr>Packet loss</vt:lpstr>
      <vt:lpstr>Throughput</vt:lpstr>
      <vt:lpstr>Throughput</vt:lpstr>
      <vt:lpstr>Throughput: network scenario</vt:lpstr>
      <vt:lpstr>Chapter 1: roadmap</vt:lpstr>
      <vt:lpstr>Network security</vt:lpstr>
      <vt:lpstr>Bad guys: packet interception</vt:lpstr>
      <vt:lpstr>Bad guys:  fake identity</vt:lpstr>
      <vt:lpstr>Bad guys: denial of service</vt:lpstr>
      <vt:lpstr>Lines of defense:</vt:lpstr>
      <vt:lpstr>PowerPoint Presentation</vt:lpstr>
      <vt:lpstr>Network security</vt:lpstr>
      <vt:lpstr>What is network security?</vt:lpstr>
      <vt:lpstr>Friends and enemies: Alice, Bob, Trudy</vt:lpstr>
      <vt:lpstr>Who might Bob, Alice be?</vt:lpstr>
      <vt:lpstr>Roadmap</vt:lpstr>
      <vt:lpstr>The language of cryptography</vt:lpstr>
      <vt:lpstr>Symmetric key cryptography</vt:lpstr>
      <vt:lpstr>Symmetric key cryptography</vt:lpstr>
      <vt:lpstr>Symmetric key crypto: DES</vt:lpstr>
      <vt:lpstr>AES: Advanced Encryption Standard</vt:lpstr>
      <vt:lpstr>Roadmap</vt:lpstr>
      <vt:lpstr>Authentication</vt:lpstr>
      <vt:lpstr>Authentication</vt:lpstr>
      <vt:lpstr>Authentication: another try</vt:lpstr>
      <vt:lpstr>Authentication: another try</vt:lpstr>
      <vt:lpstr>Authentication: yet another try</vt:lpstr>
      <vt:lpstr>Authentication: yet another try</vt:lpstr>
      <vt:lpstr>Authentication: yet another try</vt:lpstr>
      <vt:lpstr>Roadmap</vt:lpstr>
      <vt:lpstr>Message Integrity</vt:lpstr>
      <vt:lpstr>Digital signatures </vt:lpstr>
      <vt:lpstr>Digital signatures (Asymmetric cryptography)</vt:lpstr>
      <vt:lpstr>Digital signatures </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Ehtesham Zahoor</dc:creator>
  <cp:lastModifiedBy>user1</cp:lastModifiedBy>
  <cp:revision>234</cp:revision>
  <dcterms:created xsi:type="dcterms:W3CDTF">2006-05-16T22:38:36Z</dcterms:created>
  <dcterms:modified xsi:type="dcterms:W3CDTF">2025-07-28T10:26:33Z</dcterms:modified>
</cp:coreProperties>
</file>