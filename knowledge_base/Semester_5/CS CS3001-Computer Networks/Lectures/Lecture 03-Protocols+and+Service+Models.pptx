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61" r:id="rId2"/>
  </p:sldMasterIdLst>
  <p:notesMasterIdLst>
    <p:notesMasterId r:id="rId38"/>
  </p:notesMasterIdLst>
  <p:sldIdLst>
    <p:sldId id="274" r:id="rId3"/>
    <p:sldId id="275" r:id="rId4"/>
    <p:sldId id="327" r:id="rId5"/>
    <p:sldId id="276" r:id="rId6"/>
    <p:sldId id="277" r:id="rId7"/>
    <p:sldId id="278" r:id="rId8"/>
    <p:sldId id="284" r:id="rId9"/>
    <p:sldId id="285" r:id="rId10"/>
    <p:sldId id="305" r:id="rId11"/>
    <p:sldId id="288" r:id="rId12"/>
    <p:sldId id="306" r:id="rId13"/>
    <p:sldId id="289" r:id="rId14"/>
    <p:sldId id="323" r:id="rId15"/>
    <p:sldId id="290" r:id="rId16"/>
    <p:sldId id="291" r:id="rId17"/>
    <p:sldId id="309" r:id="rId18"/>
    <p:sldId id="325" r:id="rId19"/>
    <p:sldId id="297" r:id="rId20"/>
    <p:sldId id="310" r:id="rId21"/>
    <p:sldId id="326" r:id="rId22"/>
    <p:sldId id="300" r:id="rId23"/>
    <p:sldId id="301" r:id="rId24"/>
    <p:sldId id="302" r:id="rId25"/>
    <p:sldId id="311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282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663300"/>
    <a:srgbClr val="99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077" autoAdjust="0"/>
  </p:normalViewPr>
  <p:slideViewPr>
    <p:cSldViewPr>
      <p:cViewPr varScale="1">
        <p:scale>
          <a:sx n="82" d="100"/>
          <a:sy n="82" d="100"/>
        </p:scale>
        <p:origin x="140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71A0082-4121-4E55-ADEB-B18A3576D11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0C8385F-3FF8-42B8-AB81-C81C0C4BF9B8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CD1EA5-3791-4151-BC06-733596EAE7F4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48CA073-8EA0-462F-9AE7-94E764C60E5E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3A9C82A-D82C-43CE-82BE-D41A5B804B47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51A9C47-84DE-4003-A16B-71C65AA0F320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CF6F89-D37F-403B-AFCE-4F09DAA26431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09CD29A-0ED2-4DD2-B917-0439C981FFF1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B5C2AF8-D149-466D-A5EF-5A6A1C25CFC2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EFF5EC-582F-46E7-B90D-1641E3181347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39FA33-2FF4-4F0C-9551-7E44704C6B4F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4920595-11EE-4793-9866-049928F5BFBA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B15250E-E806-4877-BEC5-93AD35D79305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F3B949-19C7-40AD-82DC-68C6D310475E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19CCCE3-050E-453B-A060-ECEBEB2E020C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BDA46F2-D188-4EB8-93BB-8662C11A4FB1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808A907-8CE5-452E-934F-C7BAC2AFC4B0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97B55B-1B91-440E-854C-766161607678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9955425-4BAB-4C46-A5F8-38BB3E4E5853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54BC963-924B-42F3-8732-6C6BBC86C8AE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A9636A-BFD9-4FD9-9053-45AEBCDBD8B9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453E75-1F3D-487D-A056-AA361C0CA8DF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1180282-B4B3-430C-8D6F-592DAAD081EA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7A751AE-1BC6-45E3-A229-6DC2BE2D5ECE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0E9730-1757-47C6-8662-D0A4DF2ED1A4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F8FCC63-EA11-4E1D-9EC3-417778DD850B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D58FBC-5095-41A9-B284-A5FF1EB08274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7CF7AB3-114D-45AC-88A0-80D8F50DC94E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37DD071-7E19-4442-A8FA-FFCDE62B4456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93CF6C3-E95D-4F83-87E0-852730F8E826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6DA2DF4-3D59-4A86-B92B-2B2F28D2AF9C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9AB8C6B-DD86-4BDF-AD7E-10AF616D9E84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E75437A-04BA-4864-88C8-441DECDC59B7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.w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.w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.w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.w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.w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.w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.w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.w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.w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.w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.w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1A382D-BF3C-409D-B69C-239291E798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1036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3B8F82-C76C-41DC-A0E0-68210C9834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670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54E0EC-132A-4F19-9895-B555BBDEF0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189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74AD2E-281A-4784-8B3D-87A143A3D0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233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A462A-880C-4715-AA4A-902BF5A3ED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001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2A2F74-58BD-4182-B06C-249ADA4298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987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7BA1A2-1ECA-478D-9D1D-30766D5071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18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E0DC40-21B1-421E-A7D5-68EC60FC09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C4DF5E-CCC6-4CD0-B55E-8B0F8B5710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25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BF113E-EFD4-4856-904D-7102663B58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66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0"/>
            <a:ext cx="2114550" cy="5592763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0"/>
            <a:ext cx="6191250" cy="559276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150E19-2314-4A1F-AF51-2597C9AF22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057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5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98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30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9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4F0073F3-60C0-45A8-9277-0CFC7A85F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251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5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2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41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9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9EA59056-1BFF-4975-B987-BC70332384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179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5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6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51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9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8EDACF44-2AE0-493F-A283-AA675979E5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5972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0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61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10" name="Slide Number Placeholder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B0532BE3-94CB-4CD2-8D85-9C360C1457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7144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8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9" name="Object 11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4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717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12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DB4092DB-6224-4C3F-B5C0-D98C187004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4331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4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18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81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8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9CED08EA-E896-4EEB-98F8-06C04F44A3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577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>
                <a:solidFill>
                  <a:srgbClr val="3333CC"/>
                </a:solidFill>
              </a:rPr>
              <a:t>Lecture 34:Link Layer Principles </a:t>
            </a:r>
          </a:p>
        </p:txBody>
      </p:sp>
      <p:sp>
        <p:nvSpPr>
          <p:cNvPr id="3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2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92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2B610EBB-B148-462C-A0EC-CC2352EB34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7247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6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102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10" name="Slide Number Placeholder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4E074EDF-11F1-4268-8DB2-63CECAB73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437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0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112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10" name="Slide Number Placeholder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A32812E1-600D-4AC0-A72E-761DC46D15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84737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5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4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122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9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4CE08847-EF52-4CA3-B0EA-C502585B33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686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5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38" r:id="rId3" imgW="71848" imgH="44334" progId="">
                  <p:embed/>
                </p:oleObj>
              </mc:Choice>
              <mc:Fallback>
                <p:oleObj r:id="rId3" imgW="71848" imgH="44334" progId="">
                  <p:embed/>
                  <p:pic>
                    <p:nvPicPr>
                      <p:cNvPr id="133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9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r>
              <a:rPr lang="en-US" altLang="en-US"/>
              <a:t>5-</a:t>
            </a:r>
            <a:fld id="{F013A04D-F199-4938-AFC9-D10ECCC264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11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2.v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5334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8A8FBF59-BF88-44FC-A5A2-6A06C6FFE3C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600" b="1">
                <a:solidFill>
                  <a:schemeClr val="accent2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14" imgW="71848" imgH="44334" progId="">
                  <p:embed/>
                </p:oleObj>
              </mc:Choice>
              <mc:Fallback>
                <p:oleObj r:id="rId14" imgW="71848" imgH="44334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b="1" dirty="0">
                <a:solidFill>
                  <a:schemeClr val="accent2"/>
                </a:solidFill>
              </a:rPr>
              <a:t>Lecture 03: Protocols and Service Models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i="0">
                <a:solidFill>
                  <a:srgbClr val="000000"/>
                </a:solidFill>
                <a:latin typeface="Times New Roman" pitchFamily="-109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2125" y="6486525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i="0">
                <a:solidFill>
                  <a:srgbClr val="000000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81975" y="6486525"/>
            <a:ext cx="676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US" altLang="en-US"/>
              <a:t>5-</a:t>
            </a:r>
            <a:fld id="{651DFAA2-140E-4294-BA0D-E7223C3A381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5" name="Text Box 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005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3333CC"/>
                </a:solidFill>
              </a:rPr>
              <a:t>Lecture 3:Link Layer Principles </a:t>
            </a:r>
          </a:p>
        </p:txBody>
      </p:sp>
      <p:sp>
        <p:nvSpPr>
          <p:cNvPr id="2056" name="Text Box 7"/>
          <p:cNvSpPr txBox="1">
            <a:spLocks noChangeArrowheads="1"/>
          </p:cNvSpPr>
          <p:nvPr userDrawn="1"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 b="1">
                <a:solidFill>
                  <a:srgbClr val="3333CC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2057" name="Object 8"/>
          <p:cNvGraphicFramePr>
            <a:graphicFrameLocks noChangeAspect="1"/>
          </p:cNvGraphicFramePr>
          <p:nvPr userDrawn="1"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r:id="rId14" imgW="71848" imgH="44334" progId="">
                  <p:embed/>
                </p:oleObj>
              </mc:Choice>
              <mc:Fallback>
                <p:oleObj r:id="rId14" imgW="71848" imgH="44334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panose="020B0600070205080204" pitchFamily="34" charset="-128"/>
          <a:cs typeface="MS PGothic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MS PGothic" panose="020B0600070205080204" pitchFamily="34" charset="-128"/>
          <a:cs typeface="MS PGothic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softwarequality.techtarget.com/definition/application-progra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3200400"/>
            <a:ext cx="8458200" cy="3124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solidFill>
                  <a:srgbClr val="0000FF"/>
                </a:solidFill>
                <a:ea typeface="+mj-ea"/>
              </a:rPr>
              <a:t>Fall 2024</a:t>
            </a:r>
            <a:br>
              <a:rPr lang="en-US" dirty="0">
                <a:solidFill>
                  <a:srgbClr val="0000FF"/>
                </a:solidFill>
                <a:ea typeface="+mj-ea"/>
              </a:rPr>
            </a:br>
            <a:r>
              <a:rPr lang="en-US" dirty="0">
                <a:solidFill>
                  <a:srgbClr val="0000FF"/>
                </a:solidFill>
                <a:ea typeface="+mj-ea"/>
              </a:rPr>
              <a:t>Lecture 03</a:t>
            </a:r>
            <a:br>
              <a:rPr lang="en-US" dirty="0">
                <a:solidFill>
                  <a:srgbClr val="0000FF"/>
                </a:solidFill>
                <a:ea typeface="+mj-ea"/>
              </a:rPr>
            </a:br>
            <a:r>
              <a:rPr lang="en-US" dirty="0">
                <a:solidFill>
                  <a:srgbClr val="0000FF"/>
                </a:solidFill>
                <a:ea typeface="+mj-ea"/>
              </a:rPr>
              <a:t>BS(CS)</a:t>
            </a:r>
            <a:br>
              <a:rPr lang="en-US" dirty="0">
                <a:solidFill>
                  <a:srgbClr val="0000FF"/>
                </a:solidFill>
                <a:ea typeface="+mj-ea"/>
              </a:rPr>
            </a:b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+mj-ea"/>
              </a:rPr>
              <a:t>Protocols and Service Models</a:t>
            </a:r>
            <a:r>
              <a:rPr lang="en-US" dirty="0">
                <a:ea typeface="+mj-ea"/>
              </a:rPr>
              <a:t/>
            </a:r>
            <a:br>
              <a:rPr lang="en-US" dirty="0">
                <a:ea typeface="+mj-ea"/>
              </a:rPr>
            </a:br>
            <a:r>
              <a:rPr lang="en-US" dirty="0">
                <a:ea typeface="+mj-ea"/>
              </a:rPr>
              <a:t/>
            </a:r>
            <a:br>
              <a:rPr lang="en-US" dirty="0">
                <a:ea typeface="+mj-ea"/>
              </a:rPr>
            </a:br>
            <a:endParaRPr lang="en-US" dirty="0">
              <a:solidFill>
                <a:srgbClr val="0000FF"/>
              </a:solidFill>
              <a:ea typeface="+mj-ea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609600"/>
            <a:ext cx="9144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chemeClr val="accent2"/>
                </a:solidFill>
                <a:latin typeface="Trebuchet MS" panose="020B0603020202020204" pitchFamily="34" charset="0"/>
              </a:rPr>
              <a:t>National University of</a:t>
            </a:r>
            <a:br>
              <a:rPr lang="en-US" altLang="en-US" sz="4400" b="1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4400" b="1">
                <a:solidFill>
                  <a:schemeClr val="accent2"/>
                </a:solidFill>
                <a:latin typeface="Trebuchet MS" panose="020B0603020202020204" pitchFamily="34" charset="0"/>
              </a:rPr>
              <a:t>Computer &amp; Emerging Sciences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A18575-904B-4453-A802-9849A61DCBD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66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smtClean="0">
                <a:latin typeface="Gill Sans MT" pitchFamily="34" charset="0"/>
                <a:cs typeface="Arial" panose="020B0604020202020204" pitchFamily="34" charset="0"/>
              </a:rPr>
              <a:t>Protocol </a:t>
            </a:r>
            <a:r>
              <a:rPr lang="ja-JP" altLang="en-US" sz="3200" smtClean="0">
                <a:latin typeface="Gill Sans MT" pitchFamily="34" charset="0"/>
                <a:cs typeface="Arial" panose="020B0604020202020204" pitchFamily="34" charset="0"/>
              </a:rPr>
              <a:t>“</a:t>
            </a:r>
            <a:r>
              <a:rPr lang="en-US" altLang="ja-JP" sz="3200" smtClean="0">
                <a:latin typeface="Gill Sans MT" pitchFamily="34" charset="0"/>
                <a:cs typeface="Arial" panose="020B0604020202020204" pitchFamily="34" charset="0"/>
              </a:rPr>
              <a:t>layers</a:t>
            </a:r>
            <a:r>
              <a:rPr lang="ja-JP" altLang="en-US" sz="3200" smtClean="0">
                <a:latin typeface="Gill Sans MT" pitchFamily="34" charset="0"/>
                <a:cs typeface="Arial" panose="020B0604020202020204" pitchFamily="34" charset="0"/>
              </a:rPr>
              <a:t>”</a:t>
            </a:r>
            <a:endParaRPr lang="en-US" altLang="en-US" sz="3200" smtClean="0">
              <a:latin typeface="Gill Sans MT" pitchFamily="34" charset="0"/>
              <a:cs typeface="Arial" panose="020B0604020202020204" pitchFamily="34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sz="28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Networks are complex,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sz="28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with many </a:t>
            </a:r>
            <a:r>
              <a:rPr lang="ja-JP" altLang="en-US" sz="28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“</a:t>
            </a:r>
            <a:r>
              <a:rPr lang="en-US" altLang="ja-JP" sz="28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pieces</a:t>
            </a:r>
            <a:r>
              <a:rPr lang="ja-JP" altLang="en-US" sz="28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”</a:t>
            </a:r>
            <a:r>
              <a:rPr lang="en-US" altLang="ja-JP" sz="28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:</a:t>
            </a:r>
          </a:p>
          <a:p>
            <a:pPr lvl="1" eaLnBrk="1" hangingPunct="1"/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hosts</a:t>
            </a:r>
          </a:p>
          <a:p>
            <a:pPr lvl="1" eaLnBrk="1" hangingPunct="1"/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routers</a:t>
            </a:r>
          </a:p>
          <a:p>
            <a:pPr lvl="1" eaLnBrk="1" hangingPunct="1"/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links of various media</a:t>
            </a:r>
          </a:p>
          <a:p>
            <a:pPr lvl="1" eaLnBrk="1" hangingPunct="1"/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applications</a:t>
            </a:r>
          </a:p>
          <a:p>
            <a:pPr lvl="1" eaLnBrk="1" hangingPunct="1"/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protocols</a:t>
            </a:r>
          </a:p>
          <a:p>
            <a:pPr lvl="1" eaLnBrk="1" hangingPunct="1"/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hardware, software</a:t>
            </a:r>
          </a:p>
        </p:txBody>
      </p:sp>
      <p:sp>
        <p:nvSpPr>
          <p:cNvPr id="17413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52950" y="2266950"/>
            <a:ext cx="4057650" cy="2619375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Question:</a:t>
            </a:r>
            <a:r>
              <a:rPr lang="en-US" altLang="en-US" sz="2000" u="sng" smtClean="0">
                <a:solidFill>
                  <a:srgbClr val="FF0000"/>
                </a:solidFill>
                <a:latin typeface="Gill Sans MT" pitchFamily="34" charset="0"/>
                <a:cs typeface="Arial" panose="020B0604020202020204" pitchFamily="34" charset="0"/>
              </a:rPr>
              <a:t>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smtClean="0">
                <a:latin typeface="Gill Sans MT" pitchFamily="34" charset="0"/>
                <a:cs typeface="Arial" panose="020B0604020202020204" pitchFamily="34" charset="0"/>
              </a:rPr>
              <a:t>is there any way of </a:t>
            </a:r>
            <a:r>
              <a:rPr lang="en-US" altLang="en-US" sz="2800" i="1" smtClean="0">
                <a:latin typeface="Gill Sans MT" pitchFamily="34" charset="0"/>
                <a:cs typeface="Arial" panose="020B0604020202020204" pitchFamily="34" charset="0"/>
              </a:rPr>
              <a:t>organizing</a:t>
            </a:r>
            <a:r>
              <a:rPr lang="en-US" altLang="en-US" sz="2800" smtClean="0">
                <a:latin typeface="Gill Sans MT" pitchFamily="34" charset="0"/>
                <a:cs typeface="Arial" panose="020B0604020202020204" pitchFamily="34" charset="0"/>
              </a:rPr>
              <a:t> structure of network?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 sz="2800" smtClean="0">
              <a:latin typeface="Gill Sans MT" pitchFamily="34" charset="0"/>
              <a:cs typeface="Arial" panose="020B0604020202020204" pitchFamily="34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smtClean="0">
                <a:latin typeface="Gill Sans MT" pitchFamily="34" charset="0"/>
                <a:cs typeface="Arial" panose="020B0604020202020204" pitchFamily="34" charset="0"/>
              </a:rPr>
              <a:t>…. or at least our discussion of networks?</a:t>
            </a:r>
          </a:p>
        </p:txBody>
      </p:sp>
      <p:sp>
        <p:nvSpPr>
          <p:cNvPr id="174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B91FAE-BF9B-45E4-84ED-11076AD6FEA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B9A6B5-74A4-471F-B691-0749ADC6C70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9459" name="AutoShape 2" descr="Image result for router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/>
          </a:p>
        </p:txBody>
      </p:sp>
      <p:pic>
        <p:nvPicPr>
          <p:cNvPr id="1946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762000"/>
            <a:ext cx="919163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5"/>
          <p:cNvSpPr txBox="1">
            <a:spLocks noChangeArrowheads="1"/>
          </p:cNvSpPr>
          <p:nvPr/>
        </p:nvSpPr>
        <p:spPr bwMode="auto">
          <a:xfrm>
            <a:off x="4648200" y="2209800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IPv4</a:t>
            </a:r>
          </a:p>
        </p:txBody>
      </p:sp>
      <p:sp>
        <p:nvSpPr>
          <p:cNvPr id="19462" name="TextBox 6"/>
          <p:cNvSpPr txBox="1">
            <a:spLocks noChangeArrowheads="1"/>
          </p:cNvSpPr>
          <p:nvPr/>
        </p:nvSpPr>
        <p:spPr bwMode="auto">
          <a:xfrm>
            <a:off x="4506913" y="3030538"/>
            <a:ext cx="942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DNS</a:t>
            </a:r>
          </a:p>
        </p:txBody>
      </p:sp>
      <p:sp>
        <p:nvSpPr>
          <p:cNvPr id="19463" name="TextBox 7"/>
          <p:cNvSpPr txBox="1">
            <a:spLocks noChangeArrowheads="1"/>
          </p:cNvSpPr>
          <p:nvPr/>
        </p:nvSpPr>
        <p:spPr bwMode="auto">
          <a:xfrm>
            <a:off x="6553200" y="1668463"/>
            <a:ext cx="8620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FTP</a:t>
            </a:r>
          </a:p>
        </p:txBody>
      </p:sp>
      <p:sp>
        <p:nvSpPr>
          <p:cNvPr id="19464" name="TextBox 8"/>
          <p:cNvSpPr txBox="1">
            <a:spLocks noChangeArrowheads="1"/>
          </p:cNvSpPr>
          <p:nvPr/>
        </p:nvSpPr>
        <p:spPr bwMode="auto">
          <a:xfrm>
            <a:off x="6630988" y="4114800"/>
            <a:ext cx="1082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ICMP</a:t>
            </a:r>
          </a:p>
        </p:txBody>
      </p:sp>
      <p:sp>
        <p:nvSpPr>
          <p:cNvPr id="19465" name="TextBox 9"/>
          <p:cNvSpPr txBox="1">
            <a:spLocks noChangeArrowheads="1"/>
          </p:cNvSpPr>
          <p:nvPr/>
        </p:nvSpPr>
        <p:spPr bwMode="auto">
          <a:xfrm>
            <a:off x="7713663" y="2787650"/>
            <a:ext cx="11223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HTTP</a:t>
            </a:r>
          </a:p>
        </p:txBody>
      </p:sp>
      <p:sp>
        <p:nvSpPr>
          <p:cNvPr id="19466" name="TextBox 10"/>
          <p:cNvSpPr txBox="1">
            <a:spLocks noChangeArrowheads="1"/>
          </p:cNvSpPr>
          <p:nvPr/>
        </p:nvSpPr>
        <p:spPr bwMode="auto">
          <a:xfrm>
            <a:off x="1828800" y="5029200"/>
            <a:ext cx="298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Routing protocols</a:t>
            </a:r>
          </a:p>
        </p:txBody>
      </p:sp>
      <p:sp>
        <p:nvSpPr>
          <p:cNvPr id="19467" name="TextBox 11"/>
          <p:cNvSpPr txBox="1">
            <a:spLocks noChangeArrowheads="1"/>
          </p:cNvSpPr>
          <p:nvPr/>
        </p:nvSpPr>
        <p:spPr bwMode="auto">
          <a:xfrm>
            <a:off x="1414463" y="2973388"/>
            <a:ext cx="12017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DHCP</a:t>
            </a:r>
          </a:p>
        </p:txBody>
      </p:sp>
      <p:sp>
        <p:nvSpPr>
          <p:cNvPr id="19468" name="TextBox 12"/>
          <p:cNvSpPr txBox="1">
            <a:spLocks noChangeArrowheads="1"/>
          </p:cNvSpPr>
          <p:nvPr/>
        </p:nvSpPr>
        <p:spPr bwMode="auto">
          <a:xfrm>
            <a:off x="4953000" y="593725"/>
            <a:ext cx="9032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TCP</a:t>
            </a:r>
          </a:p>
        </p:txBody>
      </p:sp>
      <p:sp>
        <p:nvSpPr>
          <p:cNvPr id="19469" name="TextBox 13"/>
          <p:cNvSpPr txBox="1">
            <a:spLocks noChangeArrowheads="1"/>
          </p:cNvSpPr>
          <p:nvPr/>
        </p:nvSpPr>
        <p:spPr bwMode="auto">
          <a:xfrm>
            <a:off x="6146800" y="3049588"/>
            <a:ext cx="942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UDP</a:t>
            </a:r>
          </a:p>
        </p:txBody>
      </p:sp>
      <p:sp>
        <p:nvSpPr>
          <p:cNvPr id="19470" name="TextBox 14"/>
          <p:cNvSpPr txBox="1">
            <a:spLocks noChangeArrowheads="1"/>
          </p:cNvSpPr>
          <p:nvPr/>
        </p:nvSpPr>
        <p:spPr bwMode="auto">
          <a:xfrm>
            <a:off x="6553200" y="5553075"/>
            <a:ext cx="782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RIP</a:t>
            </a:r>
          </a:p>
        </p:txBody>
      </p:sp>
      <p:sp>
        <p:nvSpPr>
          <p:cNvPr id="19471" name="TextBox 15"/>
          <p:cNvSpPr txBox="1">
            <a:spLocks noChangeArrowheads="1"/>
          </p:cNvSpPr>
          <p:nvPr/>
        </p:nvSpPr>
        <p:spPr bwMode="auto">
          <a:xfrm>
            <a:off x="561975" y="4391025"/>
            <a:ext cx="922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ARP</a:t>
            </a:r>
          </a:p>
        </p:txBody>
      </p:sp>
      <p:sp>
        <p:nvSpPr>
          <p:cNvPr id="19472" name="TextBox 16"/>
          <p:cNvSpPr txBox="1">
            <a:spLocks noChangeArrowheads="1"/>
          </p:cNvSpPr>
          <p:nvPr/>
        </p:nvSpPr>
        <p:spPr bwMode="auto">
          <a:xfrm>
            <a:off x="2781300" y="1406525"/>
            <a:ext cx="9826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MAC</a:t>
            </a:r>
          </a:p>
        </p:txBody>
      </p:sp>
      <p:sp>
        <p:nvSpPr>
          <p:cNvPr id="19473" name="TextBox 17"/>
          <p:cNvSpPr txBox="1">
            <a:spLocks noChangeArrowheads="1"/>
          </p:cNvSpPr>
          <p:nvPr/>
        </p:nvSpPr>
        <p:spPr bwMode="auto">
          <a:xfrm>
            <a:off x="2616200" y="3683000"/>
            <a:ext cx="9223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SSH</a:t>
            </a:r>
          </a:p>
        </p:txBody>
      </p:sp>
      <p:pic>
        <p:nvPicPr>
          <p:cNvPr id="19474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2381250"/>
            <a:ext cx="9525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5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3" y="473075"/>
            <a:ext cx="2068512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6" name="AutoShape 10" descr="Image result for BROWSER"/>
          <p:cNvSpPr>
            <a:spLocks noChangeAspect="1" noChangeArrowheads="1"/>
          </p:cNvSpPr>
          <p:nvPr/>
        </p:nvSpPr>
        <p:spPr bwMode="auto">
          <a:xfrm>
            <a:off x="800100" y="3968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/>
          </a:p>
        </p:txBody>
      </p:sp>
      <p:pic>
        <p:nvPicPr>
          <p:cNvPr id="19477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338" y="3741738"/>
            <a:ext cx="1795462" cy="13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8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5253038"/>
            <a:ext cx="160655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9" name="Rectangle 26"/>
          <p:cNvSpPr>
            <a:spLocks noChangeArrowheads="1"/>
          </p:cNvSpPr>
          <p:nvPr/>
        </p:nvSpPr>
        <p:spPr bwMode="auto">
          <a:xfrm>
            <a:off x="-80963" y="2017713"/>
            <a:ext cx="2095501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Gill Sans MT" pitchFamily="34" charset="0"/>
                <a:cs typeface="Arial" panose="020B0604020202020204" pitchFamily="34" charset="0"/>
              </a:rPr>
              <a:t>applications</a:t>
            </a:r>
          </a:p>
        </p:txBody>
      </p:sp>
      <p:sp>
        <p:nvSpPr>
          <p:cNvPr id="19480" name="Rectangle 27"/>
          <p:cNvSpPr>
            <a:spLocks noChangeArrowheads="1"/>
          </p:cNvSpPr>
          <p:nvPr/>
        </p:nvSpPr>
        <p:spPr bwMode="auto">
          <a:xfrm>
            <a:off x="2514600" y="5910263"/>
            <a:ext cx="3033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Gill Sans MT" pitchFamily="34" charset="0"/>
                <a:cs typeface="Arial" panose="020B0604020202020204" pitchFamily="34" charset="0"/>
              </a:rPr>
              <a:t>hardware, software</a:t>
            </a:r>
          </a:p>
        </p:txBody>
      </p:sp>
      <p:sp>
        <p:nvSpPr>
          <p:cNvPr id="19481" name="Rectangle 28"/>
          <p:cNvSpPr>
            <a:spLocks noChangeArrowheads="1"/>
          </p:cNvSpPr>
          <p:nvPr/>
        </p:nvSpPr>
        <p:spPr bwMode="auto">
          <a:xfrm>
            <a:off x="7332663" y="5029200"/>
            <a:ext cx="1309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Gill Sans MT" pitchFamily="34" charset="0"/>
                <a:cs typeface="Arial" panose="020B0604020202020204" pitchFamily="34" charset="0"/>
              </a:rPr>
              <a:t>hosts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928688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428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 smtClean="0">
                <a:latin typeface="Gill Sans MT" pitchFamily="34" charset="0"/>
                <a:cs typeface="Arial" panose="020B0604020202020204" pitchFamily="34" charset="0"/>
              </a:rPr>
              <a:t>Organization of air travel</a:t>
            </a:r>
            <a:endParaRPr lang="en-US" altLang="en-US" smtClean="0">
              <a:latin typeface="Gill Sans MT" pitchFamily="34" charset="0"/>
              <a:cs typeface="Arial" panose="020B0604020202020204" pitchFamily="34" charset="0"/>
            </a:endParaRP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5489575"/>
            <a:ext cx="7772400" cy="54292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mtClean="0">
                <a:latin typeface="Gill Sans MT" pitchFamily="34" charset="0"/>
                <a:cs typeface="Arial" panose="020B0604020202020204" pitchFamily="34" charset="0"/>
              </a:rPr>
              <a:t>a series of steps</a:t>
            </a:r>
          </a:p>
        </p:txBody>
      </p:sp>
      <p:grpSp>
        <p:nvGrpSpPr>
          <p:cNvPr id="20485" name="Group 4"/>
          <p:cNvGrpSpPr>
            <a:grpSpLocks/>
          </p:cNvGrpSpPr>
          <p:nvPr/>
        </p:nvGrpSpPr>
        <p:grpSpPr bwMode="auto">
          <a:xfrm>
            <a:off x="1111250" y="1587500"/>
            <a:ext cx="6508750" cy="3294063"/>
            <a:chOff x="700" y="1000"/>
            <a:chExt cx="4100" cy="2075"/>
          </a:xfrm>
        </p:grpSpPr>
        <p:sp>
          <p:nvSpPr>
            <p:cNvPr id="20487" name="Text Box 5"/>
            <p:cNvSpPr txBox="1">
              <a:spLocks noChangeArrowheads="1"/>
            </p:cNvSpPr>
            <p:nvPr/>
          </p:nvSpPr>
          <p:spPr bwMode="auto">
            <a:xfrm>
              <a:off x="846" y="1007"/>
              <a:ext cx="1307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ticket (purchase)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99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baggage (check)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99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gates (load)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99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runway takeoff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99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20488" name="Text Box 6"/>
            <p:cNvSpPr txBox="1">
              <a:spLocks noChangeArrowheads="1"/>
            </p:cNvSpPr>
            <p:nvPr/>
          </p:nvSpPr>
          <p:spPr bwMode="auto">
            <a:xfrm>
              <a:off x="3242" y="1001"/>
              <a:ext cx="1280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ticket (complain)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99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baggage (claim)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99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gates (unload)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99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runway landing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rgbClr val="000099"/>
                </a:solidFill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20489" name="Text Box 7"/>
            <p:cNvSpPr txBox="1">
              <a:spLocks noChangeArrowheads="1"/>
            </p:cNvSpPr>
            <p:nvPr/>
          </p:nvSpPr>
          <p:spPr bwMode="auto">
            <a:xfrm>
              <a:off x="2074" y="2825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20490" name="Freeform 8"/>
            <p:cNvSpPr>
              <a:spLocks/>
            </p:cNvSpPr>
            <p:nvPr/>
          </p:nvSpPr>
          <p:spPr bwMode="auto">
            <a:xfrm>
              <a:off x="700" y="1000"/>
              <a:ext cx="4100" cy="2072"/>
            </a:xfrm>
            <a:custGeom>
              <a:avLst/>
              <a:gdLst>
                <a:gd name="T0" fmla="*/ 0 w 4100"/>
                <a:gd name="T1" fmla="*/ 0 h 2072"/>
                <a:gd name="T2" fmla="*/ 4 w 4100"/>
                <a:gd name="T3" fmla="*/ 1736 h 2072"/>
                <a:gd name="T4" fmla="*/ 804 w 4100"/>
                <a:gd name="T5" fmla="*/ 2064 h 2072"/>
                <a:gd name="T6" fmla="*/ 3468 w 4100"/>
                <a:gd name="T7" fmla="*/ 2072 h 2072"/>
                <a:gd name="T8" fmla="*/ 4100 w 4100"/>
                <a:gd name="T9" fmla="*/ 1736 h 2072"/>
                <a:gd name="T10" fmla="*/ 4100 w 4100"/>
                <a:gd name="T11" fmla="*/ 96 h 20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100"/>
                <a:gd name="T19" fmla="*/ 0 h 2072"/>
                <a:gd name="T20" fmla="*/ 4100 w 4100"/>
                <a:gd name="T21" fmla="*/ 2072 h 20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100" h="2072">
                  <a:moveTo>
                    <a:pt x="0" y="0"/>
                  </a:moveTo>
                  <a:lnTo>
                    <a:pt x="4" y="1736"/>
                  </a:lnTo>
                  <a:lnTo>
                    <a:pt x="804" y="2064"/>
                  </a:lnTo>
                  <a:lnTo>
                    <a:pt x="3468" y="2072"/>
                  </a:lnTo>
                  <a:lnTo>
                    <a:pt x="4100" y="1736"/>
                  </a:lnTo>
                  <a:lnTo>
                    <a:pt x="4100" y="96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0486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7CAB63-007F-4C62-89B2-F0D16434C57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819150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531" name="Group 38"/>
          <p:cNvGrpSpPr>
            <a:grpSpLocks/>
          </p:cNvGrpSpPr>
          <p:nvPr/>
        </p:nvGrpSpPr>
        <p:grpSpPr bwMode="auto">
          <a:xfrm>
            <a:off x="434975" y="1314450"/>
            <a:ext cx="8418513" cy="2835275"/>
            <a:chOff x="258" y="1214"/>
            <a:chExt cx="5303" cy="1786"/>
          </a:xfrm>
        </p:grpSpPr>
        <p:sp>
          <p:nvSpPr>
            <p:cNvPr id="22535" name="Rectangle 2"/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36" name="Text Box 3"/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ticket (purchase)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en-US" sz="1400"/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baggage (check)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en-US" sz="1400"/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gates (load)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en-US" sz="1400"/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runway (takeoff)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en-US" sz="1400"/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airplane routing</a:t>
              </a:r>
            </a:p>
          </p:txBody>
        </p:sp>
        <p:sp>
          <p:nvSpPr>
            <p:cNvPr id="22537" name="Line 4"/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38" name="Line 5"/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39" name="Line 6"/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0" name="Line 7"/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1" name="Text Box 8"/>
            <p:cNvSpPr txBox="1">
              <a:spLocks noChangeArrowheads="1"/>
            </p:cNvSpPr>
            <p:nvPr/>
          </p:nvSpPr>
          <p:spPr bwMode="auto">
            <a:xfrm>
              <a:off x="493" y="2706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departure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airport</a:t>
              </a:r>
            </a:p>
          </p:txBody>
        </p:sp>
        <p:sp>
          <p:nvSpPr>
            <p:cNvPr id="22542" name="Text Box 9"/>
            <p:cNvSpPr txBox="1">
              <a:spLocks noChangeArrowheads="1"/>
            </p:cNvSpPr>
            <p:nvPr/>
          </p:nvSpPr>
          <p:spPr bwMode="auto">
            <a:xfrm>
              <a:off x="3756" y="27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arrival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airport</a:t>
              </a:r>
            </a:p>
          </p:txBody>
        </p:sp>
        <p:sp>
          <p:nvSpPr>
            <p:cNvPr id="22543" name="Text Box 10"/>
            <p:cNvSpPr txBox="1">
              <a:spLocks noChangeArrowheads="1"/>
            </p:cNvSpPr>
            <p:nvPr/>
          </p:nvSpPr>
          <p:spPr bwMode="auto">
            <a:xfrm>
              <a:off x="1859" y="2709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intermediate air-traffic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control centers</a:t>
              </a:r>
            </a:p>
          </p:txBody>
        </p:sp>
        <p:pic>
          <p:nvPicPr>
            <p:cNvPr id="22544" name="Picture 11" descr="yylgaifm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5" name="Line 12"/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6" name="Line 13"/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7" name="Line 14"/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548" name="Group 15"/>
            <p:cNvGrpSpPr>
              <a:grpSpLocks/>
            </p:cNvGrpSpPr>
            <p:nvPr/>
          </p:nvGrpSpPr>
          <p:grpSpPr bwMode="auto">
            <a:xfrm>
              <a:off x="1436" y="2441"/>
              <a:ext cx="1071" cy="186"/>
              <a:chOff x="1813" y="2187"/>
              <a:chExt cx="1071" cy="186"/>
            </a:xfrm>
          </p:grpSpPr>
          <p:sp>
            <p:nvSpPr>
              <p:cNvPr id="22568" name="Rectangle 16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9" name="Text Box 17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400"/>
                  <a:t>airplane routing</a:t>
                </a:r>
              </a:p>
            </p:txBody>
          </p:sp>
        </p:grpSp>
        <p:grpSp>
          <p:nvGrpSpPr>
            <p:cNvPr id="22549" name="Group 18"/>
            <p:cNvGrpSpPr>
              <a:grpSpLocks/>
            </p:cNvGrpSpPr>
            <p:nvPr/>
          </p:nvGrpSpPr>
          <p:grpSpPr bwMode="auto">
            <a:xfrm>
              <a:off x="2417" y="2441"/>
              <a:ext cx="1071" cy="186"/>
              <a:chOff x="1813" y="2187"/>
              <a:chExt cx="1071" cy="186"/>
            </a:xfrm>
          </p:grpSpPr>
          <p:sp>
            <p:nvSpPr>
              <p:cNvPr id="22566" name="Rectangle 19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fr-FR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7" name="Text Box 20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400"/>
                  <a:t>airplane routing</a:t>
                </a:r>
              </a:p>
            </p:txBody>
          </p:sp>
        </p:grpSp>
        <p:sp>
          <p:nvSpPr>
            <p:cNvPr id="22550" name="Rectangle 21"/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51" name="Text Box 22"/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ticket (complain)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en-US" sz="1400"/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baggage (claim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en-US" sz="1400"/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gates (unload)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en-US" sz="1400"/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runway (land)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en-US" sz="1400"/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/>
                <a:t>airplane routing</a:t>
              </a:r>
            </a:p>
          </p:txBody>
        </p:sp>
        <p:sp>
          <p:nvSpPr>
            <p:cNvPr id="22552" name="Line 23"/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3" name="Line 24"/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4" name="Line 25"/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5" name="Line 26"/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6" name="Rectangle 27"/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57" name="Rectangle 28"/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58" name="Rectangle 29"/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59" name="Rectangle 30"/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60" name="Rectangle 31"/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561" name="Text Box 32"/>
            <p:cNvSpPr txBox="1">
              <a:spLocks noChangeArrowheads="1"/>
            </p:cNvSpPr>
            <p:nvPr/>
          </p:nvSpPr>
          <p:spPr bwMode="auto">
            <a:xfrm>
              <a:off x="4776" y="1588"/>
              <a:ext cx="3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ticket</a:t>
              </a:r>
            </a:p>
          </p:txBody>
        </p:sp>
        <p:sp>
          <p:nvSpPr>
            <p:cNvPr id="22562" name="Text Box 33"/>
            <p:cNvSpPr txBox="1">
              <a:spLocks noChangeArrowheads="1"/>
            </p:cNvSpPr>
            <p:nvPr/>
          </p:nvSpPr>
          <p:spPr bwMode="auto">
            <a:xfrm>
              <a:off x="4774" y="1801"/>
              <a:ext cx="4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baggage</a:t>
              </a:r>
            </a:p>
          </p:txBody>
        </p:sp>
        <p:sp>
          <p:nvSpPr>
            <p:cNvPr id="22563" name="Text Box 34"/>
            <p:cNvSpPr txBox="1">
              <a:spLocks noChangeArrowheads="1"/>
            </p:cNvSpPr>
            <p:nvPr/>
          </p:nvSpPr>
          <p:spPr bwMode="auto">
            <a:xfrm>
              <a:off x="4772" y="2013"/>
              <a:ext cx="30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gate</a:t>
              </a:r>
            </a:p>
          </p:txBody>
        </p:sp>
        <p:sp>
          <p:nvSpPr>
            <p:cNvPr id="22564" name="Text Box 35"/>
            <p:cNvSpPr txBox="1">
              <a:spLocks noChangeArrowheads="1"/>
            </p:cNvSpPr>
            <p:nvPr/>
          </p:nvSpPr>
          <p:spPr bwMode="auto">
            <a:xfrm>
              <a:off x="4767" y="2225"/>
              <a:ext cx="7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takeoff/landing</a:t>
              </a:r>
            </a:p>
          </p:txBody>
        </p:sp>
        <p:sp>
          <p:nvSpPr>
            <p:cNvPr id="22565" name="Text Box 36"/>
            <p:cNvSpPr txBox="1">
              <a:spLocks noChangeArrowheads="1"/>
            </p:cNvSpPr>
            <p:nvPr/>
          </p:nvSpPr>
          <p:spPr bwMode="auto">
            <a:xfrm>
              <a:off x="4769" y="2444"/>
              <a:ext cx="7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airplane routing</a:t>
              </a:r>
            </a:p>
          </p:txBody>
        </p:sp>
      </p:grpSp>
      <p:sp>
        <p:nvSpPr>
          <p:cNvPr id="22532" name="Rectangle 39"/>
          <p:cNvSpPr>
            <a:spLocks noGrp="1" noChangeArrowheads="1"/>
          </p:cNvSpPr>
          <p:nvPr>
            <p:ph type="title" idx="4294967295"/>
          </p:nvPr>
        </p:nvSpPr>
        <p:spPr>
          <a:xfrm>
            <a:off x="319088" y="31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Gill Sans MT" pitchFamily="34" charset="0"/>
                <a:cs typeface="Arial" panose="020B0604020202020204" pitchFamily="34" charset="0"/>
              </a:rPr>
              <a:t>Layering of airline functionality</a:t>
            </a:r>
          </a:p>
        </p:txBody>
      </p:sp>
      <p:sp>
        <p:nvSpPr>
          <p:cNvPr id="22533" name="Rectangle 40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4441825"/>
            <a:ext cx="7613650" cy="17637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layers:</a:t>
            </a:r>
            <a:r>
              <a:rPr lang="en-US" altLang="en-US" smtClean="0">
                <a:solidFill>
                  <a:srgbClr val="FF0000"/>
                </a:solidFill>
                <a:latin typeface="Gill Sans MT" pitchFamily="34" charset="0"/>
                <a:cs typeface="Arial" panose="020B0604020202020204" pitchFamily="34" charset="0"/>
              </a:rPr>
              <a:t> </a:t>
            </a:r>
            <a:r>
              <a:rPr lang="en-US" altLang="en-US" smtClean="0">
                <a:latin typeface="Gill Sans MT" pitchFamily="34" charset="0"/>
                <a:cs typeface="Arial" panose="020B0604020202020204" pitchFamily="34" charset="0"/>
              </a:rPr>
              <a:t>each layer implements a service</a:t>
            </a:r>
          </a:p>
          <a:p>
            <a:pPr lvl="1" eaLnBrk="1" hangingPunct="1"/>
            <a:r>
              <a:rPr lang="en-US" altLang="en-US" smtClean="0">
                <a:latin typeface="Gill Sans MT" pitchFamily="34" charset="0"/>
                <a:cs typeface="Arial" panose="020B0604020202020204" pitchFamily="34" charset="0"/>
              </a:rPr>
              <a:t>via its own internal-layer actions</a:t>
            </a:r>
          </a:p>
          <a:p>
            <a:pPr lvl="1" eaLnBrk="1" hangingPunct="1"/>
            <a:r>
              <a:rPr lang="en-US" altLang="en-US" smtClean="0">
                <a:latin typeface="Gill Sans MT" pitchFamily="34" charset="0"/>
                <a:cs typeface="Arial" panose="020B0604020202020204" pitchFamily="34" charset="0"/>
              </a:rPr>
              <a:t>relying on services provided by layer below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latin typeface="Gill Sans MT" pitchFamily="34" charset="0"/>
              <a:cs typeface="Arial" panose="020B0604020202020204" pitchFamily="34" charset="0"/>
            </a:endParaRPr>
          </a:p>
        </p:txBody>
      </p:sp>
      <p:sp>
        <p:nvSpPr>
          <p:cNvPr id="22534" name="Slide Number Placeholder 40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9B9755-1D54-4825-B6B5-29AC1431CE6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>
                <a:latin typeface="Gill Sans MT" pitchFamily="34" charset="0"/>
                <a:cs typeface="Arial" panose="020B0604020202020204" pitchFamily="34" charset="0"/>
              </a:rPr>
              <a:t>Why layering?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6100" y="1435100"/>
            <a:ext cx="7772400" cy="464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dealing with complex systems:</a:t>
            </a:r>
          </a:p>
          <a:p>
            <a:pPr eaLnBrk="1" hangingPunct="1">
              <a:buSzPct val="75000"/>
            </a:pPr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modularization eases maintenance, updating of system</a:t>
            </a:r>
          </a:p>
          <a:p>
            <a:pPr lvl="1" eaLnBrk="1" hangingPunct="1"/>
            <a:r>
              <a:rPr lang="en-US" altLang="en-US" sz="2000" smtClean="0">
                <a:latin typeface="Gill Sans MT" pitchFamily="34" charset="0"/>
                <a:cs typeface="Arial" panose="020B0604020202020204" pitchFamily="34" charset="0"/>
              </a:rPr>
              <a:t>change of implementation of layer</a:t>
            </a:r>
            <a:r>
              <a:rPr lang="ja-JP" altLang="en-US" sz="2000" smtClean="0">
                <a:latin typeface="Gill Sans MT" pitchFamily="34" charset="0"/>
              </a:rPr>
              <a:t>’</a:t>
            </a:r>
            <a:r>
              <a:rPr lang="en-US" altLang="ja-JP" sz="2000" smtClean="0">
                <a:latin typeface="Gill Sans MT" pitchFamily="34" charset="0"/>
              </a:rPr>
              <a:t>s service transparent to rest of system</a:t>
            </a:r>
          </a:p>
          <a:p>
            <a:pPr lvl="1" eaLnBrk="1" hangingPunct="1"/>
            <a:r>
              <a:rPr lang="en-US" altLang="en-US" sz="2000" smtClean="0">
                <a:latin typeface="Gill Sans MT" pitchFamily="34" charset="0"/>
                <a:cs typeface="Arial" panose="020B0604020202020204" pitchFamily="34" charset="0"/>
              </a:rPr>
              <a:t>e.g., change in gate procedure doesn</a:t>
            </a:r>
            <a:r>
              <a:rPr lang="ja-JP" altLang="en-US" sz="2000" smtClean="0">
                <a:latin typeface="Gill Sans MT" pitchFamily="34" charset="0"/>
              </a:rPr>
              <a:t>’</a:t>
            </a:r>
            <a:r>
              <a:rPr lang="en-US" altLang="ja-JP" sz="2000" smtClean="0">
                <a:latin typeface="Gill Sans MT" pitchFamily="34" charset="0"/>
              </a:rPr>
              <a:t>t affect rest of system</a:t>
            </a:r>
          </a:p>
          <a:p>
            <a:pPr eaLnBrk="1" hangingPunct="1">
              <a:buSzPct val="75000"/>
            </a:pPr>
            <a:r>
              <a:rPr lang="en-GB" altLang="en-US" sz="2400" smtClean="0">
                <a:latin typeface="Gill Sans MT" pitchFamily="34" charset="0"/>
                <a:cs typeface="Arial" panose="020B0604020202020204" pitchFamily="34" charset="0"/>
              </a:rPr>
              <a:t>Led to flexibility in modifying and developing network architectures.</a:t>
            </a:r>
          </a:p>
          <a:p>
            <a:pPr eaLnBrk="1" hangingPunct="1">
              <a:buSzPct val="75000"/>
            </a:pPr>
            <a:r>
              <a:rPr lang="en-GB" altLang="en-US" sz="2400" smtClean="0">
                <a:latin typeface="Gill Sans MT" pitchFamily="34" charset="0"/>
                <a:cs typeface="Arial" panose="020B0604020202020204" pitchFamily="34" charset="0"/>
              </a:rPr>
              <a:t>Accommodates incremental changes.</a:t>
            </a:r>
          </a:p>
          <a:p>
            <a:pPr lvl="1" eaLnBrk="1" hangingPunct="1"/>
            <a:endParaRPr lang="en-US" altLang="ja-JP" sz="2000" smtClean="0">
              <a:latin typeface="Gill Sans MT" pitchFamily="34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AF8469-A90B-477C-ACD8-D8C2BE68DE7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565277" name="Rectangle 29"/>
          <p:cNvSpPr>
            <a:spLocks noChangeArrowheads="1"/>
          </p:cNvSpPr>
          <p:nvPr/>
        </p:nvSpPr>
        <p:spPr bwMode="auto">
          <a:xfrm>
            <a:off x="76200" y="1127125"/>
            <a:ext cx="8610600" cy="222726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We use the concept of </a:t>
            </a:r>
            <a:r>
              <a:rPr lang="en-US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layers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 in our daily life. As an example, let us consider two friends who communicate through postal mail. The process of sending a letter to a friend would be complex if there were no services available from the post office. 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E73663-BE30-43D4-9F19-74D15A2D773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3513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Tasks involved in sending a letter</a:t>
            </a:r>
            <a:endParaRPr lang="en-US" altLang="en-US" sz="2000" i="1"/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1219200"/>
            <a:ext cx="5575300" cy="479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EB64FE-D2D7-47B7-91FB-17240B54911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7312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6575425" y="17272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33388" y="114300"/>
            <a:ext cx="7772400" cy="10287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Gill Sans MT" pitchFamily="34" charset="0"/>
                <a:cs typeface="Arial" panose="020B0604020202020204" pitchFamily="34" charset="0"/>
              </a:rPr>
              <a:t>Internet protocol stack</a:t>
            </a:r>
          </a:p>
        </p:txBody>
      </p:sp>
      <p:sp>
        <p:nvSpPr>
          <p:cNvPr id="30725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7050" y="1333500"/>
            <a:ext cx="5554663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sz="24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application:</a:t>
            </a:r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 supporting network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>
                <a:latin typeface="Gill Sans MT" pitchFamily="34" charset="0"/>
                <a:cs typeface="Arial" panose="020B0604020202020204" pitchFamily="34" charset="0"/>
              </a:rPr>
              <a:t>FTP, SMTP, HTTP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sz="24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transport:</a:t>
            </a:r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 process-process data transfer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>
                <a:latin typeface="Gill Sans MT" pitchFamily="34" charset="0"/>
                <a:cs typeface="Arial" panose="020B0604020202020204" pitchFamily="34" charset="0"/>
              </a:rPr>
              <a:t>TCP, UDP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sz="24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network:</a:t>
            </a:r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 routing of datagrams from source to destination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>
                <a:latin typeface="Gill Sans MT" pitchFamily="34" charset="0"/>
                <a:cs typeface="Arial" panose="020B0604020202020204" pitchFamily="34" charset="0"/>
              </a:rPr>
              <a:t>IP, routing protocols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sz="24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link:</a:t>
            </a:r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 data transfer between neighboring  network elements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smtClean="0">
                <a:latin typeface="Gill Sans MT" pitchFamily="34" charset="0"/>
                <a:cs typeface="Arial" panose="020B0604020202020204" pitchFamily="34" charset="0"/>
              </a:rPr>
              <a:t>Ethernet, 802.111 (WiFi), PPP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altLang="en-US" sz="2400" i="1" smtClean="0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physical:</a:t>
            </a:r>
            <a:r>
              <a:rPr lang="en-US" altLang="en-US" sz="2400" smtClean="0">
                <a:latin typeface="Gill Sans MT" pitchFamily="34" charset="0"/>
                <a:cs typeface="Arial" panose="020B0604020202020204" pitchFamily="34" charset="0"/>
              </a:rPr>
              <a:t> bits </a:t>
            </a:r>
            <a:r>
              <a:rPr lang="ja-JP" altLang="en-US" sz="2400" smtClean="0">
                <a:latin typeface="Gill Sans MT" pitchFamily="34" charset="0"/>
                <a:cs typeface="Arial" panose="020B0604020202020204" pitchFamily="34" charset="0"/>
              </a:rPr>
              <a:t>“</a:t>
            </a:r>
            <a:r>
              <a:rPr lang="en-US" altLang="ja-JP" sz="2400" smtClean="0">
                <a:latin typeface="Gill Sans MT" pitchFamily="34" charset="0"/>
                <a:cs typeface="Arial" panose="020B0604020202020204" pitchFamily="34" charset="0"/>
              </a:rPr>
              <a:t>on the wire</a:t>
            </a:r>
            <a:r>
              <a:rPr lang="ja-JP" altLang="en-US" sz="2400" smtClean="0">
                <a:latin typeface="Gill Sans MT" pitchFamily="34" charset="0"/>
                <a:cs typeface="Arial" panose="020B0604020202020204" pitchFamily="34" charset="0"/>
              </a:rPr>
              <a:t>”</a:t>
            </a:r>
            <a:endParaRPr lang="en-US" altLang="ja-JP" sz="2400" smtClean="0">
              <a:latin typeface="Gill Sans MT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smtClean="0">
              <a:latin typeface="Gill Sans MT" pitchFamily="34" charset="0"/>
              <a:cs typeface="Arial" panose="020B0604020202020204" pitchFamily="34" charset="0"/>
            </a:endParaRP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6457950" y="1824038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6562725" y="1920875"/>
            <a:ext cx="16446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application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transport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network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link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physical</a:t>
            </a:r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6451600" y="251618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6451600" y="32210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6451600" y="39322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1" name="Line 11"/>
          <p:cNvSpPr>
            <a:spLocks noChangeShapeType="1"/>
          </p:cNvSpPr>
          <p:nvPr/>
        </p:nvSpPr>
        <p:spPr bwMode="auto">
          <a:xfrm>
            <a:off x="6451600" y="46434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32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E93D15-903E-44BC-B52B-58A45AF707B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9"/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71" name="Line 10"/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72" name="Rectangle 11"/>
          <p:cNvSpPr>
            <a:spLocks noChangeArrowheads="1"/>
          </p:cNvSpPr>
          <p:nvPr/>
        </p:nvSpPr>
        <p:spPr bwMode="auto">
          <a:xfrm>
            <a:off x="495300" y="3063875"/>
            <a:ext cx="8077200" cy="12001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the </a:t>
            </a:r>
            <a:r>
              <a:rPr lang="en-GB" altLang="en-US" sz="2400" b="1"/>
              <a:t>application layer</a:t>
            </a:r>
            <a:r>
              <a:rPr lang="en-GB" altLang="en-US" sz="2400"/>
              <a:t> provides services for an </a:t>
            </a:r>
            <a:r>
              <a:rPr lang="en-GB" altLang="en-US" sz="2400" u="sng">
                <a:hlinkClick r:id="rId3"/>
              </a:rPr>
              <a:t>application program</a:t>
            </a:r>
            <a:r>
              <a:rPr lang="en-GB" altLang="en-US" sz="2400"/>
              <a:t> to ensure that effective communication with another application program in a network is possible</a:t>
            </a:r>
            <a:endParaRPr lang="en-US" altLang="en-US" sz="2400"/>
          </a:p>
        </p:txBody>
      </p:sp>
      <p:grpSp>
        <p:nvGrpSpPr>
          <p:cNvPr id="32773" name="Group 15"/>
          <p:cNvGrpSpPr>
            <a:grpSpLocks/>
          </p:cNvGrpSpPr>
          <p:nvPr/>
        </p:nvGrpSpPr>
        <p:grpSpPr bwMode="auto">
          <a:xfrm>
            <a:off x="533400" y="2286000"/>
            <a:ext cx="1143000" cy="566738"/>
            <a:chOff x="1200" y="1248"/>
            <a:chExt cx="720" cy="357"/>
          </a:xfrm>
        </p:grpSpPr>
        <p:pic>
          <p:nvPicPr>
            <p:cNvPr id="32775" name="Picture 1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6" name="Text Box 17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chemeClr val="hlink"/>
                  </a:solidFill>
                </a:rPr>
                <a:t>Note</a:t>
              </a:r>
            </a:p>
          </p:txBody>
        </p:sp>
      </p:grpSp>
      <p:sp>
        <p:nvSpPr>
          <p:cNvPr id="3277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C35ACE-4C61-419C-96DE-744D9A22F75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6575425" y="17272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34819" name="Rectangle 6"/>
          <p:cNvSpPr>
            <a:spLocks noChangeArrowheads="1"/>
          </p:cNvSpPr>
          <p:nvPr/>
        </p:nvSpPr>
        <p:spPr bwMode="auto">
          <a:xfrm>
            <a:off x="6457950" y="1824038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6481763" y="1920875"/>
            <a:ext cx="1806575" cy="34163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b="1" dirty="0"/>
              <a:t>application</a:t>
            </a:r>
          </a:p>
          <a:p>
            <a:pPr algn="ctr" eaLnBrk="1" hangingPunct="1">
              <a:defRPr/>
            </a:pPr>
            <a:endParaRPr lang="en-US" altLang="en-US" sz="2400" dirty="0">
              <a:solidFill>
                <a:schemeClr val="accent3">
                  <a:lumMod val="85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en-US" altLang="en-US" sz="2400" dirty="0">
                <a:solidFill>
                  <a:schemeClr val="accent3">
                    <a:lumMod val="85000"/>
                  </a:schemeClr>
                </a:solidFill>
              </a:rPr>
              <a:t>transport</a:t>
            </a:r>
          </a:p>
          <a:p>
            <a:pPr algn="ctr" eaLnBrk="1" hangingPunct="1">
              <a:defRPr/>
            </a:pPr>
            <a:endParaRPr lang="en-US" altLang="en-US" sz="2400" dirty="0">
              <a:solidFill>
                <a:schemeClr val="accent3">
                  <a:lumMod val="85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en-US" altLang="en-US" sz="2400" dirty="0">
                <a:solidFill>
                  <a:schemeClr val="accent3">
                    <a:lumMod val="85000"/>
                  </a:schemeClr>
                </a:solidFill>
              </a:rPr>
              <a:t>network</a:t>
            </a:r>
          </a:p>
          <a:p>
            <a:pPr algn="ctr" eaLnBrk="1" hangingPunct="1">
              <a:defRPr/>
            </a:pPr>
            <a:endParaRPr lang="en-US" altLang="en-US" sz="2400" dirty="0">
              <a:solidFill>
                <a:schemeClr val="accent3">
                  <a:lumMod val="85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en-US" altLang="en-US" sz="2400" dirty="0">
                <a:solidFill>
                  <a:schemeClr val="accent3">
                    <a:lumMod val="85000"/>
                  </a:schemeClr>
                </a:solidFill>
              </a:rPr>
              <a:t>link</a:t>
            </a:r>
          </a:p>
          <a:p>
            <a:pPr algn="ctr" eaLnBrk="1" hangingPunct="1">
              <a:defRPr/>
            </a:pPr>
            <a:endParaRPr lang="en-US" altLang="en-US" sz="2400" dirty="0">
              <a:solidFill>
                <a:schemeClr val="accent3">
                  <a:lumMod val="85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en-US" altLang="en-US" sz="2400" dirty="0">
                <a:solidFill>
                  <a:schemeClr val="accent3">
                    <a:lumMod val="85000"/>
                  </a:schemeClr>
                </a:solidFill>
              </a:rPr>
              <a:t>physical</a:t>
            </a:r>
          </a:p>
        </p:txBody>
      </p:sp>
      <p:sp>
        <p:nvSpPr>
          <p:cNvPr id="34821" name="Line 8"/>
          <p:cNvSpPr>
            <a:spLocks noChangeShapeType="1"/>
          </p:cNvSpPr>
          <p:nvPr/>
        </p:nvSpPr>
        <p:spPr bwMode="auto">
          <a:xfrm>
            <a:off x="6451600" y="251618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2" name="Line 9"/>
          <p:cNvSpPr>
            <a:spLocks noChangeShapeType="1"/>
          </p:cNvSpPr>
          <p:nvPr/>
        </p:nvSpPr>
        <p:spPr bwMode="auto">
          <a:xfrm>
            <a:off x="6451600" y="32210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3" name="Line 10"/>
          <p:cNvSpPr>
            <a:spLocks noChangeShapeType="1"/>
          </p:cNvSpPr>
          <p:nvPr/>
        </p:nvSpPr>
        <p:spPr bwMode="auto">
          <a:xfrm>
            <a:off x="6451600" y="39322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4" name="Line 11"/>
          <p:cNvSpPr>
            <a:spLocks noChangeShapeType="1"/>
          </p:cNvSpPr>
          <p:nvPr/>
        </p:nvSpPr>
        <p:spPr bwMode="auto">
          <a:xfrm>
            <a:off x="6451600" y="46434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4825" name="Slide Number Placeholder 1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0724E4-D96E-4226-BA67-BFA00350589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34826" name="AutoShape 5" descr="Image result for google chrome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348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38" y="2128838"/>
            <a:ext cx="1625600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8" name="Rectangle 2"/>
          <p:cNvSpPr>
            <a:spLocks noChangeArrowheads="1"/>
          </p:cNvSpPr>
          <p:nvPr/>
        </p:nvSpPr>
        <p:spPr bwMode="auto">
          <a:xfrm>
            <a:off x="152400" y="1143000"/>
            <a:ext cx="6553200" cy="486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SzPct val="75000"/>
              <a:buFontTx/>
              <a:buNone/>
            </a:pPr>
            <a:r>
              <a:rPr lang="en-US" altLang="en-US" sz="2400" i="1">
                <a:solidFill>
                  <a:srgbClr val="CC0000"/>
                </a:solidFill>
                <a:latin typeface="Gill Sans MT" pitchFamily="34" charset="0"/>
                <a:cs typeface="Arial" panose="020B0604020202020204" pitchFamily="34" charset="0"/>
              </a:rPr>
              <a:t>application:</a:t>
            </a:r>
            <a:r>
              <a:rPr lang="en-US" altLang="en-US" sz="2400">
                <a:latin typeface="Gill Sans MT" pitchFamily="34" charset="0"/>
                <a:cs typeface="Arial" panose="020B0604020202020204" pitchFamily="34" charset="0"/>
              </a:rPr>
              <a:t> enable users/applications to access network resources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Gill Sans MT" pitchFamily="34" charset="0"/>
                <a:cs typeface="Arial" panose="020B0604020202020204" pitchFamily="34" charset="0"/>
              </a:rPr>
              <a:t>HTTP protocol (which provides for Web document request and transfer)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Gill Sans MT" pitchFamily="34" charset="0"/>
                <a:cs typeface="Arial" panose="020B0604020202020204" pitchFamily="34" charset="0"/>
              </a:rPr>
              <a:t>FTP protocol ( transfer of files between two end systems)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Gill Sans MT" pitchFamily="34" charset="0"/>
                <a:cs typeface="Arial" panose="020B0604020202020204" pitchFamily="34" charset="0"/>
              </a:rPr>
              <a:t>SMTP (transfer of e-mail messages)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Gill Sans MT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Gill Sans MT" pitchFamily="34" charset="0"/>
                <a:cs typeface="Arial" panose="020B0604020202020204" pitchFamily="34" charset="0"/>
              </a:rPr>
              <a:t>DNS (Domain name system)</a:t>
            </a:r>
          </a:p>
        </p:txBody>
      </p:sp>
      <p:pic>
        <p:nvPicPr>
          <p:cNvPr id="3482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113" y="4267200"/>
            <a:ext cx="9286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0" name="Picture 19" descr="Image result for d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338" y="5181600"/>
            <a:ext cx="2794000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3"/>
          <p:cNvSpPr>
            <a:spLocks noChangeShapeType="1"/>
          </p:cNvSpPr>
          <p:nvPr/>
        </p:nvSpPr>
        <p:spPr bwMode="auto">
          <a:xfrm>
            <a:off x="152400" y="10160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228600" y="609600"/>
            <a:ext cx="2795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i="1"/>
              <a:t>Transport layer</a:t>
            </a:r>
          </a:p>
        </p:txBody>
      </p:sp>
      <p:sp>
        <p:nvSpPr>
          <p:cNvPr id="36868" name="Line 5"/>
          <p:cNvSpPr>
            <a:spLocks noChangeShapeType="1"/>
          </p:cNvSpPr>
          <p:nvPr/>
        </p:nvSpPr>
        <p:spPr bwMode="auto">
          <a:xfrm>
            <a:off x="152400" y="741045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3686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71"/>
          <a:stretch>
            <a:fillRect/>
          </a:stretch>
        </p:blipFill>
        <p:spPr bwMode="auto">
          <a:xfrm>
            <a:off x="152400" y="4464050"/>
            <a:ext cx="869315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740727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823A30-2BCA-47C1-9178-D3FA0F6B20B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" name="Rectangle 1"/>
          <p:cNvSpPr/>
          <p:nvPr/>
        </p:nvSpPr>
        <p:spPr>
          <a:xfrm>
            <a:off x="152400" y="1219200"/>
            <a:ext cx="8763000" cy="20129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Gill Sans MT" pitchFamily="34" charset="0"/>
                <a:ea typeface="+mn-ea"/>
                <a:cs typeface="Arial" charset="0"/>
              </a:rPr>
              <a:t>This layer divide the data into </a:t>
            </a:r>
            <a:r>
              <a:rPr lang="en-GB" sz="2400" b="1" dirty="0">
                <a:latin typeface="Gill Sans MT" pitchFamily="34" charset="0"/>
                <a:ea typeface="+mn-ea"/>
                <a:cs typeface="Arial" charset="0"/>
              </a:rPr>
              <a:t>s</a:t>
            </a:r>
            <a:r>
              <a:rPr lang="en-GB" sz="2400" b="1" u="sng" dirty="0">
                <a:latin typeface="Gill Sans MT" pitchFamily="34" charset="0"/>
                <a:ea typeface="+mn-ea"/>
                <a:cs typeface="Arial" charset="0"/>
              </a:rPr>
              <a:t>egments</a:t>
            </a:r>
            <a:r>
              <a:rPr lang="en-GB" sz="2400" b="1" dirty="0">
                <a:latin typeface="Gill Sans MT" pitchFamily="34" charset="0"/>
                <a:ea typeface="+mn-ea"/>
                <a:cs typeface="Arial" charset="0"/>
              </a:rPr>
              <a:t>.</a:t>
            </a:r>
          </a:p>
          <a:p>
            <a:pPr marL="457200" indent="-457200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Gill Sans MT" pitchFamily="34" charset="0"/>
                <a:ea typeface="+mn-ea"/>
                <a:cs typeface="Arial" charset="0"/>
              </a:rPr>
              <a:t>Transport Layer is where the decision to use TCP/UDP is made. Among commonly used protocols in this layer, TCP is reliable, UDP isn't.</a:t>
            </a:r>
          </a:p>
          <a:p>
            <a:pPr marL="457200" indent="-457200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Gill Sans MT" pitchFamily="34" charset="0"/>
                <a:ea typeface="+mn-ea"/>
                <a:cs typeface="Arial" charset="0"/>
              </a:rPr>
              <a:t>Depending upon the choice made, the respective headers are attached to your packet.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3"/>
          <p:cNvSpPr>
            <a:spLocks noChangeShapeType="1"/>
          </p:cNvSpPr>
          <p:nvPr/>
        </p:nvSpPr>
        <p:spPr bwMode="auto">
          <a:xfrm>
            <a:off x="152400" y="10160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228600" y="609600"/>
            <a:ext cx="3414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/>
              <a:t>Transport layer (TCP/UDP)</a:t>
            </a:r>
          </a:p>
        </p:txBody>
      </p:sp>
      <p:sp>
        <p:nvSpPr>
          <p:cNvPr id="38916" name="Line 5"/>
          <p:cNvSpPr>
            <a:spLocks noChangeShapeType="1"/>
          </p:cNvSpPr>
          <p:nvPr/>
        </p:nvSpPr>
        <p:spPr bwMode="auto">
          <a:xfrm>
            <a:off x="152400" y="741045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740727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7EF2B7-775A-4B9B-B675-C2ABE133815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pic>
        <p:nvPicPr>
          <p:cNvPr id="38918" name="Picture 2" descr="http://www.networkinginfoblog.com/contentsimages/Popular%20Internet%20applications%20and%20their%20underlying%20transport%20protoco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716280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Line 9"/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63" name="Line 10"/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64" name="Rectangle 11"/>
          <p:cNvSpPr>
            <a:spLocks noChangeArrowheads="1"/>
          </p:cNvSpPr>
          <p:nvPr/>
        </p:nvSpPr>
        <p:spPr bwMode="auto">
          <a:xfrm>
            <a:off x="495300" y="3063875"/>
            <a:ext cx="8077200" cy="12001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2400">
                <a:latin typeface="Gill Sans MT" pitchFamily="34" charset="0"/>
                <a:cs typeface="Arial" panose="020B0604020202020204" pitchFamily="34" charset="0"/>
              </a:rPr>
              <a:t>Now, after TCP/UDP header being appended, it moves on to the Network Layer. Till this step, the remote end-point's IP address wasn't a part of the packet at all.</a:t>
            </a:r>
            <a:endParaRPr lang="en-US" altLang="en-US" sz="2400">
              <a:latin typeface="Gill Sans MT" pitchFamily="34" charset="0"/>
              <a:cs typeface="Arial" panose="020B0604020202020204" pitchFamily="34" charset="0"/>
            </a:endParaRPr>
          </a:p>
        </p:txBody>
      </p:sp>
      <p:grpSp>
        <p:nvGrpSpPr>
          <p:cNvPr id="40965" name="Group 15"/>
          <p:cNvGrpSpPr>
            <a:grpSpLocks/>
          </p:cNvGrpSpPr>
          <p:nvPr/>
        </p:nvGrpSpPr>
        <p:grpSpPr bwMode="auto">
          <a:xfrm>
            <a:off x="533400" y="2286000"/>
            <a:ext cx="1143000" cy="566738"/>
            <a:chOff x="1200" y="1248"/>
            <a:chExt cx="720" cy="357"/>
          </a:xfrm>
        </p:grpSpPr>
        <p:pic>
          <p:nvPicPr>
            <p:cNvPr id="40967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68" name="Text Box 17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chemeClr val="hlink"/>
                  </a:solidFill>
                </a:rPr>
                <a:t>Note</a:t>
              </a:r>
            </a:p>
          </p:txBody>
        </p:sp>
      </p:grpSp>
      <p:sp>
        <p:nvSpPr>
          <p:cNvPr id="4096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372660-69BE-43B5-879E-C3BD8E5C3CC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1" name="Text Box 4"/>
          <p:cNvSpPr txBox="1">
            <a:spLocks noChangeArrowheads="1"/>
          </p:cNvSpPr>
          <p:nvPr/>
        </p:nvSpPr>
        <p:spPr bwMode="auto">
          <a:xfrm>
            <a:off x="304800" y="514350"/>
            <a:ext cx="2873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i="1"/>
              <a:t>Network layer</a:t>
            </a:r>
          </a:p>
        </p:txBody>
      </p:sp>
      <p:sp>
        <p:nvSpPr>
          <p:cNvPr id="43012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430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3182938"/>
            <a:ext cx="8675687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937998-9F35-42AA-8013-67B45707423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2" name="Rectangle 1"/>
          <p:cNvSpPr/>
          <p:nvPr/>
        </p:nvSpPr>
        <p:spPr>
          <a:xfrm>
            <a:off x="304800" y="1143000"/>
            <a:ext cx="8534400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Gill Sans MT" pitchFamily="34" charset="0"/>
                <a:ea typeface="+mn-ea"/>
                <a:cs typeface="Arial" charset="0"/>
              </a:rPr>
              <a:t>The Internet transport-layer protocol (TCP or UDP) in a source host passes a transport-layer segment and a destination address to the network layer.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304800" y="514350"/>
            <a:ext cx="1814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Network layer</a:t>
            </a:r>
          </a:p>
        </p:txBody>
      </p:sp>
      <p:sp>
        <p:nvSpPr>
          <p:cNvPr id="45060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C0BF3F-91AC-4425-B963-E8ACE5934686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" name="Rectangle 1"/>
          <p:cNvSpPr/>
          <p:nvPr/>
        </p:nvSpPr>
        <p:spPr>
          <a:xfrm>
            <a:off x="533400" y="1295400"/>
            <a:ext cx="8534400" cy="48942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Gill Sans MT" pitchFamily="34" charset="0"/>
                <a:ea typeface="+mn-ea"/>
                <a:cs typeface="Arial" charset="0"/>
              </a:rPr>
              <a:t>The first physical equipment at the Network Layer would be Routers</a:t>
            </a:r>
          </a:p>
          <a:p>
            <a:pPr eaLnBrk="1" hangingPunct="1">
              <a:defRPr/>
            </a:pPr>
            <a:endParaRPr lang="en-GB" sz="2400" dirty="0">
              <a:latin typeface="Gill Sans MT" pitchFamily="34" charset="0"/>
              <a:ea typeface="+mn-ea"/>
              <a:cs typeface="Arial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Gill Sans MT" pitchFamily="34" charset="0"/>
                <a:ea typeface="ＭＳ Ｐゴシック" panose="020B0600070205080204" pitchFamily="34" charset="-128"/>
                <a:cs typeface="Arial" charset="0"/>
              </a:rPr>
              <a:t>It receives SEGMENTS from the upper layer and convert it into PACKETS.</a:t>
            </a:r>
            <a:endParaRPr lang="en-GB" sz="2400" dirty="0">
              <a:latin typeface="Gill Sans MT" pitchFamily="34" charset="0"/>
              <a:ea typeface="+mn-ea"/>
              <a:cs typeface="Arial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Gill Sans MT" pitchFamily="34" charset="0"/>
              <a:ea typeface="+mn-ea"/>
              <a:cs typeface="Arial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b="1" dirty="0">
                <a:latin typeface="Gill Sans MT" pitchFamily="34" charset="0"/>
                <a:ea typeface="+mn-ea"/>
                <a:cs typeface="Arial" charset="0"/>
              </a:rPr>
              <a:t>Logical addressing</a:t>
            </a:r>
            <a:r>
              <a:rPr lang="en-GB" sz="2400" dirty="0">
                <a:latin typeface="Gill Sans MT" pitchFamily="34" charset="0"/>
                <a:ea typeface="+mn-ea"/>
                <a:cs typeface="Arial" charset="0"/>
              </a:rPr>
              <a:t>: The network layer adds a header to the packet coming from the upper layer, includes the logical addresses (IP) of the sender and receiver. </a:t>
            </a:r>
          </a:p>
          <a:p>
            <a:pPr eaLnBrk="1" hangingPunct="1">
              <a:defRPr/>
            </a:pPr>
            <a:endParaRPr lang="en-GB" sz="2400" dirty="0">
              <a:latin typeface="Gill Sans MT" pitchFamily="34" charset="0"/>
              <a:ea typeface="+mn-ea"/>
              <a:cs typeface="Arial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Gill Sans MT" pitchFamily="34" charset="0"/>
                <a:ea typeface="+mn-ea"/>
                <a:cs typeface="Arial" charset="0"/>
              </a:rPr>
              <a:t>Makes “</a:t>
            </a:r>
            <a:r>
              <a:rPr lang="en-GB" sz="2400" b="1" dirty="0">
                <a:latin typeface="Gill Sans MT" pitchFamily="34" charset="0"/>
                <a:ea typeface="+mn-ea"/>
                <a:cs typeface="Arial" charset="0"/>
              </a:rPr>
              <a:t>Best Path Determination</a:t>
            </a:r>
            <a:r>
              <a:rPr lang="en-GB" sz="2400" dirty="0">
                <a:latin typeface="Gill Sans MT" pitchFamily="34" charset="0"/>
                <a:ea typeface="+mn-ea"/>
                <a:cs typeface="Arial" charset="0"/>
              </a:rPr>
              <a:t>” decision based on logical addressing.</a:t>
            </a:r>
          </a:p>
          <a:p>
            <a:pPr eaLnBrk="1" hangingPunct="1">
              <a:defRPr/>
            </a:pPr>
            <a:endParaRPr lang="en-GB" sz="2400" dirty="0">
              <a:latin typeface="Gill Sans MT" pitchFamily="34" charset="0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414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Link layer services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188" y="1419225"/>
            <a:ext cx="7772400" cy="4648200"/>
          </a:xfrm>
        </p:spPr>
        <p:txBody>
          <a:bodyPr/>
          <a:lstStyle/>
          <a:p>
            <a:pPr marL="0" indent="0">
              <a:lnSpc>
                <a:spcPct val="75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itchFamily="34" charset="-128"/>
              </a:rPr>
              <a:t>framing, link access:</a:t>
            </a:r>
            <a:r>
              <a:rPr lang="en-US" altLang="en-US" dirty="0">
                <a:ea typeface="ＭＳ Ｐゴシック" pitchFamily="34" charset="-128"/>
              </a:rPr>
              <a:t> </a:t>
            </a:r>
          </a:p>
          <a:p>
            <a:pPr>
              <a:lnSpc>
                <a:spcPct val="75000"/>
              </a:lnSpc>
              <a:defRPr/>
            </a:pPr>
            <a:r>
              <a:rPr lang="en-GB" altLang="en-US" sz="2000" dirty="0">
                <a:ea typeface="ＭＳ Ｐゴシック" pitchFamily="34" charset="-128"/>
              </a:rPr>
              <a:t>specify the </a:t>
            </a:r>
            <a:r>
              <a:rPr lang="en-GB" altLang="en-US" sz="2000" b="1" dirty="0">
                <a:ea typeface="ＭＳ Ｐゴシック" pitchFamily="34" charset="-128"/>
              </a:rPr>
              <a:t>encapsulation</a:t>
            </a:r>
            <a:r>
              <a:rPr lang="en-GB" altLang="en-US" sz="2000" dirty="0">
                <a:ea typeface="ＭＳ Ｐゴシック" pitchFamily="34" charset="-128"/>
              </a:rPr>
              <a:t> of a packet into a frame and the techniques for getting the encapsulated packet on and off each medium. </a:t>
            </a:r>
          </a:p>
          <a:p>
            <a:pPr>
              <a:lnSpc>
                <a:spcPct val="75000"/>
              </a:lnSpc>
              <a:defRPr/>
            </a:pPr>
            <a:r>
              <a:rPr lang="en-US" altLang="en-US" sz="2000" b="1" dirty="0">
                <a:ea typeface="ＭＳ Ｐゴシック" pitchFamily="34" charset="-128"/>
              </a:rPr>
              <a:t>channel access if shared medium</a:t>
            </a:r>
          </a:p>
          <a:p>
            <a:pPr lvl="2">
              <a:lnSpc>
                <a:spcPct val="75000"/>
              </a:lnSpc>
              <a:defRPr/>
            </a:pPr>
            <a:r>
              <a:rPr lang="ja-JP" altLang="en-US" sz="1600" dirty="0">
                <a:ea typeface="ＭＳ Ｐゴシック" pitchFamily="34" charset="-128"/>
              </a:rPr>
              <a:t>“</a:t>
            </a:r>
            <a:r>
              <a:rPr lang="en-US" altLang="ja-JP" sz="1600" dirty="0">
                <a:ea typeface="ＭＳ Ｐゴシック" pitchFamily="34" charset="-128"/>
              </a:rPr>
              <a:t>MAC</a:t>
            </a:r>
            <a:r>
              <a:rPr lang="ja-JP" altLang="en-US" sz="1600" dirty="0">
                <a:ea typeface="ＭＳ Ｐゴシック" pitchFamily="34" charset="-128"/>
              </a:rPr>
              <a:t>”</a:t>
            </a:r>
            <a:r>
              <a:rPr lang="en-US" altLang="ja-JP" sz="1600" dirty="0">
                <a:ea typeface="ＭＳ Ｐゴシック" pitchFamily="34" charset="-128"/>
              </a:rPr>
              <a:t> addresses used in frame headers to identify source, </a:t>
            </a:r>
            <a:r>
              <a:rPr lang="en-US" altLang="ja-JP" sz="1600" dirty="0" err="1">
                <a:ea typeface="ＭＳ Ｐゴシック" pitchFamily="34" charset="-128"/>
              </a:rPr>
              <a:t>dest</a:t>
            </a:r>
            <a:r>
              <a:rPr lang="en-US" altLang="ja-JP" sz="1600" dirty="0">
                <a:ea typeface="ＭＳ Ｐゴシック" pitchFamily="34" charset="-128"/>
              </a:rPr>
              <a:t>  (</a:t>
            </a:r>
            <a:r>
              <a:rPr lang="en-US" altLang="en-US" sz="1600" dirty="0">
                <a:ea typeface="ＭＳ Ｐゴシック" pitchFamily="34" charset="-128"/>
              </a:rPr>
              <a:t>different from IP address!</a:t>
            </a:r>
          </a:p>
          <a:p>
            <a:pPr>
              <a:lnSpc>
                <a:spcPct val="90000"/>
              </a:lnSpc>
              <a:defRPr/>
            </a:pPr>
            <a:r>
              <a:rPr lang="en-US" altLang="en-US" sz="2000" b="1" dirty="0">
                <a:ea typeface="ＭＳ Ｐゴシック" pitchFamily="34" charset="-128"/>
              </a:rPr>
              <a:t>Error checking</a:t>
            </a:r>
          </a:p>
          <a:p>
            <a:pPr>
              <a:lnSpc>
                <a:spcPct val="75000"/>
              </a:lnSpc>
              <a:defRPr/>
            </a:pPr>
            <a:endParaRPr lang="en-US" altLang="en-US" sz="2400" i="1" dirty="0">
              <a:solidFill>
                <a:srgbClr val="CC0000"/>
              </a:solidFill>
              <a:ea typeface="ＭＳ Ｐゴシック" pitchFamily="34" charset="-128"/>
            </a:endParaRPr>
          </a:p>
        </p:txBody>
      </p:sp>
      <p:pic>
        <p:nvPicPr>
          <p:cNvPr id="4710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191000"/>
            <a:ext cx="6142038" cy="203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9155" name="Text Box 4"/>
          <p:cNvSpPr txBox="1">
            <a:spLocks noChangeArrowheads="1"/>
          </p:cNvSpPr>
          <p:nvPr/>
        </p:nvSpPr>
        <p:spPr bwMode="auto">
          <a:xfrm>
            <a:off x="223838" y="514350"/>
            <a:ext cx="2582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i="1"/>
              <a:t>Physical layer</a:t>
            </a:r>
          </a:p>
        </p:txBody>
      </p:sp>
      <p:sp>
        <p:nvSpPr>
          <p:cNvPr id="49156" name="Line 5"/>
          <p:cNvSpPr>
            <a:spLocks noChangeShapeType="1"/>
          </p:cNvSpPr>
          <p:nvPr/>
        </p:nvSpPr>
        <p:spPr bwMode="auto">
          <a:xfrm>
            <a:off x="152400" y="6172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91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DC51D4-8BC1-457B-85A4-0DB709E7BFC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49158" name="Rectangle 1"/>
          <p:cNvSpPr>
            <a:spLocks noChangeArrowheads="1"/>
          </p:cNvSpPr>
          <p:nvPr/>
        </p:nvSpPr>
        <p:spPr bwMode="auto">
          <a:xfrm>
            <a:off x="457200" y="1295400"/>
            <a:ext cx="8305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2800">
                <a:latin typeface="Gill Sans MT" pitchFamily="34" charset="0"/>
                <a:cs typeface="Arial" panose="020B0604020202020204" pitchFamily="34" charset="0"/>
              </a:rPr>
              <a:t>Defines the physical and electrical medium for data transfer.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800">
                <a:latin typeface="Gill Sans MT" pitchFamily="34" charset="0"/>
                <a:cs typeface="Arial" panose="020B0604020202020204" pitchFamily="34" charset="0"/>
              </a:rPr>
              <a:t>Physical layer components: cables, jacks, punch blocks, hubs.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1203" name="Text Box 4"/>
          <p:cNvSpPr txBox="1">
            <a:spLocks noChangeArrowheads="1"/>
          </p:cNvSpPr>
          <p:nvPr/>
        </p:nvSpPr>
        <p:spPr bwMode="auto">
          <a:xfrm>
            <a:off x="228600" y="51435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Physical layer</a:t>
            </a:r>
          </a:p>
        </p:txBody>
      </p:sp>
      <p:sp>
        <p:nvSpPr>
          <p:cNvPr id="51204" name="Line 5"/>
          <p:cNvSpPr>
            <a:spLocks noChangeShapeType="1"/>
          </p:cNvSpPr>
          <p:nvPr/>
        </p:nvSpPr>
        <p:spPr bwMode="auto">
          <a:xfrm>
            <a:off x="152400" y="6172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5120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349500"/>
            <a:ext cx="862965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C1C1F6-4AB8-4EA8-80DC-C60EC7850E96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82AC50-0C45-4B4C-9656-835D4B3EEF5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pic>
        <p:nvPicPr>
          <p:cNvPr id="53251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57200"/>
            <a:ext cx="4524375" cy="584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800"/>
          </a:p>
        </p:txBody>
      </p:sp>
      <p:sp>
        <p:nvSpPr>
          <p:cNvPr id="54275" name="Titr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mtClean="0"/>
              <a:t>The OSI Model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i="1" dirty="0">
                <a:effectLst>
                  <a:outerShdw blurRad="38100" dist="38100" dir="2700000" algn="tl">
                    <a:srgbClr val="DDDDDD"/>
                  </a:outerShdw>
                </a:effectLst>
                <a:ea typeface="+mn-ea"/>
              </a:rPr>
              <a:t>Established in 1947, the International Standards Organization (</a:t>
            </a:r>
            <a:r>
              <a:rPr lang="en-US" i="1" dirty="0">
                <a:solidFill>
                  <a:schemeClr val="hlink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+mn-ea"/>
              </a:rPr>
              <a:t>ISO</a:t>
            </a:r>
            <a:r>
              <a:rPr lang="en-US" i="1" dirty="0">
                <a:effectLst>
                  <a:outerShdw blurRad="38100" dist="38100" dir="2700000" algn="tl">
                    <a:srgbClr val="DDDDDD"/>
                  </a:outerShdw>
                </a:effectLst>
                <a:ea typeface="+mn-ea"/>
              </a:rPr>
              <a:t>) is a multinational body dedicated to worldwide agreement on international standards. An ISO standard that covers all aspects of network communications is the Open Systems Interconnection (</a:t>
            </a:r>
            <a:r>
              <a:rPr lang="en-US" i="1" dirty="0">
                <a:solidFill>
                  <a:schemeClr val="hlink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+mn-ea"/>
              </a:rPr>
              <a:t>OSI</a:t>
            </a:r>
            <a:r>
              <a:rPr lang="en-US" i="1" dirty="0">
                <a:effectLst>
                  <a:outerShdw blurRad="38100" dist="38100" dir="2700000" algn="tl">
                    <a:srgbClr val="DDDDDD"/>
                  </a:outerShdw>
                </a:effectLst>
                <a:ea typeface="+mn-ea"/>
              </a:rPr>
              <a:t>) model. It was first introduced in the late 1970s. </a:t>
            </a:r>
          </a:p>
          <a:p>
            <a:pPr marL="0" indent="0">
              <a:buFontTx/>
              <a:buNone/>
              <a:defRPr/>
            </a:pPr>
            <a:endParaRPr lang="fr-FR" dirty="0">
              <a:ea typeface="+mn-ea"/>
            </a:endParaRPr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AAD601-C57A-4A72-8046-A1388ABC037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9"/>
          <p:cNvSpPr>
            <a:spLocks noChangeShapeType="1"/>
          </p:cNvSpPr>
          <p:nvPr/>
        </p:nvSpPr>
        <p:spPr bwMode="auto">
          <a:xfrm>
            <a:off x="457200" y="2819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6323" name="Line 10"/>
          <p:cNvSpPr>
            <a:spLocks noChangeShapeType="1"/>
          </p:cNvSpPr>
          <p:nvPr/>
        </p:nvSpPr>
        <p:spPr bwMode="auto">
          <a:xfrm>
            <a:off x="458788" y="3810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6324" name="Rectangle 11"/>
          <p:cNvSpPr>
            <a:spLocks noChangeArrowheads="1"/>
          </p:cNvSpPr>
          <p:nvPr/>
        </p:nvSpPr>
        <p:spPr bwMode="auto">
          <a:xfrm>
            <a:off x="495300" y="291147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ISO is the organization.</a:t>
            </a:r>
            <a:br>
              <a:rPr lang="en-US" altLang="en-US" sz="2400"/>
            </a:br>
            <a:r>
              <a:rPr lang="en-US" altLang="en-US" sz="2400"/>
              <a:t>OSI is the model.</a:t>
            </a:r>
          </a:p>
        </p:txBody>
      </p:sp>
      <p:grpSp>
        <p:nvGrpSpPr>
          <p:cNvPr id="56325" name="Group 17"/>
          <p:cNvGrpSpPr>
            <a:grpSpLocks/>
          </p:cNvGrpSpPr>
          <p:nvPr/>
        </p:nvGrpSpPr>
        <p:grpSpPr bwMode="auto">
          <a:xfrm>
            <a:off x="457200" y="2133600"/>
            <a:ext cx="1143000" cy="566738"/>
            <a:chOff x="1200" y="1248"/>
            <a:chExt cx="720" cy="357"/>
          </a:xfrm>
        </p:grpSpPr>
        <p:pic>
          <p:nvPicPr>
            <p:cNvPr id="56327" name="Picture 1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8" name="Text Box 19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i="1">
                  <a:solidFill>
                    <a:schemeClr val="hlink"/>
                  </a:solidFill>
                </a:rPr>
                <a:t>Note</a:t>
              </a:r>
            </a:p>
          </p:txBody>
        </p:sp>
      </p:grpSp>
      <p:sp>
        <p:nvSpPr>
          <p:cNvPr id="5632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295CC6-40ED-4F4D-88A4-E6036AB2B1D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8371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58372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5837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1427163"/>
            <a:ext cx="4251325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8BF00D-FC6A-4DBB-B0FB-3DC88D4FE21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58375" name="TextBox 1"/>
          <p:cNvSpPr txBox="1">
            <a:spLocks noChangeArrowheads="1"/>
          </p:cNvSpPr>
          <p:nvPr/>
        </p:nvSpPr>
        <p:spPr bwMode="auto">
          <a:xfrm>
            <a:off x="6553200" y="1414463"/>
            <a:ext cx="94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/>
              <a:t>Data</a:t>
            </a:r>
          </a:p>
        </p:txBody>
      </p:sp>
      <p:sp>
        <p:nvSpPr>
          <p:cNvPr id="58376" name="TextBox 7"/>
          <p:cNvSpPr txBox="1">
            <a:spLocks noChangeArrowheads="1"/>
          </p:cNvSpPr>
          <p:nvPr/>
        </p:nvSpPr>
        <p:spPr bwMode="auto">
          <a:xfrm>
            <a:off x="6553200" y="1990725"/>
            <a:ext cx="94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/>
              <a:t>Data</a:t>
            </a:r>
          </a:p>
        </p:txBody>
      </p:sp>
      <p:sp>
        <p:nvSpPr>
          <p:cNvPr id="58377" name="TextBox 8"/>
          <p:cNvSpPr txBox="1">
            <a:spLocks noChangeArrowheads="1"/>
          </p:cNvSpPr>
          <p:nvPr/>
        </p:nvSpPr>
        <p:spPr bwMode="auto">
          <a:xfrm>
            <a:off x="6553200" y="2676525"/>
            <a:ext cx="94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/>
              <a:t>Data</a:t>
            </a:r>
          </a:p>
        </p:txBody>
      </p:sp>
      <p:sp>
        <p:nvSpPr>
          <p:cNvPr id="58378" name="TextBox 9"/>
          <p:cNvSpPr txBox="1">
            <a:spLocks noChangeArrowheads="1"/>
          </p:cNvSpPr>
          <p:nvPr/>
        </p:nvSpPr>
        <p:spPr bwMode="auto">
          <a:xfrm>
            <a:off x="6553200" y="3348038"/>
            <a:ext cx="16240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/>
              <a:t>Segment</a:t>
            </a:r>
          </a:p>
        </p:txBody>
      </p:sp>
      <p:sp>
        <p:nvSpPr>
          <p:cNvPr id="58379" name="TextBox 10"/>
          <p:cNvSpPr txBox="1">
            <a:spLocks noChangeArrowheads="1"/>
          </p:cNvSpPr>
          <p:nvPr/>
        </p:nvSpPr>
        <p:spPr bwMode="auto">
          <a:xfrm>
            <a:off x="6629400" y="3962400"/>
            <a:ext cx="1282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/>
              <a:t>Packet</a:t>
            </a:r>
          </a:p>
        </p:txBody>
      </p:sp>
      <p:sp>
        <p:nvSpPr>
          <p:cNvPr id="58380" name="TextBox 11"/>
          <p:cNvSpPr txBox="1">
            <a:spLocks noChangeArrowheads="1"/>
          </p:cNvSpPr>
          <p:nvPr/>
        </p:nvSpPr>
        <p:spPr bwMode="auto">
          <a:xfrm>
            <a:off x="6629400" y="4572000"/>
            <a:ext cx="1225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/>
              <a:t>Frame</a:t>
            </a:r>
          </a:p>
        </p:txBody>
      </p:sp>
      <p:sp>
        <p:nvSpPr>
          <p:cNvPr id="58381" name="TextBox 12"/>
          <p:cNvSpPr txBox="1">
            <a:spLocks noChangeArrowheads="1"/>
          </p:cNvSpPr>
          <p:nvPr/>
        </p:nvSpPr>
        <p:spPr bwMode="auto">
          <a:xfrm>
            <a:off x="6705600" y="5257800"/>
            <a:ext cx="782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/>
              <a:t>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0419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60420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6042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8" y="1427163"/>
            <a:ext cx="3184525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754AAF-21D0-40D9-9D1F-9B193CCA06A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  <p:pic>
        <p:nvPicPr>
          <p:cNvPr id="6042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371600"/>
            <a:ext cx="3184525" cy="43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724400" y="1371600"/>
            <a:ext cx="3184525" cy="17526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2467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62468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6246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C155DE-78E8-4534-B8EC-A0E2C68DC7C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/>
          </a:p>
        </p:txBody>
      </p:sp>
      <p:pic>
        <p:nvPicPr>
          <p:cNvPr id="6247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2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6247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86000" y="2590800"/>
            <a:ext cx="13335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15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6451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6451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9F8198-C179-4417-9A16-EEA4D8E9E8E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pic>
        <p:nvPicPr>
          <p:cNvPr id="6451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0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6452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09800" y="3657600"/>
            <a:ext cx="13335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TH | Seg1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657600"/>
            <a:ext cx="13335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TH | Seg2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6563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66564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6656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9765E6-9FEE-4677-89CF-9A0E5CF7162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  <p:pic>
        <p:nvPicPr>
          <p:cNvPr id="6656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8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6656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7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09800" y="4267200"/>
            <a:ext cx="19050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NH|TH | Seg1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657600"/>
            <a:ext cx="13335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TH | Seg2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8611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68612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686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ECDE43-39BF-4C2D-BE2E-B7CB60D0F49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pic>
        <p:nvPicPr>
          <p:cNvPr id="686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6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686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09800" y="4800600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DH|NH|TH | Seg1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7000" y="4267200"/>
            <a:ext cx="17907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NH|TH | Seg2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0659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70660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7066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B59F2C-DD72-4B4F-8566-AFD525618A8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pic>
        <p:nvPicPr>
          <p:cNvPr id="7066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4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7066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590800" y="5329238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01001010001010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6500" y="4800600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DH|NH|TH | Seg2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09800" y="5791200"/>
            <a:ext cx="434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72708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7270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85121E-4913-4D92-A5FE-68398147814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  <p:pic>
        <p:nvPicPr>
          <p:cNvPr id="7271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2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727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81350" y="5349875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01001010001010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800600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DH|NH|TH | Seg1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09800" y="5791200"/>
            <a:ext cx="434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4755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7475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7475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337E3F-8EA7-40CF-BE1D-928B9DDA54A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  <p:pic>
        <p:nvPicPr>
          <p:cNvPr id="7475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60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7476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357688" y="4267200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NH|TH | Seg1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09800" y="5791200"/>
            <a:ext cx="434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57688" y="4876800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DH|NH|TH | Seg2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03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76804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7680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A2EB3D-F670-4DA2-9C24-41EEC881BAC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/>
          </a:p>
        </p:txBody>
      </p:sp>
      <p:pic>
        <p:nvPicPr>
          <p:cNvPr id="7680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8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7680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1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357688" y="3697288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TH | Seg1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09800" y="5791200"/>
            <a:ext cx="434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57688" y="4267200"/>
            <a:ext cx="23241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NH|TH | Seg2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8851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78852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788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5FD863-BC11-400F-A64A-FE14B602712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  <p:pic>
        <p:nvPicPr>
          <p:cNvPr id="7885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6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7885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876800" y="3697288"/>
            <a:ext cx="188595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TH | Seg1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09800" y="5791200"/>
            <a:ext cx="434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071813" y="3697288"/>
            <a:ext cx="1804987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TH | Seg2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Line 3"/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0899" name="Text Box 4"/>
          <p:cNvSpPr txBox="1">
            <a:spLocks noChangeArrowheads="1"/>
          </p:cNvSpPr>
          <p:nvPr/>
        </p:nvSpPr>
        <p:spPr bwMode="auto">
          <a:xfrm>
            <a:off x="228600" y="590550"/>
            <a:ext cx="3725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/>
              <a:t>Seven layers of the OSI model</a:t>
            </a:r>
          </a:p>
        </p:txBody>
      </p:sp>
      <p:sp>
        <p:nvSpPr>
          <p:cNvPr id="80900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8090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84375"/>
            <a:ext cx="1938338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6EC1DF-7B87-4E66-9200-18B77D47947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/>
          </a:p>
        </p:txBody>
      </p:sp>
      <p:pic>
        <p:nvPicPr>
          <p:cNvPr id="8090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4375"/>
            <a:ext cx="20637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4" name="AutoShape 2" descr="Image result for clipart"/>
          <p:cNvSpPr>
            <a:spLocks noChangeAspect="1" noChangeArrowheads="1"/>
          </p:cNvSpPr>
          <p:nvPr/>
        </p:nvSpPr>
        <p:spPr bwMode="auto">
          <a:xfrm>
            <a:off x="190500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/>
          </a:p>
        </p:txBody>
      </p:sp>
      <p:pic>
        <p:nvPicPr>
          <p:cNvPr id="8090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8778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876300"/>
            <a:ext cx="112871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209800" y="5791200"/>
            <a:ext cx="434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0" y="2581275"/>
            <a:ext cx="13335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2000" dirty="0">
                <a:solidFill>
                  <a:schemeClr val="tx1"/>
                </a:solidFill>
              </a:rPr>
              <a:t>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4"/>
          <p:cNvSpPr>
            <a:spLocks noChangeArrowheads="1"/>
          </p:cNvSpPr>
          <p:nvPr/>
        </p:nvSpPr>
        <p:spPr bwMode="auto">
          <a:xfrm>
            <a:off x="382588" y="762000"/>
            <a:ext cx="8761412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rgbClr val="008000"/>
                </a:solidFill>
                <a:latin typeface="Gill Sans MT" pitchFamily="34" charset="0"/>
              </a:rPr>
              <a:t>Computer Networking: A Top Down Approach </a:t>
            </a:r>
            <a:r>
              <a:rPr lang="en-US" altLang="en-US" sz="2800">
                <a:solidFill>
                  <a:srgbClr val="008000"/>
                </a:solidFill>
                <a:latin typeface="Gill Sans MT" pitchFamily="34" charset="0"/>
              </a:rPr>
              <a:t/>
            </a:r>
            <a:br>
              <a:rPr lang="en-US" altLang="en-US" sz="28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altLang="en-US" sz="2000">
                <a:solidFill>
                  <a:srgbClr val="008000"/>
                </a:solidFill>
                <a:latin typeface="Gill Sans MT" pitchFamily="34" charset="0"/>
              </a:rPr>
              <a:t>8</a:t>
            </a:r>
            <a:r>
              <a:rPr lang="en-US" altLang="en-US" sz="2000" baseline="30000">
                <a:solidFill>
                  <a:srgbClr val="008000"/>
                </a:solidFill>
                <a:latin typeface="Gill Sans MT" pitchFamily="34" charset="0"/>
              </a:rPr>
              <a:t>th</a:t>
            </a:r>
            <a:r>
              <a:rPr lang="en-US" altLang="en-US" sz="2000">
                <a:solidFill>
                  <a:srgbClr val="008000"/>
                </a:solidFill>
                <a:latin typeface="Gill Sans MT" pitchFamily="34" charset="0"/>
              </a:rPr>
              <a:t> edition </a:t>
            </a:r>
            <a:br>
              <a:rPr lang="en-US" altLang="en-US" sz="20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altLang="en-US" sz="2000">
                <a:solidFill>
                  <a:srgbClr val="008000"/>
                </a:solidFill>
                <a:latin typeface="Gill Sans MT" pitchFamily="34" charset="0"/>
              </a:rPr>
              <a:t>Jim Kurose, Keith Ross</a:t>
            </a:r>
            <a:br>
              <a:rPr lang="en-US" altLang="en-US" sz="20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altLang="en-US" sz="2000">
                <a:solidFill>
                  <a:srgbClr val="008000"/>
                </a:solidFill>
                <a:latin typeface="Gill Sans MT" pitchFamily="34" charset="0"/>
              </a:rPr>
              <a:t>Addison-Wesley</a:t>
            </a:r>
            <a:br>
              <a:rPr lang="en-US" altLang="en-US" sz="2000">
                <a:solidFill>
                  <a:srgbClr val="008000"/>
                </a:solidFill>
                <a:latin typeface="Gill Sans MT" pitchFamily="34" charset="0"/>
              </a:rPr>
            </a:br>
            <a:endParaRPr lang="en-US" altLang="en-US" sz="2000">
              <a:solidFill>
                <a:srgbClr val="008000"/>
              </a:solidFill>
              <a:latin typeface="Gill Sans MT" pitchFamily="34" charset="0"/>
            </a:endParaRPr>
          </a:p>
        </p:txBody>
      </p:sp>
      <p:sp>
        <p:nvSpPr>
          <p:cNvPr id="82947" name="Text Box 6"/>
          <p:cNvSpPr txBox="1">
            <a:spLocks noChangeArrowheads="1"/>
          </p:cNvSpPr>
          <p:nvPr/>
        </p:nvSpPr>
        <p:spPr bwMode="auto">
          <a:xfrm>
            <a:off x="457200" y="3429000"/>
            <a:ext cx="6781800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 note on the origin of these ppt slides: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2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200"/>
              <a:t>These slides </a:t>
            </a:r>
            <a:r>
              <a:rPr lang="fr-FR" altLang="ja-JP" sz="1200"/>
              <a:t>are </a:t>
            </a:r>
            <a:r>
              <a:rPr lang="en-US" altLang="ja-JP" sz="1200"/>
              <a:t>freely provided by the book authors and it represents a </a:t>
            </a:r>
            <a:r>
              <a:rPr lang="en-US" altLang="ja-JP" sz="1200" i="1"/>
              <a:t>lot</a:t>
            </a:r>
            <a:r>
              <a:rPr lang="en-US" altLang="ja-JP" sz="1200"/>
              <a:t> of work on their part. We would like to thank </a:t>
            </a:r>
            <a:r>
              <a:rPr lang="en-US" altLang="en-US" sz="1200"/>
              <a:t> J.F Kurose and K.W. Ross.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2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200"/>
              <a:t>Some slides adapted from the ones accompanying the book “The TCP/IP Protocol Suite”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2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20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endParaRPr lang="en-US" altLang="en-US" sz="1400"/>
          </a:p>
        </p:txBody>
      </p:sp>
      <p:pic>
        <p:nvPicPr>
          <p:cNvPr id="82948" name="Picture 5" descr="Forouzan4e10lbj_nm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429000"/>
            <a:ext cx="1312863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68773E-EDD1-4758-B69C-8C3657DDE3C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27-Sorting Arrays</Template>
  <TotalTime>7946</TotalTime>
  <Words>1007</Words>
  <Application>Microsoft Office PowerPoint</Application>
  <PresentationFormat>On-screen Show (4:3)</PresentationFormat>
  <Paragraphs>285</Paragraphs>
  <Slides>35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MS PGothic</vt:lpstr>
      <vt:lpstr>Trebuchet MS</vt:lpstr>
      <vt:lpstr>Gill Sans MT</vt:lpstr>
      <vt:lpstr>Wingdings</vt:lpstr>
      <vt:lpstr>Times New Roman</vt:lpstr>
      <vt:lpstr>Lecture6 (Number System)</vt:lpstr>
      <vt:lpstr>Default Design</vt:lpstr>
      <vt:lpstr>Fall 2024 Lecture 03 BS(CS) Protocols and Service Models  </vt:lpstr>
      <vt:lpstr>Protocol “layers”</vt:lpstr>
      <vt:lpstr>PowerPoint Presentation</vt:lpstr>
      <vt:lpstr>Organization of air travel</vt:lpstr>
      <vt:lpstr>Layering of airline functionality</vt:lpstr>
      <vt:lpstr>Why layering?</vt:lpstr>
      <vt:lpstr>PowerPoint Presentation</vt:lpstr>
      <vt:lpstr>PowerPoint Presentation</vt:lpstr>
      <vt:lpstr>Internet protocol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 layer services</vt:lpstr>
      <vt:lpstr>PowerPoint Presentation</vt:lpstr>
      <vt:lpstr>PowerPoint Presentation</vt:lpstr>
      <vt:lpstr>PowerPoint Presentation</vt:lpstr>
      <vt:lpstr>The OSI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Ehtesham Zahoor</dc:creator>
  <cp:lastModifiedBy>user1</cp:lastModifiedBy>
  <cp:revision>225</cp:revision>
  <dcterms:created xsi:type="dcterms:W3CDTF">2006-05-16T22:38:36Z</dcterms:created>
  <dcterms:modified xsi:type="dcterms:W3CDTF">2025-07-28T10:26:31Z</dcterms:modified>
</cp:coreProperties>
</file>