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386" r:id="rId2"/>
    <p:sldId id="391" r:id="rId3"/>
    <p:sldId id="392" r:id="rId4"/>
    <p:sldId id="398" r:id="rId5"/>
    <p:sldId id="399" r:id="rId6"/>
    <p:sldId id="400" r:id="rId7"/>
    <p:sldId id="401" r:id="rId8"/>
    <p:sldId id="402" r:id="rId9"/>
    <p:sldId id="403" r:id="rId10"/>
    <p:sldId id="404" r:id="rId11"/>
    <p:sldId id="405" r:id="rId12"/>
    <p:sldId id="408" r:id="rId13"/>
    <p:sldId id="409" r:id="rId14"/>
    <p:sldId id="410" r:id="rId15"/>
    <p:sldId id="411" r:id="rId16"/>
    <p:sldId id="414" r:id="rId17"/>
    <p:sldId id="415" r:id="rId18"/>
    <p:sldId id="416" r:id="rId19"/>
    <p:sldId id="417" r:id="rId20"/>
    <p:sldId id="418" r:id="rId21"/>
    <p:sldId id="419" r:id="rId22"/>
    <p:sldId id="420" r:id="rId23"/>
    <p:sldId id="421" r:id="rId24"/>
    <p:sldId id="422" r:id="rId25"/>
  </p:sldIdLst>
  <p:sldSz cx="9144000" cy="6858000" type="screen4x3"/>
  <p:notesSz cx="6661150" cy="9871075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55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FF99"/>
    <a:srgbClr val="99FF99"/>
    <a:srgbClr val="99CCFF"/>
    <a:srgbClr val="FFFF00"/>
    <a:srgbClr val="063DE8"/>
    <a:srgbClr val="FC01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7" autoAdjust="0"/>
    <p:restoredTop sz="94660"/>
  </p:normalViewPr>
  <p:slideViewPr>
    <p:cSldViewPr>
      <p:cViewPr varScale="1">
        <p:scale>
          <a:sx n="73" d="100"/>
          <a:sy n="73" d="100"/>
        </p:scale>
        <p:origin x="1404" y="78"/>
      </p:cViewPr>
      <p:guideLst>
        <p:guide orient="horz" pos="2160"/>
        <p:guide pos="55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7413" y="4689475"/>
            <a:ext cx="4886325" cy="44418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89846" tIns="44134" rIns="89846" bIns="4413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51" name="Rectangle 3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71538" y="746125"/>
            <a:ext cx="4919662" cy="36893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4399BAF-A167-4EF1-811F-1597C30A370D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2181B3-6AE3-4D1F-91ED-0AE5A9C7DF01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4154AF-7CD7-49A2-801E-B7E7BF91ABC2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8DC1BCE-8008-422A-A1C5-AFD25976269E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613DFD-E829-4E4E-9360-0DA647F3B3F4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310B725-F3A1-47C6-B06D-4C5774309BBB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3D9CE8-F590-4844-B18F-02615884AC7A}" type="slidenum">
              <a:rPr lang="en-US" altLang="en-US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D94CE0B-9A10-4F4C-B7F6-FF5753B4CD54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04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29D9EBD-AA21-4552-81F4-7E1F2AF38364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29B18A7-9B4E-4D83-B721-E638150F24FF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F00CEB0-7ED4-450A-BB30-6E768988812D}" type="slidenum">
              <a:rPr lang="en-US" altLang="en-US"/>
              <a:pPr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802DF5B-556C-4E75-A7B2-59EE30265818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7BED22F-DA96-4161-ADDF-C2A09666A46E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3773488" y="9375775"/>
            <a:ext cx="2886075" cy="493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9A5903-93AC-40E9-96CA-51AE62BB43ED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87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418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6308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143000"/>
            <a:ext cx="38481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83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66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58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9713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24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25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0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2250" y="304800"/>
            <a:ext cx="19621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7340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848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 i="1">
          <a:solidFill>
            <a:srgbClr val="063DE8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63DE8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6.png"/><Relationship Id="rId4" Type="http://schemas.openxmlformats.org/officeDocument/2006/relationships/image" Target="../media/image15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219200"/>
            <a:ext cx="8763000" cy="1905000"/>
          </a:xfrm>
        </p:spPr>
        <p:txBody>
          <a:bodyPr/>
          <a:lstStyle/>
          <a:p>
            <a:pPr algn="ctr"/>
            <a:r>
              <a:rPr lang="en-US" altLang="en-US" smtClean="0"/>
              <a:t>   Design and Analysis of Algorithms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429000"/>
            <a:ext cx="6629400" cy="160020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en-US" altLang="en-US" sz="2000" smtClean="0"/>
          </a:p>
          <a:p>
            <a:pPr>
              <a:lnSpc>
                <a:spcPct val="80000"/>
              </a:lnSpc>
            </a:pPr>
            <a:endParaRPr lang="en-US" altLang="en-US" sz="100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838200" y="51054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Times New Roman" panose="02020603050405020304" pitchFamily="18" charset="0"/>
              </a:rPr>
              <a:t>National University of Computer and Emerging Sciences, Islamabad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Divide and Conquer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998663" y="4051300"/>
            <a:ext cx="5181600" cy="1219200"/>
            <a:chOff x="1259" y="2552"/>
            <a:chExt cx="3264" cy="768"/>
          </a:xfrm>
        </p:grpSpPr>
        <p:sp>
          <p:nvSpPr>
            <p:cNvPr id="5132" name="Line 14"/>
            <p:cNvSpPr>
              <a:spLocks noChangeShapeType="1"/>
            </p:cNvSpPr>
            <p:nvPr/>
          </p:nvSpPr>
          <p:spPr bwMode="auto">
            <a:xfrm flipH="1">
              <a:off x="1894" y="2552"/>
              <a:ext cx="986" cy="472"/>
            </a:xfrm>
            <a:prstGeom prst="line">
              <a:avLst/>
            </a:prstGeom>
            <a:noFill/>
            <a:ln w="5715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33" name="Line 15"/>
            <p:cNvSpPr>
              <a:spLocks noChangeShapeType="1"/>
            </p:cNvSpPr>
            <p:nvPr/>
          </p:nvSpPr>
          <p:spPr bwMode="auto">
            <a:xfrm>
              <a:off x="2880" y="2552"/>
              <a:ext cx="1008" cy="472"/>
            </a:xfrm>
            <a:prstGeom prst="line">
              <a:avLst/>
            </a:prstGeom>
            <a:noFill/>
            <a:ln w="5715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7016" name="Text Box 8"/>
            <p:cNvSpPr txBox="1">
              <a:spLocks noChangeArrowheads="1"/>
            </p:cNvSpPr>
            <p:nvPr/>
          </p:nvSpPr>
          <p:spPr bwMode="auto">
            <a:xfrm>
              <a:off x="1259" y="3024"/>
              <a:ext cx="1270" cy="296"/>
            </a:xfrm>
            <a:prstGeom prst="rect">
              <a:avLst/>
            </a:prstGeom>
            <a:solidFill>
              <a:srgbClr val="00FF99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Easy Problem</a:t>
              </a:r>
            </a:p>
          </p:txBody>
        </p:sp>
        <p:sp>
          <p:nvSpPr>
            <p:cNvPr id="427017" name="Text Box 9"/>
            <p:cNvSpPr txBox="1">
              <a:spLocks noChangeArrowheads="1"/>
            </p:cNvSpPr>
            <p:nvPr/>
          </p:nvSpPr>
          <p:spPr bwMode="auto">
            <a:xfrm>
              <a:off x="3253" y="3024"/>
              <a:ext cx="1270" cy="296"/>
            </a:xfrm>
            <a:prstGeom prst="rect">
              <a:avLst/>
            </a:prstGeom>
            <a:solidFill>
              <a:srgbClr val="00FF99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Easy Problem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990600" y="2451100"/>
            <a:ext cx="7197725" cy="1600200"/>
            <a:chOff x="624" y="1544"/>
            <a:chExt cx="4534" cy="1008"/>
          </a:xfrm>
        </p:grpSpPr>
        <p:sp>
          <p:nvSpPr>
            <p:cNvPr id="5126" name="Line 10"/>
            <p:cNvSpPr>
              <a:spLocks noChangeShapeType="1"/>
            </p:cNvSpPr>
            <p:nvPr/>
          </p:nvSpPr>
          <p:spPr bwMode="auto">
            <a:xfrm flipH="1">
              <a:off x="1259" y="1544"/>
              <a:ext cx="1621" cy="712"/>
            </a:xfrm>
            <a:prstGeom prst="line">
              <a:avLst/>
            </a:prstGeom>
            <a:noFill/>
            <a:ln w="5715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7" name="Line 11"/>
            <p:cNvSpPr>
              <a:spLocks noChangeShapeType="1"/>
            </p:cNvSpPr>
            <p:nvPr/>
          </p:nvSpPr>
          <p:spPr bwMode="auto">
            <a:xfrm>
              <a:off x="2880" y="1544"/>
              <a:ext cx="1643" cy="712"/>
            </a:xfrm>
            <a:prstGeom prst="line">
              <a:avLst/>
            </a:prstGeom>
            <a:noFill/>
            <a:ln w="5715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5128" name="Line 13"/>
            <p:cNvSpPr>
              <a:spLocks noChangeShapeType="1"/>
            </p:cNvSpPr>
            <p:nvPr/>
          </p:nvSpPr>
          <p:spPr bwMode="auto">
            <a:xfrm flipH="1">
              <a:off x="2880" y="1544"/>
              <a:ext cx="0" cy="712"/>
            </a:xfrm>
            <a:prstGeom prst="line">
              <a:avLst/>
            </a:prstGeom>
            <a:noFill/>
            <a:ln w="57150" cap="sq">
              <a:solidFill>
                <a:schemeClr val="bg2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7013" name="Text Box 5"/>
            <p:cNvSpPr txBox="1">
              <a:spLocks noChangeArrowheads="1"/>
            </p:cNvSpPr>
            <p:nvPr/>
          </p:nvSpPr>
          <p:spPr bwMode="auto">
            <a:xfrm>
              <a:off x="2235" y="2256"/>
              <a:ext cx="1312" cy="296"/>
            </a:xfrm>
            <a:prstGeom prst="rect">
              <a:avLst/>
            </a:prstGeom>
            <a:solidFill>
              <a:srgbClr val="FF9F89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Hard Problem</a:t>
              </a:r>
            </a:p>
          </p:txBody>
        </p:sp>
        <p:sp>
          <p:nvSpPr>
            <p:cNvPr id="427014" name="Text Box 6"/>
            <p:cNvSpPr txBox="1">
              <a:spLocks noChangeArrowheads="1"/>
            </p:cNvSpPr>
            <p:nvPr/>
          </p:nvSpPr>
          <p:spPr bwMode="auto">
            <a:xfrm>
              <a:off x="624" y="2256"/>
              <a:ext cx="1270" cy="296"/>
            </a:xfrm>
            <a:prstGeom prst="rect">
              <a:avLst/>
            </a:prstGeom>
            <a:solidFill>
              <a:srgbClr val="00FF99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Easy Problem</a:t>
              </a:r>
            </a:p>
          </p:txBody>
        </p:sp>
        <p:sp>
          <p:nvSpPr>
            <p:cNvPr id="427015" name="Text Box 7"/>
            <p:cNvSpPr txBox="1">
              <a:spLocks noChangeArrowheads="1"/>
            </p:cNvSpPr>
            <p:nvPr/>
          </p:nvSpPr>
          <p:spPr bwMode="auto">
            <a:xfrm>
              <a:off x="3888" y="2256"/>
              <a:ext cx="1270" cy="296"/>
            </a:xfrm>
            <a:prstGeom prst="rect">
              <a:avLst/>
            </a:prstGeom>
            <a:solidFill>
              <a:srgbClr val="00FF99"/>
            </a:solidFill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bg2"/>
                  </a:solidFill>
                  <a:effectLst>
                    <a:outerShdw blurRad="38100" dist="38100" dir="2700000" algn="tl">
                      <a:srgbClr val="FFFFFF"/>
                    </a:outerShdw>
                  </a:effectLst>
                </a:rPr>
                <a:t>Easy Problem</a:t>
              </a:r>
            </a:p>
          </p:txBody>
        </p:sp>
      </p:grpSp>
      <p:sp>
        <p:nvSpPr>
          <p:cNvPr id="427012" name="Text Box 4"/>
          <p:cNvSpPr txBox="1">
            <a:spLocks noChangeArrowheads="1"/>
          </p:cNvSpPr>
          <p:nvPr/>
        </p:nvSpPr>
        <p:spPr bwMode="auto">
          <a:xfrm>
            <a:off x="3548063" y="1981200"/>
            <a:ext cx="2082800" cy="469900"/>
          </a:xfrm>
          <a:prstGeom prst="rect">
            <a:avLst/>
          </a:prstGeom>
          <a:solidFill>
            <a:srgbClr val="FF3300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Hard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Divide &amp; Conquer</a:t>
            </a:r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0" y="1143000"/>
            <a:ext cx="8763000" cy="5410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latin typeface="+mn-lt"/>
              </a:rPr>
              <a:t>Divide &amp; conquer paradigm involves 3 steps: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solidFill>
                  <a:srgbClr val="063DE8"/>
                </a:solidFill>
                <a:latin typeface="+mn-lt"/>
              </a:rPr>
              <a:t>Divide the problem into independent sub-problems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solidFill>
                  <a:srgbClr val="063DE8"/>
                </a:solidFill>
                <a:latin typeface="+mn-lt"/>
              </a:rPr>
              <a:t>Conquer the sub-problems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solidFill>
                  <a:srgbClr val="063DE8"/>
                </a:solidFill>
                <a:latin typeface="+mn-lt"/>
              </a:rPr>
              <a:t>Combine the solutions of the sub-problems.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sz="2000" b="1" kern="0" dirty="0">
              <a:solidFill>
                <a:srgbClr val="063DE8"/>
              </a:solidFill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latin typeface="+mn-lt"/>
              </a:rPr>
              <a:t>This nature of divide &amp; conquer algorithms automatically leads to recursion.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sz="2000" b="1" kern="0" dirty="0">
              <a:latin typeface="+mn-lt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latin typeface="+mn-lt"/>
              </a:rPr>
              <a:t>Classic examples: 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solidFill>
                  <a:srgbClr val="063DE8"/>
                </a:solidFill>
                <a:latin typeface="+mn-lt"/>
              </a:rPr>
              <a:t>Merge sort : T(n) = 2T(n/2) + O(n)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r>
              <a:rPr lang="en-US" sz="2000" b="1" kern="0" dirty="0">
                <a:solidFill>
                  <a:srgbClr val="063DE8"/>
                </a:solidFill>
                <a:latin typeface="+mn-lt"/>
              </a:rPr>
              <a:t>Binary search: T(n) = T(n/2) + O(1)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SzPct val="100000"/>
              <a:buFontTx/>
              <a:buChar char="•"/>
              <a:defRPr/>
            </a:pPr>
            <a:endParaRPr lang="en-US" sz="2000" b="1" kern="0" dirty="0">
              <a:solidFill>
                <a:srgbClr val="063DE8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Example: Min-Max Problem</a:t>
            </a:r>
          </a:p>
        </p:txBody>
      </p:sp>
      <p:sp>
        <p:nvSpPr>
          <p:cNvPr id="422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713288"/>
          </a:xfrm>
        </p:spPr>
        <p:txBody>
          <a:bodyPr/>
          <a:lstStyle/>
          <a:p>
            <a:r>
              <a:rPr lang="en-US" altLang="en-US" smtClean="0"/>
              <a:t>Problem: Find the largest (heaviest) and smallest (lightest) elements in a set of n elements</a:t>
            </a:r>
          </a:p>
          <a:p>
            <a:endParaRPr lang="en-US" altLang="en-US" smtClean="0"/>
          </a:p>
          <a:p>
            <a:r>
              <a:rPr lang="en-US" altLang="en-US" smtClean="0"/>
              <a:t>Simple Algorithm: Make n-1 comparisons to find largest, n-2 more comparisons to find smallest for a total of 2n-3 comparisons.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Min-Max Cont’d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495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smtClean="0"/>
              <a:t>Divide-and-Conquer:</a:t>
            </a:r>
          </a:p>
          <a:p>
            <a:pPr lvl="1">
              <a:lnSpc>
                <a:spcPct val="90000"/>
              </a:lnSpc>
            </a:pPr>
            <a:r>
              <a:rPr lang="en-US" altLang="en-US" sz="2000" smtClean="0"/>
              <a:t>For n </a:t>
            </a:r>
            <a:r>
              <a:rPr lang="en-US" altLang="en-US" sz="2000" smtClean="0">
                <a:sym typeface="Symbol" panose="05050102010706020507" pitchFamily="18" charset="2"/>
              </a:rPr>
              <a:t> 2, make 1 comparison</a:t>
            </a:r>
          </a:p>
          <a:p>
            <a:pPr lvl="1">
              <a:lnSpc>
                <a:spcPct val="90000"/>
              </a:lnSpc>
            </a:pPr>
            <a:endParaRPr lang="en-US" altLang="en-US" sz="200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smtClean="0">
                <a:sym typeface="Symbol" panose="05050102010706020507" pitchFamily="18" charset="2"/>
              </a:rPr>
              <a:t>For large n, divide set into two smaller sets and determine largest/smallest element for each set</a:t>
            </a:r>
          </a:p>
          <a:p>
            <a:pPr lvl="1">
              <a:lnSpc>
                <a:spcPct val="90000"/>
              </a:lnSpc>
            </a:pPr>
            <a:endParaRPr lang="en-US" altLang="en-US" sz="2000" smtClean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sz="2000" smtClean="0">
                <a:sym typeface="Symbol" panose="05050102010706020507" pitchFamily="18" charset="2"/>
              </a:rPr>
              <a:t>Compare largest/smallest from two subsets to determine smallest/largest of combined sets</a:t>
            </a:r>
          </a:p>
          <a:p>
            <a:pPr lvl="1">
              <a:lnSpc>
                <a:spcPct val="90000"/>
              </a:lnSpc>
            </a:pPr>
            <a:endParaRPr lang="en-US" altLang="en-US" sz="2000" smtClean="0"/>
          </a:p>
          <a:p>
            <a:pPr lvl="1">
              <a:lnSpc>
                <a:spcPct val="90000"/>
              </a:lnSpc>
            </a:pPr>
            <a:r>
              <a:rPr lang="en-US" altLang="en-US" sz="2000" smtClean="0"/>
              <a:t>Do recursively</a:t>
            </a:r>
          </a:p>
          <a:p>
            <a:pPr>
              <a:lnSpc>
                <a:spcPct val="90000"/>
              </a:lnSpc>
            </a:pPr>
            <a:endParaRPr lang="en-US" altLang="en-US" sz="1000" smtClean="0"/>
          </a:p>
          <a:p>
            <a:pPr>
              <a:lnSpc>
                <a:spcPct val="90000"/>
              </a:lnSpc>
            </a:pPr>
            <a:r>
              <a:rPr lang="en-US" altLang="en-US" sz="2000" smtClean="0"/>
              <a:t>Let n =8</a:t>
            </a:r>
          </a:p>
          <a:p>
            <a:pPr>
              <a:lnSpc>
                <a:spcPct val="90000"/>
              </a:lnSpc>
            </a:pPr>
            <a:endParaRPr lang="en-US" altLang="en-US" sz="2000" smtClean="0"/>
          </a:p>
          <a:p>
            <a:pPr>
              <a:lnSpc>
                <a:spcPct val="90000"/>
              </a:lnSpc>
            </a:pPr>
            <a:r>
              <a:rPr lang="en-US" altLang="en-US" sz="2000" smtClean="0"/>
              <a:t>How many comparisons?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Example: Min-Max Problems</a:t>
            </a:r>
          </a:p>
        </p:txBody>
      </p:sp>
      <p:sp>
        <p:nvSpPr>
          <p:cNvPr id="13315" name="Text Box 5"/>
          <p:cNvSpPr txBox="1">
            <a:spLocks noChangeArrowheads="1"/>
          </p:cNvSpPr>
          <p:nvPr/>
        </p:nvSpPr>
        <p:spPr bwMode="auto">
          <a:xfrm>
            <a:off x="4537075" y="1143000"/>
            <a:ext cx="425450" cy="654050"/>
          </a:xfrm>
          <a:prstGeom prst="rect">
            <a:avLst/>
          </a:prstGeom>
          <a:solidFill>
            <a:schemeClr val="tx1"/>
          </a:solidFill>
          <a:ln w="12700" cap="sq">
            <a:solidFill>
              <a:schemeClr val="bg2"/>
            </a:solidFill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3600" b="0">
                <a:solidFill>
                  <a:schemeClr val="bg2"/>
                </a:solidFill>
                <a:latin typeface="Times New Roman" panose="02020603050405020304" pitchFamily="18" charset="0"/>
              </a:rPr>
              <a:t>8</a:t>
            </a:r>
          </a:p>
        </p:txBody>
      </p:sp>
      <p:grpSp>
        <p:nvGrpSpPr>
          <p:cNvPr id="2" name="Group 58"/>
          <p:cNvGrpSpPr>
            <a:grpSpLocks/>
          </p:cNvGrpSpPr>
          <p:nvPr/>
        </p:nvGrpSpPr>
        <p:grpSpPr bwMode="auto">
          <a:xfrm>
            <a:off x="2390775" y="1797050"/>
            <a:ext cx="4762500" cy="1119188"/>
            <a:chOff x="1506" y="1132"/>
            <a:chExt cx="3000" cy="705"/>
          </a:xfrm>
        </p:grpSpPr>
        <p:sp>
          <p:nvSpPr>
            <p:cNvPr id="13366" name="Text Box 6"/>
            <p:cNvSpPr txBox="1">
              <a:spLocks noChangeArrowheads="1"/>
            </p:cNvSpPr>
            <p:nvPr/>
          </p:nvSpPr>
          <p:spPr bwMode="auto">
            <a:xfrm>
              <a:off x="4238" y="1425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367" name="Text Box 7"/>
            <p:cNvSpPr txBox="1">
              <a:spLocks noChangeArrowheads="1"/>
            </p:cNvSpPr>
            <p:nvPr/>
          </p:nvSpPr>
          <p:spPr bwMode="auto">
            <a:xfrm>
              <a:off x="1506" y="1404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368" name="Line 15"/>
            <p:cNvSpPr>
              <a:spLocks noChangeShapeType="1"/>
            </p:cNvSpPr>
            <p:nvPr/>
          </p:nvSpPr>
          <p:spPr bwMode="auto">
            <a:xfrm flipH="1">
              <a:off x="1802" y="1132"/>
              <a:ext cx="1174" cy="293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9" name="Line 16"/>
            <p:cNvSpPr>
              <a:spLocks noChangeShapeType="1"/>
            </p:cNvSpPr>
            <p:nvPr/>
          </p:nvSpPr>
          <p:spPr bwMode="auto">
            <a:xfrm>
              <a:off x="2976" y="1132"/>
              <a:ext cx="1335" cy="293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3" name="Group 59"/>
          <p:cNvGrpSpPr>
            <a:grpSpLocks/>
          </p:cNvGrpSpPr>
          <p:nvPr/>
        </p:nvGrpSpPr>
        <p:grpSpPr bwMode="auto">
          <a:xfrm>
            <a:off x="1047750" y="2882900"/>
            <a:ext cx="7312025" cy="1239838"/>
            <a:chOff x="660" y="1816"/>
            <a:chExt cx="4606" cy="781"/>
          </a:xfrm>
        </p:grpSpPr>
        <p:sp>
          <p:nvSpPr>
            <p:cNvPr id="13358" name="Text Box 8"/>
            <p:cNvSpPr txBox="1">
              <a:spLocks noChangeArrowheads="1"/>
            </p:cNvSpPr>
            <p:nvPr/>
          </p:nvSpPr>
          <p:spPr bwMode="auto">
            <a:xfrm>
              <a:off x="660" y="2185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59" name="Text Box 9"/>
            <p:cNvSpPr txBox="1">
              <a:spLocks noChangeArrowheads="1"/>
            </p:cNvSpPr>
            <p:nvPr/>
          </p:nvSpPr>
          <p:spPr bwMode="auto">
            <a:xfrm>
              <a:off x="2098" y="2185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60" name="Text Box 10"/>
            <p:cNvSpPr txBox="1">
              <a:spLocks noChangeArrowheads="1"/>
            </p:cNvSpPr>
            <p:nvPr/>
          </p:nvSpPr>
          <p:spPr bwMode="auto">
            <a:xfrm>
              <a:off x="3546" y="2185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61" name="Text Box 11"/>
            <p:cNvSpPr txBox="1">
              <a:spLocks noChangeArrowheads="1"/>
            </p:cNvSpPr>
            <p:nvPr/>
          </p:nvSpPr>
          <p:spPr bwMode="auto">
            <a:xfrm>
              <a:off x="4998" y="2185"/>
              <a:ext cx="268" cy="412"/>
            </a:xfrm>
            <a:prstGeom prst="rect">
              <a:avLst/>
            </a:prstGeom>
            <a:noFill/>
            <a:ln w="12700" cap="sq">
              <a:solidFill>
                <a:schemeClr val="bg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100000"/>
                <a:buChar char="•"/>
                <a:defRPr sz="28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rgbClr val="063DE8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SzPct val="100000"/>
                <a:buChar char="•"/>
                <a:defRPr sz="24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SzPct val="100000"/>
                <a:buChar char="•"/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3600" b="0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62" name="Line 17"/>
            <p:cNvSpPr>
              <a:spLocks noChangeShapeType="1"/>
            </p:cNvSpPr>
            <p:nvPr/>
          </p:nvSpPr>
          <p:spPr bwMode="auto">
            <a:xfrm flipH="1">
              <a:off x="928" y="1816"/>
              <a:ext cx="606" cy="369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3" name="Line 18"/>
            <p:cNvSpPr>
              <a:spLocks noChangeShapeType="1"/>
            </p:cNvSpPr>
            <p:nvPr/>
          </p:nvSpPr>
          <p:spPr bwMode="auto">
            <a:xfrm>
              <a:off x="1754" y="1816"/>
              <a:ext cx="344" cy="369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4" name="Line 19"/>
            <p:cNvSpPr>
              <a:spLocks noChangeShapeType="1"/>
            </p:cNvSpPr>
            <p:nvPr/>
          </p:nvSpPr>
          <p:spPr bwMode="auto">
            <a:xfrm flipH="1">
              <a:off x="3814" y="1837"/>
              <a:ext cx="424" cy="348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65" name="Line 20"/>
            <p:cNvSpPr>
              <a:spLocks noChangeShapeType="1"/>
            </p:cNvSpPr>
            <p:nvPr/>
          </p:nvSpPr>
          <p:spPr bwMode="auto">
            <a:xfrm>
              <a:off x="4506" y="1816"/>
              <a:ext cx="492" cy="369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381000" y="4122738"/>
            <a:ext cx="1841500" cy="1201737"/>
            <a:chOff x="240" y="2597"/>
            <a:chExt cx="1160" cy="757"/>
          </a:xfrm>
        </p:grpSpPr>
        <p:grpSp>
          <p:nvGrpSpPr>
            <p:cNvPr id="13350" name="Group 34"/>
            <p:cNvGrpSpPr>
              <a:grpSpLocks/>
            </p:cNvGrpSpPr>
            <p:nvPr/>
          </p:nvGrpSpPr>
          <p:grpSpPr bwMode="auto">
            <a:xfrm>
              <a:off x="240" y="2947"/>
              <a:ext cx="420" cy="407"/>
              <a:chOff x="720" y="2832"/>
              <a:chExt cx="420" cy="407"/>
            </a:xfrm>
          </p:grpSpPr>
          <p:sp>
            <p:nvSpPr>
              <p:cNvPr id="13356" name="Oval 24"/>
              <p:cNvSpPr>
                <a:spLocks noChangeArrowheads="1"/>
              </p:cNvSpPr>
              <p:nvPr/>
            </p:nvSpPr>
            <p:spPr bwMode="auto">
              <a:xfrm>
                <a:off x="720" y="2832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57" name="Text Box 25"/>
              <p:cNvSpPr txBox="1">
                <a:spLocks noChangeArrowheads="1"/>
              </p:cNvSpPr>
              <p:nvPr/>
            </p:nvSpPr>
            <p:spPr bwMode="auto">
              <a:xfrm>
                <a:off x="768" y="2918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L1</a:t>
                </a:r>
              </a:p>
            </p:txBody>
          </p:sp>
        </p:grpSp>
        <p:grpSp>
          <p:nvGrpSpPr>
            <p:cNvPr id="13351" name="Group 35"/>
            <p:cNvGrpSpPr>
              <a:grpSpLocks/>
            </p:cNvGrpSpPr>
            <p:nvPr/>
          </p:nvGrpSpPr>
          <p:grpSpPr bwMode="auto">
            <a:xfrm>
              <a:off x="980" y="2947"/>
              <a:ext cx="420" cy="407"/>
              <a:chOff x="1412" y="3264"/>
              <a:chExt cx="420" cy="407"/>
            </a:xfrm>
          </p:grpSpPr>
          <p:sp>
            <p:nvSpPr>
              <p:cNvPr id="13354" name="Oval 28"/>
              <p:cNvSpPr>
                <a:spLocks noChangeArrowheads="1"/>
              </p:cNvSpPr>
              <p:nvPr/>
            </p:nvSpPr>
            <p:spPr bwMode="auto">
              <a:xfrm>
                <a:off x="1412" y="326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55" name="Text Box 29"/>
              <p:cNvSpPr txBox="1">
                <a:spLocks noChangeArrowheads="1"/>
              </p:cNvSpPr>
              <p:nvPr/>
            </p:nvSpPr>
            <p:spPr bwMode="auto">
              <a:xfrm>
                <a:off x="1460" y="335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S1</a:t>
                </a:r>
              </a:p>
            </p:txBody>
          </p:sp>
        </p:grpSp>
        <p:sp>
          <p:nvSpPr>
            <p:cNvPr id="13352" name="Line 50"/>
            <p:cNvSpPr>
              <a:spLocks noChangeShapeType="1"/>
            </p:cNvSpPr>
            <p:nvPr/>
          </p:nvSpPr>
          <p:spPr bwMode="auto">
            <a:xfrm flipH="1">
              <a:off x="432" y="2597"/>
              <a:ext cx="384" cy="365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53" name="Line 51"/>
            <p:cNvSpPr>
              <a:spLocks noChangeShapeType="1"/>
            </p:cNvSpPr>
            <p:nvPr/>
          </p:nvSpPr>
          <p:spPr bwMode="auto">
            <a:xfrm>
              <a:off x="816" y="2597"/>
              <a:ext cx="384" cy="35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2603500" y="4122738"/>
            <a:ext cx="1758950" cy="1201737"/>
            <a:chOff x="1640" y="2597"/>
            <a:chExt cx="1108" cy="757"/>
          </a:xfrm>
        </p:grpSpPr>
        <p:grpSp>
          <p:nvGrpSpPr>
            <p:cNvPr id="13342" name="Group 37"/>
            <p:cNvGrpSpPr>
              <a:grpSpLocks/>
            </p:cNvGrpSpPr>
            <p:nvPr/>
          </p:nvGrpSpPr>
          <p:grpSpPr bwMode="auto">
            <a:xfrm>
              <a:off x="1640" y="2947"/>
              <a:ext cx="420" cy="407"/>
              <a:chOff x="3236" y="3124"/>
              <a:chExt cx="420" cy="407"/>
            </a:xfrm>
          </p:grpSpPr>
          <p:sp>
            <p:nvSpPr>
              <p:cNvPr id="13348" name="Oval 30"/>
              <p:cNvSpPr>
                <a:spLocks noChangeArrowheads="1"/>
              </p:cNvSpPr>
              <p:nvPr/>
            </p:nvSpPr>
            <p:spPr bwMode="auto">
              <a:xfrm>
                <a:off x="3236" y="312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49" name="Text Box 31"/>
              <p:cNvSpPr txBox="1">
                <a:spLocks noChangeArrowheads="1"/>
              </p:cNvSpPr>
              <p:nvPr/>
            </p:nvSpPr>
            <p:spPr bwMode="auto">
              <a:xfrm>
                <a:off x="3284" y="3210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L2</a:t>
                </a:r>
              </a:p>
            </p:txBody>
          </p:sp>
        </p:grpSp>
        <p:grpSp>
          <p:nvGrpSpPr>
            <p:cNvPr id="13343" name="Group 36"/>
            <p:cNvGrpSpPr>
              <a:grpSpLocks/>
            </p:cNvGrpSpPr>
            <p:nvPr/>
          </p:nvGrpSpPr>
          <p:grpSpPr bwMode="auto">
            <a:xfrm>
              <a:off x="2328" y="2933"/>
              <a:ext cx="420" cy="407"/>
              <a:chOff x="2550" y="3374"/>
              <a:chExt cx="420" cy="407"/>
            </a:xfrm>
          </p:grpSpPr>
          <p:sp>
            <p:nvSpPr>
              <p:cNvPr id="13346" name="Oval 32"/>
              <p:cNvSpPr>
                <a:spLocks noChangeArrowheads="1"/>
              </p:cNvSpPr>
              <p:nvPr/>
            </p:nvSpPr>
            <p:spPr bwMode="auto">
              <a:xfrm>
                <a:off x="2550" y="337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47" name="Text Box 33"/>
              <p:cNvSpPr txBox="1">
                <a:spLocks noChangeArrowheads="1"/>
              </p:cNvSpPr>
              <p:nvPr/>
            </p:nvSpPr>
            <p:spPr bwMode="auto">
              <a:xfrm>
                <a:off x="2598" y="346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S2</a:t>
                </a:r>
              </a:p>
            </p:txBody>
          </p:sp>
        </p:grpSp>
        <p:sp>
          <p:nvSpPr>
            <p:cNvPr id="13344" name="Line 52"/>
            <p:cNvSpPr>
              <a:spLocks noChangeShapeType="1"/>
            </p:cNvSpPr>
            <p:nvPr/>
          </p:nvSpPr>
          <p:spPr bwMode="auto">
            <a:xfrm flipH="1">
              <a:off x="1802" y="2597"/>
              <a:ext cx="296" cy="365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45" name="Line 53"/>
            <p:cNvSpPr>
              <a:spLocks noChangeShapeType="1"/>
            </p:cNvSpPr>
            <p:nvPr/>
          </p:nvSpPr>
          <p:spPr bwMode="auto">
            <a:xfrm>
              <a:off x="2328" y="2597"/>
              <a:ext cx="216" cy="336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62"/>
          <p:cNvGrpSpPr>
            <a:grpSpLocks/>
          </p:cNvGrpSpPr>
          <p:nvPr/>
        </p:nvGrpSpPr>
        <p:grpSpPr bwMode="auto">
          <a:xfrm>
            <a:off x="4962525" y="4122738"/>
            <a:ext cx="1838325" cy="1155700"/>
            <a:chOff x="3126" y="2597"/>
            <a:chExt cx="1158" cy="728"/>
          </a:xfrm>
        </p:grpSpPr>
        <p:grpSp>
          <p:nvGrpSpPr>
            <p:cNvPr id="13334" name="Group 38"/>
            <p:cNvGrpSpPr>
              <a:grpSpLocks/>
            </p:cNvGrpSpPr>
            <p:nvPr/>
          </p:nvGrpSpPr>
          <p:grpSpPr bwMode="auto">
            <a:xfrm>
              <a:off x="3126" y="2918"/>
              <a:ext cx="420" cy="407"/>
              <a:chOff x="3236" y="3124"/>
              <a:chExt cx="420" cy="407"/>
            </a:xfrm>
          </p:grpSpPr>
          <p:sp>
            <p:nvSpPr>
              <p:cNvPr id="13340" name="Oval 39"/>
              <p:cNvSpPr>
                <a:spLocks noChangeArrowheads="1"/>
              </p:cNvSpPr>
              <p:nvPr/>
            </p:nvSpPr>
            <p:spPr bwMode="auto">
              <a:xfrm>
                <a:off x="3236" y="312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41" name="Text Box 40"/>
              <p:cNvSpPr txBox="1">
                <a:spLocks noChangeArrowheads="1"/>
              </p:cNvSpPr>
              <p:nvPr/>
            </p:nvSpPr>
            <p:spPr bwMode="auto">
              <a:xfrm>
                <a:off x="3284" y="3210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L3</a:t>
                </a:r>
              </a:p>
            </p:txBody>
          </p:sp>
        </p:grpSp>
        <p:grpSp>
          <p:nvGrpSpPr>
            <p:cNvPr id="13335" name="Group 41"/>
            <p:cNvGrpSpPr>
              <a:grpSpLocks/>
            </p:cNvGrpSpPr>
            <p:nvPr/>
          </p:nvGrpSpPr>
          <p:grpSpPr bwMode="auto">
            <a:xfrm>
              <a:off x="3864" y="2918"/>
              <a:ext cx="420" cy="407"/>
              <a:chOff x="3236" y="3124"/>
              <a:chExt cx="420" cy="407"/>
            </a:xfrm>
          </p:grpSpPr>
          <p:sp>
            <p:nvSpPr>
              <p:cNvPr id="13338" name="Oval 42"/>
              <p:cNvSpPr>
                <a:spLocks noChangeArrowheads="1"/>
              </p:cNvSpPr>
              <p:nvPr/>
            </p:nvSpPr>
            <p:spPr bwMode="auto">
              <a:xfrm>
                <a:off x="3236" y="312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9" name="Text Box 43"/>
              <p:cNvSpPr txBox="1">
                <a:spLocks noChangeArrowheads="1"/>
              </p:cNvSpPr>
              <p:nvPr/>
            </p:nvSpPr>
            <p:spPr bwMode="auto">
              <a:xfrm>
                <a:off x="3284" y="321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S3</a:t>
                </a:r>
              </a:p>
            </p:txBody>
          </p:sp>
        </p:grpSp>
        <p:sp>
          <p:nvSpPr>
            <p:cNvPr id="13336" name="Line 54"/>
            <p:cNvSpPr>
              <a:spLocks noChangeShapeType="1"/>
            </p:cNvSpPr>
            <p:nvPr/>
          </p:nvSpPr>
          <p:spPr bwMode="auto">
            <a:xfrm flipH="1">
              <a:off x="3312" y="2597"/>
              <a:ext cx="234" cy="321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37" name="Line 55"/>
            <p:cNvSpPr>
              <a:spLocks noChangeShapeType="1"/>
            </p:cNvSpPr>
            <p:nvPr/>
          </p:nvSpPr>
          <p:spPr bwMode="auto">
            <a:xfrm>
              <a:off x="3814" y="2597"/>
              <a:ext cx="266" cy="321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3" name="Group 63"/>
          <p:cNvGrpSpPr>
            <a:grpSpLocks/>
          </p:cNvGrpSpPr>
          <p:nvPr/>
        </p:nvGrpSpPr>
        <p:grpSpPr bwMode="auto">
          <a:xfrm>
            <a:off x="7267575" y="4122738"/>
            <a:ext cx="1762125" cy="1089025"/>
            <a:chOff x="4578" y="2597"/>
            <a:chExt cx="1110" cy="686"/>
          </a:xfrm>
        </p:grpSpPr>
        <p:grpSp>
          <p:nvGrpSpPr>
            <p:cNvPr id="13326" name="Group 44"/>
            <p:cNvGrpSpPr>
              <a:grpSpLocks/>
            </p:cNvGrpSpPr>
            <p:nvPr/>
          </p:nvGrpSpPr>
          <p:grpSpPr bwMode="auto">
            <a:xfrm>
              <a:off x="5268" y="2847"/>
              <a:ext cx="420" cy="407"/>
              <a:chOff x="3236" y="3124"/>
              <a:chExt cx="420" cy="407"/>
            </a:xfrm>
          </p:grpSpPr>
          <p:sp>
            <p:nvSpPr>
              <p:cNvPr id="13332" name="Oval 45"/>
              <p:cNvSpPr>
                <a:spLocks noChangeArrowheads="1"/>
              </p:cNvSpPr>
              <p:nvPr/>
            </p:nvSpPr>
            <p:spPr bwMode="auto">
              <a:xfrm>
                <a:off x="3236" y="312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3" name="Text Box 46"/>
              <p:cNvSpPr txBox="1">
                <a:spLocks noChangeArrowheads="1"/>
              </p:cNvSpPr>
              <p:nvPr/>
            </p:nvSpPr>
            <p:spPr bwMode="auto">
              <a:xfrm>
                <a:off x="3284" y="3210"/>
                <a:ext cx="31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S4</a:t>
                </a:r>
              </a:p>
            </p:txBody>
          </p:sp>
        </p:grpSp>
        <p:grpSp>
          <p:nvGrpSpPr>
            <p:cNvPr id="13327" name="Group 47"/>
            <p:cNvGrpSpPr>
              <a:grpSpLocks/>
            </p:cNvGrpSpPr>
            <p:nvPr/>
          </p:nvGrpSpPr>
          <p:grpSpPr bwMode="auto">
            <a:xfrm>
              <a:off x="4578" y="2876"/>
              <a:ext cx="420" cy="407"/>
              <a:chOff x="3236" y="3124"/>
              <a:chExt cx="420" cy="407"/>
            </a:xfrm>
          </p:grpSpPr>
          <p:sp>
            <p:nvSpPr>
              <p:cNvPr id="13330" name="Oval 48"/>
              <p:cNvSpPr>
                <a:spLocks noChangeArrowheads="1"/>
              </p:cNvSpPr>
              <p:nvPr/>
            </p:nvSpPr>
            <p:spPr bwMode="auto">
              <a:xfrm>
                <a:off x="3236" y="3124"/>
                <a:ext cx="420" cy="407"/>
              </a:xfrm>
              <a:prstGeom prst="ellipse">
                <a:avLst/>
              </a:prstGeom>
              <a:noFill/>
              <a:ln w="12700" cap="sq">
                <a:solidFill>
                  <a:schemeClr val="bg2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331" name="Text Box 49"/>
              <p:cNvSpPr txBox="1">
                <a:spLocks noChangeArrowheads="1"/>
              </p:cNvSpPr>
              <p:nvPr/>
            </p:nvSpPr>
            <p:spPr bwMode="auto">
              <a:xfrm>
                <a:off x="3284" y="3210"/>
                <a:ext cx="29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SzPct val="100000"/>
                  <a:buChar char="•"/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rgbClr val="063DE8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SzPct val="100000"/>
                  <a:buChar char="•"/>
                  <a:defRPr sz="24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SzPct val="100000"/>
                  <a:buChar char="•"/>
                  <a:defRPr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100000"/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000" b="0">
                    <a:solidFill>
                      <a:schemeClr val="bg2"/>
                    </a:solidFill>
                    <a:latin typeface="Microsoft Sans Serif" panose="020B0604020202020204" pitchFamily="34" charset="0"/>
                  </a:rPr>
                  <a:t>L4</a:t>
                </a:r>
              </a:p>
            </p:txBody>
          </p:sp>
        </p:grpSp>
        <p:sp>
          <p:nvSpPr>
            <p:cNvPr id="13328" name="Line 56"/>
            <p:cNvSpPr>
              <a:spLocks noChangeShapeType="1"/>
            </p:cNvSpPr>
            <p:nvPr/>
          </p:nvSpPr>
          <p:spPr bwMode="auto">
            <a:xfrm flipH="1">
              <a:off x="4800" y="2597"/>
              <a:ext cx="198" cy="25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3329" name="Line 57"/>
            <p:cNvSpPr>
              <a:spLocks noChangeShapeType="1"/>
            </p:cNvSpPr>
            <p:nvPr/>
          </p:nvSpPr>
          <p:spPr bwMode="auto">
            <a:xfrm>
              <a:off x="5266" y="2597"/>
              <a:ext cx="206" cy="250"/>
            </a:xfrm>
            <a:prstGeom prst="line">
              <a:avLst/>
            </a:prstGeom>
            <a:noFill/>
            <a:ln w="12700" cap="sq">
              <a:solidFill>
                <a:schemeClr val="bg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39360" name="Text Box 64"/>
          <p:cNvSpPr txBox="1">
            <a:spLocks noChangeArrowheads="1"/>
          </p:cNvSpPr>
          <p:nvPr/>
        </p:nvSpPr>
        <p:spPr bwMode="auto">
          <a:xfrm>
            <a:off x="762000" y="3048000"/>
            <a:ext cx="749935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   1                            2                            3                            4</a:t>
            </a:r>
          </a:p>
        </p:txBody>
      </p:sp>
      <p:sp>
        <p:nvSpPr>
          <p:cNvPr id="439361" name="Freeform 65"/>
          <p:cNvSpPr>
            <a:spLocks/>
          </p:cNvSpPr>
          <p:nvPr/>
        </p:nvSpPr>
        <p:spPr bwMode="auto">
          <a:xfrm>
            <a:off x="685800" y="5181600"/>
            <a:ext cx="6934200" cy="774700"/>
          </a:xfrm>
          <a:custGeom>
            <a:avLst/>
            <a:gdLst>
              <a:gd name="T0" fmla="*/ 0 w 4368"/>
              <a:gd name="T1" fmla="*/ 2147483646 h 488"/>
              <a:gd name="T2" fmla="*/ 2147483646 w 4368"/>
              <a:gd name="T3" fmla="*/ 2147483646 h 488"/>
              <a:gd name="T4" fmla="*/ 2147483646 w 4368"/>
              <a:gd name="T5" fmla="*/ 2147483646 h 488"/>
              <a:gd name="T6" fmla="*/ 2147483646 w 4368"/>
              <a:gd name="T7" fmla="*/ 2147483646 h 488"/>
              <a:gd name="T8" fmla="*/ 2147483646 w 4368"/>
              <a:gd name="T9" fmla="*/ 2147483646 h 488"/>
              <a:gd name="T10" fmla="*/ 2147483646 w 4368"/>
              <a:gd name="T11" fmla="*/ 2147483646 h 488"/>
              <a:gd name="T12" fmla="*/ 2147483646 w 4368"/>
              <a:gd name="T13" fmla="*/ 0 h 48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68"/>
              <a:gd name="T22" fmla="*/ 0 h 488"/>
              <a:gd name="T23" fmla="*/ 4368 w 4368"/>
              <a:gd name="T24" fmla="*/ 488 h 48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68" h="488">
                <a:moveTo>
                  <a:pt x="0" y="96"/>
                </a:moveTo>
                <a:cubicBezTo>
                  <a:pt x="240" y="288"/>
                  <a:pt x="480" y="480"/>
                  <a:pt x="720" y="480"/>
                </a:cubicBezTo>
                <a:cubicBezTo>
                  <a:pt x="960" y="480"/>
                  <a:pt x="1184" y="96"/>
                  <a:pt x="1440" y="96"/>
                </a:cubicBezTo>
                <a:cubicBezTo>
                  <a:pt x="1696" y="96"/>
                  <a:pt x="2008" y="488"/>
                  <a:pt x="2256" y="480"/>
                </a:cubicBezTo>
                <a:cubicBezTo>
                  <a:pt x="2504" y="472"/>
                  <a:pt x="2704" y="48"/>
                  <a:pt x="2928" y="48"/>
                </a:cubicBezTo>
                <a:cubicBezTo>
                  <a:pt x="3152" y="48"/>
                  <a:pt x="3360" y="488"/>
                  <a:pt x="3600" y="480"/>
                </a:cubicBezTo>
                <a:cubicBezTo>
                  <a:pt x="3840" y="472"/>
                  <a:pt x="4104" y="236"/>
                  <a:pt x="4368" y="0"/>
                </a:cubicBezTo>
              </a:path>
            </a:pathLst>
          </a:custGeom>
          <a:noFill/>
          <a:ln w="12700" cap="flat" cmpd="sng">
            <a:solidFill>
              <a:srgbClr val="6600FF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9362" name="Freeform 66"/>
          <p:cNvSpPr>
            <a:spLocks/>
          </p:cNvSpPr>
          <p:nvPr/>
        </p:nvSpPr>
        <p:spPr bwMode="auto">
          <a:xfrm>
            <a:off x="1828800" y="5181600"/>
            <a:ext cx="6858000" cy="914400"/>
          </a:xfrm>
          <a:custGeom>
            <a:avLst/>
            <a:gdLst>
              <a:gd name="T0" fmla="*/ 0 w 4320"/>
              <a:gd name="T1" fmla="*/ 2147483646 h 576"/>
              <a:gd name="T2" fmla="*/ 2147483646 w 4320"/>
              <a:gd name="T3" fmla="*/ 2147483646 h 576"/>
              <a:gd name="T4" fmla="*/ 2147483646 w 4320"/>
              <a:gd name="T5" fmla="*/ 2147483646 h 576"/>
              <a:gd name="T6" fmla="*/ 2147483646 w 4320"/>
              <a:gd name="T7" fmla="*/ 2147483646 h 576"/>
              <a:gd name="T8" fmla="*/ 2147483646 w 4320"/>
              <a:gd name="T9" fmla="*/ 2147483646 h 576"/>
              <a:gd name="T10" fmla="*/ 2147483646 w 4320"/>
              <a:gd name="T11" fmla="*/ 2147483646 h 576"/>
              <a:gd name="T12" fmla="*/ 2147483646 w 4320"/>
              <a:gd name="T13" fmla="*/ 0 h 5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320"/>
              <a:gd name="T22" fmla="*/ 0 h 576"/>
              <a:gd name="T23" fmla="*/ 4320 w 4320"/>
              <a:gd name="T24" fmla="*/ 576 h 57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320" h="576">
                <a:moveTo>
                  <a:pt x="0" y="96"/>
                </a:moveTo>
                <a:cubicBezTo>
                  <a:pt x="192" y="336"/>
                  <a:pt x="384" y="576"/>
                  <a:pt x="624" y="576"/>
                </a:cubicBezTo>
                <a:cubicBezTo>
                  <a:pt x="864" y="576"/>
                  <a:pt x="1152" y="104"/>
                  <a:pt x="1440" y="96"/>
                </a:cubicBezTo>
                <a:cubicBezTo>
                  <a:pt x="1728" y="88"/>
                  <a:pt x="2104" y="536"/>
                  <a:pt x="2352" y="528"/>
                </a:cubicBezTo>
                <a:cubicBezTo>
                  <a:pt x="2600" y="520"/>
                  <a:pt x="2720" y="56"/>
                  <a:pt x="2928" y="48"/>
                </a:cubicBezTo>
                <a:cubicBezTo>
                  <a:pt x="3136" y="40"/>
                  <a:pt x="3368" y="488"/>
                  <a:pt x="3600" y="480"/>
                </a:cubicBezTo>
                <a:cubicBezTo>
                  <a:pt x="3832" y="472"/>
                  <a:pt x="4076" y="236"/>
                  <a:pt x="4320" y="0"/>
                </a:cubicBezTo>
              </a:path>
            </a:pathLst>
          </a:custGeom>
          <a:noFill/>
          <a:ln w="12700" cap="flat" cmpd="sng">
            <a:solidFill>
              <a:srgbClr val="FF3300"/>
            </a:solidFill>
            <a:prstDash val="lg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39363" name="Text Box 67"/>
          <p:cNvSpPr txBox="1">
            <a:spLocks noChangeArrowheads="1"/>
          </p:cNvSpPr>
          <p:nvPr/>
        </p:nvSpPr>
        <p:spPr bwMode="auto">
          <a:xfrm>
            <a:off x="2209800" y="2667000"/>
            <a:ext cx="4572000" cy="15700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Microsoft Sans Serif" panose="020B0604020202020204" pitchFamily="34" charset="0"/>
              </a:rPr>
              <a:t>Each Li and Si in 4 comparisons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Microsoft Sans Serif" panose="020B0604020202020204" pitchFamily="34" charset="0"/>
              </a:rPr>
              <a:t>Max (Li) = 3 comparisons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latin typeface="Microsoft Sans Serif" panose="020B0604020202020204" pitchFamily="34" charset="0"/>
              </a:rPr>
              <a:t>Min (Si) = 3 comparisons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Microsoft Sans Serif" panose="020B0604020202020204" pitchFamily="34" charset="0"/>
              </a:rPr>
              <a:t>Total = 10 comparisons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9360" grpId="0"/>
      <p:bldP spid="439363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 smtClean="0"/>
          </a:p>
        </p:txBody>
      </p:sp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371600"/>
            <a:ext cx="80772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Misc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4495800"/>
          </a:xfrm>
        </p:spPr>
        <p:txBody>
          <a:bodyPr/>
          <a:lstStyle/>
          <a:p>
            <a:r>
              <a:rPr lang="en-US" altLang="en-US" sz="2400" smtClean="0"/>
              <a:t>Divide-and-Conquer methodology naturally leads to recursive algorithms</a:t>
            </a:r>
          </a:p>
          <a:p>
            <a:endParaRPr lang="en-US" altLang="en-US" sz="2400" smtClean="0"/>
          </a:p>
          <a:p>
            <a:r>
              <a:rPr lang="en-US" altLang="en-US" sz="2400" smtClean="0"/>
              <a:t>In general, implement algorithm as recursive program</a:t>
            </a:r>
          </a:p>
          <a:p>
            <a:pPr lvl="1"/>
            <a:r>
              <a:rPr lang="en-US" altLang="en-US" smtClean="0"/>
              <a:t>Few instances where non-recursive is better</a:t>
            </a:r>
          </a:p>
          <a:p>
            <a:pPr lvl="1"/>
            <a:endParaRPr lang="en-US" altLang="en-US" smtClean="0"/>
          </a:p>
          <a:p>
            <a:r>
              <a:rPr lang="en-US" altLang="en-US" sz="2400" smtClean="0"/>
              <a:t>Rule of thumb: Balance sub-problems, i.e., try and make sub-problems of equal size</a:t>
            </a:r>
          </a:p>
          <a:p>
            <a:pPr lvl="1"/>
            <a:r>
              <a:rPr lang="en-US" altLang="en-US" smtClean="0"/>
              <a:t>See merge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MULTIPLICATION OF TWO n-BIT NUMBERS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altLang="en-US" smtClean="0"/>
              <a:t>For this problem, the basic operations should be bit operations.</a:t>
            </a:r>
          </a:p>
          <a:p>
            <a:r>
              <a:rPr lang="th-TH" altLang="en-US" smtClean="0"/>
              <a:t>Let </a:t>
            </a:r>
            <a:r>
              <a:rPr lang="en-US" altLang="en-US" i="1" smtClean="0"/>
              <a:t>X</a:t>
            </a:r>
            <a:r>
              <a:rPr lang="th-TH" altLang="en-US" i="1" smtClean="0">
                <a:latin typeface="Times New Roman;Times New Roman"/>
              </a:rPr>
              <a:t> </a:t>
            </a:r>
            <a:r>
              <a:rPr lang="th-TH" altLang="en-US" smtClean="0"/>
              <a:t>and </a:t>
            </a:r>
            <a:r>
              <a:rPr lang="en-US" altLang="en-US" smtClean="0"/>
              <a:t>Y</a:t>
            </a:r>
            <a:r>
              <a:rPr lang="th-TH" altLang="en-US" i="1" smtClean="0">
                <a:latin typeface="Times New Roman;Times New Roman"/>
              </a:rPr>
              <a:t> </a:t>
            </a:r>
            <a:r>
              <a:rPr lang="th-TH" altLang="en-US" smtClean="0"/>
              <a:t>be two n-bit numbers, the traditional method requires O(</a:t>
            </a:r>
            <a:r>
              <a:rPr lang="th-TH" altLang="en-US" i="1" smtClean="0"/>
              <a:t>n</a:t>
            </a:r>
            <a:r>
              <a:rPr lang="th-TH" altLang="en-US" baseline="30000" smtClean="0"/>
              <a:t>2</a:t>
            </a:r>
            <a:r>
              <a:rPr lang="th-TH" altLang="en-US" smtClean="0"/>
              <a:t>) bit operations, say</a:t>
            </a:r>
          </a:p>
          <a:p>
            <a:endParaRPr lang="th-TH" altLang="en-US" smtClean="0"/>
          </a:p>
          <a:p>
            <a:endParaRPr lang="th-TH" altLang="en-US" smtClean="0"/>
          </a:p>
        </p:txBody>
      </p:sp>
      <p:pic>
        <p:nvPicPr>
          <p:cNvPr id="19460" name="Picture 4" descr="bitmu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581400"/>
            <a:ext cx="8686800" cy="213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MULTIPLICATION OF TWO n-BIT NUMBERS (cont.)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114800"/>
          </a:xfrm>
        </p:spPr>
        <p:txBody>
          <a:bodyPr/>
          <a:lstStyle/>
          <a:p>
            <a:r>
              <a:rPr lang="th-TH" altLang="en-US" sz="2400" smtClean="0"/>
              <a:t>Assume n=2</a:t>
            </a:r>
            <a:r>
              <a:rPr lang="th-TH" altLang="en-US" sz="2400" baseline="30000" smtClean="0"/>
              <a:t>m</a:t>
            </a:r>
            <a:r>
              <a:rPr lang="th-TH" altLang="en-US" sz="2400" smtClean="0"/>
              <a:t>, we treat </a:t>
            </a:r>
            <a:r>
              <a:rPr lang="en-US" altLang="en-US" sz="2400" smtClean="0"/>
              <a:t>X</a:t>
            </a:r>
            <a:r>
              <a:rPr lang="th-TH" altLang="en-US" sz="2400" smtClean="0"/>
              <a:t> and </a:t>
            </a:r>
            <a:r>
              <a:rPr lang="en-US" altLang="en-US" sz="2400" smtClean="0"/>
              <a:t>Y</a:t>
            </a:r>
            <a:r>
              <a:rPr lang="th-TH" altLang="en-US" sz="2400" smtClean="0"/>
              <a:t> as two n-bit strings and partition them into two halves as </a:t>
            </a:r>
            <a:r>
              <a:rPr lang="en-US" altLang="en-US" sz="2400" smtClean="0"/>
              <a:t>X</a:t>
            </a:r>
            <a:r>
              <a:rPr lang="th-TH" altLang="en-US" sz="2400" smtClean="0"/>
              <a:t> = </a:t>
            </a:r>
            <a:r>
              <a:rPr lang="en-US" altLang="en-US" sz="2400" smtClean="0"/>
              <a:t>A</a:t>
            </a:r>
            <a:r>
              <a:rPr lang="en-US" altLang="en-US" sz="2400" smtClean="0">
                <a:latin typeface="Times New Roman;Times New Roman"/>
              </a:rPr>
              <a:t>B</a:t>
            </a:r>
            <a:r>
              <a:rPr lang="th-TH" altLang="en-US" sz="2400" smtClean="0"/>
              <a:t>, </a:t>
            </a:r>
            <a:r>
              <a:rPr lang="en-US" altLang="en-US" sz="2400" smtClean="0"/>
              <a:t>Y</a:t>
            </a:r>
            <a:r>
              <a:rPr lang="th-TH" altLang="en-US" sz="2400" smtClean="0"/>
              <a:t>= </a:t>
            </a:r>
            <a:r>
              <a:rPr lang="en-US" altLang="en-US" sz="2400" smtClean="0"/>
              <a:t>C</a:t>
            </a:r>
            <a:r>
              <a:rPr lang="en-US" altLang="en-US" sz="2400" smtClean="0">
                <a:latin typeface="Times New Roman;Times New Roman"/>
              </a:rPr>
              <a:t>D</a:t>
            </a:r>
            <a:r>
              <a:rPr lang="th-TH" altLang="en-US" sz="2400" smtClean="0"/>
              <a:t>, i.e., concatenation of </a:t>
            </a:r>
            <a:r>
              <a:rPr lang="en-US" altLang="en-US" sz="2400" smtClean="0"/>
              <a:t>A</a:t>
            </a:r>
            <a:r>
              <a:rPr lang="th-TH" altLang="en-US" sz="2400" smtClean="0"/>
              <a:t>, </a:t>
            </a:r>
            <a:r>
              <a:rPr lang="en-US" altLang="en-US" sz="2400" smtClean="0"/>
              <a:t>B</a:t>
            </a:r>
            <a:r>
              <a:rPr lang="th-TH" altLang="en-US" sz="2400" smtClean="0"/>
              <a:t> and </a:t>
            </a:r>
            <a:r>
              <a:rPr lang="en-US" altLang="en-US" sz="2400" smtClean="0"/>
              <a:t>C</a:t>
            </a:r>
            <a:r>
              <a:rPr lang="th-TH" altLang="en-US" sz="2400" smtClean="0"/>
              <a:t>, </a:t>
            </a:r>
            <a:r>
              <a:rPr lang="en-US" altLang="en-US" sz="2400" smtClean="0"/>
              <a:t>D</a:t>
            </a:r>
            <a:r>
              <a:rPr lang="th-TH" altLang="en-US" sz="2400" smtClean="0"/>
              <a:t>. As binary numbers, we can express</a:t>
            </a:r>
          </a:p>
          <a:p>
            <a:pPr>
              <a:buFont typeface="Wingdings" panose="05000000000000000000" pitchFamily="2" charset="2"/>
              <a:buNone/>
            </a:pPr>
            <a:endParaRPr lang="th-TH" altLang="en-US" sz="2400" smtClean="0"/>
          </a:p>
          <a:p>
            <a:pPr>
              <a:buFont typeface="Wingdings" panose="05000000000000000000" pitchFamily="2" charset="2"/>
              <a:buNone/>
            </a:pPr>
            <a:r>
              <a:rPr lang="th-TH" altLang="en-US" sz="2400" smtClean="0"/>
              <a:t>		XY = (A2</a:t>
            </a:r>
            <a:r>
              <a:rPr lang="en-US" altLang="en-US" sz="2400" baseline="30000" smtClean="0"/>
              <a:t>n</a:t>
            </a:r>
            <a:r>
              <a:rPr lang="th-TH" altLang="en-US" sz="2400" baseline="30000" smtClean="0"/>
              <a:t>/2 </a:t>
            </a:r>
            <a:r>
              <a:rPr lang="th-TH" altLang="en-US" sz="2400" smtClean="0"/>
              <a:t>+  B) (C2</a:t>
            </a:r>
            <a:r>
              <a:rPr lang="en-US" altLang="en-US" sz="2400" baseline="30000" smtClean="0"/>
              <a:t>n</a:t>
            </a:r>
            <a:r>
              <a:rPr lang="th-TH" altLang="en-US" sz="2400" baseline="30000" smtClean="0"/>
              <a:t>/2 </a:t>
            </a:r>
            <a:r>
              <a:rPr lang="th-TH" altLang="en-US" sz="2400" smtClean="0"/>
              <a:t>+ D)</a:t>
            </a:r>
          </a:p>
          <a:p>
            <a:pPr>
              <a:buFont typeface="Wingdings" panose="05000000000000000000" pitchFamily="2" charset="2"/>
              <a:buNone/>
            </a:pPr>
            <a:r>
              <a:rPr lang="th-TH" altLang="en-US" sz="2400" smtClean="0"/>
              <a:t>		     = AC2</a:t>
            </a:r>
            <a:r>
              <a:rPr lang="en-US" altLang="en-US" sz="2400" baseline="30000" smtClean="0"/>
              <a:t>n</a:t>
            </a:r>
            <a:r>
              <a:rPr lang="th-TH" altLang="en-US" sz="2400" baseline="30000" smtClean="0"/>
              <a:t> </a:t>
            </a:r>
            <a:r>
              <a:rPr lang="th-TH" altLang="en-US" sz="2400" smtClean="0"/>
              <a:t>+ (AD + BC) 2</a:t>
            </a:r>
            <a:r>
              <a:rPr lang="en-US" altLang="en-US" sz="2400" baseline="30000" smtClean="0"/>
              <a:t>n</a:t>
            </a:r>
            <a:r>
              <a:rPr lang="th-TH" altLang="en-US" sz="2400" baseline="30000" smtClean="0"/>
              <a:t>/2 </a:t>
            </a:r>
            <a:r>
              <a:rPr lang="th-TH" altLang="en-US" sz="2400" smtClean="0"/>
              <a:t>+ BD ............ (*)</a:t>
            </a:r>
          </a:p>
          <a:p>
            <a:r>
              <a:rPr lang="th-TH" altLang="en-US" sz="2400" smtClean="0"/>
              <a:t>The above computation of </a:t>
            </a:r>
            <a:r>
              <a:rPr lang="en-US" altLang="en-US" sz="2400" smtClean="0"/>
              <a:t>XY</a:t>
            </a:r>
            <a:r>
              <a:rPr lang="th-TH" altLang="en-US" sz="2400" smtClean="0"/>
              <a:t> reduces to four multiplications of (n/2)-bit numbers plus some additions and shifts (multiplications by powers of 2).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Two n-bits Number Analysis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th-TH" altLang="en-US" smtClean="0"/>
              <a:t>Let T(n) be the number of bit-operations required to multiply two n-bit numbers.</a:t>
            </a:r>
          </a:p>
        </p:txBody>
      </p:sp>
      <p:pic>
        <p:nvPicPr>
          <p:cNvPr id="23556" name="Picture 4" descr="bitmul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590800"/>
            <a:ext cx="5392738" cy="334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A better Algorithm</a:t>
            </a:r>
          </a:p>
        </p:txBody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114800"/>
          </a:xfrm>
        </p:spPr>
        <p:txBody>
          <a:bodyPr/>
          <a:lstStyle/>
          <a:p>
            <a:r>
              <a:rPr lang="th-TH" altLang="en-US" sz="2400" smtClean="0"/>
              <a:t>So, the multiplication of two n-bit numbers remains O(</a:t>
            </a:r>
            <a:r>
              <a:rPr lang="th-TH" altLang="en-US" sz="2400" i="1" smtClean="0"/>
              <a:t>n</a:t>
            </a:r>
            <a:r>
              <a:rPr lang="th-TH" altLang="en-US" sz="2400" baseline="30000" smtClean="0"/>
              <a:t>2</a:t>
            </a:r>
            <a:r>
              <a:rPr lang="th-TH" altLang="en-US" sz="2400" smtClean="0"/>
              <a:t>) if the number of half-size subproblems remains 4</a:t>
            </a:r>
            <a:endParaRPr lang="en-US" altLang="en-US" sz="2400" smtClean="0"/>
          </a:p>
          <a:p>
            <a:endParaRPr lang="th-TH" altLang="en-US" sz="2400" smtClean="0"/>
          </a:p>
          <a:p>
            <a:r>
              <a:rPr lang="en-US" altLang="en-US" sz="2400" smtClean="0"/>
              <a:t>To </a:t>
            </a:r>
            <a:r>
              <a:rPr lang="th-TH" altLang="en-US" sz="2400" smtClean="0"/>
              <a:t>reduce time complexity, reduce number of subproblems (i.e.,  multiplications ) by a </a:t>
            </a:r>
            <a:r>
              <a:rPr lang="en-US" altLang="en-US" sz="2400" smtClean="0"/>
              <a:t>“</a:t>
            </a:r>
            <a:r>
              <a:rPr lang="th-TH" altLang="en-US" sz="2400" smtClean="0"/>
              <a:t>trick</a:t>
            </a:r>
            <a:r>
              <a:rPr lang="en-US" altLang="en-US" sz="2400" smtClean="0"/>
              <a:t>”</a:t>
            </a:r>
            <a:r>
              <a:rPr lang="th-TH" altLang="en-US" sz="2400" smtClean="0"/>
              <a:t> which uses more additions and shifts, specifically,</a:t>
            </a:r>
            <a:r>
              <a:rPr lang="en-US" altLang="en-US" sz="2400" smtClean="0"/>
              <a:t> </a:t>
            </a:r>
            <a:r>
              <a:rPr lang="th-TH" altLang="en-US" sz="2400" smtClean="0"/>
              <a:t>by reducing one multiplication with many additions and shifts.</a:t>
            </a:r>
            <a:endParaRPr lang="en-US" altLang="en-US" sz="2400" smtClean="0"/>
          </a:p>
          <a:p>
            <a:endParaRPr lang="th-TH" altLang="en-US" sz="2400" smtClean="0"/>
          </a:p>
          <a:p>
            <a:r>
              <a:rPr lang="th-TH" altLang="en-US" sz="2400" smtClean="0">
                <a:solidFill>
                  <a:srgbClr val="FF3300"/>
                </a:solidFill>
              </a:rPr>
              <a:t>This trick pays off asymptotically, i.e., when </a:t>
            </a:r>
            <a:r>
              <a:rPr lang="th-TH" altLang="en-US" sz="2400" i="1" smtClean="0">
                <a:solidFill>
                  <a:srgbClr val="FF3300"/>
                </a:solidFill>
              </a:rPr>
              <a:t>n</a:t>
            </a:r>
            <a:r>
              <a:rPr lang="th-TH" altLang="en-US" sz="2400" i="1" smtClean="0">
                <a:solidFill>
                  <a:srgbClr val="FF3300"/>
                </a:solidFill>
                <a:latin typeface="Times New Roman;Times New Roman"/>
              </a:rPr>
              <a:t> </a:t>
            </a:r>
            <a:r>
              <a:rPr lang="th-TH" altLang="en-US" sz="2400" smtClean="0">
                <a:solidFill>
                  <a:srgbClr val="FF3300"/>
                </a:solidFill>
              </a:rPr>
              <a:t>is large.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A better Algorithm (cont.)</a:t>
            </a:r>
          </a:p>
        </p:txBody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8839200" cy="4114800"/>
          </a:xfrm>
        </p:spPr>
        <p:txBody>
          <a:bodyPr/>
          <a:lstStyle/>
          <a:p>
            <a:pPr lvl="1">
              <a:lnSpc>
                <a:spcPct val="90000"/>
              </a:lnSpc>
              <a:buFontTx/>
              <a:buNone/>
            </a:pPr>
            <a:r>
              <a:rPr lang="th-TH" altLang="en-US" i="1" smtClean="0"/>
              <a:t>u </a:t>
            </a:r>
            <a:r>
              <a:rPr lang="th-TH" altLang="en-US" smtClean="0"/>
              <a:t>= </a:t>
            </a:r>
            <a:r>
              <a:rPr lang="th-TH" altLang="en-US" i="1" smtClean="0"/>
              <a:t>(a </a:t>
            </a:r>
            <a:r>
              <a:rPr lang="th-TH" altLang="en-US" smtClean="0"/>
              <a:t>+ b) </a:t>
            </a:r>
            <a:r>
              <a:rPr lang="th-TH" altLang="en-US" smtClean="0">
                <a:solidFill>
                  <a:srgbClr val="6600FF"/>
                </a:solidFill>
                <a:latin typeface="Times New Roman;Times New Roman"/>
              </a:rPr>
              <a:t>*</a:t>
            </a:r>
            <a:r>
              <a:rPr lang="en-US" altLang="en-US" smtClean="0">
                <a:solidFill>
                  <a:srgbClr val="6600FF"/>
                </a:solidFill>
                <a:latin typeface="Times New Roman;Times New Roman"/>
              </a:rPr>
              <a:t> </a:t>
            </a:r>
            <a:r>
              <a:rPr lang="th-TH" altLang="en-US" smtClean="0"/>
              <a:t>(</a:t>
            </a:r>
            <a:r>
              <a:rPr lang="th-TH" altLang="en-US" i="1" smtClean="0"/>
              <a:t>c </a:t>
            </a:r>
            <a:r>
              <a:rPr lang="th-TH" altLang="en-US" smtClean="0"/>
              <a:t>+ </a:t>
            </a:r>
            <a:r>
              <a:rPr lang="th-TH" altLang="en-US" i="1" smtClean="0"/>
              <a:t>d)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th-TH" altLang="en-US" i="1" smtClean="0"/>
              <a:t>v </a:t>
            </a:r>
            <a:r>
              <a:rPr lang="th-TH" altLang="en-US" smtClean="0"/>
              <a:t>= </a:t>
            </a:r>
            <a:r>
              <a:rPr lang="th-TH" altLang="en-US" i="1" smtClean="0"/>
              <a:t>a </a:t>
            </a:r>
            <a:r>
              <a:rPr lang="th-TH" altLang="en-US" smtClean="0">
                <a:solidFill>
                  <a:srgbClr val="6600FF"/>
                </a:solidFill>
                <a:latin typeface="Times New Roman;Times New Roman"/>
              </a:rPr>
              <a:t>* </a:t>
            </a:r>
            <a:r>
              <a:rPr lang="th-TH" altLang="en-US" i="1" smtClean="0"/>
              <a:t>c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th-TH" altLang="en-US" i="1" smtClean="0"/>
              <a:t>w </a:t>
            </a:r>
            <a:r>
              <a:rPr lang="th-TH" altLang="en-US" smtClean="0"/>
              <a:t>= </a:t>
            </a:r>
            <a:r>
              <a:rPr lang="th-TH" altLang="en-US" i="1" smtClean="0"/>
              <a:t>b </a:t>
            </a:r>
            <a:r>
              <a:rPr lang="th-TH" altLang="en-US" smtClean="0">
                <a:solidFill>
                  <a:srgbClr val="6600FF"/>
                </a:solidFill>
                <a:latin typeface="Times New Roman;Times New Roman"/>
              </a:rPr>
              <a:t>*</a:t>
            </a:r>
            <a:r>
              <a:rPr lang="th-TH" altLang="en-US" smtClean="0">
                <a:latin typeface="Times New Roman;Times New Roman"/>
              </a:rPr>
              <a:t> </a:t>
            </a:r>
            <a:r>
              <a:rPr lang="th-TH" altLang="en-US" i="1" smtClean="0"/>
              <a:t>d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th-TH" altLang="en-US" i="1" smtClean="0"/>
              <a:t>z </a:t>
            </a:r>
            <a:r>
              <a:rPr lang="th-TH" altLang="en-US" smtClean="0"/>
              <a:t>= </a:t>
            </a:r>
            <a:r>
              <a:rPr lang="th-TH" altLang="en-US" i="1" smtClean="0"/>
              <a:t>u </a:t>
            </a:r>
            <a:r>
              <a:rPr lang="th-TH" altLang="en-US" smtClean="0"/>
              <a:t>- </a:t>
            </a:r>
            <a:r>
              <a:rPr lang="th-TH" altLang="en-US" i="1" smtClean="0"/>
              <a:t>v </a:t>
            </a:r>
            <a:r>
              <a:rPr lang="th-TH" altLang="en-US" smtClean="0"/>
              <a:t>- </a:t>
            </a:r>
            <a:r>
              <a:rPr lang="th-TH" altLang="en-US" i="1" smtClean="0"/>
              <a:t>w </a:t>
            </a:r>
            <a:r>
              <a:rPr lang="th-TH" altLang="en-US" smtClean="0"/>
              <a:t>= </a:t>
            </a:r>
            <a:r>
              <a:rPr lang="th-TH" altLang="en-US" i="1" smtClean="0"/>
              <a:t>ad </a:t>
            </a:r>
            <a:r>
              <a:rPr lang="th-TH" altLang="en-US" smtClean="0"/>
              <a:t>+ </a:t>
            </a:r>
            <a:r>
              <a:rPr lang="th-TH" altLang="en-US" i="1" smtClean="0"/>
              <a:t>bc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th-TH" altLang="en-US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altLang="en-US" sz="2400" smtClean="0"/>
              <a:t>So, </a:t>
            </a:r>
            <a:r>
              <a:rPr lang="en-US" altLang="en-US" sz="2400" i="1" smtClean="0"/>
              <a:t>XY</a:t>
            </a:r>
            <a:r>
              <a:rPr lang="th-TH" altLang="en-US" sz="2400" i="1" smtClean="0"/>
              <a:t> </a:t>
            </a:r>
            <a:r>
              <a:rPr lang="th-TH" altLang="en-US" sz="2400" smtClean="0"/>
              <a:t>can be written as </a:t>
            </a:r>
            <a:r>
              <a:rPr lang="en-US" altLang="en-US" sz="2400" smtClean="0"/>
              <a:t>V</a:t>
            </a:r>
            <a:r>
              <a:rPr lang="th-TH" altLang="en-US" sz="2400" smtClean="0"/>
              <a:t>2</a:t>
            </a:r>
            <a:r>
              <a:rPr lang="th-TH" altLang="en-US" sz="2400" baseline="30000" smtClean="0"/>
              <a:t>n</a:t>
            </a:r>
            <a:r>
              <a:rPr lang="th-TH" altLang="en-US" sz="2400" smtClean="0"/>
              <a:t>+ </a:t>
            </a:r>
            <a:r>
              <a:rPr lang="en-US" altLang="en-US" sz="2400" smtClean="0"/>
              <a:t>Z</a:t>
            </a:r>
            <a:r>
              <a:rPr lang="th-TH" altLang="en-US" sz="2400" smtClean="0"/>
              <a:t>2</a:t>
            </a:r>
            <a:r>
              <a:rPr lang="th-TH" altLang="en-US" sz="2400" baseline="30000" smtClean="0"/>
              <a:t>n/2 </a:t>
            </a:r>
            <a:r>
              <a:rPr lang="th-TH" altLang="en-US" sz="2400" smtClean="0"/>
              <a:t>+ </a:t>
            </a:r>
            <a:r>
              <a:rPr lang="en-US" altLang="en-US" sz="2400" smtClean="0"/>
              <a:t>W</a:t>
            </a:r>
            <a:r>
              <a:rPr lang="th-TH" altLang="en-US" sz="2400" i="1" smtClean="0"/>
              <a:t> </a:t>
            </a:r>
            <a:r>
              <a:rPr lang="th-TH" altLang="en-US" sz="2400" smtClean="0"/>
              <a:t>(from Eq (*)).</a:t>
            </a:r>
            <a:endParaRPr lang="en-US" altLang="en-US" sz="2400" smtClean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altLang="en-US" sz="2400" smtClean="0"/>
          </a:p>
          <a:p>
            <a:pPr>
              <a:lnSpc>
                <a:spcPct val="90000"/>
              </a:lnSpc>
            </a:pPr>
            <a:r>
              <a:rPr lang="th-TH" altLang="en-US" sz="2400" smtClean="0"/>
              <a:t>This approach requires only </a:t>
            </a:r>
            <a:r>
              <a:rPr lang="th-TH" altLang="en-US" sz="2400" smtClean="0">
                <a:solidFill>
                  <a:srgbClr val="6600FF"/>
                </a:solidFill>
              </a:rPr>
              <a:t>three</a:t>
            </a:r>
            <a:r>
              <a:rPr lang="th-TH" altLang="en-US" sz="2400" smtClean="0"/>
              <a:t> multiplications of two (n/2)-bit numbers, plus some additions and shifts, to multiply two n-bit numbers.</a:t>
            </a:r>
          </a:p>
        </p:txBody>
      </p:sp>
      <p:sp>
        <p:nvSpPr>
          <p:cNvPr id="407556" name="Text Box 4"/>
          <p:cNvSpPr txBox="1">
            <a:spLocks noChangeArrowheads="1"/>
          </p:cNvSpPr>
          <p:nvPr/>
        </p:nvSpPr>
        <p:spPr bwMode="auto">
          <a:xfrm>
            <a:off x="3160713" y="1676400"/>
            <a:ext cx="2401887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6600FF"/>
                </a:solidFill>
                <a:latin typeface="Microsoft Sans Serif" panose="020B0604020202020204" pitchFamily="34" charset="0"/>
              </a:rPr>
              <a:t>…Multiplication-1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6600FF"/>
                </a:solidFill>
                <a:latin typeface="Microsoft Sans Serif" panose="020B0604020202020204" pitchFamily="34" charset="0"/>
              </a:rPr>
              <a:t>…Multiplication-2</a:t>
            </a:r>
          </a:p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 b="0">
                <a:solidFill>
                  <a:srgbClr val="6600FF"/>
                </a:solidFill>
                <a:latin typeface="Microsoft Sans Serif" panose="020B0604020202020204" pitchFamily="34" charset="0"/>
              </a:rPr>
              <a:t>…Multiplication-3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555" grpId="0" build="p"/>
      <p:bldP spid="4075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Analysis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6400"/>
            <a:ext cx="9144000" cy="4114800"/>
          </a:xfrm>
        </p:spPr>
        <p:txBody>
          <a:bodyPr/>
          <a:lstStyle/>
          <a:p>
            <a:r>
              <a:rPr lang="en-US" altLang="en-US" sz="2400" smtClean="0"/>
              <a:t>U</a:t>
            </a:r>
            <a:r>
              <a:rPr lang="th-TH" altLang="en-US" sz="2400" smtClean="0"/>
              <a:t>se multiplication routine recursively to </a:t>
            </a:r>
            <a:r>
              <a:rPr lang="en-US" altLang="en-US" sz="2400" smtClean="0"/>
              <a:t>get</a:t>
            </a:r>
            <a:r>
              <a:rPr lang="th-TH" altLang="en-US" sz="2400" smtClean="0"/>
              <a:t> products u, v, and w</a:t>
            </a:r>
            <a:r>
              <a:rPr lang="en-US" altLang="en-US" sz="2400" smtClean="0"/>
              <a:t>, </a:t>
            </a:r>
            <a:r>
              <a:rPr lang="th-TH" altLang="en-US" sz="2400" smtClean="0"/>
              <a:t>additions and shifts require O(n) time. Thus time complexity of multiplying two n-bit numbers is bounded from above by</a:t>
            </a:r>
          </a:p>
          <a:p>
            <a:endParaRPr lang="th-TH" altLang="en-US" sz="2400" smtClean="0"/>
          </a:p>
          <a:p>
            <a:endParaRPr lang="th-TH" altLang="en-US" sz="2400" smtClean="0"/>
          </a:p>
          <a:p>
            <a:endParaRPr lang="th-TH" altLang="en-US" sz="2400" smtClean="0"/>
          </a:p>
          <a:p>
            <a:r>
              <a:rPr lang="en-US" altLang="en-US" sz="2400" smtClean="0"/>
              <a:t>W</a:t>
            </a:r>
            <a:r>
              <a:rPr lang="th-TH" altLang="en-US" sz="2400" smtClean="0"/>
              <a:t>here </a:t>
            </a:r>
            <a:r>
              <a:rPr lang="th-TH" altLang="en-US" sz="2400" i="1" smtClean="0"/>
              <a:t>k </a:t>
            </a:r>
            <a:r>
              <a:rPr lang="th-TH" altLang="en-US" sz="2400" smtClean="0"/>
              <a:t>is a constant reflecting the additions and shifts. </a:t>
            </a:r>
            <a:r>
              <a:rPr lang="en-US" altLang="en-US" sz="2400" smtClean="0"/>
              <a:t>T</a:t>
            </a:r>
            <a:r>
              <a:rPr lang="th-TH" altLang="en-US" sz="2400" smtClean="0"/>
              <a:t>he </a:t>
            </a:r>
            <a:r>
              <a:rPr lang="en-US" altLang="en-US" sz="2400" smtClean="0"/>
              <a:t> </a:t>
            </a:r>
            <a:r>
              <a:rPr lang="th-TH" altLang="en-US" sz="2400" smtClean="0"/>
              <a:t>solution </a:t>
            </a:r>
            <a:r>
              <a:rPr lang="en-US" altLang="en-US" sz="2400" smtClean="0"/>
              <a:t> </a:t>
            </a:r>
            <a:r>
              <a:rPr lang="th-TH" altLang="en-US" sz="2400" smtClean="0"/>
              <a:t>to the recurrence is O(</a:t>
            </a:r>
            <a:r>
              <a:rPr lang="th-TH" altLang="en-US" sz="2400" i="1" smtClean="0"/>
              <a:t>n </a:t>
            </a:r>
            <a:r>
              <a:rPr lang="th-TH" altLang="en-US" sz="2400" baseline="30000" smtClean="0"/>
              <a:t>log3</a:t>
            </a:r>
            <a:r>
              <a:rPr lang="th-TH" altLang="en-US" sz="2400" smtClean="0"/>
              <a:t>) = O(</a:t>
            </a:r>
            <a:r>
              <a:rPr lang="th-TH" altLang="en-US" sz="2400" i="1" smtClean="0"/>
              <a:t>n </a:t>
            </a:r>
            <a:r>
              <a:rPr lang="th-TH" altLang="en-US" sz="2400" baseline="30000" smtClean="0"/>
              <a:t>1.59</a:t>
            </a:r>
            <a:r>
              <a:rPr lang="th-TH" altLang="en-US" sz="2400" smtClean="0"/>
              <a:t>).</a:t>
            </a:r>
          </a:p>
        </p:txBody>
      </p:sp>
      <p:pic>
        <p:nvPicPr>
          <p:cNvPr id="29700" name="Picture 4" descr="bitmul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200400"/>
            <a:ext cx="5867400" cy="140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th-TH" altLang="en-US" smtClean="0"/>
              <a:t>Example</a:t>
            </a:r>
          </a:p>
        </p:txBody>
      </p:sp>
      <p:pic>
        <p:nvPicPr>
          <p:cNvPr id="31747" name="Picture 4" descr="bitmul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0"/>
            <a:ext cx="86106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304800" y="4191000"/>
            <a:ext cx="8305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th-TH" altLang="en-US" sz="2400" b="0"/>
              <a:t>This divide</a:t>
            </a:r>
            <a:r>
              <a:rPr lang="en-US" altLang="en-US" sz="2400" b="0"/>
              <a:t>&amp;</a:t>
            </a:r>
            <a:r>
              <a:rPr lang="th-TH" altLang="en-US" sz="2400" b="0"/>
              <a:t>conquer technique for multipl</a:t>
            </a:r>
            <a:r>
              <a:rPr lang="en-US" altLang="en-US" sz="2400" b="0"/>
              <a:t>ying</a:t>
            </a:r>
            <a:r>
              <a:rPr lang="th-TH" altLang="en-US" sz="2400" b="0"/>
              <a:t> two n-bit number</a:t>
            </a:r>
            <a:r>
              <a:rPr lang="en-US" altLang="en-US" sz="2400" b="0"/>
              <a:t>s</a:t>
            </a:r>
            <a:r>
              <a:rPr lang="th-TH" altLang="en-US" sz="2400" b="0"/>
              <a:t> can also </a:t>
            </a:r>
            <a:r>
              <a:rPr lang="en-US" altLang="en-US" sz="2400" b="0"/>
              <a:t>be used </a:t>
            </a:r>
            <a:r>
              <a:rPr lang="th-TH" altLang="en-US" sz="2400" b="0"/>
              <a:t>to multipl</a:t>
            </a:r>
            <a:r>
              <a:rPr lang="en-US" altLang="en-US" sz="2400" b="0"/>
              <a:t>y</a:t>
            </a:r>
            <a:r>
              <a:rPr lang="th-TH" altLang="en-US" sz="2400" b="0"/>
              <a:t> of two n-digit integers and n-degree polynomial</a:t>
            </a:r>
            <a:r>
              <a:rPr lang="en-US" altLang="en-US" sz="2400" b="0"/>
              <a:t>s</a:t>
            </a:r>
            <a:r>
              <a:rPr lang="th-TH" altLang="en-US" sz="2400" b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Matrix Multiplication</a:t>
            </a:r>
          </a:p>
        </p:txBody>
      </p:sp>
      <p:pic>
        <p:nvPicPr>
          <p:cNvPr id="33795" name="Picture 3" descr="Screen shot 2011-02-10 at 2.35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43050"/>
            <a:ext cx="91440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Standard Algorithm </a:t>
            </a:r>
          </a:p>
        </p:txBody>
      </p:sp>
      <p:pic>
        <p:nvPicPr>
          <p:cNvPr id="34819" name="Content Placeholder 3" descr="Screen shot 2011-02-10 at 2.36.2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367" b="-12367"/>
          <a:stretch>
            <a:fillRect/>
          </a:stretch>
        </p:blipFill>
        <p:spPr/>
      </p:pic>
      <p:pic>
        <p:nvPicPr>
          <p:cNvPr id="5" name="Picture 4" descr="Screen shot 2011-02-10 at 2.36.58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22900"/>
            <a:ext cx="91440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Divide-and-Conquer Algorithm</a:t>
            </a:r>
          </a:p>
        </p:txBody>
      </p:sp>
      <p:pic>
        <p:nvPicPr>
          <p:cNvPr id="35843" name="Content Placeholder 3" descr="Screen shot 2011-02-10 at 2.38.00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8" r="1318"/>
          <a:stretch>
            <a:fillRect/>
          </a:stretch>
        </p:blipFill>
        <p:spPr/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D&amp;C Algorithm</a:t>
            </a:r>
          </a:p>
        </p:txBody>
      </p:sp>
      <p:pic>
        <p:nvPicPr>
          <p:cNvPr id="36867" name="Picture 3" descr="Screen shot 2011-02-10 at 2.38.5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17638"/>
            <a:ext cx="9144000" cy="361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Screen shot 2011-02-10 at 2.39.04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79988"/>
            <a:ext cx="91440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Strassen’s Idea</a:t>
            </a:r>
          </a:p>
        </p:txBody>
      </p:sp>
      <p:sp>
        <p:nvSpPr>
          <p:cNvPr id="37891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7891463" cy="639762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altLang="en-US" sz="2800" b="0" smtClean="0"/>
              <a:t>Multiply 2x2 matrices with only 7 multiplications</a:t>
            </a:r>
          </a:p>
        </p:txBody>
      </p:sp>
      <p:pic>
        <p:nvPicPr>
          <p:cNvPr id="37892" name="Content Placeholder 6" descr="Screen shot 2011-02-10 at 2.41.59 AM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" r="949"/>
          <a:stretch>
            <a:fillRect/>
          </a:stretch>
        </p:blipFill>
        <p:spPr/>
      </p:pic>
      <p:pic>
        <p:nvPicPr>
          <p:cNvPr id="37893" name="Content Placeholder 7" descr="Screen shot 2011-02-10 at 2.42.07 AM.png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07977"/>
          <a:stretch>
            <a:fillRect/>
          </a:stretch>
        </p:blipFill>
        <p:spPr/>
      </p:pic>
      <p:sp>
        <p:nvSpPr>
          <p:cNvPr id="37894" name="Rectangle 6"/>
          <p:cNvSpPr>
            <a:spLocks noChangeArrowheads="1"/>
          </p:cNvSpPr>
          <p:nvPr/>
        </p:nvSpPr>
        <p:spPr bwMode="auto">
          <a:xfrm>
            <a:off x="5029200" y="4343400"/>
            <a:ext cx="3352800" cy="533400"/>
          </a:xfrm>
          <a:prstGeom prst="rect">
            <a:avLst/>
          </a:prstGeom>
          <a:solidFill>
            <a:schemeClr val="bg1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SzPct val="100000"/>
              <a:buChar char="•"/>
              <a:defRPr sz="28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SzPct val="100000"/>
              <a:buChar char="•"/>
              <a:defRPr sz="2400" b="1">
                <a:solidFill>
                  <a:srgbClr val="063DE8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SzPct val="100000"/>
              <a:buChar char="•"/>
              <a:defRPr sz="24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SzPct val="100000"/>
              <a:buChar char="•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7 mults, 18 adds/subs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Strassen’s Idea</a:t>
            </a:r>
          </a:p>
        </p:txBody>
      </p:sp>
      <p:sp>
        <p:nvSpPr>
          <p:cNvPr id="38915" name="Text Placeholder 3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7891463" cy="639762"/>
          </a:xfrm>
        </p:spPr>
        <p:txBody>
          <a:bodyPr/>
          <a:lstStyle/>
          <a:p>
            <a:pPr marL="342900" indent="-342900">
              <a:buFontTx/>
              <a:buChar char="•"/>
            </a:pPr>
            <a:r>
              <a:rPr lang="en-US" altLang="en-US" sz="2800" b="0" smtClean="0"/>
              <a:t>Multiply 2x2 matrices with only 7 multiplications</a:t>
            </a:r>
          </a:p>
        </p:txBody>
      </p:sp>
      <p:pic>
        <p:nvPicPr>
          <p:cNvPr id="38916" name="Content Placeholder 6" descr="Screen shot 2011-02-10 at 2.41.59 AM.png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" r="949"/>
          <a:stretch>
            <a:fillRect/>
          </a:stretch>
        </p:blipFill>
        <p:spPr/>
      </p:pic>
      <p:pic>
        <p:nvPicPr>
          <p:cNvPr id="38917" name="Picture 4" descr="Screen shot 2011-02-10 at 2.45.0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2149475"/>
            <a:ext cx="4716462" cy="417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Strassen’s Algorithm</a:t>
            </a:r>
          </a:p>
        </p:txBody>
      </p:sp>
      <p:sp>
        <p:nvSpPr>
          <p:cNvPr id="39939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>
                <a:solidFill>
                  <a:srgbClr val="FF0000"/>
                </a:solidFill>
              </a:rPr>
              <a:t>Divide</a:t>
            </a:r>
            <a:r>
              <a:rPr lang="en-US" altLang="en-US" smtClean="0"/>
              <a:t>: Partition A and B into (n/2)x(n/2) submatrices. Form terms to be multiplied using + and –</a:t>
            </a:r>
          </a:p>
          <a:p>
            <a:r>
              <a:rPr lang="en-US" altLang="en-US" smtClean="0">
                <a:solidFill>
                  <a:srgbClr val="FF0000"/>
                </a:solidFill>
              </a:rPr>
              <a:t>Conquer</a:t>
            </a:r>
            <a:r>
              <a:rPr lang="en-US" altLang="en-US" smtClean="0"/>
              <a:t>: Perform 7 multiplications of (n/2) x (n/2) submatrices recursively. </a:t>
            </a:r>
          </a:p>
          <a:p>
            <a:r>
              <a:rPr lang="en-US" altLang="en-US" smtClean="0">
                <a:solidFill>
                  <a:srgbClr val="FF0000"/>
                </a:solidFill>
              </a:rPr>
              <a:t>Combine</a:t>
            </a:r>
            <a:r>
              <a:rPr lang="en-US" altLang="en-US" smtClean="0"/>
              <a:t>: Form C using + and – on (n/2) x (n/2) submatrices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1717675" y="5634038"/>
          <a:ext cx="4826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1" name="Equation" r:id="rId3" imgW="1471680" imgH="219240" progId="Equation.3">
                  <p:embed/>
                </p:oleObj>
              </mc:Choice>
              <mc:Fallback>
                <p:oleObj name="Equation" r:id="rId3" imgW="1471680" imgH="219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7675" y="5634038"/>
                        <a:ext cx="48260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Analysis of Strassen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57200" y="2871788"/>
            <a:ext cx="8229600" cy="3768725"/>
          </a:xfrm>
        </p:spPr>
        <p:txBody>
          <a:bodyPr/>
          <a:lstStyle/>
          <a:p>
            <a:r>
              <a:rPr lang="en-US" altLang="en-US" smtClean="0"/>
              <a:t>The number 2.81 may not be a lot smaller than 3 but being in the exponent has a significant effect. </a:t>
            </a:r>
          </a:p>
          <a:p>
            <a:r>
              <a:rPr lang="en-US" altLang="en-US" smtClean="0"/>
              <a:t>Strassen algorithm beats ordinary algorithm for n &gt;= 32</a:t>
            </a:r>
          </a:p>
          <a:p>
            <a:endParaRPr lang="en-US" altLang="en-US" smtClean="0"/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103438" y="1600200"/>
          <a:ext cx="482600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66" name="Equation" r:id="rId3" imgW="1471680" imgH="219240" progId="Equation.3">
                  <p:embed/>
                </p:oleObj>
              </mc:Choice>
              <mc:Fallback>
                <p:oleObj name="Equation" r:id="rId3" imgW="1471680" imgH="219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438" y="1600200"/>
                        <a:ext cx="482600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65" name="Picture 4" descr="Screen shot 2011-02-10 at 2.51.54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5675"/>
            <a:ext cx="91440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Conclusion	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Divide and conquer is just one of several powerful techniques for algorithm design.</a:t>
            </a:r>
          </a:p>
          <a:p>
            <a:r>
              <a:rPr lang="en-US" altLang="en-US" smtClean="0"/>
              <a:t>Divide-and-conquer algorithms can be analyzed using recurrences and the master method.</a:t>
            </a:r>
          </a:p>
          <a:p>
            <a:r>
              <a:rPr lang="en-US" altLang="en-US" smtClean="0"/>
              <a:t>The divide-and-conquer strategy often leads to efficient algorithms.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sd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plsd.po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plsd.po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lsd.po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lsd.po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Office\Templates\plsd.pot</Template>
  <TotalTime>5461</TotalTime>
  <Pages>11</Pages>
  <Words>817</Words>
  <Application>Microsoft Office PowerPoint</Application>
  <PresentationFormat>On-screen Show (4:3)</PresentationFormat>
  <Paragraphs>137</Paragraphs>
  <Slides>24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Times New Roman</vt:lpstr>
      <vt:lpstr>Arial</vt:lpstr>
      <vt:lpstr>Symbol</vt:lpstr>
      <vt:lpstr>Microsoft Sans Serif</vt:lpstr>
      <vt:lpstr>Times New Roman;Times New Roman</vt:lpstr>
      <vt:lpstr>Wingdings</vt:lpstr>
      <vt:lpstr>plsd</vt:lpstr>
      <vt:lpstr>Equation</vt:lpstr>
      <vt:lpstr>   Design and Analysis of Algorithms</vt:lpstr>
      <vt:lpstr>Divide and Conquer</vt:lpstr>
      <vt:lpstr>Divide &amp; Conquer</vt:lpstr>
      <vt:lpstr>Example: Min-Max Problem</vt:lpstr>
      <vt:lpstr>Min-Max Cont’d</vt:lpstr>
      <vt:lpstr>Example: Min-Max Problems</vt:lpstr>
      <vt:lpstr>PowerPoint Presentation</vt:lpstr>
      <vt:lpstr>Misc</vt:lpstr>
      <vt:lpstr>MULTIPLICATION OF TWO n-BIT NUMBERS</vt:lpstr>
      <vt:lpstr>MULTIPLICATION OF TWO n-BIT NUMBERS (cont.)</vt:lpstr>
      <vt:lpstr>Two n-bits Number Analysis</vt:lpstr>
      <vt:lpstr>A better Algorithm</vt:lpstr>
      <vt:lpstr>A better Algorithm (cont.)</vt:lpstr>
      <vt:lpstr>Analysis</vt:lpstr>
      <vt:lpstr>Example</vt:lpstr>
      <vt:lpstr>Matrix Multiplication</vt:lpstr>
      <vt:lpstr>Standard Algorithm </vt:lpstr>
      <vt:lpstr>Divide-and-Conquer Algorithm</vt:lpstr>
      <vt:lpstr>Analysis of D&amp;C Algorithm</vt:lpstr>
      <vt:lpstr>Strassen’s Idea</vt:lpstr>
      <vt:lpstr>Strassen’s Idea</vt:lpstr>
      <vt:lpstr>Strassen’s Algorithm</vt:lpstr>
      <vt:lpstr>Analysis of Strassen</vt:lpstr>
      <vt:lpstr>Conclusion </vt:lpstr>
    </vt:vector>
  </TitlesOfParts>
  <Company>CIIPS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subject>Lec Week-13</dc:subject>
  <dc:creator>Kashif Munir</dc:creator>
  <cp:lastModifiedBy>user1</cp:lastModifiedBy>
  <cp:revision>472</cp:revision>
  <cp:lastPrinted>1998-07-27T03:15:14Z</cp:lastPrinted>
  <dcterms:created xsi:type="dcterms:W3CDTF">1998-07-26T04:07:26Z</dcterms:created>
  <dcterms:modified xsi:type="dcterms:W3CDTF">2025-07-28T10:25:53Z</dcterms:modified>
</cp:coreProperties>
</file>