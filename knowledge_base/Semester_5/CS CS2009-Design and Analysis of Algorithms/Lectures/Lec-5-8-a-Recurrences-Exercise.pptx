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16" r:id="rId1"/>
  </p:sldMasterIdLst>
  <p:notesMasterIdLst>
    <p:notesMasterId r:id="rId5"/>
  </p:notesMasterIdLst>
  <p:sldIdLst>
    <p:sldId id="314" r:id="rId2"/>
    <p:sldId id="323" r:id="rId3"/>
    <p:sldId id="324" r:id="rId4"/>
  </p:sldIdLst>
  <p:sldSz cx="9144000" cy="6858000" type="screen4x3"/>
  <p:notesSz cx="7559675" cy="10691813"/>
  <p:defaultTextStyle>
    <a:defPPr>
      <a:defRPr lang="en-GB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742950" indent="-28575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1143000" indent="-228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600200" indent="-228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2057400" indent="-228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 autoAdjust="0"/>
    <p:restoredTop sz="87971" autoAdjust="0"/>
  </p:normalViewPr>
  <p:slideViewPr>
    <p:cSldViewPr>
      <p:cViewPr varScale="1">
        <p:scale>
          <a:sx n="65" d="100"/>
          <a:sy n="65" d="100"/>
        </p:scale>
        <p:origin x="1536" y="60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sldImg"/>
          </p:nvPr>
        </p:nvSpPr>
        <p:spPr bwMode="auto">
          <a:xfrm>
            <a:off x="1106488" y="812800"/>
            <a:ext cx="5343525" cy="400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smtClean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4B96C9D-07E4-4032-90FE-C067F7C388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910FAE-9A35-4955-B00F-99F2FE41098D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D0828-C4FC-4F16-80B3-845522840E8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0647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5EDA38-E759-4991-A7E0-6231C64F9BD0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AB4FD4-8FA5-4459-8FAD-032B2EABA3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9891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D16BBD-99A9-4FF0-998A-26C7325C954E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5BBE8-1CE1-472F-9222-3926EF1BDE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8519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9CBEB-90B8-4A04-B0F4-2F5E39608952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3E9162-173C-4A01-986A-F46595B688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9999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DFFA4B-261F-4F8F-9670-4E919E8EB4DC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6502AD-4E10-41A4-90A9-BA10CDEBA9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4918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8ADC3D-4BD7-4E7C-B3E6-CAFCDFFFDF9A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6340ED-B4C0-4D1C-86C3-1A52D62538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6081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12A71-D122-4952-BE25-B60030FB438B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DC9B6D-58C3-471E-B2AD-5BA3531A07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3650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53F91-43C2-4937-98C5-DC294E130A16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E87413-EB67-4E78-A8F0-6F0A42F63D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9398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AAA87E-4D60-4FA2-A342-4FA9D7E9238F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7DA654-1576-4207-AD78-805EB97B38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7527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7C6DAA-5FC1-4364-A5A9-A6EAF68E6B47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E19649-F137-474F-B9C8-3571A5BFA8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1914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17DD09-760B-4082-9EE9-AFAC2AD35199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4FB101-FAFA-4B69-A9CA-12E968A57D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3833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390609FE-6CCC-4D09-ACE8-89383D3192EC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1200">
                <a:solidFill>
                  <a:srgbClr val="8989D1"/>
                </a:solidFill>
              </a:defRPr>
            </a:lvl1pPr>
          </a:lstStyle>
          <a:p>
            <a:pPr>
              <a:defRPr/>
            </a:pPr>
            <a:fld id="{FBFE3346-EAFA-4E88-9067-D19C9C0FCA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Design and Analysis of Algorithms</a:t>
            </a: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z="4800" smtClean="0">
                <a:solidFill>
                  <a:srgbClr val="000000"/>
                </a:solidFill>
              </a:rPr>
              <a:t>Recurrences</a:t>
            </a:r>
          </a:p>
          <a:p>
            <a:pPr eaLnBrk="1" hangingPunct="1"/>
            <a:r>
              <a:rPr lang="en-US" altLang="en-US" sz="4800" smtClean="0">
                <a:solidFill>
                  <a:srgbClr val="000000"/>
                </a:solidFill>
              </a:rPr>
              <a:t>Exercise</a:t>
            </a:r>
          </a:p>
        </p:txBody>
      </p:sp>
      <p:sp>
        <p:nvSpPr>
          <p:cNvPr id="307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F2F37EB-5100-46F0-9E31-41A2B3C2DE96}" type="slidenum">
              <a:rPr lang="en-US" altLang="en-US" smtClean="0"/>
              <a:pPr/>
              <a:t>1</a:t>
            </a:fld>
            <a:endParaRPr lang="en-US" altLang="en-US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2503488" y="381000"/>
          <a:ext cx="3897312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3" imgW="1739900" imgH="457200" progId="Equation.3">
                  <p:embed/>
                </p:oleObj>
              </mc:Choice>
              <mc:Fallback>
                <p:oleObj name="Equation" r:id="rId3" imgW="1739900" imgH="457200" progId="Equation.3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3488" y="381000"/>
                        <a:ext cx="3897312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7C046F11-30D3-4767-B783-0EE7FCEB532C}" type="slidenum">
              <a:rPr lang="en-US" altLang="en-US" smtClean="0"/>
              <a:pPr/>
              <a:t>2</a:t>
            </a:fld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1870281-3A3A-4E92-87FF-755CFB159F6E}" type="slidenum">
              <a:rPr lang="en-US" altLang="en-US" smtClean="0"/>
              <a:pPr/>
              <a:t>3</a:t>
            </a:fld>
            <a:endParaRPr lang="en-US" altLang="en-US" smtClean="0"/>
          </a:p>
        </p:txBody>
      </p:sp>
      <p:graphicFrame>
        <p:nvGraphicFramePr>
          <p:cNvPr id="5123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465138" y="227013"/>
          <a:ext cx="3897312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3" imgW="1739900" imgH="457200" progId="Equation.3">
                  <p:embed/>
                </p:oleObj>
              </mc:Choice>
              <mc:Fallback>
                <p:oleObj name="Equation" r:id="rId3" imgW="1739900" imgH="457200" progId="Equation.3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138" y="227013"/>
                        <a:ext cx="3897312" cy="1023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000" b="1" smtClean="0">
                <a:solidFill>
                  <a:srgbClr val="000000"/>
                </a:solidFill>
              </a:rPr>
              <a:t>T(n) 	=  2 + 2T(n/2)</a:t>
            </a:r>
            <a:endParaRPr lang="en-US" altLang="en-US" sz="2000" smtClean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000" b="1" smtClean="0">
                <a:solidFill>
                  <a:srgbClr val="000000"/>
                </a:solidFill>
              </a:rPr>
              <a:t>	=  2 + 2(2 + 2T(n/2</a:t>
            </a:r>
            <a:r>
              <a:rPr lang="en-US" altLang="en-US" sz="2000" b="1" baseline="30000" smtClean="0">
                <a:solidFill>
                  <a:srgbClr val="000000"/>
                </a:solidFill>
              </a:rPr>
              <a:t>2</a:t>
            </a:r>
            <a:r>
              <a:rPr lang="en-US" altLang="en-US" sz="2000" b="1" smtClean="0">
                <a:solidFill>
                  <a:srgbClr val="000000"/>
                </a:solidFill>
              </a:rPr>
              <a:t>))</a:t>
            </a:r>
            <a:endParaRPr lang="en-US" altLang="en-US" sz="2000" smtClean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000" b="1" smtClean="0">
                <a:solidFill>
                  <a:srgbClr val="000000"/>
                </a:solidFill>
              </a:rPr>
              <a:t>	=  2 + 2.2 + 2.2T(n/2</a:t>
            </a:r>
            <a:r>
              <a:rPr lang="en-US" altLang="en-US" sz="2000" b="1" baseline="30000" smtClean="0">
                <a:solidFill>
                  <a:srgbClr val="000000"/>
                </a:solidFill>
              </a:rPr>
              <a:t>2</a:t>
            </a:r>
            <a:r>
              <a:rPr lang="en-US" altLang="en-US" sz="2000" b="1" smtClean="0">
                <a:solidFill>
                  <a:srgbClr val="000000"/>
                </a:solidFill>
              </a:rPr>
              <a:t>)</a:t>
            </a:r>
            <a:endParaRPr lang="en-US" altLang="en-US" sz="2000" smtClean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000" b="1" smtClean="0">
                <a:solidFill>
                  <a:srgbClr val="000000"/>
                </a:solidFill>
              </a:rPr>
              <a:t>	=  2 + 2</a:t>
            </a:r>
            <a:r>
              <a:rPr lang="en-US" altLang="en-US" sz="2000" b="1" baseline="30000" smtClean="0">
                <a:solidFill>
                  <a:srgbClr val="000000"/>
                </a:solidFill>
              </a:rPr>
              <a:t>2</a:t>
            </a:r>
            <a:r>
              <a:rPr lang="en-US" altLang="en-US" sz="2000" b="1" smtClean="0">
                <a:solidFill>
                  <a:srgbClr val="000000"/>
                </a:solidFill>
              </a:rPr>
              <a:t>+ 2</a:t>
            </a:r>
            <a:r>
              <a:rPr lang="en-US" altLang="en-US" sz="2000" b="1" baseline="30000" smtClean="0">
                <a:solidFill>
                  <a:srgbClr val="000000"/>
                </a:solidFill>
              </a:rPr>
              <a:t>2</a:t>
            </a:r>
            <a:r>
              <a:rPr lang="en-US" altLang="en-US" sz="2000" b="1" smtClean="0">
                <a:solidFill>
                  <a:srgbClr val="000000"/>
                </a:solidFill>
              </a:rPr>
              <a:t>(2+2T (n/2.2</a:t>
            </a:r>
            <a:r>
              <a:rPr lang="en-US" altLang="en-US" sz="2000" b="1" baseline="30000" smtClean="0">
                <a:solidFill>
                  <a:srgbClr val="000000"/>
                </a:solidFill>
              </a:rPr>
              <a:t>2</a:t>
            </a:r>
            <a:r>
              <a:rPr lang="en-US" altLang="en-US" sz="2000" b="1" smtClean="0">
                <a:solidFill>
                  <a:srgbClr val="000000"/>
                </a:solidFill>
              </a:rPr>
              <a:t>))</a:t>
            </a:r>
            <a:endParaRPr lang="en-US" altLang="en-US" sz="2000" smtClean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000" b="1" smtClean="0">
                <a:solidFill>
                  <a:srgbClr val="000000"/>
                </a:solidFill>
              </a:rPr>
              <a:t>	=  2+ 2</a:t>
            </a:r>
            <a:r>
              <a:rPr lang="en-US" altLang="en-US" sz="2000" b="1" baseline="30000" smtClean="0">
                <a:solidFill>
                  <a:srgbClr val="000000"/>
                </a:solidFill>
              </a:rPr>
              <a:t>2</a:t>
            </a:r>
            <a:r>
              <a:rPr lang="en-US" altLang="en-US" sz="2000" b="1" smtClean="0">
                <a:solidFill>
                  <a:srgbClr val="000000"/>
                </a:solidFill>
              </a:rPr>
              <a:t>+2</a:t>
            </a:r>
            <a:r>
              <a:rPr lang="en-US" altLang="en-US" sz="2000" b="1" baseline="30000" smtClean="0">
                <a:solidFill>
                  <a:srgbClr val="000000"/>
                </a:solidFill>
              </a:rPr>
              <a:t>3</a:t>
            </a:r>
            <a:r>
              <a:rPr lang="en-US" altLang="en-US" sz="2000" b="1" smtClean="0">
                <a:solidFill>
                  <a:srgbClr val="000000"/>
                </a:solidFill>
              </a:rPr>
              <a:t>+2</a:t>
            </a:r>
            <a:r>
              <a:rPr lang="en-US" altLang="en-US" sz="2000" b="1" baseline="30000" smtClean="0">
                <a:solidFill>
                  <a:srgbClr val="000000"/>
                </a:solidFill>
              </a:rPr>
              <a:t>3</a:t>
            </a:r>
            <a:r>
              <a:rPr lang="en-US" altLang="en-US" sz="2000" b="1" smtClean="0">
                <a:solidFill>
                  <a:srgbClr val="000000"/>
                </a:solidFill>
              </a:rPr>
              <a:t>T(n/2</a:t>
            </a:r>
            <a:r>
              <a:rPr lang="en-US" altLang="en-US" sz="2000" b="1" baseline="30000" smtClean="0">
                <a:solidFill>
                  <a:srgbClr val="000000"/>
                </a:solidFill>
              </a:rPr>
              <a:t>3</a:t>
            </a:r>
            <a:r>
              <a:rPr lang="en-US" altLang="en-US" sz="2000" b="1" smtClean="0">
                <a:solidFill>
                  <a:srgbClr val="000000"/>
                </a:solidFill>
              </a:rPr>
              <a:t>)</a:t>
            </a:r>
            <a:endParaRPr lang="en-US" altLang="en-US" sz="2000" smtClean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000" b="1" smtClean="0">
                <a:solidFill>
                  <a:srgbClr val="000000"/>
                </a:solidFill>
              </a:rPr>
              <a:t>… after k steps, we have</a:t>
            </a:r>
            <a:endParaRPr lang="en-US" altLang="en-US" sz="2000" smtClean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000" b="1" smtClean="0">
                <a:solidFill>
                  <a:srgbClr val="000000"/>
                </a:solidFill>
              </a:rPr>
              <a:t>………………</a:t>
            </a:r>
            <a:endParaRPr lang="en-US" altLang="en-US" sz="2000" smtClean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000" b="1" smtClean="0">
                <a:solidFill>
                  <a:srgbClr val="000000"/>
                </a:solidFill>
              </a:rPr>
              <a:t>T(n)     =  2+ 2</a:t>
            </a:r>
            <a:r>
              <a:rPr lang="en-US" altLang="en-US" sz="2000" b="1" baseline="30000" smtClean="0">
                <a:solidFill>
                  <a:srgbClr val="000000"/>
                </a:solidFill>
              </a:rPr>
              <a:t>2</a:t>
            </a:r>
            <a:r>
              <a:rPr lang="en-US" altLang="en-US" sz="2000" b="1" smtClean="0">
                <a:solidFill>
                  <a:srgbClr val="000000"/>
                </a:solidFill>
              </a:rPr>
              <a:t>+2</a:t>
            </a:r>
            <a:r>
              <a:rPr lang="en-US" altLang="en-US" sz="2000" b="1" baseline="30000" smtClean="0">
                <a:solidFill>
                  <a:srgbClr val="000000"/>
                </a:solidFill>
              </a:rPr>
              <a:t>3</a:t>
            </a:r>
            <a:r>
              <a:rPr lang="en-US" altLang="en-US" sz="2000" b="1" smtClean="0">
                <a:solidFill>
                  <a:srgbClr val="000000"/>
                </a:solidFill>
              </a:rPr>
              <a:t>+…+2</a:t>
            </a:r>
            <a:r>
              <a:rPr lang="en-US" altLang="en-US" sz="2000" b="1" baseline="30000" smtClean="0">
                <a:solidFill>
                  <a:srgbClr val="000000"/>
                </a:solidFill>
              </a:rPr>
              <a:t>k</a:t>
            </a:r>
            <a:r>
              <a:rPr lang="en-US" altLang="en-US" sz="2000" b="1" smtClean="0">
                <a:solidFill>
                  <a:srgbClr val="000000"/>
                </a:solidFill>
              </a:rPr>
              <a:t> + 2</a:t>
            </a:r>
            <a:r>
              <a:rPr lang="en-US" altLang="en-US" sz="2000" b="1" baseline="30000" smtClean="0">
                <a:solidFill>
                  <a:srgbClr val="000000"/>
                </a:solidFill>
              </a:rPr>
              <a:t>k</a:t>
            </a:r>
            <a:r>
              <a:rPr lang="en-US" altLang="en-US" sz="2000" b="1" smtClean="0">
                <a:solidFill>
                  <a:srgbClr val="000000"/>
                </a:solidFill>
              </a:rPr>
              <a:t>T(n/2</a:t>
            </a:r>
            <a:r>
              <a:rPr lang="en-US" altLang="en-US" sz="2000" b="1" baseline="30000" smtClean="0">
                <a:solidFill>
                  <a:srgbClr val="000000"/>
                </a:solidFill>
              </a:rPr>
              <a:t>k</a:t>
            </a:r>
            <a:r>
              <a:rPr lang="en-US" altLang="en-US" sz="2000" b="1" smtClean="0">
                <a:solidFill>
                  <a:srgbClr val="000000"/>
                </a:solidFill>
              </a:rPr>
              <a:t>)</a:t>
            </a:r>
            <a:endParaRPr lang="en-US" altLang="en-US" sz="2000" smtClean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000" b="1" smtClean="0">
                <a:solidFill>
                  <a:srgbClr val="000000"/>
                </a:solidFill>
              </a:rPr>
              <a:t>	=  2(2</a:t>
            </a:r>
            <a:r>
              <a:rPr lang="en-US" altLang="en-US" sz="2000" b="1" baseline="30000" smtClean="0">
                <a:solidFill>
                  <a:srgbClr val="000000"/>
                </a:solidFill>
              </a:rPr>
              <a:t>k</a:t>
            </a:r>
            <a:r>
              <a:rPr lang="en-US" altLang="en-US" sz="2000" b="1" smtClean="0">
                <a:solidFill>
                  <a:srgbClr val="000000"/>
                </a:solidFill>
              </a:rPr>
              <a:t>-1) + n/2T(2)	 	because 2</a:t>
            </a:r>
            <a:r>
              <a:rPr lang="en-US" altLang="en-US" sz="2000" b="1" baseline="30000" smtClean="0">
                <a:solidFill>
                  <a:srgbClr val="000000"/>
                </a:solidFill>
              </a:rPr>
              <a:t>k+1</a:t>
            </a:r>
            <a:r>
              <a:rPr lang="en-US" altLang="en-US" sz="2000" b="1" smtClean="0">
                <a:solidFill>
                  <a:srgbClr val="000000"/>
                </a:solidFill>
              </a:rPr>
              <a:t>=n</a:t>
            </a:r>
            <a:endParaRPr lang="en-US" altLang="en-US" sz="2000" smtClean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000" b="1" smtClean="0">
                <a:solidFill>
                  <a:srgbClr val="000000"/>
                </a:solidFill>
              </a:rPr>
              <a:t>	=  2(n/2)-2 + n/2T(2)		</a:t>
            </a:r>
            <a:endParaRPr lang="en-US" altLang="en-US" sz="2000" smtClean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000" b="1" smtClean="0">
                <a:solidFill>
                  <a:srgbClr val="000000"/>
                </a:solidFill>
              </a:rPr>
              <a:t>	=  n - 2 + n/2			because T(2)=1</a:t>
            </a:r>
            <a:endParaRPr lang="en-US" altLang="en-US" sz="2000" smtClean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000" b="1" smtClean="0">
                <a:solidFill>
                  <a:srgbClr val="000000"/>
                </a:solidFill>
              </a:rPr>
              <a:t>	=  (3n/2) - 2 </a:t>
            </a:r>
            <a:endParaRPr lang="en-US" altLang="en-US" sz="2000" smtClean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BF"/>
      </a:dk1>
      <a:lt1>
        <a:sysClr val="window" lastClr="FFFFFF"/>
      </a:lt1>
      <a:dk2>
        <a:srgbClr val="1F497D"/>
      </a:dk2>
      <a:lt2>
        <a:srgbClr val="EEECE1"/>
      </a:lt2>
      <a:accent1>
        <a:srgbClr val="1F497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</TotalTime>
  <Words>12</Words>
  <Application>Microsoft Office PowerPoint</Application>
  <PresentationFormat>On-screen Show (4:3)</PresentationFormat>
  <Paragraphs>18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Times New Roman</vt:lpstr>
      <vt:lpstr>Office Theme</vt:lpstr>
      <vt:lpstr>Microsoft Equation 3.0</vt:lpstr>
      <vt:lpstr>Design and Analysis of Algorithms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/>
  <dc:creator>Unknown Creator</dc:creator>
  <cp:keywords/>
  <dc:description/>
  <cp:lastModifiedBy>user1</cp:lastModifiedBy>
  <cp:revision>43</cp:revision>
  <cp:lastPrinted>1601-01-01T00:00:00Z</cp:lastPrinted>
  <dcterms:created xsi:type="dcterms:W3CDTF">2015-02-19T07:04:57Z</dcterms:created>
  <dcterms:modified xsi:type="dcterms:W3CDTF">2025-07-28T10:26:07Z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Company">
    <vt:lpwstr>Microsoft Corporation</vt:lpwstr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ScaleCrop">
    <vt:bool>false</vt:bool>
  </property>
  <property fmtid="{D5CDD505-2E9C-101B-9397-08002B2CF9AE}" pid="7" name="ShareDoc">
    <vt:bool>false</vt:bool>
  </property>
  <property fmtid="{D5CDD505-2E9C-101B-9397-08002B2CF9AE}" pid="8" name="Slides">
    <vt:r8>57</vt:r8>
  </property>
</Properties>
</file>