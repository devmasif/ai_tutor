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386" r:id="rId2"/>
    <p:sldId id="387" r:id="rId3"/>
    <p:sldId id="388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30" r:id="rId39"/>
    <p:sldId id="431" r:id="rId40"/>
    <p:sldId id="425" r:id="rId41"/>
    <p:sldId id="432" r:id="rId42"/>
    <p:sldId id="433" r:id="rId43"/>
    <p:sldId id="426" r:id="rId44"/>
    <p:sldId id="427" r:id="rId45"/>
    <p:sldId id="428" r:id="rId46"/>
  </p:sldIdLst>
  <p:sldSz cx="9144000" cy="6858000" type="screen4x3"/>
  <p:notesSz cx="6661150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99"/>
    <a:srgbClr val="99FF99"/>
    <a:srgbClr val="99CCFF"/>
    <a:srgbClr val="FFFF00"/>
    <a:srgbClr val="063DE8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7" autoAdjust="0"/>
    <p:restoredTop sz="94660"/>
  </p:normalViewPr>
  <p:slideViewPr>
    <p:cSldViewPr>
      <p:cViewPr varScale="1">
        <p:scale>
          <a:sx n="82" d="100"/>
          <a:sy n="82" d="100"/>
        </p:scale>
        <p:origin x="1598" y="67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7413" y="4689475"/>
            <a:ext cx="4886325" cy="4441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1538" y="746125"/>
            <a:ext cx="4919662" cy="3689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E1A8954-2528-42D7-AD22-F0CAE4D841D8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4B9A41D-D952-4391-AAD1-9EC35C6B20AB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CBB05F-1D67-45FF-973E-0B8804B85B1E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5A1EA3-39FB-48AC-BDD3-7D38E3AFC084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4611C1B-578E-428C-B0E5-90555C63B4A4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CE4E5F-0934-4743-8FE2-AFB663651C55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2565A45-B8D7-41AE-B163-885DDE9F48D0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8A70E80-CC53-4A81-A4B0-338C0C167B56}" type="slidenum">
              <a:rPr lang="en-US" altLang="en-US"/>
              <a:pPr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13245E-1224-477C-B24F-3969BB4288F5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37CA09D-5720-409F-82B3-4749963D4F8C}" type="slidenum">
              <a:rPr lang="en-US" altLang="en-US"/>
              <a:pPr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173388-5781-409B-9688-2EB13A420AC6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A6DE804-91CD-416A-9775-A7BA60226604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3853B12-10AE-4B6B-BF1D-601D7CB4418D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14537A-0C9C-47DB-A824-919E00B0B3F1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414AC0-CBE4-4FB3-B0EB-0655BE4ABE4A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22AAB4-EDB8-43BA-B815-6EC5ED08A30D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BF85B0-1021-4AB5-ADA3-06C6EF572ED5}" type="slidenum">
              <a:rPr lang="en-US" altLang="en-US"/>
              <a:pPr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37D9B3-EF02-4EC7-A9C8-48D7847DE2EB}" type="slidenum">
              <a:rPr lang="en-US" altLang="en-US"/>
              <a:pPr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D76C9BB-75CF-45CC-A669-01544D92E53E}" type="slidenum">
              <a:rPr lang="en-US" altLang="en-US"/>
              <a:pPr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A49F48-A9D8-4FAB-8BAA-5175D18C36CA}" type="slidenum">
              <a:rPr lang="en-US" altLang="en-US"/>
              <a:pPr/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E31A40F-14CA-4E70-8537-6174A05CC486}" type="slidenum">
              <a:rPr lang="en-US" altLang="en-US"/>
              <a:pPr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FF7424-F438-4F2D-9229-5E58B3CF6C16}" type="slidenum">
              <a:rPr lang="en-US" altLang="en-US"/>
              <a:pPr/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4659208-51ED-4ED4-B1F3-7E3E47927CDE}" type="slidenum">
              <a:rPr lang="en-US" altLang="en-US"/>
              <a:pPr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C46DC4-8163-411B-9298-17055E6CA1F3}" type="slidenum">
              <a:rPr lang="en-US" altLang="en-US"/>
              <a:pPr/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77B513E-2015-4A9D-9A66-9CFD873F5934}" type="slidenum">
              <a:rPr lang="en-US" altLang="en-US"/>
              <a:pPr/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CDC47CC-B252-4DE4-9622-7A11650E1F3A}" type="slidenum">
              <a:rPr lang="en-US" altLang="en-US"/>
              <a:pPr/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B67876-07B0-4BE7-B0D4-83E7445E2677}" type="slidenum">
              <a:rPr lang="en-US" altLang="en-US"/>
              <a:pPr/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321664A-6A8C-403E-94FF-022DF503C095}" type="slidenum">
              <a:rPr lang="en-US" altLang="en-US"/>
              <a:pPr/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3C9ADC-D1EA-4187-A662-C21C76FDA6AD}" type="slidenum">
              <a:rPr lang="en-US" altLang="en-US"/>
              <a:pPr/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E598C6-4A9A-4DBB-8776-FC141EB0A7EF}" type="slidenum">
              <a:rPr lang="en-US" altLang="en-US"/>
              <a:pPr/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DA7B6B1-F255-4B4D-80A2-1C1CE61A766D}" type="slidenum">
              <a:rPr lang="en-US" altLang="en-US"/>
              <a:pPr/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264F266-2385-400F-BC27-8CF4A3A1FB41}" type="slidenum">
              <a:rPr lang="en-US" altLang="en-US"/>
              <a:pPr/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0D6B59-E5A0-4569-B189-68526B9795EB}" type="slidenum">
              <a:rPr lang="en-US" altLang="en-US"/>
              <a:pPr/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343681-213D-45B1-B299-1CB10C1AFAA1}" type="slidenum">
              <a:rPr lang="en-US" altLang="en-US"/>
              <a:pPr/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D445AA-A416-4369-B849-EE45E03B1200}" type="slidenum">
              <a:rPr lang="en-US" altLang="en-US"/>
              <a:pPr/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E31851-06A8-4F8E-B3A3-7E54F1FE817D}" type="slidenum">
              <a:rPr lang="en-US" altLang="en-US"/>
              <a:pPr/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2ABB05-A635-4947-975B-2C9647700CD0}" type="slidenum">
              <a:rPr lang="en-US" altLang="en-US"/>
              <a:pPr/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CE2945-D367-49FD-8FB1-0CE1FAF28B84}" type="slidenum">
              <a:rPr lang="en-US" altLang="en-US"/>
              <a:pPr/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347918-B09C-481B-85FA-B8EEDB51FC74}" type="slidenum">
              <a:rPr lang="en-US" altLang="en-US"/>
              <a:pPr/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9E2D6E-5027-4FEB-B6A8-0D0ADE226B13}" type="slidenum">
              <a:rPr lang="en-US" altLang="en-US"/>
              <a:pPr/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4BB520-2991-4767-9399-AA26380010E1}" type="slidenum">
              <a:rPr lang="en-US" altLang="en-US"/>
              <a:pPr/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6B65C32-E61B-4F3C-B738-7423F65465A7}" type="slidenum">
              <a:rPr lang="en-US" altLang="en-US"/>
              <a:pPr/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333245-D147-44F9-AB38-32201A0697B0}" type="slidenum">
              <a:rPr lang="en-US" altLang="en-US"/>
              <a:pPr/>
              <a:t>44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F7A6BA-A9F7-456A-906D-F4F3488D554E}" type="slidenum">
              <a:rPr lang="en-US" altLang="en-US"/>
              <a:pPr/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889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37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974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620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5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714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44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023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595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744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85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2000" smtClean="0"/>
          </a:p>
          <a:p>
            <a:pPr>
              <a:lnSpc>
                <a:spcPct val="80000"/>
              </a:lnSpc>
            </a:pPr>
            <a:endParaRPr lang="en-US" altLang="en-US" sz="100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371600" y="2362200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en-US" smtClean="0"/>
              <a:t>String Matching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References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534400" cy="548640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solidFill>
                  <a:srgbClr val="FF3300"/>
                </a:solidFill>
              </a:rPr>
              <a:t>Intro. to Algorithms by Cormen et al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smtClean="0"/>
              <a:t>Algorithms on Strings, Trees, and Sequences. Comp. Science &amp; Computational Biology by Dan Gusfield. Section 1.1 &amp; 1.2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smtClean="0"/>
              <a:t>Exact String Matching Algorithms.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	http://www-igm.univ-mlv.fr/~lecroq/string/index.html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String Matching: Introduction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Finding all occurrences of a pattern in some text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This problem arises frequently in text editing programs.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Efficient algorithms improve responsiveness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In molecular biology, biological molecules can often be approximated as sequences of nucleotides or amino acids.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Search for particular patterns in DNA sequences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Two Types: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Exact String Matching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Approximate String Matching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Exact String Matching Problem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52600"/>
            <a:ext cx="8915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Assume text is any array </a:t>
            </a:r>
            <a:r>
              <a:rPr lang="en-US" altLang="en-US" i="1" smtClean="0"/>
              <a:t>T[1..n]</a:t>
            </a:r>
            <a:r>
              <a:rPr lang="en-US" altLang="en-US" smtClean="0"/>
              <a:t> of length </a:t>
            </a:r>
            <a:r>
              <a:rPr lang="en-US" altLang="en-US" i="1" smtClean="0"/>
              <a:t>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pattern is an array </a:t>
            </a:r>
            <a:r>
              <a:rPr lang="en-US" altLang="en-US" i="1" smtClean="0"/>
              <a:t>P[1..m]</a:t>
            </a:r>
            <a:r>
              <a:rPr lang="en-US" altLang="en-US" smtClean="0"/>
              <a:t> of length </a:t>
            </a:r>
            <a:r>
              <a:rPr lang="en-US" altLang="en-US" i="1" smtClean="0"/>
              <a:t>m</a:t>
            </a:r>
            <a:r>
              <a:rPr lang="en-US" altLang="en-US" i="1" smtClean="0">
                <a:cs typeface="Arial" panose="020B0604020202020204" pitchFamily="34" charset="0"/>
              </a:rPr>
              <a:t>≤n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cs typeface="Arial" panose="020B0604020202020204" pitchFamily="34" charset="0"/>
              </a:rPr>
              <a:t>Elements of </a:t>
            </a:r>
            <a:r>
              <a:rPr lang="en-US" altLang="en-US" i="1" smtClean="0">
                <a:cs typeface="Arial" panose="020B0604020202020204" pitchFamily="34" charset="0"/>
              </a:rPr>
              <a:t>T</a:t>
            </a:r>
            <a:r>
              <a:rPr lang="en-US" altLang="en-US" smtClean="0">
                <a:cs typeface="Arial" panose="020B0604020202020204" pitchFamily="34" charset="0"/>
              </a:rPr>
              <a:t> &amp; </a:t>
            </a:r>
            <a:r>
              <a:rPr lang="en-US" altLang="en-US" i="1" smtClean="0">
                <a:cs typeface="Arial" panose="020B0604020202020204" pitchFamily="34" charset="0"/>
              </a:rPr>
              <a:t>P</a:t>
            </a:r>
            <a:r>
              <a:rPr lang="en-US" altLang="en-US" smtClean="0">
                <a:cs typeface="Arial" panose="020B0604020202020204" pitchFamily="34" charset="0"/>
              </a:rPr>
              <a:t> are characters drawn from a finite alphabet ∑. e.g., ∑ = {0,1} or ∑= {a,b,…,z}.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 smtClean="0">
                <a:cs typeface="Arial" panose="020B0604020202020204" pitchFamily="34" charset="0"/>
              </a:rPr>
              <a:t>P</a:t>
            </a:r>
            <a:r>
              <a:rPr lang="en-US" altLang="en-US" smtClean="0">
                <a:cs typeface="Arial" panose="020B0604020202020204" pitchFamily="34" charset="0"/>
              </a:rPr>
              <a:t> &amp; </a:t>
            </a:r>
            <a:r>
              <a:rPr lang="en-US" altLang="en-US" i="1" smtClean="0">
                <a:cs typeface="Arial" panose="020B0604020202020204" pitchFamily="34" charset="0"/>
              </a:rPr>
              <a:t>T</a:t>
            </a:r>
            <a:r>
              <a:rPr lang="en-US" altLang="en-US" smtClean="0">
                <a:cs typeface="Arial" panose="020B0604020202020204" pitchFamily="34" charset="0"/>
              </a:rPr>
              <a:t> are </a:t>
            </a:r>
            <a:r>
              <a:rPr lang="en-US" altLang="en-US" i="1" smtClean="0">
                <a:cs typeface="Arial" panose="020B0604020202020204" pitchFamily="34" charset="0"/>
              </a:rPr>
              <a:t>strings</a:t>
            </a:r>
            <a:r>
              <a:rPr lang="en-US" altLang="en-US" smtClean="0">
                <a:cs typeface="Arial" panose="020B0604020202020204" pitchFamily="34" charset="0"/>
              </a:rPr>
              <a:t> of characters.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Exact String Matching Problem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52600"/>
            <a:ext cx="91440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100" i="1" smtClean="0">
                <a:cs typeface="Arial" panose="020B0604020202020204" pitchFamily="34" charset="0"/>
              </a:rPr>
              <a:t>P</a:t>
            </a:r>
            <a:r>
              <a:rPr lang="en-US" altLang="en-US" sz="3100" smtClean="0">
                <a:cs typeface="Arial" panose="020B0604020202020204" pitchFamily="34" charset="0"/>
              </a:rPr>
              <a:t> occurs with shift </a:t>
            </a:r>
            <a:r>
              <a:rPr lang="en-US" altLang="en-US" sz="3100" i="1" smtClean="0">
                <a:cs typeface="Arial" panose="020B0604020202020204" pitchFamily="34" charset="0"/>
              </a:rPr>
              <a:t>s</a:t>
            </a:r>
            <a:r>
              <a:rPr lang="en-US" altLang="en-US" sz="3100" smtClean="0">
                <a:cs typeface="Arial" panose="020B0604020202020204" pitchFamily="34" charset="0"/>
              </a:rPr>
              <a:t> in </a:t>
            </a:r>
            <a:r>
              <a:rPr lang="en-US" altLang="en-US" sz="3100" i="1" smtClean="0">
                <a:cs typeface="Arial" panose="020B0604020202020204" pitchFamily="34" charset="0"/>
              </a:rPr>
              <a:t>T </a:t>
            </a:r>
            <a:r>
              <a:rPr lang="en-US" altLang="en-US" sz="3100" smtClean="0">
                <a:cs typeface="Arial" panose="020B0604020202020204" pitchFamily="34" charset="0"/>
              </a:rPr>
              <a:t>or </a:t>
            </a:r>
            <a:r>
              <a:rPr lang="en-US" altLang="en-US" sz="3100" i="1" smtClean="0">
                <a:cs typeface="Arial" panose="020B0604020202020204" pitchFamily="34" charset="0"/>
              </a:rPr>
              <a:t>P</a:t>
            </a:r>
            <a:r>
              <a:rPr lang="en-US" altLang="en-US" sz="3100" smtClean="0">
                <a:cs typeface="Arial" panose="020B0604020202020204" pitchFamily="34" charset="0"/>
              </a:rPr>
              <a:t> occurs beginning at position </a:t>
            </a:r>
            <a:r>
              <a:rPr lang="en-US" altLang="en-US" sz="3100" i="1" smtClean="0">
                <a:cs typeface="Arial" panose="020B0604020202020204" pitchFamily="34" charset="0"/>
              </a:rPr>
              <a:t>s+1</a:t>
            </a:r>
            <a:r>
              <a:rPr lang="en-US" altLang="en-US" sz="3100" smtClean="0">
                <a:cs typeface="Arial" panose="020B0604020202020204" pitchFamily="34" charset="0"/>
              </a:rPr>
              <a:t> in text </a:t>
            </a:r>
            <a:r>
              <a:rPr lang="en-US" altLang="en-US" sz="3100" i="1" smtClean="0">
                <a:cs typeface="Arial" panose="020B0604020202020204" pitchFamily="34" charset="0"/>
              </a:rPr>
              <a:t>T </a:t>
            </a:r>
            <a:r>
              <a:rPr lang="en-US" altLang="en-US" sz="3100" smtClean="0">
                <a:cs typeface="Arial" panose="020B0604020202020204" pitchFamily="34" charset="0"/>
              </a:rPr>
              <a:t>if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100" i="1" smtClean="0">
                <a:cs typeface="Arial" panose="020B0604020202020204" pitchFamily="34" charset="0"/>
              </a:rPr>
              <a:t>    0 ≤ s ≤ n-m </a:t>
            </a:r>
            <a:r>
              <a:rPr lang="en-US" altLang="en-US" sz="3100" smtClean="0">
                <a:cs typeface="Arial" panose="020B0604020202020204" pitchFamily="34" charset="0"/>
              </a:rPr>
              <a:t>and </a:t>
            </a:r>
            <a:r>
              <a:rPr lang="en-US" altLang="en-US" sz="3100" i="1" smtClean="0">
                <a:cs typeface="Arial" panose="020B0604020202020204" pitchFamily="34" charset="0"/>
              </a:rPr>
              <a:t>T</a:t>
            </a:r>
            <a:r>
              <a:rPr lang="en-US" altLang="en-US" sz="3100" smtClean="0">
                <a:cs typeface="Arial" panose="020B0604020202020204" pitchFamily="34" charset="0"/>
              </a:rPr>
              <a:t>[s+1..s+m] = </a:t>
            </a:r>
            <a:r>
              <a:rPr lang="en-US" altLang="en-US" sz="3100" i="1" smtClean="0">
                <a:cs typeface="Arial" panose="020B0604020202020204" pitchFamily="34" charset="0"/>
              </a:rPr>
              <a:t>P</a:t>
            </a:r>
            <a:r>
              <a:rPr lang="en-US" altLang="en-US" sz="3100" smtClean="0">
                <a:cs typeface="Arial" panose="020B0604020202020204" pitchFamily="34" charset="0"/>
              </a:rPr>
              <a:t>[1..m]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100" smtClean="0"/>
              <a:t>i.e., </a:t>
            </a:r>
            <a:r>
              <a:rPr lang="en-US" altLang="en-US" sz="3100" i="1" smtClean="0"/>
              <a:t>T</a:t>
            </a:r>
            <a:r>
              <a:rPr lang="en-US" altLang="en-US" sz="3100" smtClean="0"/>
              <a:t>[s+j] = </a:t>
            </a:r>
            <a:r>
              <a:rPr lang="en-US" altLang="en-US" sz="3100" i="1" smtClean="0"/>
              <a:t>P</a:t>
            </a:r>
            <a:r>
              <a:rPr lang="en-US" altLang="en-US" sz="3100" smtClean="0"/>
              <a:t>[j], for </a:t>
            </a:r>
            <a:r>
              <a:rPr lang="en-US" altLang="en-US" sz="3100" i="1" smtClean="0"/>
              <a:t>1 </a:t>
            </a:r>
            <a:r>
              <a:rPr lang="en-US" altLang="en-US" sz="3100" i="1" smtClean="0">
                <a:cs typeface="Arial" panose="020B0604020202020204" pitchFamily="34" charset="0"/>
              </a:rPr>
              <a:t>≤</a:t>
            </a:r>
            <a:r>
              <a:rPr lang="en-US" altLang="en-US" sz="3100" i="1" smtClean="0"/>
              <a:t> j </a:t>
            </a:r>
            <a:r>
              <a:rPr lang="en-US" altLang="en-US" sz="3100" i="1" smtClean="0">
                <a:cs typeface="Arial" panose="020B0604020202020204" pitchFamily="34" charset="0"/>
              </a:rPr>
              <a:t>≤</a:t>
            </a:r>
            <a:r>
              <a:rPr lang="en-US" altLang="en-US" sz="3100" i="1" smtClean="0"/>
              <a:t> m</a:t>
            </a:r>
          </a:p>
          <a:p>
            <a:pPr eaLnBrk="1" hangingPunct="1">
              <a:lnSpc>
                <a:spcPct val="90000"/>
              </a:lnSpc>
            </a:pPr>
            <a:endParaRPr lang="en-US" altLang="en-US" sz="31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100" smtClean="0"/>
              <a:t>If </a:t>
            </a:r>
            <a:r>
              <a:rPr lang="en-US" altLang="en-US" sz="3100" i="1" smtClean="0"/>
              <a:t>P occurs with shift s</a:t>
            </a:r>
            <a:r>
              <a:rPr lang="en-US" altLang="en-US" sz="3100" smtClean="0"/>
              <a:t>, </a:t>
            </a:r>
            <a:r>
              <a:rPr lang="en-US" altLang="en-US" sz="3100" i="1" smtClean="0"/>
              <a:t>s</a:t>
            </a:r>
            <a:r>
              <a:rPr lang="en-US" altLang="en-US" sz="3100" smtClean="0"/>
              <a:t> is a valid shift; otherwise we call </a:t>
            </a:r>
            <a:r>
              <a:rPr lang="en-US" altLang="en-US" sz="3100" i="1" smtClean="0"/>
              <a:t>s</a:t>
            </a:r>
            <a:r>
              <a:rPr lang="en-US" altLang="en-US" sz="3100" smtClean="0"/>
              <a:t> an invalid shift.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100" smtClean="0"/>
              <a:t>String matching problem: finding all valid shifts with which a given pattern </a:t>
            </a:r>
            <a:r>
              <a:rPr lang="en-US" altLang="en-US" sz="3100" i="1" smtClean="0"/>
              <a:t>P</a:t>
            </a:r>
            <a:r>
              <a:rPr lang="en-US" altLang="en-US" sz="3100" smtClean="0"/>
              <a:t> occurs in a given text </a:t>
            </a:r>
            <a:r>
              <a:rPr lang="en-US" altLang="en-US" sz="3100" i="1" smtClean="0"/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fig32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9144000" cy="297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33400" y="568325"/>
            <a:ext cx="800100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4400"/>
              <a:t>Exact String Matching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Approximate String Matching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2819400"/>
          </a:xfrm>
        </p:spPr>
        <p:txBody>
          <a:bodyPr/>
          <a:lstStyle/>
          <a:p>
            <a:pPr eaLnBrk="1" hangingPunct="1"/>
            <a:r>
              <a:rPr lang="en-US" altLang="en-US" smtClean="0"/>
              <a:t>Given a text to search (T) and a pattern to look for (P).</a:t>
            </a:r>
          </a:p>
          <a:p>
            <a:pPr eaLnBrk="1" hangingPunct="1"/>
            <a:r>
              <a:rPr lang="en-US" altLang="en-US" smtClean="0"/>
              <a:t>Find all of the occurrences of P that exist in T,  </a:t>
            </a:r>
            <a:r>
              <a:rPr lang="en-US" altLang="en-US" u="sng" smtClean="0"/>
              <a:t>allowing a defined number of errors to be present in the matches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743200" y="4114800"/>
            <a:ext cx="3733800" cy="2057400"/>
            <a:chOff x="1728" y="2784"/>
            <a:chExt cx="2352" cy="1296"/>
          </a:xfrm>
        </p:grpSpPr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1728" y="2784"/>
              <a:ext cx="2352" cy="129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2316" y="2808"/>
              <a:ext cx="129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4400" b="0">
                  <a:latin typeface="Times New Roman" panose="02020603050405020304" pitchFamily="18" charset="0"/>
                </a:rPr>
                <a:t>mispeld</a:t>
              </a:r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2124" y="3540"/>
              <a:ext cx="1632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4400" b="0">
                  <a:latin typeface="Times New Roman" panose="02020603050405020304" pitchFamily="18" charset="0"/>
                </a:rPr>
                <a:t>mis</a:t>
              </a:r>
              <a:r>
                <a:rPr lang="en-US" altLang="en-US" sz="4400" b="0" u="sng">
                  <a:latin typeface="Times New Roman" panose="02020603050405020304" pitchFamily="18" charset="0"/>
                </a:rPr>
                <a:t>s</a:t>
              </a:r>
              <a:r>
                <a:rPr lang="en-US" altLang="en-US" sz="4400" b="0">
                  <a:latin typeface="Times New Roman" panose="02020603050405020304" pitchFamily="18" charset="0"/>
                </a:rPr>
                <a:t>pel</a:t>
              </a:r>
              <a:r>
                <a:rPr lang="en-US" altLang="en-US" sz="4400" b="0" u="sng">
                  <a:latin typeface="Times New Roman" panose="02020603050405020304" pitchFamily="18" charset="0"/>
                </a:rPr>
                <a:t>le</a:t>
              </a:r>
              <a:r>
                <a:rPr lang="en-US" altLang="en-US" sz="4400" b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416" name="Line 8"/>
            <p:cNvSpPr>
              <a:spLocks noChangeShapeType="1"/>
            </p:cNvSpPr>
            <p:nvPr/>
          </p:nvSpPr>
          <p:spPr bwMode="auto">
            <a:xfrm flipH="1">
              <a:off x="2304" y="3217"/>
              <a:ext cx="144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17" name="Line 9"/>
            <p:cNvSpPr>
              <a:spLocks noChangeShapeType="1"/>
            </p:cNvSpPr>
            <p:nvPr/>
          </p:nvSpPr>
          <p:spPr bwMode="auto">
            <a:xfrm flipH="1">
              <a:off x="2496" y="3205"/>
              <a:ext cx="192" cy="4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18" name="Line 10"/>
            <p:cNvSpPr>
              <a:spLocks noChangeShapeType="1"/>
            </p:cNvSpPr>
            <p:nvPr/>
          </p:nvSpPr>
          <p:spPr bwMode="auto">
            <a:xfrm flipH="1">
              <a:off x="2640" y="3217"/>
              <a:ext cx="144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19" name="Line 11"/>
            <p:cNvSpPr>
              <a:spLocks noChangeShapeType="1"/>
            </p:cNvSpPr>
            <p:nvPr/>
          </p:nvSpPr>
          <p:spPr bwMode="auto">
            <a:xfrm flipH="1">
              <a:off x="2928" y="3217"/>
              <a:ext cx="48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20" name="Line 12"/>
            <p:cNvSpPr>
              <a:spLocks noChangeShapeType="1"/>
            </p:cNvSpPr>
            <p:nvPr/>
          </p:nvSpPr>
          <p:spPr bwMode="auto">
            <a:xfrm flipH="1">
              <a:off x="3072" y="3217"/>
              <a:ext cx="48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21" name="Line 13"/>
            <p:cNvSpPr>
              <a:spLocks noChangeShapeType="1"/>
            </p:cNvSpPr>
            <p:nvPr/>
          </p:nvSpPr>
          <p:spPr bwMode="auto">
            <a:xfrm flipH="1">
              <a:off x="3216" y="3205"/>
              <a:ext cx="48" cy="4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>
              <a:off x="3456" y="3217"/>
              <a:ext cx="96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Importance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05400"/>
          </a:xfrm>
        </p:spPr>
        <p:txBody>
          <a:bodyPr/>
          <a:lstStyle/>
          <a:p>
            <a:pPr eaLnBrk="1" hangingPunct="1"/>
            <a:r>
              <a:rPr lang="en-US" altLang="en-US" smtClean="0"/>
              <a:t>Not a problem for small input</a:t>
            </a:r>
          </a:p>
          <a:p>
            <a:pPr lvl="1" eaLnBrk="1" hangingPunct="1"/>
            <a:r>
              <a:rPr lang="en-US" altLang="en-US" sz="2600" smtClean="0"/>
              <a:t>Word Processors, utilities, in library catalog searching programs</a:t>
            </a:r>
          </a:p>
          <a:p>
            <a:pPr eaLnBrk="1" hangingPunct="1"/>
            <a:r>
              <a:rPr lang="en-US" altLang="en-US" smtClean="0"/>
              <a:t>Large Input</a:t>
            </a:r>
          </a:p>
          <a:p>
            <a:pPr lvl="1" eaLnBrk="1" hangingPunct="1"/>
            <a:r>
              <a:rPr lang="en-US" altLang="en-US" sz="2600" smtClean="0"/>
              <a:t>internet crawlers, digital libraries, e-journals.</a:t>
            </a:r>
          </a:p>
          <a:p>
            <a:pPr lvl="1" eaLnBrk="1" hangingPunct="1"/>
            <a:r>
              <a:rPr lang="en-US" altLang="en-US" sz="2600" smtClean="0"/>
              <a:t>Several hundred specialized databases holding raw DNA, RNA and amino acid strings (e.g., US GenBank)</a:t>
            </a:r>
          </a:p>
          <a:p>
            <a:pPr lvl="1" eaLnBrk="1" hangingPunct="1"/>
            <a:r>
              <a:rPr lang="en-US" altLang="en-US" sz="2600" smtClean="0"/>
              <a:t>When applied on DNA databases, search may take hours or days.</a:t>
            </a:r>
            <a:endParaRPr lang="en-US" altLang="en-US" sz="22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fig32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149475"/>
            <a:ext cx="9067800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533400" y="623888"/>
            <a:ext cx="792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/>
              <a:t>Running Time of String Matching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Notation &amp; terminology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i="1" smtClean="0">
                <a:cs typeface="Arial" panose="020B0604020202020204" pitchFamily="34" charset="0"/>
              </a:rPr>
              <a:t>∑*</a:t>
            </a:r>
            <a:r>
              <a:rPr lang="en-US" altLang="en-US" smtClean="0">
                <a:cs typeface="Arial" panose="020B0604020202020204" pitchFamily="34" charset="0"/>
              </a:rPr>
              <a:t> = set of all finite-length strings from alphabet </a:t>
            </a:r>
            <a:r>
              <a:rPr lang="en-US" altLang="en-US" i="1" smtClean="0">
                <a:cs typeface="Arial" panose="020B0604020202020204" pitchFamily="34" charset="0"/>
              </a:rPr>
              <a:t>∑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n-US" smtClean="0">
                <a:cs typeface="Times New Roman" panose="02020603050405020304" pitchFamily="18" charset="0"/>
              </a:rPr>
              <a:t>ε</a:t>
            </a:r>
            <a:r>
              <a:rPr lang="en-US" altLang="en-US" smtClean="0">
                <a:cs typeface="Times New Roman" panose="02020603050405020304" pitchFamily="18" charset="0"/>
              </a:rPr>
              <a:t> = </a:t>
            </a:r>
            <a:r>
              <a:rPr lang="en-US" altLang="en-US" i="1" smtClean="0">
                <a:cs typeface="Times New Roman" panose="02020603050405020304" pitchFamily="18" charset="0"/>
              </a:rPr>
              <a:t>empty string</a:t>
            </a:r>
            <a:r>
              <a:rPr lang="en-US" altLang="en-US" smtClean="0">
                <a:cs typeface="Times New Roman" panose="02020603050405020304" pitchFamily="18" charset="0"/>
              </a:rPr>
              <a:t> (zero length string)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cs typeface="Times New Roman" panose="02020603050405020304" pitchFamily="18" charset="0"/>
              </a:rPr>
              <a:t>|</a:t>
            </a:r>
            <a:r>
              <a:rPr lang="en-US" altLang="en-US" i="1" smtClean="0">
                <a:cs typeface="Times New Roman" panose="02020603050405020304" pitchFamily="18" charset="0"/>
              </a:rPr>
              <a:t>x</a:t>
            </a:r>
            <a:r>
              <a:rPr lang="en-US" altLang="en-US" smtClean="0">
                <a:cs typeface="Times New Roman" panose="02020603050405020304" pitchFamily="18" charset="0"/>
              </a:rPr>
              <a:t>| = length of string </a:t>
            </a:r>
            <a:r>
              <a:rPr lang="en-US" altLang="en-US" i="1" smtClean="0">
                <a:cs typeface="Times New Roman" panose="02020603050405020304" pitchFamily="18" charset="0"/>
              </a:rPr>
              <a:t>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 smtClean="0">
                <a:cs typeface="Times New Roman" panose="02020603050405020304" pitchFamily="18" charset="0"/>
              </a:rPr>
              <a:t>xy = </a:t>
            </a:r>
            <a:r>
              <a:rPr lang="en-US" altLang="en-US" smtClean="0">
                <a:cs typeface="Times New Roman" panose="02020603050405020304" pitchFamily="18" charset="0"/>
              </a:rPr>
              <a:t>concatenation of strings </a:t>
            </a:r>
            <a:r>
              <a:rPr lang="en-US" altLang="en-US" i="1" smtClean="0">
                <a:cs typeface="Times New Roman" panose="02020603050405020304" pitchFamily="18" charset="0"/>
              </a:rPr>
              <a:t>x </a:t>
            </a:r>
            <a:r>
              <a:rPr lang="en-US" altLang="en-US" smtClean="0">
                <a:cs typeface="Times New Roman" panose="02020603050405020304" pitchFamily="18" charset="0"/>
              </a:rPr>
              <a:t>and</a:t>
            </a:r>
            <a:r>
              <a:rPr lang="en-US" altLang="en-US" i="1" smtClean="0">
                <a:cs typeface="Times New Roman" panose="02020603050405020304" pitchFamily="18" charset="0"/>
              </a:rPr>
              <a:t> y</a:t>
            </a:r>
            <a:r>
              <a:rPr lang="en-US" altLang="en-US" smtClean="0">
                <a:cs typeface="Times New Roman" panose="02020603050405020304" pitchFamily="18" charset="0"/>
              </a:rPr>
              <a:t>, length is |</a:t>
            </a:r>
            <a:r>
              <a:rPr lang="en-US" altLang="en-US" i="1" smtClean="0">
                <a:cs typeface="Times New Roman" panose="02020603050405020304" pitchFamily="18" charset="0"/>
              </a:rPr>
              <a:t>x</a:t>
            </a:r>
            <a:r>
              <a:rPr lang="en-US" altLang="en-US" smtClean="0">
                <a:cs typeface="Times New Roman" panose="02020603050405020304" pitchFamily="18" charset="0"/>
              </a:rPr>
              <a:t>|+|</a:t>
            </a:r>
            <a:r>
              <a:rPr lang="en-US" altLang="en-US" i="1" smtClean="0">
                <a:cs typeface="Times New Roman" panose="02020603050405020304" pitchFamily="18" charset="0"/>
              </a:rPr>
              <a:t>y</a:t>
            </a:r>
            <a:r>
              <a:rPr lang="en-US" altLang="en-US" smtClean="0">
                <a:cs typeface="Times New Roman" panose="02020603050405020304" pitchFamily="18" charset="0"/>
              </a:rPr>
              <a:t>|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 smtClean="0">
                <a:cs typeface="Times New Roman" panose="02020603050405020304" pitchFamily="18" charset="0"/>
              </a:rPr>
              <a:t>w </a:t>
            </a:r>
            <a:r>
              <a:rPr lang="en-US" altLang="en-US" smtClean="0">
                <a:cs typeface="Times New Roman" panose="02020603050405020304" pitchFamily="18" charset="0"/>
              </a:rPr>
              <a:t>is a </a:t>
            </a:r>
            <a:r>
              <a:rPr lang="en-US" altLang="en-US" i="1" smtClean="0">
                <a:cs typeface="Times New Roman" panose="02020603050405020304" pitchFamily="18" charset="0"/>
              </a:rPr>
              <a:t>prefix</a:t>
            </a:r>
            <a:r>
              <a:rPr lang="en-US" altLang="en-US" smtClean="0">
                <a:cs typeface="Times New Roman" panose="02020603050405020304" pitchFamily="18" charset="0"/>
              </a:rPr>
              <a:t> of x, </a:t>
            </a:r>
            <a:r>
              <a:rPr lang="en-US" altLang="en-US" i="1" smtClean="0">
                <a:cs typeface="Times New Roman" panose="02020603050405020304" pitchFamily="18" charset="0"/>
              </a:rPr>
              <a:t>w</a:t>
            </a:r>
            <a:r>
              <a:rPr lang="en-US" altLang="en-US" smtClean="0">
                <a:cs typeface="Times New Roman" panose="02020603050405020304" pitchFamily="18" charset="0"/>
              </a:rPr>
              <a:t>╘ </a:t>
            </a:r>
            <a:r>
              <a:rPr lang="en-US" altLang="en-US" i="1" smtClean="0">
                <a:cs typeface="Times New Roman" panose="02020603050405020304" pitchFamily="18" charset="0"/>
              </a:rPr>
              <a:t>x</a:t>
            </a:r>
            <a:r>
              <a:rPr lang="en-US" altLang="en-US" smtClean="0">
                <a:cs typeface="Times New Roman" panose="02020603050405020304" pitchFamily="18" charset="0"/>
              </a:rPr>
              <a:t>, if </a:t>
            </a:r>
            <a:r>
              <a:rPr lang="en-US" altLang="en-US" i="1" smtClean="0">
                <a:cs typeface="Times New Roman" panose="02020603050405020304" pitchFamily="18" charset="0"/>
              </a:rPr>
              <a:t>x=wy</a:t>
            </a:r>
            <a:r>
              <a:rPr lang="en-US" altLang="en-US" smtClean="0">
                <a:cs typeface="Times New Roman" panose="02020603050405020304" pitchFamily="18" charset="0"/>
              </a:rPr>
              <a:t>, where </a:t>
            </a:r>
            <a:r>
              <a:rPr lang="en-US" altLang="en-US" i="1" smtClean="0">
                <a:cs typeface="Times New Roman" panose="02020603050405020304" pitchFamily="18" charset="0"/>
              </a:rPr>
              <a:t>y</a:t>
            </a:r>
            <a:r>
              <a:rPr lang="en-US" altLang="en-US" smtClean="0">
                <a:cs typeface="Times New Roman" panose="02020603050405020304" pitchFamily="18" charset="0"/>
              </a:rPr>
              <a:t> </a:t>
            </a:r>
            <a:r>
              <a:rPr lang="ru-RU" altLang="en-US" smtClean="0">
                <a:cs typeface="Times New Roman" panose="02020603050405020304" pitchFamily="18" charset="0"/>
              </a:rPr>
              <a:t>Є</a:t>
            </a:r>
            <a:r>
              <a:rPr lang="en-US" altLang="en-US" smtClean="0">
                <a:cs typeface="Times New Roman" panose="02020603050405020304" pitchFamily="18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∑*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 smtClean="0">
                <a:cs typeface="Arial" panose="020B0604020202020204" pitchFamily="34" charset="0"/>
              </a:rPr>
              <a:t>w</a:t>
            </a:r>
            <a:r>
              <a:rPr lang="en-US" altLang="en-US" smtClean="0">
                <a:cs typeface="Arial" panose="020B0604020202020204" pitchFamily="34" charset="0"/>
              </a:rPr>
              <a:t> is a </a:t>
            </a:r>
            <a:r>
              <a:rPr lang="en-US" altLang="en-US" i="1" smtClean="0">
                <a:cs typeface="Arial" panose="020B0604020202020204" pitchFamily="34" charset="0"/>
              </a:rPr>
              <a:t>suffix</a:t>
            </a:r>
            <a:r>
              <a:rPr lang="en-US" altLang="en-US" smtClean="0">
                <a:cs typeface="Arial" panose="020B0604020202020204" pitchFamily="34" charset="0"/>
              </a:rPr>
              <a:t> of </a:t>
            </a:r>
            <a:r>
              <a:rPr lang="en-US" altLang="en-US" i="1" smtClean="0">
                <a:cs typeface="Arial" panose="020B0604020202020204" pitchFamily="34" charset="0"/>
              </a:rPr>
              <a:t>x</a:t>
            </a:r>
            <a:r>
              <a:rPr lang="en-US" altLang="en-US" smtClean="0">
                <a:cs typeface="Arial" panose="020B0604020202020204" pitchFamily="34" charset="0"/>
              </a:rPr>
              <a:t>, </a:t>
            </a:r>
            <a:r>
              <a:rPr lang="en-US" altLang="en-US" i="1" smtClean="0">
                <a:cs typeface="Arial" panose="020B0604020202020204" pitchFamily="34" charset="0"/>
              </a:rPr>
              <a:t>w</a:t>
            </a:r>
            <a:r>
              <a:rPr lang="en-US" altLang="en-US" smtClean="0">
                <a:cs typeface="Arial" panose="020B0604020202020204" pitchFamily="34" charset="0"/>
              </a:rPr>
              <a:t> ╛</a:t>
            </a:r>
            <a:r>
              <a:rPr lang="en-US" altLang="en-US" i="1" smtClean="0">
                <a:cs typeface="Arial" panose="020B0604020202020204" pitchFamily="34" charset="0"/>
              </a:rPr>
              <a:t>x</a:t>
            </a:r>
            <a:r>
              <a:rPr lang="en-US" altLang="en-US" smtClean="0">
                <a:cs typeface="Arial" panose="020B0604020202020204" pitchFamily="34" charset="0"/>
              </a:rPr>
              <a:t>, if </a:t>
            </a:r>
            <a:r>
              <a:rPr lang="en-US" altLang="en-US" i="1" smtClean="0">
                <a:cs typeface="Arial" panose="020B0604020202020204" pitchFamily="34" charset="0"/>
              </a:rPr>
              <a:t>x=yw</a:t>
            </a:r>
            <a:r>
              <a:rPr lang="en-US" altLang="en-US" smtClean="0">
                <a:cs typeface="Arial" panose="020B0604020202020204" pitchFamily="34" charset="0"/>
              </a:rPr>
              <a:t>, where </a:t>
            </a:r>
            <a:r>
              <a:rPr lang="en-US" altLang="en-US" i="1" smtClean="0">
                <a:cs typeface="Arial" panose="020B0604020202020204" pitchFamily="34" charset="0"/>
              </a:rPr>
              <a:t>y</a:t>
            </a:r>
            <a:r>
              <a:rPr lang="en-US" altLang="en-US" smtClean="0">
                <a:cs typeface="Arial" panose="020B0604020202020204" pitchFamily="34" charset="0"/>
              </a:rPr>
              <a:t> </a:t>
            </a:r>
            <a:r>
              <a:rPr lang="ru-RU" altLang="en-US" smtClean="0">
                <a:cs typeface="Times New Roman" panose="02020603050405020304" pitchFamily="18" charset="0"/>
              </a:rPr>
              <a:t>Є</a:t>
            </a:r>
            <a:r>
              <a:rPr lang="en-US" altLang="en-US" smtClean="0">
                <a:cs typeface="Times New Roman" panose="02020603050405020304" pitchFamily="18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∑*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Notation &amp; terminology (cont’d)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029200"/>
          </a:xfrm>
        </p:spPr>
        <p:txBody>
          <a:bodyPr/>
          <a:lstStyle/>
          <a:p>
            <a:pPr eaLnBrk="1" hangingPunct="1"/>
            <a:r>
              <a:rPr lang="el-GR" altLang="en-US" smtClean="0">
                <a:cs typeface="Times New Roman" panose="02020603050405020304" pitchFamily="18" charset="0"/>
              </a:rPr>
              <a:t>ε</a:t>
            </a:r>
            <a:r>
              <a:rPr lang="en-US" altLang="en-US" smtClean="0">
                <a:cs typeface="Times New Roman" panose="02020603050405020304" pitchFamily="18" charset="0"/>
              </a:rPr>
              <a:t> is both a suffix and a prefix of every string</a:t>
            </a:r>
          </a:p>
          <a:p>
            <a:pPr lvl="1" eaLnBrk="1" hangingPunct="1"/>
            <a:r>
              <a:rPr lang="en-US" altLang="en-US" i="1" smtClean="0">
                <a:solidFill>
                  <a:srgbClr val="CC0000"/>
                </a:solidFill>
                <a:cs typeface="Times New Roman" panose="02020603050405020304" pitchFamily="18" charset="0"/>
              </a:rPr>
              <a:t>ab</a:t>
            </a:r>
            <a:r>
              <a:rPr lang="en-US" altLang="en-US" smtClean="0">
                <a:cs typeface="Times New Roman" panose="02020603050405020304" pitchFamily="18" charset="0"/>
              </a:rPr>
              <a:t> ╘ </a:t>
            </a:r>
            <a:r>
              <a:rPr lang="en-US" altLang="en-US" i="1" smtClean="0">
                <a:solidFill>
                  <a:srgbClr val="CC0000"/>
                </a:solidFill>
                <a:cs typeface="Times New Roman" panose="02020603050405020304" pitchFamily="18" charset="0"/>
              </a:rPr>
              <a:t>ab</a:t>
            </a:r>
            <a:r>
              <a:rPr lang="en-US" altLang="en-US" i="1" smtClean="0">
                <a:cs typeface="Times New Roman" panose="02020603050405020304" pitchFamily="18" charset="0"/>
              </a:rPr>
              <a:t>cca</a:t>
            </a:r>
          </a:p>
          <a:p>
            <a:pPr lvl="1" eaLnBrk="1" hangingPunct="1"/>
            <a:r>
              <a:rPr lang="en-US" altLang="en-US" i="1" smtClean="0">
                <a:solidFill>
                  <a:srgbClr val="FF3300"/>
                </a:solidFill>
                <a:cs typeface="Times New Roman" panose="02020603050405020304" pitchFamily="18" charset="0"/>
              </a:rPr>
              <a:t>cca</a:t>
            </a:r>
            <a:r>
              <a:rPr lang="en-US" altLang="en-US" smtClean="0">
                <a:cs typeface="Times New Roman" panose="02020603050405020304" pitchFamily="18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╛</a:t>
            </a:r>
            <a:r>
              <a:rPr lang="en-US" altLang="en-US" i="1" smtClean="0">
                <a:cs typeface="Times New Roman" panose="02020603050405020304" pitchFamily="18" charset="0"/>
              </a:rPr>
              <a:t>ab</a:t>
            </a:r>
            <a:r>
              <a:rPr lang="en-US" altLang="en-US" i="1" smtClean="0">
                <a:solidFill>
                  <a:srgbClr val="FF3300"/>
                </a:solidFill>
                <a:cs typeface="Times New Roman" panose="02020603050405020304" pitchFamily="18" charset="0"/>
              </a:rPr>
              <a:t>cca</a:t>
            </a:r>
          </a:p>
          <a:p>
            <a:pPr eaLnBrk="1" hangingPunct="1"/>
            <a:r>
              <a:rPr lang="en-US" altLang="en-US" smtClean="0">
                <a:cs typeface="Times New Roman" panose="02020603050405020304" pitchFamily="18" charset="0"/>
              </a:rPr>
              <a:t>We denote k-character prefix P[1..k] of the pattern </a:t>
            </a:r>
            <a:r>
              <a:rPr lang="en-US" altLang="en-US" i="1" smtClean="0">
                <a:cs typeface="Times New Roman" panose="02020603050405020304" pitchFamily="18" charset="0"/>
              </a:rPr>
              <a:t>P</a:t>
            </a:r>
            <a:r>
              <a:rPr lang="en-US" altLang="en-US" smtClean="0">
                <a:cs typeface="Times New Roman" panose="02020603050405020304" pitchFamily="18" charset="0"/>
              </a:rPr>
              <a:t>[1..m] by </a:t>
            </a:r>
            <a:r>
              <a:rPr lang="en-US" altLang="en-US" i="1" smtClean="0">
                <a:cs typeface="Times New Roman" panose="02020603050405020304" pitchFamily="18" charset="0"/>
              </a:rPr>
              <a:t>P</a:t>
            </a:r>
            <a:r>
              <a:rPr lang="en-US" altLang="en-US" sz="3600" i="1" baseline="-25000" smtClean="0">
                <a:cs typeface="Times New Roman" panose="02020603050405020304" pitchFamily="18" charset="0"/>
              </a:rPr>
              <a:t>k</a:t>
            </a:r>
            <a:r>
              <a:rPr lang="en-US" altLang="en-US" sz="3600" smtClean="0"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en-US" smtClean="0">
                <a:cs typeface="Times New Roman" panose="02020603050405020304" pitchFamily="18" charset="0"/>
              </a:rPr>
              <a:t>So </a:t>
            </a:r>
            <a:r>
              <a:rPr lang="en-US" altLang="en-US" i="1" smtClean="0">
                <a:cs typeface="Times New Roman" panose="02020603050405020304" pitchFamily="18" charset="0"/>
              </a:rPr>
              <a:t>P</a:t>
            </a:r>
            <a:r>
              <a:rPr lang="en-US" altLang="en-US" i="1" baseline="-25000" smtClean="0">
                <a:cs typeface="Times New Roman" panose="02020603050405020304" pitchFamily="18" charset="0"/>
              </a:rPr>
              <a:t>o</a:t>
            </a:r>
            <a:r>
              <a:rPr lang="en-US" altLang="en-US" smtClean="0">
                <a:cs typeface="Times New Roman" panose="02020603050405020304" pitchFamily="18" charset="0"/>
              </a:rPr>
              <a:t> = </a:t>
            </a:r>
            <a:r>
              <a:rPr lang="el-GR" altLang="en-US" smtClean="0">
                <a:cs typeface="Times New Roman" panose="02020603050405020304" pitchFamily="18" charset="0"/>
              </a:rPr>
              <a:t>ε</a:t>
            </a:r>
            <a:r>
              <a:rPr lang="en-US" altLang="en-US" smtClean="0">
                <a:cs typeface="Times New Roman" panose="02020603050405020304" pitchFamily="18" charset="0"/>
              </a:rPr>
              <a:t> and </a:t>
            </a:r>
            <a:r>
              <a:rPr lang="en-US" altLang="en-US" i="1" smtClean="0">
                <a:cs typeface="Times New Roman" panose="02020603050405020304" pitchFamily="18" charset="0"/>
              </a:rPr>
              <a:t>P</a:t>
            </a:r>
            <a:r>
              <a:rPr lang="en-US" altLang="en-US" i="1" baseline="-25000" smtClean="0">
                <a:cs typeface="Times New Roman" panose="02020603050405020304" pitchFamily="18" charset="0"/>
              </a:rPr>
              <a:t>m</a:t>
            </a:r>
            <a:r>
              <a:rPr lang="en-US" altLang="en-US" i="1" smtClean="0">
                <a:cs typeface="Times New Roman" panose="02020603050405020304" pitchFamily="18" charset="0"/>
              </a:rPr>
              <a:t> = P = P</a:t>
            </a:r>
            <a:r>
              <a:rPr lang="en-US" altLang="en-US" smtClean="0">
                <a:cs typeface="Times New Roman" panose="02020603050405020304" pitchFamily="18" charset="0"/>
              </a:rPr>
              <a:t>[1..m]</a:t>
            </a:r>
          </a:p>
          <a:p>
            <a:pPr eaLnBrk="1" hangingPunct="1"/>
            <a:r>
              <a:rPr lang="en-US" altLang="en-US" smtClean="0">
                <a:cs typeface="Times New Roman" panose="02020603050405020304" pitchFamily="18" charset="0"/>
              </a:rPr>
              <a:t>Similarly, k-character prefix of text </a:t>
            </a:r>
            <a:r>
              <a:rPr lang="en-US" altLang="en-US" i="1" smtClean="0">
                <a:cs typeface="Times New Roman" panose="02020603050405020304" pitchFamily="18" charset="0"/>
              </a:rPr>
              <a:t>T</a:t>
            </a:r>
            <a:r>
              <a:rPr lang="en-US" altLang="en-US" smtClean="0">
                <a:cs typeface="Times New Roman" panose="02020603050405020304" pitchFamily="18" charset="0"/>
              </a:rPr>
              <a:t> as </a:t>
            </a:r>
            <a:r>
              <a:rPr lang="en-US" altLang="en-US" i="1" smtClean="0">
                <a:cs typeface="Times New Roman" panose="02020603050405020304" pitchFamily="18" charset="0"/>
              </a:rPr>
              <a:t>T</a:t>
            </a:r>
            <a:r>
              <a:rPr lang="en-US" altLang="en-US" i="1" baseline="-25000" smtClean="0">
                <a:cs typeface="Times New Roman" panose="02020603050405020304" pitchFamily="18" charset="0"/>
              </a:rPr>
              <a:t>k</a:t>
            </a:r>
          </a:p>
          <a:p>
            <a:pPr eaLnBrk="1" hangingPunct="1"/>
            <a:r>
              <a:rPr lang="en-US" altLang="en-US" smtClean="0">
                <a:cs typeface="Times New Roman" panose="02020603050405020304" pitchFamily="18" charset="0"/>
              </a:rPr>
              <a:t>String matching prob.: find all shifts in the range </a:t>
            </a:r>
          </a:p>
          <a:p>
            <a:pPr eaLnBrk="1" hangingPunct="1">
              <a:buFontTx/>
              <a:buNone/>
            </a:pPr>
            <a:r>
              <a:rPr lang="en-US" altLang="en-US" i="1" smtClean="0">
                <a:cs typeface="Times New Roman" panose="02020603050405020304" pitchFamily="18" charset="0"/>
              </a:rPr>
              <a:t>	0 ≤ s ≤ n-m</a:t>
            </a:r>
            <a:r>
              <a:rPr lang="en-US" altLang="en-US" smtClean="0">
                <a:cs typeface="Times New Roman" panose="02020603050405020304" pitchFamily="18" charset="0"/>
              </a:rPr>
              <a:t> such that </a:t>
            </a:r>
            <a:r>
              <a:rPr lang="en-US" altLang="en-US" i="1" smtClean="0">
                <a:cs typeface="Times New Roman" panose="02020603050405020304" pitchFamily="18" charset="0"/>
              </a:rPr>
              <a:t>P</a:t>
            </a:r>
            <a:r>
              <a:rPr lang="en-US" altLang="en-US" smtClean="0">
                <a:cs typeface="Times New Roman" panose="02020603050405020304" pitchFamily="18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╛</a:t>
            </a:r>
            <a:r>
              <a:rPr lang="en-US" altLang="en-US" i="1" smtClean="0">
                <a:cs typeface="Times New Roman" panose="02020603050405020304" pitchFamily="18" charset="0"/>
              </a:rPr>
              <a:t>T</a:t>
            </a:r>
            <a:r>
              <a:rPr lang="en-US" altLang="en-US" i="1" baseline="-25000" smtClean="0">
                <a:cs typeface="Times New Roman" panose="02020603050405020304" pitchFamily="18" charset="0"/>
              </a:rPr>
              <a:t>s+m</a:t>
            </a:r>
            <a:endParaRPr lang="en-US" altLang="en-US" i="1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Overlapping Suffices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x, y and z are strings and x </a:t>
            </a:r>
            <a:r>
              <a:rPr lang="en-US" altLang="en-US" smtClean="0">
                <a:cs typeface="Arial" panose="020B0604020202020204" pitchFamily="34" charset="0"/>
              </a:rPr>
              <a:t>╛</a:t>
            </a:r>
            <a:r>
              <a:rPr lang="en-US" altLang="en-US" smtClean="0">
                <a:cs typeface="Times New Roman" panose="02020603050405020304" pitchFamily="18" charset="0"/>
              </a:rPr>
              <a:t> z and y </a:t>
            </a:r>
            <a:r>
              <a:rPr lang="en-US" altLang="en-US" smtClean="0">
                <a:cs typeface="Arial" panose="020B0604020202020204" pitchFamily="34" charset="0"/>
              </a:rPr>
              <a:t>╛</a:t>
            </a:r>
            <a:r>
              <a:rPr lang="en-US" altLang="en-US" smtClean="0">
                <a:cs typeface="Times New Roman" panose="02020603050405020304" pitchFamily="18" charset="0"/>
              </a:rPr>
              <a:t> z if: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 |</a:t>
            </a:r>
            <a:r>
              <a:rPr lang="en-US" altLang="en-US" i="1" smtClean="0">
                <a:cs typeface="Times New Roman" panose="02020603050405020304" pitchFamily="18" charset="0"/>
              </a:rPr>
              <a:t>x</a:t>
            </a:r>
            <a:r>
              <a:rPr lang="en-US" altLang="en-US" smtClean="0">
                <a:cs typeface="Times New Roman" panose="02020603050405020304" pitchFamily="18" charset="0"/>
              </a:rPr>
              <a:t>|&lt;=|</a:t>
            </a:r>
            <a:r>
              <a:rPr lang="en-US" altLang="en-US" i="1" smtClean="0">
                <a:cs typeface="Times New Roman" panose="02020603050405020304" pitchFamily="18" charset="0"/>
              </a:rPr>
              <a:t>y</a:t>
            </a:r>
            <a:r>
              <a:rPr lang="en-US" altLang="en-US" smtClean="0">
                <a:cs typeface="Times New Roman" panose="02020603050405020304" pitchFamily="18" charset="0"/>
              </a:rPr>
              <a:t>| then x </a:t>
            </a:r>
            <a:r>
              <a:rPr lang="en-US" altLang="en-US" smtClean="0">
                <a:cs typeface="Arial" panose="020B0604020202020204" pitchFamily="34" charset="0"/>
              </a:rPr>
              <a:t>╛</a:t>
            </a:r>
            <a:r>
              <a:rPr lang="en-US" altLang="en-US" smtClean="0">
                <a:cs typeface="Times New Roman" panose="02020603050405020304" pitchFamily="18" charset="0"/>
              </a:rPr>
              <a:t> y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|</a:t>
            </a:r>
            <a:r>
              <a:rPr lang="en-US" altLang="en-US" i="1" smtClean="0">
                <a:cs typeface="Times New Roman" panose="02020603050405020304" pitchFamily="18" charset="0"/>
              </a:rPr>
              <a:t>x</a:t>
            </a:r>
            <a:r>
              <a:rPr lang="en-US" altLang="en-US" smtClean="0">
                <a:cs typeface="Times New Roman" panose="02020603050405020304" pitchFamily="18" charset="0"/>
              </a:rPr>
              <a:t>|&gt;=|</a:t>
            </a:r>
            <a:r>
              <a:rPr lang="en-US" altLang="en-US" i="1" smtClean="0">
                <a:cs typeface="Times New Roman" panose="02020603050405020304" pitchFamily="18" charset="0"/>
              </a:rPr>
              <a:t>y</a:t>
            </a:r>
            <a:r>
              <a:rPr lang="en-US" altLang="en-US" smtClean="0">
                <a:cs typeface="Times New Roman" panose="02020603050405020304" pitchFamily="18" charset="0"/>
              </a:rPr>
              <a:t>| then y </a:t>
            </a:r>
            <a:r>
              <a:rPr lang="en-US" altLang="en-US" smtClean="0">
                <a:cs typeface="Arial" panose="020B0604020202020204" pitchFamily="34" charset="0"/>
              </a:rPr>
              <a:t>╛</a:t>
            </a:r>
            <a:r>
              <a:rPr lang="en-US" altLang="en-US" smtClean="0">
                <a:cs typeface="Times New Roman" panose="02020603050405020304" pitchFamily="18" charset="0"/>
              </a:rPr>
              <a:t> x</a:t>
            </a:r>
          </a:p>
          <a:p>
            <a:pPr lvl="1" eaLnBrk="1" hangingPunct="1"/>
            <a:r>
              <a:rPr lang="en-US" altLang="en-US" smtClean="0">
                <a:cs typeface="Times New Roman" panose="02020603050405020304" pitchFamily="18" charset="0"/>
              </a:rPr>
              <a:t>|</a:t>
            </a:r>
            <a:r>
              <a:rPr lang="en-US" altLang="en-US" i="1" smtClean="0">
                <a:cs typeface="Times New Roman" panose="02020603050405020304" pitchFamily="18" charset="0"/>
              </a:rPr>
              <a:t>x</a:t>
            </a:r>
            <a:r>
              <a:rPr lang="en-US" altLang="en-US" smtClean="0">
                <a:cs typeface="Times New Roman" panose="02020603050405020304" pitchFamily="18" charset="0"/>
              </a:rPr>
              <a:t>|=|</a:t>
            </a:r>
            <a:r>
              <a:rPr lang="en-US" altLang="en-US" i="1" smtClean="0">
                <a:cs typeface="Times New Roman" panose="02020603050405020304" pitchFamily="18" charset="0"/>
              </a:rPr>
              <a:t>y</a:t>
            </a:r>
            <a:r>
              <a:rPr lang="en-US" altLang="en-US" smtClean="0">
                <a:cs typeface="Times New Roman" panose="02020603050405020304" pitchFamily="18" charset="0"/>
              </a:rPr>
              <a:t>| then   x = 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mtClean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Naïve string matching Algo.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Finds all valid shifts using a loop that tests </a:t>
            </a:r>
            <a:r>
              <a:rPr lang="en-US" altLang="en-US" i="1" smtClean="0"/>
              <a:t>P</a:t>
            </a:r>
            <a:r>
              <a:rPr lang="en-US" altLang="en-US" smtClean="0"/>
              <a:t>[1..m] = </a:t>
            </a:r>
            <a:r>
              <a:rPr lang="en-US" altLang="en-US" i="1" smtClean="0"/>
              <a:t>T</a:t>
            </a:r>
            <a:r>
              <a:rPr lang="en-US" altLang="en-US" smtClean="0"/>
              <a:t>[s+1..s+m] for each of </a:t>
            </a:r>
            <a:r>
              <a:rPr lang="en-US" altLang="en-US" i="1" smtClean="0"/>
              <a:t>n-m+1</a:t>
            </a:r>
            <a:r>
              <a:rPr lang="en-US" altLang="en-US" smtClean="0"/>
              <a:t> values of </a:t>
            </a:r>
            <a:r>
              <a:rPr lang="en-US" altLang="en-US" i="1" smtClean="0"/>
              <a:t>s</a:t>
            </a:r>
          </a:p>
          <a:p>
            <a:pPr eaLnBrk="1" hangingPunct="1"/>
            <a:r>
              <a:rPr lang="en-US" altLang="en-US" smtClean="0"/>
              <a:t>Takes </a:t>
            </a:r>
            <a:r>
              <a:rPr lang="en-US" altLang="en-US" smtClean="0">
                <a:cs typeface="Arial" panose="020B0604020202020204" pitchFamily="34" charset="0"/>
              </a:rPr>
              <a:t>O((n-m+1)m) time.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If m=n/2, it becomes O(n</a:t>
            </a:r>
            <a:r>
              <a:rPr lang="en-US" altLang="en-US" baseline="30000" smtClean="0">
                <a:cs typeface="Arial" panose="020B0604020202020204" pitchFamily="34" charset="0"/>
              </a:rPr>
              <a:t>2</a:t>
            </a:r>
            <a:r>
              <a:rPr lang="en-US" altLang="en-US" smtClean="0">
                <a:cs typeface="Arial" panose="020B0604020202020204" pitchFamily="34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naive_string_match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5163"/>
            <a:ext cx="91440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685800" y="381000"/>
            <a:ext cx="7162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3200" b="0">
                <a:solidFill>
                  <a:schemeClr val="tx2"/>
                </a:solidFill>
              </a:rPr>
              <a:t>Naïve string matching Algo. (pseudocode)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609600" y="609600"/>
            <a:ext cx="784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3200" b="0">
                <a:solidFill>
                  <a:schemeClr val="tx2"/>
                </a:solidFill>
              </a:rPr>
              <a:t>Naïve string matching Algo. (Cont’d)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63688"/>
            <a:ext cx="8534400" cy="323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Why is naïve algo. inefficient?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It tests for each of the </a:t>
            </a:r>
            <a:r>
              <a:rPr lang="en-US" altLang="en-US" i="1" smtClean="0"/>
              <a:t>n-m+1</a:t>
            </a:r>
            <a:r>
              <a:rPr lang="en-US" altLang="en-US" smtClean="0"/>
              <a:t> possible values of </a:t>
            </a:r>
            <a:r>
              <a:rPr lang="en-US" altLang="en-US" i="1" smtClean="0"/>
              <a:t>s</a:t>
            </a:r>
          </a:p>
          <a:p>
            <a:pPr eaLnBrk="1" hangingPunct="1"/>
            <a:r>
              <a:rPr lang="en-US" altLang="en-US" smtClean="0"/>
              <a:t>The info. gained about text for one value of </a:t>
            </a:r>
            <a:r>
              <a:rPr lang="en-US" altLang="en-US" i="1" smtClean="0"/>
              <a:t>s</a:t>
            </a:r>
            <a:r>
              <a:rPr lang="en-US" altLang="en-US" smtClean="0"/>
              <a:t> is ignored in considering other values of </a:t>
            </a:r>
            <a:r>
              <a:rPr lang="en-US" altLang="en-US" i="1" smtClean="0"/>
              <a:t>s</a:t>
            </a:r>
          </a:p>
          <a:p>
            <a:pPr eaLnBrk="1" hangingPunct="1"/>
            <a:r>
              <a:rPr lang="en-US" altLang="en-US" smtClean="0"/>
              <a:t>e.g., if </a:t>
            </a:r>
            <a:r>
              <a:rPr lang="en-US" altLang="en-US" i="1" smtClean="0"/>
              <a:t>P=aaab</a:t>
            </a:r>
            <a:r>
              <a:rPr lang="en-US" altLang="en-US" smtClean="0"/>
              <a:t> and we find that </a:t>
            </a:r>
            <a:r>
              <a:rPr lang="en-US" altLang="en-US" i="1" smtClean="0"/>
              <a:t>s=0</a:t>
            </a:r>
            <a:r>
              <a:rPr lang="en-US" altLang="en-US" smtClean="0"/>
              <a:t> is valid, then </a:t>
            </a:r>
            <a:r>
              <a:rPr lang="en-US" altLang="en-US" i="1" smtClean="0"/>
              <a:t>s=1,2 or 3</a:t>
            </a:r>
            <a:r>
              <a:rPr lang="en-US" altLang="en-US" smtClean="0"/>
              <a:t> are invalid, since </a:t>
            </a:r>
            <a:r>
              <a:rPr lang="en-US" altLang="en-US" i="1" smtClean="0"/>
              <a:t>T</a:t>
            </a:r>
            <a:r>
              <a:rPr lang="en-US" altLang="en-US" smtClean="0"/>
              <a:t>[4]=</a:t>
            </a:r>
            <a:r>
              <a:rPr lang="en-US" altLang="en-US" i="1" smtClean="0"/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Rabin-Karp Algorithm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029200"/>
          </a:xfrm>
        </p:spPr>
        <p:txBody>
          <a:bodyPr/>
          <a:lstStyle/>
          <a:p>
            <a:pPr eaLnBrk="1" hangingPunct="1"/>
            <a:r>
              <a:rPr lang="en-US" altLang="en-US" smtClean="0"/>
              <a:t>Performs well in practice</a:t>
            </a:r>
          </a:p>
          <a:p>
            <a:pPr eaLnBrk="1" hangingPunct="1"/>
            <a:r>
              <a:rPr lang="en-US" altLang="en-US" smtClean="0"/>
              <a:t>generalizes to other algorithms for related problems such as 2D pattern matching</a:t>
            </a:r>
          </a:p>
          <a:p>
            <a:pPr eaLnBrk="1" hangingPunct="1"/>
            <a:r>
              <a:rPr lang="en-US" altLang="en-US" smtClean="0"/>
              <a:t>Two steps:</a:t>
            </a:r>
          </a:p>
          <a:p>
            <a:pPr lvl="1" eaLnBrk="1" hangingPunct="1"/>
            <a:r>
              <a:rPr lang="en-US" altLang="en-US" sz="2500" smtClean="0">
                <a:solidFill>
                  <a:schemeClr val="bg2"/>
                </a:solidFill>
              </a:rPr>
              <a:t>Preprocessing</a:t>
            </a:r>
            <a:r>
              <a:rPr lang="en-US" altLang="en-US" smtClean="0"/>
              <a:t>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(m)</a:t>
            </a:r>
            <a:endParaRPr lang="el-GR" altLang="en-US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sz="2500" smtClean="0">
                <a:solidFill>
                  <a:schemeClr val="bg2"/>
                </a:solidFill>
              </a:rPr>
              <a:t>Matching</a:t>
            </a:r>
            <a:r>
              <a:rPr lang="en-US" altLang="en-US" smtClean="0"/>
              <a:t>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((n-m+1)m)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Based on certain assumptions, average case running time is better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Makes use of number theoretic notions, equivalence of two numbers modulo a third number</a:t>
            </a:r>
            <a:endParaRPr lang="el-GR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4925"/>
            <a:ext cx="8305800" cy="1412875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The Rabin-Karp Algorithm (Cont’d)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3340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000" smtClean="0"/>
              <a:t>Assume that </a:t>
            </a:r>
            <a:r>
              <a:rPr lang="en-US" altLang="en-US" sz="3000" smtClean="0">
                <a:cs typeface="Arial" panose="020B0604020202020204" pitchFamily="34" charset="0"/>
              </a:rPr>
              <a:t>∑ = {0,1,2,…,9}, each character is a decimal digit.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smtClean="0">
                <a:cs typeface="Arial" panose="020B0604020202020204" pitchFamily="34" charset="0"/>
              </a:rPr>
              <a:t>In general, each char. is a digit in radix-</a:t>
            </a:r>
            <a:r>
              <a:rPr lang="en-US" altLang="en-US" sz="3000" i="1" smtClean="0">
                <a:cs typeface="Arial" panose="020B0604020202020204" pitchFamily="34" charset="0"/>
              </a:rPr>
              <a:t>d</a:t>
            </a:r>
            <a:r>
              <a:rPr lang="en-US" altLang="en-US" sz="3000" smtClean="0">
                <a:cs typeface="Arial" panose="020B0604020202020204" pitchFamily="34" charset="0"/>
              </a:rPr>
              <a:t> notation, where </a:t>
            </a:r>
            <a:r>
              <a:rPr lang="en-US" altLang="en-US" sz="3000" i="1" smtClean="0">
                <a:cs typeface="Arial" panose="020B0604020202020204" pitchFamily="34" charset="0"/>
              </a:rPr>
              <a:t>d</a:t>
            </a:r>
            <a:r>
              <a:rPr lang="en-US" altLang="en-US" sz="3000" smtClean="0">
                <a:cs typeface="Arial" panose="020B0604020202020204" pitchFamily="34" charset="0"/>
              </a:rPr>
              <a:t>=|∑|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smtClean="0">
                <a:cs typeface="Arial" panose="020B0604020202020204" pitchFamily="34" charset="0"/>
              </a:rPr>
              <a:t>A string of </a:t>
            </a:r>
            <a:r>
              <a:rPr lang="en-US" altLang="en-US" sz="3000" i="1" smtClean="0">
                <a:cs typeface="Arial" panose="020B0604020202020204" pitchFamily="34" charset="0"/>
              </a:rPr>
              <a:t>k</a:t>
            </a:r>
            <a:r>
              <a:rPr lang="en-US" altLang="en-US" sz="3000" smtClean="0">
                <a:cs typeface="Arial" panose="020B0604020202020204" pitchFamily="34" charset="0"/>
              </a:rPr>
              <a:t> digits = a length-</a:t>
            </a:r>
            <a:r>
              <a:rPr lang="en-US" altLang="en-US" sz="3000" i="1" smtClean="0">
                <a:cs typeface="Arial" panose="020B0604020202020204" pitchFamily="34" charset="0"/>
              </a:rPr>
              <a:t>k </a:t>
            </a:r>
            <a:r>
              <a:rPr lang="en-US" altLang="en-US" sz="3000" smtClean="0">
                <a:cs typeface="Arial" panose="020B0604020202020204" pitchFamily="34" charset="0"/>
              </a:rPr>
              <a:t>decimal number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smtClean="0">
                <a:cs typeface="Arial" panose="020B0604020202020204" pitchFamily="34" charset="0"/>
              </a:rPr>
              <a:t>Given pattern </a:t>
            </a:r>
            <a:r>
              <a:rPr lang="en-US" altLang="en-US" sz="3000" i="1" smtClean="0">
                <a:cs typeface="Arial" panose="020B0604020202020204" pitchFamily="34" charset="0"/>
              </a:rPr>
              <a:t>P</a:t>
            </a:r>
            <a:r>
              <a:rPr lang="en-US" altLang="en-US" sz="3000" smtClean="0">
                <a:cs typeface="Arial" panose="020B0604020202020204" pitchFamily="34" charset="0"/>
              </a:rPr>
              <a:t>[1..m], let </a:t>
            </a:r>
            <a:r>
              <a:rPr lang="en-US" altLang="en-US" sz="3000" i="1" smtClean="0">
                <a:solidFill>
                  <a:schemeClr val="bg2"/>
                </a:solidFill>
                <a:cs typeface="Arial" panose="020B0604020202020204" pitchFamily="34" charset="0"/>
              </a:rPr>
              <a:t>p</a:t>
            </a:r>
            <a:r>
              <a:rPr lang="en-US" altLang="en-US" sz="3000" i="1" smtClean="0">
                <a:cs typeface="Arial" panose="020B0604020202020204" pitchFamily="34" charset="0"/>
              </a:rPr>
              <a:t> </a:t>
            </a:r>
            <a:r>
              <a:rPr lang="en-US" altLang="en-US" sz="3000" smtClean="0">
                <a:cs typeface="Arial" panose="020B0604020202020204" pitchFamily="34" charset="0"/>
              </a:rPr>
              <a:t>denote its decimal value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smtClean="0">
                <a:cs typeface="Arial" panose="020B0604020202020204" pitchFamily="34" charset="0"/>
              </a:rPr>
              <a:t>Let </a:t>
            </a:r>
            <a:r>
              <a:rPr lang="en-US" altLang="en-US" sz="3000" i="1" smtClean="0">
                <a:solidFill>
                  <a:schemeClr val="bg2"/>
                </a:solidFill>
                <a:cs typeface="Arial" panose="020B0604020202020204" pitchFamily="34" charset="0"/>
              </a:rPr>
              <a:t>t</a:t>
            </a:r>
            <a:r>
              <a:rPr lang="en-US" altLang="en-US" sz="3000" i="1" baseline="-25000" smtClean="0">
                <a:solidFill>
                  <a:schemeClr val="bg2"/>
                </a:solidFill>
                <a:cs typeface="Arial" panose="020B0604020202020204" pitchFamily="34" charset="0"/>
              </a:rPr>
              <a:t>s</a:t>
            </a:r>
            <a:r>
              <a:rPr lang="en-US" altLang="en-US" sz="3000" smtClean="0">
                <a:cs typeface="Arial" panose="020B0604020202020204" pitchFamily="34" charset="0"/>
              </a:rPr>
              <a:t> denote decimal value of length </a:t>
            </a:r>
            <a:r>
              <a:rPr lang="en-US" altLang="en-US" sz="3000" i="1" smtClean="0">
                <a:cs typeface="Arial" panose="020B0604020202020204" pitchFamily="34" charset="0"/>
              </a:rPr>
              <a:t>m</a:t>
            </a:r>
            <a:r>
              <a:rPr lang="en-US" altLang="en-US" sz="3000" smtClean="0">
                <a:cs typeface="Arial" panose="020B0604020202020204" pitchFamily="34" charset="0"/>
              </a:rPr>
              <a:t> substring </a:t>
            </a:r>
            <a:r>
              <a:rPr lang="en-US" altLang="en-US" sz="3000" i="1" smtClean="0">
                <a:cs typeface="Arial" panose="020B0604020202020204" pitchFamily="34" charset="0"/>
              </a:rPr>
              <a:t>T</a:t>
            </a:r>
            <a:r>
              <a:rPr lang="en-US" altLang="en-US" sz="3000" smtClean="0">
                <a:cs typeface="Arial" panose="020B0604020202020204" pitchFamily="34" charset="0"/>
              </a:rPr>
              <a:t>[s+1..s+m] for </a:t>
            </a:r>
            <a:r>
              <a:rPr lang="en-US" altLang="en-US" sz="3000" i="1" smtClean="0">
                <a:cs typeface="Arial" panose="020B0604020202020204" pitchFamily="34" charset="0"/>
              </a:rPr>
              <a:t>s=0,1,…,n-m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i="1" smtClean="0">
                <a:solidFill>
                  <a:schemeClr val="bg2"/>
                </a:solidFill>
                <a:cs typeface="Arial" panose="020B0604020202020204" pitchFamily="34" charset="0"/>
              </a:rPr>
              <a:t>t</a:t>
            </a:r>
            <a:r>
              <a:rPr lang="en-US" altLang="en-US" sz="3000" i="1" baseline="-25000" smtClean="0">
                <a:solidFill>
                  <a:schemeClr val="bg2"/>
                </a:solidFill>
                <a:cs typeface="Arial" panose="020B0604020202020204" pitchFamily="34" charset="0"/>
              </a:rPr>
              <a:t>s</a:t>
            </a:r>
            <a:r>
              <a:rPr lang="en-US" altLang="en-US" sz="3000" i="1" smtClean="0">
                <a:cs typeface="Arial" panose="020B0604020202020204" pitchFamily="34" charset="0"/>
              </a:rPr>
              <a:t>=</a:t>
            </a:r>
            <a:r>
              <a:rPr lang="en-US" altLang="en-US" sz="3000" i="1" smtClean="0">
                <a:solidFill>
                  <a:schemeClr val="bg2"/>
                </a:solidFill>
                <a:cs typeface="Arial" panose="020B0604020202020204" pitchFamily="34" charset="0"/>
              </a:rPr>
              <a:t>p</a:t>
            </a:r>
            <a:r>
              <a:rPr lang="en-US" altLang="en-US" sz="3000" smtClean="0">
                <a:cs typeface="Arial" panose="020B0604020202020204" pitchFamily="34" charset="0"/>
              </a:rPr>
              <a:t> if and only if </a:t>
            </a:r>
            <a:r>
              <a:rPr lang="en-US" altLang="en-US" sz="3000" i="1" smtClean="0">
                <a:cs typeface="Arial" panose="020B0604020202020204" pitchFamily="34" charset="0"/>
              </a:rPr>
              <a:t>T</a:t>
            </a:r>
            <a:r>
              <a:rPr lang="en-US" altLang="en-US" sz="3000" smtClean="0">
                <a:cs typeface="Arial" panose="020B0604020202020204" pitchFamily="34" charset="0"/>
              </a:rPr>
              <a:t>[s+1..s+m] = </a:t>
            </a:r>
            <a:r>
              <a:rPr lang="en-US" altLang="en-US" sz="3000" i="1" smtClean="0">
                <a:cs typeface="Arial" panose="020B0604020202020204" pitchFamily="34" charset="0"/>
              </a:rPr>
              <a:t>P</a:t>
            </a:r>
            <a:r>
              <a:rPr lang="en-US" altLang="en-US" sz="3000" smtClean="0">
                <a:cs typeface="Arial" panose="020B0604020202020204" pitchFamily="34" charset="0"/>
              </a:rPr>
              <a:t>[1..m]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The Rabin-Karp Algorithm (Cont’d)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AutoNum type="arabicPeriod"/>
            </a:pPr>
            <a:r>
              <a:rPr lang="en-US" altLang="en-US" smtClean="0"/>
              <a:t>Compute </a:t>
            </a:r>
            <a:r>
              <a:rPr lang="en-US" altLang="en-US" i="1" smtClean="0">
                <a:solidFill>
                  <a:schemeClr val="bg2"/>
                </a:solidFill>
              </a:rPr>
              <a:t>p</a:t>
            </a:r>
            <a:r>
              <a:rPr lang="en-US" altLang="en-US" smtClean="0"/>
              <a:t> in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(m) time</a:t>
            </a:r>
          </a:p>
          <a:p>
            <a:pPr marL="609600" indent="-609600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AutoNum type="arabicPeriod"/>
            </a:pPr>
            <a:r>
              <a:rPr lang="en-US" altLang="en-US" smtClean="0">
                <a:cs typeface="Arial" panose="020B0604020202020204" pitchFamily="34" charset="0"/>
              </a:rPr>
              <a:t>Compute all </a:t>
            </a:r>
            <a:r>
              <a:rPr lang="en-US" altLang="en-US" i="1" smtClean="0">
                <a:solidFill>
                  <a:schemeClr val="bg2"/>
                </a:solidFill>
                <a:cs typeface="Arial" panose="020B0604020202020204" pitchFamily="34" charset="0"/>
              </a:rPr>
              <a:t>t</a:t>
            </a:r>
            <a:r>
              <a:rPr lang="en-US" altLang="en-US" i="1" baseline="-25000" smtClean="0">
                <a:solidFill>
                  <a:schemeClr val="bg2"/>
                </a:solidFill>
                <a:cs typeface="Arial" panose="020B0604020202020204" pitchFamily="34" charset="0"/>
              </a:rPr>
              <a:t>s</a:t>
            </a:r>
            <a:r>
              <a:rPr lang="en-US" altLang="en-US" smtClean="0">
                <a:cs typeface="Arial" panose="020B0604020202020204" pitchFamily="34" charset="0"/>
              </a:rPr>
              <a:t> values in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((n-m)+1) time</a:t>
            </a:r>
          </a:p>
          <a:p>
            <a:pPr marL="609600" indent="-609600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AutoNum type="arabicPeriod"/>
            </a:pPr>
            <a:r>
              <a:rPr lang="en-US" altLang="en-US" smtClean="0">
                <a:cs typeface="Arial" panose="020B0604020202020204" pitchFamily="34" charset="0"/>
              </a:rPr>
              <a:t>Then, we can determine all valid shifts in time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(m) +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((n-m)+1) =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(n)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en-US" smtClean="0">
              <a:cs typeface="Arial" panose="020B0604020202020204" pitchFamily="34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>
                <a:cs typeface="Arial" panose="020B0604020202020204" pitchFamily="34" charset="0"/>
              </a:rPr>
              <a:t>Lets not worry that </a:t>
            </a:r>
            <a:r>
              <a:rPr lang="en-US" altLang="en-US" i="1" smtClean="0">
                <a:solidFill>
                  <a:schemeClr val="bg2"/>
                </a:solidFill>
                <a:cs typeface="Arial" panose="020B0604020202020204" pitchFamily="34" charset="0"/>
              </a:rPr>
              <a:t>p</a:t>
            </a:r>
            <a:r>
              <a:rPr lang="en-US" altLang="en-US" smtClean="0">
                <a:cs typeface="Arial" panose="020B0604020202020204" pitchFamily="34" charset="0"/>
              </a:rPr>
              <a:t> and </a:t>
            </a:r>
            <a:r>
              <a:rPr lang="en-US" altLang="en-US" i="1" smtClean="0">
                <a:solidFill>
                  <a:schemeClr val="bg2"/>
                </a:solidFill>
                <a:cs typeface="Arial" panose="020B0604020202020204" pitchFamily="34" charset="0"/>
              </a:rPr>
              <a:t>t</a:t>
            </a:r>
            <a:r>
              <a:rPr lang="en-US" altLang="en-US" i="1" baseline="-25000" smtClean="0">
                <a:solidFill>
                  <a:schemeClr val="bg2"/>
                </a:solidFill>
                <a:cs typeface="Arial" panose="020B0604020202020204" pitchFamily="34" charset="0"/>
              </a:rPr>
              <a:t>s</a:t>
            </a:r>
            <a:r>
              <a:rPr lang="en-US" altLang="en-US" smtClean="0">
                <a:cs typeface="Arial" panose="020B0604020202020204" pitchFamily="34" charset="0"/>
              </a:rPr>
              <a:t>’s might be very large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>
                <a:cs typeface="Arial" panose="020B0604020202020204" pitchFamily="34" charset="0"/>
              </a:rPr>
              <a:t>It takes lg(a) bits to encode number a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>
                <a:cs typeface="Arial" panose="020B0604020202020204" pitchFamily="34" charset="0"/>
              </a:rPr>
              <a:t>very large=do not fit in a computer word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l-GR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The Rabin-Karp Algorithm (Cont’d)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pPr eaLnBrk="1" hangingPunct="1"/>
            <a:r>
              <a:rPr lang="en-US" altLang="en-US" smtClean="0"/>
              <a:t>We can compute </a:t>
            </a:r>
            <a:r>
              <a:rPr lang="en-US" altLang="en-US" i="1" smtClean="0">
                <a:solidFill>
                  <a:schemeClr val="accent1"/>
                </a:solidFill>
              </a:rPr>
              <a:t>p</a:t>
            </a:r>
            <a:r>
              <a:rPr lang="en-US" altLang="en-US" smtClean="0">
                <a:solidFill>
                  <a:schemeClr val="accent1"/>
                </a:solidFill>
              </a:rPr>
              <a:t> </a:t>
            </a:r>
            <a:r>
              <a:rPr lang="en-US" altLang="en-US" smtClean="0"/>
              <a:t>in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/>
              <a:t>(m) time, using Horner’s rule.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0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 i="1" smtClean="0">
                <a:solidFill>
                  <a:schemeClr val="accent1"/>
                </a:solidFill>
              </a:rPr>
              <a:t>p </a:t>
            </a:r>
            <a:r>
              <a:rPr lang="en-US" altLang="en-US" sz="2600" smtClean="0"/>
              <a:t>= </a:t>
            </a:r>
            <a:r>
              <a:rPr lang="en-US" altLang="en-US" sz="2600" i="1" smtClean="0">
                <a:solidFill>
                  <a:srgbClr val="CC6600"/>
                </a:solidFill>
              </a:rPr>
              <a:t>P</a:t>
            </a:r>
            <a:r>
              <a:rPr lang="en-US" altLang="en-US" sz="2600" smtClean="0">
                <a:solidFill>
                  <a:srgbClr val="CC6600"/>
                </a:solidFill>
              </a:rPr>
              <a:t>[m]</a:t>
            </a:r>
            <a:r>
              <a:rPr lang="en-US" altLang="en-US" sz="2600" smtClean="0"/>
              <a:t> + 10(</a:t>
            </a:r>
            <a:r>
              <a:rPr lang="en-US" altLang="en-US" sz="2600" i="1" smtClean="0">
                <a:solidFill>
                  <a:srgbClr val="FF3300"/>
                </a:solidFill>
              </a:rPr>
              <a:t>P</a:t>
            </a:r>
            <a:r>
              <a:rPr lang="en-US" altLang="en-US" sz="2600" smtClean="0">
                <a:solidFill>
                  <a:srgbClr val="FF3300"/>
                </a:solidFill>
              </a:rPr>
              <a:t>[m-1]</a:t>
            </a:r>
            <a:r>
              <a:rPr lang="en-US" altLang="en-US" sz="2600" smtClean="0"/>
              <a:t> + 10(</a:t>
            </a:r>
            <a:r>
              <a:rPr lang="en-US" altLang="en-US" sz="2600" i="1" smtClean="0"/>
              <a:t>P</a:t>
            </a:r>
            <a:r>
              <a:rPr lang="en-US" altLang="en-US" sz="2600" smtClean="0"/>
              <a:t>[m-2]+…+10(</a:t>
            </a:r>
            <a:r>
              <a:rPr lang="en-US" altLang="en-US" sz="2600" i="1" smtClean="0">
                <a:solidFill>
                  <a:srgbClr val="CC0000"/>
                </a:solidFill>
              </a:rPr>
              <a:t>P</a:t>
            </a:r>
            <a:r>
              <a:rPr lang="en-US" altLang="en-US" sz="2600" smtClean="0">
                <a:solidFill>
                  <a:srgbClr val="CC0000"/>
                </a:solidFill>
              </a:rPr>
              <a:t>[2]</a:t>
            </a:r>
            <a:r>
              <a:rPr lang="en-US" altLang="en-US" sz="2600" smtClean="0"/>
              <a:t> + 10</a:t>
            </a:r>
            <a:r>
              <a:rPr lang="en-US" altLang="en-US" sz="2600" i="1" smtClean="0">
                <a:solidFill>
                  <a:srgbClr val="990000"/>
                </a:solidFill>
              </a:rPr>
              <a:t>P</a:t>
            </a:r>
            <a:r>
              <a:rPr lang="en-US" altLang="en-US" sz="2600" smtClean="0">
                <a:solidFill>
                  <a:srgbClr val="990000"/>
                </a:solidFill>
              </a:rPr>
              <a:t>[1]</a:t>
            </a:r>
            <a:r>
              <a:rPr lang="en-US" altLang="en-US" sz="2600" smtClean="0"/>
              <a:t>)…))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600" smtClean="0"/>
          </a:p>
          <a:p>
            <a:pPr eaLnBrk="1" hangingPunct="1"/>
            <a:r>
              <a:rPr lang="en-US" altLang="en-US" smtClean="0"/>
              <a:t>e.g., </a:t>
            </a:r>
            <a:r>
              <a:rPr lang="en-US" altLang="en-US" i="1" smtClean="0"/>
              <a:t>P</a:t>
            </a:r>
            <a:r>
              <a:rPr lang="en-US" altLang="en-US" smtClean="0"/>
              <a:t>[1..m]=“3457”, here </a:t>
            </a:r>
            <a:r>
              <a:rPr lang="en-US" altLang="en-US" i="1" smtClean="0"/>
              <a:t>m=4</a:t>
            </a:r>
          </a:p>
          <a:p>
            <a:pPr lvl="1" eaLnBrk="1" hangingPunct="1"/>
            <a:r>
              <a:rPr lang="en-US" altLang="en-US" sz="3000" i="1" smtClean="0">
                <a:solidFill>
                  <a:schemeClr val="accent1"/>
                </a:solidFill>
              </a:rPr>
              <a:t>p</a:t>
            </a:r>
            <a:r>
              <a:rPr lang="en-US" altLang="en-US" sz="3200" i="1" smtClean="0"/>
              <a:t> =</a:t>
            </a:r>
            <a:r>
              <a:rPr lang="en-US" altLang="en-US" sz="3200" i="1" smtClean="0">
                <a:solidFill>
                  <a:srgbClr val="CC6600"/>
                </a:solidFill>
              </a:rPr>
              <a:t>7</a:t>
            </a:r>
            <a:r>
              <a:rPr lang="en-US" altLang="en-US" sz="3200" i="1" smtClean="0"/>
              <a:t>+10(</a:t>
            </a:r>
            <a:r>
              <a:rPr lang="en-US" altLang="en-US" sz="3200" i="1" smtClean="0">
                <a:solidFill>
                  <a:srgbClr val="FF3300"/>
                </a:solidFill>
              </a:rPr>
              <a:t>5</a:t>
            </a:r>
            <a:r>
              <a:rPr lang="en-US" altLang="en-US" sz="3200" i="1" smtClean="0"/>
              <a:t>+10(</a:t>
            </a:r>
            <a:r>
              <a:rPr lang="en-US" altLang="en-US" sz="3200" i="1" smtClean="0">
                <a:solidFill>
                  <a:srgbClr val="CC0000"/>
                </a:solidFill>
              </a:rPr>
              <a:t>4</a:t>
            </a:r>
            <a:r>
              <a:rPr lang="en-US" altLang="en-US" sz="3200" i="1" smtClean="0"/>
              <a:t>+10x</a:t>
            </a:r>
            <a:r>
              <a:rPr lang="en-US" altLang="en-US" sz="3200" i="1" smtClean="0">
                <a:solidFill>
                  <a:srgbClr val="990000"/>
                </a:solidFill>
              </a:rPr>
              <a:t>3</a:t>
            </a:r>
            <a:r>
              <a:rPr lang="en-US" altLang="en-US" sz="3200" i="1" smtClean="0"/>
              <a:t>))</a:t>
            </a:r>
          </a:p>
          <a:p>
            <a:pPr lvl="1" eaLnBrk="1" hangingPunct="1"/>
            <a:r>
              <a:rPr lang="en-US" altLang="en-US" sz="3000" i="1" smtClean="0">
                <a:solidFill>
                  <a:schemeClr val="accent1"/>
                </a:solidFill>
              </a:rPr>
              <a:t>p</a:t>
            </a:r>
            <a:r>
              <a:rPr lang="en-US" altLang="en-US" sz="3200" i="1" smtClean="0"/>
              <a:t> =7+10(5+10(4+30)</a:t>
            </a:r>
          </a:p>
          <a:p>
            <a:pPr lvl="1" eaLnBrk="1" hangingPunct="1"/>
            <a:r>
              <a:rPr lang="en-US" altLang="en-US" sz="3000" i="1" smtClean="0">
                <a:solidFill>
                  <a:schemeClr val="accent1"/>
                </a:solidFill>
              </a:rPr>
              <a:t>p</a:t>
            </a:r>
            <a:r>
              <a:rPr lang="en-US" altLang="en-US" sz="3200" i="1" smtClean="0"/>
              <a:t> =7+10(5+340)</a:t>
            </a:r>
          </a:p>
          <a:p>
            <a:pPr lvl="1" eaLnBrk="1" hangingPunct="1"/>
            <a:r>
              <a:rPr lang="en-US" altLang="en-US" sz="3000" i="1" smtClean="0">
                <a:solidFill>
                  <a:schemeClr val="accent1"/>
                </a:solidFill>
              </a:rPr>
              <a:t>p</a:t>
            </a:r>
            <a:r>
              <a:rPr lang="en-US" altLang="en-US" sz="3200" i="1" smtClean="0"/>
              <a:t> =7+3450</a:t>
            </a:r>
          </a:p>
          <a:p>
            <a:pPr lvl="1" eaLnBrk="1" hangingPunct="1"/>
            <a:r>
              <a:rPr lang="en-US" altLang="en-US" sz="3000" i="1" smtClean="0">
                <a:solidFill>
                  <a:schemeClr val="accent1"/>
                </a:solidFill>
              </a:rPr>
              <a:t>p</a:t>
            </a:r>
            <a:r>
              <a:rPr lang="en-US" altLang="en-US" sz="3200" i="1" smtClean="0"/>
              <a:t> =3457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The Rabin-Karp Algorithm (Cont’d)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86800" cy="4495800"/>
          </a:xfrm>
        </p:spPr>
        <p:txBody>
          <a:bodyPr/>
          <a:lstStyle/>
          <a:p>
            <a:pPr eaLnBrk="1" hangingPunct="1"/>
            <a:r>
              <a:rPr lang="en-US" altLang="en-US" smtClean="0"/>
              <a:t>Similarly compute </a:t>
            </a:r>
            <a:r>
              <a:rPr lang="en-US" altLang="en-US" i="1" smtClean="0">
                <a:solidFill>
                  <a:schemeClr val="accent1"/>
                </a:solidFill>
              </a:rPr>
              <a:t>t</a:t>
            </a:r>
            <a:r>
              <a:rPr lang="en-US" altLang="en-US" i="1" baseline="-25000" smtClean="0">
                <a:solidFill>
                  <a:schemeClr val="accent1"/>
                </a:solidFill>
              </a:rPr>
              <a:t>o</a:t>
            </a:r>
            <a:r>
              <a:rPr lang="en-US" altLang="en-US" smtClean="0"/>
              <a:t> in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/>
              <a:t>(m) time from </a:t>
            </a:r>
            <a:r>
              <a:rPr lang="en-US" altLang="en-US" i="1" smtClean="0"/>
              <a:t>T</a:t>
            </a:r>
            <a:r>
              <a:rPr lang="en-US" altLang="en-US" smtClean="0"/>
              <a:t>[1..m]</a:t>
            </a:r>
          </a:p>
          <a:p>
            <a:pPr eaLnBrk="1" hangingPunct="1"/>
            <a:r>
              <a:rPr lang="en-US" altLang="en-US" smtClean="0"/>
              <a:t>Use </a:t>
            </a:r>
            <a:r>
              <a:rPr lang="en-US" altLang="en-US" i="1" smtClean="0">
                <a:solidFill>
                  <a:schemeClr val="accent1"/>
                </a:solidFill>
              </a:rPr>
              <a:t>t</a:t>
            </a:r>
            <a:r>
              <a:rPr lang="en-US" altLang="en-US" i="1" baseline="-25000" smtClean="0">
                <a:solidFill>
                  <a:schemeClr val="accent1"/>
                </a:solidFill>
              </a:rPr>
              <a:t>o</a:t>
            </a:r>
            <a:r>
              <a:rPr lang="en-US" altLang="en-US" smtClean="0">
                <a:solidFill>
                  <a:schemeClr val="accent1"/>
                </a:solidFill>
              </a:rPr>
              <a:t> </a:t>
            </a:r>
            <a:r>
              <a:rPr lang="en-US" altLang="en-US" smtClean="0"/>
              <a:t>to compute each of </a:t>
            </a:r>
            <a:r>
              <a:rPr lang="en-US" altLang="en-US" i="1" smtClean="0">
                <a:solidFill>
                  <a:schemeClr val="accent1"/>
                </a:solidFill>
              </a:rPr>
              <a:t>t</a:t>
            </a:r>
            <a:r>
              <a:rPr lang="en-US" altLang="en-US" i="1" baseline="-25000" smtClean="0">
                <a:solidFill>
                  <a:schemeClr val="accent1"/>
                </a:solidFill>
              </a:rPr>
              <a:t>1 </a:t>
            </a:r>
            <a:r>
              <a:rPr lang="en-US" altLang="en-US" i="1" smtClean="0"/>
              <a:t>,</a:t>
            </a:r>
            <a:r>
              <a:rPr lang="en-US" altLang="en-US" i="1" smtClean="0">
                <a:solidFill>
                  <a:schemeClr val="accent1"/>
                </a:solidFill>
              </a:rPr>
              <a:t>t</a:t>
            </a:r>
            <a:r>
              <a:rPr lang="en-US" altLang="en-US" i="1" baseline="-25000" smtClean="0">
                <a:solidFill>
                  <a:schemeClr val="accent1"/>
                </a:solidFill>
              </a:rPr>
              <a:t>2 </a:t>
            </a:r>
            <a:r>
              <a:rPr lang="en-US" altLang="en-US" i="1" smtClean="0"/>
              <a:t>,… , </a:t>
            </a:r>
            <a:r>
              <a:rPr lang="en-US" altLang="en-US" i="1" smtClean="0">
                <a:solidFill>
                  <a:schemeClr val="accent1"/>
                </a:solidFill>
              </a:rPr>
              <a:t>t</a:t>
            </a:r>
            <a:r>
              <a:rPr lang="en-US" altLang="en-US" i="1" baseline="-25000" smtClean="0">
                <a:solidFill>
                  <a:schemeClr val="accent1"/>
                </a:solidFill>
              </a:rPr>
              <a:t>n-m</a:t>
            </a:r>
            <a:r>
              <a:rPr lang="en-US" altLang="en-US" smtClean="0"/>
              <a:t> in constant time, which totals to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/>
              <a:t>(n-m) time.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i="1" smtClean="0"/>
              <a:t>t</a:t>
            </a:r>
            <a:r>
              <a:rPr lang="en-US" altLang="en-US" i="1" baseline="-25000" smtClean="0"/>
              <a:t>s+1</a:t>
            </a:r>
            <a:r>
              <a:rPr lang="en-US" altLang="en-US" smtClean="0"/>
              <a:t> = 10(</a:t>
            </a:r>
            <a:r>
              <a:rPr lang="en-US" altLang="en-US" i="1" smtClean="0"/>
              <a:t>t</a:t>
            </a:r>
            <a:r>
              <a:rPr lang="en-US" altLang="en-US" i="1" baseline="-25000" smtClean="0"/>
              <a:t>s</a:t>
            </a:r>
            <a:r>
              <a:rPr lang="en-US" altLang="en-US" smtClean="0"/>
              <a:t> – 10</a:t>
            </a:r>
            <a:r>
              <a:rPr lang="en-US" altLang="en-US" baseline="30000" smtClean="0"/>
              <a:t>m-1</a:t>
            </a:r>
            <a:r>
              <a:rPr lang="en-US" altLang="en-US" i="1" smtClean="0"/>
              <a:t>T</a:t>
            </a:r>
            <a:r>
              <a:rPr lang="en-US" altLang="en-US" smtClean="0"/>
              <a:t>[s+1]) + </a:t>
            </a:r>
            <a:r>
              <a:rPr lang="en-US" altLang="en-US" i="1" smtClean="0"/>
              <a:t>T</a:t>
            </a:r>
            <a:r>
              <a:rPr lang="en-US" altLang="en-US" smtClean="0"/>
              <a:t>[s+m+1]</a:t>
            </a:r>
          </a:p>
          <a:p>
            <a:pPr eaLnBrk="1" hangingPunct="1"/>
            <a:r>
              <a:rPr lang="en-US" altLang="en-US" smtClean="0"/>
              <a:t>e.g., </a:t>
            </a:r>
            <a:r>
              <a:rPr lang="en-US" altLang="en-US" i="1" smtClean="0"/>
              <a:t>m=5</a:t>
            </a:r>
            <a:r>
              <a:rPr lang="en-US" altLang="en-US" smtClean="0"/>
              <a:t> and </a:t>
            </a:r>
            <a:r>
              <a:rPr lang="en-US" altLang="en-US" i="1" smtClean="0"/>
              <a:t>t</a:t>
            </a:r>
            <a:r>
              <a:rPr lang="en-US" altLang="en-US" i="1" baseline="-25000" smtClean="0"/>
              <a:t>s</a:t>
            </a:r>
            <a:r>
              <a:rPr lang="en-US" altLang="en-US" smtClean="0"/>
              <a:t>=31415 and </a:t>
            </a:r>
            <a:r>
              <a:rPr lang="en-US" altLang="en-US" i="1" smtClean="0"/>
              <a:t>T</a:t>
            </a:r>
            <a:r>
              <a:rPr lang="en-US" altLang="en-US" smtClean="0"/>
              <a:t>[s+5+1]=2, </a:t>
            </a:r>
            <a:r>
              <a:rPr lang="en-US" altLang="en-US" i="1" smtClean="0"/>
              <a:t>s</a:t>
            </a:r>
            <a:r>
              <a:rPr lang="en-US" altLang="en-US" smtClean="0"/>
              <a:t>=0</a:t>
            </a:r>
          </a:p>
          <a:p>
            <a:pPr lvl="1" eaLnBrk="1" hangingPunct="1"/>
            <a:r>
              <a:rPr lang="en-US" altLang="en-US" i="1" smtClean="0"/>
              <a:t>t</a:t>
            </a:r>
            <a:r>
              <a:rPr lang="en-US" altLang="en-US" i="1" baseline="-25000" smtClean="0"/>
              <a:t>s+1</a:t>
            </a:r>
            <a:r>
              <a:rPr lang="en-US" altLang="en-US" smtClean="0"/>
              <a:t> = 10(31415 – 10000.3) + 2</a:t>
            </a:r>
          </a:p>
          <a:p>
            <a:pPr lvl="1" eaLnBrk="1" hangingPunct="1"/>
            <a:r>
              <a:rPr lang="en-US" altLang="en-US" smtClean="0"/>
              <a:t>        = 14152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The Rabin-Karp Algorithm (Cont’d)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029200"/>
          </a:xfrm>
        </p:spPr>
        <p:txBody>
          <a:bodyPr/>
          <a:lstStyle/>
          <a:p>
            <a:pPr eaLnBrk="1" hangingPunct="1"/>
            <a:r>
              <a:rPr lang="en-US" altLang="en-US" smtClean="0"/>
              <a:t>If </a:t>
            </a:r>
            <a:r>
              <a:rPr lang="en-US" altLang="en-US" i="1" smtClean="0">
                <a:solidFill>
                  <a:schemeClr val="accent1"/>
                </a:solidFill>
              </a:rPr>
              <a:t>p</a:t>
            </a:r>
            <a:r>
              <a:rPr lang="en-US" altLang="en-US" smtClean="0"/>
              <a:t> and </a:t>
            </a:r>
            <a:r>
              <a:rPr lang="en-US" altLang="en-US" i="1" smtClean="0">
                <a:solidFill>
                  <a:schemeClr val="accent1"/>
                </a:solidFill>
              </a:rPr>
              <a:t>t</a:t>
            </a:r>
            <a:r>
              <a:rPr lang="en-US" altLang="en-US" i="1" baseline="-25000" smtClean="0">
                <a:solidFill>
                  <a:schemeClr val="accent1"/>
                </a:solidFill>
              </a:rPr>
              <a:t>s</a:t>
            </a:r>
            <a:r>
              <a:rPr lang="en-US" altLang="en-US" i="1" smtClean="0">
                <a:solidFill>
                  <a:schemeClr val="accent1"/>
                </a:solidFill>
              </a:rPr>
              <a:t> </a:t>
            </a:r>
            <a:r>
              <a:rPr lang="en-US" altLang="en-US" i="1" smtClean="0"/>
              <a:t>are </a:t>
            </a:r>
            <a:r>
              <a:rPr lang="en-US" altLang="en-US" smtClean="0"/>
              <a:t>very large to work with, mathematical operations on </a:t>
            </a:r>
            <a:r>
              <a:rPr lang="en-US" altLang="en-US" i="1" smtClean="0"/>
              <a:t>P</a:t>
            </a:r>
            <a:r>
              <a:rPr lang="en-US" altLang="en-US" smtClean="0"/>
              <a:t> do not take “constant time”</a:t>
            </a:r>
          </a:p>
          <a:p>
            <a:pPr eaLnBrk="1" hangingPunct="1"/>
            <a:r>
              <a:rPr lang="en-US" altLang="en-US" smtClean="0"/>
              <a:t>Simple cure, perform all operations modulo a suitable modulus </a:t>
            </a:r>
            <a:r>
              <a:rPr lang="en-US" altLang="en-US" i="1" smtClean="0"/>
              <a:t>q</a:t>
            </a:r>
            <a:endParaRPr lang="en-US" altLang="en-US" smtClean="0"/>
          </a:p>
          <a:p>
            <a:pPr eaLnBrk="1" hangingPunct="1"/>
            <a:r>
              <a:rPr lang="en-US" altLang="en-US" smtClean="0"/>
              <a:t>q is chosen, such that </a:t>
            </a:r>
            <a:r>
              <a:rPr lang="en-US" altLang="en-US" i="1" smtClean="0"/>
              <a:t>dq</a:t>
            </a:r>
            <a:r>
              <a:rPr lang="en-US" altLang="en-US" smtClean="0"/>
              <a:t> fits in computer word, where </a:t>
            </a:r>
            <a:r>
              <a:rPr lang="en-US" altLang="en-US" i="1" smtClean="0"/>
              <a:t>d</a:t>
            </a:r>
            <a:r>
              <a:rPr lang="en-US" altLang="en-US" smtClean="0"/>
              <a:t>=|</a:t>
            </a:r>
            <a:r>
              <a:rPr lang="en-US" altLang="en-US" smtClean="0">
                <a:cs typeface="Arial" panose="020B0604020202020204" pitchFamily="34" charset="0"/>
              </a:rPr>
              <a:t>∑| and ∑={0,1,…,</a:t>
            </a:r>
            <a:r>
              <a:rPr lang="en-US" altLang="en-US" i="1" smtClean="0">
                <a:cs typeface="Arial" panose="020B0604020202020204" pitchFamily="34" charset="0"/>
              </a:rPr>
              <a:t>d</a:t>
            </a:r>
            <a:r>
              <a:rPr lang="en-US" altLang="en-US" smtClean="0">
                <a:cs typeface="Arial" panose="020B0604020202020204" pitchFamily="34" charset="0"/>
              </a:rPr>
              <a:t>-1}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We might get spurious hits, since </a:t>
            </a:r>
            <a:r>
              <a:rPr lang="en-US" altLang="en-US" i="1" smtClean="0">
                <a:solidFill>
                  <a:schemeClr val="accent1"/>
                </a:solidFill>
              </a:rPr>
              <a:t>t</a:t>
            </a:r>
            <a:r>
              <a:rPr lang="en-US" altLang="en-US" i="1" baseline="-25000" smtClean="0">
                <a:solidFill>
                  <a:schemeClr val="accent1"/>
                </a:solidFill>
              </a:rPr>
              <a:t>s</a:t>
            </a:r>
            <a:r>
              <a:rPr lang="el-GR" altLang="en-US" smtClean="0">
                <a:cs typeface="Arial" panose="020B0604020202020204" pitchFamily="34" charset="0"/>
              </a:rPr>
              <a:t>Ξ</a:t>
            </a:r>
            <a:r>
              <a:rPr lang="en-US" altLang="en-US" i="1" smtClean="0">
                <a:solidFill>
                  <a:schemeClr val="accent1"/>
                </a:solidFill>
              </a:rPr>
              <a:t>p </a:t>
            </a:r>
            <a:r>
              <a:rPr lang="en-US" altLang="en-US" i="1" smtClean="0"/>
              <a:t>(mod q) </a:t>
            </a:r>
            <a:r>
              <a:rPr lang="en-US" altLang="en-US" smtClean="0"/>
              <a:t>does not imply that </a:t>
            </a:r>
            <a:r>
              <a:rPr lang="en-US" altLang="en-US" i="1" smtClean="0">
                <a:solidFill>
                  <a:schemeClr val="accent1"/>
                </a:solidFill>
              </a:rPr>
              <a:t>t</a:t>
            </a:r>
            <a:r>
              <a:rPr lang="en-US" altLang="en-US" i="1" baseline="-25000" smtClean="0">
                <a:solidFill>
                  <a:schemeClr val="accent1"/>
                </a:solidFill>
              </a:rPr>
              <a:t>s</a:t>
            </a:r>
            <a:r>
              <a:rPr lang="en-US" altLang="en-US" smtClean="0"/>
              <a:t> = </a:t>
            </a:r>
            <a:r>
              <a:rPr lang="en-US" altLang="en-US" i="1" smtClean="0">
                <a:solidFill>
                  <a:schemeClr val="accent1"/>
                </a:solidFill>
              </a:rPr>
              <a:t>p</a:t>
            </a:r>
            <a:endParaRPr lang="en-US" altLang="en-US" i="1" baseline="-25000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0"/>
            <a:ext cx="7391400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rabin_karp_match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42950"/>
            <a:ext cx="86868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The Rabin-Karp Algorithm (Cont’d)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05400"/>
          </a:xfrm>
        </p:spPr>
        <p:txBody>
          <a:bodyPr/>
          <a:lstStyle/>
          <a:p>
            <a:pPr eaLnBrk="1" hangingPunct="1"/>
            <a:r>
              <a:rPr lang="en-US" altLang="en-US" smtClean="0"/>
              <a:t>It takes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(m) preprocessing time and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((n-m+1)m) matching time in the worst case.</a:t>
            </a: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In many applications, we expect few valid shifts (some constant c), then the running time is O((n-m+1) + cm) + time for spurious hits</a:t>
            </a: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and if q is large enough (</a:t>
            </a:r>
            <a:r>
              <a:rPr lang="en-US" altLang="en-US" i="1" smtClean="0">
                <a:cs typeface="Arial" panose="020B0604020202020204" pitchFamily="34" charset="0"/>
              </a:rPr>
              <a:t>q≥m),</a:t>
            </a:r>
            <a:r>
              <a:rPr lang="en-US" altLang="en-US" smtClean="0">
                <a:cs typeface="Arial" panose="020B0604020202020204" pitchFamily="34" charset="0"/>
              </a:rPr>
              <a:t> we can reduce spurious hits, which gives us O(n+m) running time.</a:t>
            </a:r>
            <a:endParaRPr lang="el-GR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String Matching with finite automata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05400"/>
          </a:xfrm>
        </p:spPr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These algorithms build a finite automaton that scans the text string </a:t>
            </a:r>
            <a:r>
              <a:rPr lang="en-US" altLang="en-US" i="1" smtClean="0"/>
              <a:t>T</a:t>
            </a:r>
            <a:r>
              <a:rPr lang="en-US" altLang="en-US" smtClean="0"/>
              <a:t> for all occurrences of pattern </a:t>
            </a:r>
            <a:r>
              <a:rPr lang="en-US" altLang="en-US" i="1" smtClean="0"/>
              <a:t>P.</a:t>
            </a:r>
          </a:p>
          <a:p>
            <a:pPr eaLnBrk="1" hangingPunct="1"/>
            <a:r>
              <a:rPr lang="en-US" altLang="en-US" smtClean="0"/>
              <a:t>Each text character is examined only once</a:t>
            </a:r>
          </a:p>
          <a:p>
            <a:pPr eaLnBrk="1" hangingPunct="1"/>
            <a:r>
              <a:rPr lang="en-US" altLang="en-US" smtClean="0"/>
              <a:t>Time to build the automaton can be large if </a:t>
            </a:r>
            <a:r>
              <a:rPr lang="en-US" altLang="en-US" smtClean="0">
                <a:cs typeface="Arial" panose="020B0604020202020204" pitchFamily="34" charset="0"/>
              </a:rPr>
              <a:t>∑ is large.</a:t>
            </a: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Finite Automata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</a:t>
            </a:r>
            <a:r>
              <a:rPr lang="en-US" altLang="en-US" i="1" smtClean="0"/>
              <a:t>finite automaton</a:t>
            </a:r>
            <a:r>
              <a:rPr lang="en-US" altLang="en-US" smtClean="0"/>
              <a:t> </a:t>
            </a:r>
            <a:r>
              <a:rPr lang="en-US" altLang="en-US" i="1" smtClean="0"/>
              <a:t>M</a:t>
            </a:r>
            <a:r>
              <a:rPr lang="en-US" altLang="en-US" smtClean="0"/>
              <a:t> is a 5-tuple (</a:t>
            </a:r>
            <a:r>
              <a:rPr lang="en-US" altLang="en-US" i="1" smtClean="0"/>
              <a:t>Q, q</a:t>
            </a:r>
            <a:r>
              <a:rPr lang="en-US" altLang="en-US" i="1" baseline="-25000" smtClean="0">
                <a:cs typeface="Arial" panose="020B0604020202020204" pitchFamily="34" charset="0"/>
              </a:rPr>
              <a:t>o</a:t>
            </a:r>
            <a:r>
              <a:rPr lang="en-US" altLang="en-US" i="1" smtClean="0"/>
              <a:t>, A, </a:t>
            </a:r>
            <a:r>
              <a:rPr lang="en-US" altLang="en-US" i="1" smtClean="0">
                <a:cs typeface="Arial" panose="020B0604020202020204" pitchFamily="34" charset="0"/>
              </a:rPr>
              <a:t>∑, </a:t>
            </a:r>
            <a:r>
              <a:rPr lang="el-GR" altLang="en-US" i="1" smtClean="0">
                <a:cs typeface="Arial" panose="020B0604020202020204" pitchFamily="34" charset="0"/>
              </a:rPr>
              <a:t>δ</a:t>
            </a:r>
            <a:r>
              <a:rPr lang="en-US" altLang="en-US" smtClean="0">
                <a:cs typeface="Arial" panose="020B0604020202020204" pitchFamily="34" charset="0"/>
              </a:rPr>
              <a:t>), where</a:t>
            </a:r>
          </a:p>
          <a:p>
            <a:pPr eaLnBrk="1" hangingPunct="1"/>
            <a:r>
              <a:rPr lang="en-US" altLang="en-US" i="1" smtClean="0">
                <a:cs typeface="Arial" panose="020B0604020202020204" pitchFamily="34" charset="0"/>
              </a:rPr>
              <a:t>Q</a:t>
            </a:r>
            <a:r>
              <a:rPr lang="en-US" altLang="en-US" smtClean="0">
                <a:cs typeface="Arial" panose="020B0604020202020204" pitchFamily="34" charset="0"/>
              </a:rPr>
              <a:t> is finite set of </a:t>
            </a:r>
            <a:r>
              <a:rPr lang="en-US" altLang="en-US" i="1" smtClean="0">
                <a:cs typeface="Arial" panose="020B0604020202020204" pitchFamily="34" charset="0"/>
              </a:rPr>
              <a:t>states,</a:t>
            </a: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i="1" smtClean="0">
                <a:cs typeface="Arial" panose="020B0604020202020204" pitchFamily="34" charset="0"/>
              </a:rPr>
              <a:t>q</a:t>
            </a:r>
            <a:r>
              <a:rPr lang="en-US" altLang="en-US" i="1" baseline="-25000" smtClean="0">
                <a:cs typeface="Arial" panose="020B0604020202020204" pitchFamily="34" charset="0"/>
              </a:rPr>
              <a:t>o</a:t>
            </a:r>
            <a:r>
              <a:rPr lang="en-US" altLang="en-US" baseline="-25000" smtClean="0">
                <a:cs typeface="Arial" panose="020B0604020202020204" pitchFamily="34" charset="0"/>
                <a:sym typeface="Symbol" panose="05050102010706020507" pitchFamily="18" charset="2"/>
              </a:rPr>
              <a:t>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smtClean="0">
                <a:cs typeface="Arial" panose="020B0604020202020204" pitchFamily="34" charset="0"/>
              </a:rPr>
              <a:t> Q is the </a:t>
            </a:r>
            <a:r>
              <a:rPr lang="en-US" altLang="en-US" i="1" smtClean="0">
                <a:cs typeface="Arial" panose="020B0604020202020204" pitchFamily="34" charset="0"/>
              </a:rPr>
              <a:t>start state,</a:t>
            </a:r>
          </a:p>
          <a:p>
            <a:pPr eaLnBrk="1" hangingPunct="1"/>
            <a:r>
              <a:rPr lang="en-US" altLang="en-US" i="1" smtClean="0">
                <a:cs typeface="Arial" panose="020B0604020202020204" pitchFamily="34" charset="0"/>
              </a:rPr>
              <a:t>A</a:t>
            </a:r>
            <a:r>
              <a:rPr lang="en-US" altLang="en-US" smtClean="0">
                <a:cs typeface="Arial" panose="020B0604020202020204" pitchFamily="34" charset="0"/>
              </a:rPr>
              <a:t> </a:t>
            </a:r>
            <a:r>
              <a:rPr lang="ru-RU" altLang="en-US" smtClean="0"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Q is a distinguished set of </a:t>
            </a:r>
            <a:r>
              <a:rPr lang="en-US" altLang="en-US" i="1" smtClean="0">
                <a:cs typeface="Arial" panose="020B0604020202020204" pitchFamily="34" charset="0"/>
              </a:rPr>
              <a:t>accepting states,</a:t>
            </a: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∑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is finite </a:t>
            </a:r>
            <a:r>
              <a:rPr lang="en-US" altLang="en-US" i="1" smtClean="0">
                <a:cs typeface="Arial" panose="020B0604020202020204" pitchFamily="34" charset="0"/>
              </a:rPr>
              <a:t>input alphabet,</a:t>
            </a:r>
          </a:p>
          <a:p>
            <a:pPr eaLnBrk="1" hangingPunct="1"/>
            <a:r>
              <a:rPr lang="el-GR" altLang="en-US" i="1" smtClean="0">
                <a:cs typeface="Arial" panose="020B0604020202020204" pitchFamily="34" charset="0"/>
              </a:rPr>
              <a:t>δ</a:t>
            </a:r>
            <a:r>
              <a:rPr lang="en-US" altLang="en-US" smtClean="0">
                <a:cs typeface="Arial" panose="020B0604020202020204" pitchFamily="34" charset="0"/>
              </a:rPr>
              <a:t> is a function from Q x ∑ into Q, called the </a:t>
            </a:r>
            <a:r>
              <a:rPr lang="en-US" altLang="en-US" i="1" smtClean="0">
                <a:cs typeface="Arial" panose="020B0604020202020204" pitchFamily="34" charset="0"/>
              </a:rPr>
              <a:t>transition function</a:t>
            </a:r>
            <a:r>
              <a:rPr lang="en-US" altLang="en-US" smtClean="0">
                <a:cs typeface="Arial" panose="020B0604020202020204" pitchFamily="34" charset="0"/>
              </a:rPr>
              <a:t> of M</a:t>
            </a: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endParaRPr lang="el-GR" altLang="en-US" i="1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Finite Automata (Cont’d)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Suppose </a:t>
            </a:r>
            <a:r>
              <a:rPr lang="en-US" altLang="en-US" i="1" smtClean="0"/>
              <a:t>M</a:t>
            </a:r>
            <a:r>
              <a:rPr lang="en-US" altLang="en-US" smtClean="0"/>
              <a:t> is in state </a:t>
            </a:r>
            <a:r>
              <a:rPr lang="en-US" altLang="en-US" i="1" smtClean="0"/>
              <a:t>q</a:t>
            </a:r>
            <a:r>
              <a:rPr lang="en-US" altLang="en-US" i="1" baseline="-25000" smtClean="0"/>
              <a:t>o</a:t>
            </a:r>
            <a:r>
              <a:rPr lang="en-US" altLang="en-US" smtClean="0"/>
              <a:t>.</a:t>
            </a:r>
          </a:p>
          <a:p>
            <a:pPr eaLnBrk="1" hangingPunct="1"/>
            <a:r>
              <a:rPr lang="en-US" altLang="en-US" smtClean="0"/>
              <a:t>It reads char. </a:t>
            </a:r>
            <a:r>
              <a:rPr lang="en-US" altLang="en-US" i="1" smtClean="0"/>
              <a:t>a</a:t>
            </a:r>
            <a:r>
              <a:rPr lang="en-US" altLang="en-US" smtClean="0"/>
              <a:t>, it moves from state </a:t>
            </a:r>
            <a:r>
              <a:rPr lang="en-US" altLang="en-US" i="1" smtClean="0"/>
              <a:t>q</a:t>
            </a:r>
            <a:r>
              <a:rPr lang="en-US" altLang="en-US" smtClean="0"/>
              <a:t> to state </a:t>
            </a:r>
            <a:r>
              <a:rPr lang="el-GR" altLang="en-US" i="1" smtClean="0">
                <a:cs typeface="Arial" panose="020B0604020202020204" pitchFamily="34" charset="0"/>
              </a:rPr>
              <a:t>δ</a:t>
            </a:r>
            <a:r>
              <a:rPr lang="en-US" altLang="en-US" i="1" smtClean="0">
                <a:cs typeface="Arial" panose="020B0604020202020204" pitchFamily="34" charset="0"/>
              </a:rPr>
              <a:t>(q,a)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When</a:t>
            </a:r>
            <a:r>
              <a:rPr lang="en-US" altLang="en-US" smtClean="0"/>
              <a:t>ever current state </a:t>
            </a:r>
            <a:r>
              <a:rPr lang="en-US" altLang="en-US" i="1" smtClean="0"/>
              <a:t>q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, the machine M has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accepted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 the string read so far.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An input that is not accepted is said to be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rejected</a:t>
            </a:r>
          </a:p>
          <a:p>
            <a:pPr eaLnBrk="1" hangingPunct="1"/>
            <a:endParaRPr lang="en-US" altLang="en-US" smtClean="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fig32-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4713"/>
            <a:ext cx="9144000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Final-State Function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05400"/>
          </a:xfrm>
        </p:spPr>
        <p:txBody>
          <a:bodyPr/>
          <a:lstStyle/>
          <a:p>
            <a:pPr eaLnBrk="1" hangingPunct="1"/>
            <a:r>
              <a:rPr lang="en-US" altLang="en-US" smtClean="0"/>
              <a:t>The automaton </a:t>
            </a:r>
            <a:r>
              <a:rPr lang="en-US" altLang="en-US" i="1" smtClean="0"/>
              <a:t>M</a:t>
            </a:r>
            <a:r>
              <a:rPr lang="en-US" altLang="en-US" smtClean="0"/>
              <a:t> has a </a:t>
            </a:r>
            <a:r>
              <a:rPr lang="en-US" altLang="en-US" i="1" smtClean="0"/>
              <a:t>final-state function</a:t>
            </a:r>
            <a:r>
              <a:rPr lang="en-US" altLang="en-US" smtClean="0"/>
              <a:t> </a:t>
            </a:r>
            <a:r>
              <a:rPr lang="en-US" altLang="en-US" i="1" smtClean="0">
                <a:sym typeface="Symbol" panose="05050102010706020507" pitchFamily="18" charset="2"/>
              </a:rPr>
              <a:t> </a:t>
            </a:r>
            <a:r>
              <a:rPr lang="en-US" altLang="en-US" smtClean="0">
                <a:sym typeface="Symbol" panose="05050102010706020507" pitchFamily="18" charset="2"/>
              </a:rPr>
              <a:t>from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∑* to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en-US" i="1" smtClean="0">
                <a:sym typeface="Symbol" panose="05050102010706020507" pitchFamily="18" charset="2"/>
              </a:rPr>
              <a:t>, </a:t>
            </a:r>
            <a:r>
              <a:rPr lang="en-US" altLang="en-US" smtClean="0">
                <a:sym typeface="Symbol" panose="05050102010706020507" pitchFamily="18" charset="2"/>
              </a:rPr>
              <a:t>such that:</a:t>
            </a:r>
          </a:p>
          <a:p>
            <a:pPr eaLnBrk="1" hangingPunct="1"/>
            <a:r>
              <a:rPr lang="en-US" altLang="en-US" i="1" smtClean="0">
                <a:sym typeface="Symbol" panose="05050102010706020507" pitchFamily="18" charset="2"/>
              </a:rPr>
              <a:t></a:t>
            </a:r>
            <a:r>
              <a:rPr lang="en-US" altLang="en-US" smtClean="0">
                <a:sym typeface="Symbol" panose="05050102010706020507" pitchFamily="18" charset="2"/>
              </a:rPr>
              <a:t>(</a:t>
            </a:r>
            <a:r>
              <a:rPr lang="en-US" altLang="en-US" i="1" smtClean="0">
                <a:sym typeface="Symbol" panose="05050102010706020507" pitchFamily="18" charset="2"/>
              </a:rPr>
              <a:t>w</a:t>
            </a:r>
            <a:r>
              <a:rPr lang="en-US" altLang="en-US" smtClean="0">
                <a:sym typeface="Symbol" panose="05050102010706020507" pitchFamily="18" charset="2"/>
              </a:rPr>
              <a:t>) is the state, </a:t>
            </a:r>
            <a:r>
              <a:rPr lang="en-US" altLang="en-US" i="1" smtClean="0">
                <a:sym typeface="Symbol" panose="05050102010706020507" pitchFamily="18" charset="2"/>
              </a:rPr>
              <a:t>M</a:t>
            </a:r>
            <a:r>
              <a:rPr lang="en-US" altLang="en-US" smtClean="0">
                <a:sym typeface="Symbol" panose="05050102010706020507" pitchFamily="18" charset="2"/>
              </a:rPr>
              <a:t> ends up in, after scanning the string </a:t>
            </a:r>
            <a:r>
              <a:rPr lang="en-US" altLang="en-US" i="1" smtClean="0">
                <a:sym typeface="Symbol" panose="05050102010706020507" pitchFamily="18" charset="2"/>
              </a:rPr>
              <a:t>w</a:t>
            </a:r>
            <a:r>
              <a:rPr lang="en-US" altLang="en-US" smtClean="0">
                <a:sym typeface="Symbol" panose="05050102010706020507" pitchFamily="18" charset="2"/>
              </a:rPr>
              <a:t>. </a:t>
            </a:r>
          </a:p>
          <a:p>
            <a:pPr eaLnBrk="1" hangingPunct="1"/>
            <a:r>
              <a:rPr lang="en-US" altLang="en-US" i="1" smtClean="0">
                <a:sym typeface="Symbol" panose="05050102010706020507" pitchFamily="18" charset="2"/>
              </a:rPr>
              <a:t>M </a:t>
            </a:r>
            <a:r>
              <a:rPr lang="en-US" altLang="en-US" smtClean="0">
                <a:sym typeface="Symbol" panose="05050102010706020507" pitchFamily="18" charset="2"/>
              </a:rPr>
              <a:t>accepts string </a:t>
            </a:r>
            <a:r>
              <a:rPr lang="en-US" altLang="en-US" i="1" smtClean="0">
                <a:sym typeface="Symbol" panose="05050102010706020507" pitchFamily="18" charset="2"/>
              </a:rPr>
              <a:t>w</a:t>
            </a:r>
            <a:r>
              <a:rPr lang="en-US" altLang="en-US" smtClean="0">
                <a:sym typeface="Symbol" panose="05050102010706020507" pitchFamily="18" charset="2"/>
              </a:rPr>
              <a:t> if and only if </a:t>
            </a:r>
            <a:r>
              <a:rPr lang="en-US" altLang="en-US" i="1" smtClean="0">
                <a:sym typeface="Symbol" panose="05050102010706020507" pitchFamily="18" charset="2"/>
              </a:rPr>
              <a:t></a:t>
            </a:r>
            <a:r>
              <a:rPr lang="en-US" altLang="en-US" smtClean="0">
                <a:sym typeface="Symbol" panose="05050102010706020507" pitchFamily="18" charset="2"/>
              </a:rPr>
              <a:t>(</a:t>
            </a:r>
            <a:r>
              <a:rPr lang="en-US" altLang="en-US" i="1" smtClean="0">
                <a:sym typeface="Symbol" panose="05050102010706020507" pitchFamily="18" charset="2"/>
              </a:rPr>
              <a:t>w</a:t>
            </a:r>
            <a:r>
              <a:rPr lang="en-US" altLang="en-US" smtClean="0">
                <a:sym typeface="Symbol" panose="05050102010706020507" pitchFamily="18" charset="2"/>
              </a:rPr>
              <a:t>)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en-US" i="1" smtClean="0">
                <a:cs typeface="Arial" panose="020B0604020202020204" pitchFamily="34" charset="0"/>
                <a:sym typeface="Symbol" panose="05050102010706020507" pitchFamily="18" charset="2"/>
              </a:rPr>
              <a:t>A.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It is defined recursively as follows:</a:t>
            </a:r>
          </a:p>
          <a:p>
            <a:pPr lvl="1" eaLnBrk="1" hangingPunct="1"/>
            <a:r>
              <a:rPr lang="en-US" altLang="en-US" i="1" smtClean="0">
                <a:sym typeface="Symbol" panose="05050102010706020507" pitchFamily="18" charset="2"/>
              </a:rPr>
              <a:t></a:t>
            </a:r>
            <a:r>
              <a:rPr lang="en-US" altLang="en-US" smtClean="0">
                <a:sym typeface="Symbol" panose="05050102010706020507" pitchFamily="18" charset="2"/>
              </a:rPr>
              <a:t>(</a:t>
            </a:r>
            <a:r>
              <a:rPr lang="en-US" altLang="en-US" i="1" smtClean="0">
                <a:sym typeface="Symbol" panose="05050102010706020507" pitchFamily="18" charset="2"/>
              </a:rPr>
              <a:t>w</a:t>
            </a:r>
            <a:r>
              <a:rPr lang="en-US" altLang="en-US" smtClean="0">
                <a:sym typeface="Symbol" panose="05050102010706020507" pitchFamily="18" charset="2"/>
              </a:rPr>
              <a:t>) = </a:t>
            </a:r>
            <a:r>
              <a:rPr lang="en-US" altLang="en-US" i="1" smtClean="0">
                <a:sym typeface="Symbol" panose="05050102010706020507" pitchFamily="18" charset="2"/>
              </a:rPr>
              <a:t>q</a:t>
            </a:r>
            <a:r>
              <a:rPr lang="en-US" altLang="en-US" i="1" baseline="-25000" smtClean="0">
                <a:sym typeface="Symbol" panose="05050102010706020507" pitchFamily="18" charset="2"/>
              </a:rPr>
              <a:t>o</a:t>
            </a:r>
            <a:r>
              <a:rPr lang="en-US" altLang="en-US" i="1" smtClean="0">
                <a:sym typeface="Symbol" panose="05050102010706020507" pitchFamily="18" charset="2"/>
              </a:rPr>
              <a:t>		if w= </a:t>
            </a:r>
            <a:r>
              <a:rPr lang="el-GR" altLang="en-US" smtClean="0">
                <a:cs typeface="Times New Roman" panose="02020603050405020304" pitchFamily="18" charset="0"/>
              </a:rPr>
              <a:t>ε</a:t>
            </a:r>
            <a:endParaRPr lang="en-US" altLang="en-US" i="1" baseline="-250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i="1" smtClean="0">
                <a:sym typeface="Symbol" panose="05050102010706020507" pitchFamily="18" charset="2"/>
              </a:rPr>
              <a:t></a:t>
            </a:r>
            <a:r>
              <a:rPr lang="en-US" altLang="en-US" smtClean="0">
                <a:sym typeface="Symbol" panose="05050102010706020507" pitchFamily="18" charset="2"/>
              </a:rPr>
              <a:t>(</a:t>
            </a:r>
            <a:r>
              <a:rPr lang="en-US" altLang="en-US" i="1" smtClean="0">
                <a:sym typeface="Symbol" panose="05050102010706020507" pitchFamily="18" charset="2"/>
              </a:rPr>
              <a:t>wa</a:t>
            </a:r>
            <a:r>
              <a:rPr lang="en-US" altLang="en-US" smtClean="0">
                <a:sym typeface="Symbol" panose="05050102010706020507" pitchFamily="18" charset="2"/>
              </a:rPr>
              <a:t>) = </a:t>
            </a:r>
            <a:r>
              <a:rPr lang="el-GR" altLang="en-US" i="1" smtClean="0">
                <a:cs typeface="Arial" panose="020B0604020202020204" pitchFamily="34" charset="0"/>
              </a:rPr>
              <a:t>δ</a:t>
            </a:r>
            <a:r>
              <a:rPr lang="en-US" altLang="en-US" i="1" smtClean="0">
                <a:cs typeface="Arial" panose="020B0604020202020204" pitchFamily="34" charset="0"/>
              </a:rPr>
              <a:t>(</a:t>
            </a:r>
            <a:r>
              <a:rPr lang="en-US" altLang="en-US" i="1" smtClean="0">
                <a:sym typeface="Symbol" panose="05050102010706020507" pitchFamily="18" charset="2"/>
              </a:rPr>
              <a:t></a:t>
            </a:r>
            <a:r>
              <a:rPr lang="en-US" altLang="en-US" smtClean="0">
                <a:sym typeface="Symbol" panose="05050102010706020507" pitchFamily="18" charset="2"/>
              </a:rPr>
              <a:t>(</a:t>
            </a:r>
            <a:r>
              <a:rPr lang="en-US" altLang="en-US" i="1" smtClean="0">
                <a:sym typeface="Symbol" panose="05050102010706020507" pitchFamily="18" charset="2"/>
              </a:rPr>
              <a:t>w), a)   </a:t>
            </a:r>
            <a:r>
              <a:rPr lang="en-US" altLang="en-US" smtClean="0">
                <a:sym typeface="Symbol" panose="05050102010706020507" pitchFamily="18" charset="2"/>
              </a:rPr>
              <a:t>for </a:t>
            </a:r>
            <a:r>
              <a:rPr lang="en-US" altLang="en-US" i="1" smtClean="0">
                <a:sym typeface="Symbol" panose="05050102010706020507" pitchFamily="18" charset="2"/>
              </a:rPr>
              <a:t>w </a:t>
            </a: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 ∑*, a ∑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String Matching Automata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eaLnBrk="1" hangingPunct="1"/>
            <a:r>
              <a:rPr lang="en-US" altLang="en-US" smtClean="0"/>
              <a:t>Every pattern </a:t>
            </a:r>
            <a:r>
              <a:rPr lang="en-US" altLang="en-US" i="1" smtClean="0"/>
              <a:t>P</a:t>
            </a:r>
            <a:r>
              <a:rPr lang="en-US" altLang="en-US" smtClean="0"/>
              <a:t> has finite automaton</a:t>
            </a:r>
          </a:p>
          <a:p>
            <a:pPr eaLnBrk="1" hangingPunct="1"/>
            <a:r>
              <a:rPr lang="en-US" altLang="en-US" smtClean="0"/>
              <a:t>It must be built in the preprocessing step</a:t>
            </a:r>
          </a:p>
          <a:p>
            <a:pPr eaLnBrk="1" hangingPunct="1"/>
            <a:r>
              <a:rPr lang="en-US" altLang="en-US" smtClean="0"/>
              <a:t>In order to do so, we first define a function called </a:t>
            </a:r>
            <a:r>
              <a:rPr lang="en-US" altLang="en-US" i="1" smtClean="0"/>
              <a:t>suffix-function</a:t>
            </a:r>
            <a:r>
              <a:rPr lang="en-US" altLang="en-US" smtClean="0"/>
              <a:t> </a:t>
            </a:r>
            <a:r>
              <a:rPr lang="en-US" altLang="en-US" i="1" smtClean="0">
                <a:sym typeface="Symbol" panose="05050102010706020507" pitchFamily="18" charset="2"/>
              </a:rPr>
              <a:t>, </a:t>
            </a:r>
            <a:r>
              <a:rPr lang="en-US" altLang="en-US" u="sng" smtClean="0"/>
              <a:t>corresponding to </a:t>
            </a:r>
            <a:r>
              <a:rPr lang="en-US" altLang="en-US" i="1" u="sng" smtClean="0"/>
              <a:t>P</a:t>
            </a:r>
          </a:p>
          <a:p>
            <a:pPr eaLnBrk="1" hangingPunct="1"/>
            <a:r>
              <a:rPr lang="en-US" altLang="en-US" smtClean="0"/>
              <a:t>It is a mapping from </a:t>
            </a:r>
            <a:r>
              <a:rPr lang="en-US" altLang="en-US" smtClean="0">
                <a:cs typeface="Arial" panose="020B0604020202020204" pitchFamily="34" charset="0"/>
              </a:rPr>
              <a:t>∑* to {0,1,…,m} such that:</a:t>
            </a:r>
          </a:p>
          <a:p>
            <a:pPr eaLnBrk="1" hangingPunct="1"/>
            <a:r>
              <a:rPr lang="en-US" altLang="en-US" i="1" smtClean="0">
                <a:sym typeface="Symbol" panose="05050102010706020507" pitchFamily="18" charset="2"/>
              </a:rPr>
              <a:t>(x) = </a:t>
            </a:r>
            <a:r>
              <a:rPr lang="en-US" altLang="en-US" smtClean="0">
                <a:sym typeface="Symbol" panose="05050102010706020507" pitchFamily="18" charset="2"/>
              </a:rPr>
              <a:t>length of the longest prefix of </a:t>
            </a:r>
            <a:r>
              <a:rPr lang="en-US" altLang="en-US" i="1" smtClean="0">
                <a:sym typeface="Symbol" panose="05050102010706020507" pitchFamily="18" charset="2"/>
              </a:rPr>
              <a:t>P </a:t>
            </a:r>
            <a:r>
              <a:rPr lang="en-US" altLang="en-US" smtClean="0">
                <a:sym typeface="Symbol" panose="05050102010706020507" pitchFamily="18" charset="2"/>
              </a:rPr>
              <a:t>that is a suffix of </a:t>
            </a:r>
            <a:r>
              <a:rPr lang="en-US" altLang="en-US" i="1" smtClean="0">
                <a:sym typeface="Symbol" panose="05050102010706020507" pitchFamily="18" charset="2"/>
              </a:rPr>
              <a:t>x</a:t>
            </a: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i="1" smtClean="0">
                <a:sym typeface="Symbol" panose="05050102010706020507" pitchFamily="18" charset="2"/>
              </a:rPr>
              <a:t>(x) = max{k : P</a:t>
            </a:r>
            <a:r>
              <a:rPr lang="en-US" altLang="en-US" i="1" baseline="-25000" smtClean="0">
                <a:sym typeface="Symbol" panose="05050102010706020507" pitchFamily="18" charset="2"/>
              </a:rPr>
              <a:t>k</a:t>
            </a:r>
            <a:r>
              <a:rPr lang="en-US" altLang="en-US" i="1" smtClean="0">
                <a:sym typeface="Symbol" panose="05050102010706020507" pitchFamily="18" charset="2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╛</a:t>
            </a:r>
            <a:r>
              <a:rPr lang="en-US" altLang="en-US" i="1" smtClean="0">
                <a:sym typeface="Symbol" panose="05050102010706020507" pitchFamily="18" charset="2"/>
              </a:rPr>
              <a:t>x}</a:t>
            </a:r>
            <a:endParaRPr lang="en-US" altLang="en-US" i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String Matching Automata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Suffix function is well defined, since P</a:t>
            </a:r>
            <a:r>
              <a:rPr lang="en-US" altLang="en-US" baseline="-25000" smtClean="0"/>
              <a:t>o</a:t>
            </a:r>
            <a:r>
              <a:rPr lang="en-US" altLang="en-US" smtClean="0"/>
              <a:t> = </a:t>
            </a:r>
            <a:r>
              <a:rPr lang="el-GR" altLang="en-US" smtClean="0">
                <a:cs typeface="Times New Roman" panose="02020603050405020304" pitchFamily="18" charset="0"/>
              </a:rPr>
              <a:t>ε</a:t>
            </a:r>
            <a:r>
              <a:rPr lang="en-US" altLang="en-US" smtClean="0"/>
              <a:t> is a suffix of every string.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If </a:t>
            </a:r>
            <a:r>
              <a:rPr lang="en-US" altLang="en-US" i="1" smtClean="0"/>
              <a:t>P=ab,</a:t>
            </a:r>
            <a:r>
              <a:rPr lang="en-US" altLang="en-US" smtClean="0"/>
              <a:t> then:</a:t>
            </a:r>
          </a:p>
          <a:p>
            <a:pPr eaLnBrk="1" hangingPunct="1"/>
            <a:r>
              <a:rPr lang="en-US" altLang="en-US" i="1" smtClean="0">
                <a:sym typeface="Symbol" panose="05050102010706020507" pitchFamily="18" charset="2"/>
              </a:rPr>
              <a:t>(</a:t>
            </a:r>
            <a:r>
              <a:rPr lang="el-GR" altLang="en-US" smtClean="0">
                <a:cs typeface="Times New Roman" panose="02020603050405020304" pitchFamily="18" charset="0"/>
              </a:rPr>
              <a:t>ε</a:t>
            </a:r>
            <a:r>
              <a:rPr lang="en-US" altLang="en-US" i="1" smtClean="0">
                <a:sym typeface="Symbol" panose="05050102010706020507" pitchFamily="18" charset="2"/>
              </a:rPr>
              <a:t>) = 0</a:t>
            </a:r>
          </a:p>
          <a:p>
            <a:pPr eaLnBrk="1" hangingPunct="1"/>
            <a:r>
              <a:rPr lang="en-US" altLang="en-US" i="1" smtClean="0">
                <a:sym typeface="Symbol" panose="05050102010706020507" pitchFamily="18" charset="2"/>
              </a:rPr>
              <a:t>(x) = 0</a:t>
            </a:r>
          </a:p>
          <a:p>
            <a:pPr eaLnBrk="1" hangingPunct="1"/>
            <a:r>
              <a:rPr lang="en-US" altLang="en-US" i="1" smtClean="0">
                <a:sym typeface="Symbol" panose="05050102010706020507" pitchFamily="18" charset="2"/>
              </a:rPr>
              <a:t>(ccaca) = 1, (ccab) = 2</a:t>
            </a:r>
          </a:p>
          <a:p>
            <a:pPr eaLnBrk="1" hangingPunct="1"/>
            <a:endParaRPr lang="en-US" altLang="en-US" i="1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ym typeface="Symbol" panose="05050102010706020507" pitchFamily="18" charset="2"/>
              </a:rPr>
              <a:t>String Matching Automaton corresponding to a given pattern is defined as:</a:t>
            </a:r>
          </a:p>
          <a:p>
            <a:pPr lvl="1" eaLnBrk="1" hangingPunct="1"/>
            <a:r>
              <a:rPr lang="en-US" altLang="en-US" smtClean="0">
                <a:sym typeface="Symbol" panose="05050102010706020507" pitchFamily="18" charset="2"/>
              </a:rPr>
              <a:t>State Set Q = { 0, 1, 2, ….. M}</a:t>
            </a:r>
          </a:p>
          <a:p>
            <a:pPr lvl="1" eaLnBrk="1" hangingPunct="1"/>
            <a:r>
              <a:rPr lang="en-US" altLang="en-US" smtClean="0">
                <a:sym typeface="Symbol" panose="05050102010706020507" pitchFamily="18" charset="2"/>
              </a:rPr>
              <a:t>Transition function</a:t>
            </a:r>
          </a:p>
          <a:p>
            <a:pPr lvl="2" eaLnBrk="1" hangingPunct="1"/>
            <a:r>
              <a:rPr lang="el-GR" altLang="en-US" sz="3200" i="1" smtClean="0">
                <a:cs typeface="Arial" panose="020B0604020202020204" pitchFamily="34" charset="0"/>
              </a:rPr>
              <a:t>δ</a:t>
            </a:r>
            <a:r>
              <a:rPr lang="en-US" altLang="en-US" sz="3200" i="1" smtClean="0">
                <a:cs typeface="Arial" panose="020B0604020202020204" pitchFamily="34" charset="0"/>
              </a:rPr>
              <a:t>(</a:t>
            </a:r>
            <a:r>
              <a:rPr lang="en-US" altLang="en-US" sz="3200" i="1" smtClean="0">
                <a:sym typeface="Symbol" panose="05050102010706020507" pitchFamily="18" charset="2"/>
              </a:rPr>
              <a:t>q, a)</a:t>
            </a:r>
            <a:r>
              <a:rPr lang="en-US" altLang="en-US" sz="3200" smtClean="0">
                <a:sym typeface="Symbol" panose="05050102010706020507" pitchFamily="18" charset="2"/>
              </a:rPr>
              <a:t> = </a:t>
            </a:r>
            <a:r>
              <a:rPr lang="en-US" altLang="en-US" sz="3200" i="1" smtClean="0">
                <a:sym typeface="Symbol" panose="05050102010706020507" pitchFamily="18" charset="2"/>
              </a:rPr>
              <a:t>(P</a:t>
            </a:r>
            <a:r>
              <a:rPr lang="en-US" altLang="en-US" sz="3200" i="1" baseline="-25000" smtClean="0">
                <a:sym typeface="Symbol" panose="05050102010706020507" pitchFamily="18" charset="2"/>
              </a:rPr>
              <a:t>q</a:t>
            </a:r>
            <a:r>
              <a:rPr lang="en-US" altLang="en-US" sz="3200" i="1" smtClean="0">
                <a:sym typeface="Symbol" panose="05050102010706020507" pitchFamily="18" charset="2"/>
              </a:rPr>
              <a:t>a) </a:t>
            </a:r>
          </a:p>
          <a:p>
            <a:pPr lvl="1" eaLnBrk="1" hangingPunct="1"/>
            <a:endParaRPr lang="en-US" altLang="en-US" sz="3600" i="1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fig32-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228600"/>
            <a:ext cx="6132513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505200" y="1752600"/>
            <a:ext cx="457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Transition function</a:t>
            </a:r>
          </a:p>
          <a:p>
            <a:pPr lvl="2" algn="ctr">
              <a:spcBef>
                <a:spcPct val="0"/>
              </a:spcBef>
              <a:buSzTx/>
              <a:buFontTx/>
              <a:buNone/>
            </a:pPr>
            <a:r>
              <a:rPr lang="el-GR" altLang="en-US" sz="1800" b="0" i="1">
                <a:latin typeface="Times New Roman" panose="02020603050405020304" pitchFamily="18" charset="0"/>
              </a:rPr>
              <a:t>δ</a:t>
            </a:r>
            <a:r>
              <a:rPr lang="en-US" altLang="en-US" sz="1800" b="0" i="1">
                <a:latin typeface="Times New Roman" panose="02020603050405020304" pitchFamily="18" charset="0"/>
              </a:rPr>
              <a:t>(</a:t>
            </a:r>
            <a:r>
              <a:rPr lang="en-US" altLang="en-US" sz="1800" b="0" i="1">
                <a:latin typeface="Times New Roman" panose="02020603050405020304" pitchFamily="18" charset="0"/>
                <a:sym typeface="Symbol" panose="05050102010706020507" pitchFamily="18" charset="2"/>
              </a:rPr>
              <a:t>q, a)</a:t>
            </a:r>
            <a:r>
              <a:rPr lang="en-US" altLang="en-US" sz="1800" b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1800" b="0" i="1">
                <a:latin typeface="Times New Roman" panose="02020603050405020304" pitchFamily="18" charset="0"/>
                <a:sym typeface="Symbol" panose="05050102010706020507" pitchFamily="18" charset="2"/>
              </a:rPr>
              <a:t>(P</a:t>
            </a:r>
            <a:r>
              <a:rPr lang="en-US" altLang="en-US" sz="1800" b="0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1800" b="0" i="1">
                <a:latin typeface="Times New Roman" panose="02020603050405020304" pitchFamily="18" charset="0"/>
                <a:sym typeface="Symbol" panose="05050102010706020507" pitchFamily="18" charset="2"/>
              </a:rPr>
              <a:t>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finite_automaton_match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7213"/>
            <a:ext cx="8610600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 descr="compute_transition_func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3588"/>
            <a:ext cx="8610600" cy="528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59E55C86-45F4-4510-93B5-C854CC8F5266}" type="slidenum">
              <a:rPr lang="en-US" altLang="en-US" sz="2400" b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38</a:t>
            </a:fld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Knuth-Morris-Pratt Algorithm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05400"/>
          </a:xfrm>
        </p:spPr>
        <p:txBody>
          <a:bodyPr/>
          <a:lstStyle/>
          <a:p>
            <a:pPr eaLnBrk="1" hangingPunct="1"/>
            <a:r>
              <a:rPr lang="en-US" altLang="en-US" smtClean="0"/>
              <a:t>Runs in linear time.</a:t>
            </a:r>
          </a:p>
          <a:p>
            <a:pPr eaLnBrk="1" hangingPunct="1"/>
            <a:r>
              <a:rPr lang="en-US" altLang="en-US" smtClean="0"/>
              <a:t>Avoids the computation of the </a:t>
            </a:r>
            <a:r>
              <a:rPr lang="en-US" altLang="en-US" i="1" smtClean="0"/>
              <a:t>transition function </a:t>
            </a:r>
            <a:r>
              <a:rPr lang="el-GR" altLang="en-US" i="1" smtClean="0">
                <a:cs typeface="Arial" panose="020B0604020202020204" pitchFamily="34" charset="0"/>
              </a:rPr>
              <a:t>δ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uses another function </a:t>
            </a:r>
            <a:r>
              <a:rPr lang="el-GR" altLang="en-US" i="1" smtClean="0">
                <a:cs typeface="Arial" panose="020B0604020202020204" pitchFamily="34" charset="0"/>
              </a:rPr>
              <a:t>π</a:t>
            </a:r>
            <a:r>
              <a:rPr lang="en-US" altLang="en-US" i="1" smtClean="0">
                <a:cs typeface="Arial" panose="020B0604020202020204" pitchFamily="34" charset="0"/>
              </a:rPr>
              <a:t>[1..m]</a:t>
            </a:r>
            <a:r>
              <a:rPr lang="en-US" altLang="en-US" smtClean="0">
                <a:cs typeface="Arial" panose="020B0604020202020204" pitchFamily="34" charset="0"/>
              </a:rPr>
              <a:t> pre-computed from the pattern </a:t>
            </a:r>
            <a:r>
              <a:rPr lang="en-US" altLang="en-US" i="1" smtClean="0">
                <a:cs typeface="Arial" panose="020B0604020202020204" pitchFamily="34" charset="0"/>
              </a:rPr>
              <a:t>P[1..m]</a:t>
            </a:r>
            <a:r>
              <a:rPr lang="en-US" altLang="en-US" smtClean="0">
                <a:cs typeface="Arial" panose="020B0604020202020204" pitchFamily="34" charset="0"/>
              </a:rPr>
              <a:t> in </a:t>
            </a:r>
            <a:r>
              <a:rPr lang="el-GR" altLang="en-US" smtClean="0">
                <a:cs typeface="Arial" panose="020B0604020202020204" pitchFamily="34" charset="0"/>
              </a:rPr>
              <a:t>Θ</a:t>
            </a:r>
            <a:r>
              <a:rPr lang="en-US" altLang="en-US" smtClean="0">
                <a:cs typeface="Arial" panose="020B0604020202020204" pitchFamily="34" charset="0"/>
              </a:rPr>
              <a:t>(m)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4AC0207A-F22C-4C1B-9544-1D7C32AF40F1}" type="slidenum">
              <a:rPr lang="en-US" altLang="en-US" sz="2400" b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39</a:t>
            </a:fld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Prefix Function </a:t>
            </a:r>
            <a:r>
              <a:rPr lang="el-GR" altLang="en-US" smtClean="0">
                <a:cs typeface="Arial" panose="020B0604020202020204" pitchFamily="34" charset="0"/>
              </a:rPr>
              <a:t>π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105400"/>
          </a:xfrm>
        </p:spPr>
        <p:txBody>
          <a:bodyPr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prefix function </a:t>
            </a:r>
            <a:r>
              <a:rPr lang="el-GR" altLang="en-US" i="1" smtClean="0">
                <a:cs typeface="Arial" panose="020B0604020202020204" pitchFamily="34" charset="0"/>
              </a:rPr>
              <a:t>π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for a pattern holds knowledge about how the pattern matches against shifts of itself.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This info. can be used to avoid testing useless shifts that the naïve algorithm does</a:t>
            </a:r>
          </a:p>
          <a:p>
            <a:pPr eaLnBrk="1" hangingPunct="1"/>
            <a:r>
              <a:rPr lang="el-GR" altLang="en-US" i="1" smtClean="0">
                <a:cs typeface="Arial" panose="020B0604020202020204" pitchFamily="34" charset="0"/>
              </a:rPr>
              <a:t>π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contains only </a:t>
            </a:r>
            <a:r>
              <a:rPr lang="en-US" altLang="en-US" i="1" smtClean="0">
                <a:cs typeface="Arial" panose="020B0604020202020204" pitchFamily="34" charset="0"/>
              </a:rPr>
              <a:t>m </a:t>
            </a:r>
            <a:r>
              <a:rPr lang="en-US" altLang="en-US" smtClean="0">
                <a:cs typeface="Arial" panose="020B0604020202020204" pitchFamily="34" charset="0"/>
              </a:rPr>
              <a:t>entries, where as </a:t>
            </a:r>
            <a:r>
              <a:rPr lang="el-GR" altLang="en-US" i="1" smtClean="0">
                <a:cs typeface="Arial" panose="020B0604020202020204" pitchFamily="34" charset="0"/>
              </a:rPr>
              <a:t>δ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is a table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of</a:t>
            </a:r>
            <a:r>
              <a:rPr lang="en-US" altLang="en-US" i="1" smtClean="0">
                <a:cs typeface="Arial" panose="020B0604020202020204" pitchFamily="34" charset="0"/>
              </a:rPr>
              <a:t> m|∑| = md </a:t>
            </a:r>
            <a:r>
              <a:rPr lang="en-US" altLang="en-US" smtClean="0">
                <a:cs typeface="Arial" panose="020B0604020202020204" pitchFamily="34" charset="0"/>
              </a:rPr>
              <a:t>entries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Prefix function</a:t>
            </a:r>
          </a:p>
        </p:txBody>
      </p:sp>
      <p:pic>
        <p:nvPicPr>
          <p:cNvPr id="82947" name="Picture 4" descr="fig32-10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217613"/>
            <a:ext cx="5381625" cy="5259387"/>
          </a:xfrm>
          <a:noFill/>
        </p:spPr>
      </p:pic>
      <p:sp>
        <p:nvSpPr>
          <p:cNvPr id="82948" name="Text Box 7"/>
          <p:cNvSpPr txBox="1">
            <a:spLocks noChangeArrowheads="1"/>
          </p:cNvSpPr>
          <p:nvPr/>
        </p:nvSpPr>
        <p:spPr bwMode="auto">
          <a:xfrm>
            <a:off x="4191000" y="1524000"/>
            <a:ext cx="4217988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If we precompute prefix function of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P (against itself), then whenever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 mismatch occurs, the prefix function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can determine which shift(s) are invalid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and directly ruled out. So move directly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to the shift which is potentially valid.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However, there is no need to compare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these characters again since they are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equal.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A0BBAD6-19A9-437A-BC99-378E9CFF421F}" type="slidenum">
              <a:rPr lang="en-US" altLang="en-US" sz="2400" b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41</a:t>
            </a:fld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Prefix Function </a:t>
            </a:r>
            <a:r>
              <a:rPr lang="el-GR" altLang="en-US" smtClean="0">
                <a:cs typeface="Arial" panose="020B0604020202020204" pitchFamily="34" charset="0"/>
              </a:rPr>
              <a:t>π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eaLnBrk="1" hangingPunct="1"/>
            <a:r>
              <a:rPr lang="en-US" altLang="en-US" smtClean="0"/>
              <a:t>If </a:t>
            </a:r>
            <a:r>
              <a:rPr lang="en-US" altLang="en-US" i="1" smtClean="0"/>
              <a:t>P[1..q] = T[s+1..s+q]</a:t>
            </a:r>
            <a:r>
              <a:rPr lang="en-US" altLang="en-US" smtClean="0"/>
              <a:t>, what is the least shift </a:t>
            </a:r>
            <a:r>
              <a:rPr lang="en-US" altLang="en-US" i="1" smtClean="0"/>
              <a:t>s’&gt;s</a:t>
            </a:r>
            <a:r>
              <a:rPr lang="en-US" altLang="en-US" smtClean="0"/>
              <a:t> such that: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P[1..k] = T[s’+1..s’+k] </a:t>
            </a:r>
            <a:r>
              <a:rPr lang="en-US" altLang="en-US" smtClean="0"/>
              <a:t>where </a:t>
            </a:r>
            <a:r>
              <a:rPr lang="en-US" altLang="en-US" i="1" smtClean="0"/>
              <a:t>s’+k=s+q</a:t>
            </a:r>
            <a:r>
              <a:rPr lang="en-US" altLang="en-US" smtClean="0"/>
              <a:t>  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Such a shift s’ is not necessarily invalid, due to the knowledge of </a:t>
            </a:r>
            <a:r>
              <a:rPr lang="en-US" altLang="en-US" i="1" smtClean="0"/>
              <a:t>T[s+1..s+q]</a:t>
            </a:r>
          </a:p>
          <a:p>
            <a:pPr eaLnBrk="1" hangingPunct="1"/>
            <a:r>
              <a:rPr lang="en-US" altLang="en-US" smtClean="0"/>
              <a:t>In the best case, s’ = s+q, ruling out s+1, s+2 ,…,s+q-1.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A37D840-1E31-420F-9EF1-257AE7478ACB}" type="slidenum">
              <a:rPr lang="en-US" altLang="en-US" sz="2400" b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42</a:t>
            </a:fld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Prefix Function </a:t>
            </a:r>
            <a:r>
              <a:rPr lang="el-GR" altLang="en-US" smtClean="0">
                <a:cs typeface="Arial" panose="020B0604020202020204" pitchFamily="34" charset="0"/>
              </a:rPr>
              <a:t>π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eaLnBrk="1" hangingPunct="1"/>
            <a:r>
              <a:rPr lang="en-US" altLang="en-US" smtClean="0"/>
              <a:t>This info. can be precomputed by comparing the pattern with itself.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Given P[1..m], </a:t>
            </a:r>
            <a:r>
              <a:rPr lang="el-GR" altLang="en-US" i="1" smtClean="0">
                <a:cs typeface="Arial" panose="020B0604020202020204" pitchFamily="34" charset="0"/>
              </a:rPr>
              <a:t>π</a:t>
            </a:r>
            <a:r>
              <a:rPr lang="en-US" altLang="en-US" i="1" smtClean="0">
                <a:cs typeface="Arial" panose="020B0604020202020204" pitchFamily="34" charset="0"/>
              </a:rPr>
              <a:t> : {1,2,…,m} </a:t>
            </a:r>
            <a:r>
              <a:rPr lang="en-US" altLang="en-US" i="1" smtClean="0">
                <a:cs typeface="Arial" panose="020B0604020202020204" pitchFamily="34" charset="0"/>
                <a:sym typeface="Wingdings" panose="05000000000000000000" pitchFamily="2" charset="2"/>
              </a:rPr>
              <a:t> {0,1,…m-1} </a:t>
            </a:r>
            <a:r>
              <a:rPr lang="en-US" altLang="en-US" smtClean="0">
                <a:cs typeface="Arial" panose="020B0604020202020204" pitchFamily="34" charset="0"/>
                <a:sym typeface="Wingdings" panose="05000000000000000000" pitchFamily="2" charset="2"/>
              </a:rPr>
              <a:t>such that : </a:t>
            </a:r>
          </a:p>
          <a:p>
            <a:pPr eaLnBrk="1" hangingPunct="1"/>
            <a:r>
              <a:rPr lang="el-GR" altLang="en-US" i="1" smtClean="0">
                <a:cs typeface="Arial" panose="020B0604020202020204" pitchFamily="34" charset="0"/>
              </a:rPr>
              <a:t>π</a:t>
            </a:r>
            <a:r>
              <a:rPr lang="en-US" altLang="en-US" i="1" smtClean="0">
                <a:cs typeface="Arial" panose="020B0604020202020204" pitchFamily="34" charset="0"/>
              </a:rPr>
              <a:t>[q] = max{ k : k&lt;q and P</a:t>
            </a:r>
            <a:r>
              <a:rPr lang="en-US" altLang="en-US" i="1" baseline="-25000" smtClean="0">
                <a:cs typeface="Arial" panose="020B0604020202020204" pitchFamily="34" charset="0"/>
              </a:rPr>
              <a:t>k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╛</a:t>
            </a:r>
            <a:r>
              <a:rPr lang="en-US" altLang="en-US" i="1" smtClean="0">
                <a:cs typeface="Arial" panose="020B0604020202020204" pitchFamily="34" charset="0"/>
              </a:rPr>
              <a:t> P</a:t>
            </a:r>
            <a:r>
              <a:rPr lang="en-US" altLang="en-US" i="1" baseline="-25000" smtClean="0">
                <a:cs typeface="Arial" panose="020B0604020202020204" pitchFamily="34" charset="0"/>
              </a:rPr>
              <a:t>q</a:t>
            </a:r>
            <a:r>
              <a:rPr lang="en-US" altLang="en-US" i="1" smtClean="0">
                <a:cs typeface="Arial" panose="020B0604020202020204" pitchFamily="34" charset="0"/>
              </a:rPr>
              <a:t>}</a:t>
            </a: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3" descr="fig32-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0663"/>
            <a:ext cx="6934200" cy="66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3" descr="KMP_match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8863"/>
            <a:ext cx="9144000" cy="473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3" descr="compute_prefix_func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2763"/>
            <a:ext cx="9144000" cy="58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5803</TotalTime>
  <Pages>11</Pages>
  <Words>1992</Words>
  <Application>Microsoft Office PowerPoint</Application>
  <PresentationFormat>On-screen Show (4:3)</PresentationFormat>
  <Paragraphs>252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Times New Roman</vt:lpstr>
      <vt:lpstr>Arial</vt:lpstr>
      <vt:lpstr>Wingdings</vt:lpstr>
      <vt:lpstr>Symbol</vt:lpstr>
      <vt:lpstr>plsd</vt:lpstr>
      <vt:lpstr>   Design and Analysis of Algorithms</vt:lpstr>
      <vt:lpstr>String Matching Algorithms</vt:lpstr>
      <vt:lpstr>References</vt:lpstr>
      <vt:lpstr>String Matching: Introduction</vt:lpstr>
      <vt:lpstr>Exact String Matching Problem</vt:lpstr>
      <vt:lpstr>Exact String Matching Problem</vt:lpstr>
      <vt:lpstr>PowerPoint Presentation</vt:lpstr>
      <vt:lpstr>Approximate String Matching</vt:lpstr>
      <vt:lpstr>Importance</vt:lpstr>
      <vt:lpstr>PowerPoint Presentation</vt:lpstr>
      <vt:lpstr>Notation &amp; terminology</vt:lpstr>
      <vt:lpstr>Notation &amp; terminology (cont’d)</vt:lpstr>
      <vt:lpstr>Overlapping Suffices</vt:lpstr>
      <vt:lpstr>Naïve string matching Algo.</vt:lpstr>
      <vt:lpstr>PowerPoint Presentation</vt:lpstr>
      <vt:lpstr>PowerPoint Presentation</vt:lpstr>
      <vt:lpstr>Why is naïve algo. inefficient?</vt:lpstr>
      <vt:lpstr>The Rabin-Karp Algorithm</vt:lpstr>
      <vt:lpstr>The Rabin-Karp Algorithm (Cont’d)</vt:lpstr>
      <vt:lpstr>The Rabin-Karp Algorithm (Cont’d)</vt:lpstr>
      <vt:lpstr>The Rabin-Karp Algorithm (Cont’d)</vt:lpstr>
      <vt:lpstr>The Rabin-Karp Algorithm (Cont’d)</vt:lpstr>
      <vt:lpstr>The Rabin-Karp Algorithm (Cont’d)</vt:lpstr>
      <vt:lpstr>PowerPoint Presentation</vt:lpstr>
      <vt:lpstr>PowerPoint Presentation</vt:lpstr>
      <vt:lpstr>The Rabin-Karp Algorithm (Cont’d)</vt:lpstr>
      <vt:lpstr>String Matching with finite automata</vt:lpstr>
      <vt:lpstr>Finite Automata</vt:lpstr>
      <vt:lpstr>Finite Automata (Cont’d)</vt:lpstr>
      <vt:lpstr>PowerPoint Presentation</vt:lpstr>
      <vt:lpstr>Final-State Function</vt:lpstr>
      <vt:lpstr>String Matching Automata</vt:lpstr>
      <vt:lpstr>String Matching Automata</vt:lpstr>
      <vt:lpstr>PowerPoint Presentation</vt:lpstr>
      <vt:lpstr>PowerPoint Presentation</vt:lpstr>
      <vt:lpstr>PowerPoint Presentation</vt:lpstr>
      <vt:lpstr>PowerPoint Presentation</vt:lpstr>
      <vt:lpstr>Knuth-Morris-Pratt Algorithm</vt:lpstr>
      <vt:lpstr>Prefix Function π</vt:lpstr>
      <vt:lpstr>Prefix function</vt:lpstr>
      <vt:lpstr>Prefix Function π</vt:lpstr>
      <vt:lpstr>Prefix Function π</vt:lpstr>
      <vt:lpstr>PowerPoint Presentation</vt:lpstr>
      <vt:lpstr>PowerPoint Presentation</vt:lpstr>
      <vt:lpstr>PowerPoint Presentation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user1</cp:lastModifiedBy>
  <cp:revision>512</cp:revision>
  <cp:lastPrinted>1998-07-27T03:15:14Z</cp:lastPrinted>
  <dcterms:created xsi:type="dcterms:W3CDTF">1998-07-26T04:07:26Z</dcterms:created>
  <dcterms:modified xsi:type="dcterms:W3CDTF">2025-07-28T10:25:56Z</dcterms:modified>
</cp:coreProperties>
</file>