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3" r:id="rId10"/>
    <p:sldId id="274" r:id="rId11"/>
    <p:sldId id="275" r:id="rId12"/>
    <p:sldId id="276" r:id="rId13"/>
    <p:sldId id="277" r:id="rId14"/>
    <p:sldId id="293" r:id="rId15"/>
    <p:sldId id="294" r:id="rId16"/>
    <p:sldId id="295" r:id="rId17"/>
    <p:sldId id="278" r:id="rId18"/>
    <p:sldId id="310" r:id="rId19"/>
    <p:sldId id="311" r:id="rId20"/>
    <p:sldId id="312" r:id="rId21"/>
    <p:sldId id="313" r:id="rId22"/>
    <p:sldId id="330" r:id="rId23"/>
    <p:sldId id="331" r:id="rId24"/>
    <p:sldId id="314" r:id="rId25"/>
    <p:sldId id="332" r:id="rId26"/>
    <p:sldId id="315" r:id="rId27"/>
    <p:sldId id="316" r:id="rId28"/>
    <p:sldId id="317" r:id="rId29"/>
    <p:sldId id="318" r:id="rId30"/>
    <p:sldId id="319" r:id="rId31"/>
    <p:sldId id="320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33" r:id="rId40"/>
    <p:sldId id="329" r:id="rId4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60" autoAdjust="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C5D25B8-5123-4677-A7A3-33DCFE54AC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 smtClean="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 smtClean="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 smtClean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686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86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98F7A-520E-4EDB-A332-A2AE4E743E07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871C7-FB12-4E41-8A58-9BF3B99B32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6085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59DCC3-9AA0-4CED-A230-C8D78192B4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FBB9B1-A5C5-4E54-BE17-AA25C5FB4882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6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4B479B-325E-418B-8438-1930AC2AA5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22445-71E1-496F-A0D0-2497D0E0A7EF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89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AA820-72CE-4D00-AF75-D83FC61C4D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47109-3C17-4641-AB89-FC60CBB029BF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41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071F21-905C-4C81-9509-A693F0E5DB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122540-2BF8-47E9-9FE1-AD3BF89A8331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42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685D81-BB59-49D4-B4F5-BE03D4B420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6CEC24-6151-41DD-A74E-D373A099590D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458FA-E269-44EE-BD52-0FFB9C3025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46925-7D41-4A2F-A1E9-E4EE81954B46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41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138FDB-1986-46BB-941A-E7E4B04A0A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6E5E6F-8C66-4EA6-BEB2-A84B3DA100A0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4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38227D-01BA-4733-ACE8-1E31E901C0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2ACD8-77C9-484F-957E-B06114F315C3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8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A4CC22-B90B-4EEE-86C8-4534B42154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BD3D7-F112-4C01-86AA-E06F4A22D713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09B40-3A12-4B8A-88CD-3C45A26FEA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90D2A0-EE8F-41CF-8B1F-C34337D73F5C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7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398C9BE2-1D58-447F-A1FE-C21AEE1AD0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 smtClean="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 smtClean="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 smtClean="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676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00A459E0-5CAB-48AF-9399-375D9C4ADCA3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3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0877ED-B7A2-4C62-B228-072B63C43C19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Greedy Algorithms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1C0E2D-E031-4110-9B3D-8E7ABE953C3B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graphicFrame>
        <p:nvGraphicFramePr>
          <p:cNvPr id="5123" name="Object 4"/>
          <p:cNvGraphicFramePr>
            <a:graphicFrameLocks noChangeAspect="1"/>
          </p:cNvGraphicFramePr>
          <p:nvPr/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33D9BE-C6D4-4F3A-B12D-CD6AE53A51B3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An activity selection problem</a:t>
            </a:r>
            <a:r>
              <a:rPr lang="en-US" altLang="en-US" smtClean="0"/>
              <a:t> 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 smtClean="0"/>
              <a:t>Problem: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600" smtClean="0"/>
              <a:t> Optimal scheduling of a resource among several competing activities (scheduling rehearsal times in a music studio)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360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sz="3600" smtClean="0"/>
              <a:t> Want to select as many mutually compatible activities as possible.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C4C262-2A96-4955-923B-34651E149948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graphicFrame>
        <p:nvGraphicFramePr>
          <p:cNvPr id="7171" name="Object 4"/>
          <p:cNvGraphicFramePr>
            <a:graphicFrameLocks noChangeAspect="1"/>
          </p:cNvGraphicFramePr>
          <p:nvPr/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9136E3-4A50-46DB-8D79-5562822B7D2A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5029200"/>
          </a:xfrm>
        </p:spPr>
        <p:txBody>
          <a:bodyPr/>
          <a:lstStyle/>
          <a:p>
            <a:pPr eaLnBrk="1" hangingPunct="1"/>
            <a:r>
              <a:rPr lang="en-US" altLang="en-US" i="1" smtClean="0"/>
              <a:t>S = {1, 2, ..., n}</a:t>
            </a:r>
            <a:r>
              <a:rPr lang="en-US" altLang="en-US" smtClean="0"/>
              <a:t> a set of </a:t>
            </a:r>
            <a:r>
              <a:rPr lang="en-US" altLang="en-US" i="1" smtClean="0"/>
              <a:t>n</a:t>
            </a:r>
            <a:r>
              <a:rPr lang="en-US" altLang="en-US" smtClean="0"/>
              <a:t> proposed activities. 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Each activity </a:t>
            </a:r>
            <a:r>
              <a:rPr lang="en-US" altLang="en-US" i="1" smtClean="0"/>
              <a:t>i</a:t>
            </a:r>
            <a:r>
              <a:rPr lang="en-US" altLang="en-US" smtClean="0"/>
              <a:t> has </a:t>
            </a:r>
            <a:r>
              <a:rPr lang="en-US" altLang="en-US" i="1" smtClean="0"/>
              <a:t>s</a:t>
            </a:r>
            <a:r>
              <a:rPr lang="en-US" altLang="en-US" i="1" baseline="-25000" smtClean="0"/>
              <a:t>i</a:t>
            </a:r>
            <a:r>
              <a:rPr lang="en-US" altLang="en-US" smtClean="0"/>
              <a:t> a start time, and </a:t>
            </a:r>
            <a:r>
              <a:rPr lang="en-US" altLang="en-US" i="1" smtClean="0"/>
              <a:t>f</a:t>
            </a:r>
            <a:r>
              <a:rPr lang="en-US" altLang="en-US" i="1" baseline="-25000" smtClean="0"/>
              <a:t>i</a:t>
            </a:r>
            <a:r>
              <a:rPr lang="en-US" altLang="en-US" smtClean="0"/>
              <a:t> a finish time </a:t>
            </a:r>
            <a:r>
              <a:rPr lang="en-US" altLang="en-US" i="1" smtClean="0"/>
              <a:t>s</a:t>
            </a:r>
            <a:r>
              <a:rPr lang="en-US" altLang="en-US" i="1" baseline="-25000" smtClean="0"/>
              <a:t>i</a:t>
            </a:r>
            <a:r>
              <a:rPr lang="en-US" altLang="en-US" i="1" smtClean="0"/>
              <a:t> </a:t>
            </a:r>
            <a:r>
              <a:rPr lang="en-US" altLang="en-US" i="1" smtClean="0">
                <a:cs typeface="Arial" panose="020B0604020202020204" pitchFamily="34" charset="0"/>
              </a:rPr>
              <a:t>≤</a:t>
            </a:r>
            <a:r>
              <a:rPr lang="en-US" altLang="en-US" i="1" smtClean="0"/>
              <a:t> f</a:t>
            </a:r>
            <a:r>
              <a:rPr lang="en-US" altLang="en-US" i="1" baseline="-25000" smtClean="0"/>
              <a:t>i</a:t>
            </a:r>
            <a:r>
              <a:rPr lang="en-US" altLang="en-US" smtClean="0"/>
              <a:t>. 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If activity </a:t>
            </a:r>
            <a:r>
              <a:rPr lang="en-US" altLang="en-US" i="1" smtClean="0"/>
              <a:t>i</a:t>
            </a:r>
            <a:r>
              <a:rPr lang="en-US" altLang="en-US" smtClean="0"/>
              <a:t> is selected, the resource is occupied in the interval </a:t>
            </a:r>
            <a:r>
              <a:rPr lang="en-US" altLang="en-US" i="1" smtClean="0"/>
              <a:t>[s</a:t>
            </a:r>
            <a:r>
              <a:rPr lang="en-US" altLang="en-US" i="1" baseline="-25000" smtClean="0"/>
              <a:t>i</a:t>
            </a:r>
            <a:r>
              <a:rPr lang="en-US" altLang="en-US" i="1" smtClean="0"/>
              <a:t> ,  f</a:t>
            </a:r>
            <a:r>
              <a:rPr lang="en-US" altLang="en-US" i="1" baseline="-25000" smtClean="0"/>
              <a:t>i</a:t>
            </a:r>
            <a:r>
              <a:rPr lang="en-US" altLang="en-US" i="1" smtClean="0"/>
              <a:t>).</a:t>
            </a:r>
            <a:r>
              <a:rPr lang="en-US" altLang="en-US" smtClean="0"/>
              <a:t> We say </a:t>
            </a:r>
            <a:r>
              <a:rPr lang="en-US" altLang="en-US" i="1" smtClean="0"/>
              <a:t>i</a:t>
            </a:r>
            <a:r>
              <a:rPr lang="en-US" altLang="en-US" smtClean="0"/>
              <a:t> and </a:t>
            </a:r>
            <a:r>
              <a:rPr lang="en-US" altLang="en-US" i="1" smtClean="0"/>
              <a:t>j</a:t>
            </a:r>
            <a:r>
              <a:rPr lang="en-US" altLang="en-US" smtClean="0"/>
              <a:t> are compatible activities if </a:t>
            </a:r>
            <a:r>
              <a:rPr lang="en-US" altLang="en-US" i="1" smtClean="0"/>
              <a:t>[s</a:t>
            </a:r>
            <a:r>
              <a:rPr lang="en-US" altLang="en-US" i="1" baseline="-25000" smtClean="0"/>
              <a:t>i</a:t>
            </a:r>
            <a:r>
              <a:rPr lang="en-US" altLang="en-US" i="1" smtClean="0"/>
              <a:t> ,  f</a:t>
            </a:r>
            <a:r>
              <a:rPr lang="en-US" altLang="en-US" i="1" baseline="-25000" smtClean="0"/>
              <a:t>i</a:t>
            </a:r>
            <a:r>
              <a:rPr lang="en-US" altLang="en-US" i="1" smtClean="0"/>
              <a:t>) </a:t>
            </a:r>
            <a:r>
              <a:rPr lang="en-US" altLang="en-US" i="1" smtClean="0">
                <a:cs typeface="Arial" panose="020B0604020202020204" pitchFamily="34" charset="0"/>
              </a:rPr>
              <a:t>∩</a:t>
            </a:r>
            <a:r>
              <a:rPr lang="en-US" altLang="en-US" i="1" smtClean="0"/>
              <a:t> [s</a:t>
            </a:r>
            <a:r>
              <a:rPr lang="en-US" altLang="en-US" i="1" baseline="-25000" smtClean="0"/>
              <a:t>j</a:t>
            </a:r>
            <a:r>
              <a:rPr lang="en-US" altLang="en-US" i="1" smtClean="0"/>
              <a:t> ,  f</a:t>
            </a:r>
            <a:r>
              <a:rPr lang="en-US" altLang="en-US" i="1" baseline="-25000" smtClean="0"/>
              <a:t>j</a:t>
            </a:r>
            <a:r>
              <a:rPr lang="en-US" altLang="en-US" i="1" smtClean="0"/>
              <a:t>) = </a:t>
            </a:r>
            <a:r>
              <a:rPr lang="ru-RU" altLang="en-US" i="1" smtClean="0">
                <a:cs typeface="Arial" panose="020B0604020202020204" pitchFamily="34" charset="0"/>
              </a:rPr>
              <a:t>Ф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209800" y="347663"/>
            <a:ext cx="4114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/>
              <a:t>Problem</a:t>
            </a:r>
            <a:r>
              <a:rPr lang="en-US" altLang="en-US" sz="2400"/>
              <a:t> </a:t>
            </a:r>
            <a:r>
              <a:rPr lang="en-US" altLang="en-US" sz="4400"/>
              <a:t>setup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A1E746-C0ED-488E-8F89-78A2769461D0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Greedy-Activity-Selector ( s, f ) </a:t>
            </a:r>
          </a:p>
        </p:txBody>
      </p:sp>
      <p:sp>
        <p:nvSpPr>
          <p:cNvPr id="922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smtClean="0"/>
              <a:t>Assume that f</a:t>
            </a:r>
            <a:r>
              <a:rPr lang="en-US" altLang="en-US" sz="2800" baseline="-25000" smtClean="0"/>
              <a:t>1</a:t>
            </a:r>
            <a:r>
              <a:rPr lang="en-US" altLang="en-US" sz="2800" smtClean="0"/>
              <a:t> </a:t>
            </a:r>
            <a:r>
              <a:rPr lang="en-US" altLang="en-US" i="1" smtClean="0">
                <a:cs typeface="Arial" panose="020B0604020202020204" pitchFamily="34" charset="0"/>
              </a:rPr>
              <a:t>≤</a:t>
            </a:r>
            <a:r>
              <a:rPr lang="en-US" altLang="en-US" sz="2800" smtClean="0"/>
              <a:t> f</a:t>
            </a:r>
            <a:r>
              <a:rPr lang="en-US" altLang="en-US" sz="2800" baseline="-25000" smtClean="0"/>
              <a:t>2</a:t>
            </a:r>
            <a:r>
              <a:rPr lang="en-US" altLang="en-US" sz="2800" smtClean="0"/>
              <a:t>  </a:t>
            </a:r>
            <a:r>
              <a:rPr lang="en-US" altLang="en-US" i="1" smtClean="0">
                <a:cs typeface="Arial" panose="020B0604020202020204" pitchFamily="34" charset="0"/>
              </a:rPr>
              <a:t>≤</a:t>
            </a:r>
            <a:r>
              <a:rPr lang="en-US" altLang="en-US" sz="2800" smtClean="0"/>
              <a:t>   ...  </a:t>
            </a:r>
            <a:r>
              <a:rPr lang="en-US" altLang="en-US" i="1" smtClean="0">
                <a:cs typeface="Arial" panose="020B0604020202020204" pitchFamily="34" charset="0"/>
              </a:rPr>
              <a:t>≤</a:t>
            </a:r>
            <a:r>
              <a:rPr lang="en-US" altLang="en-US" sz="2800" smtClean="0"/>
              <a:t>   f</a:t>
            </a:r>
            <a:r>
              <a:rPr lang="en-US" altLang="en-US" sz="2800" baseline="-25000" smtClean="0"/>
              <a:t>n</a:t>
            </a:r>
            <a:r>
              <a:rPr lang="en-US" altLang="en-US" sz="2800" smtClean="0"/>
              <a:t> 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i="1" smtClean="0"/>
              <a:t>Greedy-Activity-Selector ( s, f )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b="1" i="1" smtClean="0"/>
              <a:t>n </a:t>
            </a:r>
            <a:r>
              <a:rPr lang="en-US" altLang="en-US" b="1" i="1" smtClean="0">
                <a:cs typeface="Arial" panose="020B0604020202020204" pitchFamily="34" charset="0"/>
              </a:rPr>
              <a:t>←</a:t>
            </a:r>
            <a:r>
              <a:rPr lang="en-US" altLang="en-US" b="1" i="1" smtClean="0"/>
              <a:t> length [s]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b="1" i="1" smtClean="0"/>
              <a:t>A </a:t>
            </a:r>
            <a:r>
              <a:rPr lang="en-US" altLang="en-US" b="1" i="1" smtClean="0">
                <a:cs typeface="Arial" panose="020B0604020202020204" pitchFamily="34" charset="0"/>
              </a:rPr>
              <a:t>←</a:t>
            </a:r>
            <a:r>
              <a:rPr lang="en-US" altLang="en-US" b="1" i="1" smtClean="0"/>
              <a:t> { 1 }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b="1" i="1" smtClean="0"/>
              <a:t>j </a:t>
            </a:r>
            <a:r>
              <a:rPr lang="en-US" altLang="en-US" b="1" i="1" smtClean="0">
                <a:cs typeface="Arial" panose="020B0604020202020204" pitchFamily="34" charset="0"/>
              </a:rPr>
              <a:t>←</a:t>
            </a:r>
            <a:r>
              <a:rPr lang="en-US" altLang="en-US" b="1" i="1" smtClean="0"/>
              <a:t> 1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b="1" i="1" smtClean="0"/>
              <a:t>for i </a:t>
            </a:r>
            <a:r>
              <a:rPr lang="en-US" altLang="en-US" b="1" i="1" smtClean="0">
                <a:cs typeface="Arial" panose="020B0604020202020204" pitchFamily="34" charset="0"/>
              </a:rPr>
              <a:t>←</a:t>
            </a:r>
            <a:r>
              <a:rPr lang="en-US" altLang="en-US" b="1" i="1" smtClean="0"/>
              <a:t> 2 to n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b="1" i="1" smtClean="0"/>
              <a:t>   do if s</a:t>
            </a:r>
            <a:r>
              <a:rPr lang="en-US" altLang="en-US" baseline="-25000" smtClean="0"/>
              <a:t>i</a:t>
            </a:r>
            <a:r>
              <a:rPr lang="en-US" altLang="en-US" b="1" i="1" smtClean="0"/>
              <a:t> </a:t>
            </a:r>
            <a:r>
              <a:rPr lang="en-US" altLang="en-US" b="1" i="1" smtClean="0">
                <a:cs typeface="Arial" panose="020B0604020202020204" pitchFamily="34" charset="0"/>
              </a:rPr>
              <a:t>≥</a:t>
            </a:r>
            <a:r>
              <a:rPr lang="en-US" altLang="en-US" b="1" i="1" smtClean="0"/>
              <a:t>   f</a:t>
            </a:r>
            <a:r>
              <a:rPr lang="en-US" altLang="en-US" baseline="-25000" smtClean="0"/>
              <a:t>j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b="1" i="1" smtClean="0"/>
              <a:t>      then A </a:t>
            </a:r>
            <a:r>
              <a:rPr lang="en-US" altLang="en-US" b="1" i="1" smtClean="0">
                <a:cs typeface="Arial" panose="020B0604020202020204" pitchFamily="34" charset="0"/>
              </a:rPr>
              <a:t>←</a:t>
            </a:r>
            <a:r>
              <a:rPr lang="en-US" altLang="en-US" b="1" i="1" smtClean="0"/>
              <a:t> A </a:t>
            </a:r>
            <a:r>
              <a:rPr lang="en-US" altLang="en-US" b="1" i="1" smtClean="0">
                <a:cs typeface="Arial" panose="020B0604020202020204" pitchFamily="34" charset="0"/>
              </a:rPr>
              <a:t>U</a:t>
            </a:r>
            <a:r>
              <a:rPr lang="en-US" altLang="en-US" b="1" i="1" smtClean="0"/>
              <a:t>{ i }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b="1" i="1" smtClean="0"/>
              <a:t>         j </a:t>
            </a:r>
            <a:r>
              <a:rPr lang="en-US" altLang="en-US" b="1" i="1" smtClean="0">
                <a:cs typeface="Arial" panose="020B0604020202020204" pitchFamily="34" charset="0"/>
              </a:rPr>
              <a:t>←</a:t>
            </a:r>
            <a:r>
              <a:rPr lang="en-US" altLang="en-US" b="1" i="1" smtClean="0"/>
              <a:t> i</a:t>
            </a:r>
            <a:endParaRPr lang="en-US" altLang="en-US" b="1" i="1" smtClean="0"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b="1" i="1" smtClean="0"/>
              <a:t>return A</a:t>
            </a:r>
            <a:r>
              <a:rPr lang="en-US" altLang="en-US" b="1" smtClean="0"/>
              <a:t>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EC4C66-C55A-4017-AD45-805BE352FB1D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graphicFrame>
        <p:nvGraphicFramePr>
          <p:cNvPr id="10243" name="Object 4"/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Photo Editor Photo" r:id="rId3" imgW="6095238" imgH="8078328" progId="MSPhotoEd.3">
                  <p:embed/>
                </p:oleObj>
              </mc:Choice>
              <mc:Fallback>
                <p:oleObj name="Photo Editor Photo" r:id="rId3" imgW="6095238" imgH="8078328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043A59-C5CE-458A-B71C-4DC5BD68B39D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(Contd…)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30725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The activity picked is always the first that is compatible. Greedy algorithms do not always produce optimal solutions.</a:t>
            </a:r>
          </a:p>
          <a:p>
            <a:pPr eaLnBrk="1" hangingPunct="1"/>
            <a:endParaRPr lang="en-US" altLang="en-US" sz="3600" smtClean="0"/>
          </a:p>
          <a:p>
            <a:pPr eaLnBrk="1" hangingPunct="1"/>
            <a:r>
              <a:rPr lang="en-US" altLang="en-US" sz="3600" smtClean="0"/>
              <a:t>Running time for sorting </a:t>
            </a:r>
            <a:r>
              <a:rPr lang="en-US" altLang="en-US" sz="3600" i="1" smtClean="0"/>
              <a:t>n</a:t>
            </a:r>
            <a:r>
              <a:rPr lang="en-US" altLang="en-US" sz="3600" smtClean="0"/>
              <a:t> activities by f</a:t>
            </a:r>
            <a:r>
              <a:rPr lang="en-US" altLang="en-US" sz="3600" baseline="-25000" smtClean="0"/>
              <a:t>j </a:t>
            </a:r>
            <a:r>
              <a:rPr lang="en-US" altLang="en-US" sz="3600" smtClean="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600" i="1" smtClean="0"/>
              <a:t> 	O ( n log n )</a:t>
            </a:r>
            <a:r>
              <a:rPr lang="en-US" altLang="en-US" sz="3600" smtClean="0"/>
              <a:t> and for Greed-Activity-Selector is </a:t>
            </a:r>
            <a:r>
              <a:rPr lang="en-US" altLang="en-US" sz="3600" i="1" smtClean="0"/>
              <a:t>O ( n )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3600" i="1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9B70E8-0803-47AA-A92E-0B154B1624D4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b="1" smtClean="0"/>
              <a:t>The 0 - 1 knapsack problem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39624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800" smtClean="0"/>
              <a:t>A thief has a knapsack that holds at most W pounds.</a:t>
            </a:r>
            <a:endParaRPr lang="en-US" altLang="en-US" sz="1400" smtClean="0"/>
          </a:p>
          <a:p>
            <a:pPr eaLnBrk="1" hangingPunct="1">
              <a:lnSpc>
                <a:spcPct val="130000"/>
              </a:lnSpc>
            </a:pPr>
            <a:endParaRPr lang="en-US" altLang="en-US" sz="1200" smtClean="0"/>
          </a:p>
          <a:p>
            <a:pPr eaLnBrk="1" hangingPunct="1">
              <a:lnSpc>
                <a:spcPct val="130000"/>
              </a:lnSpc>
            </a:pPr>
            <a:r>
              <a:rPr lang="en-US" altLang="en-US" sz="2800" smtClean="0"/>
              <a:t> Item i : ( v</a:t>
            </a:r>
            <a:r>
              <a:rPr lang="en-US" altLang="en-US" sz="2800" baseline="-25000" smtClean="0"/>
              <a:t>i</a:t>
            </a:r>
            <a:r>
              <a:rPr lang="en-US" altLang="en-US" sz="2800" smtClean="0"/>
              <a:t>, w</a:t>
            </a:r>
            <a:r>
              <a:rPr lang="en-US" altLang="en-US" sz="2800" baseline="-25000" smtClean="0"/>
              <a:t>i</a:t>
            </a:r>
            <a:r>
              <a:rPr lang="en-US" altLang="en-US" sz="2800" smtClean="0"/>
              <a:t> ) ( v = value, w = weight ) </a:t>
            </a:r>
          </a:p>
          <a:p>
            <a:pPr eaLnBrk="1" hangingPunct="1">
              <a:lnSpc>
                <a:spcPct val="130000"/>
              </a:lnSpc>
            </a:pPr>
            <a:endParaRPr lang="en-US" altLang="en-US" sz="1200" smtClean="0"/>
          </a:p>
          <a:p>
            <a:pPr eaLnBrk="1" hangingPunct="1">
              <a:lnSpc>
                <a:spcPct val="130000"/>
              </a:lnSpc>
            </a:pPr>
            <a:r>
              <a:rPr lang="en-US" altLang="en-US" sz="2800" smtClean="0"/>
              <a:t> Thief must  choose items to maximize the      value stolen and still fit into the knapsack.</a:t>
            </a:r>
          </a:p>
          <a:p>
            <a:pPr eaLnBrk="1" hangingPunct="1">
              <a:lnSpc>
                <a:spcPct val="130000"/>
              </a:lnSpc>
            </a:pPr>
            <a:endParaRPr lang="en-US" altLang="en-US" sz="1200" smtClean="0"/>
          </a:p>
          <a:p>
            <a:pPr eaLnBrk="1" hangingPunct="1">
              <a:lnSpc>
                <a:spcPct val="130000"/>
              </a:lnSpc>
            </a:pPr>
            <a:r>
              <a:rPr lang="en-US" altLang="en-US" sz="2800" smtClean="0"/>
              <a:t> Each item must be taken or left ( 0 - 1 ).</a:t>
            </a:r>
          </a:p>
        </p:txBody>
      </p:sp>
      <p:sp>
        <p:nvSpPr>
          <p:cNvPr id="12293" name="AutoShape 5"/>
          <p:cNvSpPr>
            <a:spLocks noChangeArrowheads="1"/>
          </p:cNvSpPr>
          <p:nvPr/>
        </p:nvSpPr>
        <p:spPr bwMode="auto">
          <a:xfrm>
            <a:off x="3352800" y="5486400"/>
            <a:ext cx="304800" cy="762000"/>
          </a:xfrm>
          <a:prstGeom prst="can">
            <a:avLst>
              <a:gd name="adj" fmla="val 62500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4" name="AutoShape 6"/>
          <p:cNvSpPr>
            <a:spLocks noChangeArrowheads="1"/>
          </p:cNvSpPr>
          <p:nvPr/>
        </p:nvSpPr>
        <p:spPr bwMode="auto">
          <a:xfrm>
            <a:off x="3886200" y="5562600"/>
            <a:ext cx="1066800" cy="762000"/>
          </a:xfrm>
          <a:prstGeom prst="can">
            <a:avLst>
              <a:gd name="adj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5" name="AutoShape 7"/>
          <p:cNvSpPr>
            <a:spLocks noChangeArrowheads="1"/>
          </p:cNvSpPr>
          <p:nvPr/>
        </p:nvSpPr>
        <p:spPr bwMode="auto">
          <a:xfrm>
            <a:off x="4724400" y="5638800"/>
            <a:ext cx="533400" cy="762000"/>
          </a:xfrm>
          <a:prstGeom prst="can">
            <a:avLst>
              <a:gd name="adj" fmla="val 3571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667000" y="5562600"/>
            <a:ext cx="3048000" cy="838200"/>
            <a:chOff x="1680" y="3504"/>
            <a:chExt cx="1920" cy="528"/>
          </a:xfrm>
        </p:grpSpPr>
        <p:sp>
          <p:nvSpPr>
            <p:cNvPr id="12297" name="AutoShape 4"/>
            <p:cNvSpPr>
              <a:spLocks noChangeArrowheads="1"/>
            </p:cNvSpPr>
            <p:nvPr/>
          </p:nvSpPr>
          <p:spPr bwMode="auto">
            <a:xfrm>
              <a:off x="1680" y="3504"/>
              <a:ext cx="336" cy="480"/>
            </a:xfrm>
            <a:prstGeom prst="can">
              <a:avLst>
                <a:gd name="adj" fmla="val 3571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2298" name="AutoShape 8"/>
            <p:cNvSpPr>
              <a:spLocks noChangeArrowheads="1"/>
            </p:cNvSpPr>
            <p:nvPr/>
          </p:nvSpPr>
          <p:spPr bwMode="auto">
            <a:xfrm>
              <a:off x="3408" y="3552"/>
              <a:ext cx="192" cy="480"/>
            </a:xfrm>
            <a:prstGeom prst="can">
              <a:avLst>
                <a:gd name="adj" fmla="val 625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C217B6-5941-4C49-9A42-6DE0B000C4F6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13315" name="AutoShape 11"/>
          <p:cNvSpPr>
            <a:spLocks noChangeArrowheads="1"/>
          </p:cNvSpPr>
          <p:nvPr/>
        </p:nvSpPr>
        <p:spPr bwMode="auto">
          <a:xfrm>
            <a:off x="3810000" y="5410200"/>
            <a:ext cx="1066800" cy="457200"/>
          </a:xfrm>
          <a:prstGeom prst="can">
            <a:avLst>
              <a:gd name="adj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b="1" smtClean="0"/>
              <a:t>Fractional knapsack problem</a:t>
            </a:r>
            <a:r>
              <a:rPr lang="en-US" altLang="en-US" smtClean="0"/>
              <a:t> 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2819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mtClean="0"/>
              <a:t>	The setup is same as (0-1) Knapsack, but the thief can take fractions of items, rather than having to make a binary choice(0-1) for each item.</a:t>
            </a:r>
          </a:p>
        </p:txBody>
      </p:sp>
      <p:sp>
        <p:nvSpPr>
          <p:cNvPr id="13318" name="AutoShape 9"/>
          <p:cNvSpPr>
            <a:spLocks noChangeArrowheads="1"/>
          </p:cNvSpPr>
          <p:nvPr/>
        </p:nvSpPr>
        <p:spPr bwMode="auto">
          <a:xfrm>
            <a:off x="2590800" y="5486400"/>
            <a:ext cx="533400" cy="3810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19" name="AutoShape 10"/>
          <p:cNvSpPr>
            <a:spLocks noChangeArrowheads="1"/>
          </p:cNvSpPr>
          <p:nvPr/>
        </p:nvSpPr>
        <p:spPr bwMode="auto">
          <a:xfrm>
            <a:off x="3276600" y="5029200"/>
            <a:ext cx="304800" cy="762000"/>
          </a:xfrm>
          <a:prstGeom prst="can">
            <a:avLst>
              <a:gd name="adj" fmla="val 62500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20" name="AutoShape 12"/>
          <p:cNvSpPr>
            <a:spLocks noChangeArrowheads="1"/>
          </p:cNvSpPr>
          <p:nvPr/>
        </p:nvSpPr>
        <p:spPr bwMode="auto">
          <a:xfrm>
            <a:off x="4648200" y="5638800"/>
            <a:ext cx="533400" cy="3048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21" name="AutoShape 13"/>
          <p:cNvSpPr>
            <a:spLocks noChangeArrowheads="1"/>
          </p:cNvSpPr>
          <p:nvPr/>
        </p:nvSpPr>
        <p:spPr bwMode="auto">
          <a:xfrm>
            <a:off x="5334000" y="5181600"/>
            <a:ext cx="304800" cy="762000"/>
          </a:xfrm>
          <a:prstGeom prst="can">
            <a:avLst>
              <a:gd name="adj" fmla="val 62500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2590800" y="5029200"/>
            <a:ext cx="2590800" cy="914400"/>
            <a:chOff x="1632" y="3168"/>
            <a:chExt cx="1632" cy="576"/>
          </a:xfrm>
        </p:grpSpPr>
        <p:sp>
          <p:nvSpPr>
            <p:cNvPr id="13323" name="AutoShape 21"/>
            <p:cNvSpPr>
              <a:spLocks noChangeArrowheads="1"/>
            </p:cNvSpPr>
            <p:nvPr/>
          </p:nvSpPr>
          <p:spPr bwMode="auto">
            <a:xfrm>
              <a:off x="2400" y="3168"/>
              <a:ext cx="672" cy="528"/>
            </a:xfrm>
            <a:prstGeom prst="can">
              <a:avLst>
                <a:gd name="adj" fmla="val 25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3324" name="AutoShape 19"/>
            <p:cNvSpPr>
              <a:spLocks noChangeArrowheads="1"/>
            </p:cNvSpPr>
            <p:nvPr/>
          </p:nvSpPr>
          <p:spPr bwMode="auto">
            <a:xfrm>
              <a:off x="1632" y="3264"/>
              <a:ext cx="336" cy="432"/>
            </a:xfrm>
            <a:prstGeom prst="can">
              <a:avLst>
                <a:gd name="adj" fmla="val 3214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3325" name="AutoShape 20"/>
            <p:cNvSpPr>
              <a:spLocks noChangeArrowheads="1"/>
            </p:cNvSpPr>
            <p:nvPr/>
          </p:nvSpPr>
          <p:spPr bwMode="auto">
            <a:xfrm>
              <a:off x="2928" y="3264"/>
              <a:ext cx="336" cy="480"/>
            </a:xfrm>
            <a:prstGeom prst="can">
              <a:avLst>
                <a:gd name="adj" fmla="val 3571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6C8539-BD32-42B6-96D2-A72796633A3D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Contd…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5334000"/>
          </a:xfrm>
        </p:spPr>
        <p:txBody>
          <a:bodyPr/>
          <a:lstStyle/>
          <a:p>
            <a:pPr eaLnBrk="1" hangingPunct="1"/>
            <a:endParaRPr lang="en-US" altLang="en-US" sz="1600" smtClean="0"/>
          </a:p>
          <a:p>
            <a:pPr eaLnBrk="1" hangingPunct="1"/>
            <a:r>
              <a:rPr lang="en-US" altLang="en-US" smtClean="0"/>
              <a:t> Fractional:  v</a:t>
            </a:r>
            <a:r>
              <a:rPr lang="en-US" altLang="en-US" baseline="-25000" smtClean="0"/>
              <a:t>i</a:t>
            </a:r>
            <a:r>
              <a:rPr lang="en-US" altLang="en-US" smtClean="0"/>
              <a:t> / w</a:t>
            </a:r>
            <a:r>
              <a:rPr lang="en-US" altLang="en-US" baseline="-25000" smtClean="0"/>
              <a:t>i</a:t>
            </a:r>
            <a:r>
              <a:rPr lang="en-US" altLang="en-US" smtClean="0"/>
              <a:t> is the value per pound. </a:t>
            </a:r>
            <a:endParaRPr lang="en-US" altLang="en-US" sz="1400" smtClean="0"/>
          </a:p>
          <a:p>
            <a:pPr eaLnBrk="1" hangingPunct="1"/>
            <a:endParaRPr lang="en-US" altLang="en-US" sz="1400" smtClean="0"/>
          </a:p>
          <a:p>
            <a:pPr eaLnBrk="1" hangingPunct="1"/>
            <a:r>
              <a:rPr lang="en-US" altLang="en-US" smtClean="0"/>
              <a:t>Clearly you take as much of the item with the greatest value per pound</a:t>
            </a:r>
          </a:p>
          <a:p>
            <a:pPr eaLnBrk="1" hangingPunct="1"/>
            <a:endParaRPr lang="en-US" altLang="en-US" sz="1400" smtClean="0"/>
          </a:p>
          <a:p>
            <a:pPr eaLnBrk="1" hangingPunct="1"/>
            <a:r>
              <a:rPr lang="en-US" altLang="en-US" smtClean="0"/>
              <a:t> This continues until you fill the knapsack. Optimal (Greedy) algorithm takes </a:t>
            </a:r>
            <a:r>
              <a:rPr lang="en-US" altLang="en-US" i="1" smtClean="0"/>
              <a:t>O ( n log n ) time</a:t>
            </a:r>
            <a:r>
              <a:rPr lang="en-US" altLang="en-US" smtClean="0"/>
              <a:t>, as we must sort on vi / wi = di.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617FDF-F444-4FEF-888A-FD9707A45EF7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 = 50 lbs. (maximum knapsack capacity)</a:t>
            </a:r>
          </a:p>
          <a:p>
            <a:pPr eaLnBrk="1" hangingPunct="1"/>
            <a:endParaRPr lang="en-US" altLang="en-US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3600" smtClean="0"/>
              <a:t>w</a:t>
            </a:r>
            <a:r>
              <a:rPr lang="en-US" altLang="en-US" sz="3600" baseline="-25000" smtClean="0"/>
              <a:t>1</a:t>
            </a:r>
            <a:r>
              <a:rPr lang="en-US" altLang="en-US" sz="3600" smtClean="0"/>
              <a:t> = 10		v</a:t>
            </a:r>
            <a:r>
              <a:rPr lang="en-US" altLang="en-US" sz="3600" baseline="-25000" smtClean="0"/>
              <a:t>1</a:t>
            </a:r>
            <a:r>
              <a:rPr lang="en-US" altLang="en-US" sz="3600" smtClean="0"/>
              <a:t> = 60		d</a:t>
            </a:r>
            <a:r>
              <a:rPr lang="en-US" altLang="en-US" sz="3600" baseline="-25000" smtClean="0"/>
              <a:t>1</a:t>
            </a:r>
            <a:r>
              <a:rPr lang="en-US" altLang="en-US" sz="3600" smtClean="0"/>
              <a:t>= 6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3600" smtClean="0"/>
              <a:t>w</a:t>
            </a:r>
            <a:r>
              <a:rPr lang="en-US" altLang="en-US" sz="3600" baseline="-25000" smtClean="0"/>
              <a:t>2</a:t>
            </a:r>
            <a:r>
              <a:rPr lang="en-US" altLang="en-US" sz="3600" smtClean="0"/>
              <a:t> = 20		v</a:t>
            </a:r>
            <a:r>
              <a:rPr lang="en-US" altLang="en-US" sz="3600" baseline="-25000" smtClean="0"/>
              <a:t>2</a:t>
            </a:r>
            <a:r>
              <a:rPr lang="en-US" altLang="en-US" sz="3600" smtClean="0"/>
              <a:t> = 100		d</a:t>
            </a:r>
            <a:r>
              <a:rPr lang="en-US" altLang="en-US" sz="3600" baseline="-25000" smtClean="0"/>
              <a:t>2</a:t>
            </a:r>
            <a:r>
              <a:rPr lang="en-US" altLang="en-US" sz="3600" smtClean="0"/>
              <a:t>= 5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3600" smtClean="0"/>
              <a:t>w</a:t>
            </a:r>
            <a:r>
              <a:rPr lang="en-US" altLang="en-US" sz="3600" baseline="-25000" smtClean="0"/>
              <a:t>3</a:t>
            </a:r>
            <a:r>
              <a:rPr lang="en-US" altLang="en-US" sz="3600" smtClean="0"/>
              <a:t> = 30		v</a:t>
            </a:r>
            <a:r>
              <a:rPr lang="en-US" altLang="en-US" sz="3600" baseline="-25000" smtClean="0"/>
              <a:t>3</a:t>
            </a:r>
            <a:r>
              <a:rPr lang="en-US" altLang="en-US" sz="3600" smtClean="0"/>
              <a:t> = 120		d</a:t>
            </a:r>
            <a:r>
              <a:rPr lang="en-US" altLang="en-US" sz="3600" baseline="-25000" smtClean="0"/>
              <a:t>3</a:t>
            </a:r>
            <a:r>
              <a:rPr lang="en-US" altLang="en-US" sz="3600" smtClean="0"/>
              <a:t> = 4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were </a:t>
            </a:r>
            <a:r>
              <a:rPr lang="en-US" altLang="en-US" i="1" smtClean="0"/>
              <a:t>d</a:t>
            </a:r>
            <a:r>
              <a:rPr lang="en-US" altLang="en-US" smtClean="0"/>
              <a:t> is the value density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1CB25A-80A1-4326-8203-48E207D8FAE6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457200"/>
            <a:ext cx="8991600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 smtClean="0"/>
              <a:t>Greedy approach</a:t>
            </a:r>
            <a:r>
              <a:rPr lang="en-US" altLang="en-US" sz="2800" smtClean="0"/>
              <a:t>: Take all of 1, and all of 2: 	v1+ v2 = 160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 Optimal solution is to take all of 2 and 3:  </a:t>
            </a:r>
            <a:r>
              <a:rPr lang="en-US" altLang="en-US" sz="2800" i="1" smtClean="0"/>
              <a:t>v2 + v3= 220</a:t>
            </a:r>
            <a:r>
              <a:rPr lang="en-US" altLang="en-US" sz="2800" smtClean="0"/>
              <a:t>, other solution is to take all of 1 and 3 </a:t>
            </a:r>
            <a:r>
              <a:rPr lang="en-US" altLang="en-US" sz="2800" i="1" smtClean="0"/>
              <a:t>v1+ v3 = 180.</a:t>
            </a:r>
            <a:r>
              <a:rPr lang="en-US" altLang="en-US" sz="2800" smtClean="0"/>
              <a:t> All below 50 lbs.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When solving the 0 - 1 knapsack problem, empty space lowers the effective </a:t>
            </a:r>
            <a:r>
              <a:rPr lang="en-US" altLang="en-US" sz="2800" i="1" smtClean="0"/>
              <a:t>d</a:t>
            </a:r>
            <a:r>
              <a:rPr lang="en-US" altLang="en-US" sz="2800" smtClean="0"/>
              <a:t> of the load. Thus each time an item is chosen for inclusion we must consider both </a:t>
            </a:r>
            <a:r>
              <a:rPr lang="en-US" altLang="en-US" sz="2800" i="1" smtClean="0"/>
              <a:t>i</a:t>
            </a:r>
            <a:r>
              <a:rPr lang="en-US" altLang="en-US" sz="2800" smtClean="0"/>
              <a:t> included and excluded 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These are clearly overlapping sub-problems for different </a:t>
            </a:r>
            <a:r>
              <a:rPr lang="en-US" altLang="en-US" sz="2800" i="1" smtClean="0"/>
              <a:t>i</a:t>
            </a:r>
            <a:r>
              <a:rPr lang="en-US" altLang="en-US" sz="2800" smtClean="0"/>
              <a:t>'s and so best solved by DP!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230A95-6D21-4C64-92D5-01DB2B0A7120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graphicFrame>
        <p:nvGraphicFramePr>
          <p:cNvPr id="17411" name="Object 2"/>
          <p:cNvGraphicFramePr>
            <a:graphicFrameLocks noChangeAspect="1"/>
          </p:cNvGraphicFramePr>
          <p:nvPr/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4BD3999-41D5-4747-8FE1-232ADBAE385A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graphicFrame>
        <p:nvGraphicFramePr>
          <p:cNvPr id="18435" name="Object 2"/>
          <p:cNvGraphicFramePr>
            <a:graphicFrameLocks noChangeAspect="1"/>
          </p:cNvGraphicFramePr>
          <p:nvPr/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C103B7-4847-48B6-8EAF-A5DE2616431F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graphicFrame>
        <p:nvGraphicFramePr>
          <p:cNvPr id="19459" name="Object 2"/>
          <p:cNvGraphicFramePr>
            <a:graphicFrameLocks noChangeAspect="1"/>
          </p:cNvGraphicFramePr>
          <p:nvPr/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FCED15-3EAC-40C5-A749-9138FFF3E1CB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2048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graphicFrame>
        <p:nvGraphicFramePr>
          <p:cNvPr id="20484" name="Object 3"/>
          <p:cNvGraphicFramePr>
            <a:graphicFrameLocks noChangeAspect="1"/>
          </p:cNvGraphicFramePr>
          <p:nvPr>
            <p:ph idx="1"/>
          </p:nvPr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Photo Editor Photo" r:id="rId3" imgW="6095238" imgH="3258005" progId="MSPhotoEd.3">
                  <p:embed/>
                </p:oleObj>
              </mc:Choice>
              <mc:Fallback>
                <p:oleObj name="Photo Editor Photo" r:id="rId3" imgW="6095238" imgH="3258005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C6EC2F-6AC1-4D68-844A-9F4431475B99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Huffman Codes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Effective technique for data compression</a:t>
            </a:r>
          </a:p>
          <a:p>
            <a:pPr eaLnBrk="1" hangingPunct="1"/>
            <a:r>
              <a:rPr lang="en-US" altLang="en-US" smtClean="0"/>
              <a:t>Savings of 20-90% are typical</a:t>
            </a:r>
          </a:p>
          <a:p>
            <a:pPr eaLnBrk="1" hangingPunct="1"/>
            <a:r>
              <a:rPr lang="en-US" altLang="en-US" smtClean="0"/>
              <a:t>Uses a table of frequencies of occurrences of characters to build up an optimal way of representing each character as a binary string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31EDF8-E9A4-4184-8FAB-1AC18EA36226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Examples of Different Binary Encodings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Fixed length code</a:t>
            </a:r>
          </a:p>
          <a:p>
            <a:pPr lvl="1" eaLnBrk="1" hangingPunct="1"/>
            <a:r>
              <a:rPr lang="en-US" altLang="en-US" smtClean="0"/>
              <a:t>Each character in file represented by a different fixed length code</a:t>
            </a:r>
          </a:p>
          <a:p>
            <a:pPr lvl="1" eaLnBrk="1" hangingPunct="1"/>
            <a:r>
              <a:rPr lang="en-US" altLang="en-US" smtClean="0"/>
              <a:t>Length of encoded file depends only on the number of characters in the file</a:t>
            </a:r>
          </a:p>
          <a:p>
            <a:pPr lvl="1" eaLnBrk="1" hangingPunct="1"/>
            <a:r>
              <a:rPr lang="en-US" altLang="en-US" smtClean="0"/>
              <a:t>Example  </a:t>
            </a:r>
          </a:p>
          <a:p>
            <a:pPr lvl="2" eaLnBrk="1" hangingPunct="1"/>
            <a:r>
              <a:rPr lang="en-US" altLang="en-US" smtClean="0"/>
              <a:t>6 character alphabet (3 bit code), 25,000 character file takes 75,000 bits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1727E7-1CD2-4B7E-9809-2DCDF4D14234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65200"/>
          </a:xfrm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Binary encodings continued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121920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If shorter binary strings are used for more frequent characters, a shorter encoding could be used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/>
            <a:r>
              <a:rPr lang="en-US" altLang="en-US" smtClean="0"/>
              <a:t>Variable length encoding uses 58,000 bits</a:t>
            </a:r>
          </a:p>
        </p:txBody>
      </p:sp>
      <p:sp>
        <p:nvSpPr>
          <p:cNvPr id="23557" name="Line 4"/>
          <p:cNvSpPr>
            <a:spLocks noChangeShapeType="1"/>
          </p:cNvSpPr>
          <p:nvPr/>
        </p:nvSpPr>
        <p:spPr bwMode="auto">
          <a:xfrm>
            <a:off x="692150" y="3352800"/>
            <a:ext cx="7302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58" name="Rectangle 5"/>
          <p:cNvSpPr>
            <a:spLocks noChangeArrowheads="1"/>
          </p:cNvSpPr>
          <p:nvPr/>
        </p:nvSpPr>
        <p:spPr bwMode="auto">
          <a:xfrm>
            <a:off x="681038" y="3500438"/>
            <a:ext cx="7553325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Frequency (in thousands)   5           2         3            4        10          1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Fixed-length codeword       000     001     010        011     100       101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Variable-length codeword   111     1001   101       110       0          1000</a:t>
            </a:r>
          </a:p>
        </p:txBody>
      </p:sp>
      <p:sp>
        <p:nvSpPr>
          <p:cNvPr id="23559" name="Line 6"/>
          <p:cNvSpPr>
            <a:spLocks noChangeShapeType="1"/>
          </p:cNvSpPr>
          <p:nvPr/>
        </p:nvSpPr>
        <p:spPr bwMode="auto">
          <a:xfrm>
            <a:off x="3429000" y="2901950"/>
            <a:ext cx="0" cy="1739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0" name="Rectangle 7"/>
          <p:cNvSpPr>
            <a:spLocks noChangeArrowheads="1"/>
          </p:cNvSpPr>
          <p:nvPr/>
        </p:nvSpPr>
        <p:spPr bwMode="auto">
          <a:xfrm>
            <a:off x="3424238" y="2890838"/>
            <a:ext cx="4581525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A          B          C          D          E          F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EBE60F-53A0-4CB3-A6A6-8B0D540456AA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Encoding and Decoding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Encoding</a:t>
            </a:r>
          </a:p>
          <a:p>
            <a:pPr lvl="1" eaLnBrk="1" hangingPunct="1"/>
            <a:r>
              <a:rPr lang="en-US" altLang="en-US" smtClean="0"/>
              <a:t>substitute code for the character </a:t>
            </a:r>
          </a:p>
          <a:p>
            <a:pPr eaLnBrk="1" hangingPunct="1"/>
            <a:r>
              <a:rPr lang="en-US" altLang="en-US" smtClean="0"/>
              <a:t>Decoding</a:t>
            </a:r>
          </a:p>
          <a:p>
            <a:pPr lvl="1" eaLnBrk="1" hangingPunct="1"/>
            <a:r>
              <a:rPr lang="en-US" altLang="en-US" smtClean="0"/>
              <a:t>Fixed length:  take x number of characters at a time and look up character corresponding to code</a:t>
            </a:r>
          </a:p>
          <a:p>
            <a:pPr lvl="1" eaLnBrk="1" hangingPunct="1"/>
            <a:r>
              <a:rPr lang="en-US" altLang="en-US" smtClean="0"/>
              <a:t>Variable length:  must be able to determine when one code ends and another begins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AABF5D-A772-481B-ACD9-CE3075EC0253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Encoding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3886200"/>
          </a:xfrm>
        </p:spPr>
        <p:txBody>
          <a:bodyPr/>
          <a:lstStyle/>
          <a:p>
            <a:pPr eaLnBrk="1" hangingPunct="1"/>
            <a:r>
              <a:rPr lang="en-US" altLang="en-US" sz="2000" smtClean="0"/>
              <a:t>Given a code (corresponding to some alphabet A’) and a message it is easy to </a:t>
            </a:r>
            <a:r>
              <a:rPr lang="en-US" altLang="en-US" sz="2000" i="1" smtClean="0"/>
              <a:t>encode </a:t>
            </a:r>
            <a:r>
              <a:rPr lang="en-US" altLang="en-US" sz="2000" smtClean="0"/>
              <a:t>the message. Just replace the characters by the codewords</a:t>
            </a:r>
            <a:r>
              <a:rPr lang="en-US" altLang="en-US" smtClean="0"/>
              <a:t>.</a:t>
            </a:r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590800"/>
            <a:ext cx="5715000" cy="354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AF45EA-CF65-4074-947D-8BC88312FD85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en-US" smtClean="0"/>
              <a:t>Decoding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0" y="1371600"/>
            <a:ext cx="6172200" cy="1225550"/>
          </a:xfrm>
          <a:noFill/>
        </p:spPr>
      </p:pic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533400" y="2559050"/>
            <a:ext cx="8229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Given an encoded message, </a:t>
            </a:r>
            <a:r>
              <a:rPr lang="en-US" altLang="en-US" sz="2000" i="1"/>
              <a:t>decoding </a:t>
            </a:r>
            <a:r>
              <a:rPr lang="en-US" altLang="en-US" sz="2000"/>
              <a:t>is the process of turning it back into the original message. A message is </a:t>
            </a:r>
            <a:r>
              <a:rPr lang="en-US" altLang="en-US" sz="2000" i="1"/>
              <a:t>uniquely decodable </a:t>
            </a:r>
            <a:r>
              <a:rPr lang="en-US" altLang="en-US" sz="2000"/>
              <a:t>if it can only be decoded in one way.</a:t>
            </a:r>
          </a:p>
        </p:txBody>
      </p:sp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3581400"/>
            <a:ext cx="7493000" cy="199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3294AD-41BA-421E-B5A8-6129E402B9FD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33375"/>
            <a:ext cx="8229600" cy="657225"/>
          </a:xfrm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z="4000" smtClean="0"/>
              <a:t>Prefix Codes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76200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Each code has a unique prefix.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0    101   100          </a:t>
            </a:r>
          </a:p>
          <a:p>
            <a:pPr eaLnBrk="1" hangingPunct="1"/>
            <a:r>
              <a:rPr lang="en-US" altLang="en-US" smtClean="0"/>
              <a:t>Prefix constraint</a:t>
            </a:r>
          </a:p>
          <a:p>
            <a:pPr lvl="1" eaLnBrk="1" hangingPunct="1"/>
            <a:r>
              <a:rPr lang="en-US" altLang="en-US" smtClean="0"/>
              <a:t>The prefixes of an encoding of one character cannot be equal to a complete encoding of another character</a:t>
            </a:r>
          </a:p>
          <a:p>
            <a:pPr eaLnBrk="1" hangingPunct="1"/>
            <a:r>
              <a:rPr lang="en-US" altLang="en-US" smtClean="0"/>
              <a:t>Decoding is never ambiguous</a:t>
            </a:r>
          </a:p>
          <a:p>
            <a:pPr lvl="1" eaLnBrk="1" hangingPunct="1"/>
            <a:r>
              <a:rPr lang="en-US" altLang="en-US" smtClean="0"/>
              <a:t>identify the first character</a:t>
            </a:r>
          </a:p>
          <a:p>
            <a:pPr lvl="1" eaLnBrk="1" hangingPunct="1"/>
            <a:r>
              <a:rPr lang="en-US" altLang="en-US" smtClean="0"/>
              <a:t>remove it from the file and repeat</a:t>
            </a:r>
          </a:p>
          <a:p>
            <a:pPr lvl="1" eaLnBrk="1" hangingPunct="1"/>
            <a:r>
              <a:rPr lang="en-US" altLang="zh-TW" smtClean="0">
                <a:ea typeface="新細明體" charset="-120"/>
              </a:rPr>
              <a:t>Use binary tree to represent prefix codes for easy decoding</a:t>
            </a:r>
            <a:endParaRPr lang="en-US" altLang="en-US" smtClean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91E0B6-169B-4CC5-8C16-0DB2DAD9FB28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Important Fact: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Every message encoded by a prefix tree code is uniquely decipherable. Since no codeword is a prefix of any other we can always find the first codeword in a message, peel it off and continue decoding.</a:t>
            </a:r>
          </a:p>
          <a:p>
            <a:pPr eaLnBrk="1" hangingPunct="1"/>
            <a:endParaRPr lang="en-US" altLang="en-US" smtClean="0"/>
          </a:p>
        </p:txBody>
      </p:sp>
      <p:pic>
        <p:nvPicPr>
          <p:cNvPr id="2867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341938"/>
            <a:ext cx="5659438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39E3FC-D369-4C41-AE22-0CD308D77F2B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Problem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Given a text (a sequence of characters) find an encoding for the characters that satisfies the prefix constraint and that minimizes the number of bits need to encode the text.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484BE1-64C0-4359-BA9D-B70C5B5CF010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Binary Tree Representation of Prefix Code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534400" cy="449580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>
                <a:ea typeface="新細明體" charset="-120"/>
              </a:rPr>
              <a:t>An optimal code is always represented by a </a:t>
            </a:r>
            <a:r>
              <a:rPr lang="en-US" altLang="zh-TW" smtClean="0">
                <a:solidFill>
                  <a:srgbClr val="008000"/>
                </a:solidFill>
                <a:ea typeface="新細明體" charset="-120"/>
              </a:rPr>
              <a:t>full binary tree</a:t>
            </a:r>
            <a:r>
              <a:rPr lang="en-US" altLang="zh-TW" smtClean="0">
                <a:ea typeface="新細明體" charset="-120"/>
              </a:rPr>
              <a:t>, in which every non-leaf node has two children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>
                <a:ea typeface="新細明體" charset="-120"/>
              </a:rPr>
              <a:t>|C| leaves and |C|-1 internal nodes</a:t>
            </a: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Each leaf represents a character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 left child represents the character 0 and a right child represents the character 1.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The path from the root to the leaf represents the encoding for the leaf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ECA391-CE01-418D-A912-FA17C1E87DE9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pic>
        <p:nvPicPr>
          <p:cNvPr id="31747" name="Picture 2" descr="fig16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5400"/>
            <a:ext cx="9144000" cy="688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Text Box 3"/>
          <p:cNvSpPr txBox="1">
            <a:spLocks noChangeArrowheads="1"/>
          </p:cNvSpPr>
          <p:nvPr/>
        </p:nvSpPr>
        <p:spPr bwMode="auto">
          <a:xfrm>
            <a:off x="1524000" y="3465513"/>
            <a:ext cx="1492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TW" altLang="en-US" sz="1800">
                <a:solidFill>
                  <a:schemeClr val="hlink"/>
                </a:solidFill>
                <a:ea typeface="標楷體" pitchFamily="65" charset="-128"/>
              </a:rPr>
              <a:t>(</a:t>
            </a:r>
            <a:r>
              <a:rPr kumimoji="1" lang="en-US" altLang="zh-TW" sz="1800">
                <a:solidFill>
                  <a:schemeClr val="hlink"/>
                </a:solidFill>
                <a:ea typeface="標楷體" pitchFamily="65" charset="-128"/>
              </a:rPr>
              <a:t>Not optimal)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E57919-8BA9-410A-935C-FABC0558C42B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Characteristics of Binary Tree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Not a binary search tree</a:t>
            </a:r>
          </a:p>
          <a:p>
            <a:pPr eaLnBrk="1" hangingPunct="1"/>
            <a:r>
              <a:rPr lang="en-US" altLang="en-US" smtClean="0"/>
              <a:t>The optimal code for a file is always represented by a full binary tree in which every non-leaf node has two children.</a:t>
            </a:r>
          </a:p>
          <a:p>
            <a:pPr eaLnBrk="1" hangingPunct="1"/>
            <a:r>
              <a:rPr lang="en-US" altLang="en-US" smtClean="0"/>
              <a:t>If C is the alphabet, then a tree for the optimal prefix code has</a:t>
            </a:r>
          </a:p>
          <a:p>
            <a:pPr lvl="1" eaLnBrk="1" hangingPunct="1"/>
            <a:r>
              <a:rPr lang="en-US" altLang="en-US" smtClean="0"/>
              <a:t>|C| leaves</a:t>
            </a:r>
          </a:p>
          <a:p>
            <a:pPr lvl="1" eaLnBrk="1" hangingPunct="1"/>
            <a:r>
              <a:rPr lang="en-US" altLang="en-US" smtClean="0"/>
              <a:t>|C|-1 internal nodes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D720CA-A1C0-448E-A749-3547CC2A211F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65200"/>
          </a:xfrm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Cost of a Tree T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121920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For each character c in the alphabet C</a:t>
            </a:r>
          </a:p>
          <a:p>
            <a:pPr lvl="1" eaLnBrk="1" hangingPunct="1"/>
            <a:r>
              <a:rPr lang="en-US" altLang="en-US" smtClean="0"/>
              <a:t>let f(c) be the frequency of c in the file</a:t>
            </a:r>
          </a:p>
          <a:p>
            <a:pPr lvl="1" eaLnBrk="1" hangingPunct="1"/>
            <a:r>
              <a:rPr lang="en-US" altLang="en-US" smtClean="0"/>
              <a:t>let d</a:t>
            </a:r>
            <a:r>
              <a:rPr lang="en-US" altLang="en-US" baseline="-25000" smtClean="0"/>
              <a:t>T</a:t>
            </a:r>
            <a:r>
              <a:rPr lang="en-US" altLang="en-US" smtClean="0"/>
              <a:t>(c) be the depth of c in the tree</a:t>
            </a:r>
          </a:p>
          <a:p>
            <a:pPr lvl="2" eaLnBrk="1" hangingPunct="1"/>
            <a:r>
              <a:rPr lang="en-US" altLang="en-US" smtClean="0"/>
              <a:t>It is also the length of the codeword.  Why?</a:t>
            </a:r>
          </a:p>
          <a:p>
            <a:pPr eaLnBrk="1" hangingPunct="1"/>
            <a:r>
              <a:rPr lang="en-US" altLang="en-US" smtClean="0"/>
              <a:t>Let B(T) be the number of bits required to encode the file (called the cost of T)</a:t>
            </a:r>
          </a:p>
        </p:txBody>
      </p:sp>
      <p:graphicFrame>
        <p:nvGraphicFramePr>
          <p:cNvPr id="33797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1752600" y="4419600"/>
          <a:ext cx="5156200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Equation" r:id="rId3" imgW="3876675" imgH="933450" progId="Equation.2">
                  <p:embed/>
                </p:oleObj>
              </mc:Choice>
              <mc:Fallback>
                <p:oleObj name="Equation" r:id="rId3" imgW="3876675" imgH="93345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419600"/>
                        <a:ext cx="5156200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AFB021-7E11-4FF1-B9AA-9863D635045C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65200"/>
          </a:xfrm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Constructing a Huffman Code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129540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Greedy algorithm for constructing an optimal prefix code was invented by Huffman</a:t>
            </a:r>
          </a:p>
          <a:p>
            <a:pPr eaLnBrk="1" hangingPunct="1"/>
            <a:r>
              <a:rPr lang="en-US" altLang="en-US" smtClean="0"/>
              <a:t>Codes constructed using the algorithm are called Huffman codes</a:t>
            </a:r>
          </a:p>
          <a:p>
            <a:pPr eaLnBrk="1" hangingPunct="1"/>
            <a:r>
              <a:rPr lang="en-US" altLang="en-US" smtClean="0"/>
              <a:t>Bottom up algorithms</a:t>
            </a:r>
          </a:p>
          <a:p>
            <a:pPr lvl="1" eaLnBrk="1" hangingPunct="1"/>
            <a:r>
              <a:rPr lang="en-US" altLang="en-US" smtClean="0"/>
              <a:t>Start with a set of |C| leaves</a:t>
            </a:r>
          </a:p>
          <a:p>
            <a:pPr lvl="1" eaLnBrk="1" hangingPunct="1"/>
            <a:r>
              <a:rPr lang="en-US" altLang="en-US" smtClean="0"/>
              <a:t>perform a sequence of |C|-1 merging operations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AC371B-542D-4F1E-B427-8B5584A01D0D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Huffman Codes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A widely used compression 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Savings of 20% - 90%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Uses the frequency of the characters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Fixed codes versus variable-length codes: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Letter		freq 	     fixed code          variable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a			45		000		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b			13		001		101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c			12		010		100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d			16		011		111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e			9		100		1101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f			5		101		1101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E30C37-EA0D-4272-938C-A6BEC92325F8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Constructing a Huffman Tree</a:t>
            </a:r>
          </a:p>
        </p:txBody>
      </p:sp>
      <p:sp>
        <p:nvSpPr>
          <p:cNvPr id="36868" name="Rectangle 3"/>
          <p:cNvSpPr>
            <a:spLocks noChangeArrowheads="1"/>
          </p:cNvSpPr>
          <p:nvPr/>
        </p:nvSpPr>
        <p:spPr bwMode="auto">
          <a:xfrm>
            <a:off x="1143000" y="1676400"/>
            <a:ext cx="762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f:5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2362200" y="1676400"/>
            <a:ext cx="762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e:9</a:t>
            </a:r>
          </a:p>
        </p:txBody>
      </p:sp>
      <p:sp>
        <p:nvSpPr>
          <p:cNvPr id="36870" name="Rectangle 5"/>
          <p:cNvSpPr>
            <a:spLocks noChangeArrowheads="1"/>
          </p:cNvSpPr>
          <p:nvPr/>
        </p:nvSpPr>
        <p:spPr bwMode="auto">
          <a:xfrm>
            <a:off x="3581400" y="1676400"/>
            <a:ext cx="762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c:12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4800600" y="1676400"/>
            <a:ext cx="762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b:13</a:t>
            </a:r>
          </a:p>
        </p:txBody>
      </p:sp>
      <p:sp>
        <p:nvSpPr>
          <p:cNvPr id="36872" name="Rectangle 7"/>
          <p:cNvSpPr>
            <a:spLocks noChangeArrowheads="1"/>
          </p:cNvSpPr>
          <p:nvPr/>
        </p:nvSpPr>
        <p:spPr bwMode="auto">
          <a:xfrm>
            <a:off x="6019800" y="1676400"/>
            <a:ext cx="762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d:16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7239000" y="1676400"/>
            <a:ext cx="762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a:45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71AC854-9C23-460D-8D22-DF1B1AF98A39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Constructing a Huffman Tree</a:t>
            </a:r>
          </a:p>
        </p:txBody>
      </p:sp>
      <p:sp>
        <p:nvSpPr>
          <p:cNvPr id="37892" name="Rectangle 3"/>
          <p:cNvSpPr>
            <a:spLocks noChangeArrowheads="1"/>
          </p:cNvSpPr>
          <p:nvPr/>
        </p:nvSpPr>
        <p:spPr bwMode="auto">
          <a:xfrm>
            <a:off x="1219200" y="16764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c:12</a:t>
            </a:r>
          </a:p>
        </p:txBody>
      </p:sp>
      <p:sp>
        <p:nvSpPr>
          <p:cNvPr id="37893" name="Rectangle 4"/>
          <p:cNvSpPr>
            <a:spLocks noChangeArrowheads="1"/>
          </p:cNvSpPr>
          <p:nvPr/>
        </p:nvSpPr>
        <p:spPr bwMode="auto">
          <a:xfrm>
            <a:off x="2438400" y="16764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b:13</a:t>
            </a:r>
          </a:p>
        </p:txBody>
      </p:sp>
      <p:sp>
        <p:nvSpPr>
          <p:cNvPr id="37894" name="Rectangle 5"/>
          <p:cNvSpPr>
            <a:spLocks noChangeArrowheads="1"/>
          </p:cNvSpPr>
          <p:nvPr/>
        </p:nvSpPr>
        <p:spPr bwMode="auto">
          <a:xfrm>
            <a:off x="6019800" y="16764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d:16</a:t>
            </a:r>
          </a:p>
        </p:txBody>
      </p:sp>
      <p:sp>
        <p:nvSpPr>
          <p:cNvPr id="37895" name="Rectangle 6"/>
          <p:cNvSpPr>
            <a:spLocks noChangeArrowheads="1"/>
          </p:cNvSpPr>
          <p:nvPr/>
        </p:nvSpPr>
        <p:spPr bwMode="auto">
          <a:xfrm>
            <a:off x="7239000" y="16764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a:45</a:t>
            </a:r>
          </a:p>
        </p:txBody>
      </p:sp>
      <p:grpSp>
        <p:nvGrpSpPr>
          <p:cNvPr id="37896" name="Group 7"/>
          <p:cNvGrpSpPr>
            <a:grpSpLocks/>
          </p:cNvGrpSpPr>
          <p:nvPr/>
        </p:nvGrpSpPr>
        <p:grpSpPr bwMode="auto">
          <a:xfrm>
            <a:off x="3352800" y="1600200"/>
            <a:ext cx="1981200" cy="1066800"/>
            <a:chOff x="720" y="1008"/>
            <a:chExt cx="1248" cy="672"/>
          </a:xfrm>
        </p:grpSpPr>
        <p:sp>
          <p:nvSpPr>
            <p:cNvPr id="37897" name="Rectangle 8"/>
            <p:cNvSpPr>
              <a:spLocks noChangeArrowheads="1"/>
            </p:cNvSpPr>
            <p:nvPr/>
          </p:nvSpPr>
          <p:spPr bwMode="auto">
            <a:xfrm>
              <a:off x="720" y="1488"/>
              <a:ext cx="480" cy="19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f:5</a:t>
              </a:r>
            </a:p>
          </p:txBody>
        </p:sp>
        <p:sp>
          <p:nvSpPr>
            <p:cNvPr id="37898" name="Rectangle 9"/>
            <p:cNvSpPr>
              <a:spLocks noChangeArrowheads="1"/>
            </p:cNvSpPr>
            <p:nvPr/>
          </p:nvSpPr>
          <p:spPr bwMode="auto">
            <a:xfrm>
              <a:off x="1488" y="1488"/>
              <a:ext cx="480" cy="19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e:9</a:t>
              </a:r>
            </a:p>
          </p:txBody>
        </p:sp>
        <p:sp>
          <p:nvSpPr>
            <p:cNvPr id="37899" name="Oval 10"/>
            <p:cNvSpPr>
              <a:spLocks noChangeArrowheads="1"/>
            </p:cNvSpPr>
            <p:nvPr/>
          </p:nvSpPr>
          <p:spPr bwMode="auto">
            <a:xfrm>
              <a:off x="1248" y="1008"/>
              <a:ext cx="288" cy="28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14</a:t>
              </a:r>
            </a:p>
          </p:txBody>
        </p:sp>
        <p:sp>
          <p:nvSpPr>
            <p:cNvPr id="37900" name="Line 11"/>
            <p:cNvSpPr>
              <a:spLocks noChangeShapeType="1"/>
            </p:cNvSpPr>
            <p:nvPr/>
          </p:nvSpPr>
          <p:spPr bwMode="auto">
            <a:xfrm flipV="1">
              <a:off x="960" y="1248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01" name="Line 12"/>
            <p:cNvSpPr>
              <a:spLocks noChangeShapeType="1"/>
            </p:cNvSpPr>
            <p:nvPr/>
          </p:nvSpPr>
          <p:spPr bwMode="auto">
            <a:xfrm flipH="1" flipV="1">
              <a:off x="1536" y="1248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02" name="Text Box 13"/>
            <p:cNvSpPr txBox="1">
              <a:spLocks noChangeArrowheads="1"/>
            </p:cNvSpPr>
            <p:nvPr/>
          </p:nvSpPr>
          <p:spPr bwMode="auto">
            <a:xfrm>
              <a:off x="950" y="1183"/>
              <a:ext cx="184" cy="23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0</a:t>
              </a:r>
            </a:p>
          </p:txBody>
        </p:sp>
        <p:sp>
          <p:nvSpPr>
            <p:cNvPr id="37903" name="Text Box 14"/>
            <p:cNvSpPr txBox="1">
              <a:spLocks noChangeArrowheads="1"/>
            </p:cNvSpPr>
            <p:nvPr/>
          </p:nvSpPr>
          <p:spPr bwMode="auto">
            <a:xfrm>
              <a:off x="1622" y="1183"/>
              <a:ext cx="184" cy="23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EA3DBF-2CD7-4219-87A2-FC4235B2C632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Constructing a Huffman Tree</a:t>
            </a:r>
          </a:p>
        </p:txBody>
      </p:sp>
      <p:sp>
        <p:nvSpPr>
          <p:cNvPr id="38916" name="Rectangle 3"/>
          <p:cNvSpPr>
            <a:spLocks noChangeArrowheads="1"/>
          </p:cNvSpPr>
          <p:nvPr/>
        </p:nvSpPr>
        <p:spPr bwMode="auto">
          <a:xfrm>
            <a:off x="1143000" y="23622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f:5</a:t>
            </a:r>
          </a:p>
        </p:txBody>
      </p:sp>
      <p:sp>
        <p:nvSpPr>
          <p:cNvPr id="38917" name="Rectangle 4"/>
          <p:cNvSpPr>
            <a:spLocks noChangeArrowheads="1"/>
          </p:cNvSpPr>
          <p:nvPr/>
        </p:nvSpPr>
        <p:spPr bwMode="auto">
          <a:xfrm>
            <a:off x="2362200" y="23622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e:9</a:t>
            </a:r>
          </a:p>
        </p:txBody>
      </p:sp>
      <p:sp>
        <p:nvSpPr>
          <p:cNvPr id="38918" name="Rectangle 5"/>
          <p:cNvSpPr>
            <a:spLocks noChangeArrowheads="1"/>
          </p:cNvSpPr>
          <p:nvPr/>
        </p:nvSpPr>
        <p:spPr bwMode="auto">
          <a:xfrm>
            <a:off x="4800600" y="23622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c:12</a:t>
            </a:r>
          </a:p>
        </p:txBody>
      </p:sp>
      <p:sp>
        <p:nvSpPr>
          <p:cNvPr id="38919" name="Rectangle 6"/>
          <p:cNvSpPr>
            <a:spLocks noChangeArrowheads="1"/>
          </p:cNvSpPr>
          <p:nvPr/>
        </p:nvSpPr>
        <p:spPr bwMode="auto">
          <a:xfrm>
            <a:off x="6019800" y="23622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b:13</a:t>
            </a:r>
          </a:p>
        </p:txBody>
      </p:sp>
      <p:sp>
        <p:nvSpPr>
          <p:cNvPr id="38920" name="Rectangle 7"/>
          <p:cNvSpPr>
            <a:spLocks noChangeArrowheads="1"/>
          </p:cNvSpPr>
          <p:nvPr/>
        </p:nvSpPr>
        <p:spPr bwMode="auto">
          <a:xfrm>
            <a:off x="3581400" y="16764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d:16</a:t>
            </a:r>
          </a:p>
        </p:txBody>
      </p:sp>
      <p:sp>
        <p:nvSpPr>
          <p:cNvPr id="38921" name="Rectangle 8"/>
          <p:cNvSpPr>
            <a:spLocks noChangeArrowheads="1"/>
          </p:cNvSpPr>
          <p:nvPr/>
        </p:nvSpPr>
        <p:spPr bwMode="auto">
          <a:xfrm>
            <a:off x="7239000" y="16764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a:45</a:t>
            </a:r>
          </a:p>
        </p:txBody>
      </p:sp>
      <p:sp>
        <p:nvSpPr>
          <p:cNvPr id="38922" name="Oval 9"/>
          <p:cNvSpPr>
            <a:spLocks noChangeArrowheads="1"/>
          </p:cNvSpPr>
          <p:nvPr/>
        </p:nvSpPr>
        <p:spPr bwMode="auto">
          <a:xfrm>
            <a:off x="1981200" y="1600200"/>
            <a:ext cx="457200" cy="457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14</a:t>
            </a:r>
          </a:p>
        </p:txBody>
      </p:sp>
      <p:sp>
        <p:nvSpPr>
          <p:cNvPr id="38923" name="Line 10"/>
          <p:cNvSpPr>
            <a:spLocks noChangeShapeType="1"/>
          </p:cNvSpPr>
          <p:nvPr/>
        </p:nvSpPr>
        <p:spPr bwMode="auto">
          <a:xfrm flipV="1">
            <a:off x="1524000" y="19812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24" name="Line 11"/>
          <p:cNvSpPr>
            <a:spLocks noChangeShapeType="1"/>
          </p:cNvSpPr>
          <p:nvPr/>
        </p:nvSpPr>
        <p:spPr bwMode="auto">
          <a:xfrm flipH="1" flipV="1">
            <a:off x="2438400" y="19812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25" name="Text Box 12"/>
          <p:cNvSpPr txBox="1">
            <a:spLocks noChangeArrowheads="1"/>
          </p:cNvSpPr>
          <p:nvPr/>
        </p:nvSpPr>
        <p:spPr bwMode="auto">
          <a:xfrm>
            <a:off x="1508125" y="1878013"/>
            <a:ext cx="292100" cy="36671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0</a:t>
            </a:r>
          </a:p>
        </p:txBody>
      </p:sp>
      <p:sp>
        <p:nvSpPr>
          <p:cNvPr id="38926" name="Text Box 13"/>
          <p:cNvSpPr txBox="1">
            <a:spLocks noChangeArrowheads="1"/>
          </p:cNvSpPr>
          <p:nvPr/>
        </p:nvSpPr>
        <p:spPr bwMode="auto">
          <a:xfrm>
            <a:off x="2574925" y="1878013"/>
            <a:ext cx="292100" cy="36671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1</a:t>
            </a:r>
          </a:p>
        </p:txBody>
      </p:sp>
      <p:sp>
        <p:nvSpPr>
          <p:cNvPr id="38927" name="Oval 14"/>
          <p:cNvSpPr>
            <a:spLocks noChangeArrowheads="1"/>
          </p:cNvSpPr>
          <p:nvPr/>
        </p:nvSpPr>
        <p:spPr bwMode="auto">
          <a:xfrm>
            <a:off x="5654675" y="1600200"/>
            <a:ext cx="457200" cy="457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25</a:t>
            </a:r>
          </a:p>
        </p:txBody>
      </p:sp>
      <p:sp>
        <p:nvSpPr>
          <p:cNvPr id="38928" name="Line 15"/>
          <p:cNvSpPr>
            <a:spLocks noChangeShapeType="1"/>
          </p:cNvSpPr>
          <p:nvPr/>
        </p:nvSpPr>
        <p:spPr bwMode="auto">
          <a:xfrm flipV="1">
            <a:off x="5197475" y="19812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29" name="Line 16"/>
          <p:cNvSpPr>
            <a:spLocks noChangeShapeType="1"/>
          </p:cNvSpPr>
          <p:nvPr/>
        </p:nvSpPr>
        <p:spPr bwMode="auto">
          <a:xfrm flipH="1" flipV="1">
            <a:off x="6111875" y="19812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30" name="Text Box 17"/>
          <p:cNvSpPr txBox="1">
            <a:spLocks noChangeArrowheads="1"/>
          </p:cNvSpPr>
          <p:nvPr/>
        </p:nvSpPr>
        <p:spPr bwMode="auto">
          <a:xfrm>
            <a:off x="5181600" y="1878013"/>
            <a:ext cx="292100" cy="36671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0</a:t>
            </a:r>
          </a:p>
        </p:txBody>
      </p:sp>
      <p:sp>
        <p:nvSpPr>
          <p:cNvPr id="38931" name="Text Box 18"/>
          <p:cNvSpPr txBox="1">
            <a:spLocks noChangeArrowheads="1"/>
          </p:cNvSpPr>
          <p:nvPr/>
        </p:nvSpPr>
        <p:spPr bwMode="auto">
          <a:xfrm>
            <a:off x="6248400" y="1878013"/>
            <a:ext cx="292100" cy="36671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018BA5-F5A2-4D4A-8A53-9075E51CFBAE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Constructing a Huffman Tree</a:t>
            </a:r>
          </a:p>
        </p:txBody>
      </p:sp>
      <p:sp>
        <p:nvSpPr>
          <p:cNvPr id="39940" name="Rectangle 3"/>
          <p:cNvSpPr>
            <a:spLocks noChangeArrowheads="1"/>
          </p:cNvSpPr>
          <p:nvPr/>
        </p:nvSpPr>
        <p:spPr bwMode="auto">
          <a:xfrm>
            <a:off x="7239000" y="16764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a:45</a:t>
            </a:r>
          </a:p>
        </p:txBody>
      </p:sp>
      <p:grpSp>
        <p:nvGrpSpPr>
          <p:cNvPr id="39941" name="Group 4"/>
          <p:cNvGrpSpPr>
            <a:grpSpLocks/>
          </p:cNvGrpSpPr>
          <p:nvPr/>
        </p:nvGrpSpPr>
        <p:grpSpPr bwMode="auto">
          <a:xfrm>
            <a:off x="1143000" y="1600200"/>
            <a:ext cx="1981200" cy="1066800"/>
            <a:chOff x="3024" y="1008"/>
            <a:chExt cx="1248" cy="672"/>
          </a:xfrm>
        </p:grpSpPr>
        <p:sp>
          <p:nvSpPr>
            <p:cNvPr id="39956" name="Rectangle 5"/>
            <p:cNvSpPr>
              <a:spLocks noChangeArrowheads="1"/>
            </p:cNvSpPr>
            <p:nvPr/>
          </p:nvSpPr>
          <p:spPr bwMode="auto">
            <a:xfrm>
              <a:off x="3024" y="1488"/>
              <a:ext cx="480" cy="19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c:12</a:t>
              </a:r>
            </a:p>
          </p:txBody>
        </p:sp>
        <p:sp>
          <p:nvSpPr>
            <p:cNvPr id="39957" name="Rectangle 6"/>
            <p:cNvSpPr>
              <a:spLocks noChangeArrowheads="1"/>
            </p:cNvSpPr>
            <p:nvPr/>
          </p:nvSpPr>
          <p:spPr bwMode="auto">
            <a:xfrm>
              <a:off x="3792" y="1488"/>
              <a:ext cx="480" cy="19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b:13</a:t>
              </a:r>
            </a:p>
          </p:txBody>
        </p:sp>
        <p:sp>
          <p:nvSpPr>
            <p:cNvPr id="39958" name="Oval 7"/>
            <p:cNvSpPr>
              <a:spLocks noChangeArrowheads="1"/>
            </p:cNvSpPr>
            <p:nvPr/>
          </p:nvSpPr>
          <p:spPr bwMode="auto">
            <a:xfrm>
              <a:off x="3562" y="1008"/>
              <a:ext cx="288" cy="28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25</a:t>
              </a:r>
            </a:p>
          </p:txBody>
        </p:sp>
        <p:sp>
          <p:nvSpPr>
            <p:cNvPr id="39959" name="Line 8"/>
            <p:cNvSpPr>
              <a:spLocks noChangeShapeType="1"/>
            </p:cNvSpPr>
            <p:nvPr/>
          </p:nvSpPr>
          <p:spPr bwMode="auto">
            <a:xfrm flipV="1">
              <a:off x="3274" y="1248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960" name="Line 9"/>
            <p:cNvSpPr>
              <a:spLocks noChangeShapeType="1"/>
            </p:cNvSpPr>
            <p:nvPr/>
          </p:nvSpPr>
          <p:spPr bwMode="auto">
            <a:xfrm flipH="1" flipV="1">
              <a:off x="3850" y="1248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961" name="Text Box 10"/>
            <p:cNvSpPr txBox="1">
              <a:spLocks noChangeArrowheads="1"/>
            </p:cNvSpPr>
            <p:nvPr/>
          </p:nvSpPr>
          <p:spPr bwMode="auto">
            <a:xfrm>
              <a:off x="3264" y="1183"/>
              <a:ext cx="184" cy="23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0</a:t>
              </a:r>
            </a:p>
          </p:txBody>
        </p:sp>
        <p:sp>
          <p:nvSpPr>
            <p:cNvPr id="39962" name="Text Box 11"/>
            <p:cNvSpPr txBox="1">
              <a:spLocks noChangeArrowheads="1"/>
            </p:cNvSpPr>
            <p:nvPr/>
          </p:nvSpPr>
          <p:spPr bwMode="auto">
            <a:xfrm>
              <a:off x="3936" y="1183"/>
              <a:ext cx="184" cy="23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1</a:t>
              </a:r>
            </a:p>
          </p:txBody>
        </p:sp>
      </p:grpSp>
      <p:grpSp>
        <p:nvGrpSpPr>
          <p:cNvPr id="39942" name="Group 12"/>
          <p:cNvGrpSpPr>
            <a:grpSpLocks/>
          </p:cNvGrpSpPr>
          <p:nvPr/>
        </p:nvGrpSpPr>
        <p:grpSpPr bwMode="auto">
          <a:xfrm>
            <a:off x="3124200" y="1600200"/>
            <a:ext cx="3200400" cy="1752600"/>
            <a:chOff x="720" y="1008"/>
            <a:chExt cx="2016" cy="1104"/>
          </a:xfrm>
        </p:grpSpPr>
        <p:sp>
          <p:nvSpPr>
            <p:cNvPr id="39943" name="Rectangle 13"/>
            <p:cNvSpPr>
              <a:spLocks noChangeArrowheads="1"/>
            </p:cNvSpPr>
            <p:nvPr/>
          </p:nvSpPr>
          <p:spPr bwMode="auto">
            <a:xfrm>
              <a:off x="720" y="1920"/>
              <a:ext cx="480" cy="19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f:5</a:t>
              </a:r>
            </a:p>
          </p:txBody>
        </p:sp>
        <p:sp>
          <p:nvSpPr>
            <p:cNvPr id="39944" name="Rectangle 14"/>
            <p:cNvSpPr>
              <a:spLocks noChangeArrowheads="1"/>
            </p:cNvSpPr>
            <p:nvPr/>
          </p:nvSpPr>
          <p:spPr bwMode="auto">
            <a:xfrm>
              <a:off x="1488" y="1920"/>
              <a:ext cx="480" cy="19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e:9</a:t>
              </a:r>
            </a:p>
          </p:txBody>
        </p:sp>
        <p:sp>
          <p:nvSpPr>
            <p:cNvPr id="39945" name="Rectangle 15"/>
            <p:cNvSpPr>
              <a:spLocks noChangeArrowheads="1"/>
            </p:cNvSpPr>
            <p:nvPr/>
          </p:nvSpPr>
          <p:spPr bwMode="auto">
            <a:xfrm>
              <a:off x="2256" y="1488"/>
              <a:ext cx="480" cy="19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d:16</a:t>
              </a:r>
            </a:p>
          </p:txBody>
        </p:sp>
        <p:sp>
          <p:nvSpPr>
            <p:cNvPr id="39946" name="Oval 16"/>
            <p:cNvSpPr>
              <a:spLocks noChangeArrowheads="1"/>
            </p:cNvSpPr>
            <p:nvPr/>
          </p:nvSpPr>
          <p:spPr bwMode="auto">
            <a:xfrm>
              <a:off x="1248" y="1440"/>
              <a:ext cx="288" cy="28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14</a:t>
              </a:r>
            </a:p>
          </p:txBody>
        </p:sp>
        <p:sp>
          <p:nvSpPr>
            <p:cNvPr id="39947" name="Line 17"/>
            <p:cNvSpPr>
              <a:spLocks noChangeShapeType="1"/>
            </p:cNvSpPr>
            <p:nvPr/>
          </p:nvSpPr>
          <p:spPr bwMode="auto">
            <a:xfrm flipV="1">
              <a:off x="960" y="168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948" name="Line 18"/>
            <p:cNvSpPr>
              <a:spLocks noChangeShapeType="1"/>
            </p:cNvSpPr>
            <p:nvPr/>
          </p:nvSpPr>
          <p:spPr bwMode="auto">
            <a:xfrm flipH="1" flipV="1">
              <a:off x="1536" y="1680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949" name="Text Box 19"/>
            <p:cNvSpPr txBox="1">
              <a:spLocks noChangeArrowheads="1"/>
            </p:cNvSpPr>
            <p:nvPr/>
          </p:nvSpPr>
          <p:spPr bwMode="auto">
            <a:xfrm>
              <a:off x="950" y="1615"/>
              <a:ext cx="184" cy="23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0</a:t>
              </a:r>
            </a:p>
          </p:txBody>
        </p:sp>
        <p:sp>
          <p:nvSpPr>
            <p:cNvPr id="39950" name="Text Box 20"/>
            <p:cNvSpPr txBox="1">
              <a:spLocks noChangeArrowheads="1"/>
            </p:cNvSpPr>
            <p:nvPr/>
          </p:nvSpPr>
          <p:spPr bwMode="auto">
            <a:xfrm>
              <a:off x="1622" y="1615"/>
              <a:ext cx="184" cy="23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1</a:t>
              </a:r>
            </a:p>
          </p:txBody>
        </p:sp>
        <p:sp>
          <p:nvSpPr>
            <p:cNvPr id="39951" name="Oval 21"/>
            <p:cNvSpPr>
              <a:spLocks noChangeArrowheads="1"/>
            </p:cNvSpPr>
            <p:nvPr/>
          </p:nvSpPr>
          <p:spPr bwMode="auto">
            <a:xfrm>
              <a:off x="1824" y="1008"/>
              <a:ext cx="288" cy="28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30</a:t>
              </a:r>
            </a:p>
          </p:txBody>
        </p:sp>
        <p:sp>
          <p:nvSpPr>
            <p:cNvPr id="39952" name="Line 22"/>
            <p:cNvSpPr>
              <a:spLocks noChangeShapeType="1"/>
            </p:cNvSpPr>
            <p:nvPr/>
          </p:nvSpPr>
          <p:spPr bwMode="auto">
            <a:xfrm flipV="1">
              <a:off x="1498" y="1248"/>
              <a:ext cx="374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953" name="Text Box 23"/>
            <p:cNvSpPr txBox="1">
              <a:spLocks noChangeArrowheads="1"/>
            </p:cNvSpPr>
            <p:nvPr/>
          </p:nvSpPr>
          <p:spPr bwMode="auto">
            <a:xfrm>
              <a:off x="1488" y="1152"/>
              <a:ext cx="184" cy="23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0</a:t>
              </a:r>
            </a:p>
          </p:txBody>
        </p:sp>
        <p:sp>
          <p:nvSpPr>
            <p:cNvPr id="39954" name="Line 24"/>
            <p:cNvSpPr>
              <a:spLocks noChangeShapeType="1"/>
            </p:cNvSpPr>
            <p:nvPr/>
          </p:nvSpPr>
          <p:spPr bwMode="auto">
            <a:xfrm flipH="1" flipV="1">
              <a:off x="2112" y="1217"/>
              <a:ext cx="384" cy="2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955" name="Text Box 25"/>
            <p:cNvSpPr txBox="1">
              <a:spLocks noChangeArrowheads="1"/>
            </p:cNvSpPr>
            <p:nvPr/>
          </p:nvSpPr>
          <p:spPr bwMode="auto">
            <a:xfrm>
              <a:off x="2253" y="1133"/>
              <a:ext cx="184" cy="23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Garamond" panose="02020404030301010803" pitchFamily="18" charset="0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E6B906-3BA5-47B3-A86F-57ADDABF1B9B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Constructing a Huffman Tree</a:t>
            </a:r>
          </a:p>
        </p:txBody>
      </p:sp>
      <p:sp>
        <p:nvSpPr>
          <p:cNvPr id="40964" name="Rectangle 3"/>
          <p:cNvSpPr>
            <a:spLocks noChangeArrowheads="1"/>
          </p:cNvSpPr>
          <p:nvPr/>
        </p:nvSpPr>
        <p:spPr bwMode="auto">
          <a:xfrm>
            <a:off x="5105400" y="38862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f:5</a:t>
            </a:r>
          </a:p>
        </p:txBody>
      </p:sp>
      <p:sp>
        <p:nvSpPr>
          <p:cNvPr id="40965" name="Rectangle 4"/>
          <p:cNvSpPr>
            <a:spLocks noChangeArrowheads="1"/>
          </p:cNvSpPr>
          <p:nvPr/>
        </p:nvSpPr>
        <p:spPr bwMode="auto">
          <a:xfrm>
            <a:off x="6324600" y="38862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e:9</a:t>
            </a:r>
          </a:p>
        </p:txBody>
      </p:sp>
      <p:sp>
        <p:nvSpPr>
          <p:cNvPr id="40966" name="Rectangle 5"/>
          <p:cNvSpPr>
            <a:spLocks noChangeArrowheads="1"/>
          </p:cNvSpPr>
          <p:nvPr/>
        </p:nvSpPr>
        <p:spPr bwMode="auto">
          <a:xfrm>
            <a:off x="3276600" y="32004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c:12</a:t>
            </a:r>
          </a:p>
        </p:txBody>
      </p:sp>
      <p:sp>
        <p:nvSpPr>
          <p:cNvPr id="40967" name="Rectangle 6"/>
          <p:cNvSpPr>
            <a:spLocks noChangeArrowheads="1"/>
          </p:cNvSpPr>
          <p:nvPr/>
        </p:nvSpPr>
        <p:spPr bwMode="auto">
          <a:xfrm>
            <a:off x="4495800" y="32004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b:13</a:t>
            </a:r>
          </a:p>
        </p:txBody>
      </p:sp>
      <p:sp>
        <p:nvSpPr>
          <p:cNvPr id="40968" name="Rectangle 7"/>
          <p:cNvSpPr>
            <a:spLocks noChangeArrowheads="1"/>
          </p:cNvSpPr>
          <p:nvPr/>
        </p:nvSpPr>
        <p:spPr bwMode="auto">
          <a:xfrm>
            <a:off x="7543800" y="32004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d:16</a:t>
            </a:r>
          </a:p>
        </p:txBody>
      </p:sp>
      <p:sp>
        <p:nvSpPr>
          <p:cNvPr id="40969" name="Rectangle 8"/>
          <p:cNvSpPr>
            <a:spLocks noChangeArrowheads="1"/>
          </p:cNvSpPr>
          <p:nvPr/>
        </p:nvSpPr>
        <p:spPr bwMode="auto">
          <a:xfrm>
            <a:off x="1219200" y="16764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a:45</a:t>
            </a:r>
          </a:p>
        </p:txBody>
      </p:sp>
      <p:sp>
        <p:nvSpPr>
          <p:cNvPr id="40970" name="Oval 9"/>
          <p:cNvSpPr>
            <a:spLocks noChangeArrowheads="1"/>
          </p:cNvSpPr>
          <p:nvPr/>
        </p:nvSpPr>
        <p:spPr bwMode="auto">
          <a:xfrm>
            <a:off x="5943600" y="3124200"/>
            <a:ext cx="457200" cy="457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14</a:t>
            </a:r>
          </a:p>
        </p:txBody>
      </p:sp>
      <p:sp>
        <p:nvSpPr>
          <p:cNvPr id="40971" name="Line 10"/>
          <p:cNvSpPr>
            <a:spLocks noChangeShapeType="1"/>
          </p:cNvSpPr>
          <p:nvPr/>
        </p:nvSpPr>
        <p:spPr bwMode="auto">
          <a:xfrm flipV="1">
            <a:off x="5486400" y="35052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0972" name="Line 11"/>
          <p:cNvSpPr>
            <a:spLocks noChangeShapeType="1"/>
          </p:cNvSpPr>
          <p:nvPr/>
        </p:nvSpPr>
        <p:spPr bwMode="auto">
          <a:xfrm flipH="1" flipV="1">
            <a:off x="6400800" y="35052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5470525" y="3402013"/>
            <a:ext cx="292100" cy="36671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0</a:t>
            </a:r>
          </a:p>
        </p:txBody>
      </p:sp>
      <p:sp>
        <p:nvSpPr>
          <p:cNvPr id="40974" name="Text Box 13"/>
          <p:cNvSpPr txBox="1">
            <a:spLocks noChangeArrowheads="1"/>
          </p:cNvSpPr>
          <p:nvPr/>
        </p:nvSpPr>
        <p:spPr bwMode="auto">
          <a:xfrm>
            <a:off x="6537325" y="3402013"/>
            <a:ext cx="292100" cy="36671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1</a:t>
            </a:r>
          </a:p>
        </p:txBody>
      </p:sp>
      <p:sp>
        <p:nvSpPr>
          <p:cNvPr id="40975" name="Oval 14"/>
          <p:cNvSpPr>
            <a:spLocks noChangeArrowheads="1"/>
          </p:cNvSpPr>
          <p:nvPr/>
        </p:nvSpPr>
        <p:spPr bwMode="auto">
          <a:xfrm>
            <a:off x="4130675" y="2438400"/>
            <a:ext cx="457200" cy="457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25</a:t>
            </a:r>
          </a:p>
        </p:txBody>
      </p:sp>
      <p:sp>
        <p:nvSpPr>
          <p:cNvPr id="40976" name="Line 15"/>
          <p:cNvSpPr>
            <a:spLocks noChangeShapeType="1"/>
          </p:cNvSpPr>
          <p:nvPr/>
        </p:nvSpPr>
        <p:spPr bwMode="auto">
          <a:xfrm flipV="1">
            <a:off x="3673475" y="2819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0977" name="Line 16"/>
          <p:cNvSpPr>
            <a:spLocks noChangeShapeType="1"/>
          </p:cNvSpPr>
          <p:nvPr/>
        </p:nvSpPr>
        <p:spPr bwMode="auto">
          <a:xfrm flipH="1" flipV="1">
            <a:off x="4587875" y="2819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0978" name="Text Box 17"/>
          <p:cNvSpPr txBox="1">
            <a:spLocks noChangeArrowheads="1"/>
          </p:cNvSpPr>
          <p:nvPr/>
        </p:nvSpPr>
        <p:spPr bwMode="auto">
          <a:xfrm>
            <a:off x="3657600" y="2716213"/>
            <a:ext cx="292100" cy="36671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0</a:t>
            </a:r>
          </a:p>
        </p:txBody>
      </p:sp>
      <p:sp>
        <p:nvSpPr>
          <p:cNvPr id="40979" name="Text Box 18"/>
          <p:cNvSpPr txBox="1">
            <a:spLocks noChangeArrowheads="1"/>
          </p:cNvSpPr>
          <p:nvPr/>
        </p:nvSpPr>
        <p:spPr bwMode="auto">
          <a:xfrm>
            <a:off x="4724400" y="2716213"/>
            <a:ext cx="292100" cy="36671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1</a:t>
            </a:r>
          </a:p>
        </p:txBody>
      </p:sp>
      <p:sp>
        <p:nvSpPr>
          <p:cNvPr id="40980" name="Oval 19"/>
          <p:cNvSpPr>
            <a:spLocks noChangeArrowheads="1"/>
          </p:cNvSpPr>
          <p:nvPr/>
        </p:nvSpPr>
        <p:spPr bwMode="auto">
          <a:xfrm>
            <a:off x="6858000" y="2438400"/>
            <a:ext cx="457200" cy="457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30</a:t>
            </a:r>
          </a:p>
        </p:txBody>
      </p:sp>
      <p:sp>
        <p:nvSpPr>
          <p:cNvPr id="40981" name="Line 20"/>
          <p:cNvSpPr>
            <a:spLocks noChangeShapeType="1"/>
          </p:cNvSpPr>
          <p:nvPr/>
        </p:nvSpPr>
        <p:spPr bwMode="auto">
          <a:xfrm flipV="1">
            <a:off x="6340475" y="2819400"/>
            <a:ext cx="593725" cy="331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0982" name="Text Box 21"/>
          <p:cNvSpPr txBox="1">
            <a:spLocks noChangeArrowheads="1"/>
          </p:cNvSpPr>
          <p:nvPr/>
        </p:nvSpPr>
        <p:spPr bwMode="auto">
          <a:xfrm>
            <a:off x="6324600" y="2667000"/>
            <a:ext cx="292100" cy="3667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0</a:t>
            </a:r>
          </a:p>
        </p:txBody>
      </p:sp>
      <p:sp>
        <p:nvSpPr>
          <p:cNvPr id="40983" name="Line 22"/>
          <p:cNvSpPr>
            <a:spLocks noChangeShapeType="1"/>
          </p:cNvSpPr>
          <p:nvPr/>
        </p:nvSpPr>
        <p:spPr bwMode="auto">
          <a:xfrm flipH="1" flipV="1">
            <a:off x="7315200" y="2770188"/>
            <a:ext cx="609600" cy="430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0984" name="Text Box 23"/>
          <p:cNvSpPr txBox="1">
            <a:spLocks noChangeArrowheads="1"/>
          </p:cNvSpPr>
          <p:nvPr/>
        </p:nvSpPr>
        <p:spPr bwMode="auto">
          <a:xfrm>
            <a:off x="7539038" y="2636838"/>
            <a:ext cx="292100" cy="36671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1</a:t>
            </a:r>
          </a:p>
        </p:txBody>
      </p:sp>
      <p:sp>
        <p:nvSpPr>
          <p:cNvPr id="40985" name="Oval 24"/>
          <p:cNvSpPr>
            <a:spLocks noChangeArrowheads="1"/>
          </p:cNvSpPr>
          <p:nvPr/>
        </p:nvSpPr>
        <p:spPr bwMode="auto">
          <a:xfrm>
            <a:off x="5562600" y="1600200"/>
            <a:ext cx="457200" cy="457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55</a:t>
            </a:r>
          </a:p>
        </p:txBody>
      </p:sp>
      <p:sp>
        <p:nvSpPr>
          <p:cNvPr id="40986" name="Line 25"/>
          <p:cNvSpPr>
            <a:spLocks noChangeShapeType="1"/>
          </p:cNvSpPr>
          <p:nvPr/>
        </p:nvSpPr>
        <p:spPr bwMode="auto">
          <a:xfrm flipV="1">
            <a:off x="4511675" y="1981200"/>
            <a:ext cx="1050925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0987" name="Text Box 26"/>
          <p:cNvSpPr txBox="1">
            <a:spLocks noChangeArrowheads="1"/>
          </p:cNvSpPr>
          <p:nvPr/>
        </p:nvSpPr>
        <p:spPr bwMode="auto">
          <a:xfrm>
            <a:off x="4813300" y="1905000"/>
            <a:ext cx="292100" cy="3667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0</a:t>
            </a:r>
          </a:p>
        </p:txBody>
      </p:sp>
      <p:sp>
        <p:nvSpPr>
          <p:cNvPr id="40988" name="Line 27"/>
          <p:cNvSpPr>
            <a:spLocks noChangeShapeType="1"/>
          </p:cNvSpPr>
          <p:nvPr/>
        </p:nvSpPr>
        <p:spPr bwMode="auto">
          <a:xfrm flipH="1" flipV="1">
            <a:off x="6019800" y="1931988"/>
            <a:ext cx="914400" cy="582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0989" name="Text Box 28"/>
          <p:cNvSpPr txBox="1">
            <a:spLocks noChangeArrowheads="1"/>
          </p:cNvSpPr>
          <p:nvPr/>
        </p:nvSpPr>
        <p:spPr bwMode="auto">
          <a:xfrm>
            <a:off x="6405563" y="1895475"/>
            <a:ext cx="292100" cy="3667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FC3071-01DF-4C1D-8B3D-F62BC7EF1EEF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Constructing a Huffman Tree</a:t>
            </a:r>
          </a:p>
        </p:txBody>
      </p:sp>
      <p:sp>
        <p:nvSpPr>
          <p:cNvPr id="41988" name="Rectangle 3"/>
          <p:cNvSpPr>
            <a:spLocks noChangeArrowheads="1"/>
          </p:cNvSpPr>
          <p:nvPr/>
        </p:nvSpPr>
        <p:spPr bwMode="auto">
          <a:xfrm>
            <a:off x="5105400" y="46482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f:5</a:t>
            </a:r>
          </a:p>
        </p:txBody>
      </p:sp>
      <p:sp>
        <p:nvSpPr>
          <p:cNvPr id="41989" name="Rectangle 4"/>
          <p:cNvSpPr>
            <a:spLocks noChangeArrowheads="1"/>
          </p:cNvSpPr>
          <p:nvPr/>
        </p:nvSpPr>
        <p:spPr bwMode="auto">
          <a:xfrm>
            <a:off x="6324600" y="46482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e:9</a:t>
            </a:r>
          </a:p>
        </p:txBody>
      </p:sp>
      <p:sp>
        <p:nvSpPr>
          <p:cNvPr id="41990" name="Rectangle 5"/>
          <p:cNvSpPr>
            <a:spLocks noChangeArrowheads="1"/>
          </p:cNvSpPr>
          <p:nvPr/>
        </p:nvSpPr>
        <p:spPr bwMode="auto">
          <a:xfrm>
            <a:off x="3276600" y="39624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c:12</a:t>
            </a:r>
          </a:p>
        </p:txBody>
      </p:sp>
      <p:sp>
        <p:nvSpPr>
          <p:cNvPr id="41991" name="Rectangle 6"/>
          <p:cNvSpPr>
            <a:spLocks noChangeArrowheads="1"/>
          </p:cNvSpPr>
          <p:nvPr/>
        </p:nvSpPr>
        <p:spPr bwMode="auto">
          <a:xfrm>
            <a:off x="4495800" y="39624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b:13</a:t>
            </a:r>
          </a:p>
        </p:txBody>
      </p:sp>
      <p:sp>
        <p:nvSpPr>
          <p:cNvPr id="41992" name="Rectangle 7"/>
          <p:cNvSpPr>
            <a:spLocks noChangeArrowheads="1"/>
          </p:cNvSpPr>
          <p:nvPr/>
        </p:nvSpPr>
        <p:spPr bwMode="auto">
          <a:xfrm>
            <a:off x="7543800" y="39624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d:16</a:t>
            </a:r>
          </a:p>
        </p:txBody>
      </p:sp>
      <p:sp>
        <p:nvSpPr>
          <p:cNvPr id="41993" name="Rectangle 8"/>
          <p:cNvSpPr>
            <a:spLocks noChangeArrowheads="1"/>
          </p:cNvSpPr>
          <p:nvPr/>
        </p:nvSpPr>
        <p:spPr bwMode="auto">
          <a:xfrm>
            <a:off x="2286000" y="2438400"/>
            <a:ext cx="7620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a:45</a:t>
            </a:r>
          </a:p>
        </p:txBody>
      </p:sp>
      <p:sp>
        <p:nvSpPr>
          <p:cNvPr id="41994" name="Oval 9"/>
          <p:cNvSpPr>
            <a:spLocks noChangeArrowheads="1"/>
          </p:cNvSpPr>
          <p:nvPr/>
        </p:nvSpPr>
        <p:spPr bwMode="auto">
          <a:xfrm>
            <a:off x="5943600" y="3886200"/>
            <a:ext cx="457200" cy="457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14</a:t>
            </a:r>
          </a:p>
        </p:txBody>
      </p:sp>
      <p:sp>
        <p:nvSpPr>
          <p:cNvPr id="41995" name="Line 10"/>
          <p:cNvSpPr>
            <a:spLocks noChangeShapeType="1"/>
          </p:cNvSpPr>
          <p:nvPr/>
        </p:nvSpPr>
        <p:spPr bwMode="auto">
          <a:xfrm flipV="1">
            <a:off x="5486400" y="42672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996" name="Line 11"/>
          <p:cNvSpPr>
            <a:spLocks noChangeShapeType="1"/>
          </p:cNvSpPr>
          <p:nvPr/>
        </p:nvSpPr>
        <p:spPr bwMode="auto">
          <a:xfrm flipH="1" flipV="1">
            <a:off x="6400800" y="42672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997" name="Text Box 12"/>
          <p:cNvSpPr txBox="1">
            <a:spLocks noChangeArrowheads="1"/>
          </p:cNvSpPr>
          <p:nvPr/>
        </p:nvSpPr>
        <p:spPr bwMode="auto">
          <a:xfrm>
            <a:off x="5470525" y="4164013"/>
            <a:ext cx="292100" cy="36671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0</a:t>
            </a:r>
          </a:p>
        </p:txBody>
      </p:sp>
      <p:sp>
        <p:nvSpPr>
          <p:cNvPr id="41998" name="Text Box 13"/>
          <p:cNvSpPr txBox="1">
            <a:spLocks noChangeArrowheads="1"/>
          </p:cNvSpPr>
          <p:nvPr/>
        </p:nvSpPr>
        <p:spPr bwMode="auto">
          <a:xfrm>
            <a:off x="6537325" y="4164013"/>
            <a:ext cx="292100" cy="36671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1</a:t>
            </a:r>
          </a:p>
        </p:txBody>
      </p:sp>
      <p:sp>
        <p:nvSpPr>
          <p:cNvPr id="41999" name="Oval 14"/>
          <p:cNvSpPr>
            <a:spLocks noChangeArrowheads="1"/>
          </p:cNvSpPr>
          <p:nvPr/>
        </p:nvSpPr>
        <p:spPr bwMode="auto">
          <a:xfrm>
            <a:off x="4130675" y="3200400"/>
            <a:ext cx="457200" cy="457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25</a:t>
            </a:r>
          </a:p>
        </p:txBody>
      </p:sp>
      <p:sp>
        <p:nvSpPr>
          <p:cNvPr id="42000" name="Line 15"/>
          <p:cNvSpPr>
            <a:spLocks noChangeShapeType="1"/>
          </p:cNvSpPr>
          <p:nvPr/>
        </p:nvSpPr>
        <p:spPr bwMode="auto">
          <a:xfrm flipV="1">
            <a:off x="3673475" y="3581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01" name="Line 16"/>
          <p:cNvSpPr>
            <a:spLocks noChangeShapeType="1"/>
          </p:cNvSpPr>
          <p:nvPr/>
        </p:nvSpPr>
        <p:spPr bwMode="auto">
          <a:xfrm flipH="1" flipV="1">
            <a:off x="4587875" y="3581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02" name="Text Box 17"/>
          <p:cNvSpPr txBox="1">
            <a:spLocks noChangeArrowheads="1"/>
          </p:cNvSpPr>
          <p:nvPr/>
        </p:nvSpPr>
        <p:spPr bwMode="auto">
          <a:xfrm>
            <a:off x="3657600" y="3478213"/>
            <a:ext cx="292100" cy="36671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0</a:t>
            </a:r>
          </a:p>
        </p:txBody>
      </p:sp>
      <p:sp>
        <p:nvSpPr>
          <p:cNvPr id="42003" name="Text Box 18"/>
          <p:cNvSpPr txBox="1">
            <a:spLocks noChangeArrowheads="1"/>
          </p:cNvSpPr>
          <p:nvPr/>
        </p:nvSpPr>
        <p:spPr bwMode="auto">
          <a:xfrm>
            <a:off x="4724400" y="3478213"/>
            <a:ext cx="292100" cy="36671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1</a:t>
            </a:r>
          </a:p>
        </p:txBody>
      </p:sp>
      <p:sp>
        <p:nvSpPr>
          <p:cNvPr id="42004" name="Oval 19"/>
          <p:cNvSpPr>
            <a:spLocks noChangeArrowheads="1"/>
          </p:cNvSpPr>
          <p:nvPr/>
        </p:nvSpPr>
        <p:spPr bwMode="auto">
          <a:xfrm>
            <a:off x="6858000" y="3200400"/>
            <a:ext cx="457200" cy="457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30</a:t>
            </a:r>
          </a:p>
        </p:txBody>
      </p:sp>
      <p:sp>
        <p:nvSpPr>
          <p:cNvPr id="42005" name="Line 20"/>
          <p:cNvSpPr>
            <a:spLocks noChangeShapeType="1"/>
          </p:cNvSpPr>
          <p:nvPr/>
        </p:nvSpPr>
        <p:spPr bwMode="auto">
          <a:xfrm flipV="1">
            <a:off x="6340475" y="3581400"/>
            <a:ext cx="593725" cy="331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06" name="Text Box 21"/>
          <p:cNvSpPr txBox="1">
            <a:spLocks noChangeArrowheads="1"/>
          </p:cNvSpPr>
          <p:nvPr/>
        </p:nvSpPr>
        <p:spPr bwMode="auto">
          <a:xfrm>
            <a:off x="6324600" y="3429000"/>
            <a:ext cx="292100" cy="3667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0</a:t>
            </a:r>
          </a:p>
        </p:txBody>
      </p:sp>
      <p:sp>
        <p:nvSpPr>
          <p:cNvPr id="42007" name="Line 22"/>
          <p:cNvSpPr>
            <a:spLocks noChangeShapeType="1"/>
          </p:cNvSpPr>
          <p:nvPr/>
        </p:nvSpPr>
        <p:spPr bwMode="auto">
          <a:xfrm flipH="1" flipV="1">
            <a:off x="7315200" y="3532188"/>
            <a:ext cx="609600" cy="430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08" name="Text Box 23"/>
          <p:cNvSpPr txBox="1">
            <a:spLocks noChangeArrowheads="1"/>
          </p:cNvSpPr>
          <p:nvPr/>
        </p:nvSpPr>
        <p:spPr bwMode="auto">
          <a:xfrm>
            <a:off x="7539038" y="3398838"/>
            <a:ext cx="292100" cy="36671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1</a:t>
            </a:r>
          </a:p>
        </p:txBody>
      </p:sp>
      <p:sp>
        <p:nvSpPr>
          <p:cNvPr id="42009" name="Oval 24"/>
          <p:cNvSpPr>
            <a:spLocks noChangeArrowheads="1"/>
          </p:cNvSpPr>
          <p:nvPr/>
        </p:nvSpPr>
        <p:spPr bwMode="auto">
          <a:xfrm>
            <a:off x="5562600" y="2362200"/>
            <a:ext cx="457200" cy="457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55</a:t>
            </a:r>
          </a:p>
        </p:txBody>
      </p:sp>
      <p:sp>
        <p:nvSpPr>
          <p:cNvPr id="42010" name="Line 25"/>
          <p:cNvSpPr>
            <a:spLocks noChangeShapeType="1"/>
          </p:cNvSpPr>
          <p:nvPr/>
        </p:nvSpPr>
        <p:spPr bwMode="auto">
          <a:xfrm flipV="1">
            <a:off x="4511675" y="2743200"/>
            <a:ext cx="1050925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11" name="Text Box 26"/>
          <p:cNvSpPr txBox="1">
            <a:spLocks noChangeArrowheads="1"/>
          </p:cNvSpPr>
          <p:nvPr/>
        </p:nvSpPr>
        <p:spPr bwMode="auto">
          <a:xfrm>
            <a:off x="4813300" y="2667000"/>
            <a:ext cx="292100" cy="3667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0</a:t>
            </a:r>
          </a:p>
        </p:txBody>
      </p:sp>
      <p:sp>
        <p:nvSpPr>
          <p:cNvPr id="42012" name="Line 27"/>
          <p:cNvSpPr>
            <a:spLocks noChangeShapeType="1"/>
          </p:cNvSpPr>
          <p:nvPr/>
        </p:nvSpPr>
        <p:spPr bwMode="auto">
          <a:xfrm flipH="1" flipV="1">
            <a:off x="6019800" y="2693988"/>
            <a:ext cx="914400" cy="582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13" name="Text Box 28"/>
          <p:cNvSpPr txBox="1">
            <a:spLocks noChangeArrowheads="1"/>
          </p:cNvSpPr>
          <p:nvPr/>
        </p:nvSpPr>
        <p:spPr bwMode="auto">
          <a:xfrm>
            <a:off x="6405563" y="2657475"/>
            <a:ext cx="292100" cy="3667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1</a:t>
            </a:r>
          </a:p>
        </p:txBody>
      </p:sp>
      <p:sp>
        <p:nvSpPr>
          <p:cNvPr id="42014" name="Oval 29"/>
          <p:cNvSpPr>
            <a:spLocks noChangeArrowheads="1"/>
          </p:cNvSpPr>
          <p:nvPr/>
        </p:nvSpPr>
        <p:spPr bwMode="auto">
          <a:xfrm>
            <a:off x="4114800" y="1524000"/>
            <a:ext cx="457200" cy="457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100</a:t>
            </a:r>
          </a:p>
        </p:txBody>
      </p:sp>
      <p:sp>
        <p:nvSpPr>
          <p:cNvPr id="42015" name="Line 30"/>
          <p:cNvSpPr>
            <a:spLocks noChangeShapeType="1"/>
          </p:cNvSpPr>
          <p:nvPr/>
        </p:nvSpPr>
        <p:spPr bwMode="auto">
          <a:xfrm flipV="1">
            <a:off x="2667000" y="1828800"/>
            <a:ext cx="1431925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16" name="Text Box 31"/>
          <p:cNvSpPr txBox="1">
            <a:spLocks noChangeArrowheads="1"/>
          </p:cNvSpPr>
          <p:nvPr/>
        </p:nvSpPr>
        <p:spPr bwMode="auto">
          <a:xfrm>
            <a:off x="3289300" y="1752600"/>
            <a:ext cx="292100" cy="3667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0</a:t>
            </a:r>
          </a:p>
        </p:txBody>
      </p:sp>
      <p:sp>
        <p:nvSpPr>
          <p:cNvPr id="42017" name="Line 32"/>
          <p:cNvSpPr>
            <a:spLocks noChangeShapeType="1"/>
          </p:cNvSpPr>
          <p:nvPr/>
        </p:nvSpPr>
        <p:spPr bwMode="auto">
          <a:xfrm flipH="1" flipV="1">
            <a:off x="4572000" y="1779588"/>
            <a:ext cx="1066800" cy="658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18" name="Text Box 33"/>
          <p:cNvSpPr txBox="1">
            <a:spLocks noChangeArrowheads="1"/>
          </p:cNvSpPr>
          <p:nvPr/>
        </p:nvSpPr>
        <p:spPr bwMode="auto">
          <a:xfrm>
            <a:off x="5041900" y="1743075"/>
            <a:ext cx="292100" cy="3667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Garamond" panose="02020404030301010803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199B71-DFA8-4821-BC4D-B099051539D9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604838" y="604838"/>
            <a:ext cx="7858125" cy="539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HUFFMAN(C)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1  n </a:t>
            </a:r>
            <a:r>
              <a:rPr lang="en-US" altLang="en-US" sz="2400">
                <a:solidFill>
                  <a:srgbClr val="000000"/>
                </a:solidFill>
                <a:latin typeface="Symbol" panose="05050102010706020507" pitchFamily="18" charset="2"/>
              </a:rPr>
              <a:t></a:t>
            </a:r>
            <a:r>
              <a:rPr lang="en-US" altLang="en-US" sz="2400">
                <a:solidFill>
                  <a:srgbClr val="000000"/>
                </a:solidFill>
              </a:rPr>
              <a:t>|C|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2  Q </a:t>
            </a:r>
            <a:r>
              <a:rPr lang="en-US" altLang="en-US" sz="2400">
                <a:solidFill>
                  <a:srgbClr val="000000"/>
                </a:solidFill>
                <a:latin typeface="Symbol" panose="05050102010706020507" pitchFamily="18" charset="2"/>
              </a:rPr>
              <a:t></a:t>
            </a:r>
            <a:r>
              <a:rPr lang="en-US" altLang="en-US" sz="2400">
                <a:solidFill>
                  <a:srgbClr val="000000"/>
                </a:solidFill>
              </a:rPr>
              <a:t>C      ;  Characters are in a priority queue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3  for i </a:t>
            </a:r>
            <a:r>
              <a:rPr lang="en-US" altLang="en-US" sz="2400">
                <a:solidFill>
                  <a:srgbClr val="000000"/>
                </a:solidFill>
                <a:latin typeface="Symbol" panose="05050102010706020507" pitchFamily="18" charset="2"/>
              </a:rPr>
              <a:t></a:t>
            </a:r>
            <a:r>
              <a:rPr lang="en-US" altLang="en-US" sz="2400">
                <a:solidFill>
                  <a:srgbClr val="000000"/>
                </a:solidFill>
              </a:rPr>
              <a:t>to n-1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4       do z </a:t>
            </a:r>
            <a:r>
              <a:rPr lang="en-US" altLang="en-US" sz="2400">
                <a:solidFill>
                  <a:srgbClr val="000000"/>
                </a:solidFill>
                <a:latin typeface="Symbol" panose="05050102010706020507" pitchFamily="18" charset="2"/>
              </a:rPr>
              <a:t></a:t>
            </a:r>
            <a:r>
              <a:rPr lang="en-US" altLang="en-US" sz="2400">
                <a:solidFill>
                  <a:srgbClr val="000000"/>
                </a:solidFill>
              </a:rPr>
              <a:t>ALLOCATE-NODE()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5            x </a:t>
            </a:r>
            <a:r>
              <a:rPr lang="en-US" altLang="en-US" sz="2400">
                <a:solidFill>
                  <a:srgbClr val="000000"/>
                </a:solidFill>
                <a:latin typeface="Symbol" panose="05050102010706020507" pitchFamily="18" charset="2"/>
              </a:rPr>
              <a:t></a:t>
            </a:r>
            <a:r>
              <a:rPr lang="en-US" altLang="en-US" sz="2400">
                <a:solidFill>
                  <a:srgbClr val="000000"/>
                </a:solidFill>
              </a:rPr>
              <a:t>left[z] </a:t>
            </a:r>
            <a:r>
              <a:rPr lang="en-US" altLang="en-US" sz="2400">
                <a:solidFill>
                  <a:srgbClr val="000000"/>
                </a:solidFill>
                <a:latin typeface="Symbol" panose="05050102010706020507" pitchFamily="18" charset="2"/>
              </a:rPr>
              <a:t></a:t>
            </a:r>
            <a:r>
              <a:rPr lang="en-US" altLang="en-US" sz="2400">
                <a:solidFill>
                  <a:srgbClr val="000000"/>
                </a:solidFill>
              </a:rPr>
              <a:t>EXTRACT-MIN(Q)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6            y </a:t>
            </a:r>
            <a:r>
              <a:rPr lang="en-US" altLang="en-US" sz="2400">
                <a:solidFill>
                  <a:srgbClr val="000000"/>
                </a:solidFill>
                <a:latin typeface="Symbol" panose="05050102010706020507" pitchFamily="18" charset="2"/>
              </a:rPr>
              <a:t></a:t>
            </a:r>
            <a:r>
              <a:rPr lang="en-US" altLang="en-US" sz="2400">
                <a:solidFill>
                  <a:srgbClr val="000000"/>
                </a:solidFill>
              </a:rPr>
              <a:t>right[z] </a:t>
            </a:r>
            <a:r>
              <a:rPr lang="en-US" altLang="en-US" sz="2400">
                <a:solidFill>
                  <a:srgbClr val="000000"/>
                </a:solidFill>
                <a:latin typeface="Symbol" panose="05050102010706020507" pitchFamily="18" charset="2"/>
              </a:rPr>
              <a:t></a:t>
            </a:r>
            <a:r>
              <a:rPr lang="en-US" altLang="en-US" sz="2400">
                <a:solidFill>
                  <a:srgbClr val="000000"/>
                </a:solidFill>
              </a:rPr>
              <a:t>EXTRACT-MIN(Q)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7            f[z] </a:t>
            </a:r>
            <a:r>
              <a:rPr lang="en-US" altLang="en-US" sz="2400">
                <a:solidFill>
                  <a:srgbClr val="000000"/>
                </a:solidFill>
                <a:latin typeface="Symbol" panose="05050102010706020507" pitchFamily="18" charset="2"/>
              </a:rPr>
              <a:t></a:t>
            </a:r>
            <a:r>
              <a:rPr lang="en-US" altLang="en-US" sz="2400">
                <a:solidFill>
                  <a:srgbClr val="000000"/>
                </a:solidFill>
              </a:rPr>
              <a:t>f[x] + f[y]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8            INSERT(Q,z)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9  return EXTRACT-MIN(Q)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24B83C-8689-4812-9275-3F300CBDB203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 smtClean="0"/>
              <a:t>Running Time of Huffman’s Algorithm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Assume Q implemented as a binary heap</a:t>
            </a:r>
          </a:p>
          <a:p>
            <a:pPr eaLnBrk="1" hangingPunct="1"/>
            <a:r>
              <a:rPr lang="en-US" altLang="en-US" smtClean="0"/>
              <a:t>Assume n characters in alphabet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11070</TotalTime>
  <Words>1091</Words>
  <Application>Microsoft Office PowerPoint</Application>
  <PresentationFormat>On-screen Show (4:3)</PresentationFormat>
  <Paragraphs>282</Paragraphs>
  <Slides>40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Arial</vt:lpstr>
      <vt:lpstr>Wingdings</vt:lpstr>
      <vt:lpstr>Arial Black</vt:lpstr>
      <vt:lpstr>Times New Roman</vt:lpstr>
      <vt:lpstr>新細明體</vt:lpstr>
      <vt:lpstr>標楷體</vt:lpstr>
      <vt:lpstr>Garamond</vt:lpstr>
      <vt:lpstr>Symbol</vt:lpstr>
      <vt:lpstr>Pixel</vt:lpstr>
      <vt:lpstr>Microsoft Photo Editor 3.0 Photo</vt:lpstr>
      <vt:lpstr>Equation</vt:lpstr>
      <vt:lpstr>Greedy Algorithms</vt:lpstr>
      <vt:lpstr>PowerPoint Presentation</vt:lpstr>
      <vt:lpstr>An activity selection problem </vt:lpstr>
      <vt:lpstr>PowerPoint Presentation</vt:lpstr>
      <vt:lpstr>PowerPoint Presentation</vt:lpstr>
      <vt:lpstr>Greedy-Activity-Selector ( s, f ) </vt:lpstr>
      <vt:lpstr>PowerPoint Presentation</vt:lpstr>
      <vt:lpstr>Example (Contd…)</vt:lpstr>
      <vt:lpstr>The 0 - 1 knapsack problem</vt:lpstr>
      <vt:lpstr>Fractional knapsack problem </vt:lpstr>
      <vt:lpstr>Contd…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Huffman Codes</vt:lpstr>
      <vt:lpstr>Examples of Different Binary Encodings</vt:lpstr>
      <vt:lpstr>Binary encodings continued</vt:lpstr>
      <vt:lpstr>Encoding and Decoding</vt:lpstr>
      <vt:lpstr>Encoding</vt:lpstr>
      <vt:lpstr>Decoding</vt:lpstr>
      <vt:lpstr>Prefix Codes</vt:lpstr>
      <vt:lpstr>Important Fact:</vt:lpstr>
      <vt:lpstr>Problem</vt:lpstr>
      <vt:lpstr>Binary Tree Representation of Prefix Code</vt:lpstr>
      <vt:lpstr>PowerPoint Presentation</vt:lpstr>
      <vt:lpstr>Characteristics of Binary Tree</vt:lpstr>
      <vt:lpstr>Cost of a Tree T</vt:lpstr>
      <vt:lpstr>Constructing a Huffman Code</vt:lpstr>
      <vt:lpstr>Huffman Codes</vt:lpstr>
      <vt:lpstr>Constructing a Huffman Tree</vt:lpstr>
      <vt:lpstr>Constructing a Huffman Tree</vt:lpstr>
      <vt:lpstr>Constructing a Huffman Tree</vt:lpstr>
      <vt:lpstr>Constructing a Huffman Tree</vt:lpstr>
      <vt:lpstr>Constructing a Huffman Tree</vt:lpstr>
      <vt:lpstr>Constructing a Huffman Tree</vt:lpstr>
      <vt:lpstr>PowerPoint Presentation</vt:lpstr>
      <vt:lpstr>Running Time of Huffman’s Algorithm</vt:lpstr>
    </vt:vector>
  </TitlesOfParts>
  <Company>National University Of Computer &amp; Emerging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9010</dc:creator>
  <cp:lastModifiedBy>user1</cp:lastModifiedBy>
  <cp:revision>97</cp:revision>
  <dcterms:created xsi:type="dcterms:W3CDTF">2002-03-19T07:01:29Z</dcterms:created>
  <dcterms:modified xsi:type="dcterms:W3CDTF">2025-07-28T10:26:01Z</dcterms:modified>
</cp:coreProperties>
</file>