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86" r:id="rId2"/>
    <p:sldId id="333" r:id="rId3"/>
    <p:sldId id="343" r:id="rId4"/>
    <p:sldId id="344" r:id="rId5"/>
    <p:sldId id="345" r:id="rId6"/>
    <p:sldId id="385" r:id="rId7"/>
    <p:sldId id="347" r:id="rId8"/>
    <p:sldId id="348" r:id="rId9"/>
    <p:sldId id="349" r:id="rId10"/>
    <p:sldId id="350" r:id="rId11"/>
    <p:sldId id="383" r:id="rId12"/>
    <p:sldId id="384" r:id="rId13"/>
    <p:sldId id="354" r:id="rId14"/>
    <p:sldId id="355" r:id="rId15"/>
  </p:sldIdLst>
  <p:sldSz cx="9144000" cy="6858000" type="screen4x3"/>
  <p:notesSz cx="6661150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99"/>
    <a:srgbClr val="99FF99"/>
    <a:srgbClr val="99CCFF"/>
    <a:srgbClr val="FFFF00"/>
    <a:srgbClr val="063DE8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7" autoAdjust="0"/>
    <p:restoredTop sz="94660"/>
  </p:normalViewPr>
  <p:slideViewPr>
    <p:cSldViewPr>
      <p:cViewPr varScale="1">
        <p:scale>
          <a:sx n="73" d="100"/>
          <a:sy n="73" d="100"/>
        </p:scale>
        <p:origin x="1404" y="78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7413" y="4689475"/>
            <a:ext cx="4886325" cy="4441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1538" y="746125"/>
            <a:ext cx="4919662" cy="3689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65188" y="741363"/>
            <a:ext cx="4932362" cy="3698875"/>
          </a:xfrm>
          <a:ln cap="flat"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AU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65188" y="741363"/>
            <a:ext cx="4932362" cy="3698875"/>
          </a:xfrm>
          <a:ln cap="flat"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AU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05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612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8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3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8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46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947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072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National University of Computer and Emerging Sciences, Islamabad</a:t>
            </a:r>
          </a:p>
        </p:txBody>
      </p:sp>
      <p:sp>
        <p:nvSpPr>
          <p:cNvPr id="3076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Recursion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Basic problem solving technique is to divide a problem into smaller subproblems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These subproblems may also be divided into smaller subproblems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When the subproblems are small enough to solve directly the process stops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04800" y="1717675"/>
            <a:ext cx="86106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Recursion occurs when a function/procedure calls itself.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Many algorithms can be best described in terms of recursion.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Example: Factorial function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The product of the positive integers from </a:t>
            </a:r>
            <a:r>
              <a:rPr lang="en-GB" altLang="en-US" sz="2400" b="0" i="1">
                <a:latin typeface="Times New Roman" panose="02020603050405020304" pitchFamily="18" charset="0"/>
              </a:rPr>
              <a:t>1</a:t>
            </a:r>
            <a:r>
              <a:rPr lang="en-GB" altLang="en-US" sz="2400" b="0">
                <a:latin typeface="Times New Roman" panose="02020603050405020304" pitchFamily="18" charset="0"/>
              </a:rPr>
              <a:t> to </a:t>
            </a:r>
            <a:r>
              <a:rPr lang="en-GB" altLang="en-US" sz="2400" b="0" i="1">
                <a:latin typeface="Times New Roman" panose="02020603050405020304" pitchFamily="18" charset="0"/>
              </a:rPr>
              <a:t>n</a:t>
            </a:r>
            <a:r>
              <a:rPr lang="en-GB" altLang="en-US" sz="2400" b="0">
                <a:latin typeface="Times New Roman" panose="02020603050405020304" pitchFamily="18" charset="0"/>
              </a:rPr>
              <a:t> inclusive is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called "n factorial", usually denoted by n!: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 i="1">
                <a:latin typeface="Times New Roman" panose="02020603050405020304" pitchFamily="18" charset="0"/>
              </a:rPr>
              <a:t>             n! = 1 * 2 * 3 .... (n-2) * (n-1) * n</a:t>
            </a:r>
          </a:p>
        </p:txBody>
      </p:sp>
      <p:sp>
        <p:nvSpPr>
          <p:cNvPr id="81613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GB" b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Recursion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96875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GB" sz="2500" b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Recursive Definition</a:t>
            </a:r>
            <a:r>
              <a:rPr lang="en-GB" sz="2500" b="0" smtClean="0"/>
              <a:t> </a:t>
            </a:r>
            <a:br>
              <a:rPr lang="en-GB" sz="2500" b="0" smtClean="0"/>
            </a:br>
            <a:r>
              <a:rPr lang="en-GB" sz="2500" b="0" smtClean="0"/>
              <a:t>of the Factorial Function</a:t>
            </a:r>
            <a:endParaRPr lang="en-GB" b="0" smtClean="0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574925" y="2327275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n! = </a:t>
            </a:r>
          </a:p>
        </p:txBody>
      </p:sp>
      <p:sp>
        <p:nvSpPr>
          <p:cNvPr id="7172" name="AutoShape 4"/>
          <p:cNvSpPr>
            <a:spLocks/>
          </p:cNvSpPr>
          <p:nvPr/>
        </p:nvSpPr>
        <p:spPr bwMode="auto">
          <a:xfrm>
            <a:off x="3352800" y="20574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657600" y="2133600"/>
            <a:ext cx="29035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1, 		if n = 0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n * (n-1)!   	if n &gt; 0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914400" y="3810000"/>
            <a:ext cx="14732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5! = 5 * 4!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4! = 4 * 3!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3! = 3 * 2!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2! = 2 * 1!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1! = 1 * 0!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641600" y="3797300"/>
            <a:ext cx="27813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= 5 * 24 = 120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= 4 * 3! = 4 * 6 =  24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= 3 * 2! = 3 * 2 =  6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= 2 * 1! = 2 * 1 =  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= 1 * 0! = 1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593725" y="1946275"/>
            <a:ext cx="73485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The Fibonacci numbers are a series of numbers as follows: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fib(1) = 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fib(2) = 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fib(3) = 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fib(4) = 3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fib(5) = 5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743200" y="2895600"/>
            <a:ext cx="4495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fib(n) =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8196" name="AutoShape 4"/>
          <p:cNvSpPr>
            <a:spLocks/>
          </p:cNvSpPr>
          <p:nvPr/>
        </p:nvSpPr>
        <p:spPr bwMode="auto">
          <a:xfrm>
            <a:off x="3962400" y="3200400"/>
            <a:ext cx="381000" cy="914400"/>
          </a:xfrm>
          <a:prstGeom prst="leftBrace">
            <a:avLst>
              <a:gd name="adj1" fmla="val 2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419600" y="3200400"/>
            <a:ext cx="3260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1,                         n &lt;= 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fib(n-1) + fib(n-2),  n &gt; 2</a:t>
            </a:r>
          </a:p>
        </p:txBody>
      </p:sp>
      <p:sp>
        <p:nvSpPr>
          <p:cNvPr id="818182" name="Rectangle 6"/>
          <p:cNvSpPr>
            <a:spLocks noChangeArrowheads="1"/>
          </p:cNvSpPr>
          <p:nvPr/>
        </p:nvSpPr>
        <p:spPr bwMode="auto">
          <a:xfrm>
            <a:off x="685800" y="7620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GB" sz="2500" i="1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Recursive Definition</a:t>
            </a:r>
            <a:r>
              <a:rPr lang="en-GB" sz="2500" i="1">
                <a:solidFill>
                  <a:srgbClr val="063DE8"/>
                </a:solidFill>
                <a:latin typeface="Arial" charset="0"/>
              </a:rPr>
              <a:t> </a:t>
            </a:r>
            <a:br>
              <a:rPr lang="en-GB" sz="2500" i="1">
                <a:solidFill>
                  <a:srgbClr val="063DE8"/>
                </a:solidFill>
                <a:latin typeface="Arial" charset="0"/>
              </a:rPr>
            </a:br>
            <a:r>
              <a:rPr lang="en-GB" sz="2500" i="1">
                <a:solidFill>
                  <a:srgbClr val="063DE8"/>
                </a:solidFill>
                <a:latin typeface="Arial" charset="0"/>
              </a:rPr>
              <a:t>of the Fibonacci Numbers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819400" y="4800600"/>
            <a:ext cx="23066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fib(3) = 1 + 1 = 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fib(4) = 2 + 1 = 3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fib(5) = 2 + 3 = 5</a:t>
            </a:r>
            <a:endParaRPr lang="en-US" altLang="en-US" sz="24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600200" y="1676400"/>
            <a:ext cx="5132388" cy="274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int BadFactorial(n){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int x = BadFactorial(n-1);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if (n == 1)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   return 1;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else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      return n*x;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What is the value of </a:t>
            </a:r>
            <a:r>
              <a:rPr lang="en-GB" altLang="en-US" sz="2000">
                <a:latin typeface="Courier New" panose="02070309020205020404" pitchFamily="49" charset="0"/>
              </a:rPr>
              <a:t>BadFactorial(2)</a:t>
            </a:r>
            <a:r>
              <a:rPr lang="en-GB" altLang="en-US" sz="2400" b="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862211" name="Rectangle 3"/>
          <p:cNvSpPr>
            <a:spLocks noChangeArrowheads="1"/>
          </p:cNvSpPr>
          <p:nvPr/>
        </p:nvSpPr>
        <p:spPr bwMode="auto">
          <a:xfrm>
            <a:off x="685800" y="7620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GB" sz="2500" i="1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Recursive Definition</a:t>
            </a:r>
            <a:r>
              <a:rPr lang="en-GB" sz="2500" i="1">
                <a:solidFill>
                  <a:srgbClr val="063DE8"/>
                </a:solidFill>
                <a:latin typeface="Arial" charset="0"/>
              </a:rPr>
              <a:t> </a:t>
            </a:r>
            <a:br>
              <a:rPr lang="en-GB" sz="2500" i="1">
                <a:solidFill>
                  <a:srgbClr val="063DE8"/>
                </a:solidFill>
                <a:latin typeface="Arial" charset="0"/>
              </a:rPr>
            </a:br>
            <a:endParaRPr lang="en-GB" sz="2800" i="1">
              <a:solidFill>
                <a:srgbClr val="063DE8"/>
              </a:solidFill>
              <a:latin typeface="Arial" charset="0"/>
            </a:endParaRPr>
          </a:p>
        </p:txBody>
      </p:sp>
      <p:sp>
        <p:nvSpPr>
          <p:cNvPr id="862212" name="Rectangle 4"/>
          <p:cNvSpPr>
            <a:spLocks noChangeArrowheads="1"/>
          </p:cNvSpPr>
          <p:nvPr/>
        </p:nvSpPr>
        <p:spPr bwMode="auto">
          <a:xfrm>
            <a:off x="381000" y="4953000"/>
            <a:ext cx="8382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3300"/>
                </a:solidFill>
                <a:latin typeface="Times New Roman" panose="02020603050405020304" pitchFamily="18" charset="0"/>
              </a:rPr>
              <a:t>We must make sure that recursion eventually stops, otherwise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rgbClr val="FF3300"/>
                </a:solidFill>
                <a:latin typeface="Times New Roman" panose="02020603050405020304" pitchFamily="18" charset="0"/>
              </a:rPr>
              <a:t>it runs forever: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22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03238"/>
          </a:xfrm>
        </p:spPr>
        <p:txBody>
          <a:bodyPr/>
          <a:lstStyle/>
          <a:p>
            <a:pPr>
              <a:defRPr/>
            </a:pPr>
            <a:r>
              <a:rPr lang="en-GB" sz="2500" b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Using Recursion Properly</a:t>
            </a:r>
            <a:endParaRPr lang="en-GB" b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04800" y="1447800"/>
            <a:ext cx="86106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For correct recursion we need two parts: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1. One (ore more) </a:t>
            </a:r>
            <a:r>
              <a:rPr lang="en-GB" altLang="en-US" sz="2400" b="0" u="sng">
                <a:latin typeface="Times New Roman" panose="02020603050405020304" pitchFamily="18" charset="0"/>
              </a:rPr>
              <a:t>base cases</a:t>
            </a:r>
            <a:r>
              <a:rPr lang="en-GB" altLang="en-US" sz="2400" b="0">
                <a:latin typeface="Times New Roman" panose="02020603050405020304" pitchFamily="18" charset="0"/>
              </a:rPr>
              <a:t> that are not recursive, i.e. we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    can directly give a solution: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     </a:t>
            </a:r>
            <a:r>
              <a:rPr lang="en-GB" altLang="en-US" sz="2400" b="0">
                <a:latin typeface="Courier New" panose="02070309020205020404" pitchFamily="49" charset="0"/>
              </a:rPr>
              <a:t> </a:t>
            </a:r>
            <a:r>
              <a:rPr lang="en-GB" altLang="en-US" sz="2400">
                <a:latin typeface="Courier New" panose="02070309020205020404" pitchFamily="49" charset="0"/>
              </a:rPr>
              <a:t>if (n==1)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>
                <a:latin typeface="Courier New" panose="02070309020205020404" pitchFamily="49" charset="0"/>
              </a:rPr>
              <a:t>      return 1;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2. One (or more) r</a:t>
            </a:r>
            <a:r>
              <a:rPr lang="en-GB" altLang="en-US" sz="2400" b="0" u="sng">
                <a:latin typeface="Times New Roman" panose="02020603050405020304" pitchFamily="18" charset="0"/>
              </a:rPr>
              <a:t>ecursive cases</a:t>
            </a:r>
            <a:r>
              <a:rPr lang="en-GB" altLang="en-US" sz="2400" b="0">
                <a:latin typeface="Times New Roman" panose="02020603050405020304" pitchFamily="18" charset="0"/>
              </a:rPr>
              <a:t> that operate on smaller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    problems that get closer to the base case(s)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      </a:t>
            </a:r>
            <a:r>
              <a:rPr lang="en-GB" altLang="en-US" sz="2400" b="0">
                <a:latin typeface="Courier New" panose="02070309020205020404" pitchFamily="49" charset="0"/>
              </a:rPr>
              <a:t> </a:t>
            </a:r>
            <a:r>
              <a:rPr lang="en-GB" altLang="en-US" sz="2400">
                <a:latin typeface="Courier New" panose="02070309020205020404" pitchFamily="49" charset="0"/>
              </a:rPr>
              <a:t>return n * factorial(n-1);</a:t>
            </a:r>
            <a:endParaRPr lang="en-GB" altLang="en-US" sz="2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The base case(s) should </a:t>
            </a:r>
            <a:r>
              <a:rPr lang="en-GB" altLang="en-US" sz="2400" b="0" u="sng">
                <a:solidFill>
                  <a:schemeClr val="tx2"/>
                </a:solidFill>
                <a:latin typeface="Times New Roman" panose="02020603050405020304" pitchFamily="18" charset="0"/>
              </a:rPr>
              <a:t>always</a:t>
            </a: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 be checked </a:t>
            </a:r>
            <a:r>
              <a:rPr lang="en-GB" altLang="en-US" sz="2400" b="0" u="sng">
                <a:solidFill>
                  <a:schemeClr val="tx2"/>
                </a:solidFill>
                <a:latin typeface="Times New Roman" panose="02020603050405020304" pitchFamily="18" charset="0"/>
              </a:rPr>
              <a:t>before</a:t>
            </a: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 the recursive calls.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Counting Digits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Recursive definition</a:t>
            </a:r>
          </a:p>
          <a:p>
            <a:pPr lvl="1">
              <a:buFontTx/>
              <a:buNone/>
            </a:pPr>
            <a:r>
              <a:rPr lang="en-US" altLang="en-US" smtClean="0"/>
              <a:t>digits(n) = 1			if (–9 &lt;= n &lt;= 9)</a:t>
            </a:r>
          </a:p>
          <a:p>
            <a:pPr lvl="1">
              <a:buFontTx/>
              <a:buNone/>
            </a:pPr>
            <a:r>
              <a:rPr lang="en-US" altLang="en-US" smtClean="0"/>
              <a:t>                  1 + digits(n/10)	otherwise </a:t>
            </a:r>
          </a:p>
          <a:p>
            <a:r>
              <a:rPr lang="en-US" altLang="en-US" smtClean="0"/>
              <a:t>Example</a:t>
            </a:r>
          </a:p>
          <a:p>
            <a:pPr lvl="1">
              <a:buFontTx/>
              <a:buNone/>
            </a:pPr>
            <a:r>
              <a:rPr lang="en-US" altLang="en-US" smtClean="0"/>
              <a:t>digits(321) = </a:t>
            </a:r>
          </a:p>
          <a:p>
            <a:pPr lvl="1">
              <a:buFontTx/>
              <a:buNone/>
            </a:pPr>
            <a:r>
              <a:rPr lang="en-US" altLang="en-US" smtClean="0"/>
              <a:t>   1 + digits(321/10) = 1 +digits(32) =</a:t>
            </a:r>
          </a:p>
          <a:p>
            <a:pPr lvl="1">
              <a:buFontTx/>
              <a:buNone/>
            </a:pPr>
            <a:r>
              <a:rPr lang="en-US" altLang="en-US" smtClean="0"/>
              <a:t>   1 + [1 + digits(32/10)] = 1 + [1 + digits(3)] = </a:t>
            </a:r>
          </a:p>
          <a:p>
            <a:pPr lvl="1">
              <a:buFontTx/>
              <a:buNone/>
            </a:pPr>
            <a:r>
              <a:rPr lang="en-US" altLang="en-US" smtClean="0"/>
              <a:t>   1 + [1 + (1)] =</a:t>
            </a:r>
          </a:p>
          <a:p>
            <a:pPr lvl="1">
              <a:buFontTx/>
              <a:buNone/>
            </a:pPr>
            <a:r>
              <a:rPr lang="en-US" altLang="en-US" smtClean="0"/>
              <a:t> 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Counting Digits in C++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8825" y="1522413"/>
            <a:ext cx="7562850" cy="50085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int numberofDigits(int n) {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if ((-10 &lt; n) &amp;&amp; (n &lt; 10))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  return 1;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else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  return 1 + numberofDigits(n/10);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Evaluating Exponents Recursively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4875" y="1604963"/>
            <a:ext cx="7481888" cy="49895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int power(int k, int n) {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// raise k to the power n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if (n == 0)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  return 1;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else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    return k * power(k, n – 1);</a:t>
            </a:r>
          </a:p>
          <a:p>
            <a:pPr>
              <a:buFontTx/>
              <a:buNone/>
            </a:pPr>
            <a:r>
              <a:rPr lang="en-US" altLang="en-US" b="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Divide and Conquer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Using this method each recursive subproblem is a factor of the original problem</a:t>
            </a:r>
          </a:p>
          <a:p>
            <a:r>
              <a:rPr lang="en-US" altLang="en-US" smtClean="0"/>
              <a:t>If we could define </a:t>
            </a:r>
            <a:r>
              <a:rPr lang="en-US" altLang="en-US" smtClean="0">
                <a:latin typeface="Courier New" panose="02070309020205020404" pitchFamily="49" charset="0"/>
              </a:rPr>
              <a:t>power</a:t>
            </a:r>
            <a:r>
              <a:rPr lang="en-US" altLang="en-US" smtClean="0"/>
              <a:t> so that each subproblem was based on computing k</a:t>
            </a:r>
            <a:r>
              <a:rPr lang="en-US" altLang="en-US" baseline="30000" smtClean="0"/>
              <a:t>n/2</a:t>
            </a:r>
            <a:r>
              <a:rPr lang="en-US" altLang="en-US" smtClean="0"/>
              <a:t> instead of k</a:t>
            </a:r>
            <a:r>
              <a:rPr lang="en-US" altLang="en-US" baseline="30000" smtClean="0"/>
              <a:t>n – 1</a:t>
            </a:r>
            <a:r>
              <a:rPr lang="en-US" altLang="en-US" smtClean="0"/>
              <a:t> we could use the divide and conquer principle</a:t>
            </a:r>
          </a:p>
          <a:p>
            <a:r>
              <a:rPr lang="en-US" altLang="en-US" smtClean="0"/>
              <a:t>Recursive divide and conquer algorithms are often more efficient than iterative algorithms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Evaluating Exponents Using Divide and Conquer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47800"/>
            <a:ext cx="7924800" cy="5181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int power(int k, int n)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// raise k to the power 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if (n == 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  return 1;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else{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  int t = power(k, n/2);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  if ((n % 2) == 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    return t * 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  else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      return k * t * 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Disadvantages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May run slower.</a:t>
            </a:r>
          </a:p>
          <a:p>
            <a:pPr lvl="1"/>
            <a:r>
              <a:rPr lang="en-US" altLang="en-US" smtClean="0"/>
              <a:t>Inefficient Code</a:t>
            </a:r>
          </a:p>
          <a:p>
            <a:pPr lvl="1"/>
            <a:endParaRPr lang="en-US" altLang="en-US" smtClean="0"/>
          </a:p>
          <a:p>
            <a:r>
              <a:rPr lang="en-US" altLang="en-US" smtClean="0"/>
              <a:t>May use more space.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en-US" smtClean="0"/>
              <a:t>Advantages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en-US" smtClean="0"/>
              <a:t>More natural.</a:t>
            </a:r>
          </a:p>
          <a:p>
            <a:r>
              <a:rPr lang="en-US" altLang="en-US" smtClean="0"/>
              <a:t>Easier to prove correct.</a:t>
            </a:r>
          </a:p>
          <a:p>
            <a:r>
              <a:rPr lang="en-US" altLang="en-US" smtClean="0"/>
              <a:t>Easier to analyze.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5162</TotalTime>
  <Pages>11</Pages>
  <Words>652</Words>
  <Application>Microsoft Office PowerPoint</Application>
  <PresentationFormat>On-screen Show (4:3)</PresentationFormat>
  <Paragraphs>121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Courier New</vt:lpstr>
      <vt:lpstr>plsd</vt:lpstr>
      <vt:lpstr>   Design and Analysis of Algorithms</vt:lpstr>
      <vt:lpstr>Recursion</vt:lpstr>
      <vt:lpstr>Recursion</vt:lpstr>
      <vt:lpstr>Recursive Definition  of the Factorial Function</vt:lpstr>
      <vt:lpstr>PowerPoint Presentation</vt:lpstr>
      <vt:lpstr>PowerPoint Presentation</vt:lpstr>
      <vt:lpstr>Using Recursion Properly</vt:lpstr>
      <vt:lpstr>Counting Digits</vt:lpstr>
      <vt:lpstr>Counting Digits in C++</vt:lpstr>
      <vt:lpstr>Evaluating Exponents Recursively</vt:lpstr>
      <vt:lpstr>Divide and Conquer</vt:lpstr>
      <vt:lpstr>Evaluating Exponents Using Divide and Conquer</vt:lpstr>
      <vt:lpstr>Disadvantages</vt:lpstr>
      <vt:lpstr>Advantages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keywords/>
  <cp:lastModifiedBy>user1</cp:lastModifiedBy>
  <cp:revision>406</cp:revision>
  <cp:lastPrinted>1998-07-27T03:15:14Z</cp:lastPrinted>
  <dcterms:created xsi:type="dcterms:W3CDTF">1998-07-26T04:07:26Z</dcterms:created>
  <dcterms:modified xsi:type="dcterms:W3CDTF">2025-07-28T10:26:05Z</dcterms:modified>
</cp:coreProperties>
</file>