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16" r:id="rId1"/>
  </p:sldMasterIdLst>
  <p:notesMasterIdLst>
    <p:notesMasterId r:id="rId43"/>
  </p:notesMasterIdLst>
  <p:sldIdLst>
    <p:sldId id="314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9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330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</p:sldIdLst>
  <p:sldSz cx="9144000" cy="6858000" type="screen4x3"/>
  <p:notesSz cx="7559675" cy="10691813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87971" autoAdjust="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sldImg"/>
          </p:nvPr>
        </p:nvSpPr>
        <p:spPr bwMode="auto">
          <a:xfrm>
            <a:off x="1106488" y="812800"/>
            <a:ext cx="5343525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28AF569-AFD1-4542-A514-84BCE743ED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B9FDBE6-6085-4114-B3B5-DB066574B082}" type="slidenum">
              <a:rPr lang="en-US" altLang="en-US" sz="1400" smtClean="0"/>
              <a:pPr>
                <a:spcBef>
                  <a:spcPct val="0"/>
                </a:spcBef>
              </a:pPr>
              <a:t>16</a:t>
            </a:fld>
            <a:endParaRPr lang="en-US" altLang="en-US" sz="1400" smtClean="0"/>
          </a:p>
        </p:txBody>
      </p:sp>
      <p:sp>
        <p:nvSpPr>
          <p:cNvPr id="19459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9A54203-AA0E-42E4-9175-C33DE4F379F7}" type="slidenum">
              <a:rPr lang="en-US" altLang="en-US" sz="1400" smtClean="0"/>
              <a:pPr>
                <a:spcBef>
                  <a:spcPct val="0"/>
                </a:spcBef>
              </a:pPr>
              <a:t>17</a:t>
            </a:fld>
            <a:endParaRPr lang="en-US" altLang="en-US" sz="1400" smtClean="0"/>
          </a:p>
        </p:txBody>
      </p:sp>
      <p:sp>
        <p:nvSpPr>
          <p:cNvPr id="21507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D6AB3D-6503-4EAA-B8DB-0AE92581C9F3}" type="slidenum">
              <a:rPr lang="en-US" altLang="en-US" sz="1400" smtClean="0"/>
              <a:pPr>
                <a:spcBef>
                  <a:spcPct val="0"/>
                </a:spcBef>
              </a:pPr>
              <a:t>18</a:t>
            </a:fld>
            <a:endParaRPr lang="en-US" altLang="en-US" sz="1400" smtClean="0"/>
          </a:p>
        </p:txBody>
      </p:sp>
      <p:sp>
        <p:nvSpPr>
          <p:cNvPr id="23555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D42218C-6D52-4EC7-9F43-55C6D5C1369A}" type="slidenum">
              <a:rPr lang="en-US" altLang="en-US" sz="1400" smtClean="0"/>
              <a:pPr>
                <a:spcBef>
                  <a:spcPct val="0"/>
                </a:spcBef>
              </a:pPr>
              <a:t>19</a:t>
            </a:fld>
            <a:endParaRPr lang="en-US" altLang="en-US" sz="1400" smtClean="0"/>
          </a:p>
        </p:txBody>
      </p:sp>
      <p:sp>
        <p:nvSpPr>
          <p:cNvPr id="25603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D4EFA54-D5A6-4D4C-BCB4-07232F59837A}" type="slidenum">
              <a:rPr lang="en-US" altLang="en-US" sz="1400" smtClean="0"/>
              <a:pPr>
                <a:spcBef>
                  <a:spcPct val="0"/>
                </a:spcBef>
              </a:pPr>
              <a:t>20</a:t>
            </a:fld>
            <a:endParaRPr lang="en-US" altLang="en-US" sz="1400" smtClean="0"/>
          </a:p>
        </p:txBody>
      </p:sp>
      <p:sp>
        <p:nvSpPr>
          <p:cNvPr id="27651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97979C4-95E7-4439-99DC-DEF14F573379}" type="slidenum">
              <a:rPr lang="en-US" altLang="en-US" sz="1400" smtClean="0"/>
              <a:pPr>
                <a:spcBef>
                  <a:spcPct val="0"/>
                </a:spcBef>
              </a:pPr>
              <a:t>21</a:t>
            </a:fld>
            <a:endParaRPr lang="en-US" altLang="en-US" sz="1400" smtClean="0"/>
          </a:p>
        </p:txBody>
      </p:sp>
      <p:sp>
        <p:nvSpPr>
          <p:cNvPr id="29699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B63A4DA-C51D-453A-9931-C9DA436A8776}" type="slidenum">
              <a:rPr lang="en-US" altLang="en-US" sz="1400" smtClean="0"/>
              <a:pPr>
                <a:spcBef>
                  <a:spcPct val="0"/>
                </a:spcBef>
              </a:pPr>
              <a:t>22</a:t>
            </a:fld>
            <a:endParaRPr lang="en-US" altLang="en-US" sz="1400" smtClean="0"/>
          </a:p>
        </p:txBody>
      </p:sp>
      <p:sp>
        <p:nvSpPr>
          <p:cNvPr id="31747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6733CFE-FEC0-461C-88A1-487CFC76E56D}" type="slidenum">
              <a:rPr lang="en-US" altLang="en-US" sz="1400" smtClean="0"/>
              <a:pPr>
                <a:spcBef>
                  <a:spcPct val="0"/>
                </a:spcBef>
              </a:pPr>
              <a:t>23</a:t>
            </a:fld>
            <a:endParaRPr lang="en-US" altLang="en-US" sz="1400" smtClean="0"/>
          </a:p>
        </p:txBody>
      </p:sp>
      <p:sp>
        <p:nvSpPr>
          <p:cNvPr id="33795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20E7BFF-6828-44FA-9E59-FB90F786A5AB}" type="slidenum">
              <a:rPr lang="en-US" altLang="en-US" sz="1400" smtClean="0"/>
              <a:pPr>
                <a:spcBef>
                  <a:spcPct val="0"/>
                </a:spcBef>
              </a:pPr>
              <a:t>24</a:t>
            </a:fld>
            <a:endParaRPr lang="en-US" altLang="en-US" sz="1400" smtClean="0"/>
          </a:p>
        </p:txBody>
      </p:sp>
      <p:sp>
        <p:nvSpPr>
          <p:cNvPr id="35843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4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8651ECE-8786-4D57-ACA9-2EF404612428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25</a:t>
            </a:fld>
            <a:endParaRPr lang="en-US" altLang="en-US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404C2B2-594E-4351-8F46-A74FE8F00983}" type="slidenum">
              <a:rPr lang="en-US" altLang="en-US" sz="1400" smtClean="0"/>
              <a:pPr>
                <a:spcBef>
                  <a:spcPct val="0"/>
                </a:spcBef>
              </a:pPr>
              <a:t>26</a:t>
            </a:fld>
            <a:endParaRPr lang="en-US" altLang="en-US" sz="1400" smtClean="0"/>
          </a:p>
        </p:txBody>
      </p:sp>
      <p:sp>
        <p:nvSpPr>
          <p:cNvPr id="39939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40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8615D7E-34BE-4F43-9393-EAE0E861C35A}" type="slidenum">
              <a:rPr lang="en-US" altLang="en-US" sz="1400" smtClean="0"/>
              <a:pPr>
                <a:spcBef>
                  <a:spcPct val="0"/>
                </a:spcBef>
              </a:pPr>
              <a:t>27</a:t>
            </a:fld>
            <a:endParaRPr lang="en-US" altLang="en-US" sz="1400" smtClean="0"/>
          </a:p>
        </p:txBody>
      </p:sp>
      <p:sp>
        <p:nvSpPr>
          <p:cNvPr id="41987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8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CF6EAA8-2DD8-4C60-B6AF-F92FADA54FC9}" type="slidenum">
              <a:rPr lang="en-US" altLang="en-US" sz="1400" smtClean="0"/>
              <a:pPr>
                <a:spcBef>
                  <a:spcPct val="0"/>
                </a:spcBef>
              </a:pPr>
              <a:t>28</a:t>
            </a:fld>
            <a:endParaRPr lang="en-US" altLang="en-US" sz="1400" smtClean="0"/>
          </a:p>
        </p:txBody>
      </p:sp>
      <p:sp>
        <p:nvSpPr>
          <p:cNvPr id="44035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6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94464F2-6043-4DF2-A723-815F505BBD05}" type="slidenum">
              <a:rPr lang="en-US" altLang="en-US" sz="1400" smtClean="0"/>
              <a:pPr>
                <a:spcBef>
                  <a:spcPct val="0"/>
                </a:spcBef>
              </a:pPr>
              <a:t>29</a:t>
            </a:fld>
            <a:endParaRPr lang="en-US" altLang="en-US" sz="1400" smtClean="0"/>
          </a:p>
        </p:txBody>
      </p:sp>
      <p:sp>
        <p:nvSpPr>
          <p:cNvPr id="46083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4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8ECBE7C-75D8-46EB-B27C-937C5E9BCC66}" type="slidenum">
              <a:rPr lang="en-US" altLang="en-US" sz="1400" smtClean="0"/>
              <a:pPr>
                <a:spcBef>
                  <a:spcPct val="0"/>
                </a:spcBef>
              </a:pPr>
              <a:t>30</a:t>
            </a:fld>
            <a:endParaRPr lang="en-US" altLang="en-US" sz="1400" smtClean="0"/>
          </a:p>
        </p:txBody>
      </p:sp>
      <p:sp>
        <p:nvSpPr>
          <p:cNvPr id="48131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2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B441BA1-1FEE-44BA-941D-F0E4A33FE804}" type="slidenum">
              <a:rPr lang="en-US" altLang="en-US" sz="1400" smtClean="0"/>
              <a:pPr>
                <a:spcBef>
                  <a:spcPct val="0"/>
                </a:spcBef>
              </a:pPr>
              <a:t>31</a:t>
            </a:fld>
            <a:endParaRPr lang="en-US" altLang="en-US" sz="1400" smtClean="0"/>
          </a:p>
        </p:txBody>
      </p:sp>
      <p:sp>
        <p:nvSpPr>
          <p:cNvPr id="50179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80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33BC16A-ADDA-455F-8F09-4EDD91C7AF2E}" type="slidenum">
              <a:rPr lang="en-US" altLang="en-US" sz="1400" smtClean="0"/>
              <a:pPr>
                <a:spcBef>
                  <a:spcPct val="0"/>
                </a:spcBef>
              </a:pPr>
              <a:t>32</a:t>
            </a:fld>
            <a:endParaRPr lang="en-US" altLang="en-US" sz="1400" smtClean="0"/>
          </a:p>
        </p:txBody>
      </p:sp>
      <p:sp>
        <p:nvSpPr>
          <p:cNvPr id="52227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8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75F96D7-9B32-463E-B4DA-227669F035DB}" type="slidenum">
              <a:rPr lang="en-US" altLang="en-US" sz="1400" smtClean="0"/>
              <a:pPr>
                <a:spcBef>
                  <a:spcPct val="0"/>
                </a:spcBef>
              </a:pPr>
              <a:t>33</a:t>
            </a:fld>
            <a:endParaRPr lang="en-US" altLang="en-US" sz="1400" smtClean="0"/>
          </a:p>
        </p:txBody>
      </p:sp>
      <p:sp>
        <p:nvSpPr>
          <p:cNvPr id="54275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4276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0BD605C-B3B3-4B34-8D1C-EC83A5AC47A6}" type="slidenum">
              <a:rPr lang="en-US" altLang="en-US" sz="1400" smtClean="0"/>
              <a:pPr>
                <a:spcBef>
                  <a:spcPct val="0"/>
                </a:spcBef>
              </a:pPr>
              <a:t>34</a:t>
            </a:fld>
            <a:endParaRPr lang="en-US" altLang="en-US" sz="1400" smtClean="0"/>
          </a:p>
        </p:txBody>
      </p:sp>
      <p:sp>
        <p:nvSpPr>
          <p:cNvPr id="56323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6324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E37737-E7D2-49E5-AFAA-750352A9CFB3}" type="slidenum">
              <a:rPr lang="en-US" altLang="en-US" sz="1400" smtClean="0"/>
              <a:pPr>
                <a:spcBef>
                  <a:spcPct val="0"/>
                </a:spcBef>
              </a:pPr>
              <a:t>35</a:t>
            </a:fld>
            <a:endParaRPr lang="en-US" altLang="en-US" sz="1400" smtClean="0"/>
          </a:p>
        </p:txBody>
      </p:sp>
      <p:sp>
        <p:nvSpPr>
          <p:cNvPr id="58371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2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71E17DB-4051-4F24-893C-D58B2D9A190B}" type="slidenum">
              <a:rPr lang="en-US" altLang="en-US" sz="1400" smtClean="0"/>
              <a:pPr>
                <a:spcBef>
                  <a:spcPct val="0"/>
                </a:spcBef>
              </a:pPr>
              <a:t>36</a:t>
            </a:fld>
            <a:endParaRPr lang="en-US" altLang="en-US" sz="1400" smtClean="0"/>
          </a:p>
        </p:txBody>
      </p:sp>
      <p:sp>
        <p:nvSpPr>
          <p:cNvPr id="60419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20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20EA231-7436-439E-89BD-B74A77B8BAF9}" type="slidenum">
              <a:rPr lang="en-US" altLang="en-US" sz="1400" smtClean="0"/>
              <a:pPr>
                <a:spcBef>
                  <a:spcPct val="0"/>
                </a:spcBef>
              </a:pPr>
              <a:t>37</a:t>
            </a:fld>
            <a:endParaRPr lang="en-US" altLang="en-US" sz="1400" smtClean="0"/>
          </a:p>
        </p:txBody>
      </p:sp>
      <p:sp>
        <p:nvSpPr>
          <p:cNvPr id="62467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8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0A41E5-7609-416C-809E-E6ABF3D8CAE1}" type="slidenum">
              <a:rPr lang="en-US" altLang="en-US" sz="1400" smtClean="0"/>
              <a:pPr>
                <a:spcBef>
                  <a:spcPct val="0"/>
                </a:spcBef>
              </a:pPr>
              <a:t>38</a:t>
            </a:fld>
            <a:endParaRPr lang="en-US" altLang="en-US" sz="1400" smtClean="0"/>
          </a:p>
        </p:txBody>
      </p:sp>
      <p:sp>
        <p:nvSpPr>
          <p:cNvPr id="64515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6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A47ADCB-C7DD-4DC9-B65B-0571FD6FCA14}" type="slidenum">
              <a:rPr lang="en-US" altLang="en-US" sz="1400" smtClean="0"/>
              <a:pPr>
                <a:spcBef>
                  <a:spcPct val="0"/>
                </a:spcBef>
              </a:pPr>
              <a:t>39</a:t>
            </a:fld>
            <a:endParaRPr lang="en-US" altLang="en-US" sz="1400" smtClean="0"/>
          </a:p>
        </p:txBody>
      </p:sp>
      <p:sp>
        <p:nvSpPr>
          <p:cNvPr id="66563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6564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7F0F247-98CB-4176-9A49-C4B955A0CB8E}" type="slidenum">
              <a:rPr lang="en-US" altLang="en-US" sz="1400" smtClean="0"/>
              <a:pPr>
                <a:spcBef>
                  <a:spcPct val="0"/>
                </a:spcBef>
              </a:pPr>
              <a:t>40</a:t>
            </a:fld>
            <a:endParaRPr lang="en-US" altLang="en-US" sz="1400" smtClean="0"/>
          </a:p>
        </p:txBody>
      </p:sp>
      <p:sp>
        <p:nvSpPr>
          <p:cNvPr id="68611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2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04D331E-4384-4805-BC83-37C8B9B2CBAA}" type="slidenum">
              <a:rPr lang="en-US" altLang="en-US" sz="1400" smtClean="0"/>
              <a:pPr>
                <a:spcBef>
                  <a:spcPct val="0"/>
                </a:spcBef>
              </a:pPr>
              <a:t>41</a:t>
            </a:fld>
            <a:endParaRPr lang="en-US" altLang="en-US" sz="1400" smtClean="0"/>
          </a:p>
        </p:txBody>
      </p:sp>
      <p:sp>
        <p:nvSpPr>
          <p:cNvPr id="70659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0660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0CA346-ADC7-4084-91EC-94D3F71B6FA7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5C6B6-346E-43FC-8776-3E14DC3600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7091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B52984-F895-4656-9EE2-64B29CE537D7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2BFFA4-DD68-4397-A784-5DD484D2EC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274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8DA2C-EC99-4092-A4DB-FE79C0A0537E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2DD3F3-DC6C-4F23-B6FB-7A518EABC7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841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5A47-11C6-4F69-A532-34EEEE9E0E4B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4DDE5-E16A-4CBE-81F1-FE767E67E5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03CC1D-EDD0-4422-A82B-266A8A2E10C3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2CBD1-23BA-413D-8838-5BC832038E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02BAF-5ABB-4EDB-B054-6C7192DEB428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D1F10-6652-487E-A0AF-DBE70DB83B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001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766D8F-A818-4930-9049-81C826F808D9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978FB7-73F2-4366-8A6F-1875001BAE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643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F2F40-9D9B-4CC4-8377-C211BB1D053D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BF8DA-05F2-499C-8CCF-3033A0615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43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4DAC9-52B2-46E5-ABA2-67336CE64217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91034-3CE2-4688-8D3C-682696EF56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647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FA49D-F3AD-40A4-9E23-F40BEEDD6A18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420EC-1663-4615-BF7E-9957B2EE45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9164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48FC5B-32E9-49C3-B5D5-5103EFEAF2CC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0B9930-77C4-4383-8B92-F9D922957E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261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15DC81B-62BE-45E5-B7B7-1A4F3E29129B}" type="datetime1">
              <a:rPr lang="en-US"/>
              <a:pPr>
                <a:defRPr/>
              </a:pPr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200">
                <a:solidFill>
                  <a:srgbClr val="8989D1"/>
                </a:solidFill>
              </a:defRPr>
            </a:lvl1pPr>
          </a:lstStyle>
          <a:p>
            <a:pPr>
              <a:defRPr/>
            </a:pPr>
            <a:fld id="{4A23E24F-A45C-4AF5-AF36-1E2611BD27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9.bin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23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Design and Analysis of Algorithms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4800" smtClean="0">
                <a:solidFill>
                  <a:srgbClr val="000000"/>
                </a:solidFill>
              </a:rPr>
              <a:t>Recurrences</a:t>
            </a:r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04092CD-E3E2-49D4-9C9C-9213A18DFC87}" type="slidenum">
              <a:rPr lang="en-US" altLang="en-US" smtClean="0"/>
              <a:pPr/>
              <a:t>1</a:t>
            </a:fld>
            <a:endParaRPr lang="en-US" altLang="en-US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/>
              <a:t>Recurrences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expression: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is a </a:t>
            </a:r>
            <a:r>
              <a:rPr lang="en-US" i="1" dirty="0" smtClean="0">
                <a:solidFill>
                  <a:schemeClr val="tx2"/>
                </a:solidFill>
              </a:rPr>
              <a:t>recurrence</a:t>
            </a:r>
            <a:r>
              <a:rPr lang="en-US" dirty="0" smtClean="0"/>
              <a:t>.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US" dirty="0" smtClean="0"/>
              <a:t>Recurrence: </a:t>
            </a:r>
            <a:r>
              <a:rPr lang="en-US" dirty="0" smtClean="0">
                <a:solidFill>
                  <a:srgbClr val="000000"/>
                </a:solidFill>
              </a:rPr>
              <a:t>an equation that describes a function in terms of its value on smaller functions</a:t>
            </a:r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1905000" y="1981200"/>
          <a:ext cx="4191000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3" imgW="1675673" imgH="863225" progId="Equation.3">
                  <p:embed/>
                </p:oleObj>
              </mc:Choice>
              <mc:Fallback>
                <p:oleObj name="Equation" r:id="rId3" imgW="1675673" imgH="86322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981200"/>
                        <a:ext cx="4191000" cy="215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4BFAAB6-B9B6-446E-ABDA-E6C5D3B42BC1}" type="slidenum">
              <a:rPr lang="en-US" altLang="en-US" smtClean="0"/>
              <a:pPr/>
              <a:t>2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Recurrence Examples</a:t>
            </a:r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152400" y="1905000"/>
          <a:ext cx="402272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905000"/>
                        <a:ext cx="4022725" cy="11414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4965700" y="1905000"/>
          <a:ext cx="4067175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5" imgW="1625600" imgH="457200" progId="Equation.3">
                  <p:embed/>
                </p:oleObj>
              </mc:Choice>
              <mc:Fallback>
                <p:oleObj name="Equation" r:id="rId5" imgW="16256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700" y="1905000"/>
                        <a:ext cx="4067175" cy="11445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76200" y="3657600"/>
          <a:ext cx="4648200" cy="258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7" imgW="1600200" imgH="863280" progId="Equation.3">
                  <p:embed/>
                </p:oleObj>
              </mc:Choice>
              <mc:Fallback>
                <p:oleObj name="Equation" r:id="rId7" imgW="1600200" imgH="863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657600"/>
                        <a:ext cx="4648200" cy="2589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4953000" y="3657600"/>
          <a:ext cx="4114800" cy="260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9" imgW="1688367" imgH="1040948" progId="Equation.3">
                  <p:embed/>
                </p:oleObj>
              </mc:Choice>
              <mc:Fallback>
                <p:oleObj name="Equation" r:id="rId9" imgW="1688367" imgH="104094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657600"/>
                        <a:ext cx="4114800" cy="26098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882B1DB-353C-49C5-A0B4-302B052EE5C9}" type="slidenum">
              <a:rPr lang="en-US" altLang="en-US" smtClean="0"/>
              <a:pPr/>
              <a:t>3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Methods to solve recurrence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solidFill>
                  <a:srgbClr val="000000"/>
                </a:solidFill>
              </a:rPr>
              <a:t>Iteration method</a:t>
            </a:r>
          </a:p>
          <a:p>
            <a:pPr eaLnBrk="1" hangingPunct="1"/>
            <a:r>
              <a:rPr lang="en-US" altLang="en-US" smtClean="0">
                <a:solidFill>
                  <a:srgbClr val="000000"/>
                </a:solidFill>
              </a:rPr>
              <a:t>Recursion tree method</a:t>
            </a:r>
          </a:p>
          <a:p>
            <a:pPr eaLnBrk="1" hangingPunct="1"/>
            <a:r>
              <a:rPr lang="en-US" altLang="en-US" smtClean="0">
                <a:solidFill>
                  <a:srgbClr val="000000"/>
                </a:solidFill>
              </a:rPr>
              <a:t>Master Theorem</a:t>
            </a:r>
          </a:p>
        </p:txBody>
      </p:sp>
      <p:sp>
        <p:nvSpPr>
          <p:cNvPr id="6148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58A29D1-1D12-4E3B-8922-229E22C822B5}" type="slidenum">
              <a:rPr lang="en-US" altLang="en-US" smtClean="0"/>
              <a:pPr/>
              <a:t>4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Solving Recurrences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solidFill>
                  <a:srgbClr val="000000"/>
                </a:solidFill>
              </a:rPr>
              <a:t>Another option is “iteration method”</a:t>
            </a:r>
          </a:p>
          <a:p>
            <a:pPr lvl="1" eaLnBrk="1" hangingPunct="1"/>
            <a:r>
              <a:rPr lang="en-US" altLang="en-US" smtClean="0">
                <a:solidFill>
                  <a:srgbClr val="000000"/>
                </a:solidFill>
              </a:rPr>
              <a:t>Expand the recurrence </a:t>
            </a:r>
          </a:p>
          <a:p>
            <a:pPr lvl="1" eaLnBrk="1" hangingPunct="1"/>
            <a:r>
              <a:rPr lang="en-US" altLang="en-US" smtClean="0">
                <a:solidFill>
                  <a:srgbClr val="000000"/>
                </a:solidFill>
              </a:rPr>
              <a:t>Work some algebra to express as a summation</a:t>
            </a:r>
          </a:p>
          <a:p>
            <a:pPr lvl="1" eaLnBrk="1" hangingPunct="1"/>
            <a:r>
              <a:rPr lang="en-US" altLang="en-US" smtClean="0">
                <a:solidFill>
                  <a:srgbClr val="000000"/>
                </a:solidFill>
              </a:rPr>
              <a:t>Evaluate the summation</a:t>
            </a:r>
          </a:p>
          <a:p>
            <a:pPr eaLnBrk="1" hangingPunct="1"/>
            <a:r>
              <a:rPr lang="en-US" altLang="en-US" smtClean="0">
                <a:solidFill>
                  <a:srgbClr val="000000"/>
                </a:solidFill>
              </a:rPr>
              <a:t>We will show several examples </a:t>
            </a:r>
          </a:p>
        </p:txBody>
      </p:sp>
      <p:sp>
        <p:nvSpPr>
          <p:cNvPr id="7172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B098612-E0D5-4E51-BECE-B0B1A5F1595E}" type="slidenum">
              <a:rPr lang="en-US" altLang="en-US" smtClean="0"/>
              <a:pPr/>
              <a:t>5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53975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53975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s(n) =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	c + s(n-1)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	c + c + s(n-2)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	2c + s(n-2)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	2c + c + s(n-3)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	3c + s(n-3)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	…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	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kc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+ s(n-k) =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ck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+ s(n-k)</a:t>
            </a:r>
          </a:p>
        </p:txBody>
      </p:sp>
      <p:sp>
        <p:nvSpPr>
          <p:cNvPr id="8196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77C3D89-39E0-4FDF-8C1E-621FC1EE199E}" type="slidenum">
              <a:rPr lang="en-US" altLang="en-US" smtClean="0"/>
              <a:pPr/>
              <a:t>6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1981200" y="6858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6858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2133600"/>
            <a:ext cx="7848600" cy="4495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So far for n &gt;= k we have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s(n) =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ck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+ s(n-k)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What if k = n?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s(n) =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+ s(0) =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cn</a:t>
            </a:r>
            <a:endParaRPr lang="en-US" dirty="0" smtClean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220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A62725A-9550-4040-98C7-A1CB8FA33D57}" type="slidenum">
              <a:rPr lang="en-US" altLang="en-US" smtClean="0"/>
              <a:pPr/>
              <a:t>7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28888" y="46355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3" imgW="1612900" imgH="457200" progId="Equation.3">
                  <p:embed/>
                </p:oleObj>
              </mc:Choice>
              <mc:Fallback>
                <p:oleObj name="Equation" r:id="rId3" imgW="1612900" imgH="4572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6355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7848600" cy="4800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So far for n &gt;= k we have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s(n) =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ck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+ s(n-k)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What if k = n?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s(n) =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+ s(0) =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cn</a:t>
            </a:r>
            <a:endParaRPr lang="en-US" dirty="0" smtClean="0">
              <a:solidFill>
                <a:schemeClr val="bg2">
                  <a:lumMod val="10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So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Thus in general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s(n) =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cn</a:t>
            </a:r>
            <a:endParaRPr lang="en-US" dirty="0" smtClean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2743200" y="4038600"/>
          <a:ext cx="40100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5" imgW="1612900" imgH="457200" progId="Equation.3">
                  <p:embed/>
                </p:oleObj>
              </mc:Choice>
              <mc:Fallback>
                <p:oleObj name="Equation" r:id="rId5" imgW="16129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038600"/>
                        <a:ext cx="40100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B85D58CE-7BA2-427F-B76B-04F59E8F50BD}" type="slidenum">
              <a:rPr lang="en-US" altLang="en-US" smtClean="0"/>
              <a:pPr/>
              <a:t>8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30475" y="473075"/>
          <a:ext cx="400685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5" y="473075"/>
                        <a:ext cx="400685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848600" cy="495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</a:rPr>
              <a:t>s(n)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</a:rPr>
              <a:t>=	n + s(n-1)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</a:rPr>
              <a:t>=	n + n-1 + s(n-2)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</a:rPr>
              <a:t>=	n + n-1 + n-2 + s(n-3)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</a:rPr>
              <a:t>=	n + n-1 + n-2 + n-3 + s(n-4)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</a:rPr>
              <a:t>=	…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</a:rPr>
              <a:t>= 	n + n-1 + n-2 + n-3 + … + n-(k-1) + s(n-k)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sz="2400" dirty="0" smtClean="0"/>
          </a:p>
        </p:txBody>
      </p:sp>
      <p:sp>
        <p:nvSpPr>
          <p:cNvPr id="11268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CF4A9B5-668E-4509-B3C7-BCDA4EBE0CEE}" type="slidenum">
              <a:rPr lang="en-US" altLang="en-US" smtClean="0"/>
              <a:pPr/>
              <a:t>9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30475" y="473075"/>
          <a:ext cx="400685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5" y="473075"/>
                        <a:ext cx="400685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s(n) </a:t>
            </a:r>
          </a:p>
          <a:p>
            <a:pPr eaLnBrk="1" hangingPunct="1">
              <a:buFontTx/>
              <a:buNone/>
            </a:pPr>
            <a:r>
              <a:rPr lang="en-US" altLang="en-US" sz="2400" smtClean="0"/>
              <a:t>=	n + s(n-1) </a:t>
            </a:r>
          </a:p>
          <a:p>
            <a:pPr eaLnBrk="1" hangingPunct="1">
              <a:buFontTx/>
              <a:buNone/>
            </a:pPr>
            <a:r>
              <a:rPr lang="en-US" altLang="en-US" sz="2400" smtClean="0"/>
              <a:t>=	n + n-1 + s(n-2)</a:t>
            </a:r>
          </a:p>
          <a:p>
            <a:pPr eaLnBrk="1" hangingPunct="1">
              <a:buFontTx/>
              <a:buNone/>
            </a:pPr>
            <a:r>
              <a:rPr lang="en-US" altLang="en-US" sz="2400" smtClean="0"/>
              <a:t>=	n + n-1 + n-2 + s(n-3)</a:t>
            </a:r>
          </a:p>
          <a:p>
            <a:pPr eaLnBrk="1" hangingPunct="1">
              <a:buFontTx/>
              <a:buNone/>
            </a:pPr>
            <a:r>
              <a:rPr lang="en-US" altLang="en-US" sz="2400" smtClean="0"/>
              <a:t>=	n + n-1 + n-2 + n-3 + s(n-4)</a:t>
            </a:r>
          </a:p>
          <a:p>
            <a:pPr eaLnBrk="1" hangingPunct="1">
              <a:buFontTx/>
              <a:buNone/>
            </a:pPr>
            <a:r>
              <a:rPr lang="en-US" altLang="en-US" sz="2400" smtClean="0"/>
              <a:t>=	…</a:t>
            </a:r>
          </a:p>
          <a:p>
            <a:pPr eaLnBrk="1" hangingPunct="1">
              <a:buFontTx/>
              <a:buNone/>
            </a:pPr>
            <a:r>
              <a:rPr lang="en-US" altLang="en-US" sz="2400" smtClean="0"/>
              <a:t>= 	n + n-1 + n-2 + n-3 + … + n-(k-1) + s(n-k)</a:t>
            </a:r>
          </a:p>
          <a:p>
            <a:pPr eaLnBrk="1" hangingPunct="1">
              <a:buFontTx/>
              <a:buNone/>
            </a:pPr>
            <a:endParaRPr lang="en-US" altLang="en-US" sz="2400" smtClean="0"/>
          </a:p>
          <a:p>
            <a:pPr eaLnBrk="1" hangingPunct="1">
              <a:lnSpc>
                <a:spcPct val="0"/>
              </a:lnSpc>
              <a:buFontTx/>
              <a:buNone/>
            </a:pPr>
            <a:r>
              <a:rPr lang="en-US" altLang="en-US" sz="2400" smtClean="0"/>
              <a:t>= </a:t>
            </a: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762000" y="4789488"/>
          <a:ext cx="3052763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5" imgW="1218671" imgH="431613" progId="Equation.3">
                  <p:embed/>
                </p:oleObj>
              </mc:Choice>
              <mc:Fallback>
                <p:oleObj name="Equation" r:id="rId5" imgW="1218671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789488"/>
                        <a:ext cx="3052763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2566F02-1582-45EA-BAE8-D765BD846460}" type="slidenum">
              <a:rPr lang="en-US" altLang="en-US" smtClean="0"/>
              <a:pPr/>
              <a:t>10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30475" y="473075"/>
          <a:ext cx="400685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5" y="473075"/>
                        <a:ext cx="400685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7848600" cy="45720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So far for n &gt;= k we have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219200" y="2655888"/>
          <a:ext cx="3052763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5" imgW="1218671" imgH="431613" progId="Equation.3">
                  <p:embed/>
                </p:oleObj>
              </mc:Choice>
              <mc:Fallback>
                <p:oleObj name="Equation" r:id="rId5" imgW="1218671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655888"/>
                        <a:ext cx="3052763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D14941A-7063-4621-BE3C-D50D3E2C291E}" type="slidenum">
              <a:rPr lang="en-US" altLang="en-US" smtClean="0"/>
              <a:pPr/>
              <a:t>11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30475" y="473075"/>
          <a:ext cx="400685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5" y="473075"/>
                        <a:ext cx="400685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7848600" cy="45720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So far for n &gt;= k we have</a:t>
            </a:r>
          </a:p>
          <a:p>
            <a:pPr eaLnBrk="1" hangingPunct="1"/>
            <a:endParaRPr lang="en-US" altLang="en-US" sz="2400" smtClean="0"/>
          </a:p>
          <a:p>
            <a:pPr eaLnBrk="1" hangingPunct="1"/>
            <a:endParaRPr lang="en-US" altLang="en-US" sz="2400" smtClean="0"/>
          </a:p>
          <a:p>
            <a:pPr eaLnBrk="1" hangingPunct="1"/>
            <a:r>
              <a:rPr lang="en-US" altLang="en-US" sz="2400" smtClean="0"/>
              <a:t>What if k = n?</a:t>
            </a:r>
          </a:p>
          <a:p>
            <a:pPr eaLnBrk="1" hangingPunct="1"/>
            <a:endParaRPr lang="en-US" altLang="en-US" sz="2400" smtClean="0"/>
          </a:p>
          <a:p>
            <a:pPr eaLnBrk="1" hangingPunct="1"/>
            <a:endParaRPr lang="en-US" altLang="en-US" sz="2400" smtClean="0"/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4572000" y="2438400"/>
          <a:ext cx="3052763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5" imgW="1218671" imgH="431613" progId="Equation.3">
                  <p:embed/>
                </p:oleObj>
              </mc:Choice>
              <mc:Fallback>
                <p:oleObj name="Equation" r:id="rId5" imgW="1218671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438400"/>
                        <a:ext cx="3052763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7BF52A5-1353-4433-A138-332ED5835D8D}" type="slidenum">
              <a:rPr lang="en-US" altLang="en-US" smtClean="0"/>
              <a:pPr/>
              <a:t>12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2530475" y="473075"/>
          <a:ext cx="400685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5" y="473075"/>
                        <a:ext cx="400685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848600" cy="49530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So far for n &gt;= k we have</a:t>
            </a:r>
          </a:p>
          <a:p>
            <a:pPr eaLnBrk="1" hangingPunct="1"/>
            <a:endParaRPr lang="en-US" altLang="en-US" sz="2400" smtClean="0"/>
          </a:p>
          <a:p>
            <a:pPr eaLnBrk="1" hangingPunct="1"/>
            <a:endParaRPr lang="en-US" altLang="en-US" sz="2400" smtClean="0"/>
          </a:p>
          <a:p>
            <a:pPr eaLnBrk="1" hangingPunct="1"/>
            <a:endParaRPr lang="en-US" altLang="en-US" sz="2400" smtClean="0"/>
          </a:p>
          <a:p>
            <a:pPr eaLnBrk="1" hangingPunct="1"/>
            <a:endParaRPr lang="en-US" altLang="en-US" sz="2400" smtClean="0"/>
          </a:p>
          <a:p>
            <a:pPr eaLnBrk="1" hangingPunct="1"/>
            <a:r>
              <a:rPr lang="en-US" altLang="en-US" sz="2400" smtClean="0"/>
              <a:t>What if k = n?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2286000" y="2438400"/>
          <a:ext cx="3052763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5" imgW="1218671" imgH="431613" progId="Equation.3">
                  <p:embed/>
                </p:oleObj>
              </mc:Choice>
              <mc:Fallback>
                <p:oleObj name="Equation" r:id="rId5" imgW="1218671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438400"/>
                        <a:ext cx="3052763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1219200" y="4332288"/>
          <a:ext cx="6740525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7" imgW="2692400" imgH="431800" progId="Equation.3">
                  <p:embed/>
                </p:oleObj>
              </mc:Choice>
              <mc:Fallback>
                <p:oleObj name="Equation" r:id="rId7" imgW="26924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332288"/>
                        <a:ext cx="6740525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CCFA955-E671-4304-873C-9777D4AF868D}" type="slidenum">
              <a:rPr lang="en-US" altLang="en-US" smtClean="0"/>
              <a:pPr/>
              <a:t>13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3"/>
          <p:cNvGraphicFramePr>
            <a:graphicFrameLocks noGrp="1" noChangeAspect="1"/>
          </p:cNvGraphicFramePr>
          <p:nvPr>
            <p:ph type="title"/>
          </p:nvPr>
        </p:nvGraphicFramePr>
        <p:xfrm>
          <a:off x="3429000" y="304800"/>
          <a:ext cx="4335463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04800"/>
                        <a:ext cx="4335463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So far for n &gt;= k we have</a:t>
            </a:r>
          </a:p>
          <a:p>
            <a:pPr eaLnBrk="1" hangingPunct="1"/>
            <a:endParaRPr lang="en-US" altLang="en-US" sz="2400" smtClean="0"/>
          </a:p>
          <a:p>
            <a:pPr eaLnBrk="1" hangingPunct="1"/>
            <a:endParaRPr lang="en-US" altLang="en-US" sz="2400" smtClean="0"/>
          </a:p>
          <a:p>
            <a:pPr eaLnBrk="1" hangingPunct="1"/>
            <a:endParaRPr lang="en-US" altLang="en-US" sz="2400" smtClean="0"/>
          </a:p>
          <a:p>
            <a:pPr eaLnBrk="1" hangingPunct="1"/>
            <a:r>
              <a:rPr lang="en-US" altLang="en-US" sz="2400" smtClean="0"/>
              <a:t>What if k = n?</a:t>
            </a:r>
          </a:p>
          <a:p>
            <a:pPr eaLnBrk="1" hangingPunct="1"/>
            <a:endParaRPr lang="en-US" altLang="en-US" sz="2400" smtClean="0"/>
          </a:p>
          <a:p>
            <a:pPr eaLnBrk="1" hangingPunct="1"/>
            <a:endParaRPr lang="en-US" altLang="en-US" sz="2400" smtClean="0"/>
          </a:p>
          <a:p>
            <a:pPr eaLnBrk="1" hangingPunct="1"/>
            <a:endParaRPr lang="en-US" altLang="en-US" sz="2400" smtClean="0"/>
          </a:p>
          <a:p>
            <a:pPr eaLnBrk="1" hangingPunct="1"/>
            <a:r>
              <a:rPr lang="en-US" altLang="en-US" sz="2400" smtClean="0"/>
              <a:t>Thus in general </a:t>
            </a: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2286000" y="1981200"/>
          <a:ext cx="3052763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5" imgW="1218671" imgH="431613" progId="Equation.3">
                  <p:embed/>
                </p:oleObj>
              </mc:Choice>
              <mc:Fallback>
                <p:oleObj name="Equation" r:id="rId5" imgW="1218671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981200"/>
                        <a:ext cx="3052763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1295400" y="3505200"/>
          <a:ext cx="674052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7" imgW="2692400" imgH="431800" progId="Equation.3">
                  <p:embed/>
                </p:oleObj>
              </mc:Choice>
              <mc:Fallback>
                <p:oleObj name="Equation" r:id="rId7" imgW="26924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505200"/>
                        <a:ext cx="6740525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2286000" y="5257800"/>
          <a:ext cx="26384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9" imgW="1054100" imgH="393700" progId="Equation.3">
                  <p:embed/>
                </p:oleObj>
              </mc:Choice>
              <mc:Fallback>
                <p:oleObj name="Equation" r:id="rId9" imgW="10541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257800"/>
                        <a:ext cx="2638425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574CDD83-2680-4312-92D6-0A728233E995}" type="slidenum">
              <a:rPr lang="en-US" altLang="en-US" smtClean="0"/>
              <a:pPr/>
              <a:t>14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Methods to solve recurrence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Iteration method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Recursion tree method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Master Theorem</a:t>
            </a:r>
          </a:p>
        </p:txBody>
      </p:sp>
      <p:sp>
        <p:nvSpPr>
          <p:cNvPr id="17412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3D716CE-9768-4817-9FE8-7E8B22E36EA0}" type="slidenum">
              <a:rPr lang="en-US" altLang="en-US" smtClean="0"/>
              <a:pPr/>
              <a:t>15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435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194627F-24BD-4DB6-8329-AE5A7266E039}" type="slidenum">
              <a:rPr lang="en-US" altLang="en-US" smtClean="0"/>
              <a:pPr/>
              <a:t>16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483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43EE09A-7138-4C7D-BFA0-61854314B25A}" type="slidenum">
              <a:rPr lang="en-US" altLang="en-US" smtClean="0"/>
              <a:pPr/>
              <a:t>17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531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5BCC3F38-4905-4CC1-99F1-F7DE0E1B7684}" type="slidenum">
              <a:rPr lang="en-US" altLang="en-US" smtClean="0"/>
              <a:pPr/>
              <a:t>18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579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D6D0831-3A8E-4127-B68B-C25E1CD402E6}" type="slidenum">
              <a:rPr lang="en-US" altLang="en-US" smtClean="0"/>
              <a:pPr/>
              <a:t>19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627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786F205-EE13-499B-A1E7-FC363DAE65EC}" type="slidenum">
              <a:rPr lang="en-US" altLang="en-US" smtClean="0"/>
              <a:pPr/>
              <a:t>20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675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2AED143-F22B-405A-A80F-8248286F1876}" type="slidenum">
              <a:rPr lang="en-US" altLang="en-US" smtClean="0"/>
              <a:pPr/>
              <a:t>21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23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BF085909-A747-44F5-91FD-604F9D5CFCDB}" type="slidenum">
              <a:rPr lang="en-US" altLang="en-US" smtClean="0"/>
              <a:pPr/>
              <a:t>22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2771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7056196-1CD6-4F55-9252-120EC0743E37}" type="slidenum">
              <a:rPr lang="en-US" altLang="en-US" smtClean="0"/>
              <a:pPr/>
              <a:t>23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19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222DA6B-FFCD-44AC-9D81-D21563926003}" type="slidenum">
              <a:rPr lang="en-US" altLang="en-US" smtClean="0"/>
              <a:pPr/>
              <a:t>24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Methods to solve recurrence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Iteration method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Recursion tree method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Master Theorem</a:t>
            </a:r>
          </a:p>
        </p:txBody>
      </p:sp>
      <p:sp>
        <p:nvSpPr>
          <p:cNvPr id="36868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CDB16FE-4DBF-40A0-9B7D-823FFAE696CD}" type="slidenum">
              <a:rPr lang="en-US" altLang="en-US" smtClean="0"/>
              <a:pPr/>
              <a:t>25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15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B91AF68-5ADD-4F35-B1A3-18A5BA14E698}" type="slidenum">
              <a:rPr lang="en-US" altLang="en-US" smtClean="0"/>
              <a:pPr/>
              <a:t>26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63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ECEDF7F-DC75-49E2-A81F-0386B323C509}" type="slidenum">
              <a:rPr lang="en-US" altLang="en-US" smtClean="0"/>
              <a:pPr/>
              <a:t>27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3011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53C5F6D1-5779-433A-95A6-62B542F9E2BD}" type="slidenum">
              <a:rPr lang="en-US" altLang="en-US" smtClean="0"/>
              <a:pPr/>
              <a:t>28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059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64F457F-06DF-4DEF-B365-6DEDB55FF3AE}" type="slidenum">
              <a:rPr lang="en-US" altLang="en-US" smtClean="0"/>
              <a:pPr/>
              <a:t>29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7107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55B21E0-96A6-431F-B138-0120C1B1A611}" type="slidenum">
              <a:rPr lang="en-US" altLang="en-US" smtClean="0"/>
              <a:pPr/>
              <a:t>30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9155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2AF80CB-F8EC-4D67-B9D2-C653F2A231DC}" type="slidenum">
              <a:rPr lang="en-US" altLang="en-US" smtClean="0"/>
              <a:pPr/>
              <a:t>31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03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4AA829C-F7BA-415D-BC6C-03B30FD478B9}" type="slidenum">
              <a:rPr lang="en-US" altLang="en-US" smtClean="0"/>
              <a:pPr/>
              <a:t>32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3251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0B33866-493F-44CD-8E91-265E81107D87}" type="slidenum">
              <a:rPr lang="en-US" altLang="en-US" smtClean="0"/>
              <a:pPr/>
              <a:t>33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5299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018AF39-EBB5-4517-858D-C175A803240A}" type="slidenum">
              <a:rPr lang="en-US" altLang="en-US" smtClean="0"/>
              <a:pPr/>
              <a:t>34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7347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03D2CEC-8924-42D1-BC5C-8FF5C59FE3F0}" type="slidenum">
              <a:rPr lang="en-US" altLang="en-US" smtClean="0"/>
              <a:pPr/>
              <a:t>35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9395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8826DB6-1365-4FBF-B35A-D1C756A447E1}" type="slidenum">
              <a:rPr lang="en-US" altLang="en-US" smtClean="0"/>
              <a:pPr/>
              <a:t>36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443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A3EA715-9F44-4CF1-B8A2-6142FF3668D6}" type="slidenum">
              <a:rPr lang="en-US" altLang="en-US" smtClean="0"/>
              <a:pPr/>
              <a:t>37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3491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55E81655-3CAE-49E6-A252-6072993EE9AD}" type="slidenum">
              <a:rPr lang="en-US" altLang="en-US" smtClean="0"/>
              <a:pPr/>
              <a:t>38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5539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1056B5B-D443-4626-AC92-F1D6E88B28BA}" type="slidenum">
              <a:rPr lang="en-US" altLang="en-US" smtClean="0"/>
              <a:pPr/>
              <a:t>39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7587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556C653-BF45-4C16-9A8F-89F1C797155D}" type="slidenum">
              <a:rPr lang="en-US" altLang="en-US" smtClean="0"/>
              <a:pPr/>
              <a:t>40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3663"/>
            <a:ext cx="9144000" cy="7067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9635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06F4984-8366-44A2-BEA7-74311A2036F1}" type="slidenum">
              <a:rPr lang="en-US" altLang="en-US" smtClean="0"/>
              <a:pPr/>
              <a:t>41</a:t>
            </a:fld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BF"/>
      </a:dk1>
      <a:lt1>
        <a:sysClr val="window" lastClr="FFFFFF"/>
      </a:lt1>
      <a:dk2>
        <a:srgbClr val="1F497D"/>
      </a:dk2>
      <a:lt2>
        <a:srgbClr val="EEECE1"/>
      </a:lt2>
      <a:accent1>
        <a:srgbClr val="1F497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270</Words>
  <Application>Microsoft Office PowerPoint</Application>
  <PresentationFormat>On-screen Show (4:3)</PresentationFormat>
  <Paragraphs>147</Paragraphs>
  <Slides>41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Times New Roman</vt:lpstr>
      <vt:lpstr>Office Theme</vt:lpstr>
      <vt:lpstr>Microsoft Equation 3.0</vt:lpstr>
      <vt:lpstr>Design and Analysis of Algorithms</vt:lpstr>
      <vt:lpstr>Recurrences</vt:lpstr>
      <vt:lpstr>Recurrence Examples</vt:lpstr>
      <vt:lpstr>Methods to solve recurrence</vt:lpstr>
      <vt:lpstr>Solving Recurrences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Methods to solve recurrence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Methods to solve recurrence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user1</cp:lastModifiedBy>
  <cp:revision>34</cp:revision>
  <cp:lastPrinted>1601-01-01T00:00:00Z</cp:lastPrinted>
  <dcterms:created xsi:type="dcterms:W3CDTF">2015-02-19T07:04:57Z</dcterms:created>
  <dcterms:modified xsi:type="dcterms:W3CDTF">2025-07-28T10:26:09Z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ompany">
    <vt:lpwstr>Microsoft Corporation</vt:lpwstr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ScaleCrop">
    <vt:bool>false</vt:bool>
  </property>
  <property fmtid="{D5CDD505-2E9C-101B-9397-08002B2CF9AE}" pid="7" name="ShareDoc">
    <vt:bool>false</vt:bool>
  </property>
  <property fmtid="{D5CDD505-2E9C-101B-9397-08002B2CF9AE}" pid="8" name="Slides">
    <vt:r8>57</vt:r8>
  </property>
</Properties>
</file>