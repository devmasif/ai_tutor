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386" r:id="rId2"/>
    <p:sldId id="387" r:id="rId3"/>
    <p:sldId id="389" r:id="rId4"/>
    <p:sldId id="516" r:id="rId5"/>
    <p:sldId id="390" r:id="rId6"/>
    <p:sldId id="391" r:id="rId7"/>
    <p:sldId id="392" r:id="rId8"/>
    <p:sldId id="393" r:id="rId9"/>
    <p:sldId id="515" r:id="rId10"/>
    <p:sldId id="394" r:id="rId11"/>
    <p:sldId id="481" r:id="rId12"/>
    <p:sldId id="482" r:id="rId13"/>
    <p:sldId id="483" r:id="rId14"/>
    <p:sldId id="496" r:id="rId15"/>
    <p:sldId id="497" r:id="rId16"/>
    <p:sldId id="498" r:id="rId17"/>
    <p:sldId id="499" r:id="rId18"/>
    <p:sldId id="513" r:id="rId19"/>
    <p:sldId id="514" r:id="rId20"/>
    <p:sldId id="501" r:id="rId21"/>
    <p:sldId id="502" r:id="rId22"/>
    <p:sldId id="503" r:id="rId23"/>
    <p:sldId id="505" r:id="rId24"/>
    <p:sldId id="507" r:id="rId25"/>
    <p:sldId id="506" r:id="rId26"/>
    <p:sldId id="508" r:id="rId27"/>
    <p:sldId id="509" r:id="rId28"/>
    <p:sldId id="510" r:id="rId29"/>
    <p:sldId id="459" r:id="rId30"/>
    <p:sldId id="460" r:id="rId31"/>
    <p:sldId id="461" r:id="rId32"/>
    <p:sldId id="462" r:id="rId33"/>
    <p:sldId id="474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471" r:id="rId42"/>
    <p:sldId id="472" r:id="rId43"/>
    <p:sldId id="473" r:id="rId44"/>
    <p:sldId id="477" r:id="rId45"/>
    <p:sldId id="475" r:id="rId46"/>
    <p:sldId id="476" r:id="rId47"/>
    <p:sldId id="412" r:id="rId48"/>
    <p:sldId id="442" r:id="rId49"/>
    <p:sldId id="443" r:id="rId50"/>
    <p:sldId id="445" r:id="rId51"/>
    <p:sldId id="447" r:id="rId52"/>
    <p:sldId id="448" r:id="rId53"/>
    <p:sldId id="449" r:id="rId54"/>
    <p:sldId id="450" r:id="rId55"/>
    <p:sldId id="479" r:id="rId56"/>
    <p:sldId id="451" r:id="rId57"/>
    <p:sldId id="452" r:id="rId58"/>
    <p:sldId id="453" r:id="rId59"/>
    <p:sldId id="455" r:id="rId60"/>
    <p:sldId id="456" r:id="rId61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73" d="100"/>
          <a:sy n="73" d="100"/>
        </p:scale>
        <p:origin x="1404" y="78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C5723F-44EB-404E-BBD6-5C5EE212E6F4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DD19C4-1917-4D5E-8B3B-E64D7C52A543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9172A8-1268-4BAE-BEA2-2C3E0288C600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94BFE24-D966-4C15-8147-24930A640B56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3779B5-5FEC-48E3-8445-4A2CDB604A65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80A71F-0456-4D3A-9056-CA37B8E7BF68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F02FEF-22F8-4318-B2A5-9B0723A556F1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46A2FC-B82A-4219-B4C4-6320DBBD9FA6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ABE3BF-8F8D-4B0C-A29A-4ACBE8322A72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B3DAEB-9D85-4A8C-B91F-391428C23749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7E1097-69A3-4721-BC14-67D520567830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914A94-BE93-4836-8507-5BC305D204B4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534D4AB6-E43A-4BED-BEAA-B7D377B3B6E5}" type="slidenum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/>
              <a:t>18</a:t>
            </a:fld>
            <a:endParaRPr lang="en-US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A9EB7645-B4CB-4778-BBEA-1F21DAD7137F}" type="slidenum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/>
              <a:t>19</a:t>
            </a:fld>
            <a:endParaRPr lang="en-US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A20393-EE87-4439-A09B-F5DEFA637CD3}" type="slidenum">
              <a:rPr lang="en-US" altLang="en-US"/>
              <a:pPr/>
              <a:t>47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91BE58-7A26-4A25-8B13-040B56ADB9AE}" type="slidenum">
              <a:rPr lang="en-US" altLang="en-US"/>
              <a:pPr/>
              <a:t>48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661FD4-69B1-4182-A3B7-968D847D945A}" type="slidenum">
              <a:rPr lang="en-US" altLang="en-US"/>
              <a:pPr/>
              <a:t>49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7A564D-BA4A-41DE-BEF6-D07F0E49FBB4}" type="slidenum">
              <a:rPr lang="en-US" altLang="en-US"/>
              <a:pPr/>
              <a:t>50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8908C2-7C8D-496D-9761-ED1590897353}" type="slidenum">
              <a:rPr lang="en-US" altLang="en-US"/>
              <a:pPr/>
              <a:t>51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9995DF-7772-432F-AF58-27E35D9542D9}" type="slidenum">
              <a:rPr lang="en-US" altLang="en-US"/>
              <a:pPr/>
              <a:t>52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95239E-F9B8-4E55-A954-A6D86B528EA3}" type="slidenum">
              <a:rPr lang="en-US" altLang="en-US"/>
              <a:pPr/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AB55F0-CAB2-4620-95B1-E0A8485D841C}" type="slidenum">
              <a:rPr lang="en-US" altLang="en-US"/>
              <a:pPr/>
              <a:t>54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576E6D-1240-4E87-99B4-203FC10EB6B3}" type="slidenum">
              <a:rPr lang="en-US" altLang="en-US"/>
              <a:pPr/>
              <a:t>56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D3350E-26C8-4606-B06C-8ED8DA902CC3}" type="slidenum">
              <a:rPr lang="en-US" altLang="en-US"/>
              <a:pPr/>
              <a:t>57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9FABE5-5A42-499E-8345-95BE61DA6892}" type="slidenum">
              <a:rPr lang="en-US" altLang="en-US"/>
              <a:pPr/>
              <a:t>58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2FB93C-386F-4632-927E-579141FCF050}" type="slidenum">
              <a:rPr lang="en-US" altLang="en-US"/>
              <a:pPr/>
              <a:t>59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CAB0A3-5A24-4DB4-9BB1-5B4AB9A41810}" type="slidenum">
              <a:rPr lang="en-US" altLang="en-US"/>
              <a:pPr/>
              <a:t>60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95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992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04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0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19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73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2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5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63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3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4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1.png"/><Relationship Id="rId4" Type="http://schemas.openxmlformats.org/officeDocument/2006/relationships/oleObject" Target="../embeddings/oleObject5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png"/><Relationship Id="rId4" Type="http://schemas.openxmlformats.org/officeDocument/2006/relationships/oleObject" Target="../embeddings/oleObject6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7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5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png"/><Relationship Id="rId4" Type="http://schemas.openxmlformats.org/officeDocument/2006/relationships/oleObject" Target="../embeddings/oleObject10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7.png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Spring-2023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 smtClean="0"/>
          </a:p>
          <a:p>
            <a:pPr>
              <a:lnSpc>
                <a:spcPct val="80000"/>
              </a:lnSpc>
            </a:pPr>
            <a:endParaRPr lang="en-US" altLang="en-US" sz="100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1828800"/>
            <a:ext cx="6705600" cy="2209800"/>
          </a:xfrm>
        </p:spPr>
        <p:txBody>
          <a:bodyPr/>
          <a:lstStyle/>
          <a:p>
            <a:pPr eaLnBrk="1" hangingPunct="1"/>
            <a:r>
              <a:rPr lang="en-US" altLang="en-US" smtClean="0"/>
              <a:t>Dynamic Programming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410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Dynamic programming is applicable, when the sub-problems are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</a:t>
            </a:r>
            <a:r>
              <a:rPr lang="en-US" dirty="0" smtClean="0"/>
              <a:t> independent in simple recursion, that is when sub-problems share sub sub-problems.</a:t>
            </a:r>
          </a:p>
          <a:p>
            <a:pPr eaLnBrk="1" hangingPunct="1">
              <a:defRPr/>
            </a:pPr>
            <a:r>
              <a:rPr lang="en-US" dirty="0" smtClean="0"/>
              <a:t>It is making a set of choices to arrive at optimal solution.</a:t>
            </a:r>
          </a:p>
          <a:p>
            <a:pPr eaLnBrk="1" hangingPunct="1">
              <a:defRPr/>
            </a:pPr>
            <a:r>
              <a:rPr lang="en-US" dirty="0" smtClean="0"/>
              <a:t>In worst case, we may end-up with an exponential time algorithm.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9144000" cy="1143000"/>
          </a:xfrm>
          <a:noFill/>
        </p:spPr>
        <p:txBody>
          <a:bodyPr/>
          <a:lstStyle/>
          <a:p>
            <a:pPr eaLnBrk="1" hangingPunct="1"/>
            <a:r>
              <a:rPr lang="en-US" altLang="en-US" smtClean="0"/>
              <a:t>Dynamic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04800" y="304800"/>
            <a:ext cx="8610600" cy="594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679450" y="322263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GB" sz="3200" b="1" i="1" dirty="0">
                <a:solidFill>
                  <a:srgbClr val="063DE8"/>
                </a:solidFill>
                <a:latin typeface="+mj-lt"/>
                <a:ea typeface="+mj-ea"/>
                <a:cs typeface="+mj-cs"/>
              </a:rPr>
              <a:t>Recursive Fibonacci Tree</a:t>
            </a:r>
          </a:p>
        </p:txBody>
      </p:sp>
      <p:pic>
        <p:nvPicPr>
          <p:cNvPr id="922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403350"/>
            <a:ext cx="7848600" cy="480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641475"/>
            <a:ext cx="91440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/>
              <a:t>Frequently, there is a polynomial number of sub-problems, but they get repeated.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 A dynamic programming algorithm solves every sub-problem just once and then saves its answer in a table, thereby avoiding the work of re-computing the answer every time the sub-problem is encountered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So we end up having a polynomial time algorithm.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Which is better, Dynamic Programming or simple recursion?</a:t>
            </a:r>
          </a:p>
          <a:p>
            <a:pPr eaLnBrk="1" hangingPunct="1">
              <a:lnSpc>
                <a:spcPct val="80000"/>
              </a:lnSpc>
            </a:pPr>
            <a:endParaRPr lang="en-US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9144000" cy="1143000"/>
          </a:xfrm>
          <a:noFill/>
        </p:spPr>
        <p:txBody>
          <a:bodyPr/>
          <a:lstStyle/>
          <a:p>
            <a:pPr eaLnBrk="1" hangingPunct="1"/>
            <a:r>
              <a:rPr lang="en-US" altLang="en-US" smtClean="0"/>
              <a:t>Dynamic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Optimization Problems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267200"/>
          </a:xfrm>
        </p:spPr>
        <p:txBody>
          <a:bodyPr/>
          <a:lstStyle/>
          <a:p>
            <a:pPr eaLnBrk="1" hangingPunct="1"/>
            <a:r>
              <a:rPr lang="en-US" altLang="en-US" smtClean="0"/>
              <a:t>Dynamic problem is typically applied to </a:t>
            </a:r>
            <a:r>
              <a:rPr lang="en-US" altLang="en-US" u="sng" smtClean="0"/>
              <a:t>Optimization Problems</a:t>
            </a:r>
          </a:p>
          <a:p>
            <a:pPr eaLnBrk="1" hangingPunct="1"/>
            <a:endParaRPr lang="en-US" altLang="en-US" sz="2400" u="sng" smtClean="0"/>
          </a:p>
          <a:p>
            <a:pPr eaLnBrk="1" hangingPunct="1"/>
            <a:r>
              <a:rPr lang="en-US" altLang="en-US" smtClean="0"/>
              <a:t>In optimization problems there can be many possible solutions. Each solution has a value and the task is to find the solution with the optimal ( Maximum or Minimum) value. There can be several such solutions.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4 Steps of Dynamic Programming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05000"/>
            <a:ext cx="9144000" cy="3733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1. Characterize the structure of an optimal solution.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2. Recursively define the value of an optimal solution.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3. Compute the value of an optimal solution bottom-up (iteratively) or top-down (recursive) using memoization.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4. Construct an optimal solution from computed information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u="sng" smtClean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5029200"/>
            <a:ext cx="9144000" cy="8731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32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Often only the value of the optimal solution is required so step-4 is not necessary.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04800" y="304800"/>
            <a:ext cx="8610600" cy="594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593725" y="1946275"/>
            <a:ext cx="73485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The Fibonacci numbers are a series of numbers as follows: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fib(1) = 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fib(2) = 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fib(3) 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fib(4) = 3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fib(5) = 5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43200" y="2895600"/>
            <a:ext cx="449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fib(n) =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13" name="AutoShape 5"/>
          <p:cNvSpPr>
            <a:spLocks/>
          </p:cNvSpPr>
          <p:nvPr/>
        </p:nvSpPr>
        <p:spPr bwMode="auto">
          <a:xfrm>
            <a:off x="3962400" y="3200400"/>
            <a:ext cx="381000" cy="914400"/>
          </a:xfrm>
          <a:prstGeom prst="leftBrace">
            <a:avLst>
              <a:gd name="adj1" fmla="val 2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4419600" y="3200400"/>
            <a:ext cx="3260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1,                         n &lt;=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latin typeface="Times New Roman" panose="02020603050405020304" pitchFamily="18" charset="0"/>
              </a:rPr>
              <a:t>fib(n-1) + fib(n-2),  n &gt; 2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622300" y="6731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GB" sz="3200" b="1" i="1" dirty="0">
                <a:solidFill>
                  <a:srgbClr val="063DE8"/>
                </a:solidFill>
                <a:latin typeface="+mj-lt"/>
                <a:ea typeface="+mj-ea"/>
                <a:cs typeface="+mj-cs"/>
              </a:rPr>
              <a:t>Recursive Definition of the Fibonacci Numbers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2819400" y="4800600"/>
            <a:ext cx="23066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fib(3) = 1 + 1 = 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fib(4) = 2 + 1 = 3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2400" b="0">
                <a:solidFill>
                  <a:schemeClr val="tx2"/>
                </a:solidFill>
                <a:latin typeface="Times New Roman" panose="02020603050405020304" pitchFamily="18" charset="0"/>
              </a:rPr>
              <a:t>fib(5) = 2 + 3 = 5</a:t>
            </a:r>
            <a:endParaRPr lang="en-US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04800" y="304800"/>
            <a:ext cx="8610600" cy="594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679450" y="322263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GB" sz="3200" b="1" i="1" dirty="0">
                <a:solidFill>
                  <a:srgbClr val="063DE8"/>
                </a:solidFill>
                <a:latin typeface="+mj-lt"/>
                <a:ea typeface="+mj-ea"/>
                <a:cs typeface="+mj-cs"/>
              </a:rPr>
              <a:t>Recursive Fibonacci Tree</a:t>
            </a:r>
          </a:p>
        </p:txBody>
      </p:sp>
      <p:pic>
        <p:nvPicPr>
          <p:cNvPr id="1946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403350"/>
            <a:ext cx="7848600" cy="480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Recursive Algorithm (seen earlier)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Takes Exponential time</a:t>
            </a:r>
          </a:p>
          <a:p>
            <a:pPr eaLnBrk="1" hangingPunct="1"/>
            <a:r>
              <a:rPr lang="en-US" altLang="en-US" smtClean="0"/>
              <a:t>Actual sub problems are polynomial (O(n)) but they get repeated</a:t>
            </a:r>
          </a:p>
          <a:p>
            <a:pPr eaLnBrk="1" hangingPunct="1"/>
            <a:r>
              <a:rPr lang="en-US" altLang="en-US" smtClean="0"/>
              <a:t>Sub problems are not INDEPENDENT.</a:t>
            </a:r>
          </a:p>
          <a:p>
            <a:pPr eaLnBrk="1" hangingPunct="1"/>
            <a:r>
              <a:rPr lang="en-US" altLang="en-US" smtClean="0"/>
              <a:t>Sub problems share sub-sub problems.</a:t>
            </a:r>
          </a:p>
          <a:p>
            <a:pPr eaLnBrk="1" hangingPunct="1"/>
            <a:r>
              <a:rPr lang="en-US" altLang="en-US" smtClean="0"/>
              <a:t>We can solve it using Dynamic programming.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839200" cy="1066800"/>
          </a:xfrm>
        </p:spPr>
        <p:txBody>
          <a:bodyPr/>
          <a:lstStyle/>
          <a:p>
            <a:pPr eaLnBrk="1" hangingPunct="1"/>
            <a:r>
              <a:rPr lang="en-US" altLang="en-US" smtClean="0"/>
              <a:t>Memoized Recursive Algorithm – </a:t>
            </a:r>
            <a:r>
              <a:rPr lang="en-US" altLang="en-US" smtClean="0">
                <a:solidFill>
                  <a:srgbClr val="FF0000"/>
                </a:solidFill>
              </a:rPr>
              <a:t>Top Down</a:t>
            </a:r>
            <a:r>
              <a:rPr lang="en-US" altLang="en-US" smtClean="0"/>
              <a:t> </a:t>
            </a:r>
            <a:r>
              <a:rPr lang="en-US" altLang="en-US" sz="1200" smtClean="0"/>
              <a:t>(Simple recursion is top-down)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848600" cy="441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 smtClean="0"/>
              <a:t>int[ ] d = new int[n+1];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for (int j = 2; j&lt;=n; j++)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		d[j] = -1;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d[0] = 1;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d[1] = 1; </a:t>
            </a:r>
          </a:p>
          <a:p>
            <a:pPr eaLnBrk="1" hangingPunct="1">
              <a:buFontTx/>
              <a:buNone/>
            </a:pPr>
            <a:endParaRPr lang="en-US" altLang="en-US" sz="1800" smtClean="0"/>
          </a:p>
          <a:p>
            <a:pPr eaLnBrk="1" hangingPunct="1">
              <a:buFontTx/>
              <a:buNone/>
            </a:pPr>
            <a:r>
              <a:rPr lang="en-US" altLang="en-US" sz="1800" smtClean="0"/>
              <a:t>int fibonacci(int n)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{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	if (d[n-1] &lt; 0) 			</a:t>
            </a:r>
            <a:r>
              <a:rPr lang="en-US" altLang="en-US" sz="1800" smtClean="0">
                <a:solidFill>
                  <a:srgbClr val="FF0000"/>
                </a:solidFill>
              </a:rPr>
              <a:t>// when n=2, condition is false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		d[n-1] = fibonacci(n-1);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	return (d[n-1]+d[n-2]); </a:t>
            </a:r>
          </a:p>
          <a:p>
            <a:pPr eaLnBrk="1" hangingPunct="1">
              <a:buFontTx/>
              <a:buNone/>
            </a:pPr>
            <a:r>
              <a:rPr lang="en-US" altLang="en-US" sz="1800" smtClean="0"/>
              <a:t>}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524000" y="1397000"/>
          <a:ext cx="6096000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r>
                        <a:rPr lang="en-US" sz="1800" dirty="0"/>
                        <a:t>D[0]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D[1]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D[2]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D[3]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D[4]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D[5]</a:t>
                      </a:r>
                      <a:endParaRPr lang="en-PK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  <a:endParaRPr lang="en-PK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  <a:endParaRPr lang="en-PK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524000"/>
            <a:ext cx="7848600" cy="44196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memo = [ ] //new array</a:t>
            </a:r>
          </a:p>
          <a:p>
            <a:pPr eaLnBrk="1" hangingPunct="1">
              <a:buFontTx/>
              <a:buNone/>
              <a:defRPr/>
            </a:pPr>
            <a:r>
              <a:rPr lang="en-GB" altLang="en-US" sz="1800" dirty="0" smtClean="0"/>
              <a:t>FIBONACCI-BOTTOM-UP(n</a:t>
            </a:r>
            <a:r>
              <a:rPr lang="en-GB" altLang="en-US" sz="1800" dirty="0"/>
              <a:t>)</a:t>
            </a:r>
          </a:p>
          <a:p>
            <a:pPr eaLnBrk="1" hangingPunct="1">
              <a:buFontTx/>
              <a:buNone/>
              <a:defRPr/>
            </a:pPr>
            <a:r>
              <a:rPr lang="en-GB" altLang="en-US" sz="1800" dirty="0" smtClean="0"/>
              <a:t>BEGIN</a:t>
            </a:r>
            <a:endParaRPr lang="en-GB" altLang="en-US" sz="1800" dirty="0"/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	memo[0] = </a:t>
            </a:r>
            <a:r>
              <a:rPr lang="en-GB" altLang="en-US" sz="1800" dirty="0" smtClean="0"/>
              <a:t>1</a:t>
            </a:r>
            <a:endParaRPr lang="en-GB" altLang="en-US" sz="1800" dirty="0"/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	memo[1] = 1</a:t>
            </a:r>
          </a:p>
          <a:p>
            <a:pPr eaLnBrk="1" hangingPunct="1">
              <a:buFontTx/>
              <a:buNone/>
              <a:defRPr/>
            </a:pPr>
            <a:endParaRPr lang="en-GB" altLang="en-US" sz="1800" dirty="0"/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	</a:t>
            </a:r>
            <a:r>
              <a:rPr lang="en-GB" altLang="en-US" sz="1800" dirty="0" smtClean="0"/>
              <a:t>FOR i: </a:t>
            </a:r>
            <a:r>
              <a:rPr lang="en-GB" altLang="en-US" sz="1800" dirty="0"/>
              <a:t>2 to </a:t>
            </a:r>
            <a:r>
              <a:rPr lang="en-GB" altLang="en-US" sz="1800" dirty="0" smtClean="0"/>
              <a:t>n DO</a:t>
            </a:r>
            <a:endParaRPr lang="en-GB" altLang="en-US" sz="1800" dirty="0"/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		memo[</a:t>
            </a:r>
            <a:r>
              <a:rPr lang="en-GB" altLang="en-US" sz="1800" dirty="0" err="1"/>
              <a:t>i</a:t>
            </a:r>
            <a:r>
              <a:rPr lang="en-GB" altLang="en-US" sz="1800" dirty="0"/>
              <a:t>] = memo[i-1] + memo[i-2]</a:t>
            </a:r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	</a:t>
            </a:r>
            <a:r>
              <a:rPr lang="en-GB" altLang="en-US" sz="1800" dirty="0" smtClean="0"/>
              <a:t>END FOR</a:t>
            </a:r>
            <a:endParaRPr lang="en-GB" altLang="en-US" sz="1800" dirty="0"/>
          </a:p>
          <a:p>
            <a:pPr eaLnBrk="1" hangingPunct="1">
              <a:buFontTx/>
              <a:buNone/>
              <a:defRPr/>
            </a:pPr>
            <a:r>
              <a:rPr lang="en-GB" altLang="en-US" sz="1800" dirty="0"/>
              <a:t>	</a:t>
            </a:r>
            <a:r>
              <a:rPr lang="en-GB" altLang="en-US" sz="1800" dirty="0" smtClean="0"/>
              <a:t>RETURN </a:t>
            </a:r>
            <a:r>
              <a:rPr lang="en-GB" altLang="en-US" sz="1800" dirty="0"/>
              <a:t>memo[n]</a:t>
            </a:r>
          </a:p>
          <a:p>
            <a:pPr eaLnBrk="1" hangingPunct="1">
              <a:buFontTx/>
              <a:buNone/>
              <a:defRPr/>
            </a:pPr>
            <a:r>
              <a:rPr lang="en-GB" altLang="en-US" sz="1800" dirty="0" smtClean="0"/>
              <a:t>END</a:t>
            </a:r>
            <a:endParaRPr lang="en-US" altLang="en-US" sz="18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23900" y="1524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063DE8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>
                <a:solidFill>
                  <a:srgbClr val="FF0000"/>
                </a:solidFill>
              </a:rPr>
              <a:t>Bottom-up </a:t>
            </a:r>
            <a:r>
              <a:rPr lang="en-US" altLang="en-US" kern="0" dirty="0"/>
              <a:t>Algorithm – Iterative</a:t>
            </a:r>
            <a:br>
              <a:rPr lang="en-US" altLang="en-US" kern="0" dirty="0"/>
            </a:br>
            <a:r>
              <a:rPr lang="en-US" altLang="en-US" kern="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Next step is to further optimize the space complexity</a:t>
            </a:r>
          </a:p>
          <a:p>
            <a:pPr lvl="1"/>
            <a:r>
              <a:rPr lang="en-US" altLang="en-US" smtClean="0"/>
              <a:t>At every step, store only the last two values </a:t>
            </a:r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r>
              <a:rPr lang="en-US" altLang="en-US" u="sng" smtClean="0"/>
              <a:t>Try to write it yourself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1828800"/>
            <a:ext cx="6705600" cy="2209800"/>
          </a:xfrm>
        </p:spPr>
        <p:txBody>
          <a:bodyPr/>
          <a:lstStyle/>
          <a:p>
            <a:pPr eaLnBrk="1" hangingPunct="1"/>
            <a:r>
              <a:rPr lang="en-US" altLang="en-US" smtClean="0"/>
              <a:t>Dynamic Programming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Rod Cutting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7772400" cy="685800"/>
          </a:xfrm>
        </p:spPr>
        <p:txBody>
          <a:bodyPr/>
          <a:lstStyle/>
          <a:p>
            <a:r>
              <a:rPr lang="en-US" altLang="en-US" smtClean="0"/>
              <a:t>Problem Statement</a:t>
            </a:r>
          </a:p>
        </p:txBody>
      </p:sp>
      <p:pic>
        <p:nvPicPr>
          <p:cNvPr id="3072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9144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endParaRPr lang="en-US" b="0" dirty="0">
              <a:latin typeface="Times-Roman"/>
            </a:endParaRPr>
          </a:p>
          <a:p>
            <a:pPr>
              <a:defRPr/>
            </a:pPr>
            <a:r>
              <a:rPr lang="en-GB" b="0" dirty="0">
                <a:latin typeface="Times-Roman"/>
              </a:rPr>
              <a:t>We can cut up a rod of length </a:t>
            </a:r>
            <a:r>
              <a:rPr lang="en-GB" b="0" dirty="0">
                <a:latin typeface="MT2MIT"/>
              </a:rPr>
              <a:t>n </a:t>
            </a:r>
            <a:r>
              <a:rPr lang="en-GB" b="0" dirty="0">
                <a:latin typeface="Times-Roman"/>
              </a:rPr>
              <a:t>in </a:t>
            </a:r>
            <a:r>
              <a:rPr lang="en-GB" b="0" dirty="0">
                <a:latin typeface="MT2MIT"/>
              </a:rPr>
              <a:t>2</a:t>
            </a:r>
            <a:r>
              <a:rPr lang="en-GB" b="0" baseline="30000" dirty="0">
                <a:latin typeface="MT2MIS"/>
              </a:rPr>
              <a:t>n-1</a:t>
            </a:r>
            <a:r>
              <a:rPr lang="en-GB" b="0" dirty="0">
                <a:latin typeface="MT2MIS"/>
              </a:rPr>
              <a:t> </a:t>
            </a:r>
            <a:r>
              <a:rPr lang="en-GB" b="0" dirty="0">
                <a:latin typeface="Times-Roman"/>
              </a:rPr>
              <a:t>different ways.</a:t>
            </a:r>
          </a:p>
          <a:p>
            <a:pPr>
              <a:defRPr/>
            </a:pPr>
            <a:r>
              <a:rPr lang="en-GB" b="0" dirty="0">
                <a:latin typeface="Times-Roman"/>
              </a:rPr>
              <a:t>Suppose the price </a:t>
            </a:r>
            <a:r>
              <a:rPr lang="en-GB" b="0" dirty="0" smtClean="0">
                <a:latin typeface="Times-Roman"/>
              </a:rPr>
              <a:t>of each piece is </a:t>
            </a:r>
            <a:r>
              <a:rPr lang="en-GB" b="0" dirty="0">
                <a:latin typeface="Times-Roman"/>
              </a:rPr>
              <a:t>known:</a:t>
            </a:r>
          </a:p>
          <a:p>
            <a:pPr marL="0" indent="0">
              <a:buFontTx/>
              <a:buNone/>
              <a:defRPr/>
            </a:pPr>
            <a:endParaRPr lang="en-PK" dirty="0"/>
          </a:p>
        </p:txBody>
      </p:sp>
      <p:pic>
        <p:nvPicPr>
          <p:cNvPr id="3174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52825"/>
            <a:ext cx="70866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4 inches rod: n=4</a:t>
            </a:r>
          </a:p>
        </p:txBody>
      </p:sp>
      <p:sp>
        <p:nvSpPr>
          <p:cNvPr id="3277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Possible combinations of cutting a 4 inches rod.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2200"/>
            <a:ext cx="914400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2288" y="549275"/>
            <a:ext cx="7867650" cy="147796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1812066">
              <a:defRPr/>
            </a:pPr>
            <a:r>
              <a:rPr lang="en-US" sz="1799" b="1" dirty="0">
                <a:solidFill>
                  <a:prstClr val="black"/>
                </a:solidFill>
                <a:latin typeface="Calibri"/>
              </a:rPr>
              <a:t>Note: 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We’ve computed a brute force solution; all possibilities for this simple small example. </a:t>
            </a:r>
            <a:r>
              <a:rPr lang="en-US" sz="1799" dirty="0">
                <a:solidFill>
                  <a:srgbClr val="FF0000"/>
                </a:solidFill>
                <a:latin typeface="Calibri"/>
              </a:rPr>
              <a:t>But we want a better solution!</a:t>
            </a:r>
          </a:p>
          <a:p>
            <a:pPr defTabSz="1812066">
              <a:defRPr/>
            </a:pPr>
            <a:endParaRPr lang="en-US" sz="1799" dirty="0">
              <a:solidFill>
                <a:srgbClr val="FF0000"/>
              </a:solidFill>
              <a:latin typeface="Calibri"/>
            </a:endParaRPr>
          </a:p>
          <a:p>
            <a:pPr defTabSz="1812066">
              <a:defRPr/>
            </a:pPr>
            <a:endParaRPr lang="en-US" sz="1799" dirty="0">
              <a:solidFill>
                <a:srgbClr val="FF0000"/>
              </a:solidFill>
              <a:latin typeface="Calibri"/>
            </a:endParaRPr>
          </a:p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One solution: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6175" y="2084388"/>
            <a:ext cx="473075" cy="312737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812066">
              <a:defRPr/>
            </a:pPr>
            <a:endParaRPr lang="en-US"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19250" y="2084388"/>
            <a:ext cx="3486150" cy="312737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812066">
              <a:defRPr/>
            </a:pPr>
            <a:endParaRPr lang="en-US"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7775" y="2036763"/>
            <a:ext cx="2952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812066">
              <a:defRPr/>
            </a:pP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1799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78150" y="2036763"/>
            <a:ext cx="950913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812066">
              <a:defRPr/>
            </a:pPr>
            <a:r>
              <a:rPr lang="en-US" sz="1799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1799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4925" y="1620838"/>
            <a:ext cx="18954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 err="1">
                <a:solidFill>
                  <a:prstClr val="black"/>
                </a:solidFill>
                <a:latin typeface="Calibri"/>
              </a:rPr>
              <a:t>recurse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 on further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450" y="2744788"/>
            <a:ext cx="7548563" cy="249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What are we doing?</a:t>
            </a:r>
          </a:p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- Cut rod into length </a:t>
            </a: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799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1799" dirty="0">
              <a:solidFill>
                <a:prstClr val="black"/>
              </a:solidFill>
              <a:latin typeface="Calibri"/>
            </a:endParaRPr>
          </a:p>
          <a:p>
            <a:pPr marL="285513" indent="-285513" defTabSz="1812066">
              <a:buFontTx/>
              <a:buChar char="-"/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Only remainder </a:t>
            </a:r>
            <a:r>
              <a:rPr lang="en-US" sz="1799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 can be further cut (</a:t>
            </a:r>
            <a:r>
              <a:rPr lang="en-US" sz="1799" dirty="0" err="1">
                <a:solidFill>
                  <a:prstClr val="black"/>
                </a:solidFill>
                <a:latin typeface="Calibri"/>
              </a:rPr>
              <a:t>recursed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)</a:t>
            </a:r>
          </a:p>
          <a:p>
            <a:pPr marL="285513" indent="-285513" defTabSz="1812066">
              <a:buFontTx/>
              <a:buChar char="-"/>
              <a:defRPr/>
            </a:pPr>
            <a:endParaRPr lang="en-US" sz="1799" dirty="0">
              <a:solidFill>
                <a:prstClr val="black"/>
              </a:solidFill>
              <a:latin typeface="Calibri"/>
            </a:endParaRPr>
          </a:p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We need to define: </a:t>
            </a:r>
          </a:p>
          <a:p>
            <a:pPr defTabSz="1812066">
              <a:defRPr/>
            </a:pPr>
            <a:endParaRPr lang="en-US" sz="1799" dirty="0">
              <a:solidFill>
                <a:prstClr val="black"/>
              </a:solidFill>
              <a:latin typeface="Calibri"/>
            </a:endParaRPr>
          </a:p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a.) </a:t>
            </a:r>
            <a:r>
              <a:rPr lang="en-US" sz="1799" b="1" dirty="0">
                <a:solidFill>
                  <a:prstClr val="black"/>
                </a:solidFill>
                <a:latin typeface="Calibri"/>
              </a:rPr>
              <a:t>Maximum revenue 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for log of size </a:t>
            </a:r>
            <a:r>
              <a:rPr lang="en-US" sz="1799" i="1" dirty="0">
                <a:solidFill>
                  <a:prstClr val="black"/>
                </a:solidFill>
                <a:latin typeface="Calibri"/>
              </a:rPr>
              <a:t>n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US" sz="1799" b="1" i="1" dirty="0" err="1">
                <a:solidFill>
                  <a:prstClr val="black"/>
                </a:solidFill>
                <a:latin typeface="Calibri"/>
              </a:rPr>
              <a:t>r</a:t>
            </a:r>
            <a:r>
              <a:rPr lang="en-US" sz="1799" b="1" i="1" baseline="-25000" dirty="0" err="1">
                <a:solidFill>
                  <a:prstClr val="black"/>
                </a:solidFill>
                <a:latin typeface="Calibri"/>
              </a:rPr>
              <a:t>n</a:t>
            </a:r>
            <a:r>
              <a:rPr lang="en-US" sz="1799" i="1" baseline="-25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(that is the solution we want to find)</a:t>
            </a:r>
            <a:r>
              <a:rPr lang="en-US" sz="1799" i="1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defTabSz="1812066">
              <a:defRPr/>
            </a:pPr>
            <a:endParaRPr lang="en-US" sz="1799" i="1" baseline="-25000" dirty="0">
              <a:solidFill>
                <a:prstClr val="black"/>
              </a:solidFill>
              <a:latin typeface="Calibri"/>
            </a:endParaRPr>
          </a:p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b.) </a:t>
            </a:r>
            <a:r>
              <a:rPr lang="en-US" sz="1799" b="1" dirty="0">
                <a:solidFill>
                  <a:prstClr val="black"/>
                </a:solidFill>
                <a:latin typeface="Calibri"/>
              </a:rPr>
              <a:t>Revenue (price) 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for single log of length </a:t>
            </a:r>
            <a:r>
              <a:rPr lang="en-US" sz="1799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US" sz="1799" b="1" i="1" dirty="0">
                <a:solidFill>
                  <a:prstClr val="black"/>
                </a:solidFill>
                <a:latin typeface="Calibri"/>
              </a:rPr>
              <a:t>p</a:t>
            </a:r>
            <a:r>
              <a:rPr lang="en-US" sz="1799" b="1" i="1" baseline="-25000" dirty="0">
                <a:solidFill>
                  <a:prstClr val="black"/>
                </a:solidFill>
                <a:latin typeface="Calibri"/>
              </a:rPr>
              <a:t>i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313" y="-149225"/>
            <a:ext cx="2484437" cy="641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168" defTabSz="1812066">
              <a:spcBef>
                <a:spcPts val="268"/>
              </a:spcBef>
              <a:defRPr/>
            </a:pPr>
            <a:r>
              <a:rPr lang="en-US" sz="3567" b="1" kern="0" spc="30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3567" b="1" kern="0" spc="20" dirty="0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47775" y="1514475"/>
            <a:ext cx="473075" cy="312738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812066">
              <a:defRPr/>
            </a:pPr>
            <a:endParaRPr lang="en-US"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20850" y="1514475"/>
            <a:ext cx="3486150" cy="312738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812066">
              <a:defRPr/>
            </a:pPr>
            <a:endParaRPr lang="en-US" sz="17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9375" y="1466850"/>
            <a:ext cx="2952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812066">
              <a:defRPr/>
            </a:pP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1799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79750" y="1466850"/>
            <a:ext cx="950913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812066">
              <a:defRPr/>
            </a:pPr>
            <a:r>
              <a:rPr lang="en-US" sz="1799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179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1799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6525" y="1049338"/>
            <a:ext cx="18954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 err="1">
                <a:solidFill>
                  <a:prstClr val="black"/>
                </a:solidFill>
                <a:latin typeface="Calibri"/>
              </a:rPr>
              <a:t>recurse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 on further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609600"/>
            <a:ext cx="423068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Example: If we cut log into length </a:t>
            </a:r>
            <a:r>
              <a:rPr lang="en-US" sz="1799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799" i="1" dirty="0">
                <a:solidFill>
                  <a:prstClr val="black"/>
                </a:solidFill>
                <a:latin typeface="Calibri"/>
              </a:rPr>
              <a:t>n-</a:t>
            </a:r>
            <a:r>
              <a:rPr lang="en-US" sz="1799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2511425"/>
            <a:ext cx="172561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Revenue: </a:t>
            </a:r>
            <a:r>
              <a:rPr lang="en-US" sz="1799" i="1" dirty="0">
                <a:solidFill>
                  <a:prstClr val="black"/>
                </a:solidFill>
                <a:latin typeface="Calibri"/>
              </a:rPr>
              <a:t>p</a:t>
            </a:r>
            <a:r>
              <a:rPr lang="en-US" sz="1799" i="1" baseline="-25000" dirty="0">
                <a:solidFill>
                  <a:prstClr val="black"/>
                </a:solidFill>
                <a:latin typeface="Calibri"/>
              </a:rPr>
              <a:t>i</a:t>
            </a:r>
            <a:r>
              <a:rPr lang="en-US" sz="1799" i="1" dirty="0">
                <a:solidFill>
                  <a:prstClr val="black"/>
                </a:solidFill>
                <a:latin typeface="Calibri"/>
              </a:rPr>
              <a:t> + </a:t>
            </a:r>
            <a:r>
              <a:rPr lang="en-US" sz="1799" i="1" dirty="0" err="1">
                <a:solidFill>
                  <a:prstClr val="black"/>
                </a:solidFill>
                <a:latin typeface="Calibri"/>
              </a:rPr>
              <a:t>r</a:t>
            </a:r>
            <a:r>
              <a:rPr lang="en-US" sz="1799" i="1" baseline="-25000" dirty="0" err="1">
                <a:solidFill>
                  <a:prstClr val="black"/>
                </a:solidFill>
                <a:latin typeface="Calibri"/>
              </a:rPr>
              <a:t>n-i</a:t>
            </a:r>
            <a:endParaRPr lang="en-US" sz="1799" i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78188" y="2513013"/>
            <a:ext cx="3109912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Can be seen by </a:t>
            </a:r>
            <a:r>
              <a:rPr lang="en-US" sz="1799" dirty="0" err="1">
                <a:solidFill>
                  <a:prstClr val="black"/>
                </a:solidFill>
                <a:latin typeface="Calibri"/>
              </a:rPr>
              <a:t>recursing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en-US" sz="1799" i="1" dirty="0">
                <a:solidFill>
                  <a:prstClr val="black"/>
                </a:solidFill>
                <a:latin typeface="Calibri"/>
              </a:rPr>
              <a:t>n-</a:t>
            </a:r>
            <a:r>
              <a:rPr lang="en-US" sz="1799" i="1" dirty="0" err="1">
                <a:solidFill>
                  <a:prstClr val="black"/>
                </a:solidFill>
                <a:latin typeface="Calibri"/>
              </a:rPr>
              <a:t>i</a:t>
            </a:r>
            <a:endParaRPr lang="en-US" sz="1799" i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77963" y="3324225"/>
            <a:ext cx="260350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What are we going to do?</a:t>
            </a:r>
            <a:endParaRPr lang="en-US" sz="1799" i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1563" y="3941763"/>
            <a:ext cx="36353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812066">
              <a:defRPr/>
            </a:pPr>
            <a:r>
              <a:rPr lang="en-US" sz="1799" dirty="0">
                <a:solidFill>
                  <a:prstClr val="black"/>
                </a:solidFill>
                <a:latin typeface="Calibri"/>
              </a:rPr>
              <a:t>There are many possible choices of </a:t>
            </a:r>
            <a:r>
              <a:rPr lang="en-US" sz="1799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1799" dirty="0">
                <a:solidFill>
                  <a:prstClr val="black"/>
                </a:solidFill>
                <a:latin typeface="Calibri"/>
              </a:rPr>
              <a:t>:</a:t>
            </a:r>
            <a:endParaRPr lang="en-US" sz="1799" i="1" baseline="-25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5852" name="Object 18"/>
          <p:cNvGraphicFramePr>
            <a:graphicFrameLocks noChangeAspect="1"/>
          </p:cNvGraphicFramePr>
          <p:nvPr/>
        </p:nvGraphicFramePr>
        <p:xfrm>
          <a:off x="1968500" y="4479925"/>
          <a:ext cx="170815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4" name="Equation" r:id="rId4" imgW="1244600" imgH="939800" progId="Equation.3">
                  <p:embed/>
                </p:oleObj>
              </mc:Choice>
              <mc:Fallback>
                <p:oleObj name="Equation" r:id="rId4" imgW="1244600" imgH="939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79925"/>
                        <a:ext cx="1708150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315913" y="-146050"/>
            <a:ext cx="2482850" cy="641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168" defTabSz="1812066">
              <a:spcBef>
                <a:spcPts val="268"/>
              </a:spcBef>
              <a:defRPr/>
            </a:pPr>
            <a:r>
              <a:rPr lang="en-US" sz="3567" b="1" kern="0" spc="30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3567" b="1" kern="0" spc="20" dirty="0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i="0" smtClean="0">
                <a:latin typeface="Times-Bold"/>
              </a:rPr>
              <a:t>Recursive top-down implementation</a:t>
            </a:r>
            <a:endParaRPr lang="en-US" altLang="en-US" sz="2800" smtClean="0"/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17650"/>
            <a:ext cx="7162800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89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"/>
            <a:ext cx="81534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52400" y="3429000"/>
            <a:ext cx="8382000" cy="3200400"/>
          </a:xfrm>
        </p:spPr>
        <p:txBody>
          <a:bodyPr/>
          <a:lstStyle/>
          <a:p>
            <a:r>
              <a:rPr lang="en-US" altLang="en-US" sz="2400" b="0" smtClean="0">
                <a:latin typeface="Times-Roman"/>
              </a:rPr>
              <a:t>CUT-ROD explicitly </a:t>
            </a:r>
            <a:r>
              <a:rPr lang="en-GB" altLang="en-US" sz="2400" b="0" smtClean="0">
                <a:latin typeface="Times-Roman"/>
              </a:rPr>
              <a:t>considers all the </a:t>
            </a:r>
            <a:r>
              <a:rPr lang="en-GB" altLang="en-US" sz="2400" b="0" smtClean="0">
                <a:latin typeface="MT2MIT"/>
              </a:rPr>
              <a:t>2</a:t>
            </a:r>
            <a:r>
              <a:rPr lang="en-GB" altLang="en-US" sz="2400" b="0" baseline="30000" smtClean="0">
                <a:latin typeface="MT2MIS"/>
              </a:rPr>
              <a:t>n-1</a:t>
            </a:r>
            <a:r>
              <a:rPr lang="en-GB" altLang="en-US" sz="2400" b="0" smtClean="0">
                <a:latin typeface="MT2MIS"/>
              </a:rPr>
              <a:t> </a:t>
            </a:r>
            <a:r>
              <a:rPr lang="en-GB" altLang="en-US" sz="2400" b="0" smtClean="0">
                <a:latin typeface="Times-Roman"/>
              </a:rPr>
              <a:t>possible ways of cutting up a rod of length </a:t>
            </a:r>
            <a:r>
              <a:rPr lang="en-GB" altLang="en-US" sz="2400" b="0" smtClean="0">
                <a:latin typeface="MT2MIT"/>
              </a:rPr>
              <a:t>n.</a:t>
            </a:r>
          </a:p>
          <a:p>
            <a:r>
              <a:rPr lang="en-US" altLang="en-US" sz="2400" b="0" smtClean="0">
                <a:latin typeface="Times-Roman"/>
              </a:rPr>
              <a:t>The </a:t>
            </a:r>
            <a:r>
              <a:rPr lang="en-GB" altLang="en-US" sz="2400" b="0" smtClean="0">
                <a:latin typeface="Times-Roman"/>
              </a:rPr>
              <a:t>tree of recursive calls has </a:t>
            </a:r>
            <a:r>
              <a:rPr lang="en-GB" altLang="en-US" sz="2400" b="0" smtClean="0">
                <a:latin typeface="MT2MIT"/>
              </a:rPr>
              <a:t>2</a:t>
            </a:r>
            <a:r>
              <a:rPr lang="en-GB" altLang="en-US" sz="2400" b="0" baseline="30000" smtClean="0">
                <a:latin typeface="MT2MIS"/>
              </a:rPr>
              <a:t>n-1</a:t>
            </a:r>
            <a:r>
              <a:rPr lang="en-GB" altLang="en-US" sz="2400" b="0" smtClean="0">
                <a:latin typeface="MT2MIS"/>
              </a:rPr>
              <a:t> </a:t>
            </a:r>
            <a:r>
              <a:rPr lang="en-GB" altLang="en-US" sz="2400" b="0" smtClean="0">
                <a:latin typeface="Times-Roman"/>
              </a:rPr>
              <a:t>leaves, one for each possible way of cutting up the </a:t>
            </a:r>
            <a:r>
              <a:rPr lang="en-US" altLang="en-US" sz="2400" b="0" smtClean="0">
                <a:latin typeface="Times-Roman"/>
              </a:rPr>
              <a:t>rod.</a:t>
            </a:r>
            <a:endParaRPr lang="en-US" altLang="en-US" sz="2400" smtClean="0"/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91440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>
          <a:xfrm>
            <a:off x="219075" y="26988"/>
            <a:ext cx="7772400" cy="658812"/>
          </a:xfrm>
        </p:spPr>
        <p:txBody>
          <a:bodyPr/>
          <a:lstStyle/>
          <a:p>
            <a:r>
              <a:rPr lang="en-US" altLang="en-US" smtClean="0"/>
              <a:t>Top Down with memoization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773113"/>
            <a:ext cx="627697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3117850"/>
            <a:ext cx="8851900" cy="371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685800"/>
            <a:ext cx="68961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304800"/>
            <a:ext cx="184785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Bottom Up</a:t>
            </a:r>
          </a:p>
        </p:txBody>
      </p:sp>
      <p:pic>
        <p:nvPicPr>
          <p:cNvPr id="430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447800"/>
            <a:ext cx="6729412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Running Time</a:t>
            </a:r>
          </a:p>
        </p:txBody>
      </p:sp>
      <p:sp>
        <p:nvSpPr>
          <p:cNvPr id="440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848600" cy="5105400"/>
          </a:xfrm>
        </p:spPr>
        <p:txBody>
          <a:bodyPr/>
          <a:lstStyle/>
          <a:p>
            <a:r>
              <a:rPr lang="en-GB" altLang="en-US" b="0" smtClean="0">
                <a:latin typeface="Times-Roman"/>
              </a:rPr>
              <a:t>The bottom-up and top-down versions have the same asymptotic running time.</a:t>
            </a:r>
          </a:p>
          <a:p>
            <a:r>
              <a:rPr lang="en-GB" altLang="en-US" b="0" smtClean="0">
                <a:latin typeface="Times-Roman"/>
              </a:rPr>
              <a:t>The running time of procedure BOTTOM-UP-CUT-ROD is </a:t>
            </a:r>
            <a:r>
              <a:rPr lang="el-GR" altLang="en-US" smtClean="0"/>
              <a:t>Θ(</a:t>
            </a:r>
            <a:r>
              <a:rPr lang="en-US" altLang="en-US" smtClean="0"/>
              <a:t>n</a:t>
            </a:r>
            <a:r>
              <a:rPr lang="en-US" altLang="en-US" baseline="30000" smtClean="0"/>
              <a:t>2</a:t>
            </a:r>
            <a:r>
              <a:rPr lang="en-US" altLang="en-US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Extended Bottom Up – storing sizes</a:t>
            </a:r>
          </a:p>
        </p:txBody>
      </p:sp>
      <p:pic>
        <p:nvPicPr>
          <p:cNvPr id="450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219200"/>
            <a:ext cx="7696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610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Matrix-chain Multiplication  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/>
              <a:t>Suppose we have a sequence or chain A</a:t>
            </a:r>
            <a:r>
              <a:rPr lang="en-US" altLang="en-US" baseline="-25000" smtClean="0"/>
              <a:t>1</a:t>
            </a:r>
            <a:r>
              <a:rPr lang="en-US" altLang="en-US" smtClean="0"/>
              <a:t>, 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A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 of </a:t>
            </a:r>
            <a:r>
              <a:rPr lang="en-US" altLang="en-US" i="1" smtClean="0"/>
              <a:t>n</a:t>
            </a:r>
            <a:r>
              <a:rPr lang="en-US" altLang="en-US" smtClean="0"/>
              <a:t> matrices to be multiplied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en-US" smtClean="0"/>
              <a:t>That is, we want to compute the product A</a:t>
            </a:r>
            <a:r>
              <a:rPr lang="en-US" altLang="en-US" baseline="-25000" smtClean="0"/>
              <a:t>1</a:t>
            </a:r>
            <a:r>
              <a:rPr lang="en-US" altLang="en-US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n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mtClean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/>
              <a:t>There are many possible ways (parenthesizations) to compute the product</a:t>
            </a:r>
            <a:endParaRPr lang="en-US" altLang="en-US" i="1" smtClean="0">
              <a:solidFill>
                <a:srgbClr val="00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Matrix-chain Multiplication   </a:t>
            </a:r>
            <a:r>
              <a:rPr lang="en-US" altLang="en-US" sz="2000" smtClean="0"/>
              <a:t>…contd</a:t>
            </a:r>
            <a:r>
              <a:rPr lang="en-US" altLang="en-US" smtClean="0"/>
              <a:t>  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609600" indent="-609600" eaLnBrk="1" hangingPunct="1"/>
            <a:r>
              <a:rPr lang="en-US" altLang="en-US" smtClean="0"/>
              <a:t>Example: consider the chain A</a:t>
            </a:r>
            <a:r>
              <a:rPr lang="en-US" altLang="en-US" baseline="-25000" smtClean="0"/>
              <a:t>1</a:t>
            </a:r>
            <a:r>
              <a:rPr lang="en-US" altLang="en-US" smtClean="0"/>
              <a:t>, A</a:t>
            </a:r>
            <a:r>
              <a:rPr lang="en-US" altLang="en-US" baseline="-25000" smtClean="0"/>
              <a:t>2</a:t>
            </a:r>
            <a:r>
              <a:rPr lang="en-US" altLang="en-US" smtClean="0"/>
              <a:t>, A</a:t>
            </a:r>
            <a:r>
              <a:rPr lang="en-US" altLang="en-US" baseline="-25000" smtClean="0"/>
              <a:t>3</a:t>
            </a:r>
            <a:r>
              <a:rPr lang="en-US" altLang="en-US" smtClean="0"/>
              <a:t>, A</a:t>
            </a:r>
            <a:r>
              <a:rPr lang="en-US" altLang="en-US" baseline="-25000" smtClean="0"/>
              <a:t>4</a:t>
            </a:r>
            <a:r>
              <a:rPr lang="en-US" altLang="en-US" smtClean="0"/>
              <a:t> of 4 matrices</a:t>
            </a:r>
          </a:p>
          <a:p>
            <a:pPr marL="990600" lvl="1" indent="-533400" eaLnBrk="1" hangingPunct="1"/>
            <a:r>
              <a:rPr lang="en-US" altLang="en-US" smtClean="0"/>
              <a:t>Let us compute the product A</a:t>
            </a:r>
            <a:r>
              <a:rPr lang="en-US" altLang="en-US" baseline="-25000" smtClean="0"/>
              <a:t>1</a:t>
            </a:r>
            <a:r>
              <a:rPr lang="en-US" altLang="en-US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A</a:t>
            </a:r>
            <a:r>
              <a:rPr lang="en-US" altLang="en-US" baseline="-25000" smtClean="0"/>
              <a:t>3</a:t>
            </a:r>
            <a:r>
              <a:rPr lang="en-US" altLang="en-US" smtClean="0"/>
              <a:t>A</a:t>
            </a:r>
            <a:r>
              <a:rPr lang="en-US" altLang="en-US" baseline="-25000" smtClean="0"/>
              <a:t>4</a:t>
            </a:r>
            <a:endParaRPr lang="en-US" altLang="en-US" smtClean="0"/>
          </a:p>
          <a:p>
            <a:pPr marL="609600" indent="-609600" eaLnBrk="1" hangingPunct="1"/>
            <a:r>
              <a:rPr lang="en-US" altLang="en-US" smtClean="0"/>
              <a:t>There are 5 possible ways: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>
                <a:solidFill>
                  <a:srgbClr val="CC6600"/>
                </a:solidFill>
              </a:rPr>
              <a:t>(A</a:t>
            </a:r>
            <a:r>
              <a:rPr lang="en-US" altLang="en-US" baseline="-25000" smtClean="0">
                <a:solidFill>
                  <a:srgbClr val="CC6600"/>
                </a:solidFill>
              </a:rPr>
              <a:t>1</a:t>
            </a:r>
            <a:r>
              <a:rPr lang="en-US" altLang="en-US" smtClean="0">
                <a:solidFill>
                  <a:srgbClr val="CC6600"/>
                </a:solidFill>
              </a:rPr>
              <a:t>(A</a:t>
            </a:r>
            <a:r>
              <a:rPr lang="en-US" altLang="en-US" baseline="-25000" smtClean="0">
                <a:solidFill>
                  <a:srgbClr val="CC6600"/>
                </a:solidFill>
              </a:rPr>
              <a:t>2</a:t>
            </a:r>
            <a:r>
              <a:rPr lang="en-US" altLang="en-US" smtClean="0">
                <a:solidFill>
                  <a:srgbClr val="CC6600"/>
                </a:solidFill>
              </a:rPr>
              <a:t>(A</a:t>
            </a:r>
            <a:r>
              <a:rPr lang="en-US" altLang="en-US" baseline="-25000" smtClean="0">
                <a:solidFill>
                  <a:srgbClr val="CC6600"/>
                </a:solidFill>
              </a:rPr>
              <a:t>3</a:t>
            </a:r>
            <a:r>
              <a:rPr lang="en-US" altLang="en-US" smtClean="0">
                <a:solidFill>
                  <a:srgbClr val="CC6600"/>
                </a:solidFill>
              </a:rPr>
              <a:t>A</a:t>
            </a:r>
            <a:r>
              <a:rPr lang="en-US" altLang="en-US" baseline="-25000" smtClean="0">
                <a:solidFill>
                  <a:srgbClr val="CC6600"/>
                </a:solidFill>
              </a:rPr>
              <a:t>4</a:t>
            </a:r>
            <a:r>
              <a:rPr lang="en-US" altLang="en-US" smtClean="0">
                <a:solidFill>
                  <a:srgbClr val="CC6600"/>
                </a:solidFill>
              </a:rPr>
              <a:t>)))</a:t>
            </a:r>
            <a:endParaRPr lang="en-US" altLang="en-US" baseline="-25000" smtClean="0">
              <a:solidFill>
                <a:srgbClr val="CC6600"/>
              </a:solidFill>
            </a:endParaRP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>
                <a:solidFill>
                  <a:srgbClr val="009900"/>
                </a:solidFill>
              </a:rPr>
              <a:t>(A</a:t>
            </a:r>
            <a:r>
              <a:rPr lang="en-US" altLang="en-US" baseline="-25000" smtClean="0">
                <a:solidFill>
                  <a:srgbClr val="009900"/>
                </a:solidFill>
              </a:rPr>
              <a:t>1</a:t>
            </a:r>
            <a:r>
              <a:rPr lang="en-US" altLang="en-US" smtClean="0">
                <a:solidFill>
                  <a:srgbClr val="009900"/>
                </a:solidFill>
              </a:rPr>
              <a:t>((A</a:t>
            </a:r>
            <a:r>
              <a:rPr lang="en-US" altLang="en-US" baseline="-25000" smtClean="0">
                <a:solidFill>
                  <a:srgbClr val="009900"/>
                </a:solidFill>
              </a:rPr>
              <a:t>2</a:t>
            </a:r>
            <a:r>
              <a:rPr lang="en-US" altLang="en-US" smtClean="0">
                <a:solidFill>
                  <a:srgbClr val="009900"/>
                </a:solidFill>
              </a:rPr>
              <a:t>A</a:t>
            </a:r>
            <a:r>
              <a:rPr lang="en-US" altLang="en-US" baseline="-25000" smtClean="0">
                <a:solidFill>
                  <a:srgbClr val="009900"/>
                </a:solidFill>
              </a:rPr>
              <a:t>3</a:t>
            </a:r>
            <a:r>
              <a:rPr lang="en-US" altLang="en-US" smtClean="0">
                <a:solidFill>
                  <a:srgbClr val="009900"/>
                </a:solidFill>
              </a:rPr>
              <a:t>)A</a:t>
            </a:r>
            <a:r>
              <a:rPr lang="en-US" altLang="en-US" baseline="-25000" smtClean="0">
                <a:solidFill>
                  <a:srgbClr val="009900"/>
                </a:solidFill>
              </a:rPr>
              <a:t>4</a:t>
            </a:r>
            <a:r>
              <a:rPr lang="en-US" altLang="en-US" smtClean="0">
                <a:solidFill>
                  <a:srgbClr val="009900"/>
                </a:solidFill>
              </a:rPr>
              <a:t>))</a:t>
            </a:r>
            <a:endParaRPr lang="en-US" altLang="en-US" baseline="-25000" smtClean="0">
              <a:solidFill>
                <a:srgbClr val="009900"/>
              </a:solidFill>
            </a:endParaRP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>
                <a:solidFill>
                  <a:srgbClr val="FF0000"/>
                </a:solidFill>
              </a:rPr>
              <a:t>((A</a:t>
            </a:r>
            <a:r>
              <a:rPr lang="en-US" altLang="en-US" baseline="-25000" smtClean="0">
                <a:solidFill>
                  <a:srgbClr val="FF0000"/>
                </a:solidFill>
              </a:rPr>
              <a:t>1</a:t>
            </a:r>
            <a:r>
              <a:rPr lang="en-US" altLang="en-US" smtClean="0">
                <a:solidFill>
                  <a:srgbClr val="FF0000"/>
                </a:solidFill>
              </a:rPr>
              <a:t>A</a:t>
            </a:r>
            <a:r>
              <a:rPr lang="en-US" altLang="en-US" baseline="-25000" smtClean="0">
                <a:solidFill>
                  <a:srgbClr val="FF0000"/>
                </a:solidFill>
              </a:rPr>
              <a:t>2</a:t>
            </a:r>
            <a:r>
              <a:rPr lang="en-US" altLang="en-US" smtClean="0">
                <a:solidFill>
                  <a:srgbClr val="FF0000"/>
                </a:solidFill>
              </a:rPr>
              <a:t>)(A</a:t>
            </a:r>
            <a:r>
              <a:rPr lang="en-US" altLang="en-US" baseline="-25000" smtClean="0">
                <a:solidFill>
                  <a:srgbClr val="FF0000"/>
                </a:solidFill>
              </a:rPr>
              <a:t>3</a:t>
            </a:r>
            <a:r>
              <a:rPr lang="en-US" altLang="en-US" smtClean="0">
                <a:solidFill>
                  <a:srgbClr val="FF0000"/>
                </a:solidFill>
              </a:rPr>
              <a:t>A</a:t>
            </a:r>
            <a:r>
              <a:rPr lang="en-US" altLang="en-US" baseline="-25000" smtClean="0">
                <a:solidFill>
                  <a:srgbClr val="FF0000"/>
                </a:solidFill>
              </a:rPr>
              <a:t>4</a:t>
            </a:r>
            <a:r>
              <a:rPr lang="en-US" altLang="en-US" smtClean="0">
                <a:solidFill>
                  <a:srgbClr val="FF0000"/>
                </a:solidFill>
              </a:rPr>
              <a:t>))</a:t>
            </a:r>
            <a:endParaRPr lang="en-US" altLang="en-US" baseline="-25000" smtClean="0">
              <a:solidFill>
                <a:srgbClr val="FF0000"/>
              </a:solidFill>
            </a:endParaRP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>
                <a:solidFill>
                  <a:srgbClr val="3333FF"/>
                </a:solidFill>
              </a:rPr>
              <a:t>((A</a:t>
            </a:r>
            <a:r>
              <a:rPr lang="en-US" altLang="en-US" baseline="-25000" smtClean="0">
                <a:solidFill>
                  <a:srgbClr val="3333FF"/>
                </a:solidFill>
              </a:rPr>
              <a:t>1</a:t>
            </a:r>
            <a:r>
              <a:rPr lang="en-US" altLang="en-US" smtClean="0">
                <a:solidFill>
                  <a:srgbClr val="3333FF"/>
                </a:solidFill>
              </a:rPr>
              <a:t>(A</a:t>
            </a:r>
            <a:r>
              <a:rPr lang="en-US" altLang="en-US" baseline="-25000" smtClean="0">
                <a:solidFill>
                  <a:srgbClr val="3333FF"/>
                </a:solidFill>
              </a:rPr>
              <a:t>2</a:t>
            </a:r>
            <a:r>
              <a:rPr lang="en-US" altLang="en-US" smtClean="0">
                <a:solidFill>
                  <a:srgbClr val="3333FF"/>
                </a:solidFill>
              </a:rPr>
              <a:t>A</a:t>
            </a:r>
            <a:r>
              <a:rPr lang="en-US" altLang="en-US" baseline="-25000" smtClean="0">
                <a:solidFill>
                  <a:srgbClr val="3333FF"/>
                </a:solidFill>
              </a:rPr>
              <a:t>3</a:t>
            </a:r>
            <a:r>
              <a:rPr lang="en-US" altLang="en-US" smtClean="0">
                <a:solidFill>
                  <a:srgbClr val="3333FF"/>
                </a:solidFill>
              </a:rPr>
              <a:t>))A</a:t>
            </a:r>
            <a:r>
              <a:rPr lang="en-US" altLang="en-US" baseline="-25000" smtClean="0">
                <a:solidFill>
                  <a:srgbClr val="3333FF"/>
                </a:solidFill>
              </a:rPr>
              <a:t>4</a:t>
            </a:r>
            <a:r>
              <a:rPr lang="en-US" altLang="en-US" smtClean="0">
                <a:solidFill>
                  <a:srgbClr val="3333FF"/>
                </a:solidFill>
              </a:rPr>
              <a:t>)</a:t>
            </a:r>
            <a:endParaRPr lang="en-US" altLang="en-US" baseline="-25000" smtClean="0">
              <a:solidFill>
                <a:srgbClr val="3333FF"/>
              </a:solidFill>
            </a:endParaRP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>
                <a:solidFill>
                  <a:srgbClr val="D60093"/>
                </a:solidFill>
              </a:rPr>
              <a:t>(((A</a:t>
            </a:r>
            <a:r>
              <a:rPr lang="en-US" altLang="en-US" baseline="-25000" smtClean="0">
                <a:solidFill>
                  <a:srgbClr val="D60093"/>
                </a:solidFill>
              </a:rPr>
              <a:t>1</a:t>
            </a:r>
            <a:r>
              <a:rPr lang="en-US" altLang="en-US" smtClean="0">
                <a:solidFill>
                  <a:srgbClr val="D60093"/>
                </a:solidFill>
              </a:rPr>
              <a:t>A</a:t>
            </a:r>
            <a:r>
              <a:rPr lang="en-US" altLang="en-US" baseline="-25000" smtClean="0">
                <a:solidFill>
                  <a:srgbClr val="D60093"/>
                </a:solidFill>
              </a:rPr>
              <a:t>2</a:t>
            </a:r>
            <a:r>
              <a:rPr lang="en-US" altLang="en-US" smtClean="0">
                <a:solidFill>
                  <a:srgbClr val="D60093"/>
                </a:solidFill>
              </a:rPr>
              <a:t>)A</a:t>
            </a:r>
            <a:r>
              <a:rPr lang="en-US" altLang="en-US" baseline="-25000" smtClean="0">
                <a:solidFill>
                  <a:srgbClr val="D60093"/>
                </a:solidFill>
              </a:rPr>
              <a:t>3</a:t>
            </a:r>
            <a:r>
              <a:rPr lang="en-US" altLang="en-US" smtClean="0">
                <a:solidFill>
                  <a:srgbClr val="D60093"/>
                </a:solidFill>
              </a:rPr>
              <a:t>)A</a:t>
            </a:r>
            <a:r>
              <a:rPr lang="en-US" altLang="en-US" baseline="-25000" smtClean="0">
                <a:solidFill>
                  <a:srgbClr val="D60093"/>
                </a:solidFill>
              </a:rPr>
              <a:t>4</a:t>
            </a:r>
            <a:r>
              <a:rPr lang="en-US" altLang="en-US" smtClean="0">
                <a:solidFill>
                  <a:srgbClr val="D60093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1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1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Matrix-chain Multiplication   </a:t>
            </a:r>
            <a:r>
              <a:rPr lang="en-US" altLang="en-US" sz="2000" smtClean="0"/>
              <a:t>…contd</a:t>
            </a:r>
            <a:r>
              <a:rPr lang="en-US" altLang="en-US" smtClean="0"/>
              <a:t> 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609600" indent="-609600" eaLnBrk="1" hangingPunct="1"/>
            <a:r>
              <a:rPr lang="en-US" altLang="en-US" smtClean="0"/>
              <a:t>To compute the number of scalar multiplications necessary, we must know:</a:t>
            </a:r>
          </a:p>
          <a:p>
            <a:pPr marL="990600" lvl="1" indent="-533400" eaLnBrk="1" hangingPunct="1"/>
            <a:r>
              <a:rPr lang="en-US" altLang="en-US" smtClean="0">
                <a:solidFill>
                  <a:srgbClr val="CC6600"/>
                </a:solidFill>
              </a:rPr>
              <a:t>Algorithm to multiply two matrices</a:t>
            </a:r>
          </a:p>
          <a:p>
            <a:pPr marL="990600" lvl="1" indent="-533400" eaLnBrk="1" hangingPunct="1"/>
            <a:r>
              <a:rPr lang="en-US" altLang="en-US" smtClean="0">
                <a:solidFill>
                  <a:srgbClr val="CC6600"/>
                </a:solidFill>
              </a:rPr>
              <a:t>Matrix dimensions</a:t>
            </a:r>
          </a:p>
          <a:p>
            <a:pPr marL="609600" indent="-609600" eaLnBrk="1" hangingPunct="1"/>
            <a:endParaRPr lang="en-US" altLang="en-US" smtClean="0">
              <a:solidFill>
                <a:srgbClr val="CC6600"/>
              </a:solidFill>
            </a:endParaRPr>
          </a:p>
          <a:p>
            <a:pPr marL="609600" indent="-609600" eaLnBrk="1" hangingPunct="1"/>
            <a:r>
              <a:rPr lang="en-US" altLang="en-US" smtClean="0">
                <a:solidFill>
                  <a:srgbClr val="009900"/>
                </a:solidFill>
              </a:rPr>
              <a:t>Can you write the algorithm to multiply two matrices?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84238"/>
          </a:xfrm>
        </p:spPr>
        <p:txBody>
          <a:bodyPr/>
          <a:lstStyle/>
          <a:p>
            <a:pPr eaLnBrk="1" hangingPunct="1"/>
            <a:r>
              <a:rPr lang="en-US" altLang="en-US" smtClean="0"/>
              <a:t>Algorithm to Multiply 2 Matrices   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114800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Input: M</a:t>
            </a:r>
            <a:r>
              <a:rPr lang="en-US" altLang="en-US" sz="2400" smtClean="0">
                <a:latin typeface="Times New Roman" panose="02020603050405020304" pitchFamily="18" charset="0"/>
              </a:rPr>
              <a:t>atrices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A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p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q</a:t>
            </a:r>
            <a:r>
              <a:rPr lang="en-US" altLang="en-US" sz="2400" smtClean="0">
                <a:latin typeface="Times New Roman" panose="02020603050405020304" pitchFamily="18" charset="0"/>
              </a:rPr>
              <a:t> and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B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q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r</a:t>
            </a:r>
            <a:r>
              <a:rPr lang="en-US" altLang="en-US" sz="2400" smtClean="0">
                <a:latin typeface="Times New Roman" panose="02020603050405020304" pitchFamily="18" charset="0"/>
              </a:rPr>
              <a:t> (with dimensions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p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smtClean="0">
                <a:latin typeface="Times New Roman" panose="02020603050405020304" pitchFamily="18" charset="0"/>
              </a:rPr>
              <a:t>q</a:t>
            </a:r>
            <a:r>
              <a:rPr lang="en-US" altLang="en-US" sz="2400" smtClean="0">
                <a:latin typeface="Times New Roman" panose="02020603050405020304" pitchFamily="18" charset="0"/>
              </a:rPr>
              <a:t> and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q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smtClean="0">
                <a:latin typeface="Times New Roman" panose="02020603050405020304" pitchFamily="18" charset="0"/>
              </a:rPr>
              <a:t>r</a:t>
            </a:r>
            <a:r>
              <a:rPr lang="en-US" altLang="en-US" sz="2400" smtClean="0">
                <a:latin typeface="Times New Roman" panose="02020603050405020304" pitchFamily="18" charset="0"/>
              </a:rPr>
              <a:t>)</a:t>
            </a:r>
            <a:endParaRPr lang="en-US" altLang="en-US" sz="2400" smtClean="0">
              <a:solidFill>
                <a:srgbClr val="3333FF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Result: Matrix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p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r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 resulting from the product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en-US" sz="2400" i="1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2619CB"/>
                </a:solidFill>
                <a:latin typeface="Times New Roman" panose="02020603050405020304" pitchFamily="18" charset="0"/>
              </a:rPr>
              <a:t>MATRIX-MULTIPLY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i="1" smtClean="0">
                <a:latin typeface="Times New Roman" panose="02020603050405020304" pitchFamily="18" charset="0"/>
              </a:rPr>
              <a:t>A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p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q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B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q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r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Times New Roman" panose="02020603050405020304" pitchFamily="18" charset="0"/>
              </a:rPr>
              <a:t>1.	for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i 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1 to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Times New Roman" panose="02020603050405020304" pitchFamily="18" charset="0"/>
              </a:rPr>
              <a:t>2.			for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j 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1 to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endParaRPr lang="en-US" altLang="en-US" sz="2400" smtClean="0"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Times New Roman" panose="02020603050405020304" pitchFamily="18" charset="0"/>
              </a:rPr>
              <a:t>3.				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4.				</a:t>
            </a:r>
            <a:r>
              <a:rPr lang="en-US" altLang="en-US" sz="2400" smtClean="0">
                <a:latin typeface="Times New Roman" panose="02020603050405020304" pitchFamily="18" charset="0"/>
              </a:rPr>
              <a:t>for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 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1 to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q</a:t>
            </a:r>
            <a:endParaRPr lang="en-US" altLang="en-US" sz="2400" smtClean="0"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5.					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400" smtClean="0">
                <a:latin typeface="Times New Roman" panose="02020603050405020304" pitchFamily="18" charset="0"/>
              </a:rPr>
              <a:t> +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4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4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endParaRPr lang="en-US" altLang="en-US" sz="24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Times New Roman" panose="02020603050405020304" pitchFamily="18" charset="0"/>
              </a:rPr>
              <a:t>6.	return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C</a:t>
            </a:r>
            <a:endParaRPr lang="en-US" altLang="en-US" sz="24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381000" y="5486400"/>
            <a:ext cx="8305800" cy="6826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buSzTx/>
              <a:buFontTx/>
              <a:buNone/>
            </a:pPr>
            <a:r>
              <a:rPr lang="en-US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Scalar multiplication in line 5 dominates time to compute </a:t>
            </a:r>
            <a:r>
              <a:rPr lang="en-US" altLang="en-US" sz="2400" b="0" i="1">
                <a:solidFill>
                  <a:srgbClr val="FF0000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Number of scalar multiplications = </a:t>
            </a:r>
            <a:r>
              <a:rPr lang="en-US" altLang="en-US" sz="2400" b="0" i="1">
                <a:solidFill>
                  <a:srgbClr val="FF0000"/>
                </a:solidFill>
                <a:latin typeface="Times New Roman" panose="02020603050405020304" pitchFamily="18" charset="0"/>
              </a:rPr>
              <a:t>pqr</a:t>
            </a:r>
            <a:r>
              <a:rPr lang="en-US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Matrix-chain Multiplication    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458200" cy="4800600"/>
          </a:xfrm>
        </p:spPr>
        <p:txBody>
          <a:bodyPr/>
          <a:lstStyle/>
          <a:p>
            <a:pPr marL="609600" indent="-609600" eaLnBrk="1" hangingPunct="1"/>
            <a:r>
              <a:rPr lang="en-US" altLang="en-US" smtClean="0"/>
              <a:t>Example: Consider three matrices A</a:t>
            </a:r>
            <a:r>
              <a:rPr lang="en-US" altLang="en-US" baseline="-25000" smtClean="0"/>
              <a:t>10</a:t>
            </a:r>
            <a:r>
              <a:rPr lang="en-US" altLang="en-US" baseline="-25000" smtClean="0">
                <a:sym typeface="Symbol" panose="05050102010706020507" pitchFamily="18" charset="2"/>
              </a:rPr>
              <a:t></a:t>
            </a:r>
            <a:r>
              <a:rPr lang="en-US" altLang="en-US" baseline="-25000" smtClean="0"/>
              <a:t>100</a:t>
            </a:r>
            <a:r>
              <a:rPr lang="en-US" altLang="en-US" smtClean="0"/>
              <a:t>, B</a:t>
            </a:r>
            <a:r>
              <a:rPr lang="en-US" altLang="en-US" baseline="-25000" smtClean="0"/>
              <a:t>100</a:t>
            </a:r>
            <a:r>
              <a:rPr lang="en-US" altLang="en-US" baseline="-25000" smtClean="0">
                <a:sym typeface="Symbol" panose="05050102010706020507" pitchFamily="18" charset="2"/>
              </a:rPr>
              <a:t></a:t>
            </a:r>
            <a:r>
              <a:rPr lang="en-US" altLang="en-US" baseline="-25000" smtClean="0"/>
              <a:t>5</a:t>
            </a:r>
            <a:r>
              <a:rPr lang="en-US" altLang="en-US" smtClean="0"/>
              <a:t>, and C</a:t>
            </a:r>
            <a:r>
              <a:rPr lang="en-US" altLang="en-US" baseline="-25000" smtClean="0"/>
              <a:t>5</a:t>
            </a:r>
            <a:r>
              <a:rPr lang="en-US" altLang="en-US" baseline="-25000" smtClean="0">
                <a:sym typeface="Symbol" panose="05050102010706020507" pitchFamily="18" charset="2"/>
              </a:rPr>
              <a:t></a:t>
            </a:r>
            <a:r>
              <a:rPr lang="en-US" altLang="en-US" baseline="-25000" smtClean="0"/>
              <a:t>50</a:t>
            </a:r>
          </a:p>
          <a:p>
            <a:pPr marL="609600" indent="-609600" eaLnBrk="1" hangingPunct="1"/>
            <a:r>
              <a:rPr lang="en-US" altLang="en-US" smtClean="0"/>
              <a:t>There are 2 ways to parenthesize </a:t>
            </a:r>
          </a:p>
          <a:p>
            <a:pPr marL="990600" lvl="1" indent="-533400" eaLnBrk="1" hangingPunct="1"/>
            <a:r>
              <a:rPr lang="en-US" altLang="en-US" smtClean="0">
                <a:solidFill>
                  <a:srgbClr val="3333FF"/>
                </a:solidFill>
              </a:rPr>
              <a:t>((AB)C) = D</a:t>
            </a:r>
            <a:r>
              <a:rPr lang="en-US" altLang="en-US" baseline="-25000" smtClean="0">
                <a:solidFill>
                  <a:srgbClr val="3333FF"/>
                </a:solidFill>
              </a:rPr>
              <a:t>10</a:t>
            </a:r>
            <a:r>
              <a:rPr lang="en-US" altLang="en-US" baseline="-25000" smtClean="0">
                <a:solidFill>
                  <a:srgbClr val="3333FF"/>
                </a:solidFill>
                <a:sym typeface="Symbol" panose="05050102010706020507" pitchFamily="18" charset="2"/>
              </a:rPr>
              <a:t></a:t>
            </a:r>
            <a:r>
              <a:rPr lang="en-US" altLang="en-US" baseline="-25000" smtClean="0">
                <a:solidFill>
                  <a:srgbClr val="3333FF"/>
                </a:solidFill>
              </a:rPr>
              <a:t>5</a:t>
            </a:r>
            <a:r>
              <a:rPr lang="en-US" altLang="en-US" smtClean="0">
                <a:solidFill>
                  <a:srgbClr val="3333FF"/>
                </a:solidFill>
              </a:rPr>
              <a:t> </a:t>
            </a:r>
            <a:r>
              <a:rPr lang="en-US" altLang="en-US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3333FF"/>
                </a:solidFill>
                <a:sym typeface="Symbol" panose="05050102010706020507" pitchFamily="18" charset="2"/>
              </a:rPr>
              <a:t> </a:t>
            </a:r>
            <a:r>
              <a:rPr lang="en-US" altLang="en-US" smtClean="0">
                <a:solidFill>
                  <a:srgbClr val="3333FF"/>
                </a:solidFill>
              </a:rPr>
              <a:t>C</a:t>
            </a:r>
            <a:r>
              <a:rPr lang="en-US" altLang="en-US" baseline="-25000" smtClean="0">
                <a:solidFill>
                  <a:srgbClr val="3333FF"/>
                </a:solidFill>
              </a:rPr>
              <a:t>5</a:t>
            </a:r>
            <a:r>
              <a:rPr lang="en-US" altLang="en-US" baseline="-25000" smtClean="0">
                <a:solidFill>
                  <a:srgbClr val="3333FF"/>
                </a:solidFill>
                <a:sym typeface="Symbol" panose="05050102010706020507" pitchFamily="18" charset="2"/>
              </a:rPr>
              <a:t></a:t>
            </a:r>
            <a:r>
              <a:rPr lang="en-US" altLang="en-US" baseline="-25000" smtClean="0">
                <a:solidFill>
                  <a:srgbClr val="3333FF"/>
                </a:solidFill>
              </a:rPr>
              <a:t>50</a:t>
            </a:r>
            <a:endParaRPr lang="en-US" altLang="en-US" smtClean="0">
              <a:solidFill>
                <a:srgbClr val="3333FF"/>
              </a:solidFill>
            </a:endParaRPr>
          </a:p>
          <a:p>
            <a:pPr marL="1371600" lvl="2" indent="-457200" eaLnBrk="1" hangingPunct="1"/>
            <a:r>
              <a:rPr lang="en-US" altLang="en-US" smtClean="0">
                <a:solidFill>
                  <a:srgbClr val="CC6600"/>
                </a:solidFill>
              </a:rPr>
              <a:t>AB </a:t>
            </a:r>
            <a:r>
              <a:rPr lang="en-US" altLang="en-US" smtClean="0">
                <a:solidFill>
                  <a:srgbClr val="CC6600"/>
                </a:solidFill>
                <a:sym typeface="Symbol" panose="05050102010706020507" pitchFamily="18" charset="2"/>
              </a:rPr>
              <a:t></a:t>
            </a:r>
            <a:r>
              <a:rPr lang="en-US" altLang="en-US" smtClean="0">
                <a:solidFill>
                  <a:srgbClr val="CC6600"/>
                </a:solidFill>
              </a:rPr>
              <a:t> 10</a:t>
            </a:r>
            <a:r>
              <a:rPr lang="en-US" altLang="en-US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CC6600"/>
                </a:solidFill>
                <a:cs typeface="Times New Roman" panose="02020603050405020304" pitchFamily="18" charset="0"/>
              </a:rPr>
              <a:t>100</a:t>
            </a:r>
            <a:r>
              <a:rPr lang="en-US" altLang="en-US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CC6600"/>
                </a:solidFill>
                <a:cs typeface="Times New Roman" panose="02020603050405020304" pitchFamily="18" charset="0"/>
              </a:rPr>
              <a:t>5=5,000 scalar multiplications</a:t>
            </a:r>
          </a:p>
          <a:p>
            <a:pPr marL="1371600" lvl="2" indent="-457200" eaLnBrk="1" hangingPunct="1"/>
            <a:r>
              <a:rPr lang="en-US" altLang="en-US" smtClean="0">
                <a:solidFill>
                  <a:srgbClr val="CC6600"/>
                </a:solidFill>
              </a:rPr>
              <a:t>DC </a:t>
            </a:r>
            <a:r>
              <a:rPr lang="en-US" altLang="en-US" smtClean="0">
                <a:solidFill>
                  <a:srgbClr val="CC6600"/>
                </a:solidFill>
                <a:sym typeface="Symbol" panose="05050102010706020507" pitchFamily="18" charset="2"/>
              </a:rPr>
              <a:t></a:t>
            </a:r>
            <a:r>
              <a:rPr lang="en-US" altLang="en-US" smtClean="0">
                <a:solidFill>
                  <a:srgbClr val="CC6600"/>
                </a:solidFill>
              </a:rPr>
              <a:t> 10</a:t>
            </a:r>
            <a:r>
              <a:rPr lang="en-US" altLang="en-US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CC6600"/>
                </a:solidFill>
                <a:cs typeface="Times New Roman" panose="02020603050405020304" pitchFamily="18" charset="0"/>
              </a:rPr>
              <a:t>5</a:t>
            </a:r>
            <a:r>
              <a:rPr lang="en-US" altLang="en-US" smtClean="0">
                <a:solidFill>
                  <a:srgbClr val="CC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CC6600"/>
                </a:solidFill>
                <a:cs typeface="Times New Roman" panose="02020603050405020304" pitchFamily="18" charset="0"/>
              </a:rPr>
              <a:t>50 =2,500 scalar multiplications</a:t>
            </a:r>
          </a:p>
          <a:p>
            <a:pPr marL="990600" lvl="1" indent="-533400" eaLnBrk="1" hangingPunct="1"/>
            <a:r>
              <a:rPr lang="en-US" altLang="en-US" smtClean="0">
                <a:solidFill>
                  <a:srgbClr val="009900"/>
                </a:solidFill>
              </a:rPr>
              <a:t>(A</a:t>
            </a:r>
            <a:r>
              <a:rPr lang="en-US" altLang="en-US" smtClean="0">
                <a:solidFill>
                  <a:srgbClr val="009900"/>
                </a:solidFill>
                <a:sym typeface="Symbol" panose="05050102010706020507" pitchFamily="18" charset="2"/>
              </a:rPr>
              <a:t>(</a:t>
            </a:r>
            <a:r>
              <a:rPr lang="en-US" altLang="en-US" smtClean="0">
                <a:solidFill>
                  <a:srgbClr val="009900"/>
                </a:solidFill>
              </a:rPr>
              <a:t>BC)) = A</a:t>
            </a:r>
            <a:r>
              <a:rPr lang="en-US" altLang="en-US" baseline="-25000" smtClean="0">
                <a:solidFill>
                  <a:srgbClr val="009900"/>
                </a:solidFill>
              </a:rPr>
              <a:t>10</a:t>
            </a:r>
            <a:r>
              <a:rPr lang="en-US" altLang="en-US" baseline="-25000" smtClean="0">
                <a:solidFill>
                  <a:srgbClr val="009900"/>
                </a:solidFill>
                <a:sym typeface="Symbol" panose="05050102010706020507" pitchFamily="18" charset="2"/>
              </a:rPr>
              <a:t></a:t>
            </a:r>
            <a:r>
              <a:rPr lang="en-US" altLang="en-US" baseline="-25000" smtClean="0">
                <a:solidFill>
                  <a:srgbClr val="009900"/>
                </a:solidFill>
              </a:rPr>
              <a:t>100</a:t>
            </a:r>
            <a:r>
              <a:rPr lang="en-US" altLang="en-US" smtClean="0">
                <a:solidFill>
                  <a:srgbClr val="009900"/>
                </a:solidFill>
              </a:rPr>
              <a:t> </a:t>
            </a:r>
            <a:r>
              <a:rPr lang="en-US" altLang="en-US" smtClean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en-US" smtClean="0">
                <a:solidFill>
                  <a:srgbClr val="009900"/>
                </a:solidFill>
              </a:rPr>
              <a:t>E</a:t>
            </a:r>
            <a:r>
              <a:rPr lang="en-US" altLang="en-US" baseline="-25000" smtClean="0">
                <a:solidFill>
                  <a:srgbClr val="009900"/>
                </a:solidFill>
              </a:rPr>
              <a:t>100</a:t>
            </a:r>
            <a:r>
              <a:rPr lang="en-US" altLang="en-US" baseline="-25000" smtClean="0">
                <a:solidFill>
                  <a:srgbClr val="009900"/>
                </a:solidFill>
                <a:sym typeface="Symbol" panose="05050102010706020507" pitchFamily="18" charset="2"/>
              </a:rPr>
              <a:t></a:t>
            </a:r>
            <a:r>
              <a:rPr lang="en-US" altLang="en-US" baseline="-25000" smtClean="0">
                <a:solidFill>
                  <a:srgbClr val="009900"/>
                </a:solidFill>
              </a:rPr>
              <a:t>50</a:t>
            </a:r>
            <a:endParaRPr lang="en-US" altLang="en-US" smtClean="0">
              <a:solidFill>
                <a:srgbClr val="009900"/>
              </a:solidFill>
            </a:endParaRPr>
          </a:p>
          <a:p>
            <a:pPr marL="1371600" lvl="2" indent="-457200" eaLnBrk="1" hangingPunct="1"/>
            <a:r>
              <a:rPr lang="en-US" altLang="en-US" smtClean="0">
                <a:solidFill>
                  <a:srgbClr val="D60093"/>
                </a:solidFill>
              </a:rPr>
              <a:t>BC </a:t>
            </a:r>
            <a:r>
              <a:rPr lang="en-US" altLang="en-US" smtClean="0">
                <a:solidFill>
                  <a:srgbClr val="D60093"/>
                </a:solidFill>
                <a:sym typeface="Symbol" panose="05050102010706020507" pitchFamily="18" charset="2"/>
              </a:rPr>
              <a:t></a:t>
            </a:r>
            <a:r>
              <a:rPr lang="en-US" altLang="en-US" smtClean="0">
                <a:solidFill>
                  <a:srgbClr val="D60093"/>
                </a:solidFill>
              </a:rPr>
              <a:t> 100</a:t>
            </a:r>
            <a:r>
              <a:rPr lang="en-US" altLang="en-US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D60093"/>
                </a:solidFill>
                <a:cs typeface="Times New Roman" panose="02020603050405020304" pitchFamily="18" charset="0"/>
              </a:rPr>
              <a:t>5</a:t>
            </a:r>
            <a:r>
              <a:rPr lang="en-US" altLang="en-US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D60093"/>
                </a:solidFill>
                <a:cs typeface="Times New Roman" panose="02020603050405020304" pitchFamily="18" charset="0"/>
              </a:rPr>
              <a:t>50=25,000 scalar multiplications</a:t>
            </a:r>
          </a:p>
          <a:p>
            <a:pPr marL="1371600" lvl="2" indent="-457200" eaLnBrk="1" hangingPunct="1"/>
            <a:r>
              <a:rPr lang="en-US" altLang="en-US" smtClean="0">
                <a:solidFill>
                  <a:srgbClr val="D60093"/>
                </a:solidFill>
              </a:rPr>
              <a:t>AE </a:t>
            </a:r>
            <a:r>
              <a:rPr lang="en-US" altLang="en-US" smtClean="0">
                <a:solidFill>
                  <a:srgbClr val="D60093"/>
                </a:solidFill>
                <a:sym typeface="Symbol" panose="05050102010706020507" pitchFamily="18" charset="2"/>
              </a:rPr>
              <a:t></a:t>
            </a:r>
            <a:r>
              <a:rPr lang="en-US" altLang="en-US" smtClean="0">
                <a:solidFill>
                  <a:srgbClr val="D60093"/>
                </a:solidFill>
              </a:rPr>
              <a:t> 10</a:t>
            </a:r>
            <a:r>
              <a:rPr lang="en-US" altLang="en-US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D60093"/>
                </a:solidFill>
                <a:cs typeface="Times New Roman" panose="02020603050405020304" pitchFamily="18" charset="0"/>
              </a:rPr>
              <a:t>100</a:t>
            </a:r>
            <a:r>
              <a:rPr lang="en-US" altLang="en-US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en-US" smtClean="0">
                <a:solidFill>
                  <a:srgbClr val="D60093"/>
                </a:solidFill>
                <a:cs typeface="Times New Roman" panose="02020603050405020304" pitchFamily="18" charset="0"/>
              </a:rPr>
              <a:t>50 =50,000 scalar multiplications</a:t>
            </a:r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8077200" y="3429000"/>
            <a:ext cx="1143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Total: 7,500 </a:t>
            </a: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6172200" y="5638800"/>
            <a:ext cx="1143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Total: 75,000 </a:t>
            </a:r>
          </a:p>
        </p:txBody>
      </p:sp>
      <p:sp>
        <p:nvSpPr>
          <p:cNvPr id="214022" name="AutoShape 6"/>
          <p:cNvSpPr>
            <a:spLocks/>
          </p:cNvSpPr>
          <p:nvPr/>
        </p:nvSpPr>
        <p:spPr bwMode="auto">
          <a:xfrm>
            <a:off x="8001000" y="358140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4023" name="AutoShape 7"/>
          <p:cNvSpPr>
            <a:spLocks/>
          </p:cNvSpPr>
          <p:nvPr/>
        </p:nvSpPr>
        <p:spPr bwMode="auto">
          <a:xfrm>
            <a:off x="8382000" y="495300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4025" name="Freeform 9"/>
          <p:cNvSpPr>
            <a:spLocks/>
          </p:cNvSpPr>
          <p:nvPr/>
        </p:nvSpPr>
        <p:spPr bwMode="auto">
          <a:xfrm>
            <a:off x="7086600" y="5257800"/>
            <a:ext cx="1714500" cy="838200"/>
          </a:xfrm>
          <a:custGeom>
            <a:avLst/>
            <a:gdLst>
              <a:gd name="T0" fmla="*/ 2147483646 w 1080"/>
              <a:gd name="T1" fmla="*/ 0 h 528"/>
              <a:gd name="T2" fmla="*/ 2147483646 w 1080"/>
              <a:gd name="T3" fmla="*/ 2147483646 h 528"/>
              <a:gd name="T4" fmla="*/ 2147483646 w 1080"/>
              <a:gd name="T5" fmla="*/ 2147483646 h 528"/>
              <a:gd name="T6" fmla="*/ 2147483646 w 1080"/>
              <a:gd name="T7" fmla="*/ 2147483646 h 528"/>
              <a:gd name="T8" fmla="*/ 0 w 1080"/>
              <a:gd name="T9" fmla="*/ 2147483646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0"/>
              <a:gd name="T16" fmla="*/ 0 h 528"/>
              <a:gd name="T17" fmla="*/ 1080 w 1080"/>
              <a:gd name="T18" fmla="*/ 528 h 5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0" h="528">
                <a:moveTo>
                  <a:pt x="960" y="0"/>
                </a:moveTo>
                <a:cubicBezTo>
                  <a:pt x="1020" y="64"/>
                  <a:pt x="1080" y="128"/>
                  <a:pt x="1056" y="192"/>
                </a:cubicBezTo>
                <a:cubicBezTo>
                  <a:pt x="1032" y="256"/>
                  <a:pt x="928" y="336"/>
                  <a:pt x="816" y="384"/>
                </a:cubicBezTo>
                <a:cubicBezTo>
                  <a:pt x="704" y="432"/>
                  <a:pt x="520" y="456"/>
                  <a:pt x="384" y="480"/>
                </a:cubicBezTo>
                <a:cubicBezTo>
                  <a:pt x="248" y="504"/>
                  <a:pt x="124" y="516"/>
                  <a:pt x="0" y="52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4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/>
      <p:bldP spid="214021" grpId="0"/>
      <p:bldP spid="214022" grpId="0" animBg="1"/>
      <p:bldP spid="2140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Matrix-chain Multiplication   </a:t>
            </a:r>
            <a:r>
              <a:rPr lang="en-US" altLang="en-US" sz="2000" smtClean="0"/>
              <a:t>…contd</a:t>
            </a:r>
            <a:r>
              <a:rPr lang="en-US" altLang="en-US" smtClean="0"/>
              <a:t> 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marL="609600" indent="-609600" eaLnBrk="1" hangingPunct="1"/>
            <a:r>
              <a:rPr lang="en-US" altLang="en-US" smtClean="0">
                <a:cs typeface="Times New Roman" panose="02020603050405020304" pitchFamily="18" charset="0"/>
              </a:rPr>
              <a:t>Matrix-chain multiplication problem</a:t>
            </a:r>
          </a:p>
          <a:p>
            <a:pPr marL="990600" lvl="1" indent="-533400" eaLnBrk="1" hangingPunct="1"/>
            <a:r>
              <a:rPr lang="en-US" altLang="en-US" smtClean="0"/>
              <a:t>Given a chain A</a:t>
            </a:r>
            <a:r>
              <a:rPr lang="en-US" altLang="en-US" baseline="-25000" smtClean="0"/>
              <a:t>1</a:t>
            </a:r>
            <a:r>
              <a:rPr lang="en-US" altLang="en-US" smtClean="0"/>
              <a:t>, 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A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 of </a:t>
            </a:r>
            <a:r>
              <a:rPr lang="en-US" altLang="en-US" i="1" smtClean="0"/>
              <a:t>n</a:t>
            </a:r>
            <a:r>
              <a:rPr lang="en-US" altLang="en-US" smtClean="0"/>
              <a:t> matrices, where for </a:t>
            </a:r>
            <a:r>
              <a:rPr lang="en-US" altLang="en-US" i="1" smtClean="0"/>
              <a:t>i</a:t>
            </a:r>
            <a:r>
              <a:rPr lang="en-US" altLang="en-US" smtClean="0"/>
              <a:t>=1, 2, …, </a:t>
            </a:r>
            <a:r>
              <a:rPr lang="en-US" altLang="en-US" i="1" smtClean="0"/>
              <a:t>n</a:t>
            </a:r>
            <a:r>
              <a:rPr lang="en-US" altLang="en-US" smtClean="0"/>
              <a:t>, matrix A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has dimension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i</a:t>
            </a:r>
            <a:r>
              <a:rPr lang="en-US" altLang="en-US" baseline="-25000" smtClean="0"/>
              <a:t>-1</a:t>
            </a:r>
            <a:r>
              <a:rPr lang="en-US" altLang="en-US" smtClean="0">
                <a:sym typeface="Symbol" panose="05050102010706020507" pitchFamily="18" charset="2"/>
              </a:rPr>
              <a:t>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i</a:t>
            </a:r>
          </a:p>
          <a:p>
            <a:pPr marL="990600" lvl="1" indent="-533400" eaLnBrk="1" hangingPunct="1"/>
            <a:r>
              <a:rPr lang="en-US" altLang="en-US" smtClean="0">
                <a:solidFill>
                  <a:srgbClr val="3333FF"/>
                </a:solidFill>
              </a:rPr>
              <a:t>Parenthesize the product A</a:t>
            </a:r>
            <a:r>
              <a:rPr lang="en-US" altLang="en-US" baseline="-25000" smtClean="0">
                <a:solidFill>
                  <a:srgbClr val="3333FF"/>
                </a:solidFill>
              </a:rPr>
              <a:t>1</a:t>
            </a:r>
            <a:r>
              <a:rPr lang="en-US" altLang="en-US" smtClean="0">
                <a:solidFill>
                  <a:srgbClr val="3333FF"/>
                </a:solidFill>
              </a:rPr>
              <a:t>A</a:t>
            </a:r>
            <a:r>
              <a:rPr lang="en-US" altLang="en-US" baseline="-25000" smtClean="0">
                <a:solidFill>
                  <a:srgbClr val="3333FF"/>
                </a:solidFill>
              </a:rPr>
              <a:t>2</a:t>
            </a:r>
            <a:r>
              <a:rPr lang="en-US" altLang="en-US" smtClean="0">
                <a:solidFill>
                  <a:srgbClr val="3333FF"/>
                </a:solidFill>
              </a:rPr>
              <a:t>…A</a:t>
            </a:r>
            <a:r>
              <a:rPr lang="en-US" altLang="en-US" i="1" baseline="-25000" smtClean="0">
                <a:solidFill>
                  <a:srgbClr val="3333FF"/>
                </a:solidFill>
              </a:rPr>
              <a:t>n </a:t>
            </a:r>
            <a:r>
              <a:rPr lang="en-US" altLang="en-US" smtClean="0">
                <a:solidFill>
                  <a:srgbClr val="3333FF"/>
                </a:solidFill>
              </a:rPr>
              <a:t>such that the total number of scalar multiplications is minimized</a:t>
            </a:r>
          </a:p>
          <a:p>
            <a:pPr marL="609600" indent="-609600" eaLnBrk="1" hangingPunct="1"/>
            <a:r>
              <a:rPr lang="en-US" altLang="en-US" smtClean="0">
                <a:cs typeface="Times New Roman" panose="02020603050405020304" pitchFamily="18" charset="0"/>
              </a:rPr>
              <a:t>Brute force method of exhaustive search takes time exponential in </a:t>
            </a:r>
            <a:r>
              <a:rPr lang="en-US" altLang="en-US" i="1" smtClean="0">
                <a:cs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Dynamic Programming Approach</a:t>
            </a:r>
            <a:endParaRPr lang="en-US" altLang="en-US" sz="180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 marL="609600" indent="-609600" eaLnBrk="1" hangingPunct="1"/>
            <a:r>
              <a:rPr lang="en-US" altLang="en-US" smtClean="0">
                <a:solidFill>
                  <a:srgbClr val="0099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 structure of an optimal solution</a:t>
            </a: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Let us use the notation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for the matrix that results from the product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A</a:t>
            </a:r>
            <a:r>
              <a:rPr lang="en-US" altLang="en-US" i="1" baseline="-25000" smtClean="0"/>
              <a:t>i</a:t>
            </a:r>
            <a:r>
              <a:rPr lang="en-US" altLang="en-US" baseline="-25000" smtClean="0"/>
              <a:t>+1</a:t>
            </a:r>
            <a:r>
              <a:rPr lang="en-US" altLang="en-US" smtClean="0"/>
              <a:t> … A</a:t>
            </a:r>
            <a:r>
              <a:rPr lang="en-US" altLang="en-US" i="1" baseline="-25000" smtClean="0"/>
              <a:t>j</a:t>
            </a:r>
            <a:r>
              <a:rPr lang="en-US" altLang="en-US" smtClean="0"/>
              <a:t> </a:t>
            </a: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An optimal parenthesization of the product </a:t>
            </a:r>
            <a:r>
              <a:rPr lang="en-US" altLang="en-US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n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splits the product between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smtClean="0"/>
              <a:t>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and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baseline="-25000" smtClean="0"/>
              <a:t>+1</a:t>
            </a:r>
            <a:r>
              <a:rPr lang="en-US" altLang="en-US" smtClean="0"/>
              <a:t>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for some integer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where1 ≤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endParaRPr lang="en-US" altLang="en-US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First compute matrices A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and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+1..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; then multiply them to get the final matrix A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Dynamic Programming Approach   </a:t>
            </a:r>
            <a:r>
              <a:rPr lang="en-US" altLang="en-US" sz="2000" smtClean="0"/>
              <a:t>…contd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Key observation: parenthesizations of the subchains </a:t>
            </a:r>
            <a:r>
              <a:rPr lang="en-US" altLang="en-US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k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and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baseline="-25000" smtClean="0"/>
              <a:t>+1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baseline="-25000" smtClean="0"/>
              <a:t>+2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n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must also be optimal if the parenthesization of the chain </a:t>
            </a:r>
            <a:r>
              <a:rPr lang="en-US" altLang="en-US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n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is optimal (why?)</a:t>
            </a:r>
          </a:p>
          <a:p>
            <a:pPr marL="990600" lvl="1" indent="-533400" eaLnBrk="1" hangingPunct="1"/>
            <a:endParaRPr lang="en-US" altLang="en-US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That is, the optimal solution to the problem contains within it the optimal solution to subproblems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Dynamic Programming Approach </a:t>
            </a:r>
            <a:r>
              <a:rPr lang="en-US" altLang="en-US" sz="2000" smtClean="0"/>
              <a:t>…contd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 marL="609600" indent="-609600" eaLnBrk="1" hangingPunct="1"/>
            <a:r>
              <a:rPr lang="en-US" altLang="en-US" smtClean="0">
                <a:solidFill>
                  <a:srgbClr val="0099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Recursive definition of the value of an optimal solution</a:t>
            </a: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Let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] be the minimum number of scalar multiplications necessary to compute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n-US" altLang="en-US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Minimum cost to compute A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is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[1,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]</a:t>
            </a:r>
          </a:p>
          <a:p>
            <a:pPr marL="990600" lvl="1" indent="-533400" eaLnBrk="1" hangingPunct="1"/>
            <a:r>
              <a:rPr lang="en-US" altLang="en-US" smtClean="0"/>
              <a:t>Suppose the optimal parenthesization of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mtClean="0"/>
              <a:t>splits the product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between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smtClean="0"/>
              <a:t>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and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baseline="-25000" smtClean="0"/>
              <a:t>+1</a:t>
            </a:r>
            <a:r>
              <a:rPr lang="en-US" altLang="en-US" smtClean="0"/>
              <a:t>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for some integer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where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≤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Dynamic Programming Approach </a:t>
            </a:r>
            <a:r>
              <a:rPr lang="en-US" altLang="en-US" sz="2000" smtClean="0"/>
              <a:t>…contd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8915400" cy="4495800"/>
          </a:xfrm>
        </p:spPr>
        <p:txBody>
          <a:bodyPr/>
          <a:lstStyle/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mtClean="0"/>
              <a:t>= (A</a:t>
            </a:r>
            <a:r>
              <a:rPr lang="en-US" altLang="en-US" i="1" baseline="-25000" smtClean="0"/>
              <a:t>i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baseline="-25000" smtClean="0"/>
              <a:t>+1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k</a:t>
            </a:r>
            <a:r>
              <a:rPr lang="en-US" altLang="en-US" smtClean="0"/>
              <a:t>)</a:t>
            </a:r>
            <a:r>
              <a:rPr lang="en-US" altLang="en-US" smtClean="0">
                <a:cs typeface="Arial" panose="020B0604020202020204" pitchFamily="34" charset="0"/>
              </a:rPr>
              <a:t>·</a:t>
            </a:r>
            <a:r>
              <a:rPr lang="en-US" altLang="en-US" smtClean="0"/>
              <a:t>(A</a:t>
            </a:r>
            <a:r>
              <a:rPr lang="en-US" altLang="en-US" i="1" baseline="-25000" smtClean="0"/>
              <a:t>k</a:t>
            </a:r>
            <a:r>
              <a:rPr lang="en-US" altLang="en-US" baseline="-25000" smtClean="0"/>
              <a:t>+1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k</a:t>
            </a:r>
            <a:r>
              <a:rPr lang="en-US" altLang="en-US" baseline="-25000" smtClean="0"/>
              <a:t>+2</a:t>
            </a:r>
            <a:r>
              <a:rPr lang="en-US" altLang="en-US" smtClean="0"/>
              <a:t>…A</a:t>
            </a:r>
            <a:r>
              <a:rPr lang="en-US" altLang="en-US" i="1" baseline="-25000" smtClean="0"/>
              <a:t>j</a:t>
            </a:r>
            <a:r>
              <a:rPr lang="en-US" altLang="en-US" smtClean="0"/>
              <a:t>)=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·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+1..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Cost of computing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= cost of computing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+ cost of computing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+1..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+ cost of multiplying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and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+1..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Cost of multiplying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and A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+1..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is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k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i="1" baseline="-25000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</a:p>
          <a:p>
            <a:pPr marL="990600" lvl="1" indent="-533400" eaLnBrk="1" hangingPunct="1"/>
            <a:endParaRPr lang="en-US" altLang="en-US" i="1" baseline="-25000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j 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] =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] +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+1,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j 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] +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i="1" baseline="-25000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baseline="-25000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i="1" baseline="-25000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i="1" baseline="-25000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j 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       for i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≤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i="1" smtClean="0">
                <a:solidFill>
                  <a:srgbClr val="CC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n-US" altLang="en-US" smtClean="0">
              <a:solidFill>
                <a:srgbClr val="CC6600"/>
              </a:solidFill>
            </a:endParaRPr>
          </a:p>
          <a:p>
            <a:pPr marL="990600" lvl="1" indent="-533400" eaLnBrk="1" hangingPunct="1"/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] = 0 for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=1,2,…,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Dynamic Programming Approach </a:t>
            </a:r>
            <a:r>
              <a:rPr lang="en-US" altLang="en-US" sz="2000" smtClean="0"/>
              <a:t>…contd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676400"/>
          </a:xfrm>
        </p:spPr>
        <p:txBody>
          <a:bodyPr/>
          <a:lstStyle/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But</a:t>
            </a:r>
            <a:r>
              <a:rPr lang="en-US" altLang="en-US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optimal parenthesization occurs at one value of k among all possible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≤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n-US" altLang="en-US" smtClean="0"/>
          </a:p>
          <a:p>
            <a:pPr marL="990600" lvl="1" indent="-533400"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Check all these and select the best one</a:t>
            </a:r>
          </a:p>
          <a:p>
            <a:pPr marL="990600" lvl="1" indent="-533400" eaLnBrk="1" hangingPunct="1"/>
            <a:endParaRPr lang="en-US" altLang="en-US" i="1" smtClean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21188" name="Text Box 4"/>
          <p:cNvSpPr txBox="1">
            <a:spLocks noChangeArrowheads="1"/>
          </p:cNvSpPr>
          <p:nvPr/>
        </p:nvSpPr>
        <p:spPr bwMode="auto">
          <a:xfrm>
            <a:off x="228600" y="434340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</a:rPr>
              <a:t> ] =</a:t>
            </a:r>
          </a:p>
        </p:txBody>
      </p:sp>
      <p:sp>
        <p:nvSpPr>
          <p:cNvPr id="221189" name="Text Box 5"/>
          <p:cNvSpPr txBox="1">
            <a:spLocks noChangeArrowheads="1"/>
          </p:cNvSpPr>
          <p:nvPr/>
        </p:nvSpPr>
        <p:spPr bwMode="auto">
          <a:xfrm>
            <a:off x="2057400" y="3962400"/>
            <a:ext cx="693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</a:rPr>
              <a:t>0 					            if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21190" name="Text Box 6"/>
          <p:cNvSpPr txBox="1">
            <a:spLocks noChangeArrowheads="1"/>
          </p:cNvSpPr>
          <p:nvPr/>
        </p:nvSpPr>
        <p:spPr bwMode="auto">
          <a:xfrm>
            <a:off x="1981200" y="45720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min 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+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+1,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+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b="0" i="1" baseline="-2500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b="0" baseline="-2500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b="0" i="1" baseline="-2500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b="0" i="1" baseline="-2500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b="0">
                <a:solidFill>
                  <a:srgbClr val="3333FF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b="0" i="1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524000" y="51054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1193" name="Text Box 9"/>
          <p:cNvSpPr txBox="1">
            <a:spLocks noChangeArrowheads="1"/>
          </p:cNvSpPr>
          <p:nvPr/>
        </p:nvSpPr>
        <p:spPr bwMode="auto">
          <a:xfrm>
            <a:off x="1828800" y="5029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b="0" i="1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b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solidFill>
                  <a:srgbClr val="3333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≤ </a:t>
            </a:r>
            <a:r>
              <a:rPr lang="en-US" altLang="en-US" sz="2400" b="0" i="1">
                <a:solidFill>
                  <a:srgbClr val="3333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0">
                <a:solidFill>
                  <a:srgbClr val="3333FF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en-US" sz="2400" b="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400" b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21194" name="AutoShape 10"/>
          <p:cNvSpPr>
            <a:spLocks/>
          </p:cNvSpPr>
          <p:nvPr/>
        </p:nvSpPr>
        <p:spPr bwMode="auto">
          <a:xfrm>
            <a:off x="1752600" y="41910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9525">
            <a:solidFill>
              <a:srgbClr val="3333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1195" name="Rectangle 11"/>
          <p:cNvSpPr>
            <a:spLocks noChangeArrowheads="1"/>
          </p:cNvSpPr>
          <p:nvPr/>
        </p:nvSpPr>
        <p:spPr bwMode="auto">
          <a:xfrm>
            <a:off x="228600" y="3505200"/>
            <a:ext cx="86868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8" grpId="0"/>
      <p:bldP spid="221189" grpId="0"/>
      <p:bldP spid="221190" grpId="0"/>
      <p:bldP spid="221193" grpId="0"/>
      <p:bldP spid="221194" grpId="0" animBg="1"/>
      <p:bldP spid="22119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Dynamic Programming Approach </a:t>
            </a:r>
            <a:r>
              <a:rPr lang="en-US" altLang="en-US" sz="2000" smtClean="0"/>
              <a:t>…contd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marL="609600" indent="-6096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To keep track of how to construct an optimal solution, we use a table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</a:p>
          <a:p>
            <a:pPr marL="609600" indent="-609600" eaLnBrk="1" hangingPunct="1">
              <a:buClr>
                <a:schemeClr val="tx1"/>
              </a:buClr>
            </a:pP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j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] = value of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at which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A</a:t>
            </a:r>
            <a:r>
              <a:rPr lang="en-US" altLang="en-US" i="1" baseline="-25000" smtClean="0"/>
              <a:t>i</a:t>
            </a:r>
            <a:r>
              <a:rPr lang="en-US" altLang="en-US" baseline="-25000" smtClean="0"/>
              <a:t>+1</a:t>
            </a:r>
            <a:r>
              <a:rPr lang="en-US" altLang="en-US" smtClean="0"/>
              <a:t> … A</a:t>
            </a:r>
            <a:r>
              <a:rPr lang="en-US" altLang="en-US" i="1" baseline="-25000" smtClean="0"/>
              <a:t>j</a:t>
            </a:r>
            <a:r>
              <a:rPr lang="en-US" altLang="en-US" smtClean="0"/>
              <a:t>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is split for optimal parenthesization</a:t>
            </a:r>
          </a:p>
          <a:p>
            <a:pPr marL="609600" indent="-6096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Algorithm: next slide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First computes costs for chains of length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Then for chains of length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=2,3, … and so on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Computes the optimal cost bottom-up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Algorithm to Compute Optimal Cost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Input: Array 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[0…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] containing matrix dimensions and 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Result: Minimum-cost table 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and split table 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en-US" sz="2000" smtClean="0">
              <a:latin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000" smtClean="0">
                <a:solidFill>
                  <a:srgbClr val="3333FF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MATRIX-CHAIN-ORDER</a:t>
            </a: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[ ], </a:t>
            </a:r>
            <a:r>
              <a:rPr lang="en-US" altLang="en-US" sz="2000" i="1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400" smtClean="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000" smtClean="0">
                <a:latin typeface="Times New Roman" panose="02020603050405020304" pitchFamily="18" charset="0"/>
              </a:rPr>
              <a:t>for </a:t>
            </a:r>
            <a:r>
              <a:rPr lang="en-US" altLang="en-US" sz="2000" i="1" smtClean="0">
                <a:latin typeface="Times New Roman" panose="02020603050405020304" pitchFamily="18" charset="0"/>
              </a:rPr>
              <a:t>i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1 to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		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i, i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0 </a:t>
            </a:r>
            <a:endParaRPr lang="en-US" altLang="en-US" sz="2000" i="1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latin typeface="Times New Roman" panose="02020603050405020304" pitchFamily="18" charset="0"/>
              </a:rPr>
              <a:t>	for </a:t>
            </a:r>
            <a:r>
              <a:rPr lang="en-US" altLang="en-US" sz="2000" i="1" smtClean="0">
                <a:latin typeface="Times New Roman" panose="02020603050405020304" pitchFamily="18" charset="0"/>
              </a:rPr>
              <a:t>l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2 to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endParaRPr lang="en-US" altLang="en-US" sz="2000" smtClean="0"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latin typeface="Times New Roman" panose="02020603050405020304" pitchFamily="18" charset="0"/>
              </a:rPr>
              <a:t>		for </a:t>
            </a:r>
            <a:r>
              <a:rPr lang="en-US" altLang="en-US" sz="2000" i="1" smtClean="0">
                <a:latin typeface="Times New Roman" panose="02020603050405020304" pitchFamily="18" charset="0"/>
              </a:rPr>
              <a:t>i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1 to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n-l+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i="1" smtClean="0">
                <a:latin typeface="Times New Roman" panose="02020603050405020304" pitchFamily="18" charset="0"/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+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-1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i, 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</a:t>
            </a:r>
            <a:r>
              <a:rPr lang="en-US" altLang="en-US" sz="2000" smtClean="0">
                <a:sym typeface="Symbol" panose="05050102010706020507" pitchFamily="18" charset="2"/>
              </a:rPr>
              <a:t></a:t>
            </a:r>
            <a:endParaRPr lang="en-US" altLang="en-US" sz="20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2000" smtClean="0">
                <a:latin typeface="Times New Roman" panose="02020603050405020304" pitchFamily="18" charset="0"/>
              </a:rPr>
              <a:t>for </a:t>
            </a:r>
            <a:r>
              <a:rPr lang="en-US" altLang="en-US" sz="2000" i="1" smtClean="0">
                <a:latin typeface="Times New Roman" panose="02020603050405020304" pitchFamily="18" charset="0"/>
              </a:rPr>
              <a:t>k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 to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j-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q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 ←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i, k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 + 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+1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, 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 + p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-1]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endParaRPr lang="en-US" altLang="en-US" sz="2000" baseline="-250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q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 &lt;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i, 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endParaRPr lang="en-US" altLang="en-US" sz="2000" i="1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					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i, 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q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					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i, j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←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en-US" sz="2000" i="1" smtClean="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5257800" y="2286000"/>
            <a:ext cx="3352800" cy="10144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Takes </a:t>
            </a:r>
            <a:r>
              <a:rPr lang="en-US" altLang="en-US" sz="2400" b="0" i="1">
                <a:latin typeface="Times New Roman" panose="02020603050405020304" pitchFamily="18" charset="0"/>
              </a:rPr>
              <a:t>O</a:t>
            </a:r>
            <a:r>
              <a:rPr lang="en-US" altLang="en-US" sz="2400" b="0">
                <a:latin typeface="Times New Roman" panose="02020603050405020304" pitchFamily="18" charset="0"/>
              </a:rPr>
              <a:t>(</a:t>
            </a:r>
            <a:r>
              <a:rPr lang="en-US" altLang="en-US" sz="2400" b="0" i="1">
                <a:latin typeface="Times New Roman" panose="02020603050405020304" pitchFamily="18" charset="0"/>
              </a:rPr>
              <a:t>n</a:t>
            </a:r>
            <a:r>
              <a:rPr lang="en-US" altLang="en-US" sz="2400" b="0" baseline="30000">
                <a:latin typeface="Times New Roman" panose="02020603050405020304" pitchFamily="18" charset="0"/>
              </a:rPr>
              <a:t>3</a:t>
            </a:r>
            <a:r>
              <a:rPr lang="en-US" altLang="en-US" sz="2400" b="0">
                <a:latin typeface="Times New Roman" panose="02020603050405020304" pitchFamily="18" charset="0"/>
              </a:rPr>
              <a:t>) time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Requires </a:t>
            </a:r>
            <a:r>
              <a:rPr lang="en-US" altLang="en-US" sz="2400" b="0" i="1">
                <a:latin typeface="Times New Roman" panose="02020603050405020304" pitchFamily="18" charset="0"/>
              </a:rPr>
              <a:t>O</a:t>
            </a:r>
            <a:r>
              <a:rPr lang="en-US" altLang="en-US" sz="2400" b="0">
                <a:latin typeface="Times New Roman" panose="02020603050405020304" pitchFamily="18" charset="0"/>
              </a:rPr>
              <a:t>(</a:t>
            </a:r>
            <a:r>
              <a:rPr lang="en-US" altLang="en-US" sz="2400" b="0" i="1">
                <a:latin typeface="Times New Roman" panose="02020603050405020304" pitchFamily="18" charset="0"/>
              </a:rPr>
              <a:t>n</a:t>
            </a:r>
            <a:r>
              <a:rPr lang="en-US" altLang="en-US" sz="2400" b="0" baseline="30000">
                <a:latin typeface="Times New Roman" panose="02020603050405020304" pitchFamily="18" charset="0"/>
              </a:rPr>
              <a:t>2</a:t>
            </a:r>
            <a:r>
              <a:rPr lang="en-US" altLang="en-US" sz="2400" b="0">
                <a:latin typeface="Times New Roman" panose="02020603050405020304" pitchFamily="18" charset="0"/>
              </a:rPr>
              <a:t>)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Constructing Optimal Solution</a:t>
            </a:r>
            <a:endParaRPr lang="en-US" altLang="en-US" sz="200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 marL="609600" indent="-6096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Our algorithm computes the minimum-cost table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and the split table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endParaRPr lang="en-US" altLang="en-US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The optimal solution can be constructed from the split table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Each entry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]=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shows where to split the product </a:t>
            </a:r>
            <a:r>
              <a:rPr lang="en-US" altLang="en-US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A</a:t>
            </a:r>
            <a:r>
              <a:rPr lang="en-US" altLang="en-US" i="1" baseline="-25000" smtClean="0"/>
              <a:t>i</a:t>
            </a:r>
            <a:r>
              <a:rPr lang="en-US" altLang="en-US" baseline="-25000" smtClean="0"/>
              <a:t>+1</a:t>
            </a:r>
            <a:r>
              <a:rPr lang="en-US" altLang="en-US" smtClean="0"/>
              <a:t> … A</a:t>
            </a:r>
            <a:r>
              <a:rPr lang="en-US" altLang="en-US" i="1" baseline="-25000" smtClean="0"/>
              <a:t>j</a:t>
            </a:r>
            <a:r>
              <a:rPr lang="en-US" altLang="en-US" smtClean="0"/>
              <a:t>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for the minimum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  <a:endParaRPr lang="en-US" altLang="en-US" sz="2000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724400" cy="4525963"/>
          </a:xfrm>
        </p:spPr>
        <p:txBody>
          <a:bodyPr/>
          <a:lstStyle/>
          <a:p>
            <a:pPr marL="609600" indent="-6096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Show how to multiply this matrix chain optimally</a:t>
            </a:r>
          </a:p>
          <a:p>
            <a:pPr marL="609600" indent="-609600" eaLnBrk="1" hangingPunct="1">
              <a:buClr>
                <a:schemeClr val="tx1"/>
              </a:buClr>
            </a:pPr>
            <a:endParaRPr lang="en-US" altLang="en-US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Solution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Minimum cost 15,125</a:t>
            </a:r>
          </a:p>
          <a:p>
            <a:pPr marL="990600" lvl="1" indent="-533400" eaLnBrk="1" hangingPunct="1">
              <a:buClr>
                <a:schemeClr val="tx1"/>
              </a:buClr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Optimal parenthesization ((</a:t>
            </a:r>
            <a:r>
              <a:rPr lang="en-US" altLang="en-US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A</a:t>
            </a:r>
            <a:r>
              <a:rPr lang="en-US" altLang="en-US" baseline="-25000" smtClean="0"/>
              <a:t>3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))((</a:t>
            </a:r>
            <a:r>
              <a:rPr lang="en-US" altLang="en-US" smtClean="0"/>
              <a:t>A</a:t>
            </a:r>
            <a:r>
              <a:rPr lang="en-US" altLang="en-US" baseline="-25000" smtClean="0"/>
              <a:t>4 </a:t>
            </a:r>
            <a:r>
              <a:rPr lang="en-US" altLang="en-US" smtClean="0"/>
              <a:t>A</a:t>
            </a:r>
            <a:r>
              <a:rPr lang="en-US" altLang="en-US" baseline="-25000" smtClean="0"/>
              <a:t>5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mtClean="0"/>
              <a:t>A</a:t>
            </a:r>
            <a:r>
              <a:rPr lang="en-US" altLang="en-US" baseline="-25000" smtClean="0"/>
              <a:t>6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))</a:t>
            </a:r>
          </a:p>
        </p:txBody>
      </p:sp>
      <p:graphicFrame>
        <p:nvGraphicFramePr>
          <p:cNvPr id="223266" name="Group 34"/>
          <p:cNvGraphicFramePr>
            <a:graphicFrameLocks noGrp="1"/>
          </p:cNvGraphicFramePr>
          <p:nvPr>
            <p:ph sz="half" idx="2"/>
          </p:nvPr>
        </p:nvGraphicFramePr>
        <p:xfrm>
          <a:off x="5410200" y="1600200"/>
          <a:ext cx="3276600" cy="4525963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Matrix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Dimension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470" name="Line 35"/>
          <p:cNvSpPr>
            <a:spLocks noChangeShapeType="1"/>
          </p:cNvSpPr>
          <p:nvPr/>
        </p:nvSpPr>
        <p:spPr bwMode="auto">
          <a:xfrm>
            <a:off x="4114800" y="24384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charset="-120"/>
              </a:rPr>
              <a:t>Example:</a:t>
            </a:r>
          </a:p>
        </p:txBody>
      </p:sp>
      <p:sp>
        <p:nvSpPr>
          <p:cNvPr id="62467" name="Rectangle 5"/>
          <p:cNvSpPr>
            <a:spLocks noChangeArrowheads="1"/>
          </p:cNvSpPr>
          <p:nvPr/>
        </p:nvSpPr>
        <p:spPr bwMode="auto">
          <a:xfrm>
            <a:off x="0" y="2095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zh-TW" altLang="en-US" sz="2400" b="0">
              <a:latin typeface="Times New Roman" panose="02020603050405020304" pitchFamily="18" charset="0"/>
              <a:ea typeface="新細明體" charset="-120"/>
            </a:endParaRP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1979613" y="1447800"/>
          <a:ext cx="4248150" cy="386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9" name="方程式" r:id="rId3" imgW="2933700" imgH="2667000" progId="Equation.3">
                  <p:embed/>
                </p:oleObj>
              </mc:Choice>
              <mc:Fallback>
                <p:oleObj name="方程式" r:id="rId3" imgW="2933700" imgH="266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47800"/>
                        <a:ext cx="4248150" cy="386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/>
          <p:cNvSpPr>
            <a:spLocks noChangeArrowheads="1"/>
          </p:cNvSpPr>
          <p:nvPr/>
        </p:nvSpPr>
        <p:spPr bwMode="auto">
          <a:xfrm>
            <a:off x="0" y="409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zh-TW" altLang="en-US" sz="2400" b="0">
              <a:latin typeface="Times New Roman" panose="02020603050405020304" pitchFamily="18" charset="0"/>
              <a:ea typeface="新細明體" charset="-120"/>
            </a:endParaRPr>
          </a:p>
        </p:txBody>
      </p:sp>
      <p:pic>
        <p:nvPicPr>
          <p:cNvPr id="634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06688"/>
            <a:ext cx="8686800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Text Box 7"/>
          <p:cNvSpPr txBox="1">
            <a:spLocks noChangeArrowheads="1"/>
          </p:cNvSpPr>
          <p:nvPr/>
        </p:nvSpPr>
        <p:spPr bwMode="auto">
          <a:xfrm>
            <a:off x="4572000" y="838200"/>
            <a:ext cx="4495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2400" b="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the m and s table computed by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2400" b="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MATRIX-CHAIN-ORDER for n=6</a:t>
            </a:r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0" y="0"/>
            <a:ext cx="48768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Order		Matrix Size      Products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0">
                <a:latin typeface="Times New Roman" panose="02020603050405020304" pitchFamily="18" charset="0"/>
              </a:rPr>
              <a:t>A2 x A3 = 		35 x 5 	        2,625	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0">
                <a:latin typeface="Times New Roman" panose="02020603050405020304" pitchFamily="18" charset="0"/>
              </a:rPr>
              <a:t>A1 (A2 x A3) = 	30 X 5             5,250 + 2,625 </a:t>
            </a:r>
          </a:p>
        </p:txBody>
      </p:sp>
      <p:sp>
        <p:nvSpPr>
          <p:cNvPr id="63494" name="Freeform 5"/>
          <p:cNvSpPr>
            <a:spLocks/>
          </p:cNvSpPr>
          <p:nvPr/>
        </p:nvSpPr>
        <p:spPr bwMode="auto">
          <a:xfrm>
            <a:off x="990600" y="1066800"/>
            <a:ext cx="685800" cy="3276600"/>
          </a:xfrm>
          <a:custGeom>
            <a:avLst/>
            <a:gdLst>
              <a:gd name="T0" fmla="*/ 2147483646 w 1384"/>
              <a:gd name="T1" fmla="*/ 0 h 1584"/>
              <a:gd name="T2" fmla="*/ 2147483646 w 1384"/>
              <a:gd name="T3" fmla="*/ 2147483646 h 1584"/>
              <a:gd name="T4" fmla="*/ 2147483646 w 1384"/>
              <a:gd name="T5" fmla="*/ 2147483646 h 1584"/>
              <a:gd name="T6" fmla="*/ 2147483646 w 1384"/>
              <a:gd name="T7" fmla="*/ 2147483646 h 1584"/>
              <a:gd name="T8" fmla="*/ 2147483646 w 1384"/>
              <a:gd name="T9" fmla="*/ 2147483646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84"/>
              <a:gd name="T16" fmla="*/ 0 h 1584"/>
              <a:gd name="T17" fmla="*/ 1384 w 1384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84" h="1584">
                <a:moveTo>
                  <a:pt x="1384" y="0"/>
                </a:moveTo>
                <a:cubicBezTo>
                  <a:pt x="1264" y="176"/>
                  <a:pt x="1144" y="352"/>
                  <a:pt x="1000" y="432"/>
                </a:cubicBezTo>
                <a:cubicBezTo>
                  <a:pt x="856" y="512"/>
                  <a:pt x="672" y="472"/>
                  <a:pt x="520" y="480"/>
                </a:cubicBezTo>
                <a:cubicBezTo>
                  <a:pt x="368" y="488"/>
                  <a:pt x="0" y="296"/>
                  <a:pt x="88" y="480"/>
                </a:cubicBezTo>
                <a:cubicBezTo>
                  <a:pt x="176" y="664"/>
                  <a:pt x="612" y="1124"/>
                  <a:pt x="1048" y="1584"/>
                </a:cubicBezTo>
              </a:path>
            </a:pathLst>
          </a:custGeom>
          <a:noFill/>
          <a:ln w="38100" cmpd="sng">
            <a:solidFill>
              <a:schemeClr val="hlink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zh-TW" smtClean="0">
              <a:ea typeface="新細明體" charset="-12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[2,5]=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smtClean="0">
                <a:ea typeface="新細明體" charset="-120"/>
              </a:rPr>
              <a:t>min{</a:t>
            </a:r>
            <a:endParaRPr lang="en-US" altLang="zh-TW" sz="2400" i="1" smtClean="0">
              <a:ea typeface="新細明體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[2,2]+</a:t>
            </a: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[3,5]+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1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2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5</a:t>
            </a:r>
            <a:r>
              <a:rPr lang="en-US" altLang="zh-TW" sz="2400" smtClean="0">
                <a:ea typeface="新細明體" charset="-120"/>
              </a:rPr>
              <a:t>=0+2500+35</a:t>
            </a:r>
            <a:r>
              <a:rPr lang="en-US" altLang="zh-TW" sz="2400" smtClean="0">
                <a:ea typeface="新細明體" charset="-12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ea typeface="新細明體" charset="-120"/>
              </a:rPr>
              <a:t>15</a:t>
            </a:r>
            <a:r>
              <a:rPr lang="en-US" altLang="zh-TW" sz="2400" smtClean="0">
                <a:ea typeface="新細明體" charset="-12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ea typeface="新細明體" charset="-120"/>
              </a:rPr>
              <a:t>20=13000,</a:t>
            </a:r>
            <a:endParaRPr lang="en-US" altLang="zh-TW" sz="2400" i="1" smtClean="0">
              <a:ea typeface="新細明體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[2,3]+</a:t>
            </a: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[4,5]+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1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3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5</a:t>
            </a:r>
            <a:r>
              <a:rPr lang="en-US" altLang="zh-TW" sz="2400" smtClean="0">
                <a:ea typeface="新細明體" charset="-120"/>
              </a:rPr>
              <a:t>=2625+1000+35</a:t>
            </a:r>
            <a:r>
              <a:rPr lang="en-US" altLang="zh-TW" sz="2400" smtClean="0">
                <a:ea typeface="新細明體" charset="-12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ea typeface="新細明體" charset="-120"/>
              </a:rPr>
              <a:t>5</a:t>
            </a:r>
            <a:r>
              <a:rPr lang="en-US" altLang="zh-TW" sz="2400" smtClean="0">
                <a:ea typeface="新細明體" charset="-12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ea typeface="新細明體" charset="-120"/>
              </a:rPr>
              <a:t>20=7125,</a:t>
            </a:r>
            <a:endParaRPr lang="en-US" altLang="zh-TW" sz="2400" i="1" smtClean="0">
              <a:ea typeface="新細明體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[2,4]+</a:t>
            </a:r>
            <a:r>
              <a:rPr lang="en-US" altLang="zh-TW" sz="2400" i="1" smtClean="0">
                <a:ea typeface="新細明體" charset="-120"/>
              </a:rPr>
              <a:t>m</a:t>
            </a:r>
            <a:r>
              <a:rPr lang="en-US" altLang="zh-TW" sz="2400" smtClean="0">
                <a:ea typeface="新細明體" charset="-120"/>
              </a:rPr>
              <a:t>[5,5]+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1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4</a:t>
            </a:r>
            <a:r>
              <a:rPr lang="en-US" altLang="zh-TW" sz="2400" i="1" smtClean="0">
                <a:ea typeface="新細明體" charset="-120"/>
              </a:rPr>
              <a:t>p</a:t>
            </a:r>
            <a:r>
              <a:rPr lang="en-US" altLang="zh-TW" sz="2400" i="1" baseline="-25000" smtClean="0">
                <a:ea typeface="新細明體" charset="-120"/>
              </a:rPr>
              <a:t>5</a:t>
            </a:r>
            <a:r>
              <a:rPr lang="en-US" altLang="zh-TW" sz="2400" smtClean="0">
                <a:ea typeface="新細明體" charset="-120"/>
              </a:rPr>
              <a:t>=4375+0+35</a:t>
            </a:r>
            <a:r>
              <a:rPr lang="en-US" altLang="zh-TW" sz="2400" smtClean="0">
                <a:ea typeface="新細明體" charset="-12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ea typeface="新細明體" charset="-120"/>
              </a:rPr>
              <a:t>10</a:t>
            </a:r>
            <a:r>
              <a:rPr lang="en-US" altLang="zh-TW" sz="2400" smtClean="0">
                <a:ea typeface="新細明體" charset="-12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ea typeface="新細明體" charset="-120"/>
              </a:rPr>
              <a:t>20=11374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smtClean="0">
                <a:ea typeface="新細明體" charset="-120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smtClean="0">
                <a:ea typeface="新細明體" charset="-120"/>
              </a:rPr>
              <a:t>=7125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Constructing the optimal solution</a:t>
            </a:r>
          </a:p>
        </p:txBody>
      </p:sp>
      <p:pic>
        <p:nvPicPr>
          <p:cNvPr id="6553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63" y="2060575"/>
            <a:ext cx="57816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5540" name="Object 4"/>
          <p:cNvGraphicFramePr>
            <a:graphicFrameLocks noChangeAspect="1"/>
          </p:cNvGraphicFramePr>
          <p:nvPr>
            <p:ph idx="1"/>
          </p:nvPr>
        </p:nvGraphicFramePr>
        <p:xfrm>
          <a:off x="3276600" y="5029200"/>
          <a:ext cx="279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2" name="方程式" r:id="rId5" imgW="2794000" imgH="317500" progId="Equation.3">
                  <p:embed/>
                </p:oleObj>
              </mc:Choice>
              <mc:Fallback>
                <p:oleObj name="方程式" r:id="rId5" imgW="2794000" imgH="317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29200"/>
                        <a:ext cx="279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182688" y="1295400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altLang="zh-TW" sz="2800" b="1" kern="0" dirty="0">
                <a:latin typeface="+mn-lt"/>
              </a:rPr>
              <a:t>example: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Elements of dynamic programming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When should we look for a dynamic programming solution to a problem?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Two key ingredients?</a:t>
            </a:r>
          </a:p>
          <a:p>
            <a:pPr lvl="1" eaLnBrk="1" hangingPunct="1"/>
            <a:r>
              <a:rPr lang="en-US" altLang="en-US" smtClean="0"/>
              <a:t>	Optimal sub-structure</a:t>
            </a:r>
          </a:p>
          <a:p>
            <a:pPr lvl="1" eaLnBrk="1" hangingPunct="1"/>
            <a:r>
              <a:rPr lang="en-US" altLang="en-US" smtClean="0"/>
              <a:t>	Overlapping sub-problems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</a:t>
            </a:r>
            <a:r>
              <a:rPr lang="en-US" altLang="en-US" u="sng" smtClean="0"/>
              <a:t>Optimal sub-structure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u="sng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A problem exhibits optimal sub-structure, if an optimal solution to a problem contains within it optimal solutions to sub-problems.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noFill/>
        </p:spPr>
        <p:txBody>
          <a:bodyPr/>
          <a:lstStyle/>
          <a:p>
            <a:pPr eaLnBrk="1" hangingPunct="1"/>
            <a:r>
              <a:rPr lang="en-US" altLang="en-US" smtClean="0"/>
              <a:t>Elements of dynamic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graphicFrame>
        <p:nvGraphicFramePr>
          <p:cNvPr id="71683" name="Object 3"/>
          <p:cNvGraphicFramePr>
            <a:graphicFrameLocks noChangeAspect="1"/>
          </p:cNvGraphicFramePr>
          <p:nvPr>
            <p:ph idx="1"/>
          </p:nvPr>
        </p:nvGraphicFramePr>
        <p:xfrm>
          <a:off x="0" y="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4" name="Photo Editor Photo" r:id="rId4" imgW="6857143" imgH="5144218" progId="MSPhotoEd.3">
                  <p:embed/>
                </p:oleObj>
              </mc:Choice>
              <mc:Fallback>
                <p:oleObj name="Photo Editor Photo" r:id="rId4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Overlapping Sub problems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smtClean="0"/>
              <a:t>	</a:t>
            </a:r>
            <a:r>
              <a:rPr lang="en-US" smtClean="0"/>
              <a:t>Two ways of solving the same problem: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Top-down approach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This being based on recursion i.e. recursively solving the larger problem by breaking it down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Bottom-Up approach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This being based on dynamic programming. Starting with the smallest sub-problems, solving them and using their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 bldLvl="5"/>
      <p:bldP spid="90115" grpI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>
            <p:ph idx="1"/>
          </p:nvPr>
        </p:nvGraphicFramePr>
        <p:xfrm>
          <a:off x="0" y="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0" name="Photo Editor Photo" r:id="rId4" imgW="6857143" imgH="5144218" progId="MSPhotoEd.3">
                  <p:embed/>
                </p:oleObj>
              </mc:Choice>
              <mc:Fallback>
                <p:oleObj name="Photo Editor Photo" r:id="rId4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>
            <p:ph idx="1"/>
          </p:nvPr>
        </p:nvGraphicFramePr>
        <p:xfrm>
          <a:off x="0" y="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8" name="Photo Editor Photo" r:id="rId4" imgW="6857143" imgH="5144218" progId="MSPhotoEd.3">
                  <p:embed/>
                </p:oleObj>
              </mc:Choice>
              <mc:Fallback>
                <p:oleObj name="Photo Editor Photo" r:id="rId4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Overlapping Sub problems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600200"/>
            <a:ext cx="8991600" cy="114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Running time of recursive procedure, where </a:t>
            </a:r>
            <a:r>
              <a:rPr lang="en-US" altLang="en-US" smtClean="0">
                <a:cs typeface="Arial" panose="020B0604020202020204" pitchFamily="34" charset="0"/>
              </a:rPr>
              <a:t>T(n) is the running time of computing m[1,n] </a:t>
            </a:r>
            <a:r>
              <a:rPr lang="en-US" altLang="en-US" smtClean="0"/>
              <a:t>:</a:t>
            </a: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1187450" y="2613025"/>
          <a:ext cx="604837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9" name="方程式" r:id="rId4" imgW="5194300" imgH="965200" progId="Equation.3">
                  <p:embed/>
                </p:oleObj>
              </mc:Choice>
              <mc:Fallback>
                <p:oleObj name="方程式" r:id="rId4" imgW="5194300" imgH="965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613025"/>
                        <a:ext cx="604837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6"/>
          <p:cNvGraphicFramePr>
            <a:graphicFrameLocks noChangeAspect="1"/>
          </p:cNvGraphicFramePr>
          <p:nvPr/>
        </p:nvGraphicFramePr>
        <p:xfrm>
          <a:off x="3124200" y="4038600"/>
          <a:ext cx="266541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0" name="Equation" r:id="rId6" imgW="2070100" imgH="736600" progId="Equation.3">
                  <p:embed/>
                </p:oleObj>
              </mc:Choice>
              <mc:Fallback>
                <p:oleObj name="Equation" r:id="rId6" imgW="2070100" imgH="736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2665413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14400" y="2895600"/>
            <a:ext cx="7848600" cy="3200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altLang="zh-TW" sz="2800" b="1" kern="0" dirty="0">
                <a:latin typeface="+mn-lt"/>
              </a:rPr>
              <a:t>We can prove that </a:t>
            </a:r>
            <a:r>
              <a:rPr lang="en-US" altLang="zh-TW" sz="2800" b="1" i="1" kern="0" dirty="0"/>
              <a:t>T</a:t>
            </a:r>
            <a:r>
              <a:rPr lang="en-US" altLang="zh-TW" sz="2800" b="1" kern="0" dirty="0"/>
              <a:t>(</a:t>
            </a:r>
            <a:r>
              <a:rPr lang="en-US" altLang="zh-TW" sz="2800" b="1" i="1" kern="0" dirty="0"/>
              <a:t>n</a:t>
            </a:r>
            <a:r>
              <a:rPr lang="en-US" altLang="zh-TW" sz="2800" b="1" kern="0" dirty="0"/>
              <a:t>) =</a:t>
            </a:r>
            <a:r>
              <a:rPr lang="en-US" altLang="zh-TW" sz="2800" b="1" kern="0" dirty="0">
                <a:sym typeface="Symbol" pitchFamily="18" charset="2"/>
              </a:rPr>
              <a:t>(2</a:t>
            </a:r>
            <a:r>
              <a:rPr lang="en-US" altLang="zh-TW" sz="2800" b="1" i="1" kern="0" baseline="30000" dirty="0">
                <a:sym typeface="Symbol" pitchFamily="18" charset="2"/>
              </a:rPr>
              <a:t>n</a:t>
            </a:r>
            <a:r>
              <a:rPr lang="en-US" altLang="zh-TW" sz="2800" b="1" kern="0" dirty="0">
                <a:sym typeface="Symbol" pitchFamily="18" charset="2"/>
              </a:rPr>
              <a:t>)</a:t>
            </a:r>
            <a:r>
              <a:rPr lang="en-US" altLang="zh-TW" sz="2800" b="1" kern="0" dirty="0">
                <a:latin typeface="+mn-lt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  <a:p>
            <a:pPr marL="342900" indent="-342900" eaLnBrk="1" hangingPunct="1"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altLang="zh-TW" sz="2800" b="1" kern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bldLvl="5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zh-TW" smtClean="0">
              <a:ea typeface="新細明體" charset="-12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endParaRPr lang="en-US" altLang="zh-TW" smtClean="0">
              <a:ea typeface="新細明體" charset="-120"/>
            </a:endParaRPr>
          </a:p>
          <a:p>
            <a:pPr marL="609600" indent="-609600" eaLnBrk="1" hangingPunct="1"/>
            <a:endParaRPr lang="en-US" altLang="zh-TW" smtClean="0">
              <a:ea typeface="新細明體" charset="-120"/>
            </a:endParaRPr>
          </a:p>
          <a:p>
            <a:pPr marL="609600" indent="-609600" eaLnBrk="1" hangingPunct="1"/>
            <a:endParaRPr lang="en-US" altLang="zh-TW" smtClean="0">
              <a:ea typeface="新細明體" charset="-12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TW" smtClean="0">
              <a:ea typeface="新細明體" charset="-12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TW" smtClean="0">
              <a:ea typeface="新細明體" charset="-12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TW" smtClean="0">
              <a:ea typeface="新細明體" charset="-120"/>
            </a:endParaRPr>
          </a:p>
          <a:p>
            <a:pPr marL="609600" indent="-609600" eaLnBrk="1" hangingPunct="1"/>
            <a:endParaRPr lang="en-US" altLang="zh-TW" smtClean="0">
              <a:ea typeface="新細明體" charset="-120"/>
            </a:endParaRPr>
          </a:p>
        </p:txBody>
      </p:sp>
      <p:sp>
        <p:nvSpPr>
          <p:cNvPr id="81924" name="Rectangle 5"/>
          <p:cNvSpPr>
            <a:spLocks noChangeArrowheads="1"/>
          </p:cNvSpPr>
          <p:nvPr/>
        </p:nvSpPr>
        <p:spPr bwMode="auto">
          <a:xfrm>
            <a:off x="0" y="2671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zh-TW" altLang="en-US" sz="2400" b="0">
              <a:latin typeface="Times New Roman" panose="02020603050405020304" pitchFamily="18" charset="0"/>
              <a:ea typeface="新細明體" charset="-120"/>
            </a:endParaRPr>
          </a:p>
        </p:txBody>
      </p:sp>
      <p:graphicFrame>
        <p:nvGraphicFramePr>
          <p:cNvPr id="81925" name="Object 4"/>
          <p:cNvGraphicFramePr>
            <a:graphicFrameLocks noChangeAspect="1"/>
          </p:cNvGraphicFramePr>
          <p:nvPr/>
        </p:nvGraphicFramePr>
        <p:xfrm>
          <a:off x="1258888" y="2060575"/>
          <a:ext cx="5329237" cy="192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6" name="方程式" r:id="rId3" imgW="4191000" imgH="1511300" progId="Equation.3">
                  <p:embed/>
                </p:oleObj>
              </mc:Choice>
              <mc:Fallback>
                <p:oleObj name="方程式" r:id="rId3" imgW="4191000" imgH="151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060575"/>
                        <a:ext cx="5329237" cy="192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Overlapping Sub problems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915400" cy="4530725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Top-down approach Vs Bottom-Up approach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	Bottom-Up approach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More efficient because it takes advantage of the overlapping sub-problem property. There are only    </a:t>
            </a:r>
            <a:r>
              <a:rPr lang="el-GR" smtClean="0">
                <a:cs typeface="Arial" charset="0"/>
              </a:rPr>
              <a:t>θ</a:t>
            </a:r>
            <a:r>
              <a:rPr lang="en-US" smtClean="0">
                <a:cs typeface="Arial" charset="0"/>
              </a:rPr>
              <a:t>(n</a:t>
            </a:r>
            <a:r>
              <a:rPr lang="en-US" baseline="30000" smtClean="0">
                <a:cs typeface="Arial" charset="0"/>
              </a:rPr>
              <a:t>2</a:t>
            </a:r>
            <a:r>
              <a:rPr lang="en-US" smtClean="0">
                <a:cs typeface="Arial" charset="0"/>
              </a:rPr>
              <a:t>) different sub-problems. Each problem solved exactly once.</a:t>
            </a:r>
            <a:endParaRPr lang="el-GR" smtClean="0"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Top-down approach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Must repeatedly resolve each sub-problem, each time it reappears in the recursion.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bldLvl="5"/>
      <p:bldP spid="94211" grpI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Memoization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5307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mtClean="0"/>
              <a:t>A variation of Dynamic Programming and is TOP-DOWN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mtClean="0"/>
              <a:t>Memoize the natural, but inefficient, recursive algorithm.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mtClean="0"/>
              <a:t>Maintains an entry in the table for the solution to each sub-problem.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mtClean="0"/>
              <a:t>Offers efficiency while maintaining top-down strategy.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mtClean="0"/>
              <a:t> A special character stored at each empty solution space.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40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mtClean="0"/>
              <a:t> When the sub-problem is first encountered, it’s solution is computed and stored.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40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mtClean="0"/>
              <a:t> Each subsequent time the sub-problem is encountered, its solution is looked up.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40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mtClean="0"/>
              <a:t>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Time to search the sub-problem solutions?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Memoization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graphicFrame>
        <p:nvGraphicFramePr>
          <p:cNvPr id="89091" name="Object 3"/>
          <p:cNvGraphicFramePr>
            <a:graphicFrameLocks noChangeAspect="1"/>
          </p:cNvGraphicFramePr>
          <p:nvPr>
            <p:ph idx="1"/>
          </p:nvPr>
        </p:nvGraphicFramePr>
        <p:xfrm>
          <a:off x="0" y="-38100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2" name="Photo Editor Photo" r:id="rId4" imgW="6857143" imgH="5144218" progId="MSPhotoEd.3">
                  <p:embed/>
                </p:oleObj>
              </mc:Choice>
              <mc:Fallback>
                <p:oleObj name="Photo Editor Photo" r:id="rId4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-38100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Memoization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>
            <p:ph idx="1"/>
          </p:nvPr>
        </p:nvGraphicFramePr>
        <p:xfrm>
          <a:off x="0" y="22860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0" name="Photo Editor Photo" r:id="rId4" imgW="6857143" imgH="5144218" progId="MSPhotoEd.3">
                  <p:embed/>
                </p:oleObj>
              </mc:Choice>
              <mc:Fallback>
                <p:oleObj name="Photo Editor Photo" r:id="rId4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6753</TotalTime>
  <Pages>11</Pages>
  <Words>1802</Words>
  <Application>Microsoft Office PowerPoint</Application>
  <PresentationFormat>On-screen Show (4:3)</PresentationFormat>
  <Paragraphs>365</Paragraphs>
  <Slides>60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75" baseType="lpstr">
      <vt:lpstr>Times New Roman</vt:lpstr>
      <vt:lpstr>Arial</vt:lpstr>
      <vt:lpstr>Wingdings</vt:lpstr>
      <vt:lpstr>Times-Roman</vt:lpstr>
      <vt:lpstr>MT2MIT</vt:lpstr>
      <vt:lpstr>MT2MIS</vt:lpstr>
      <vt:lpstr>Calibri</vt:lpstr>
      <vt:lpstr>Times</vt:lpstr>
      <vt:lpstr>Times-Bold</vt:lpstr>
      <vt:lpstr>Symbol</vt:lpstr>
      <vt:lpstr>新細明體</vt:lpstr>
      <vt:lpstr>plsd</vt:lpstr>
      <vt:lpstr>Equation</vt:lpstr>
      <vt:lpstr>方程式</vt:lpstr>
      <vt:lpstr>Microsoft Photo Editor 3.0 Photo</vt:lpstr>
      <vt:lpstr>   Design and Analysis of Algorithms  Spring-2023</vt:lpstr>
      <vt:lpstr>Dynamic Programming</vt:lpstr>
      <vt:lpstr>Dynamic Programming</vt:lpstr>
      <vt:lpstr>PowerPoint Presentation</vt:lpstr>
      <vt:lpstr>Dynamic Programming</vt:lpstr>
      <vt:lpstr>Optimization Problems</vt:lpstr>
      <vt:lpstr>4 Steps of Dynamic Programming Algorithm</vt:lpstr>
      <vt:lpstr>PowerPoint Presentation</vt:lpstr>
      <vt:lpstr>PowerPoint Presentation</vt:lpstr>
      <vt:lpstr>Recursive Algorithm (seen earlier) </vt:lpstr>
      <vt:lpstr>Memoized Recursive Algorithm – Top Down (Simple recursion is top-down) </vt:lpstr>
      <vt:lpstr>PowerPoint Presentation</vt:lpstr>
      <vt:lpstr>PowerPoint Presentation</vt:lpstr>
      <vt:lpstr>Dynamic Programming</vt:lpstr>
      <vt:lpstr>Problem Statement</vt:lpstr>
      <vt:lpstr>PowerPoint Presentation</vt:lpstr>
      <vt:lpstr>4 inches rod: n=4</vt:lpstr>
      <vt:lpstr>PowerPoint Presentation</vt:lpstr>
      <vt:lpstr>PowerPoint Presentation</vt:lpstr>
      <vt:lpstr>Recursive top-down implementation</vt:lpstr>
      <vt:lpstr>PowerPoint Presentation</vt:lpstr>
      <vt:lpstr>PowerPoint Presentation</vt:lpstr>
      <vt:lpstr>Top Down with memoization</vt:lpstr>
      <vt:lpstr>PowerPoint Presentation</vt:lpstr>
      <vt:lpstr>Bottom Up</vt:lpstr>
      <vt:lpstr>Running Time</vt:lpstr>
      <vt:lpstr>Extended Bottom Up – storing sizes</vt:lpstr>
      <vt:lpstr>PowerPoint Presentation</vt:lpstr>
      <vt:lpstr>Matrix-chain Multiplication  </vt:lpstr>
      <vt:lpstr>Matrix-chain Multiplication   …contd  </vt:lpstr>
      <vt:lpstr>Matrix-chain Multiplication   …contd  </vt:lpstr>
      <vt:lpstr>Algorithm to Multiply 2 Matrices   </vt:lpstr>
      <vt:lpstr>Matrix-chain Multiplication    </vt:lpstr>
      <vt:lpstr>Matrix-chain Multiplication   …contd  </vt:lpstr>
      <vt:lpstr>Dynamic Programming Approach</vt:lpstr>
      <vt:lpstr>Dynamic Programming Approach   …contd</vt:lpstr>
      <vt:lpstr>Dynamic Programming Approach …contd</vt:lpstr>
      <vt:lpstr>Dynamic Programming Approach …contd</vt:lpstr>
      <vt:lpstr>Dynamic Programming Approach …contd</vt:lpstr>
      <vt:lpstr>Dynamic Programming Approach …contd</vt:lpstr>
      <vt:lpstr>Algorithm to Compute Optimal Cost</vt:lpstr>
      <vt:lpstr>Constructing Optimal Solution</vt:lpstr>
      <vt:lpstr>Example</vt:lpstr>
      <vt:lpstr>Example:</vt:lpstr>
      <vt:lpstr>PowerPoint Presentation</vt:lpstr>
      <vt:lpstr>PowerPoint Presentation</vt:lpstr>
      <vt:lpstr>Constructing the optimal solution</vt:lpstr>
      <vt:lpstr>Elements of dynamic programming</vt:lpstr>
      <vt:lpstr>Elements of dynamic programming</vt:lpstr>
      <vt:lpstr>PowerPoint Presentation</vt:lpstr>
      <vt:lpstr>Overlapping Sub problems</vt:lpstr>
      <vt:lpstr>PowerPoint Presentation</vt:lpstr>
      <vt:lpstr>PowerPoint Presentation</vt:lpstr>
      <vt:lpstr>Overlapping Sub problems</vt:lpstr>
      <vt:lpstr>PowerPoint Presentation</vt:lpstr>
      <vt:lpstr>Overlapping Sub problems</vt:lpstr>
      <vt:lpstr>Memoization</vt:lpstr>
      <vt:lpstr>Memoization</vt:lpstr>
      <vt:lpstr>PowerPoint Presentation</vt:lpstr>
      <vt:lpstr>Memoization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user1</cp:lastModifiedBy>
  <cp:revision>582</cp:revision>
  <cp:lastPrinted>1998-07-27T03:15:14Z</cp:lastPrinted>
  <dcterms:created xsi:type="dcterms:W3CDTF">1998-07-26T04:07:26Z</dcterms:created>
  <dcterms:modified xsi:type="dcterms:W3CDTF">2025-07-28T10:26:03Z</dcterms:modified>
</cp:coreProperties>
</file>