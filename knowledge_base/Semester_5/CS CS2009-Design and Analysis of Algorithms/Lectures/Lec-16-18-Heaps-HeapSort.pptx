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86" r:id="rId2"/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6" r:id="rId18"/>
    <p:sldId id="407" r:id="rId19"/>
    <p:sldId id="403" r:id="rId20"/>
    <p:sldId id="404" r:id="rId21"/>
    <p:sldId id="405" r:id="rId22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4" d="100"/>
          <a:sy n="74" d="100"/>
        </p:scale>
        <p:origin x="1374" y="72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image" Target="../media/image16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4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7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712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81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271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067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0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34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B389E9C-F0EC-4D27-9D56-A1D24072B0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E47A2-5547-4ADE-8C12-28B97C698107}" type="datetimeFigureOut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90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565A5F3-0F78-4E5F-A542-7F795E86F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CDA26-D0FA-4964-8440-44F131556640}" type="datetimeFigureOut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03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AA4E10F-DA4C-463E-9A80-D4C263E7A8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28E90-3222-4CAD-97E7-2BCB75045F4D}" type="datetimeFigureOut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25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63E7941-F7E0-488B-8144-96A0A21A5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6518B-25EB-404E-85F9-8CBA0D2EC6FE}" type="datetimeFigureOut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45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989D1922-2979-4673-A8A3-2368239666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F275C-F9E6-4EB8-86C5-CB6AE7DEC60E}" type="datetimeFigureOut">
              <a:rPr lang="en-US"/>
              <a:pPr>
                <a:defRPr/>
              </a:pPr>
              <a:t>7/28/2025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1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5.png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5" Type="http://schemas.openxmlformats.org/officeDocument/2006/relationships/image" Target="../media/image20.png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png"/><Relationship Id="rId1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 smtClean="0"/>
          </a:p>
          <a:p>
            <a:pPr>
              <a:lnSpc>
                <a:spcPct val="80000"/>
              </a:lnSpc>
            </a:pPr>
            <a:endParaRPr lang="en-US" altLang="en-US" sz="1000" smtClean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Special Types of Trees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331913"/>
            <a:ext cx="5299075" cy="5145087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rgbClr val="DD0111"/>
                </a:solidFill>
                <a:latin typeface="Monotype Corsiva" panose="03010101010201010101" pitchFamily="66" charset="0"/>
              </a:rPr>
              <a:t>Def:</a:t>
            </a:r>
            <a:r>
              <a:rPr lang="en-US" altLang="en-US" smtClean="0">
                <a:latin typeface="Monotype Corsiva" panose="03010101010201010101" pitchFamily="66" charset="0"/>
              </a:rPr>
              <a:t> </a:t>
            </a:r>
            <a:r>
              <a:rPr lang="en-US" altLang="en-US" smtClean="0">
                <a:latin typeface="Comic Sans MS" panose="030F0702030302020204" pitchFamily="66" charset="0"/>
              </a:rPr>
              <a:t>Full binary tree = </a:t>
            </a:r>
            <a:r>
              <a:rPr lang="en-US" altLang="en-US" smtClean="0"/>
              <a:t>a binary tree in which each node is either a leaf or has degree exactly 2.</a:t>
            </a:r>
          </a:p>
          <a:p>
            <a:pPr eaLnBrk="1" hangingPunct="1"/>
            <a:endParaRPr lang="en-US" altLang="en-US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altLang="en-US" smtClean="0">
                <a:solidFill>
                  <a:srgbClr val="DD0111"/>
                </a:solidFill>
                <a:latin typeface="Monotype Corsiva" panose="03010101010201010101" pitchFamily="66" charset="0"/>
              </a:rPr>
              <a:t>Def:</a:t>
            </a:r>
            <a:r>
              <a:rPr lang="en-US" altLang="en-US" smtClean="0">
                <a:latin typeface="Monotype Corsiva" panose="03010101010201010101" pitchFamily="66" charset="0"/>
              </a:rPr>
              <a:t> </a:t>
            </a:r>
            <a:r>
              <a:rPr lang="en-US" altLang="en-US" smtClean="0">
                <a:latin typeface="Comic Sans MS" panose="030F0702030302020204" pitchFamily="66" charset="0"/>
              </a:rPr>
              <a:t>Complete binary tree = </a:t>
            </a:r>
            <a:r>
              <a:rPr lang="en-US" altLang="en-US" smtClean="0"/>
              <a:t>a binary tree in which all leaves are on the same level and all internal nodes have degree 2.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5856288" y="1271588"/>
            <a:ext cx="2943225" cy="2225675"/>
            <a:chOff x="528" y="2486"/>
            <a:chExt cx="1854" cy="1402"/>
          </a:xfrm>
        </p:grpSpPr>
        <p:sp>
          <p:nvSpPr>
            <p:cNvPr id="10258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411" y="3272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9" name="Text Box 6"/>
            <p:cNvSpPr txBox="1">
              <a:spLocks noChangeArrowheads="1"/>
            </p:cNvSpPr>
            <p:nvPr/>
          </p:nvSpPr>
          <p:spPr bwMode="auto">
            <a:xfrm>
              <a:off x="853" y="3657"/>
              <a:ext cx="10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Full binary tree</a:t>
              </a:r>
            </a:p>
          </p:txBody>
        </p:sp>
        <p:sp>
          <p:nvSpPr>
            <p:cNvPr id="10260" name="Line 7"/>
            <p:cNvSpPr>
              <a:spLocks noChangeAspect="1" noChangeShapeType="1"/>
            </p:cNvSpPr>
            <p:nvPr/>
          </p:nvSpPr>
          <p:spPr bwMode="auto">
            <a:xfrm flipV="1">
              <a:off x="1242" y="3298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1" name="Line 8"/>
            <p:cNvSpPr>
              <a:spLocks noChangeAspect="1" noChangeShapeType="1"/>
            </p:cNvSpPr>
            <p:nvPr/>
          </p:nvSpPr>
          <p:spPr bwMode="auto">
            <a:xfrm flipV="1">
              <a:off x="1709" y="30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2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807" y="3257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3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49" y="300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4" name="Line 11"/>
            <p:cNvSpPr>
              <a:spLocks noChangeAspect="1" noChangeShapeType="1"/>
            </p:cNvSpPr>
            <p:nvPr/>
          </p:nvSpPr>
          <p:spPr bwMode="auto">
            <a:xfrm rot="16200000" flipV="1">
              <a:off x="1545" y="2554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5" name="Line 12"/>
            <p:cNvSpPr>
              <a:spLocks noChangeShapeType="1"/>
            </p:cNvSpPr>
            <p:nvPr/>
          </p:nvSpPr>
          <p:spPr bwMode="auto">
            <a:xfrm flipV="1">
              <a:off x="634" y="2582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Oval 13"/>
            <p:cNvSpPr>
              <a:spLocks noChangeArrowheads="1"/>
            </p:cNvSpPr>
            <p:nvPr/>
          </p:nvSpPr>
          <p:spPr bwMode="auto">
            <a:xfrm>
              <a:off x="778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10267" name="Oval 14"/>
            <p:cNvSpPr>
              <a:spLocks noChangeArrowheads="1"/>
            </p:cNvSpPr>
            <p:nvPr/>
          </p:nvSpPr>
          <p:spPr bwMode="auto">
            <a:xfrm>
              <a:off x="528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10268" name="Oval 15"/>
            <p:cNvSpPr>
              <a:spLocks noChangeArrowheads="1"/>
            </p:cNvSpPr>
            <p:nvPr/>
          </p:nvSpPr>
          <p:spPr bwMode="auto">
            <a:xfrm>
              <a:off x="97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10269" name="Oval 16"/>
            <p:cNvSpPr>
              <a:spLocks noChangeArrowheads="1"/>
            </p:cNvSpPr>
            <p:nvPr/>
          </p:nvSpPr>
          <p:spPr bwMode="auto">
            <a:xfrm>
              <a:off x="1066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10270" name="Oval 17"/>
            <p:cNvSpPr>
              <a:spLocks noChangeArrowheads="1"/>
            </p:cNvSpPr>
            <p:nvPr/>
          </p:nvSpPr>
          <p:spPr bwMode="auto">
            <a:xfrm>
              <a:off x="135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10271" name="Oval 18"/>
            <p:cNvSpPr>
              <a:spLocks noChangeArrowheads="1"/>
            </p:cNvSpPr>
            <p:nvPr/>
          </p:nvSpPr>
          <p:spPr bwMode="auto">
            <a:xfrm>
              <a:off x="121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10272" name="Oval 19"/>
            <p:cNvSpPr>
              <a:spLocks noChangeArrowheads="1"/>
            </p:cNvSpPr>
            <p:nvPr/>
          </p:nvSpPr>
          <p:spPr bwMode="auto">
            <a:xfrm>
              <a:off x="1522" y="24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10273" name="Oval 20"/>
            <p:cNvSpPr>
              <a:spLocks noChangeArrowheads="1"/>
            </p:cNvSpPr>
            <p:nvPr/>
          </p:nvSpPr>
          <p:spPr bwMode="auto">
            <a:xfrm>
              <a:off x="1928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10274" name="Oval 21"/>
            <p:cNvSpPr>
              <a:spLocks noChangeArrowheads="1"/>
            </p:cNvSpPr>
            <p:nvPr/>
          </p:nvSpPr>
          <p:spPr bwMode="auto">
            <a:xfrm>
              <a:off x="160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10275" name="Oval 22"/>
            <p:cNvSpPr>
              <a:spLocks noChangeArrowheads="1"/>
            </p:cNvSpPr>
            <p:nvPr/>
          </p:nvSpPr>
          <p:spPr bwMode="auto">
            <a:xfrm>
              <a:off x="2180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10276" name="Oval 23"/>
            <p:cNvSpPr>
              <a:spLocks noChangeArrowheads="1"/>
            </p:cNvSpPr>
            <p:nvPr/>
          </p:nvSpPr>
          <p:spPr bwMode="auto">
            <a:xfrm>
              <a:off x="1574" y="346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12</a:t>
              </a: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6078538" y="3873500"/>
            <a:ext cx="2546350" cy="2195513"/>
            <a:chOff x="3120" y="2496"/>
            <a:chExt cx="1604" cy="1383"/>
          </a:xfrm>
        </p:grpSpPr>
        <p:sp>
          <p:nvSpPr>
            <p:cNvPr id="10246" name="Line 25"/>
            <p:cNvSpPr>
              <a:spLocks noChangeShapeType="1"/>
            </p:cNvSpPr>
            <p:nvPr/>
          </p:nvSpPr>
          <p:spPr bwMode="auto">
            <a:xfrm flipV="1">
              <a:off x="3188" y="2592"/>
              <a:ext cx="81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47" name="Text Box 26"/>
            <p:cNvSpPr txBox="1">
              <a:spLocks noChangeArrowheads="1"/>
            </p:cNvSpPr>
            <p:nvPr/>
          </p:nvSpPr>
          <p:spPr bwMode="auto">
            <a:xfrm>
              <a:off x="3176" y="3648"/>
              <a:ext cx="14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Complete binary tree</a:t>
              </a:r>
            </a:p>
          </p:txBody>
        </p:sp>
        <p:sp>
          <p:nvSpPr>
            <p:cNvPr id="10248" name="Line 27"/>
            <p:cNvSpPr>
              <a:spLocks noChangeAspect="1" noChangeShapeType="1"/>
            </p:cNvSpPr>
            <p:nvPr/>
          </p:nvSpPr>
          <p:spPr bwMode="auto">
            <a:xfrm flipV="1">
              <a:off x="4051" y="302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49" name="Line 28"/>
            <p:cNvSpPr>
              <a:spLocks noChangeAspect="1" noChangeShapeType="1"/>
            </p:cNvSpPr>
            <p:nvPr/>
          </p:nvSpPr>
          <p:spPr bwMode="auto">
            <a:xfrm rot="16200000" flipV="1">
              <a:off x="3491" y="301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0" name="Line 29"/>
            <p:cNvSpPr>
              <a:spLocks noChangeAspect="1" noChangeShapeType="1"/>
            </p:cNvSpPr>
            <p:nvPr/>
          </p:nvSpPr>
          <p:spPr bwMode="auto">
            <a:xfrm rot="16200000" flipV="1">
              <a:off x="3887" y="2564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1" name="Oval 30"/>
            <p:cNvSpPr>
              <a:spLocks noChangeArrowheads="1"/>
            </p:cNvSpPr>
            <p:nvPr/>
          </p:nvSpPr>
          <p:spPr bwMode="auto">
            <a:xfrm>
              <a:off x="3120" y="320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10252" name="Oval 31"/>
            <p:cNvSpPr>
              <a:spLocks noChangeArrowheads="1"/>
            </p:cNvSpPr>
            <p:nvPr/>
          </p:nvSpPr>
          <p:spPr bwMode="auto">
            <a:xfrm>
              <a:off x="3408" y="292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10253" name="Oval 32"/>
            <p:cNvSpPr>
              <a:spLocks noChangeArrowheads="1"/>
            </p:cNvSpPr>
            <p:nvPr/>
          </p:nvSpPr>
          <p:spPr bwMode="auto">
            <a:xfrm>
              <a:off x="3696" y="320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10254" name="Oval 33"/>
            <p:cNvSpPr>
              <a:spLocks noChangeArrowheads="1"/>
            </p:cNvSpPr>
            <p:nvPr/>
          </p:nvSpPr>
          <p:spPr bwMode="auto">
            <a:xfrm>
              <a:off x="3864" y="24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10255" name="Oval 34"/>
            <p:cNvSpPr>
              <a:spLocks noChangeArrowheads="1"/>
            </p:cNvSpPr>
            <p:nvPr/>
          </p:nvSpPr>
          <p:spPr bwMode="auto">
            <a:xfrm>
              <a:off x="4270" y="292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10256" name="Oval 35"/>
            <p:cNvSpPr>
              <a:spLocks noChangeArrowheads="1"/>
            </p:cNvSpPr>
            <p:nvPr/>
          </p:nvSpPr>
          <p:spPr bwMode="auto">
            <a:xfrm>
              <a:off x="3946" y="320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10257" name="Oval 36"/>
            <p:cNvSpPr>
              <a:spLocks noChangeArrowheads="1"/>
            </p:cNvSpPr>
            <p:nvPr/>
          </p:nvSpPr>
          <p:spPr bwMode="auto">
            <a:xfrm>
              <a:off x="4522" y="320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Definitions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 smtClean="0"/>
              <a:t>Height of a node = the number of edges on the longest simple path from the node down to a leaf</a:t>
            </a:r>
          </a:p>
          <a:p>
            <a:pPr eaLnBrk="1" hangingPunct="1"/>
            <a:r>
              <a:rPr lang="en-US" altLang="en-US" smtClean="0"/>
              <a:t>Level of a node = the length of a path from the root to the node</a:t>
            </a:r>
          </a:p>
          <a:p>
            <a:pPr eaLnBrk="1" hangingPunct="1"/>
            <a:r>
              <a:rPr lang="en-US" altLang="en-US" smtClean="0"/>
              <a:t>Height of tree = height of root node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	</a:t>
            </a:r>
          </a:p>
        </p:txBody>
      </p:sp>
      <p:sp>
        <p:nvSpPr>
          <p:cNvPr id="12292" name="Line 4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3" name="Line 5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4" name="Line 6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5" name="Line 7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2</a:t>
            </a:r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14</a:t>
            </a:r>
          </a:p>
        </p:txBody>
      </p:sp>
      <p:sp>
        <p:nvSpPr>
          <p:cNvPr id="12299" name="Oval 11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8</a:t>
            </a:r>
          </a:p>
        </p:txBody>
      </p:sp>
      <p:sp>
        <p:nvSpPr>
          <p:cNvPr id="12300" name="Oval 12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</a:t>
            </a:r>
          </a:p>
        </p:txBody>
      </p:sp>
      <p:sp>
        <p:nvSpPr>
          <p:cNvPr id="12301" name="Oval 13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16</a:t>
            </a:r>
          </a:p>
        </p:txBody>
      </p:sp>
      <p:sp>
        <p:nvSpPr>
          <p:cNvPr id="12302" name="Oval 14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4</a:t>
            </a:r>
          </a:p>
        </p:txBody>
      </p:sp>
      <p:sp>
        <p:nvSpPr>
          <p:cNvPr id="12303" name="Oval 15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3</a:t>
            </a:r>
          </a:p>
        </p:txBody>
      </p:sp>
      <p:sp>
        <p:nvSpPr>
          <p:cNvPr id="12304" name="Oval 16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9</a:t>
            </a:r>
          </a:p>
        </p:txBody>
      </p:sp>
      <p:sp>
        <p:nvSpPr>
          <p:cNvPr id="12305" name="Oval 17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10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Height of root = 3</a:t>
            </a:r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Height of (2)= 1</a:t>
            </a:r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Level of (10)= 2</a:t>
            </a:r>
          </a:p>
        </p:txBody>
      </p:sp>
      <p:sp>
        <p:nvSpPr>
          <p:cNvPr id="12311" name="Line 23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Useful Properties</a:t>
            </a:r>
          </a:p>
        </p:txBody>
      </p:sp>
      <p:sp>
        <p:nvSpPr>
          <p:cNvPr id="14339" name="Line 3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0" name="Line 4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1" name="Line 5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2" name="Line 6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2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14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8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</a:t>
            </a:r>
          </a:p>
        </p:txBody>
      </p:sp>
      <p:sp>
        <p:nvSpPr>
          <p:cNvPr id="14348" name="Oval 12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16</a:t>
            </a:r>
          </a:p>
        </p:txBody>
      </p:sp>
      <p:sp>
        <p:nvSpPr>
          <p:cNvPr id="14349" name="Oval 13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4</a:t>
            </a:r>
          </a:p>
        </p:txBody>
      </p:sp>
      <p:sp>
        <p:nvSpPr>
          <p:cNvPr id="14350" name="Oval 14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3</a:t>
            </a:r>
          </a:p>
        </p:txBody>
      </p:sp>
      <p:sp>
        <p:nvSpPr>
          <p:cNvPr id="14351" name="Oval 15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9</a:t>
            </a:r>
          </a:p>
        </p:txBody>
      </p:sp>
      <p:sp>
        <p:nvSpPr>
          <p:cNvPr id="14352" name="Oval 16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10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Height of root = 3</a:t>
            </a: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Height of (2)= 1</a:t>
            </a:r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Level of (10)= 2</a:t>
            </a:r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4359" name="Picture 23"/>
          <p:cNvPicPr>
            <a:picLocks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4"/>
          <a:stretch>
            <a:fillRect/>
          </a:stretch>
        </p:blipFill>
        <p:spPr>
          <a:xfrm>
            <a:off x="457200" y="2046288"/>
            <a:ext cx="8229600" cy="1374775"/>
          </a:xfrm>
          <a:noFill/>
        </p:spPr>
      </p:pic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3241675" y="2590800"/>
            <a:ext cx="677863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 b="0"/>
              <a:t>height</a:t>
            </a:r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4630738" y="3048000"/>
            <a:ext cx="677862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 b="0"/>
              <a:t>height</a:t>
            </a:r>
          </a:p>
        </p:txBody>
      </p:sp>
      <p:graphicFrame>
        <p:nvGraphicFramePr>
          <p:cNvPr id="14362" name="Object 26"/>
          <p:cNvGraphicFramePr>
            <a:graphicFrameLocks noChangeAspect="1"/>
          </p:cNvGraphicFramePr>
          <p:nvPr/>
        </p:nvGraphicFramePr>
        <p:xfrm>
          <a:off x="714375" y="3578225"/>
          <a:ext cx="34305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5" imgW="1752600" imgH="444500" progId="Equation.DSMT4">
                  <p:embed/>
                </p:oleObj>
              </mc:Choice>
              <mc:Fallback>
                <p:oleObj name="Equation" r:id="rId5" imgW="1752600" imgH="4445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578225"/>
                        <a:ext cx="34305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AutoShape 27"/>
          <p:cNvSpPr>
            <a:spLocks noChangeArrowheads="1"/>
          </p:cNvSpPr>
          <p:nvPr/>
        </p:nvSpPr>
        <p:spPr bwMode="auto">
          <a:xfrm>
            <a:off x="314325" y="2336800"/>
            <a:ext cx="554038" cy="1246188"/>
          </a:xfrm>
          <a:prstGeom prst="curvedRightArrow">
            <a:avLst>
              <a:gd name="adj1" fmla="val 44986"/>
              <a:gd name="adj2" fmla="val 8997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2444750" y="5348288"/>
            <a:ext cx="234950" cy="201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Heap Data Structure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rgbClr val="DD0111"/>
                </a:solidFill>
                <a:latin typeface="Monotype Corsiva" panose="03010101010201010101" pitchFamily="66" charset="0"/>
              </a:rPr>
              <a:t>Def:</a:t>
            </a:r>
            <a:r>
              <a:rPr lang="en-US" altLang="en-US" smtClean="0">
                <a:latin typeface="Monotype Corsiva" panose="03010101010201010101" pitchFamily="66" charset="0"/>
              </a:rPr>
              <a:t> </a:t>
            </a:r>
            <a:r>
              <a:rPr lang="en-US" altLang="en-US" smtClean="0"/>
              <a:t>A heap is a </a:t>
            </a:r>
            <a:r>
              <a:rPr lang="en-US" altLang="en-US" u="sng" smtClean="0"/>
              <a:t>nearly complete</a:t>
            </a:r>
            <a:r>
              <a:rPr lang="en-US" altLang="en-US" smtClean="0"/>
              <a:t> binary tree with the following two properties:</a:t>
            </a:r>
          </a:p>
          <a:p>
            <a:pPr lvl="1" eaLnBrk="1" hangingPunct="1"/>
            <a:r>
              <a:rPr lang="en-US" altLang="en-US" smtClean="0"/>
              <a:t>Structural property: all levels are full, except possibly the last one, which is filled from left to right</a:t>
            </a:r>
          </a:p>
          <a:p>
            <a:pPr lvl="1" eaLnBrk="1" hangingPunct="1"/>
            <a:r>
              <a:rPr lang="en-US" altLang="en-US" smtClean="0"/>
              <a:t>Order (heap) property: for any node </a:t>
            </a:r>
            <a:r>
              <a:rPr lang="en-US" altLang="en-US" smtClean="0">
                <a:latin typeface="Comic Sans MS" panose="030F0702030302020204" pitchFamily="66" charset="0"/>
              </a:rPr>
              <a:t>x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		</a:t>
            </a:r>
            <a:r>
              <a:rPr lang="en-US" altLang="en-US" smtClean="0">
                <a:latin typeface="Comic Sans MS" panose="030F0702030302020204" pitchFamily="66" charset="0"/>
              </a:rPr>
              <a:t>Parent(x) ≥ x</a:t>
            </a: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1849438" y="4535488"/>
            <a:ext cx="1295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668588" y="598328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Heap</a:t>
            </a:r>
          </a:p>
        </p:txBody>
      </p:sp>
      <p:sp>
        <p:nvSpPr>
          <p:cNvPr id="16391" name="Line 7"/>
          <p:cNvSpPr>
            <a:spLocks noChangeAspect="1" noChangeShapeType="1"/>
          </p:cNvSpPr>
          <p:nvPr/>
        </p:nvSpPr>
        <p:spPr bwMode="auto">
          <a:xfrm rot="16200000" flipV="1">
            <a:off x="2971006" y="4479132"/>
            <a:ext cx="760413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1741488" y="551021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5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2198688" y="50688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7</a:t>
            </a:r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2922588" y="43830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8</a:t>
            </a:r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3567113" y="50688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4</a:t>
            </a:r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2595563" y="551021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2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564063" y="4467225"/>
            <a:ext cx="3759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/>
              <a:t>From the heap property, it follows that: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DD0111"/>
                </a:solidFill>
              </a:rPr>
              <a:t>“The root is the maximum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DD0111"/>
                </a:solidFill>
              </a:rPr>
              <a:t>element of the heap!”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1152525" y="6400800"/>
            <a:ext cx="620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DD0111"/>
                </a:solidFill>
              </a:rPr>
              <a:t>A heap is a binary tree that is filled in 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Array Representation of Heaps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>
            <p:ph sz="quarter" idx="1"/>
          </p:nvPr>
        </p:nvGraphicFramePr>
        <p:xfrm>
          <a:off x="5026025" y="2743200"/>
          <a:ext cx="3738563" cy="246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Paint Shop Pro Image" r:id="rId4" imgW="6829268" imgH="4497561" progId="PaintShopPro">
                  <p:embed/>
                </p:oleObj>
              </mc:Choice>
              <mc:Fallback>
                <p:oleObj name="Paint Shop Pro Image" r:id="rId4" imgW="6829268" imgH="4497561" progId="PaintShopPro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2743200"/>
                        <a:ext cx="3738563" cy="246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876800" y="1371600"/>
          <a:ext cx="4038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Paint Shop Pro Image" r:id="rId6" imgW="5590244" imgH="1590675" progId="PaintShopPro">
                  <p:embed/>
                </p:oleObj>
              </mc:Choice>
              <mc:Fallback>
                <p:oleObj name="Paint Shop Pro Image" r:id="rId6" imgW="5590244" imgH="1590675" progId="PaintShopPro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371600"/>
                        <a:ext cx="4038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5"/>
          <p:cNvSpPr>
            <a:spLocks noGrp="1" noChangeArrowheads="1"/>
          </p:cNvSpPr>
          <p:nvPr>
            <p:ph type="body" sz="half" idx="3"/>
          </p:nvPr>
        </p:nvSpPr>
        <p:spPr>
          <a:xfrm>
            <a:off x="228600" y="1117600"/>
            <a:ext cx="4572000" cy="52593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smtClean="0"/>
              <a:t>A heap can be stored as an array </a:t>
            </a:r>
            <a:r>
              <a:rPr lang="en-US" altLang="en-US" sz="2000" i="1" smtClean="0"/>
              <a:t>A</a:t>
            </a:r>
            <a:r>
              <a:rPr lang="en-US" altLang="en-US" sz="2000" smtClean="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Root of tree is </a:t>
            </a:r>
            <a:r>
              <a:rPr lang="en-US" altLang="en-US" sz="2000" smtClean="0">
                <a:latin typeface="Comic Sans MS" panose="030F0702030302020204" pitchFamily="66" charset="0"/>
              </a:rPr>
              <a:t>A[1]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Left child of </a:t>
            </a:r>
            <a:r>
              <a:rPr lang="en-US" altLang="en-US" sz="2000" smtClean="0">
                <a:latin typeface="Comic Sans MS" panose="030F0702030302020204" pitchFamily="66" charset="0"/>
              </a:rPr>
              <a:t>A[i] = A[2i]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Right child of </a:t>
            </a:r>
            <a:r>
              <a:rPr lang="en-US" altLang="en-US" sz="2000" smtClean="0">
                <a:latin typeface="Comic Sans MS" panose="030F0702030302020204" pitchFamily="66" charset="0"/>
              </a:rPr>
              <a:t>A[i] = A[2i+1]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Parent of </a:t>
            </a:r>
            <a:r>
              <a:rPr lang="en-US" altLang="en-US" sz="2000" smtClean="0">
                <a:latin typeface="Comic Sans MS" panose="030F0702030302020204" pitchFamily="66" charset="0"/>
              </a:rPr>
              <a:t>A[i] = A[ </a:t>
            </a:r>
            <a:r>
              <a:rPr lang="en-US" altLang="en-US" sz="2000" smtClean="0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 sz="2000" smtClean="0">
                <a:latin typeface="Comic Sans MS" panose="030F0702030302020204" pitchFamily="66" charset="0"/>
              </a:rPr>
              <a:t>i/2</a:t>
            </a:r>
            <a:r>
              <a:rPr lang="en-US" altLang="en-US" sz="2000" smtClean="0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 sz="2000" smtClean="0">
                <a:latin typeface="Comic Sans MS" panose="030F0702030302020204" pitchFamily="66" charset="0"/>
              </a:rPr>
              <a:t> ]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Heapsize[A] </a:t>
            </a:r>
            <a:r>
              <a:rPr lang="en-US" altLang="en-US" sz="2000" smtClean="0">
                <a:cs typeface="Arial" panose="020B0604020202020204" pitchFamily="34" charset="0"/>
              </a:rPr>
              <a:t>≤</a:t>
            </a:r>
            <a:r>
              <a:rPr lang="en-US" altLang="en-US" sz="2000" smtClean="0"/>
              <a:t> length[A]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smtClean="0"/>
              <a:t>The elements in the subarray </a:t>
            </a:r>
            <a:r>
              <a:rPr lang="en-US" altLang="en-US" sz="2000" smtClean="0">
                <a:latin typeface="Comic Sans MS" panose="030F0702030302020204" pitchFamily="66" charset="0"/>
              </a:rPr>
              <a:t>A[(</a:t>
            </a:r>
            <a:r>
              <a:rPr lang="en-US" altLang="en-US" sz="2000" smtClean="0">
                <a:latin typeface="Comic Sans MS" panose="030F0702030302020204" pitchFamily="66" charset="0"/>
                <a:sym typeface="Symbol" panose="05050102010706020507" pitchFamily="18" charset="2"/>
              </a:rPr>
              <a:t>n/2+1</a:t>
            </a:r>
            <a:r>
              <a:rPr lang="en-US" altLang="en-US" sz="2000" smtClean="0">
                <a:latin typeface="Comic Sans MS" panose="030F0702030302020204" pitchFamily="66" charset="0"/>
              </a:rPr>
              <a:t>) .. n]</a:t>
            </a:r>
            <a:r>
              <a:rPr lang="en-US" altLang="en-US" sz="2000" smtClean="0"/>
              <a:t> are leaves</a:t>
            </a:r>
          </a:p>
          <a:p>
            <a:pPr eaLnBrk="1" hangingPunct="1">
              <a:lnSpc>
                <a:spcPct val="120000"/>
              </a:lnSpc>
            </a:pPr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Heap Types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3886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Max-heaps (largest element at root), have the </a:t>
            </a:r>
            <a:r>
              <a:rPr lang="en-US" altLang="en-US" i="1" smtClean="0"/>
              <a:t>max-heap property: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mtClean="0"/>
              <a:t>for all nodes </a:t>
            </a:r>
            <a:r>
              <a:rPr lang="en-US" altLang="en-US" smtClean="0">
                <a:latin typeface="Comic Sans MS" panose="030F0702030302020204" pitchFamily="66" charset="0"/>
              </a:rPr>
              <a:t>i</a:t>
            </a:r>
            <a:r>
              <a:rPr lang="en-US" altLang="en-US" smtClean="0"/>
              <a:t>, excluding the root: 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latin typeface="Comic Sans MS" panose="030F0702030302020204" pitchFamily="66" charset="0"/>
              </a:rPr>
              <a:t>			A[PARENT(i)] ≥ A[i]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mtClean="0">
              <a:latin typeface="Comic Sans MS" panose="030F0702030302020204" pitchFamily="66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Min-heaps (smallest element at root), have the </a:t>
            </a:r>
            <a:r>
              <a:rPr lang="en-US" altLang="en-US" i="1" smtClean="0"/>
              <a:t>min-heap property: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mtClean="0"/>
              <a:t>for all nodes </a:t>
            </a:r>
            <a:r>
              <a:rPr lang="en-US" altLang="en-US" smtClean="0">
                <a:latin typeface="Comic Sans MS" panose="030F0702030302020204" pitchFamily="66" charset="0"/>
              </a:rPr>
              <a:t>i</a:t>
            </a:r>
            <a:r>
              <a:rPr lang="en-US" altLang="en-US" smtClean="0"/>
              <a:t>, excluding the root: 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latin typeface="Comic Sans MS" panose="030F0702030302020204" pitchFamily="66" charset="0"/>
              </a:rPr>
              <a:t>			A[PARENT(i)] ≤ A[i]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Adding/Deleting Nodes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New nodes are always inserted at the bottom level (left to right)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Nodes are removed from the bottom level (right to left)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757613"/>
            <a:ext cx="5319713" cy="28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Operations on Heaps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Maintain/Restore the max-heap property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mtClean="0">
                <a:solidFill>
                  <a:srgbClr val="336699"/>
                </a:solidFill>
              </a:rPr>
              <a:t>MAX-HEAPIFY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Create a max-heap from an unordered array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mtClean="0">
                <a:solidFill>
                  <a:srgbClr val="336699"/>
                </a:solidFill>
              </a:rPr>
              <a:t>BUILD-MAX-HEAP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Sort an array in place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mtClean="0">
                <a:solidFill>
                  <a:srgbClr val="336699"/>
                </a:solidFill>
              </a:rPr>
              <a:t>HEAPSORT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Priority queues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Maintaining the Heap Property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7175" y="1282700"/>
            <a:ext cx="5865813" cy="5334000"/>
          </a:xfrm>
        </p:spPr>
        <p:txBody>
          <a:bodyPr/>
          <a:lstStyle/>
          <a:p>
            <a:pPr marL="457200" indent="-457200" eaLnBrk="1" hangingPunct="1"/>
            <a:r>
              <a:rPr lang="en-US" altLang="en-US" smtClean="0"/>
              <a:t>Suppose a node is smaller than a child</a:t>
            </a:r>
          </a:p>
          <a:p>
            <a:pPr marL="838200" lvl="1" indent="-381000" eaLnBrk="1" hangingPunct="1"/>
            <a:r>
              <a:rPr lang="en-US" altLang="en-US" smtClean="0"/>
              <a:t>Left and Right subtrees of </a:t>
            </a:r>
            <a:r>
              <a:rPr lang="en-US" altLang="en-US" smtClean="0">
                <a:latin typeface="Comic Sans MS" panose="030F0702030302020204" pitchFamily="66" charset="0"/>
              </a:rPr>
              <a:t>i</a:t>
            </a:r>
            <a:r>
              <a:rPr lang="en-US" altLang="en-US" smtClean="0"/>
              <a:t> are max-heaps</a:t>
            </a:r>
          </a:p>
          <a:p>
            <a:pPr marL="457200" indent="-457200" eaLnBrk="1" hangingPunct="1"/>
            <a:r>
              <a:rPr lang="en-US" altLang="en-US" smtClean="0"/>
              <a:t>To eliminate the violation:</a:t>
            </a:r>
          </a:p>
          <a:p>
            <a:pPr marL="838200" lvl="1" indent="-381000" eaLnBrk="1" hangingPunct="1"/>
            <a:r>
              <a:rPr lang="en-US" altLang="en-US" smtClean="0"/>
              <a:t>Exchange with larger child</a:t>
            </a:r>
          </a:p>
          <a:p>
            <a:pPr marL="838200" lvl="1" indent="-381000" eaLnBrk="1" hangingPunct="1"/>
            <a:r>
              <a:rPr lang="en-US" altLang="en-US" smtClean="0"/>
              <a:t>Move down the tree</a:t>
            </a:r>
          </a:p>
          <a:p>
            <a:pPr marL="838200" lvl="1" indent="-381000" eaLnBrk="1" hangingPunct="1"/>
            <a:r>
              <a:rPr lang="en-US" altLang="en-US" smtClean="0"/>
              <a:t>Continue until node is not smaller than children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6351588" y="2141538"/>
          <a:ext cx="251460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2141538"/>
                        <a:ext cx="2514600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81000" y="1196975"/>
            <a:ext cx="267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 u="sng"/>
              <a:t>MAX-HEAPIFY(A, 2, 10)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835025" y="1752600"/>
            <a:ext cx="2752725" cy="1770063"/>
            <a:chOff x="288" y="1383"/>
            <a:chExt cx="2068" cy="1128"/>
          </a:xfrm>
        </p:grpSpPr>
        <p:graphicFrame>
          <p:nvGraphicFramePr>
            <p:cNvPr id="28687" name="Object 5"/>
            <p:cNvGraphicFramePr>
              <a:graphicFrameLocks noChangeAspect="1"/>
            </p:cNvGraphicFramePr>
            <p:nvPr/>
          </p:nvGraphicFramePr>
          <p:xfrm>
            <a:off x="355" y="1383"/>
            <a:ext cx="1950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9" name="Paint Shop Pro Image" r:id="rId4" imgW="5160976" imgH="3248780" progId="PaintShopPro">
                    <p:embed/>
                  </p:oleObj>
                </mc:Choice>
                <mc:Fallback>
                  <p:oleObj name="Paint Shop Pro Image" r:id="rId4" imgW="5160976" imgH="3248780" progId="PaintShopPro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" y="1383"/>
                          <a:ext cx="1950" cy="9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8" name="Text Box 6"/>
            <p:cNvSpPr txBox="1">
              <a:spLocks noChangeArrowheads="1"/>
            </p:cNvSpPr>
            <p:nvPr/>
          </p:nvSpPr>
          <p:spPr bwMode="auto">
            <a:xfrm>
              <a:off x="288" y="2218"/>
              <a:ext cx="2068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1800" b="0"/>
            </a:p>
          </p:txBody>
        </p:sp>
      </p:grp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3886200" y="2286000"/>
            <a:ext cx="1362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</a:rPr>
              <a:t>A[2] </a:t>
            </a:r>
            <a:r>
              <a:rPr lang="en-US" altLang="en-US" sz="1800" b="0">
                <a:solidFill>
                  <a:srgbClr val="DD0111"/>
                </a:solidFill>
                <a:sym typeface="Symbol" panose="05050102010706020507" pitchFamily="18" charset="2"/>
              </a:rPr>
              <a:t> A[4]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954713" y="1600200"/>
            <a:ext cx="2686050" cy="1760538"/>
            <a:chOff x="3420" y="1383"/>
            <a:chExt cx="2023" cy="1054"/>
          </a:xfrm>
        </p:grpSpPr>
        <p:graphicFrame>
          <p:nvGraphicFramePr>
            <p:cNvPr id="28685" name="Object 9"/>
            <p:cNvGraphicFramePr>
              <a:graphicFrameLocks noChangeAspect="1"/>
            </p:cNvGraphicFramePr>
            <p:nvPr/>
          </p:nvGraphicFramePr>
          <p:xfrm>
            <a:off x="3500" y="1383"/>
            <a:ext cx="1943" cy="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0" name="Paint Shop Pro Image" r:id="rId6" imgW="5141463" imgH="3248780" progId="PaintShopPro">
                    <p:embed/>
                  </p:oleObj>
                </mc:Choice>
                <mc:Fallback>
                  <p:oleObj name="Paint Shop Pro Image" r:id="rId6" imgW="5141463" imgH="3248780" progId="PaintShopPro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0" y="1383"/>
                          <a:ext cx="1943" cy="9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Text Box 10"/>
            <p:cNvSpPr txBox="1">
              <a:spLocks noChangeArrowheads="1"/>
            </p:cNvSpPr>
            <p:nvPr/>
          </p:nvSpPr>
          <p:spPr bwMode="auto">
            <a:xfrm>
              <a:off x="3420" y="2217"/>
              <a:ext cx="13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1800" b="0"/>
            </a:p>
          </p:txBody>
        </p:sp>
      </p:grp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1219200" y="4824413"/>
            <a:ext cx="1362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</a:rPr>
              <a:t>A[4] </a:t>
            </a:r>
            <a:r>
              <a:rPr lang="en-US" altLang="en-US" sz="1800" b="0">
                <a:solidFill>
                  <a:srgbClr val="DD0111"/>
                </a:solidFill>
                <a:sym typeface="Symbol" panose="05050102010706020507" pitchFamily="18" charset="2"/>
              </a:rPr>
              <a:t> A[9]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860675" y="4143375"/>
            <a:ext cx="3025775" cy="2095500"/>
            <a:chOff x="1802" y="2726"/>
            <a:chExt cx="1906" cy="1233"/>
          </a:xfrm>
        </p:grpSpPr>
        <p:graphicFrame>
          <p:nvGraphicFramePr>
            <p:cNvPr id="28683" name="Object 13"/>
            <p:cNvGraphicFramePr>
              <a:graphicFrameLocks noChangeAspect="1"/>
            </p:cNvGraphicFramePr>
            <p:nvPr/>
          </p:nvGraphicFramePr>
          <p:xfrm>
            <a:off x="1802" y="2726"/>
            <a:ext cx="1906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1" name="Paint Shop Pro Image" r:id="rId8" imgW="5043902" imgH="3229268" progId="PaintShopPro">
                    <p:embed/>
                  </p:oleObj>
                </mc:Choice>
                <mc:Fallback>
                  <p:oleObj name="Paint Shop Pro Image" r:id="rId8" imgW="5043902" imgH="3229268" progId="PaintShopPro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2" y="2726"/>
                          <a:ext cx="1906" cy="1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4" name="Text Box 14"/>
            <p:cNvSpPr txBox="1">
              <a:spLocks noChangeArrowheads="1"/>
            </p:cNvSpPr>
            <p:nvPr/>
          </p:nvSpPr>
          <p:spPr bwMode="auto">
            <a:xfrm>
              <a:off x="1890" y="3743"/>
              <a:ext cx="1596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Heap property restored</a:t>
              </a:r>
            </a:p>
          </p:txBody>
        </p:sp>
      </p:grpSp>
      <p:sp>
        <p:nvSpPr>
          <p:cNvPr id="28681" name="Text Box 15"/>
          <p:cNvSpPr txBox="1">
            <a:spLocks noChangeArrowheads="1"/>
          </p:cNvSpPr>
          <p:nvPr/>
        </p:nvSpPr>
        <p:spPr bwMode="auto">
          <a:xfrm>
            <a:off x="593725" y="3748088"/>
            <a:ext cx="328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A[2] violates the heap property</a:t>
            </a:r>
          </a:p>
        </p:txBody>
      </p:sp>
      <p:sp>
        <p:nvSpPr>
          <p:cNvPr id="28682" name="Text Box 16"/>
          <p:cNvSpPr txBox="1">
            <a:spLocks noChangeArrowheads="1"/>
          </p:cNvSpPr>
          <p:nvPr/>
        </p:nvSpPr>
        <p:spPr bwMode="auto">
          <a:xfrm>
            <a:off x="5638800" y="3733800"/>
            <a:ext cx="328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A[4] violates the heap property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5" grpId="0"/>
      <p:bldP spid="1556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Maintaining the Heap Property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025" y="1219200"/>
            <a:ext cx="3230563" cy="3133725"/>
          </a:xfrm>
        </p:spPr>
        <p:txBody>
          <a:bodyPr/>
          <a:lstStyle/>
          <a:p>
            <a:pPr marL="457200" indent="-457200" eaLnBrk="1" hangingPunct="1"/>
            <a:r>
              <a:rPr lang="en-US" altLang="en-US" smtClean="0">
                <a:solidFill>
                  <a:srgbClr val="336699"/>
                </a:solidFill>
              </a:rPr>
              <a:t>Assumptions:</a:t>
            </a:r>
          </a:p>
          <a:p>
            <a:pPr marL="838200" lvl="1" indent="-381000" eaLnBrk="1" hangingPunct="1"/>
            <a:r>
              <a:rPr lang="en-US" altLang="en-US" smtClean="0">
                <a:solidFill>
                  <a:srgbClr val="336699"/>
                </a:solidFill>
              </a:rPr>
              <a:t>Left and Right subtrees of </a:t>
            </a:r>
            <a:r>
              <a:rPr lang="en-US" altLang="en-US" smtClean="0">
                <a:solidFill>
                  <a:srgbClr val="336699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mtClean="0">
                <a:solidFill>
                  <a:srgbClr val="336699"/>
                </a:solidFill>
              </a:rPr>
              <a:t> are max-heaps</a:t>
            </a:r>
          </a:p>
          <a:p>
            <a:pPr marL="838200" lvl="1" indent="-381000" eaLnBrk="1" hangingPunct="1"/>
            <a:r>
              <a:rPr lang="en-US" altLang="en-US" smtClean="0">
                <a:solidFill>
                  <a:srgbClr val="336699"/>
                </a:solidFill>
                <a:latin typeface="Comic Sans MS" panose="030F0702030302020204" pitchFamily="66" charset="0"/>
              </a:rPr>
              <a:t>A[i]</a:t>
            </a:r>
            <a:r>
              <a:rPr lang="en-US" altLang="en-US" smtClean="0">
                <a:solidFill>
                  <a:srgbClr val="336699"/>
                </a:solidFill>
              </a:rPr>
              <a:t> may be smaller than its children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3392488" y="871538"/>
            <a:ext cx="5741987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en-US" b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400" b="0">
                <a:solidFill>
                  <a:srgbClr val="DD0111"/>
                </a:solidFill>
                <a:latin typeface="Monotype Corsiva" panose="03010101010201010101" pitchFamily="66" charset="0"/>
              </a:rPr>
              <a:t>Alg:</a:t>
            </a:r>
            <a:r>
              <a:rPr lang="en-US" altLang="en-US" sz="2400" b="0"/>
              <a:t> </a:t>
            </a:r>
            <a:r>
              <a:rPr lang="en-US" altLang="en-US" sz="2400" b="0" u="sng"/>
              <a:t>MAX-HEAPIFY(</a:t>
            </a:r>
            <a:r>
              <a:rPr lang="en-US" altLang="en-US" sz="2400" b="0" u="sng">
                <a:latin typeface="Comic Sans MS" panose="030F0702030302020204" pitchFamily="66" charset="0"/>
              </a:rPr>
              <a:t>A, i, n</a:t>
            </a:r>
            <a:r>
              <a:rPr lang="en-US" altLang="en-US" sz="2400" b="0" u="sng"/>
              <a:t>)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>
                <a:latin typeface="Comic Sans MS" panose="030F0702030302020204" pitchFamily="66" charset="0"/>
              </a:rPr>
              <a:t>l</a:t>
            </a:r>
            <a:r>
              <a:rPr lang="en-US" altLang="en-US" sz="2400" b="0"/>
              <a:t> ← LEFT(</a:t>
            </a:r>
            <a:r>
              <a:rPr lang="en-US" altLang="en-US" sz="2400" b="0">
                <a:latin typeface="Comic Sans MS" panose="030F0702030302020204" pitchFamily="66" charset="0"/>
              </a:rPr>
              <a:t>i</a:t>
            </a:r>
            <a:r>
              <a:rPr lang="en-US" altLang="en-US" sz="2400" b="0"/>
              <a:t>)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>
                <a:latin typeface="Comic Sans MS" panose="030F0702030302020204" pitchFamily="66" charset="0"/>
              </a:rPr>
              <a:t>r</a:t>
            </a:r>
            <a:r>
              <a:rPr lang="en-US" altLang="en-US" sz="2400" b="0"/>
              <a:t> ← RIGHT(</a:t>
            </a:r>
            <a:r>
              <a:rPr lang="en-US" altLang="en-US" sz="2400" b="0">
                <a:latin typeface="Comic Sans MS" panose="030F0702030302020204" pitchFamily="66" charset="0"/>
              </a:rPr>
              <a:t>i</a:t>
            </a:r>
            <a:r>
              <a:rPr lang="en-US" altLang="en-US" sz="2400" b="0"/>
              <a:t>)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/>
              <a:t>if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l ≤ n</a:t>
            </a:r>
            <a:r>
              <a:rPr lang="en-US" altLang="en-US" sz="2400" b="0"/>
              <a:t> and </a:t>
            </a:r>
            <a:r>
              <a:rPr lang="en-US" altLang="en-US" sz="2400" b="0">
                <a:latin typeface="Comic Sans MS" panose="030F0702030302020204" pitchFamily="66" charset="0"/>
              </a:rPr>
              <a:t>A[l] &gt; A[i]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/>
              <a:t>   </a:t>
            </a:r>
            <a:r>
              <a:rPr lang="en-US" altLang="en-US" sz="2400"/>
              <a:t>then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largest ←l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/>
              <a:t>   </a:t>
            </a:r>
            <a:r>
              <a:rPr lang="en-US" altLang="en-US" sz="2400"/>
              <a:t>else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largest ←i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/>
              <a:t>if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r ≤ n</a:t>
            </a:r>
            <a:r>
              <a:rPr lang="en-US" altLang="en-US" sz="2400" b="0"/>
              <a:t> and </a:t>
            </a:r>
            <a:r>
              <a:rPr lang="en-US" altLang="en-US" sz="2400" b="0">
                <a:latin typeface="Comic Sans MS" panose="030F0702030302020204" pitchFamily="66" charset="0"/>
              </a:rPr>
              <a:t>A[r] &gt; A[largest]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/>
              <a:t>   </a:t>
            </a:r>
            <a:r>
              <a:rPr lang="en-US" altLang="en-US" sz="2400"/>
              <a:t>then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largest ←r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/>
              <a:t>if</a:t>
            </a:r>
            <a:r>
              <a:rPr lang="en-US" altLang="en-US" sz="2400" b="0"/>
              <a:t> </a:t>
            </a:r>
            <a:r>
              <a:rPr lang="en-US" altLang="en-US" sz="2400" b="0">
                <a:latin typeface="Comic Sans MS" panose="030F0702030302020204" pitchFamily="66" charset="0"/>
              </a:rPr>
              <a:t>largest </a:t>
            </a:r>
            <a:r>
              <a:rPr lang="en-US" altLang="en-US" sz="2400" b="0">
                <a:latin typeface="Comic Sans MS" panose="030F0702030302020204" pitchFamily="66" charset="0"/>
                <a:sym typeface="Symbol" panose="05050102010706020507" pitchFamily="18" charset="2"/>
              </a:rPr>
              <a:t></a:t>
            </a:r>
            <a:r>
              <a:rPr lang="en-US" altLang="en-US" sz="2400" b="0">
                <a:latin typeface="Comic Sans MS" panose="030F0702030302020204" pitchFamily="66" charset="0"/>
              </a:rPr>
              <a:t> i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/>
              <a:t>   </a:t>
            </a:r>
            <a:r>
              <a:rPr lang="en-US" altLang="en-US" sz="2400"/>
              <a:t>then</a:t>
            </a:r>
            <a:r>
              <a:rPr lang="en-US" altLang="en-US" sz="2400" b="0"/>
              <a:t> exchange </a:t>
            </a:r>
            <a:r>
              <a:rPr lang="en-US" altLang="en-US" sz="2400" b="0">
                <a:latin typeface="Comic Sans MS" panose="030F0702030302020204" pitchFamily="66" charset="0"/>
              </a:rPr>
              <a:t>A[i] ↔ A[largest]</a:t>
            </a:r>
          </a:p>
          <a:p>
            <a:pPr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sz="2400" b="0"/>
              <a:t>            MAX-HEAPIFY(</a:t>
            </a:r>
            <a:r>
              <a:rPr lang="en-US" altLang="en-US" sz="2400" b="0">
                <a:latin typeface="Comic Sans MS" panose="030F0702030302020204" pitchFamily="66" charset="0"/>
              </a:rPr>
              <a:t>A, largest, n</a:t>
            </a:r>
            <a:r>
              <a:rPr lang="en-US" altLang="en-US" sz="2400" b="0"/>
              <a:t>)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647700" y="4084638"/>
          <a:ext cx="2514600" cy="164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4084638"/>
                        <a:ext cx="2514600" cy="164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MAX-HEAPIFY Running Time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066800"/>
            <a:ext cx="8229600" cy="52244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mtClean="0"/>
              <a:t>Intuitively:</a:t>
            </a:r>
          </a:p>
          <a:p>
            <a:pPr eaLnBrk="1" hangingPunct="1">
              <a:lnSpc>
                <a:spcPct val="150000"/>
              </a:lnSpc>
            </a:pPr>
            <a:endParaRPr lang="en-US" altLang="en-US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Running time of MAX-HEAPIFY is 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O(lgn)</a:t>
            </a:r>
            <a:r>
              <a:rPr lang="en-US" altLang="en-US" smtClean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Can be written in terms of the height of the heap, as being 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O(h)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sym typeface="Symbol" panose="05050102010706020507" pitchFamily="18" charset="2"/>
              </a:rPr>
              <a:t>Since the height of the heap is 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8" y="1957388"/>
            <a:ext cx="7605712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7975600" y="2003425"/>
            <a:ext cx="311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h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4967288" y="2509838"/>
            <a:ext cx="438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2h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3105150" y="2757488"/>
            <a:ext cx="633413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O(h</a:t>
            </a:r>
            <a:r>
              <a:rPr lang="en-US" altLang="en-US" sz="1600" b="0"/>
              <a:t>)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904875" y="191135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/>
              <a:t>-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884238" y="213995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/>
              <a:t>-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896938" y="23653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/>
              <a:t>-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887413" y="26447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/>
              <a:t>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Building a Heap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3716338"/>
            <a:ext cx="5334000" cy="1693862"/>
          </a:xfrm>
        </p:spPr>
        <p:txBody>
          <a:bodyPr/>
          <a:lstStyle/>
          <a:p>
            <a:pPr marL="533400" indent="-53340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DD0111"/>
                </a:solidFill>
                <a:latin typeface="Monotype Corsiva" panose="03010101010201010101" pitchFamily="66" charset="0"/>
              </a:rPr>
              <a:t>Alg:</a:t>
            </a:r>
            <a:r>
              <a:rPr lang="en-US" altLang="en-US" smtClean="0">
                <a:latin typeface="Monotype Corsiva" panose="03010101010201010101" pitchFamily="66" charset="0"/>
              </a:rPr>
              <a:t> </a:t>
            </a:r>
            <a:r>
              <a:rPr lang="en-US" altLang="en-US" u="sng" smtClean="0"/>
              <a:t>BUILD-MAX-HEAP</a:t>
            </a:r>
            <a:r>
              <a:rPr lang="en-US" altLang="en-US" u="sng" smtClean="0">
                <a:latin typeface="Comic Sans MS" panose="030F0702030302020204" pitchFamily="66" charset="0"/>
              </a:rPr>
              <a:t>(A)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smtClean="0">
                <a:latin typeface="Comic Sans MS" panose="030F0702030302020204" pitchFamily="66" charset="0"/>
              </a:rPr>
              <a:t>n</a:t>
            </a:r>
            <a:r>
              <a:rPr lang="en-US" altLang="en-US" smtClean="0"/>
              <a:t> = length[A]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smtClean="0"/>
              <a:t> for </a:t>
            </a:r>
            <a:r>
              <a:rPr lang="en-US" altLang="en-US" smtClean="0">
                <a:latin typeface="Comic Sans MS" panose="030F0702030302020204" pitchFamily="66" charset="0"/>
              </a:rPr>
              <a:t>i ← 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 smtClean="0">
                <a:latin typeface="Comic Sans MS" panose="030F0702030302020204" pitchFamily="66" charset="0"/>
              </a:rPr>
              <a:t>n/2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 smtClean="0">
                <a:latin typeface="Monotype Corsiva" panose="03010101010201010101" pitchFamily="66" charset="0"/>
              </a:rPr>
              <a:t> </a:t>
            </a:r>
            <a:r>
              <a:rPr lang="en-US" altLang="en-US" smtClean="0"/>
              <a:t>downto </a:t>
            </a:r>
            <a:r>
              <a:rPr lang="en-US" altLang="en-US" smtClean="0">
                <a:latin typeface="Comic Sans MS" panose="030F0702030302020204" pitchFamily="66" charset="0"/>
              </a:rPr>
              <a:t>1</a:t>
            </a:r>
          </a:p>
          <a:p>
            <a:pPr marL="533400" indent="-533400" eaLnBrk="1" hangingPunct="1">
              <a:lnSpc>
                <a:spcPct val="120000"/>
              </a:lnSpc>
              <a:buFontTx/>
              <a:buAutoNum type="arabicPeriod"/>
            </a:pPr>
            <a:r>
              <a:rPr lang="en-US" altLang="en-US" smtClean="0"/>
              <a:t>do MAX-HEAPIFY</a:t>
            </a:r>
            <a:r>
              <a:rPr lang="en-US" altLang="en-US" smtClean="0">
                <a:latin typeface="Comic Sans MS" panose="030F0702030302020204" pitchFamily="66" charset="0"/>
              </a:rPr>
              <a:t>(A, i, n)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685800"/>
            <a:ext cx="8458200" cy="2743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Convert an array </a:t>
            </a:r>
            <a:r>
              <a:rPr lang="en-US" altLang="en-US" smtClean="0">
                <a:latin typeface="Comic Sans MS" panose="030F0702030302020204" pitchFamily="66" charset="0"/>
              </a:rPr>
              <a:t>A[1 … n]</a:t>
            </a:r>
            <a:r>
              <a:rPr lang="en-US" altLang="en-US" smtClean="0"/>
              <a:t> into a max-heap (</a:t>
            </a:r>
            <a:r>
              <a:rPr lang="en-US" altLang="en-US" smtClean="0">
                <a:latin typeface="Comic Sans MS" panose="030F0702030302020204" pitchFamily="66" charset="0"/>
              </a:rPr>
              <a:t>n = length[A]</a:t>
            </a:r>
            <a:r>
              <a:rPr lang="en-US" altLang="en-US" smtClean="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The elements in the subarray </a:t>
            </a:r>
            <a:r>
              <a:rPr lang="en-US" altLang="en-US" smtClean="0">
                <a:latin typeface="Comic Sans MS" panose="030F0702030302020204" pitchFamily="66" charset="0"/>
              </a:rPr>
              <a:t>A[(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n/2+1</a:t>
            </a:r>
            <a:r>
              <a:rPr lang="en-US" altLang="en-US" smtClean="0">
                <a:latin typeface="Comic Sans MS" panose="030F0702030302020204" pitchFamily="66" charset="0"/>
              </a:rPr>
              <a:t>) .. n]</a:t>
            </a:r>
            <a:r>
              <a:rPr lang="en-US" altLang="en-US" smtClean="0"/>
              <a:t> are leaves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Apply MAX-HEAPIFY on elements between </a:t>
            </a:r>
            <a:r>
              <a:rPr lang="en-US" altLang="en-US" smtClean="0">
                <a:latin typeface="Comic Sans MS" panose="030F0702030302020204" pitchFamily="66" charset="0"/>
              </a:rPr>
              <a:t>1</a:t>
            </a:r>
            <a:r>
              <a:rPr lang="en-US" altLang="en-US" smtClean="0"/>
              <a:t> and </a:t>
            </a:r>
            <a:r>
              <a:rPr lang="en-US" altLang="en-US" smtClean="0">
                <a:latin typeface="Comic Sans MS" panose="030F0702030302020204" pitchFamily="66" charset="0"/>
                <a:sym typeface="Symbol" panose="05050102010706020507" pitchFamily="18" charset="2"/>
              </a:rPr>
              <a:t>n/2</a:t>
            </a:r>
            <a:endParaRPr lang="en-US" altLang="en-US" smtClean="0">
              <a:latin typeface="Comic Sans MS" panose="030F0702030302020204" pitchFamily="66" charset="0"/>
            </a:endParaRPr>
          </a:p>
        </p:txBody>
      </p:sp>
      <p:grpSp>
        <p:nvGrpSpPr>
          <p:cNvPr id="34821" name="Group 5"/>
          <p:cNvGrpSpPr>
            <a:grpSpLocks/>
          </p:cNvGrpSpPr>
          <p:nvPr/>
        </p:nvGrpSpPr>
        <p:grpSpPr bwMode="auto">
          <a:xfrm>
            <a:off x="5802313" y="3441700"/>
            <a:ext cx="2943225" cy="2044700"/>
            <a:chOff x="137" y="715"/>
            <a:chExt cx="1854" cy="1288"/>
          </a:xfrm>
        </p:grpSpPr>
        <p:sp>
          <p:nvSpPr>
            <p:cNvPr id="34848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49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50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51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52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53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854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4855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4856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4857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4858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4859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4860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4861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4862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4863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4864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4865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4866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4867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4868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4869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4870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4871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4872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4873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aphicFrame>
        <p:nvGraphicFramePr>
          <p:cNvPr id="161824" name="Group 32"/>
          <p:cNvGraphicFramePr>
            <a:graphicFrameLocks noGrp="1"/>
          </p:cNvGraphicFramePr>
          <p:nvPr/>
        </p:nvGraphicFramePr>
        <p:xfrm>
          <a:off x="4648200" y="6142038"/>
          <a:ext cx="4370388" cy="365125"/>
        </p:xfrm>
        <a:graphic>
          <a:graphicData uri="http://schemas.openxmlformats.org/drawingml/2006/table">
            <a:tbl>
              <a:tblPr/>
              <a:tblGrid>
                <a:gridCol w="4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536" marB="4553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9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14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46" name="Text Box 56"/>
          <p:cNvSpPr txBox="1">
            <a:spLocks noChangeArrowheads="1"/>
          </p:cNvSpPr>
          <p:nvPr/>
        </p:nvSpPr>
        <p:spPr bwMode="auto">
          <a:xfrm>
            <a:off x="4324350" y="6034088"/>
            <a:ext cx="400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/>
              <a:t>A:</a:t>
            </a:r>
          </a:p>
        </p:txBody>
      </p:sp>
      <p:sp>
        <p:nvSpPr>
          <p:cNvPr id="34847" name="Freeform 57"/>
          <p:cNvSpPr>
            <a:spLocks/>
          </p:cNvSpPr>
          <p:nvPr/>
        </p:nvSpPr>
        <p:spPr bwMode="auto">
          <a:xfrm>
            <a:off x="5924550" y="3429000"/>
            <a:ext cx="2636838" cy="1811338"/>
          </a:xfrm>
          <a:custGeom>
            <a:avLst/>
            <a:gdLst>
              <a:gd name="T0" fmla="*/ 2147483646 w 1661"/>
              <a:gd name="T1" fmla="*/ 2147483646 h 1141"/>
              <a:gd name="T2" fmla="*/ 2147483646 w 1661"/>
              <a:gd name="T3" fmla="*/ 2147483646 h 1141"/>
              <a:gd name="T4" fmla="*/ 2147483646 w 1661"/>
              <a:gd name="T5" fmla="*/ 2147483646 h 1141"/>
              <a:gd name="T6" fmla="*/ 2147483646 w 1661"/>
              <a:gd name="T7" fmla="*/ 2147483646 h 1141"/>
              <a:gd name="T8" fmla="*/ 2147483646 w 1661"/>
              <a:gd name="T9" fmla="*/ 2147483646 h 1141"/>
              <a:gd name="T10" fmla="*/ 2147483646 w 1661"/>
              <a:gd name="T11" fmla="*/ 2147483646 h 1141"/>
              <a:gd name="T12" fmla="*/ 0 w 1661"/>
              <a:gd name="T13" fmla="*/ 2147483646 h 1141"/>
              <a:gd name="T14" fmla="*/ 2147483646 w 1661"/>
              <a:gd name="T15" fmla="*/ 2147483646 h 1141"/>
              <a:gd name="T16" fmla="*/ 2147483646 w 1661"/>
              <a:gd name="T17" fmla="*/ 2147483646 h 1141"/>
              <a:gd name="T18" fmla="*/ 2147483646 w 1661"/>
              <a:gd name="T19" fmla="*/ 2147483646 h 1141"/>
              <a:gd name="T20" fmla="*/ 2147483646 w 1661"/>
              <a:gd name="T21" fmla="*/ 2147483646 h 1141"/>
              <a:gd name="T22" fmla="*/ 2147483646 w 1661"/>
              <a:gd name="T23" fmla="*/ 2147483646 h 1141"/>
              <a:gd name="T24" fmla="*/ 2147483646 w 1661"/>
              <a:gd name="T25" fmla="*/ 2147483646 h 1141"/>
              <a:gd name="T26" fmla="*/ 2147483646 w 1661"/>
              <a:gd name="T27" fmla="*/ 2147483646 h 1141"/>
              <a:gd name="T28" fmla="*/ 2147483646 w 1661"/>
              <a:gd name="T29" fmla="*/ 2147483646 h 1141"/>
              <a:gd name="T30" fmla="*/ 2147483646 w 1661"/>
              <a:gd name="T31" fmla="*/ 2147483646 h 1141"/>
              <a:gd name="T32" fmla="*/ 2147483646 w 1661"/>
              <a:gd name="T33" fmla="*/ 2147483646 h 1141"/>
              <a:gd name="T34" fmla="*/ 2147483646 w 1661"/>
              <a:gd name="T35" fmla="*/ 2147483646 h 1141"/>
              <a:gd name="T36" fmla="*/ 2147483646 w 1661"/>
              <a:gd name="T37" fmla="*/ 2147483646 h 1141"/>
              <a:gd name="T38" fmla="*/ 2147483646 w 1661"/>
              <a:gd name="T39" fmla="*/ 2147483646 h 1141"/>
              <a:gd name="T40" fmla="*/ 2147483646 w 1661"/>
              <a:gd name="T41" fmla="*/ 2147483646 h 1141"/>
              <a:gd name="T42" fmla="*/ 2147483646 w 1661"/>
              <a:gd name="T43" fmla="*/ 2147483646 h 1141"/>
              <a:gd name="T44" fmla="*/ 2147483646 w 1661"/>
              <a:gd name="T45" fmla="*/ 2147483646 h 1141"/>
              <a:gd name="T46" fmla="*/ 2147483646 w 1661"/>
              <a:gd name="T47" fmla="*/ 2147483646 h 1141"/>
              <a:gd name="T48" fmla="*/ 2147483646 w 1661"/>
              <a:gd name="T49" fmla="*/ 2147483646 h 1141"/>
              <a:gd name="T50" fmla="*/ 2147483646 w 1661"/>
              <a:gd name="T51" fmla="*/ 2147483646 h 1141"/>
              <a:gd name="T52" fmla="*/ 2147483646 w 1661"/>
              <a:gd name="T53" fmla="*/ 2147483646 h 1141"/>
              <a:gd name="T54" fmla="*/ 2147483646 w 1661"/>
              <a:gd name="T55" fmla="*/ 2147483646 h 1141"/>
              <a:gd name="T56" fmla="*/ 2147483646 w 1661"/>
              <a:gd name="T57" fmla="*/ 2147483646 h 1141"/>
              <a:gd name="T58" fmla="*/ 2147483646 w 1661"/>
              <a:gd name="T59" fmla="*/ 2147483646 h 1141"/>
              <a:gd name="T60" fmla="*/ 2147483646 w 1661"/>
              <a:gd name="T61" fmla="*/ 2147483646 h 1141"/>
              <a:gd name="T62" fmla="*/ 2147483646 w 1661"/>
              <a:gd name="T63" fmla="*/ 2147483646 h 1141"/>
              <a:gd name="T64" fmla="*/ 2147483646 w 1661"/>
              <a:gd name="T65" fmla="*/ 2147483646 h 1141"/>
              <a:gd name="T66" fmla="*/ 2147483646 w 1661"/>
              <a:gd name="T67" fmla="*/ 2147483646 h 1141"/>
              <a:gd name="T68" fmla="*/ 2147483646 w 1661"/>
              <a:gd name="T69" fmla="*/ 2147483646 h 1141"/>
              <a:gd name="T70" fmla="*/ 2147483646 w 1661"/>
              <a:gd name="T71" fmla="*/ 2147483646 h 1141"/>
              <a:gd name="T72" fmla="*/ 2147483646 w 1661"/>
              <a:gd name="T73" fmla="*/ 2147483646 h 1141"/>
              <a:gd name="T74" fmla="*/ 2147483646 w 1661"/>
              <a:gd name="T75" fmla="*/ 2147483646 h 1141"/>
              <a:gd name="T76" fmla="*/ 2147483646 w 1661"/>
              <a:gd name="T77" fmla="*/ 2147483646 h 1141"/>
              <a:gd name="T78" fmla="*/ 2147483646 w 1661"/>
              <a:gd name="T79" fmla="*/ 2147483646 h 1141"/>
              <a:gd name="T80" fmla="*/ 2147483646 w 1661"/>
              <a:gd name="T81" fmla="*/ 2147483646 h 1141"/>
              <a:gd name="T82" fmla="*/ 2147483646 w 1661"/>
              <a:gd name="T83" fmla="*/ 2147483646 h 1141"/>
              <a:gd name="T84" fmla="*/ 2147483646 w 1661"/>
              <a:gd name="T85" fmla="*/ 2147483646 h 1141"/>
              <a:gd name="T86" fmla="*/ 2147483646 w 1661"/>
              <a:gd name="T87" fmla="*/ 0 h 1141"/>
              <a:gd name="T88" fmla="*/ 2147483646 w 1661"/>
              <a:gd name="T89" fmla="*/ 2147483646 h 1141"/>
              <a:gd name="T90" fmla="*/ 2147483646 w 1661"/>
              <a:gd name="T91" fmla="*/ 2147483646 h 1141"/>
              <a:gd name="T92" fmla="*/ 2147483646 w 1661"/>
              <a:gd name="T93" fmla="*/ 2147483646 h 1141"/>
              <a:gd name="T94" fmla="*/ 2147483646 w 1661"/>
              <a:gd name="T95" fmla="*/ 2147483646 h 1141"/>
              <a:gd name="T96" fmla="*/ 2147483646 w 1661"/>
              <a:gd name="T97" fmla="*/ 2147483646 h 1141"/>
              <a:gd name="T98" fmla="*/ 2147483646 w 1661"/>
              <a:gd name="T99" fmla="*/ 2147483646 h 1141"/>
              <a:gd name="T100" fmla="*/ 2147483646 w 1661"/>
              <a:gd name="T101" fmla="*/ 2147483646 h 1141"/>
              <a:gd name="T102" fmla="*/ 2147483646 w 1661"/>
              <a:gd name="T103" fmla="*/ 2147483646 h 1141"/>
              <a:gd name="T104" fmla="*/ 2147483646 w 1661"/>
              <a:gd name="T105" fmla="*/ 2147483646 h 1141"/>
              <a:gd name="T106" fmla="*/ 2147483646 w 1661"/>
              <a:gd name="T107" fmla="*/ 2147483646 h 1141"/>
              <a:gd name="T108" fmla="*/ 2147483646 w 1661"/>
              <a:gd name="T109" fmla="*/ 2147483646 h 1141"/>
              <a:gd name="T110" fmla="*/ 2147483646 w 1661"/>
              <a:gd name="T111" fmla="*/ 2147483646 h 1141"/>
              <a:gd name="T112" fmla="*/ 2147483646 w 1661"/>
              <a:gd name="T113" fmla="*/ 2147483646 h 1141"/>
              <a:gd name="T114" fmla="*/ 2147483646 w 1661"/>
              <a:gd name="T115" fmla="*/ 2147483646 h 1141"/>
              <a:gd name="T116" fmla="*/ 2147483646 w 1661"/>
              <a:gd name="T117" fmla="*/ 2147483646 h 1141"/>
              <a:gd name="T118" fmla="*/ 2147483646 w 1661"/>
              <a:gd name="T119" fmla="*/ 2147483646 h 1141"/>
              <a:gd name="T120" fmla="*/ 2147483646 w 1661"/>
              <a:gd name="T121" fmla="*/ 2147483646 h 1141"/>
              <a:gd name="T122" fmla="*/ 2147483646 w 1661"/>
              <a:gd name="T123" fmla="*/ 2147483646 h 1141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661"/>
              <a:gd name="T187" fmla="*/ 0 h 1141"/>
              <a:gd name="T188" fmla="*/ 1661 w 1661"/>
              <a:gd name="T189" fmla="*/ 1141 h 1141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661" h="1141">
                <a:moveTo>
                  <a:pt x="300" y="593"/>
                </a:moveTo>
                <a:cubicBezTo>
                  <a:pt x="286" y="607"/>
                  <a:pt x="276" y="625"/>
                  <a:pt x="260" y="638"/>
                </a:cubicBezTo>
                <a:cubicBezTo>
                  <a:pt x="241" y="654"/>
                  <a:pt x="183" y="662"/>
                  <a:pt x="158" y="666"/>
                </a:cubicBezTo>
                <a:cubicBezTo>
                  <a:pt x="130" y="676"/>
                  <a:pt x="113" y="689"/>
                  <a:pt x="85" y="694"/>
                </a:cubicBezTo>
                <a:cubicBezTo>
                  <a:pt x="57" y="725"/>
                  <a:pt x="94" y="689"/>
                  <a:pt x="57" y="711"/>
                </a:cubicBezTo>
                <a:cubicBezTo>
                  <a:pt x="39" y="722"/>
                  <a:pt x="22" y="753"/>
                  <a:pt x="12" y="768"/>
                </a:cubicBezTo>
                <a:cubicBezTo>
                  <a:pt x="5" y="778"/>
                  <a:pt x="0" y="802"/>
                  <a:pt x="0" y="802"/>
                </a:cubicBezTo>
                <a:cubicBezTo>
                  <a:pt x="5" y="868"/>
                  <a:pt x="11" y="910"/>
                  <a:pt x="40" y="966"/>
                </a:cubicBezTo>
                <a:cubicBezTo>
                  <a:pt x="49" y="983"/>
                  <a:pt x="48" y="996"/>
                  <a:pt x="62" y="1011"/>
                </a:cubicBezTo>
                <a:cubicBezTo>
                  <a:pt x="68" y="1029"/>
                  <a:pt x="75" y="1045"/>
                  <a:pt x="91" y="1056"/>
                </a:cubicBezTo>
                <a:cubicBezTo>
                  <a:pt x="102" y="1064"/>
                  <a:pt x="125" y="1078"/>
                  <a:pt x="125" y="1078"/>
                </a:cubicBezTo>
                <a:cubicBezTo>
                  <a:pt x="119" y="1080"/>
                  <a:pt x="103" y="1080"/>
                  <a:pt x="108" y="1084"/>
                </a:cubicBezTo>
                <a:cubicBezTo>
                  <a:pt x="119" y="1092"/>
                  <a:pt x="134" y="1091"/>
                  <a:pt x="147" y="1095"/>
                </a:cubicBezTo>
                <a:cubicBezTo>
                  <a:pt x="191" y="1108"/>
                  <a:pt x="231" y="1122"/>
                  <a:pt x="277" y="1129"/>
                </a:cubicBezTo>
                <a:cubicBezTo>
                  <a:pt x="292" y="1127"/>
                  <a:pt x="307" y="1122"/>
                  <a:pt x="322" y="1124"/>
                </a:cubicBezTo>
                <a:cubicBezTo>
                  <a:pt x="327" y="1125"/>
                  <a:pt x="329" y="1135"/>
                  <a:pt x="334" y="1135"/>
                </a:cubicBezTo>
                <a:cubicBezTo>
                  <a:pt x="340" y="1135"/>
                  <a:pt x="344" y="1127"/>
                  <a:pt x="350" y="1124"/>
                </a:cubicBezTo>
                <a:cubicBezTo>
                  <a:pt x="371" y="1114"/>
                  <a:pt x="396" y="1109"/>
                  <a:pt x="418" y="1101"/>
                </a:cubicBezTo>
                <a:cubicBezTo>
                  <a:pt x="434" y="1086"/>
                  <a:pt x="454" y="1084"/>
                  <a:pt x="475" y="1078"/>
                </a:cubicBezTo>
                <a:cubicBezTo>
                  <a:pt x="488" y="1074"/>
                  <a:pt x="514" y="1067"/>
                  <a:pt x="514" y="1067"/>
                </a:cubicBezTo>
                <a:cubicBezTo>
                  <a:pt x="676" y="1072"/>
                  <a:pt x="684" y="1063"/>
                  <a:pt x="791" y="1095"/>
                </a:cubicBezTo>
                <a:cubicBezTo>
                  <a:pt x="816" y="1122"/>
                  <a:pt x="874" y="1132"/>
                  <a:pt x="910" y="1141"/>
                </a:cubicBezTo>
                <a:cubicBezTo>
                  <a:pt x="953" y="1129"/>
                  <a:pt x="942" y="1129"/>
                  <a:pt x="972" y="1101"/>
                </a:cubicBezTo>
                <a:cubicBezTo>
                  <a:pt x="974" y="1041"/>
                  <a:pt x="972" y="980"/>
                  <a:pt x="977" y="920"/>
                </a:cubicBezTo>
                <a:cubicBezTo>
                  <a:pt x="977" y="915"/>
                  <a:pt x="986" y="914"/>
                  <a:pt x="989" y="909"/>
                </a:cubicBezTo>
                <a:cubicBezTo>
                  <a:pt x="1031" y="839"/>
                  <a:pt x="1068" y="836"/>
                  <a:pt x="1147" y="824"/>
                </a:cubicBezTo>
                <a:cubicBezTo>
                  <a:pt x="1224" y="829"/>
                  <a:pt x="1297" y="836"/>
                  <a:pt x="1373" y="847"/>
                </a:cubicBezTo>
                <a:cubicBezTo>
                  <a:pt x="1473" y="843"/>
                  <a:pt x="1507" y="843"/>
                  <a:pt x="1587" y="819"/>
                </a:cubicBezTo>
                <a:cubicBezTo>
                  <a:pt x="1594" y="811"/>
                  <a:pt x="1604" y="805"/>
                  <a:pt x="1610" y="796"/>
                </a:cubicBezTo>
                <a:cubicBezTo>
                  <a:pt x="1625" y="772"/>
                  <a:pt x="1609" y="770"/>
                  <a:pt x="1638" y="751"/>
                </a:cubicBezTo>
                <a:cubicBezTo>
                  <a:pt x="1640" y="745"/>
                  <a:pt x="1642" y="740"/>
                  <a:pt x="1644" y="734"/>
                </a:cubicBezTo>
                <a:cubicBezTo>
                  <a:pt x="1646" y="728"/>
                  <a:pt x="1647" y="723"/>
                  <a:pt x="1649" y="717"/>
                </a:cubicBezTo>
                <a:cubicBezTo>
                  <a:pt x="1653" y="706"/>
                  <a:pt x="1661" y="683"/>
                  <a:pt x="1661" y="683"/>
                </a:cubicBezTo>
                <a:cubicBezTo>
                  <a:pt x="1655" y="640"/>
                  <a:pt x="1644" y="611"/>
                  <a:pt x="1632" y="570"/>
                </a:cubicBezTo>
                <a:cubicBezTo>
                  <a:pt x="1627" y="553"/>
                  <a:pt x="1615" y="519"/>
                  <a:pt x="1615" y="519"/>
                </a:cubicBezTo>
                <a:cubicBezTo>
                  <a:pt x="1613" y="502"/>
                  <a:pt x="1613" y="485"/>
                  <a:pt x="1610" y="469"/>
                </a:cubicBezTo>
                <a:cubicBezTo>
                  <a:pt x="1607" y="453"/>
                  <a:pt x="1598" y="423"/>
                  <a:pt x="1598" y="423"/>
                </a:cubicBezTo>
                <a:cubicBezTo>
                  <a:pt x="1595" y="403"/>
                  <a:pt x="1596" y="385"/>
                  <a:pt x="1587" y="367"/>
                </a:cubicBezTo>
                <a:cubicBezTo>
                  <a:pt x="1576" y="345"/>
                  <a:pt x="1559" y="323"/>
                  <a:pt x="1553" y="299"/>
                </a:cubicBezTo>
                <a:cubicBezTo>
                  <a:pt x="1545" y="267"/>
                  <a:pt x="1547" y="244"/>
                  <a:pt x="1519" y="226"/>
                </a:cubicBezTo>
                <a:cubicBezTo>
                  <a:pt x="1513" y="206"/>
                  <a:pt x="1505" y="201"/>
                  <a:pt x="1491" y="186"/>
                </a:cubicBezTo>
                <a:cubicBezTo>
                  <a:pt x="1479" y="146"/>
                  <a:pt x="1417" y="114"/>
                  <a:pt x="1378" y="102"/>
                </a:cubicBezTo>
                <a:cubicBezTo>
                  <a:pt x="1359" y="81"/>
                  <a:pt x="1294" y="60"/>
                  <a:pt x="1265" y="51"/>
                </a:cubicBezTo>
                <a:cubicBezTo>
                  <a:pt x="1236" y="19"/>
                  <a:pt x="1170" y="14"/>
                  <a:pt x="1130" y="0"/>
                </a:cubicBezTo>
                <a:cubicBezTo>
                  <a:pt x="1058" y="4"/>
                  <a:pt x="1040" y="2"/>
                  <a:pt x="983" y="11"/>
                </a:cubicBezTo>
                <a:cubicBezTo>
                  <a:pt x="977" y="12"/>
                  <a:pt x="936" y="19"/>
                  <a:pt x="926" y="22"/>
                </a:cubicBezTo>
                <a:cubicBezTo>
                  <a:pt x="915" y="25"/>
                  <a:pt x="893" y="34"/>
                  <a:pt x="893" y="34"/>
                </a:cubicBezTo>
                <a:cubicBezTo>
                  <a:pt x="872" y="53"/>
                  <a:pt x="842" y="64"/>
                  <a:pt x="814" y="73"/>
                </a:cubicBezTo>
                <a:cubicBezTo>
                  <a:pt x="794" y="93"/>
                  <a:pt x="760" y="100"/>
                  <a:pt x="734" y="113"/>
                </a:cubicBezTo>
                <a:cubicBezTo>
                  <a:pt x="708" y="126"/>
                  <a:pt x="684" y="147"/>
                  <a:pt x="661" y="164"/>
                </a:cubicBezTo>
                <a:cubicBezTo>
                  <a:pt x="657" y="167"/>
                  <a:pt x="626" y="190"/>
                  <a:pt x="616" y="198"/>
                </a:cubicBezTo>
                <a:cubicBezTo>
                  <a:pt x="605" y="206"/>
                  <a:pt x="582" y="220"/>
                  <a:pt x="582" y="220"/>
                </a:cubicBezTo>
                <a:cubicBezTo>
                  <a:pt x="578" y="226"/>
                  <a:pt x="576" y="233"/>
                  <a:pt x="571" y="237"/>
                </a:cubicBezTo>
                <a:cubicBezTo>
                  <a:pt x="566" y="241"/>
                  <a:pt x="558" y="239"/>
                  <a:pt x="554" y="243"/>
                </a:cubicBezTo>
                <a:cubicBezTo>
                  <a:pt x="525" y="272"/>
                  <a:pt x="574" y="252"/>
                  <a:pt x="531" y="265"/>
                </a:cubicBezTo>
                <a:cubicBezTo>
                  <a:pt x="517" y="280"/>
                  <a:pt x="505" y="287"/>
                  <a:pt x="486" y="294"/>
                </a:cubicBezTo>
                <a:cubicBezTo>
                  <a:pt x="476" y="309"/>
                  <a:pt x="435" y="339"/>
                  <a:pt x="418" y="350"/>
                </a:cubicBezTo>
                <a:cubicBezTo>
                  <a:pt x="411" y="373"/>
                  <a:pt x="401" y="369"/>
                  <a:pt x="384" y="384"/>
                </a:cubicBezTo>
                <a:cubicBezTo>
                  <a:pt x="379" y="401"/>
                  <a:pt x="363" y="428"/>
                  <a:pt x="350" y="440"/>
                </a:cubicBezTo>
                <a:cubicBezTo>
                  <a:pt x="344" y="459"/>
                  <a:pt x="341" y="471"/>
                  <a:pt x="328" y="486"/>
                </a:cubicBezTo>
                <a:cubicBezTo>
                  <a:pt x="319" y="516"/>
                  <a:pt x="310" y="546"/>
                  <a:pt x="300" y="576"/>
                </a:cubicBezTo>
                <a:cubicBezTo>
                  <a:pt x="294" y="595"/>
                  <a:pt x="288" y="593"/>
                  <a:pt x="300" y="593"/>
                </a:cubicBezTo>
                <a:close/>
              </a:path>
            </a:pathLst>
          </a:custGeom>
          <a:noFill/>
          <a:ln w="25400" cap="flat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76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Example:         A</a:t>
            </a:r>
          </a:p>
        </p:txBody>
      </p:sp>
      <p:graphicFrame>
        <p:nvGraphicFramePr>
          <p:cNvPr id="163843" name="Group 3"/>
          <p:cNvGraphicFramePr>
            <a:graphicFrameLocks noGrp="1"/>
          </p:cNvGraphicFramePr>
          <p:nvPr>
            <p:ph idx="1"/>
          </p:nvPr>
        </p:nvGraphicFramePr>
        <p:xfrm>
          <a:off x="4500563" y="457200"/>
          <a:ext cx="4338637" cy="365125"/>
        </p:xfrm>
        <a:graphic>
          <a:graphicData uri="http://schemas.openxmlformats.org/drawingml/2006/table">
            <a:tbl>
              <a:tblPr/>
              <a:tblGrid>
                <a:gridCol w="43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86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536" marB="4553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9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14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</a:t>
                      </a:r>
                    </a:p>
                  </a:txBody>
                  <a:tcPr marT="45536" marB="4553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25425" y="1524000"/>
            <a:ext cx="2943225" cy="2044700"/>
            <a:chOff x="137" y="715"/>
            <a:chExt cx="1854" cy="1288"/>
          </a:xfrm>
        </p:grpSpPr>
        <p:sp>
          <p:nvSpPr>
            <p:cNvPr id="37032" name="Line 28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3" name="Line 29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4" name="Line 30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5" name="Line 31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6" name="Line 32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7" name="Line 33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38" name="Oval 34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7039" name="Oval 35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7040" name="Oval 36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7041" name="Oval 37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7042" name="Oval 38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7043" name="Oval 39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7044" name="Oval 40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7045" name="Oval 41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7046" name="Oval 42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7047" name="Oval 43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7048" name="Text Box 44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7049" name="Text Box 45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7050" name="Text Box 46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7051" name="Text Box 47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7052" name="Text Box 48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7053" name="Text Box 49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7054" name="Text Box 50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7055" name="Text Box 51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7056" name="Text Box 52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7057" name="Text Box 53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7488" y="4279900"/>
            <a:ext cx="2943225" cy="2044700"/>
            <a:chOff x="137" y="2528"/>
            <a:chExt cx="1854" cy="1288"/>
          </a:xfrm>
        </p:grpSpPr>
        <p:sp>
          <p:nvSpPr>
            <p:cNvPr id="37006" name="Line 55"/>
            <p:cNvSpPr>
              <a:spLocks noChangeAspect="1" noChangeShapeType="1"/>
            </p:cNvSpPr>
            <p:nvPr/>
          </p:nvSpPr>
          <p:spPr bwMode="auto">
            <a:xfrm flipV="1">
              <a:off x="851" y="3466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7" name="Line 56"/>
            <p:cNvSpPr>
              <a:spLocks noChangeAspect="1" noChangeShapeType="1"/>
            </p:cNvSpPr>
            <p:nvPr/>
          </p:nvSpPr>
          <p:spPr bwMode="auto">
            <a:xfrm flipV="1">
              <a:off x="1318" y="3179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8" name="Line 57"/>
            <p:cNvSpPr>
              <a:spLocks noChangeAspect="1" noChangeShapeType="1"/>
            </p:cNvSpPr>
            <p:nvPr/>
          </p:nvSpPr>
          <p:spPr bwMode="auto">
            <a:xfrm rot="16200000" flipV="1">
              <a:off x="417" y="342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09" name="Line 58"/>
            <p:cNvSpPr>
              <a:spLocks noChangeAspect="1" noChangeShapeType="1"/>
            </p:cNvSpPr>
            <p:nvPr/>
          </p:nvSpPr>
          <p:spPr bwMode="auto">
            <a:xfrm rot="16200000" flipV="1">
              <a:off x="758" y="317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0" name="Line 59"/>
            <p:cNvSpPr>
              <a:spLocks noChangeAspect="1" noChangeShapeType="1"/>
            </p:cNvSpPr>
            <p:nvPr/>
          </p:nvSpPr>
          <p:spPr bwMode="auto">
            <a:xfrm rot="16200000" flipV="1">
              <a:off x="1154" y="2722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1" name="Line 60"/>
            <p:cNvSpPr>
              <a:spLocks noChangeShapeType="1"/>
            </p:cNvSpPr>
            <p:nvPr/>
          </p:nvSpPr>
          <p:spPr bwMode="auto">
            <a:xfrm flipV="1">
              <a:off x="243" y="2750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012" name="Oval 61"/>
            <p:cNvSpPr>
              <a:spLocks noChangeArrowheads="1"/>
            </p:cNvSpPr>
            <p:nvPr/>
          </p:nvSpPr>
          <p:spPr bwMode="auto">
            <a:xfrm>
              <a:off x="387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7013" name="Oval 62"/>
            <p:cNvSpPr>
              <a:spLocks noChangeArrowheads="1"/>
            </p:cNvSpPr>
            <p:nvPr/>
          </p:nvSpPr>
          <p:spPr bwMode="auto">
            <a:xfrm>
              <a:off x="137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7014" name="Oval 63"/>
            <p:cNvSpPr>
              <a:spLocks noChangeArrowheads="1"/>
            </p:cNvSpPr>
            <p:nvPr/>
          </p:nvSpPr>
          <p:spPr bwMode="auto">
            <a:xfrm>
              <a:off x="579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7015" name="Oval 64"/>
            <p:cNvSpPr>
              <a:spLocks noChangeArrowheads="1"/>
            </p:cNvSpPr>
            <p:nvPr/>
          </p:nvSpPr>
          <p:spPr bwMode="auto">
            <a:xfrm>
              <a:off x="675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7016" name="Oval 65"/>
            <p:cNvSpPr>
              <a:spLocks noChangeArrowheads="1"/>
            </p:cNvSpPr>
            <p:nvPr/>
          </p:nvSpPr>
          <p:spPr bwMode="auto">
            <a:xfrm>
              <a:off x="963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7017" name="Oval 66"/>
            <p:cNvSpPr>
              <a:spLocks noChangeArrowheads="1"/>
            </p:cNvSpPr>
            <p:nvPr/>
          </p:nvSpPr>
          <p:spPr bwMode="auto">
            <a:xfrm>
              <a:off x="819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7018" name="Oval 67"/>
            <p:cNvSpPr>
              <a:spLocks noChangeArrowheads="1"/>
            </p:cNvSpPr>
            <p:nvPr/>
          </p:nvSpPr>
          <p:spPr bwMode="auto">
            <a:xfrm>
              <a:off x="1131" y="265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7019" name="Oval 68"/>
            <p:cNvSpPr>
              <a:spLocks noChangeArrowheads="1"/>
            </p:cNvSpPr>
            <p:nvPr/>
          </p:nvSpPr>
          <p:spPr bwMode="auto">
            <a:xfrm>
              <a:off x="1537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7020" name="Oval 69"/>
            <p:cNvSpPr>
              <a:spLocks noChangeArrowheads="1"/>
            </p:cNvSpPr>
            <p:nvPr/>
          </p:nvSpPr>
          <p:spPr bwMode="auto">
            <a:xfrm>
              <a:off x="1213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7021" name="Oval 70"/>
            <p:cNvSpPr>
              <a:spLocks noChangeArrowheads="1"/>
            </p:cNvSpPr>
            <p:nvPr/>
          </p:nvSpPr>
          <p:spPr bwMode="auto">
            <a:xfrm>
              <a:off x="1789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7022" name="Text Box 71"/>
            <p:cNvSpPr txBox="1">
              <a:spLocks noChangeArrowheads="1"/>
            </p:cNvSpPr>
            <p:nvPr/>
          </p:nvSpPr>
          <p:spPr bwMode="auto">
            <a:xfrm>
              <a:off x="1152" y="252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7023" name="Text Box 72"/>
            <p:cNvSpPr txBox="1">
              <a:spLocks noChangeArrowheads="1"/>
            </p:cNvSpPr>
            <p:nvPr/>
          </p:nvSpPr>
          <p:spPr bwMode="auto">
            <a:xfrm>
              <a:off x="699" y="2961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7024" name="Text Box 73"/>
            <p:cNvSpPr txBox="1">
              <a:spLocks noChangeArrowheads="1"/>
            </p:cNvSpPr>
            <p:nvPr/>
          </p:nvSpPr>
          <p:spPr bwMode="auto">
            <a:xfrm>
              <a:off x="1552" y="2961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7025" name="Text Box 74"/>
            <p:cNvSpPr txBox="1">
              <a:spLocks noChangeArrowheads="1"/>
            </p:cNvSpPr>
            <p:nvPr/>
          </p:nvSpPr>
          <p:spPr bwMode="auto">
            <a:xfrm>
              <a:off x="406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7026" name="Text Box 75"/>
            <p:cNvSpPr txBox="1">
              <a:spLocks noChangeArrowheads="1"/>
            </p:cNvSpPr>
            <p:nvPr/>
          </p:nvSpPr>
          <p:spPr bwMode="auto">
            <a:xfrm>
              <a:off x="992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7027" name="Text Box 76"/>
            <p:cNvSpPr txBox="1">
              <a:spLocks noChangeArrowheads="1"/>
            </p:cNvSpPr>
            <p:nvPr/>
          </p:nvSpPr>
          <p:spPr bwMode="auto">
            <a:xfrm>
              <a:off x="1237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7028" name="Text Box 77"/>
            <p:cNvSpPr txBox="1">
              <a:spLocks noChangeArrowheads="1"/>
            </p:cNvSpPr>
            <p:nvPr/>
          </p:nvSpPr>
          <p:spPr bwMode="auto">
            <a:xfrm>
              <a:off x="1824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7029" name="Text Box 78"/>
            <p:cNvSpPr txBox="1">
              <a:spLocks noChangeArrowheads="1"/>
            </p:cNvSpPr>
            <p:nvPr/>
          </p:nvSpPr>
          <p:spPr bwMode="auto">
            <a:xfrm>
              <a:off x="150" y="3477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7030" name="Text Box 79"/>
            <p:cNvSpPr txBox="1">
              <a:spLocks noChangeArrowheads="1"/>
            </p:cNvSpPr>
            <p:nvPr/>
          </p:nvSpPr>
          <p:spPr bwMode="auto">
            <a:xfrm>
              <a:off x="603" y="3477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7031" name="Text Box 80"/>
            <p:cNvSpPr txBox="1">
              <a:spLocks noChangeArrowheads="1"/>
            </p:cNvSpPr>
            <p:nvPr/>
          </p:nvSpPr>
          <p:spPr bwMode="auto">
            <a:xfrm>
              <a:off x="808" y="3477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pSp>
        <p:nvGrpSpPr>
          <p:cNvPr id="4" name="Group 81"/>
          <p:cNvGrpSpPr>
            <a:grpSpLocks/>
          </p:cNvGrpSpPr>
          <p:nvPr/>
        </p:nvGrpSpPr>
        <p:grpSpPr bwMode="auto">
          <a:xfrm>
            <a:off x="3087688" y="1524000"/>
            <a:ext cx="2943225" cy="2044700"/>
            <a:chOff x="1940" y="715"/>
            <a:chExt cx="1854" cy="1288"/>
          </a:xfrm>
        </p:grpSpPr>
        <p:sp>
          <p:nvSpPr>
            <p:cNvPr id="36980" name="Line 82"/>
            <p:cNvSpPr>
              <a:spLocks noChangeAspect="1" noChangeShapeType="1"/>
            </p:cNvSpPr>
            <p:nvPr/>
          </p:nvSpPr>
          <p:spPr bwMode="auto">
            <a:xfrm flipV="1">
              <a:off x="2654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1" name="Line 83"/>
            <p:cNvSpPr>
              <a:spLocks noChangeAspect="1" noChangeShapeType="1"/>
            </p:cNvSpPr>
            <p:nvPr/>
          </p:nvSpPr>
          <p:spPr bwMode="auto">
            <a:xfrm flipV="1">
              <a:off x="3121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2" name="Line 84"/>
            <p:cNvSpPr>
              <a:spLocks noChangeAspect="1" noChangeShapeType="1"/>
            </p:cNvSpPr>
            <p:nvPr/>
          </p:nvSpPr>
          <p:spPr bwMode="auto">
            <a:xfrm rot="16200000" flipV="1">
              <a:off x="2220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3" name="Line 85"/>
            <p:cNvSpPr>
              <a:spLocks noChangeAspect="1" noChangeShapeType="1"/>
            </p:cNvSpPr>
            <p:nvPr/>
          </p:nvSpPr>
          <p:spPr bwMode="auto">
            <a:xfrm rot="16200000" flipV="1">
              <a:off x="2561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4" name="Line 86"/>
            <p:cNvSpPr>
              <a:spLocks noChangeAspect="1" noChangeShapeType="1"/>
            </p:cNvSpPr>
            <p:nvPr/>
          </p:nvSpPr>
          <p:spPr bwMode="auto">
            <a:xfrm rot="16200000" flipV="1">
              <a:off x="2957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5" name="Line 87"/>
            <p:cNvSpPr>
              <a:spLocks noChangeShapeType="1"/>
            </p:cNvSpPr>
            <p:nvPr/>
          </p:nvSpPr>
          <p:spPr bwMode="auto">
            <a:xfrm flipV="1">
              <a:off x="2046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86" name="Oval 88"/>
            <p:cNvSpPr>
              <a:spLocks noChangeArrowheads="1"/>
            </p:cNvSpPr>
            <p:nvPr/>
          </p:nvSpPr>
          <p:spPr bwMode="auto">
            <a:xfrm>
              <a:off x="2190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6987" name="Oval 89"/>
            <p:cNvSpPr>
              <a:spLocks noChangeArrowheads="1"/>
            </p:cNvSpPr>
            <p:nvPr/>
          </p:nvSpPr>
          <p:spPr bwMode="auto">
            <a:xfrm>
              <a:off x="1940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6988" name="Oval 90"/>
            <p:cNvSpPr>
              <a:spLocks noChangeArrowheads="1"/>
            </p:cNvSpPr>
            <p:nvPr/>
          </p:nvSpPr>
          <p:spPr bwMode="auto">
            <a:xfrm>
              <a:off x="2382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6989" name="Oval 91"/>
            <p:cNvSpPr>
              <a:spLocks noChangeArrowheads="1"/>
            </p:cNvSpPr>
            <p:nvPr/>
          </p:nvSpPr>
          <p:spPr bwMode="auto">
            <a:xfrm>
              <a:off x="2478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6990" name="Oval 92"/>
            <p:cNvSpPr>
              <a:spLocks noChangeArrowheads="1"/>
            </p:cNvSpPr>
            <p:nvPr/>
          </p:nvSpPr>
          <p:spPr bwMode="auto">
            <a:xfrm>
              <a:off x="2766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6991" name="Oval 93"/>
            <p:cNvSpPr>
              <a:spLocks noChangeArrowheads="1"/>
            </p:cNvSpPr>
            <p:nvPr/>
          </p:nvSpPr>
          <p:spPr bwMode="auto">
            <a:xfrm>
              <a:off x="2622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6992" name="Oval 94"/>
            <p:cNvSpPr>
              <a:spLocks noChangeArrowheads="1"/>
            </p:cNvSpPr>
            <p:nvPr/>
          </p:nvSpPr>
          <p:spPr bwMode="auto">
            <a:xfrm>
              <a:off x="2934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6993" name="Oval 95"/>
            <p:cNvSpPr>
              <a:spLocks noChangeArrowheads="1"/>
            </p:cNvSpPr>
            <p:nvPr/>
          </p:nvSpPr>
          <p:spPr bwMode="auto">
            <a:xfrm>
              <a:off x="3340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6994" name="Oval 96"/>
            <p:cNvSpPr>
              <a:spLocks noChangeArrowheads="1"/>
            </p:cNvSpPr>
            <p:nvPr/>
          </p:nvSpPr>
          <p:spPr bwMode="auto">
            <a:xfrm>
              <a:off x="3016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6995" name="Oval 97"/>
            <p:cNvSpPr>
              <a:spLocks noChangeArrowheads="1"/>
            </p:cNvSpPr>
            <p:nvPr/>
          </p:nvSpPr>
          <p:spPr bwMode="auto">
            <a:xfrm>
              <a:off x="3592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6996" name="Text Box 98"/>
            <p:cNvSpPr txBox="1">
              <a:spLocks noChangeArrowheads="1"/>
            </p:cNvSpPr>
            <p:nvPr/>
          </p:nvSpPr>
          <p:spPr bwMode="auto">
            <a:xfrm>
              <a:off x="2955" y="715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6997" name="Text Box 99"/>
            <p:cNvSpPr txBox="1">
              <a:spLocks noChangeArrowheads="1"/>
            </p:cNvSpPr>
            <p:nvPr/>
          </p:nvSpPr>
          <p:spPr bwMode="auto">
            <a:xfrm>
              <a:off x="2502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6998" name="Text Box 100"/>
            <p:cNvSpPr txBox="1">
              <a:spLocks noChangeArrowheads="1"/>
            </p:cNvSpPr>
            <p:nvPr/>
          </p:nvSpPr>
          <p:spPr bwMode="auto">
            <a:xfrm>
              <a:off x="3355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6999" name="Text Box 101"/>
            <p:cNvSpPr txBox="1">
              <a:spLocks noChangeArrowheads="1"/>
            </p:cNvSpPr>
            <p:nvPr/>
          </p:nvSpPr>
          <p:spPr bwMode="auto">
            <a:xfrm>
              <a:off x="2209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7000" name="Text Box 102"/>
            <p:cNvSpPr txBox="1">
              <a:spLocks noChangeArrowheads="1"/>
            </p:cNvSpPr>
            <p:nvPr/>
          </p:nvSpPr>
          <p:spPr bwMode="auto">
            <a:xfrm>
              <a:off x="2795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7001" name="Text Box 103"/>
            <p:cNvSpPr txBox="1">
              <a:spLocks noChangeArrowheads="1"/>
            </p:cNvSpPr>
            <p:nvPr/>
          </p:nvSpPr>
          <p:spPr bwMode="auto">
            <a:xfrm>
              <a:off x="3040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7002" name="Text Box 104"/>
            <p:cNvSpPr txBox="1">
              <a:spLocks noChangeArrowheads="1"/>
            </p:cNvSpPr>
            <p:nvPr/>
          </p:nvSpPr>
          <p:spPr bwMode="auto">
            <a:xfrm>
              <a:off x="3627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7003" name="Text Box 105"/>
            <p:cNvSpPr txBox="1">
              <a:spLocks noChangeArrowheads="1"/>
            </p:cNvSpPr>
            <p:nvPr/>
          </p:nvSpPr>
          <p:spPr bwMode="auto">
            <a:xfrm>
              <a:off x="1953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7004" name="Text Box 106"/>
            <p:cNvSpPr txBox="1">
              <a:spLocks noChangeArrowheads="1"/>
            </p:cNvSpPr>
            <p:nvPr/>
          </p:nvSpPr>
          <p:spPr bwMode="auto">
            <a:xfrm>
              <a:off x="2406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7005" name="Text Box 107"/>
            <p:cNvSpPr txBox="1">
              <a:spLocks noChangeArrowheads="1"/>
            </p:cNvSpPr>
            <p:nvPr/>
          </p:nvSpPr>
          <p:spPr bwMode="auto">
            <a:xfrm>
              <a:off x="2611" y="1664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pSp>
        <p:nvGrpSpPr>
          <p:cNvPr id="5" name="Group 108"/>
          <p:cNvGrpSpPr>
            <a:grpSpLocks/>
          </p:cNvGrpSpPr>
          <p:nvPr/>
        </p:nvGrpSpPr>
        <p:grpSpPr bwMode="auto">
          <a:xfrm>
            <a:off x="5949950" y="1524000"/>
            <a:ext cx="2943225" cy="2044700"/>
            <a:chOff x="3743" y="715"/>
            <a:chExt cx="1854" cy="1288"/>
          </a:xfrm>
        </p:grpSpPr>
        <p:sp>
          <p:nvSpPr>
            <p:cNvPr id="36954" name="Line 109"/>
            <p:cNvSpPr>
              <a:spLocks noChangeAspect="1" noChangeShapeType="1"/>
            </p:cNvSpPr>
            <p:nvPr/>
          </p:nvSpPr>
          <p:spPr bwMode="auto">
            <a:xfrm flipV="1">
              <a:off x="4457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5" name="Line 110"/>
            <p:cNvSpPr>
              <a:spLocks noChangeAspect="1" noChangeShapeType="1"/>
            </p:cNvSpPr>
            <p:nvPr/>
          </p:nvSpPr>
          <p:spPr bwMode="auto">
            <a:xfrm flipV="1">
              <a:off x="4924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6" name="Line 111"/>
            <p:cNvSpPr>
              <a:spLocks noChangeAspect="1" noChangeShapeType="1"/>
            </p:cNvSpPr>
            <p:nvPr/>
          </p:nvSpPr>
          <p:spPr bwMode="auto">
            <a:xfrm rot="16200000" flipV="1">
              <a:off x="4023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7" name="Line 112"/>
            <p:cNvSpPr>
              <a:spLocks noChangeAspect="1" noChangeShapeType="1"/>
            </p:cNvSpPr>
            <p:nvPr/>
          </p:nvSpPr>
          <p:spPr bwMode="auto">
            <a:xfrm rot="16200000" flipV="1">
              <a:off x="4364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8" name="Line 113"/>
            <p:cNvSpPr>
              <a:spLocks noChangeAspect="1" noChangeShapeType="1"/>
            </p:cNvSpPr>
            <p:nvPr/>
          </p:nvSpPr>
          <p:spPr bwMode="auto">
            <a:xfrm rot="16200000" flipV="1">
              <a:off x="4760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59" name="Line 114"/>
            <p:cNvSpPr>
              <a:spLocks noChangeShapeType="1"/>
            </p:cNvSpPr>
            <p:nvPr/>
          </p:nvSpPr>
          <p:spPr bwMode="auto">
            <a:xfrm flipV="1">
              <a:off x="3849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60" name="Oval 115"/>
            <p:cNvSpPr>
              <a:spLocks noChangeArrowheads="1"/>
            </p:cNvSpPr>
            <p:nvPr/>
          </p:nvSpPr>
          <p:spPr bwMode="auto">
            <a:xfrm>
              <a:off x="399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6961" name="Oval 116"/>
            <p:cNvSpPr>
              <a:spLocks noChangeArrowheads="1"/>
            </p:cNvSpPr>
            <p:nvPr/>
          </p:nvSpPr>
          <p:spPr bwMode="auto">
            <a:xfrm>
              <a:off x="3743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6962" name="Oval 117"/>
            <p:cNvSpPr>
              <a:spLocks noChangeArrowheads="1"/>
            </p:cNvSpPr>
            <p:nvPr/>
          </p:nvSpPr>
          <p:spPr bwMode="auto">
            <a:xfrm>
              <a:off x="4185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6963" name="Oval 118"/>
            <p:cNvSpPr>
              <a:spLocks noChangeArrowheads="1"/>
            </p:cNvSpPr>
            <p:nvPr/>
          </p:nvSpPr>
          <p:spPr bwMode="auto">
            <a:xfrm>
              <a:off x="4281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6964" name="Oval 119"/>
            <p:cNvSpPr>
              <a:spLocks noChangeArrowheads="1"/>
            </p:cNvSpPr>
            <p:nvPr/>
          </p:nvSpPr>
          <p:spPr bwMode="auto">
            <a:xfrm>
              <a:off x="456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6965" name="Oval 120"/>
            <p:cNvSpPr>
              <a:spLocks noChangeArrowheads="1"/>
            </p:cNvSpPr>
            <p:nvPr/>
          </p:nvSpPr>
          <p:spPr bwMode="auto">
            <a:xfrm>
              <a:off x="4425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6966" name="Oval 121"/>
            <p:cNvSpPr>
              <a:spLocks noChangeArrowheads="1"/>
            </p:cNvSpPr>
            <p:nvPr/>
          </p:nvSpPr>
          <p:spPr bwMode="auto">
            <a:xfrm>
              <a:off x="4737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6967" name="Oval 122"/>
            <p:cNvSpPr>
              <a:spLocks noChangeArrowheads="1"/>
            </p:cNvSpPr>
            <p:nvPr/>
          </p:nvSpPr>
          <p:spPr bwMode="auto">
            <a:xfrm>
              <a:off x="5143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6968" name="Oval 123"/>
            <p:cNvSpPr>
              <a:spLocks noChangeArrowheads="1"/>
            </p:cNvSpPr>
            <p:nvPr/>
          </p:nvSpPr>
          <p:spPr bwMode="auto">
            <a:xfrm>
              <a:off x="481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6969" name="Oval 124"/>
            <p:cNvSpPr>
              <a:spLocks noChangeArrowheads="1"/>
            </p:cNvSpPr>
            <p:nvPr/>
          </p:nvSpPr>
          <p:spPr bwMode="auto">
            <a:xfrm>
              <a:off x="5395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6970" name="Text Box 125"/>
            <p:cNvSpPr txBox="1">
              <a:spLocks noChangeArrowheads="1"/>
            </p:cNvSpPr>
            <p:nvPr/>
          </p:nvSpPr>
          <p:spPr bwMode="auto">
            <a:xfrm>
              <a:off x="4758" y="715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6971" name="Text Box 126"/>
            <p:cNvSpPr txBox="1">
              <a:spLocks noChangeArrowheads="1"/>
            </p:cNvSpPr>
            <p:nvPr/>
          </p:nvSpPr>
          <p:spPr bwMode="auto">
            <a:xfrm>
              <a:off x="4305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6972" name="Text Box 127"/>
            <p:cNvSpPr txBox="1">
              <a:spLocks noChangeArrowheads="1"/>
            </p:cNvSpPr>
            <p:nvPr/>
          </p:nvSpPr>
          <p:spPr bwMode="auto">
            <a:xfrm>
              <a:off x="5158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6973" name="Text Box 128"/>
            <p:cNvSpPr txBox="1">
              <a:spLocks noChangeArrowheads="1"/>
            </p:cNvSpPr>
            <p:nvPr/>
          </p:nvSpPr>
          <p:spPr bwMode="auto">
            <a:xfrm>
              <a:off x="4012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6974" name="Text Box 129"/>
            <p:cNvSpPr txBox="1">
              <a:spLocks noChangeArrowheads="1"/>
            </p:cNvSpPr>
            <p:nvPr/>
          </p:nvSpPr>
          <p:spPr bwMode="auto">
            <a:xfrm>
              <a:off x="4598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6975" name="Text Box 130"/>
            <p:cNvSpPr txBox="1">
              <a:spLocks noChangeArrowheads="1"/>
            </p:cNvSpPr>
            <p:nvPr/>
          </p:nvSpPr>
          <p:spPr bwMode="auto">
            <a:xfrm>
              <a:off x="4843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6976" name="Text Box 131"/>
            <p:cNvSpPr txBox="1">
              <a:spLocks noChangeArrowheads="1"/>
            </p:cNvSpPr>
            <p:nvPr/>
          </p:nvSpPr>
          <p:spPr bwMode="auto">
            <a:xfrm>
              <a:off x="5430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6977" name="Text Box 132"/>
            <p:cNvSpPr txBox="1">
              <a:spLocks noChangeArrowheads="1"/>
            </p:cNvSpPr>
            <p:nvPr/>
          </p:nvSpPr>
          <p:spPr bwMode="auto">
            <a:xfrm>
              <a:off x="3756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6978" name="Text Box 133"/>
            <p:cNvSpPr txBox="1">
              <a:spLocks noChangeArrowheads="1"/>
            </p:cNvSpPr>
            <p:nvPr/>
          </p:nvSpPr>
          <p:spPr bwMode="auto">
            <a:xfrm>
              <a:off x="4209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6979" name="Text Box 134"/>
            <p:cNvSpPr txBox="1">
              <a:spLocks noChangeArrowheads="1"/>
            </p:cNvSpPr>
            <p:nvPr/>
          </p:nvSpPr>
          <p:spPr bwMode="auto">
            <a:xfrm>
              <a:off x="4414" y="1664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pSp>
        <p:nvGrpSpPr>
          <p:cNvPr id="6" name="Group 135"/>
          <p:cNvGrpSpPr>
            <a:grpSpLocks/>
          </p:cNvGrpSpPr>
          <p:nvPr/>
        </p:nvGrpSpPr>
        <p:grpSpPr bwMode="auto">
          <a:xfrm>
            <a:off x="3079750" y="4279900"/>
            <a:ext cx="2943225" cy="2044700"/>
            <a:chOff x="1940" y="2528"/>
            <a:chExt cx="1854" cy="1288"/>
          </a:xfrm>
        </p:grpSpPr>
        <p:sp>
          <p:nvSpPr>
            <p:cNvPr id="36928" name="Line 136"/>
            <p:cNvSpPr>
              <a:spLocks noChangeAspect="1" noChangeShapeType="1"/>
            </p:cNvSpPr>
            <p:nvPr/>
          </p:nvSpPr>
          <p:spPr bwMode="auto">
            <a:xfrm flipV="1">
              <a:off x="2654" y="3466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29" name="Line 137"/>
            <p:cNvSpPr>
              <a:spLocks noChangeAspect="1" noChangeShapeType="1"/>
            </p:cNvSpPr>
            <p:nvPr/>
          </p:nvSpPr>
          <p:spPr bwMode="auto">
            <a:xfrm flipV="1">
              <a:off x="3121" y="3179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0" name="Line 138"/>
            <p:cNvSpPr>
              <a:spLocks noChangeAspect="1" noChangeShapeType="1"/>
            </p:cNvSpPr>
            <p:nvPr/>
          </p:nvSpPr>
          <p:spPr bwMode="auto">
            <a:xfrm rot="16200000" flipV="1">
              <a:off x="2220" y="342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1" name="Line 139"/>
            <p:cNvSpPr>
              <a:spLocks noChangeAspect="1" noChangeShapeType="1"/>
            </p:cNvSpPr>
            <p:nvPr/>
          </p:nvSpPr>
          <p:spPr bwMode="auto">
            <a:xfrm rot="16200000" flipV="1">
              <a:off x="2561" y="317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2" name="Line 140"/>
            <p:cNvSpPr>
              <a:spLocks noChangeAspect="1" noChangeShapeType="1"/>
            </p:cNvSpPr>
            <p:nvPr/>
          </p:nvSpPr>
          <p:spPr bwMode="auto">
            <a:xfrm rot="16200000" flipV="1">
              <a:off x="2957" y="2722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3" name="Line 141"/>
            <p:cNvSpPr>
              <a:spLocks noChangeShapeType="1"/>
            </p:cNvSpPr>
            <p:nvPr/>
          </p:nvSpPr>
          <p:spPr bwMode="auto">
            <a:xfrm flipV="1">
              <a:off x="2046" y="2750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34" name="Oval 142"/>
            <p:cNvSpPr>
              <a:spLocks noChangeArrowheads="1"/>
            </p:cNvSpPr>
            <p:nvPr/>
          </p:nvSpPr>
          <p:spPr bwMode="auto">
            <a:xfrm>
              <a:off x="2190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6935" name="Oval 143"/>
            <p:cNvSpPr>
              <a:spLocks noChangeArrowheads="1"/>
            </p:cNvSpPr>
            <p:nvPr/>
          </p:nvSpPr>
          <p:spPr bwMode="auto">
            <a:xfrm>
              <a:off x="1940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6936" name="Oval 144"/>
            <p:cNvSpPr>
              <a:spLocks noChangeArrowheads="1"/>
            </p:cNvSpPr>
            <p:nvPr/>
          </p:nvSpPr>
          <p:spPr bwMode="auto">
            <a:xfrm>
              <a:off x="2382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6937" name="Oval 145"/>
            <p:cNvSpPr>
              <a:spLocks noChangeArrowheads="1"/>
            </p:cNvSpPr>
            <p:nvPr/>
          </p:nvSpPr>
          <p:spPr bwMode="auto">
            <a:xfrm>
              <a:off x="2478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6938" name="Oval 146"/>
            <p:cNvSpPr>
              <a:spLocks noChangeArrowheads="1"/>
            </p:cNvSpPr>
            <p:nvPr/>
          </p:nvSpPr>
          <p:spPr bwMode="auto">
            <a:xfrm>
              <a:off x="2766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6939" name="Oval 147"/>
            <p:cNvSpPr>
              <a:spLocks noChangeArrowheads="1"/>
            </p:cNvSpPr>
            <p:nvPr/>
          </p:nvSpPr>
          <p:spPr bwMode="auto">
            <a:xfrm>
              <a:off x="2622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6940" name="Oval 148"/>
            <p:cNvSpPr>
              <a:spLocks noChangeArrowheads="1"/>
            </p:cNvSpPr>
            <p:nvPr/>
          </p:nvSpPr>
          <p:spPr bwMode="auto">
            <a:xfrm>
              <a:off x="2934" y="2654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6941" name="Oval 149"/>
            <p:cNvSpPr>
              <a:spLocks noChangeArrowheads="1"/>
            </p:cNvSpPr>
            <p:nvPr/>
          </p:nvSpPr>
          <p:spPr bwMode="auto">
            <a:xfrm>
              <a:off x="3340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6942" name="Oval 150"/>
            <p:cNvSpPr>
              <a:spLocks noChangeArrowheads="1"/>
            </p:cNvSpPr>
            <p:nvPr/>
          </p:nvSpPr>
          <p:spPr bwMode="auto">
            <a:xfrm>
              <a:off x="3016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6943" name="Oval 151"/>
            <p:cNvSpPr>
              <a:spLocks noChangeArrowheads="1"/>
            </p:cNvSpPr>
            <p:nvPr/>
          </p:nvSpPr>
          <p:spPr bwMode="auto">
            <a:xfrm>
              <a:off x="3592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6944" name="Text Box 152"/>
            <p:cNvSpPr txBox="1">
              <a:spLocks noChangeArrowheads="1"/>
            </p:cNvSpPr>
            <p:nvPr/>
          </p:nvSpPr>
          <p:spPr bwMode="auto">
            <a:xfrm>
              <a:off x="2955" y="252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6945" name="Text Box 153"/>
            <p:cNvSpPr txBox="1">
              <a:spLocks noChangeArrowheads="1"/>
            </p:cNvSpPr>
            <p:nvPr/>
          </p:nvSpPr>
          <p:spPr bwMode="auto">
            <a:xfrm>
              <a:off x="2502" y="2961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6946" name="Text Box 154"/>
            <p:cNvSpPr txBox="1">
              <a:spLocks noChangeArrowheads="1"/>
            </p:cNvSpPr>
            <p:nvPr/>
          </p:nvSpPr>
          <p:spPr bwMode="auto">
            <a:xfrm>
              <a:off x="3355" y="2961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6947" name="Text Box 155"/>
            <p:cNvSpPr txBox="1">
              <a:spLocks noChangeArrowheads="1"/>
            </p:cNvSpPr>
            <p:nvPr/>
          </p:nvSpPr>
          <p:spPr bwMode="auto">
            <a:xfrm>
              <a:off x="2209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6948" name="Text Box 156"/>
            <p:cNvSpPr txBox="1">
              <a:spLocks noChangeArrowheads="1"/>
            </p:cNvSpPr>
            <p:nvPr/>
          </p:nvSpPr>
          <p:spPr bwMode="auto">
            <a:xfrm>
              <a:off x="2795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6949" name="Text Box 157"/>
            <p:cNvSpPr txBox="1">
              <a:spLocks noChangeArrowheads="1"/>
            </p:cNvSpPr>
            <p:nvPr/>
          </p:nvSpPr>
          <p:spPr bwMode="auto">
            <a:xfrm>
              <a:off x="3040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6950" name="Text Box 158"/>
            <p:cNvSpPr txBox="1">
              <a:spLocks noChangeArrowheads="1"/>
            </p:cNvSpPr>
            <p:nvPr/>
          </p:nvSpPr>
          <p:spPr bwMode="auto">
            <a:xfrm>
              <a:off x="3627" y="323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6951" name="Text Box 159"/>
            <p:cNvSpPr txBox="1">
              <a:spLocks noChangeArrowheads="1"/>
            </p:cNvSpPr>
            <p:nvPr/>
          </p:nvSpPr>
          <p:spPr bwMode="auto">
            <a:xfrm>
              <a:off x="1953" y="3477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6952" name="Text Box 160"/>
            <p:cNvSpPr txBox="1">
              <a:spLocks noChangeArrowheads="1"/>
            </p:cNvSpPr>
            <p:nvPr/>
          </p:nvSpPr>
          <p:spPr bwMode="auto">
            <a:xfrm>
              <a:off x="2406" y="3477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6953" name="Text Box 161"/>
            <p:cNvSpPr txBox="1">
              <a:spLocks noChangeArrowheads="1"/>
            </p:cNvSpPr>
            <p:nvPr/>
          </p:nvSpPr>
          <p:spPr bwMode="auto">
            <a:xfrm>
              <a:off x="2611" y="3477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grpSp>
        <p:nvGrpSpPr>
          <p:cNvPr id="7" name="Group 162"/>
          <p:cNvGrpSpPr>
            <a:grpSpLocks/>
          </p:cNvGrpSpPr>
          <p:nvPr/>
        </p:nvGrpSpPr>
        <p:grpSpPr bwMode="auto">
          <a:xfrm>
            <a:off x="5942013" y="4279900"/>
            <a:ext cx="2943225" cy="2044700"/>
            <a:chOff x="137" y="715"/>
            <a:chExt cx="1854" cy="1288"/>
          </a:xfrm>
        </p:grpSpPr>
        <p:sp>
          <p:nvSpPr>
            <p:cNvPr id="36902" name="Line 163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3" name="Line 164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4" name="Line 165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5" name="Line 166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6" name="Line 167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7" name="Line 168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908" name="Oval 169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8</a:t>
              </a:r>
            </a:p>
          </p:txBody>
        </p:sp>
        <p:sp>
          <p:nvSpPr>
            <p:cNvPr id="36909" name="Oval 170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2</a:t>
              </a:r>
            </a:p>
          </p:txBody>
        </p:sp>
        <p:sp>
          <p:nvSpPr>
            <p:cNvPr id="36910" name="Oval 171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4</a:t>
              </a:r>
            </a:p>
          </p:txBody>
        </p:sp>
        <p:sp>
          <p:nvSpPr>
            <p:cNvPr id="36911" name="Oval 172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14</a:t>
              </a:r>
            </a:p>
          </p:txBody>
        </p:sp>
        <p:sp>
          <p:nvSpPr>
            <p:cNvPr id="36912" name="Oval 173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7</a:t>
              </a:r>
            </a:p>
          </p:txBody>
        </p:sp>
        <p:sp>
          <p:nvSpPr>
            <p:cNvPr id="36913" name="Oval 174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</a:t>
              </a:r>
            </a:p>
          </p:txBody>
        </p:sp>
        <p:sp>
          <p:nvSpPr>
            <p:cNvPr id="36914" name="Oval 175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16</a:t>
              </a:r>
            </a:p>
          </p:txBody>
        </p:sp>
        <p:sp>
          <p:nvSpPr>
            <p:cNvPr id="36915" name="Oval 176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10</a:t>
              </a:r>
            </a:p>
          </p:txBody>
        </p:sp>
        <p:sp>
          <p:nvSpPr>
            <p:cNvPr id="36916" name="Oval 177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9</a:t>
              </a:r>
            </a:p>
          </p:txBody>
        </p:sp>
        <p:sp>
          <p:nvSpPr>
            <p:cNvPr id="36917" name="Oval 178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/>
                <a:t>3</a:t>
              </a:r>
            </a:p>
          </p:txBody>
        </p:sp>
        <p:sp>
          <p:nvSpPr>
            <p:cNvPr id="36918" name="Text Box 179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</a:t>
              </a:r>
            </a:p>
          </p:txBody>
        </p:sp>
        <p:sp>
          <p:nvSpPr>
            <p:cNvPr id="36919" name="Text Box 180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2</a:t>
              </a:r>
            </a:p>
          </p:txBody>
        </p:sp>
        <p:sp>
          <p:nvSpPr>
            <p:cNvPr id="36920" name="Text Box 181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3</a:t>
              </a:r>
            </a:p>
          </p:txBody>
        </p:sp>
        <p:sp>
          <p:nvSpPr>
            <p:cNvPr id="36921" name="Text Box 182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4</a:t>
              </a:r>
            </a:p>
          </p:txBody>
        </p:sp>
        <p:sp>
          <p:nvSpPr>
            <p:cNvPr id="36922" name="Text Box 183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5</a:t>
              </a:r>
            </a:p>
          </p:txBody>
        </p:sp>
        <p:sp>
          <p:nvSpPr>
            <p:cNvPr id="36923" name="Text Box 184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6</a:t>
              </a:r>
            </a:p>
          </p:txBody>
        </p:sp>
        <p:sp>
          <p:nvSpPr>
            <p:cNvPr id="36924" name="Text Box 185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7</a:t>
              </a:r>
            </a:p>
          </p:txBody>
        </p:sp>
        <p:sp>
          <p:nvSpPr>
            <p:cNvPr id="36925" name="Text Box 186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8</a:t>
              </a:r>
            </a:p>
          </p:txBody>
        </p:sp>
        <p:sp>
          <p:nvSpPr>
            <p:cNvPr id="36926" name="Text Box 187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9</a:t>
              </a:r>
            </a:p>
          </p:txBody>
        </p:sp>
        <p:sp>
          <p:nvSpPr>
            <p:cNvPr id="36927" name="Text Box 188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0"/>
                <a:t>10</a:t>
              </a:r>
            </a:p>
          </p:txBody>
        </p:sp>
      </p:grpSp>
      <p:sp>
        <p:nvSpPr>
          <p:cNvPr id="164029" name="Text Box 189"/>
          <p:cNvSpPr txBox="1">
            <a:spLocks noChangeArrowheads="1"/>
          </p:cNvSpPr>
          <p:nvPr/>
        </p:nvSpPr>
        <p:spPr bwMode="auto">
          <a:xfrm>
            <a:off x="1600200" y="1295400"/>
            <a:ext cx="627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 sz="1800" b="0">
                <a:solidFill>
                  <a:srgbClr val="DD0111"/>
                </a:solidFill>
              </a:rPr>
              <a:t> = 5</a:t>
            </a:r>
          </a:p>
        </p:txBody>
      </p:sp>
      <p:sp>
        <p:nvSpPr>
          <p:cNvPr id="164030" name="Text Box 190"/>
          <p:cNvSpPr txBox="1">
            <a:spLocks noChangeArrowheads="1"/>
          </p:cNvSpPr>
          <p:nvPr/>
        </p:nvSpPr>
        <p:spPr bwMode="auto">
          <a:xfrm>
            <a:off x="4572000" y="1295400"/>
            <a:ext cx="627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 sz="1800" b="0">
                <a:solidFill>
                  <a:srgbClr val="DD0111"/>
                </a:solidFill>
              </a:rPr>
              <a:t> = 4</a:t>
            </a:r>
          </a:p>
        </p:txBody>
      </p:sp>
      <p:sp>
        <p:nvSpPr>
          <p:cNvPr id="164031" name="Text Box 191"/>
          <p:cNvSpPr txBox="1">
            <a:spLocks noChangeArrowheads="1"/>
          </p:cNvSpPr>
          <p:nvPr/>
        </p:nvSpPr>
        <p:spPr bwMode="auto">
          <a:xfrm>
            <a:off x="7315200" y="1295400"/>
            <a:ext cx="627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 sz="1800" b="0">
                <a:solidFill>
                  <a:srgbClr val="DD0111"/>
                </a:solidFill>
              </a:rPr>
              <a:t> = 3</a:t>
            </a:r>
          </a:p>
        </p:txBody>
      </p:sp>
      <p:sp>
        <p:nvSpPr>
          <p:cNvPr id="164032" name="Text Box 192"/>
          <p:cNvSpPr txBox="1">
            <a:spLocks noChangeArrowheads="1"/>
          </p:cNvSpPr>
          <p:nvPr/>
        </p:nvSpPr>
        <p:spPr bwMode="auto">
          <a:xfrm>
            <a:off x="1600200" y="4038600"/>
            <a:ext cx="627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 sz="1800" b="0">
                <a:solidFill>
                  <a:srgbClr val="DD0111"/>
                </a:solidFill>
              </a:rPr>
              <a:t> = 2</a:t>
            </a:r>
          </a:p>
        </p:txBody>
      </p:sp>
      <p:sp>
        <p:nvSpPr>
          <p:cNvPr id="164033" name="Text Box 193"/>
          <p:cNvSpPr txBox="1">
            <a:spLocks noChangeArrowheads="1"/>
          </p:cNvSpPr>
          <p:nvPr/>
        </p:nvSpPr>
        <p:spPr bwMode="auto">
          <a:xfrm>
            <a:off x="4495800" y="4038600"/>
            <a:ext cx="627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0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 sz="1800" b="0">
                <a:solidFill>
                  <a:srgbClr val="DD0111"/>
                </a:solidFill>
              </a:rPr>
              <a:t> =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29" grpId="0"/>
      <p:bldP spid="164030" grpId="0"/>
      <p:bldP spid="164031" grpId="0"/>
      <p:bldP spid="164032" grpId="0"/>
      <p:bldP spid="1640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Complexity of BUILD MAX HEAP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343400"/>
            <a:ext cx="8229600" cy="20510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sym typeface="Symbol" panose="05050102010706020507" pitchFamily="18" charset="2"/>
              </a:rPr>
              <a:t> </a:t>
            </a:r>
            <a:r>
              <a:rPr lang="en-US" altLang="en-US" smtClean="0"/>
              <a:t>Running time: </a:t>
            </a:r>
            <a:r>
              <a:rPr lang="en-US" altLang="en-US" smtClean="0">
                <a:latin typeface="Comic Sans MS" panose="030F0702030302020204" pitchFamily="66" charset="0"/>
              </a:rPr>
              <a:t>O(nlgn)?</a:t>
            </a:r>
            <a:endParaRPr lang="en-US" altLang="en-US" smtClean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527050" y="1520825"/>
            <a:ext cx="533400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b="0">
                <a:solidFill>
                  <a:srgbClr val="DD0111"/>
                </a:solidFill>
                <a:latin typeface="Monotype Corsiva" panose="03010101010201010101" pitchFamily="66" charset="0"/>
              </a:rPr>
              <a:t>Alg:</a:t>
            </a:r>
            <a:r>
              <a:rPr lang="en-US" altLang="en-US" b="0">
                <a:latin typeface="Monotype Corsiva" panose="03010101010201010101" pitchFamily="66" charset="0"/>
              </a:rPr>
              <a:t> </a:t>
            </a:r>
            <a:r>
              <a:rPr lang="en-US" altLang="en-US" b="0" u="sng"/>
              <a:t>BUILD-MAX-HEAP</a:t>
            </a:r>
            <a:r>
              <a:rPr lang="en-US" altLang="en-US" b="0" u="sng">
                <a:latin typeface="Comic Sans MS" panose="030F0702030302020204" pitchFamily="66" charset="0"/>
              </a:rPr>
              <a:t>(A)</a:t>
            </a: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b="0">
                <a:latin typeface="Comic Sans MS" panose="030F0702030302020204" pitchFamily="66" charset="0"/>
              </a:rPr>
              <a:t>n</a:t>
            </a:r>
            <a:r>
              <a:rPr lang="en-US" altLang="en-US" b="0"/>
              <a:t> = length[A]</a:t>
            </a: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b="0"/>
              <a:t> </a:t>
            </a:r>
            <a:r>
              <a:rPr lang="en-US" altLang="en-US"/>
              <a:t>for</a:t>
            </a:r>
            <a:r>
              <a:rPr lang="en-US" altLang="en-US" b="0"/>
              <a:t> </a:t>
            </a:r>
            <a:r>
              <a:rPr lang="en-US" altLang="en-US" b="0">
                <a:latin typeface="Comic Sans MS" panose="030F0702030302020204" pitchFamily="66" charset="0"/>
              </a:rPr>
              <a:t>i ← </a:t>
            </a:r>
            <a:r>
              <a:rPr lang="en-US" altLang="en-US" b="0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 b="0">
                <a:latin typeface="Comic Sans MS" panose="030F0702030302020204" pitchFamily="66" charset="0"/>
              </a:rPr>
              <a:t>n/2</a:t>
            </a:r>
            <a:r>
              <a:rPr lang="en-US" altLang="en-US" b="0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 b="0">
                <a:latin typeface="Monotype Corsiva" panose="03010101010201010101" pitchFamily="66" charset="0"/>
              </a:rPr>
              <a:t> </a:t>
            </a:r>
            <a:r>
              <a:rPr lang="en-US" altLang="en-US"/>
              <a:t>downto</a:t>
            </a:r>
            <a:r>
              <a:rPr lang="en-US" altLang="en-US" b="0"/>
              <a:t> </a:t>
            </a:r>
            <a:r>
              <a:rPr lang="en-US" altLang="en-US" b="0">
                <a:latin typeface="Comic Sans MS" panose="030F0702030302020204" pitchFamily="66" charset="0"/>
              </a:rPr>
              <a:t>1</a:t>
            </a:r>
          </a:p>
          <a:p>
            <a:pPr>
              <a:lnSpc>
                <a:spcPct val="120000"/>
              </a:lnSpc>
              <a:buClr>
                <a:schemeClr val="bg2"/>
              </a:buClr>
              <a:buSzPct val="75000"/>
              <a:buFontTx/>
              <a:buAutoNum type="arabicPeriod"/>
            </a:pPr>
            <a:r>
              <a:rPr lang="en-US" altLang="en-US" b="0"/>
              <a:t>    </a:t>
            </a:r>
            <a:r>
              <a:rPr lang="en-US" altLang="en-US"/>
              <a:t>do</a:t>
            </a:r>
            <a:r>
              <a:rPr lang="en-US" altLang="en-US" b="0"/>
              <a:t> MAX-HEAPIFY</a:t>
            </a:r>
            <a:r>
              <a:rPr lang="en-US" altLang="en-US" b="0">
                <a:latin typeface="Comic Sans MS" panose="030F0702030302020204" pitchFamily="66" charset="0"/>
              </a:rPr>
              <a:t>(A, i, n)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5895975" y="3429000"/>
            <a:ext cx="105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Comic Sans MS" panose="030F0702030302020204" pitchFamily="66" charset="0"/>
              </a:rPr>
              <a:t>O(lgn)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7285038" y="2578100"/>
            <a:ext cx="80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Comic Sans MS" panose="030F0702030302020204" pitchFamily="66" charset="0"/>
              </a:rPr>
              <a:t>O(n)</a:t>
            </a:r>
          </a:p>
        </p:txBody>
      </p:sp>
      <p:sp>
        <p:nvSpPr>
          <p:cNvPr id="38919" name="AutoShape 7"/>
          <p:cNvSpPr>
            <a:spLocks/>
          </p:cNvSpPr>
          <p:nvPr/>
        </p:nvSpPr>
        <p:spPr bwMode="auto">
          <a:xfrm>
            <a:off x="6956425" y="2359025"/>
            <a:ext cx="152400" cy="973138"/>
          </a:xfrm>
          <a:prstGeom prst="rightBrace">
            <a:avLst>
              <a:gd name="adj1" fmla="val 532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0" y="1295400"/>
            <a:ext cx="914400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2000" b="0">
                <a:latin typeface="Times New Roman" panose="02020603050405020304" pitchFamily="18" charset="0"/>
                <a:ea typeface="新細明體" charset="-120"/>
              </a:rPr>
              <a:t>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8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</p:txBody>
      </p:sp>
      <p:sp>
        <p:nvSpPr>
          <p:cNvPr id="40963" name="Text Box 4"/>
          <p:cNvSpPr txBox="1">
            <a:spLocks noChangeArrowheads="1"/>
          </p:cNvSpPr>
          <p:nvPr/>
        </p:nvSpPr>
        <p:spPr bwMode="auto">
          <a:xfrm>
            <a:off x="179388" y="1309688"/>
            <a:ext cx="8856662" cy="477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40000"/>
              </a:spcBef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1. Each call to Max-Heapify costs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(log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) time, there are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(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)   </a:t>
            </a:r>
          </a:p>
          <a:p>
            <a:pPr>
              <a:spcBef>
                <a:spcPct val="40000"/>
              </a:spcBef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    such calls. Thus, the complexity is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(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 log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)?</a:t>
            </a:r>
          </a:p>
          <a:p>
            <a:pPr>
              <a:spcBef>
                <a:spcPct val="40000"/>
              </a:spcBef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2. Tighter analysis results in the complexity of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(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).</a:t>
            </a:r>
          </a:p>
          <a:p>
            <a:pPr>
              <a:spcBef>
                <a:spcPct val="40000"/>
              </a:spcBef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    The time required by Max-Heapify when called on a node of height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h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 is 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(</a:t>
            </a:r>
            <a:r>
              <a:rPr lang="en-US" altLang="zh-TW" sz="2400" i="1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h</a:t>
            </a: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), and so we can express the total cost of Build-Max-Heap as being bounded by</a:t>
            </a:r>
          </a:p>
          <a:p>
            <a:pPr>
              <a:spcBef>
                <a:spcPct val="40000"/>
              </a:spcBef>
              <a:buSzTx/>
              <a:buFontTx/>
              <a:buNone/>
            </a:pPr>
            <a:endParaRPr lang="en-US" altLang="zh-TW" sz="2400">
              <a:solidFill>
                <a:schemeClr val="tx2"/>
              </a:solidFill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40000"/>
              </a:spcBef>
              <a:buSzTx/>
              <a:buFontTx/>
              <a:buNone/>
            </a:pPr>
            <a:endParaRPr lang="en-US" altLang="zh-TW" sz="2400">
              <a:solidFill>
                <a:schemeClr val="tx2"/>
              </a:solidFill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40000"/>
              </a:spcBef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Times New Roman" panose="02020603050405020304" pitchFamily="18" charset="0"/>
                <a:ea typeface="新細明體" charset="-120"/>
              </a:rPr>
              <a:t>         </a:t>
            </a:r>
          </a:p>
          <a:p>
            <a:pPr>
              <a:spcBef>
                <a:spcPct val="40000"/>
              </a:spcBef>
              <a:buSzTx/>
              <a:buFontTx/>
              <a:buNone/>
            </a:pPr>
            <a:endParaRPr lang="en-US" altLang="zh-TW" sz="2400">
              <a:solidFill>
                <a:schemeClr val="tx2"/>
              </a:solidFill>
              <a:latin typeface="Times New Roman" panose="02020603050405020304" pitchFamily="18" charset="0"/>
              <a:ea typeface="新細明體" charset="-120"/>
            </a:endParaRPr>
          </a:p>
        </p:txBody>
      </p:sp>
      <p:sp>
        <p:nvSpPr>
          <p:cNvPr id="409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096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40966" name="Object 2"/>
          <p:cNvGraphicFramePr>
            <a:graphicFrameLocks noChangeAspect="1"/>
          </p:cNvGraphicFramePr>
          <p:nvPr/>
        </p:nvGraphicFramePr>
        <p:xfrm>
          <a:off x="611188" y="4464050"/>
          <a:ext cx="56896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方程式" r:id="rId3" imgW="2565400" imgH="444500" progId="Equation.3">
                  <p:embed/>
                </p:oleObj>
              </mc:Choice>
              <mc:Fallback>
                <p:oleObj name="方程式" r:id="rId3" imgW="25654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464050"/>
                        <a:ext cx="56896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86423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Tx/>
              <a:buFontTx/>
              <a:buNone/>
            </a:pPr>
            <a:r>
              <a:rPr lang="en-US" altLang="zh-TW" b="0">
                <a:latin typeface="Times New Roman" panose="02020603050405020304" pitchFamily="18" charset="0"/>
                <a:ea typeface="新細明體" charset="-120"/>
              </a:rPr>
              <a:t>Complexity of Build-Max-Heap</a:t>
            </a:r>
          </a:p>
          <a:p>
            <a:pPr>
              <a:buSzTx/>
              <a:buFontTx/>
              <a:buNone/>
            </a:pPr>
            <a:endParaRPr lang="en-US" altLang="zh-TW">
              <a:solidFill>
                <a:schemeClr val="folHlink"/>
              </a:solidFill>
              <a:latin typeface="Times New Roman" panose="02020603050405020304" pitchFamily="18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50825" y="188913"/>
            <a:ext cx="86423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Tx/>
              <a:buFontTx/>
              <a:buNone/>
            </a:pPr>
            <a:r>
              <a:rPr lang="en-US" altLang="zh-TW" b="0">
                <a:latin typeface="Times New Roman" panose="02020603050405020304" pitchFamily="18" charset="0"/>
                <a:ea typeface="新細明體" charset="-120"/>
              </a:rPr>
              <a:t>Complexity of Build-Max-Heap</a:t>
            </a:r>
          </a:p>
          <a:p>
            <a:pPr>
              <a:buSzTx/>
              <a:buFontTx/>
              <a:buNone/>
            </a:pPr>
            <a:endParaRPr lang="en-US" altLang="zh-TW">
              <a:solidFill>
                <a:schemeClr val="folHlink"/>
              </a:solidFill>
              <a:latin typeface="Times New Roman" panose="02020603050405020304" pitchFamily="18" charset="0"/>
              <a:ea typeface="新細明體" charset="-120"/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0" y="685800"/>
            <a:ext cx="914400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2000" b="0">
                <a:latin typeface="Times New Roman" panose="02020603050405020304" pitchFamily="18" charset="0"/>
                <a:ea typeface="新細明體" charset="-120"/>
              </a:rPr>
              <a:t>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8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</p:txBody>
      </p:sp>
      <p:sp>
        <p:nvSpPr>
          <p:cNvPr id="419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8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41990" name="Object 2"/>
          <p:cNvGraphicFramePr>
            <a:graphicFrameLocks noChangeAspect="1"/>
          </p:cNvGraphicFramePr>
          <p:nvPr/>
        </p:nvGraphicFramePr>
        <p:xfrm>
          <a:off x="900113" y="974725"/>
          <a:ext cx="53292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方程式" r:id="rId3" imgW="2578100" imgH="431800" progId="Equation.3">
                  <p:embed/>
                </p:oleObj>
              </mc:Choice>
              <mc:Fallback>
                <p:oleObj name="方程式" r:id="rId3" imgW="25781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74725"/>
                        <a:ext cx="53292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11"/>
          <p:cNvSpPr>
            <a:spLocks noChangeArrowheads="1"/>
          </p:cNvSpPr>
          <p:nvPr/>
        </p:nvSpPr>
        <p:spPr bwMode="auto">
          <a:xfrm>
            <a:off x="0" y="1755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9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41993" name="Object 3"/>
          <p:cNvGraphicFramePr>
            <a:graphicFrameLocks noChangeAspect="1"/>
          </p:cNvGraphicFramePr>
          <p:nvPr/>
        </p:nvGraphicFramePr>
        <p:xfrm>
          <a:off x="1657350" y="2133600"/>
          <a:ext cx="6480175" cy="284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方程式" r:id="rId5" imgW="3530600" imgH="1549400" progId="Equation.3">
                  <p:embed/>
                </p:oleObj>
              </mc:Choice>
              <mc:Fallback>
                <p:oleObj name="方程式" r:id="rId5" imgW="3530600" imgH="154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2133600"/>
                        <a:ext cx="6480175" cy="284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Text Box 3"/>
          <p:cNvSpPr txBox="1">
            <a:spLocks noChangeArrowheads="1"/>
          </p:cNvSpPr>
          <p:nvPr/>
        </p:nvSpPr>
        <p:spPr bwMode="auto">
          <a:xfrm>
            <a:off x="0" y="4687888"/>
            <a:ext cx="9144000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TW" sz="2000" b="0">
                <a:latin typeface="Times New Roman" panose="02020603050405020304" pitchFamily="18" charset="0"/>
                <a:ea typeface="新細明體" charset="-120"/>
              </a:rPr>
              <a:t>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8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zh-TW" sz="1400" b="0">
              <a:latin typeface="Times New Roman" panose="02020603050405020304" pitchFamily="18" charset="0"/>
              <a:ea typeface="新細明體" charset="-120"/>
            </a:endParaRPr>
          </a:p>
        </p:txBody>
      </p:sp>
      <p:sp>
        <p:nvSpPr>
          <p:cNvPr id="41995" name="Rectangle 9"/>
          <p:cNvSpPr>
            <a:spLocks noChangeArrowheads="1"/>
          </p:cNvSpPr>
          <p:nvPr/>
        </p:nvSpPr>
        <p:spPr bwMode="auto">
          <a:xfrm>
            <a:off x="685800" y="4786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381000" y="4876800"/>
            <a:ext cx="878522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  <a:t>Thus, 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  <a:t/>
            </a:r>
            <a:b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</a:br>
            <a: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  <a:t>= </a:t>
            </a:r>
            <a:r>
              <a:rPr lang="en-US" altLang="zh-TW" sz="2400" b="0" i="1">
                <a:latin typeface="Times New Roman" panose="02020603050405020304" pitchFamily="18" charset="0"/>
                <a:ea typeface="新細明體" charset="-120"/>
              </a:rPr>
              <a:t>O</a:t>
            </a:r>
            <a: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  <a:t>(</a:t>
            </a:r>
            <a:r>
              <a:rPr lang="en-US" altLang="zh-TW" sz="2400" b="0" i="1">
                <a:latin typeface="Times New Roman" panose="02020603050405020304" pitchFamily="18" charset="0"/>
                <a:ea typeface="新細明體" charset="-120"/>
              </a:rPr>
              <a:t>n</a:t>
            </a:r>
            <a:r>
              <a:rPr lang="en-US" altLang="zh-TW" sz="2400" b="0">
                <a:latin typeface="Times New Roman" panose="02020603050405020304" pitchFamily="18" charset="0"/>
                <a:ea typeface="新細明體" charset="-120"/>
              </a:rPr>
              <a:t>)</a:t>
            </a:r>
          </a:p>
          <a:p>
            <a:pPr>
              <a:spcBef>
                <a:spcPct val="50000"/>
              </a:spcBef>
              <a:buSzTx/>
              <a:buFontTx/>
              <a:buNone/>
            </a:pPr>
            <a:endParaRPr lang="en-US" altLang="zh-TW" sz="2400" b="0">
              <a:latin typeface="Times New Roman" panose="02020603050405020304" pitchFamily="18" charset="0"/>
              <a:ea typeface="新細明體" charset="-120"/>
            </a:endParaRPr>
          </a:p>
          <a:p>
            <a:pPr>
              <a:spcBef>
                <a:spcPct val="50000"/>
              </a:spcBef>
              <a:buSzTx/>
              <a:buFontTx/>
              <a:buNone/>
            </a:pPr>
            <a:endParaRPr lang="en-US" altLang="zh-TW" sz="2400" b="0">
              <a:latin typeface="Times New Roman" panose="02020603050405020304" pitchFamily="18" charset="0"/>
              <a:ea typeface="新細明體" charset="-120"/>
            </a:endParaRPr>
          </a:p>
        </p:txBody>
      </p:sp>
      <p:graphicFrame>
        <p:nvGraphicFramePr>
          <p:cNvPr id="41997" name="Object 4"/>
          <p:cNvGraphicFramePr>
            <a:graphicFrameLocks noChangeAspect="1"/>
          </p:cNvGraphicFramePr>
          <p:nvPr/>
        </p:nvGraphicFramePr>
        <p:xfrm>
          <a:off x="990600" y="4724400"/>
          <a:ext cx="53292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方程式" r:id="rId7" imgW="2578100" imgH="431800" progId="Equation.3">
                  <p:embed/>
                </p:oleObj>
              </mc:Choice>
              <mc:Fallback>
                <p:oleObj name="方程式" r:id="rId7" imgW="25781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53292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6518275" y="1693863"/>
          <a:ext cx="245745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Paint Shop Pro Image" r:id="rId4" imgW="3512195" imgH="2097561" progId="PaintShopPro">
                  <p:embed/>
                </p:oleObj>
              </mc:Choice>
              <mc:Fallback>
                <p:oleObj name="Paint Shop Pro Image" r:id="rId4" imgW="3512195" imgH="2097561" progId="PaintShopPro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693863"/>
                        <a:ext cx="245745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mtClean="0"/>
              <a:t>Heapsort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1313" y="1023938"/>
            <a:ext cx="8229600" cy="563245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smtClean="0"/>
              <a:t>Goal: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Sort an array using heap representations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400" smtClean="0"/>
              <a:t>Idea: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Build a max-heap from the array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Swap the root (the maximum element) with the last element in the array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“Discard” this last node by decreasing the heap size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Call MAX-HEAPIFY on the new root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mtClean="0"/>
              <a:t>Repeat this process until only one node remains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/>
          <p:cNvGraphicFramePr>
            <a:graphicFrameLocks noChangeAspect="1"/>
          </p:cNvGraphicFramePr>
          <p:nvPr>
            <p:ph sz="quarter" idx="4"/>
          </p:nvPr>
        </p:nvGraphicFramePr>
        <p:xfrm>
          <a:off x="487363" y="4056063"/>
          <a:ext cx="267017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Paint Shop Pro Image" r:id="rId4" imgW="3814634" imgH="2126829" progId="PaintShopPro">
                  <p:embed/>
                </p:oleObj>
              </mc:Choice>
              <mc:Fallback>
                <p:oleObj name="Paint Shop Pro Image" r:id="rId4" imgW="3814634" imgH="2126829" progId="PaintShopPro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4056063"/>
                        <a:ext cx="267017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Rectangle 3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Example:		A=[7, 4, 3, 1, 2]</a:t>
            </a:r>
          </a:p>
        </p:txBody>
      </p:sp>
      <p:graphicFrame>
        <p:nvGraphicFramePr>
          <p:cNvPr id="169988" name="Object 4"/>
          <p:cNvGraphicFramePr>
            <a:graphicFrameLocks noChangeAspect="1"/>
          </p:cNvGraphicFramePr>
          <p:nvPr>
            <p:ph sz="quarter" idx="1"/>
          </p:nvPr>
        </p:nvGraphicFramePr>
        <p:xfrm>
          <a:off x="487363" y="2101850"/>
          <a:ext cx="245745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Paint Shop Pro Image" r:id="rId6" imgW="3512195" imgH="2097561" progId="PaintShopPro">
                  <p:embed/>
                </p:oleObj>
              </mc:Choice>
              <mc:Fallback>
                <p:oleObj name="Paint Shop Pro Image" r:id="rId6" imgW="3512195" imgH="2097561" progId="PaintShopPro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2101850"/>
                        <a:ext cx="245745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89" name="Object 5"/>
          <p:cNvGraphicFramePr>
            <a:graphicFrameLocks noChangeAspect="1"/>
          </p:cNvGraphicFramePr>
          <p:nvPr>
            <p:ph sz="quarter" idx="2"/>
          </p:nvPr>
        </p:nvGraphicFramePr>
        <p:xfrm>
          <a:off x="3316288" y="2101850"/>
          <a:ext cx="2436812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Paint Shop Pro Image" r:id="rId8" imgW="3482927" imgH="2107317" progId="PaintShopPro">
                  <p:embed/>
                </p:oleObj>
              </mc:Choice>
              <mc:Fallback>
                <p:oleObj name="Paint Shop Pro Image" r:id="rId8" imgW="3482927" imgH="2107317" progId="PaintShopPro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2101850"/>
                        <a:ext cx="2436812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0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6019800" y="2058988"/>
          <a:ext cx="2581275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Paint Shop Pro Image" r:id="rId10" imgW="3687805" imgH="2078049" progId="PaintShopPro">
                  <p:embed/>
                </p:oleObj>
              </mc:Choice>
              <mc:Fallback>
                <p:oleObj name="Paint Shop Pro Image" r:id="rId10" imgW="3687805" imgH="2078049" progId="PaintShopPro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58988"/>
                        <a:ext cx="2581275" cy="1220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1" name="Object 7"/>
          <p:cNvGraphicFramePr>
            <a:graphicFrameLocks noChangeAspect="1"/>
          </p:cNvGraphicFramePr>
          <p:nvPr/>
        </p:nvGraphicFramePr>
        <p:xfrm>
          <a:off x="3362325" y="3938588"/>
          <a:ext cx="24511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Paint Shop Pro Image" r:id="rId12" imgW="3502439" imgH="2087805" progId="PaintShopPro">
                  <p:embed/>
                </p:oleObj>
              </mc:Choice>
              <mc:Fallback>
                <p:oleObj name="Paint Shop Pro Image" r:id="rId12" imgW="3502439" imgH="2087805" progId="PaintShopPro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3938588"/>
                        <a:ext cx="24511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2" name="Object 8"/>
          <p:cNvGraphicFramePr>
            <a:graphicFrameLocks noChangeAspect="1"/>
          </p:cNvGraphicFramePr>
          <p:nvPr/>
        </p:nvGraphicFramePr>
        <p:xfrm>
          <a:off x="6124575" y="4376738"/>
          <a:ext cx="24765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2" name="Paint Shop Pro Image" r:id="rId14" imgW="3551220" imgH="839252" progId="PaintShopPro">
                  <p:embed/>
                </p:oleObj>
              </mc:Choice>
              <mc:Fallback>
                <p:oleObj name="Paint Shop Pro Image" r:id="rId14" imgW="3551220" imgH="839252" progId="PaintShopPro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575" y="4376738"/>
                        <a:ext cx="24765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87388" y="2330450"/>
            <a:ext cx="2284412" cy="1479550"/>
            <a:chOff x="336" y="1152"/>
            <a:chExt cx="1439" cy="932"/>
          </a:xfrm>
        </p:grpSpPr>
        <p:sp>
          <p:nvSpPr>
            <p:cNvPr id="45075" name="Line 10"/>
            <p:cNvSpPr>
              <a:spLocks noChangeShapeType="1"/>
            </p:cNvSpPr>
            <p:nvPr/>
          </p:nvSpPr>
          <p:spPr bwMode="auto">
            <a:xfrm flipH="1">
              <a:off x="1057" y="1152"/>
              <a:ext cx="96" cy="384"/>
            </a:xfrm>
            <a:prstGeom prst="line">
              <a:avLst/>
            </a:pr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6" name="Text Box 11"/>
            <p:cNvSpPr txBox="1">
              <a:spLocks noChangeArrowheads="1"/>
            </p:cNvSpPr>
            <p:nvPr/>
          </p:nvSpPr>
          <p:spPr bwMode="auto">
            <a:xfrm>
              <a:off x="336" y="1872"/>
              <a:ext cx="14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solidFill>
                    <a:srgbClr val="DD0111"/>
                  </a:solidFill>
                </a:rPr>
                <a:t>MAX-HEAPIFY(A, 1, 4)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352800" y="2101850"/>
            <a:ext cx="2284413" cy="1708150"/>
            <a:chOff x="2112" y="1008"/>
            <a:chExt cx="1439" cy="1076"/>
          </a:xfrm>
        </p:grpSpPr>
        <p:sp>
          <p:nvSpPr>
            <p:cNvPr id="45073" name="Text Box 13"/>
            <p:cNvSpPr txBox="1">
              <a:spLocks noChangeArrowheads="1"/>
            </p:cNvSpPr>
            <p:nvPr/>
          </p:nvSpPr>
          <p:spPr bwMode="auto">
            <a:xfrm>
              <a:off x="2112" y="1872"/>
              <a:ext cx="14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solidFill>
                    <a:srgbClr val="DD0111"/>
                  </a:solidFill>
                </a:rPr>
                <a:t>MAX-HEAPIFY(A, 1, 3)</a:t>
              </a:r>
            </a:p>
          </p:txBody>
        </p:sp>
        <p:sp>
          <p:nvSpPr>
            <p:cNvPr id="45074" name="Freeform 14"/>
            <p:cNvSpPr>
              <a:spLocks/>
            </p:cNvSpPr>
            <p:nvPr/>
          </p:nvSpPr>
          <p:spPr bwMode="auto">
            <a:xfrm>
              <a:off x="2112" y="1008"/>
              <a:ext cx="720" cy="528"/>
            </a:xfrm>
            <a:custGeom>
              <a:avLst/>
              <a:gdLst>
                <a:gd name="T0" fmla="*/ 0 w 720"/>
                <a:gd name="T1" fmla="*/ 528 h 528"/>
                <a:gd name="T2" fmla="*/ 192 w 720"/>
                <a:gd name="T3" fmla="*/ 144 h 528"/>
                <a:gd name="T4" fmla="*/ 720 w 720"/>
                <a:gd name="T5" fmla="*/ 0 h 528"/>
                <a:gd name="T6" fmla="*/ 0 60000 65536"/>
                <a:gd name="T7" fmla="*/ 0 60000 65536"/>
                <a:gd name="T8" fmla="*/ 0 60000 65536"/>
                <a:gd name="T9" fmla="*/ 0 w 720"/>
                <a:gd name="T10" fmla="*/ 0 h 528"/>
                <a:gd name="T11" fmla="*/ 720 w 720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528">
                  <a:moveTo>
                    <a:pt x="0" y="528"/>
                  </a:moveTo>
                  <a:cubicBezTo>
                    <a:pt x="36" y="380"/>
                    <a:pt x="72" y="232"/>
                    <a:pt x="192" y="144"/>
                  </a:cubicBezTo>
                  <a:cubicBezTo>
                    <a:pt x="312" y="56"/>
                    <a:pt x="516" y="28"/>
                    <a:pt x="720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248400" y="2025650"/>
            <a:ext cx="2284413" cy="1784350"/>
            <a:chOff x="3936" y="960"/>
            <a:chExt cx="1439" cy="1124"/>
          </a:xfrm>
        </p:grpSpPr>
        <p:sp>
          <p:nvSpPr>
            <p:cNvPr id="45071" name="Text Box 16"/>
            <p:cNvSpPr txBox="1">
              <a:spLocks noChangeArrowheads="1"/>
            </p:cNvSpPr>
            <p:nvPr/>
          </p:nvSpPr>
          <p:spPr bwMode="auto">
            <a:xfrm>
              <a:off x="3936" y="1872"/>
              <a:ext cx="14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solidFill>
                    <a:srgbClr val="DD0111"/>
                  </a:solidFill>
                </a:rPr>
                <a:t>MAX-HEAPIFY(A, 1, 2)</a:t>
              </a:r>
            </a:p>
          </p:txBody>
        </p:sp>
        <p:sp>
          <p:nvSpPr>
            <p:cNvPr id="45072" name="Freeform 17"/>
            <p:cNvSpPr>
              <a:spLocks/>
            </p:cNvSpPr>
            <p:nvPr/>
          </p:nvSpPr>
          <p:spPr bwMode="auto">
            <a:xfrm>
              <a:off x="4944" y="960"/>
              <a:ext cx="288" cy="192"/>
            </a:xfrm>
            <a:custGeom>
              <a:avLst/>
              <a:gdLst>
                <a:gd name="T0" fmla="*/ 0 w 288"/>
                <a:gd name="T1" fmla="*/ 0 h 192"/>
                <a:gd name="T2" fmla="*/ 192 w 288"/>
                <a:gd name="T3" fmla="*/ 48 h 192"/>
                <a:gd name="T4" fmla="*/ 288 w 288"/>
                <a:gd name="T5" fmla="*/ 192 h 192"/>
                <a:gd name="T6" fmla="*/ 0 60000 65536"/>
                <a:gd name="T7" fmla="*/ 0 60000 65536"/>
                <a:gd name="T8" fmla="*/ 0 60000 65536"/>
                <a:gd name="T9" fmla="*/ 0 w 288"/>
                <a:gd name="T10" fmla="*/ 0 h 192"/>
                <a:gd name="T11" fmla="*/ 288 w 288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92">
                  <a:moveTo>
                    <a:pt x="0" y="0"/>
                  </a:moveTo>
                  <a:cubicBezTo>
                    <a:pt x="72" y="8"/>
                    <a:pt x="144" y="16"/>
                    <a:pt x="192" y="48"/>
                  </a:cubicBezTo>
                  <a:cubicBezTo>
                    <a:pt x="240" y="80"/>
                    <a:pt x="264" y="136"/>
                    <a:pt x="288" y="192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09600" y="4114800"/>
            <a:ext cx="2284413" cy="1860550"/>
            <a:chOff x="336" y="2592"/>
            <a:chExt cx="1439" cy="1172"/>
          </a:xfrm>
        </p:grpSpPr>
        <p:sp>
          <p:nvSpPr>
            <p:cNvPr id="45069" name="Text Box 19"/>
            <p:cNvSpPr txBox="1">
              <a:spLocks noChangeArrowheads="1"/>
            </p:cNvSpPr>
            <p:nvPr/>
          </p:nvSpPr>
          <p:spPr bwMode="auto">
            <a:xfrm>
              <a:off x="336" y="3552"/>
              <a:ext cx="14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0">
                  <a:solidFill>
                    <a:srgbClr val="DD0111"/>
                  </a:solidFill>
                </a:rPr>
                <a:t>MAX-HEAPIFY(A, 1, 1)</a:t>
              </a:r>
            </a:p>
          </p:txBody>
        </p:sp>
        <p:sp>
          <p:nvSpPr>
            <p:cNvPr id="45070" name="Freeform 20"/>
            <p:cNvSpPr>
              <a:spLocks/>
            </p:cNvSpPr>
            <p:nvPr/>
          </p:nvSpPr>
          <p:spPr bwMode="auto">
            <a:xfrm>
              <a:off x="768" y="2592"/>
              <a:ext cx="288" cy="192"/>
            </a:xfrm>
            <a:custGeom>
              <a:avLst/>
              <a:gdLst>
                <a:gd name="T0" fmla="*/ 0 w 288"/>
                <a:gd name="T1" fmla="*/ 192 h 192"/>
                <a:gd name="T2" fmla="*/ 96 w 288"/>
                <a:gd name="T3" fmla="*/ 48 h 192"/>
                <a:gd name="T4" fmla="*/ 288 w 288"/>
                <a:gd name="T5" fmla="*/ 0 h 192"/>
                <a:gd name="T6" fmla="*/ 0 60000 65536"/>
                <a:gd name="T7" fmla="*/ 0 60000 65536"/>
                <a:gd name="T8" fmla="*/ 0 60000 65536"/>
                <a:gd name="T9" fmla="*/ 0 w 288"/>
                <a:gd name="T10" fmla="*/ 0 h 192"/>
                <a:gd name="T11" fmla="*/ 288 w 288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92">
                  <a:moveTo>
                    <a:pt x="0" y="192"/>
                  </a:moveTo>
                  <a:cubicBezTo>
                    <a:pt x="24" y="136"/>
                    <a:pt x="48" y="80"/>
                    <a:pt x="96" y="48"/>
                  </a:cubicBezTo>
                  <a:cubicBezTo>
                    <a:pt x="144" y="16"/>
                    <a:pt x="216" y="8"/>
                    <a:pt x="288" y="0"/>
                  </a:cubicBezTo>
                </a:path>
              </a:pathLst>
            </a:custGeom>
            <a:noFill/>
            <a:ln w="9525">
              <a:solidFill>
                <a:srgbClr val="DD011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Monotype Corsiva" panose="03010101010201010101" pitchFamily="66" charset="0"/>
              </a:rPr>
              <a:t>Alg:</a:t>
            </a:r>
            <a:r>
              <a:rPr lang="en-US" altLang="en-US" smtClean="0"/>
              <a:t> HEAPSORT(A)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5973763" cy="38862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en-US" i="1" smtClean="0"/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smtClean="0"/>
              <a:t> BUILD-MAX-HEAP</a:t>
            </a:r>
            <a:r>
              <a:rPr lang="en-US" altLang="en-US" smtClean="0">
                <a:latin typeface="Comic Sans MS" panose="030F0702030302020204" pitchFamily="66" charset="0"/>
              </a:rPr>
              <a:t>(A)</a:t>
            </a:r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smtClean="0"/>
              <a:t> for </a:t>
            </a:r>
            <a:r>
              <a:rPr lang="en-US" altLang="en-US" smtClean="0">
                <a:latin typeface="Comic Sans MS" panose="030F0702030302020204" pitchFamily="66" charset="0"/>
              </a:rPr>
              <a:t>i ← length[A]</a:t>
            </a:r>
            <a:r>
              <a:rPr lang="en-US" altLang="en-US" i="1" smtClean="0"/>
              <a:t> </a:t>
            </a:r>
            <a:r>
              <a:rPr lang="en-US" altLang="en-US" smtClean="0"/>
              <a:t>downto 2</a:t>
            </a:r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smtClean="0"/>
              <a:t>      do exchange </a:t>
            </a:r>
            <a:r>
              <a:rPr lang="en-US" altLang="en-US" smtClean="0">
                <a:latin typeface="Comic Sans MS" panose="030F0702030302020204" pitchFamily="66" charset="0"/>
              </a:rPr>
              <a:t>A[1] ↔A[i]</a:t>
            </a:r>
          </a:p>
          <a:p>
            <a:pPr marL="533400" indent="-533400" eaLnBrk="1" hangingPunct="1">
              <a:lnSpc>
                <a:spcPct val="130000"/>
              </a:lnSpc>
              <a:buFontTx/>
              <a:buAutoNum type="arabicPeriod"/>
            </a:pPr>
            <a:r>
              <a:rPr lang="en-US" altLang="en-US" smtClean="0"/>
              <a:t> MAX-HEAPIFY</a:t>
            </a:r>
            <a:r>
              <a:rPr lang="en-US" altLang="en-US" smtClean="0">
                <a:latin typeface="Comic Sans MS" panose="030F0702030302020204" pitchFamily="66" charset="0"/>
              </a:rPr>
              <a:t>(A, 1, i - 1)</a:t>
            </a:r>
          </a:p>
          <a:p>
            <a:pPr marL="533400" indent="-533400" eaLnBrk="1" hangingPunct="1">
              <a:lnSpc>
                <a:spcPct val="130000"/>
              </a:lnSpc>
              <a:buFontTx/>
              <a:buNone/>
            </a:pPr>
            <a:r>
              <a:rPr lang="en-US" altLang="en-US" smtClean="0"/>
              <a:t>Running time: </a:t>
            </a:r>
            <a:r>
              <a:rPr lang="en-US" altLang="en-US" smtClean="0">
                <a:latin typeface="Comic Sans MS" panose="030F0702030302020204" pitchFamily="66" charset="0"/>
              </a:rPr>
              <a:t>O(nlgn)</a:t>
            </a:r>
            <a:endParaRPr lang="en-US" altLang="en-US" smtClean="0"/>
          </a:p>
        </p:txBody>
      </p:sp>
      <p:grpSp>
        <p:nvGrpSpPr>
          <p:cNvPr id="47108" name="Group 4"/>
          <p:cNvGrpSpPr>
            <a:grpSpLocks/>
          </p:cNvGrpSpPr>
          <p:nvPr/>
        </p:nvGrpSpPr>
        <p:grpSpPr bwMode="auto">
          <a:xfrm>
            <a:off x="6534150" y="2481263"/>
            <a:ext cx="2503488" cy="2319337"/>
            <a:chOff x="4116" y="1190"/>
            <a:chExt cx="1577" cy="1461"/>
          </a:xfrm>
        </p:grpSpPr>
        <p:sp>
          <p:nvSpPr>
            <p:cNvPr id="47109" name="Text Box 5"/>
            <p:cNvSpPr txBox="1">
              <a:spLocks noChangeArrowheads="1"/>
            </p:cNvSpPr>
            <p:nvPr/>
          </p:nvSpPr>
          <p:spPr bwMode="auto">
            <a:xfrm>
              <a:off x="4128" y="1190"/>
              <a:ext cx="5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Comic Sans MS" panose="030F0702030302020204" pitchFamily="66" charset="0"/>
                </a:rPr>
                <a:t>O(n)</a:t>
              </a:r>
            </a:p>
          </p:txBody>
        </p:sp>
        <p:sp>
          <p:nvSpPr>
            <p:cNvPr id="47110" name="Text Box 6"/>
            <p:cNvSpPr txBox="1">
              <a:spLocks noChangeArrowheads="1"/>
            </p:cNvSpPr>
            <p:nvPr/>
          </p:nvSpPr>
          <p:spPr bwMode="auto">
            <a:xfrm>
              <a:off x="4116" y="2340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Comic Sans MS" panose="030F0702030302020204" pitchFamily="66" charset="0"/>
                </a:rPr>
                <a:t>O(lgn)</a:t>
              </a:r>
            </a:p>
          </p:txBody>
        </p:sp>
        <p:sp>
          <p:nvSpPr>
            <p:cNvPr id="47111" name="AutoShape 7"/>
            <p:cNvSpPr>
              <a:spLocks/>
            </p:cNvSpPr>
            <p:nvPr/>
          </p:nvSpPr>
          <p:spPr bwMode="auto">
            <a:xfrm>
              <a:off x="4692" y="1477"/>
              <a:ext cx="144" cy="1174"/>
            </a:xfrm>
            <a:prstGeom prst="rightBrace">
              <a:avLst>
                <a:gd name="adj1" fmla="val 6794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7112" name="Text Box 8"/>
            <p:cNvSpPr txBox="1">
              <a:spLocks noChangeArrowheads="1"/>
            </p:cNvSpPr>
            <p:nvPr/>
          </p:nvSpPr>
          <p:spPr bwMode="auto">
            <a:xfrm>
              <a:off x="4809" y="1912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Comic Sans MS" panose="030F0702030302020204" pitchFamily="66" charset="0"/>
                </a:rPr>
                <a:t>n-1</a:t>
              </a:r>
              <a:r>
                <a:rPr lang="en-US" altLang="en-US" sz="2400" b="0">
                  <a:latin typeface="Monotype Corsiva" panose="03010101010201010101" pitchFamily="66" charset="0"/>
                </a:rPr>
                <a:t> </a:t>
              </a:r>
              <a:r>
                <a:rPr lang="en-US" altLang="en-US" sz="2400" b="0"/>
                <a:t>times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5449</TotalTime>
  <Pages>11</Pages>
  <Words>1137</Words>
  <Application>Microsoft Office PowerPoint</Application>
  <PresentationFormat>On-screen Show (4:3)</PresentationFormat>
  <Paragraphs>410</Paragraphs>
  <Slides>21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Times New Roman</vt:lpstr>
      <vt:lpstr>Arial</vt:lpstr>
      <vt:lpstr>Monotype Corsiva</vt:lpstr>
      <vt:lpstr>Comic Sans MS</vt:lpstr>
      <vt:lpstr>Wingdings</vt:lpstr>
      <vt:lpstr>Symbol</vt:lpstr>
      <vt:lpstr>Tahoma</vt:lpstr>
      <vt:lpstr>新細明體</vt:lpstr>
      <vt:lpstr>plsd</vt:lpstr>
      <vt:lpstr>MathType 5.0 Equation</vt:lpstr>
      <vt:lpstr>Paint Shop Pro Image</vt:lpstr>
      <vt:lpstr>Microsoft 方程式編輯器 3.0</vt:lpstr>
      <vt:lpstr>   Design and Analysis of Algorithms</vt:lpstr>
      <vt:lpstr>Special Types of Trees</vt:lpstr>
      <vt:lpstr>Definitions</vt:lpstr>
      <vt:lpstr>Useful Properties</vt:lpstr>
      <vt:lpstr>The Heap Data Structure</vt:lpstr>
      <vt:lpstr>Array Representation of Heaps</vt:lpstr>
      <vt:lpstr>Heap Types</vt:lpstr>
      <vt:lpstr>Adding/Deleting Nodes</vt:lpstr>
      <vt:lpstr>Operations on Heaps</vt:lpstr>
      <vt:lpstr>Maintaining the Heap Property</vt:lpstr>
      <vt:lpstr>Example</vt:lpstr>
      <vt:lpstr>Maintaining the Heap Property</vt:lpstr>
      <vt:lpstr>MAX-HEAPIFY Running Time</vt:lpstr>
      <vt:lpstr>Building a Heap</vt:lpstr>
      <vt:lpstr>Example:         A</vt:lpstr>
      <vt:lpstr>Complexity of BUILD MAX HEAP</vt:lpstr>
      <vt:lpstr>PowerPoint Presentation</vt:lpstr>
      <vt:lpstr>PowerPoint Presentation</vt:lpstr>
      <vt:lpstr>Heapsort</vt:lpstr>
      <vt:lpstr>Example:  A=[7, 4, 3, 1, 2]</vt:lpstr>
      <vt:lpstr>Alg: HEAPSORT(A)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user1</cp:lastModifiedBy>
  <cp:revision>482</cp:revision>
  <cp:lastPrinted>1998-07-27T03:15:14Z</cp:lastPrinted>
  <dcterms:created xsi:type="dcterms:W3CDTF">1998-07-26T04:07:26Z</dcterms:created>
  <dcterms:modified xsi:type="dcterms:W3CDTF">2025-07-28T10:25:55Z</dcterms:modified>
</cp:coreProperties>
</file>