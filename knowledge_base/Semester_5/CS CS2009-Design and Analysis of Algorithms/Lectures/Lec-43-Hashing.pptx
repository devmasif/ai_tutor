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4"/>
  </p:notesMasterIdLst>
  <p:handoutMasterIdLst>
    <p:handoutMasterId r:id="rId45"/>
  </p:handoutMasterIdLst>
  <p:sldIdLst>
    <p:sldId id="283" r:id="rId2"/>
    <p:sldId id="284" r:id="rId3"/>
    <p:sldId id="285" r:id="rId4"/>
    <p:sldId id="286" r:id="rId5"/>
    <p:sldId id="288" r:id="rId6"/>
    <p:sldId id="289" r:id="rId7"/>
    <p:sldId id="290" r:id="rId8"/>
    <p:sldId id="291" r:id="rId9"/>
    <p:sldId id="294" r:id="rId10"/>
    <p:sldId id="295" r:id="rId11"/>
    <p:sldId id="297" r:id="rId12"/>
    <p:sldId id="299" r:id="rId13"/>
    <p:sldId id="300" r:id="rId14"/>
    <p:sldId id="301" r:id="rId15"/>
    <p:sldId id="304" r:id="rId16"/>
    <p:sldId id="305" r:id="rId17"/>
    <p:sldId id="306"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Lst>
  <p:sldSz cx="9144000" cy="6858000" type="screen4x3"/>
  <p:notesSz cx="6661150" cy="987107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5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CC"/>
    <a:srgbClr val="FFFF99"/>
    <a:srgbClr val="99FF99"/>
    <a:srgbClr val="99CCFF"/>
    <a:srgbClr val="FFFF00"/>
    <a:srgbClr val="063DE8"/>
    <a:srgbClr val="FC01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967" autoAdjust="0"/>
    <p:restoredTop sz="94660"/>
  </p:normalViewPr>
  <p:slideViewPr>
    <p:cSldViewPr>
      <p:cViewPr varScale="1">
        <p:scale>
          <a:sx n="73" d="100"/>
          <a:sy n="73" d="100"/>
        </p:scale>
        <p:origin x="1404" y="78"/>
      </p:cViewPr>
      <p:guideLst>
        <p:guide orient="horz" pos="2160"/>
        <p:guide pos="55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887413" y="4689475"/>
            <a:ext cx="4886325" cy="444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9846" tIns="44134" rIns="89846" bIns="44134"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051" name="Rectangle 3"/>
          <p:cNvSpPr>
            <a:spLocks noChangeArrowheads="1" noTextEdit="1"/>
          </p:cNvSpPr>
          <p:nvPr>
            <p:ph type="sldImg" idx="2"/>
          </p:nvPr>
        </p:nvSpPr>
        <p:spPr bwMode="auto">
          <a:xfrm>
            <a:off x="871538" y="746125"/>
            <a:ext cx="4919662" cy="36893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Tree>
    <p:extLst>
      <p:ext uri="{BB962C8B-B14F-4D97-AF65-F5344CB8AC3E}">
        <p14:creationId xmlns:p14="http://schemas.microsoft.com/office/powerpoint/2010/main" val="3901159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97880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1601076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143000"/>
            <a:ext cx="38481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143000"/>
            <a:ext cx="38481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914179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137479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804936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46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6783916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4185371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820951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304800"/>
            <a:ext cx="1962150" cy="6324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304800"/>
            <a:ext cx="5734050" cy="6324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13660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685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143000"/>
            <a:ext cx="38481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86300" y="1143000"/>
            <a:ext cx="38481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208925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772400" cy="6858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143000"/>
            <a:ext cx="7848600" cy="5486400"/>
          </a:xfrm>
        </p:spPr>
        <p:txBody>
          <a:bodyPr/>
          <a:lstStyle/>
          <a:p>
            <a:pPr lvl="0"/>
            <a:endParaRPr lang="en-US" noProof="0" smtClean="0"/>
          </a:p>
        </p:txBody>
      </p:sp>
    </p:spTree>
    <p:extLst>
      <p:ext uri="{BB962C8B-B14F-4D97-AF65-F5344CB8AC3E}">
        <p14:creationId xmlns:p14="http://schemas.microsoft.com/office/powerpoint/2010/main" val="1585380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1143000"/>
            <a:ext cx="78486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spcBef>
          <a:spcPct val="0"/>
        </a:spcBef>
        <a:spcAft>
          <a:spcPct val="0"/>
        </a:spcAft>
        <a:defRPr sz="3200" b="1" i="1" kern="1200">
          <a:solidFill>
            <a:srgbClr val="063DE8"/>
          </a:solidFill>
          <a:latin typeface="+mj-lt"/>
          <a:ea typeface="+mj-ea"/>
          <a:cs typeface="+mj-cs"/>
        </a:defRPr>
      </a:lvl1pPr>
      <a:lvl2pPr algn="l" rtl="0" eaLnBrk="0" fontAlgn="base" hangingPunct="0">
        <a:spcBef>
          <a:spcPct val="0"/>
        </a:spcBef>
        <a:spcAft>
          <a:spcPct val="0"/>
        </a:spcAft>
        <a:defRPr sz="3200" b="1" i="1">
          <a:solidFill>
            <a:srgbClr val="063DE8"/>
          </a:solidFill>
          <a:latin typeface="Arial" panose="020B0604020202020204" pitchFamily="34" charset="0"/>
        </a:defRPr>
      </a:lvl2pPr>
      <a:lvl3pPr algn="l" rtl="0" eaLnBrk="0" fontAlgn="base" hangingPunct="0">
        <a:spcBef>
          <a:spcPct val="0"/>
        </a:spcBef>
        <a:spcAft>
          <a:spcPct val="0"/>
        </a:spcAft>
        <a:defRPr sz="3200" b="1" i="1">
          <a:solidFill>
            <a:srgbClr val="063DE8"/>
          </a:solidFill>
          <a:latin typeface="Arial" panose="020B0604020202020204" pitchFamily="34" charset="0"/>
        </a:defRPr>
      </a:lvl3pPr>
      <a:lvl4pPr algn="l" rtl="0" eaLnBrk="0" fontAlgn="base" hangingPunct="0">
        <a:spcBef>
          <a:spcPct val="0"/>
        </a:spcBef>
        <a:spcAft>
          <a:spcPct val="0"/>
        </a:spcAft>
        <a:defRPr sz="3200" b="1" i="1">
          <a:solidFill>
            <a:srgbClr val="063DE8"/>
          </a:solidFill>
          <a:latin typeface="Arial" panose="020B0604020202020204" pitchFamily="34" charset="0"/>
        </a:defRPr>
      </a:lvl4pPr>
      <a:lvl5pPr algn="l" rtl="0" eaLnBrk="0" fontAlgn="base" hangingPunct="0">
        <a:spcBef>
          <a:spcPct val="0"/>
        </a:spcBef>
        <a:spcAft>
          <a:spcPct val="0"/>
        </a:spcAft>
        <a:defRPr sz="3200" b="1" i="1">
          <a:solidFill>
            <a:srgbClr val="063DE8"/>
          </a:solidFill>
          <a:latin typeface="Arial" panose="020B0604020202020204" pitchFamily="34" charset="0"/>
        </a:defRPr>
      </a:lvl5pPr>
      <a:lvl6pPr marL="457200" algn="l" rtl="0" eaLnBrk="0" fontAlgn="base" hangingPunct="0">
        <a:spcBef>
          <a:spcPct val="0"/>
        </a:spcBef>
        <a:spcAft>
          <a:spcPct val="0"/>
        </a:spcAft>
        <a:defRPr sz="3200" b="1" i="1">
          <a:solidFill>
            <a:srgbClr val="063DE8"/>
          </a:solidFill>
          <a:latin typeface="Arial" panose="020B0604020202020204" pitchFamily="34" charset="0"/>
        </a:defRPr>
      </a:lvl6pPr>
      <a:lvl7pPr marL="914400" algn="l" rtl="0" eaLnBrk="0" fontAlgn="base" hangingPunct="0">
        <a:spcBef>
          <a:spcPct val="0"/>
        </a:spcBef>
        <a:spcAft>
          <a:spcPct val="0"/>
        </a:spcAft>
        <a:defRPr sz="3200" b="1" i="1">
          <a:solidFill>
            <a:srgbClr val="063DE8"/>
          </a:solidFill>
          <a:latin typeface="Arial" panose="020B0604020202020204" pitchFamily="34" charset="0"/>
        </a:defRPr>
      </a:lvl7pPr>
      <a:lvl8pPr marL="1371600" algn="l" rtl="0" eaLnBrk="0" fontAlgn="base" hangingPunct="0">
        <a:spcBef>
          <a:spcPct val="0"/>
        </a:spcBef>
        <a:spcAft>
          <a:spcPct val="0"/>
        </a:spcAft>
        <a:defRPr sz="3200" b="1" i="1">
          <a:solidFill>
            <a:srgbClr val="063DE8"/>
          </a:solidFill>
          <a:latin typeface="Arial" panose="020B0604020202020204" pitchFamily="34" charset="0"/>
        </a:defRPr>
      </a:lvl8pPr>
      <a:lvl9pPr marL="1828800" algn="l" rtl="0" eaLnBrk="0" fontAlgn="base" hangingPunct="0">
        <a:spcBef>
          <a:spcPct val="0"/>
        </a:spcBef>
        <a:spcAft>
          <a:spcPct val="0"/>
        </a:spcAft>
        <a:defRPr sz="3200" b="1" i="1">
          <a:solidFill>
            <a:srgbClr val="063DE8"/>
          </a:solidFill>
          <a:latin typeface="Arial" panose="020B0604020202020204" pitchFamily="34" charset="0"/>
        </a:defRPr>
      </a:lvl9pPr>
    </p:titleStyle>
    <p:bodyStyle>
      <a:lvl1pPr marL="342900" indent="-342900" algn="l" rtl="0" eaLnBrk="0" fontAlgn="base" hangingPunct="0">
        <a:spcBef>
          <a:spcPct val="20000"/>
        </a:spcBef>
        <a:spcAft>
          <a:spcPct val="0"/>
        </a:spcAft>
        <a:buSzPct val="100000"/>
        <a:buChar char="•"/>
        <a:defRPr sz="2800" b="1" kern="12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sz="2400" b="1" kern="1200">
          <a:solidFill>
            <a:srgbClr val="063DE8"/>
          </a:solidFill>
          <a:latin typeface="+mn-lt"/>
          <a:ea typeface="+mn-ea"/>
          <a:cs typeface="+mn-cs"/>
        </a:defRPr>
      </a:lvl2pPr>
      <a:lvl3pPr marL="1143000" indent="-228600" algn="l" rtl="0" eaLnBrk="0" fontAlgn="base" hangingPunct="0">
        <a:spcBef>
          <a:spcPct val="20000"/>
        </a:spcBef>
        <a:spcAft>
          <a:spcPct val="0"/>
        </a:spcAft>
        <a:buSzPct val="100000"/>
        <a:buChar char="•"/>
        <a:defRPr sz="2400" b="1" kern="1200">
          <a:solidFill>
            <a:schemeClr val="tx1"/>
          </a:solidFill>
          <a:latin typeface="+mn-lt"/>
          <a:ea typeface="+mn-ea"/>
          <a:cs typeface="+mn-cs"/>
        </a:defRPr>
      </a:lvl3pPr>
      <a:lvl4pPr marL="1600200" indent="-228600" algn="l" rtl="0" eaLnBrk="0" fontAlgn="base" hangingPunct="0">
        <a:spcBef>
          <a:spcPct val="20000"/>
        </a:spcBef>
        <a:spcAft>
          <a:spcPct val="0"/>
        </a:spcAft>
        <a:buSzPct val="100000"/>
        <a:buChar char="•"/>
        <a:defRPr b="1" kern="1200">
          <a:solidFill>
            <a:schemeClr val="tx1"/>
          </a:solidFill>
          <a:latin typeface="+mn-lt"/>
          <a:ea typeface="+mn-ea"/>
          <a:cs typeface="+mn-cs"/>
        </a:defRPr>
      </a:lvl4pPr>
      <a:lvl5pPr marL="2057400" indent="-228600" algn="l" rtl="0" eaLnBrk="0" fontAlgn="base" hangingPunct="0">
        <a:spcBef>
          <a:spcPct val="20000"/>
        </a:spcBef>
        <a:spcAft>
          <a:spcPct val="0"/>
        </a:spcAft>
        <a:buSzPct val="100000"/>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6.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7.wmf"/><Relationship Id="rId5" Type="http://schemas.openxmlformats.org/officeDocument/2006/relationships/oleObject" Target="../embeddings/oleObject8.bin"/><Relationship Id="rId4" Type="http://schemas.openxmlformats.org/officeDocument/2006/relationships/image" Target="../media/image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990600" y="381000"/>
            <a:ext cx="7924800" cy="1173163"/>
          </a:xfrm>
        </p:spPr>
        <p:txBody>
          <a:bodyPr/>
          <a:lstStyle/>
          <a:p>
            <a:r>
              <a:rPr lang="en-US" altLang="en-US" u="sng" smtClean="0"/>
              <a:t>Hashing</a:t>
            </a:r>
          </a:p>
        </p:txBody>
      </p:sp>
      <p:sp>
        <p:nvSpPr>
          <p:cNvPr id="3075" name="Rectangle 3"/>
          <p:cNvSpPr>
            <a:spLocks noGrp="1" noChangeArrowheads="1"/>
          </p:cNvSpPr>
          <p:nvPr>
            <p:ph type="body" sz="half" idx="1"/>
          </p:nvPr>
        </p:nvSpPr>
        <p:spPr>
          <a:xfrm>
            <a:off x="685800" y="1447800"/>
            <a:ext cx="7048500" cy="5181600"/>
          </a:xfrm>
        </p:spPr>
        <p:txBody>
          <a:bodyPr/>
          <a:lstStyle/>
          <a:p>
            <a:pPr>
              <a:lnSpc>
                <a:spcPct val="150000"/>
              </a:lnSpc>
            </a:pPr>
            <a:r>
              <a:rPr lang="en-US" altLang="en-US" sz="2400" smtClean="0"/>
              <a:t>Tables</a:t>
            </a:r>
          </a:p>
          <a:p>
            <a:pPr>
              <a:lnSpc>
                <a:spcPct val="150000"/>
              </a:lnSpc>
            </a:pPr>
            <a:r>
              <a:rPr lang="en-US" altLang="en-US" sz="2400" smtClean="0"/>
              <a:t>Direct address tables</a:t>
            </a:r>
          </a:p>
          <a:p>
            <a:pPr>
              <a:lnSpc>
                <a:spcPct val="150000"/>
              </a:lnSpc>
            </a:pPr>
            <a:r>
              <a:rPr lang="en-US" altLang="en-US" sz="2400" smtClean="0"/>
              <a:t>Hash tables</a:t>
            </a:r>
          </a:p>
          <a:p>
            <a:pPr>
              <a:lnSpc>
                <a:spcPct val="150000"/>
              </a:lnSpc>
            </a:pPr>
            <a:r>
              <a:rPr lang="en-US" altLang="en-US" sz="2400" smtClean="0"/>
              <a:t>Collision and collision resolution</a:t>
            </a:r>
          </a:p>
          <a:p>
            <a:pPr>
              <a:lnSpc>
                <a:spcPct val="150000"/>
              </a:lnSpc>
            </a:pPr>
            <a:r>
              <a:rPr lang="en-US" altLang="en-US" sz="2400" smtClean="0"/>
              <a:t>Chaining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762000" y="274638"/>
            <a:ext cx="7924800" cy="1173162"/>
          </a:xfrm>
        </p:spPr>
        <p:txBody>
          <a:bodyPr/>
          <a:lstStyle/>
          <a:p>
            <a:r>
              <a:rPr lang="en-US" altLang="en-US" u="sng" smtClean="0"/>
              <a:t>Introduction</a:t>
            </a:r>
          </a:p>
        </p:txBody>
      </p:sp>
      <p:sp>
        <p:nvSpPr>
          <p:cNvPr id="4099" name="Rectangle 3"/>
          <p:cNvSpPr>
            <a:spLocks noGrp="1" noChangeArrowheads="1"/>
          </p:cNvSpPr>
          <p:nvPr>
            <p:ph type="body" sz="half" idx="1"/>
          </p:nvPr>
        </p:nvSpPr>
        <p:spPr>
          <a:xfrm>
            <a:off x="152400" y="2133600"/>
            <a:ext cx="8686800" cy="4572000"/>
          </a:xfrm>
        </p:spPr>
        <p:txBody>
          <a:bodyPr/>
          <a:lstStyle/>
          <a:p>
            <a:r>
              <a:rPr lang="en-US" altLang="en-US" sz="2400" smtClean="0"/>
              <a:t>Many applications require a dynamic set that supports dictionary operations.</a:t>
            </a:r>
          </a:p>
          <a:p>
            <a:endParaRPr lang="en-US" altLang="en-US" sz="1000" smtClean="0"/>
          </a:p>
          <a:p>
            <a:r>
              <a:rPr lang="en-US" altLang="en-US" sz="2400" b="0" smtClean="0"/>
              <a:t>Example:</a:t>
            </a:r>
            <a:r>
              <a:rPr lang="en-US" altLang="en-US" sz="2400" smtClean="0"/>
              <a:t> a compiler maintaining a symbol table where keys correspond to identifiers</a:t>
            </a:r>
          </a:p>
          <a:p>
            <a:endParaRPr lang="en-US" altLang="en-US" sz="1000" smtClean="0"/>
          </a:p>
          <a:p>
            <a:r>
              <a:rPr lang="en-US" altLang="en-US" sz="2400" smtClean="0"/>
              <a:t>Hash table is a good data structure for implementing dictionary operations</a:t>
            </a:r>
          </a:p>
          <a:p>
            <a:endParaRPr lang="en-US" altLang="en-US" sz="1000" smtClean="0"/>
          </a:p>
          <a:p>
            <a:r>
              <a:rPr lang="en-US" altLang="en-US" sz="2400" smtClean="0"/>
              <a:t>Although searching can take as long as a linked list implementation i.e. O(n) in worst case.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62000" y="274638"/>
            <a:ext cx="7924800" cy="1173162"/>
          </a:xfrm>
        </p:spPr>
        <p:txBody>
          <a:bodyPr/>
          <a:lstStyle/>
          <a:p>
            <a:r>
              <a:rPr lang="en-US" altLang="en-US" u="sng" smtClean="0"/>
              <a:t>Introduction</a:t>
            </a:r>
          </a:p>
        </p:txBody>
      </p:sp>
      <p:sp>
        <p:nvSpPr>
          <p:cNvPr id="5123" name="Rectangle 3"/>
          <p:cNvSpPr>
            <a:spLocks noGrp="1" noChangeArrowheads="1"/>
          </p:cNvSpPr>
          <p:nvPr>
            <p:ph type="body" sz="half" idx="1"/>
          </p:nvPr>
        </p:nvSpPr>
        <p:spPr>
          <a:xfrm>
            <a:off x="0" y="1981200"/>
            <a:ext cx="9144000" cy="4525963"/>
          </a:xfrm>
        </p:spPr>
        <p:txBody>
          <a:bodyPr/>
          <a:lstStyle/>
          <a:p>
            <a:pPr>
              <a:lnSpc>
                <a:spcPct val="90000"/>
              </a:lnSpc>
            </a:pPr>
            <a:r>
              <a:rPr lang="en-US" altLang="en-US" sz="2400" smtClean="0"/>
              <a:t>With reasonable assumptions it can take O(1) time.</a:t>
            </a:r>
          </a:p>
          <a:p>
            <a:pPr>
              <a:lnSpc>
                <a:spcPct val="90000"/>
              </a:lnSpc>
            </a:pPr>
            <a:endParaRPr lang="en-US" altLang="en-US" sz="1000" smtClean="0"/>
          </a:p>
          <a:p>
            <a:pPr>
              <a:lnSpc>
                <a:spcPct val="90000"/>
              </a:lnSpc>
            </a:pPr>
            <a:r>
              <a:rPr lang="en-US" altLang="en-US" sz="2400" smtClean="0"/>
              <a:t>In practice hashing performs extremely well.</a:t>
            </a:r>
          </a:p>
          <a:p>
            <a:pPr>
              <a:lnSpc>
                <a:spcPct val="90000"/>
              </a:lnSpc>
            </a:pPr>
            <a:endParaRPr lang="en-US" altLang="en-US" sz="1000" smtClean="0"/>
          </a:p>
          <a:p>
            <a:pPr>
              <a:lnSpc>
                <a:spcPct val="90000"/>
              </a:lnSpc>
            </a:pPr>
            <a:r>
              <a:rPr lang="en-US" altLang="en-US" sz="2400" smtClean="0"/>
              <a:t>A hash table is a generalization of an ordinary array where direct addressing takes O(1) time.</a:t>
            </a:r>
          </a:p>
          <a:p>
            <a:pPr>
              <a:lnSpc>
                <a:spcPct val="90000"/>
              </a:lnSpc>
            </a:pPr>
            <a:endParaRPr lang="en-US" altLang="en-US" sz="1000" smtClean="0"/>
          </a:p>
          <a:p>
            <a:pPr>
              <a:lnSpc>
                <a:spcPct val="90000"/>
              </a:lnSpc>
            </a:pPr>
            <a:r>
              <a:rPr lang="en-US" altLang="en-US" sz="2400" smtClean="0"/>
              <a:t>When the actual keys is NOT small relative to the total number of keys, hashing is an effective alternative.</a:t>
            </a:r>
          </a:p>
          <a:p>
            <a:pPr>
              <a:lnSpc>
                <a:spcPct val="90000"/>
              </a:lnSpc>
            </a:pPr>
            <a:endParaRPr lang="en-US" altLang="en-US" sz="1200" smtClean="0"/>
          </a:p>
          <a:p>
            <a:pPr>
              <a:lnSpc>
                <a:spcPct val="90000"/>
              </a:lnSpc>
            </a:pPr>
            <a:r>
              <a:rPr lang="en-US" altLang="en-US" sz="2400" smtClean="0"/>
              <a:t>A key can be accessed using an array index, or is computed.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smtClean="0"/>
              <a:t>What are Tables?</a:t>
            </a:r>
          </a:p>
        </p:txBody>
      </p:sp>
      <p:sp>
        <p:nvSpPr>
          <p:cNvPr id="6147" name="Rectangle 3"/>
          <p:cNvSpPr>
            <a:spLocks noGrp="1" noChangeArrowheads="1"/>
          </p:cNvSpPr>
          <p:nvPr>
            <p:ph type="body" idx="1"/>
          </p:nvPr>
        </p:nvSpPr>
        <p:spPr>
          <a:xfrm>
            <a:off x="533400" y="2017713"/>
            <a:ext cx="8421688" cy="4114800"/>
          </a:xfrm>
        </p:spPr>
        <p:txBody>
          <a:bodyPr/>
          <a:lstStyle/>
          <a:p>
            <a:pPr>
              <a:lnSpc>
                <a:spcPct val="90000"/>
              </a:lnSpc>
            </a:pPr>
            <a:r>
              <a:rPr lang="en-US" altLang="en-US" smtClean="0"/>
              <a:t>Table is an abstract storage device that contains table entries</a:t>
            </a:r>
          </a:p>
          <a:p>
            <a:pPr>
              <a:lnSpc>
                <a:spcPct val="90000"/>
              </a:lnSpc>
            </a:pPr>
            <a:endParaRPr lang="en-US" altLang="en-US" sz="1800" smtClean="0"/>
          </a:p>
          <a:p>
            <a:pPr>
              <a:lnSpc>
                <a:spcPct val="90000"/>
              </a:lnSpc>
            </a:pPr>
            <a:r>
              <a:rPr lang="en-US" altLang="en-US" smtClean="0"/>
              <a:t>Each table entry contains a unique key </a:t>
            </a:r>
            <a:r>
              <a:rPr lang="en-US" altLang="en-US" i="1" smtClean="0"/>
              <a:t>k</a:t>
            </a:r>
            <a:r>
              <a:rPr lang="en-US" altLang="en-US" smtClean="0"/>
              <a:t>.</a:t>
            </a:r>
          </a:p>
          <a:p>
            <a:pPr>
              <a:lnSpc>
                <a:spcPct val="90000"/>
              </a:lnSpc>
            </a:pPr>
            <a:endParaRPr lang="en-US" altLang="en-US" sz="1600" smtClean="0"/>
          </a:p>
          <a:p>
            <a:pPr>
              <a:lnSpc>
                <a:spcPct val="90000"/>
              </a:lnSpc>
            </a:pPr>
            <a:r>
              <a:rPr lang="en-US" altLang="en-US" smtClean="0"/>
              <a:t>Each table entry may also contain some information, </a:t>
            </a:r>
            <a:r>
              <a:rPr lang="en-US" altLang="en-US" i="1" smtClean="0"/>
              <a:t>I</a:t>
            </a:r>
            <a:r>
              <a:rPr lang="en-US" altLang="en-US" smtClean="0"/>
              <a:t>, associated with its key.</a:t>
            </a:r>
          </a:p>
          <a:p>
            <a:pPr>
              <a:lnSpc>
                <a:spcPct val="90000"/>
              </a:lnSpc>
            </a:pPr>
            <a:endParaRPr lang="en-US" altLang="en-US" sz="1800" smtClean="0"/>
          </a:p>
          <a:p>
            <a:pPr>
              <a:lnSpc>
                <a:spcPct val="90000"/>
              </a:lnSpc>
            </a:pPr>
            <a:r>
              <a:rPr lang="en-US" altLang="en-US" smtClean="0"/>
              <a:t>A table entry is an ordered pair </a:t>
            </a:r>
            <a:r>
              <a:rPr lang="en-US" altLang="en-US" i="1" smtClean="0"/>
              <a:t>(K, I)</a:t>
            </a:r>
            <a:r>
              <a:rPr lang="en-US" altLang="en-US" sz="2400" i="1" smtClean="0"/>
              <a:t>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smtClean="0"/>
              <a:t>Direct Addressing</a:t>
            </a:r>
          </a:p>
        </p:txBody>
      </p:sp>
      <p:sp>
        <p:nvSpPr>
          <p:cNvPr id="7171" name="Rectangle 3"/>
          <p:cNvSpPr>
            <a:spLocks noGrp="1" noChangeArrowheads="1"/>
          </p:cNvSpPr>
          <p:nvPr>
            <p:ph type="body" idx="1"/>
          </p:nvPr>
        </p:nvSpPr>
        <p:spPr>
          <a:xfrm>
            <a:off x="1143000" y="1676400"/>
            <a:ext cx="7772400" cy="4114800"/>
          </a:xfrm>
        </p:spPr>
        <p:txBody>
          <a:bodyPr/>
          <a:lstStyle/>
          <a:p>
            <a:r>
              <a:rPr lang="en-US" altLang="en-US" smtClean="0"/>
              <a:t>Suppose:</a:t>
            </a:r>
          </a:p>
          <a:p>
            <a:pPr lvl="1"/>
            <a:r>
              <a:rPr lang="en-US" altLang="en-US" smtClean="0"/>
              <a:t>The range of keys is 0..</a:t>
            </a:r>
            <a:r>
              <a:rPr lang="en-US" altLang="en-US" i="1" smtClean="0"/>
              <a:t>m</a:t>
            </a:r>
            <a:r>
              <a:rPr lang="en-US" altLang="en-US" smtClean="0"/>
              <a:t>-1 </a:t>
            </a:r>
          </a:p>
          <a:p>
            <a:pPr lvl="1"/>
            <a:r>
              <a:rPr lang="en-US" altLang="en-US" smtClean="0"/>
              <a:t>Keys are distinct</a:t>
            </a:r>
          </a:p>
          <a:p>
            <a:r>
              <a:rPr lang="en-US" altLang="en-US" smtClean="0"/>
              <a:t>The idea:</a:t>
            </a:r>
          </a:p>
          <a:p>
            <a:pPr lvl="1"/>
            <a:r>
              <a:rPr lang="en-US" altLang="en-US" smtClean="0"/>
              <a:t>Set up an array T[0..m-1] in which </a:t>
            </a:r>
          </a:p>
          <a:p>
            <a:pPr lvl="2"/>
            <a:r>
              <a:rPr lang="en-US" altLang="en-US" smtClean="0"/>
              <a:t>T[</a:t>
            </a:r>
            <a:r>
              <a:rPr lang="en-US" altLang="en-US" i="1" smtClean="0"/>
              <a:t>i</a:t>
            </a:r>
            <a:r>
              <a:rPr lang="en-US" altLang="en-US" smtClean="0"/>
              <a:t>] = </a:t>
            </a:r>
            <a:r>
              <a:rPr lang="en-US" altLang="en-US" i="1" smtClean="0"/>
              <a:t>x		</a:t>
            </a:r>
            <a:r>
              <a:rPr lang="en-US" altLang="en-US" smtClean="0"/>
              <a:t>if </a:t>
            </a:r>
            <a:r>
              <a:rPr lang="en-US" altLang="en-US" i="1" smtClean="0"/>
              <a:t>x</a:t>
            </a:r>
            <a:r>
              <a:rPr lang="en-US" altLang="en-US" smtClean="0">
                <a:sym typeface="Symbol" panose="05050102010706020507" pitchFamily="18" charset="2"/>
              </a:rPr>
              <a:t> </a:t>
            </a:r>
            <a:r>
              <a:rPr lang="en-US" altLang="en-US" i="1" smtClean="0">
                <a:sym typeface="Symbol" panose="05050102010706020507" pitchFamily="18" charset="2"/>
              </a:rPr>
              <a:t>T </a:t>
            </a:r>
            <a:r>
              <a:rPr lang="en-US" altLang="en-US" smtClean="0">
                <a:sym typeface="Symbol" panose="05050102010706020507" pitchFamily="18" charset="2"/>
              </a:rPr>
              <a:t> and key[</a:t>
            </a:r>
            <a:r>
              <a:rPr lang="en-US" altLang="en-US" i="1" smtClean="0">
                <a:sym typeface="Symbol" panose="05050102010706020507" pitchFamily="18" charset="2"/>
              </a:rPr>
              <a:t>x</a:t>
            </a:r>
            <a:r>
              <a:rPr lang="en-US" altLang="en-US" smtClean="0">
                <a:sym typeface="Symbol" panose="05050102010706020507" pitchFamily="18" charset="2"/>
              </a:rPr>
              <a:t>] = </a:t>
            </a:r>
            <a:r>
              <a:rPr lang="en-US" altLang="en-US" i="1" smtClean="0">
                <a:sym typeface="Symbol" panose="05050102010706020507" pitchFamily="18" charset="2"/>
              </a:rPr>
              <a:t>i</a:t>
            </a:r>
          </a:p>
          <a:p>
            <a:pPr lvl="2"/>
            <a:r>
              <a:rPr lang="en-US" altLang="en-US" smtClean="0"/>
              <a:t>T[</a:t>
            </a:r>
            <a:r>
              <a:rPr lang="en-US" altLang="en-US" i="1" smtClean="0"/>
              <a:t>i</a:t>
            </a:r>
            <a:r>
              <a:rPr lang="en-US" altLang="en-US" smtClean="0"/>
              <a:t>] = NULL	otherwise</a:t>
            </a:r>
          </a:p>
          <a:p>
            <a:pPr lvl="1"/>
            <a:r>
              <a:rPr lang="en-US" altLang="en-US" smtClean="0"/>
              <a:t>This is called a </a:t>
            </a:r>
            <a:r>
              <a:rPr lang="en-US" altLang="en-US" i="1" smtClean="0">
                <a:solidFill>
                  <a:schemeClr val="tx2"/>
                </a:solidFill>
              </a:rPr>
              <a:t>direct-address table</a:t>
            </a:r>
            <a:endParaRPr lang="en-US" altLang="en-US" smtClean="0"/>
          </a:p>
          <a:p>
            <a:pPr lvl="2"/>
            <a:r>
              <a:rPr lang="en-US" altLang="en-US" smtClean="0"/>
              <a:t>Operations take O(1) time!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endParaRPr lang="en-US" altLang="en-US" smtClean="0"/>
          </a:p>
        </p:txBody>
      </p:sp>
      <p:graphicFrame>
        <p:nvGraphicFramePr>
          <p:cNvPr id="8195" name="Object 3"/>
          <p:cNvGraphicFramePr>
            <a:graphicFrameLocks noChangeAspect="1"/>
          </p:cNvGraphicFramePr>
          <p:nvPr>
            <p:ph idx="1"/>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8197" name="Photo Editor Photo" r:id="rId3" imgW="5714286" imgH="4285714" progId="MSPhotoEd.3">
                  <p:embed/>
                </p:oleObj>
              </mc:Choice>
              <mc:Fallback>
                <p:oleObj name="Photo Editor Photo" r:id="rId3" imgW="5714286" imgH="4285714" progId="MSPhotoEd.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6" name="Text Box 4"/>
          <p:cNvSpPr txBox="1">
            <a:spLocks noChangeArrowheads="1"/>
          </p:cNvSpPr>
          <p:nvPr/>
        </p:nvSpPr>
        <p:spPr bwMode="auto">
          <a:xfrm>
            <a:off x="8610600" y="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1" hangingPunct="1">
              <a:spcBef>
                <a:spcPct val="50000"/>
              </a:spcBef>
              <a:buSzTx/>
              <a:buFontTx/>
              <a:buNone/>
            </a:pPr>
            <a:r>
              <a:rPr lang="en-US" altLang="en-US" sz="1800" b="0"/>
              <a:t>8</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smtClean="0"/>
              <a:t>Advantages with Direct Addressing</a:t>
            </a:r>
          </a:p>
        </p:txBody>
      </p:sp>
      <p:sp>
        <p:nvSpPr>
          <p:cNvPr id="9219" name="Rectangle 3"/>
          <p:cNvSpPr>
            <a:spLocks noGrp="1" noChangeArrowheads="1"/>
          </p:cNvSpPr>
          <p:nvPr>
            <p:ph type="body" idx="1"/>
          </p:nvPr>
        </p:nvSpPr>
        <p:spPr>
          <a:xfrm>
            <a:off x="228600" y="2017713"/>
            <a:ext cx="8726488" cy="4114800"/>
          </a:xfrm>
        </p:spPr>
        <p:txBody>
          <a:bodyPr/>
          <a:lstStyle/>
          <a:p>
            <a:r>
              <a:rPr lang="en-US" altLang="en-US" smtClean="0"/>
              <a:t>Direct Addressing is the most efficient way to access the data since.</a:t>
            </a:r>
          </a:p>
          <a:p>
            <a:endParaRPr lang="en-US" altLang="en-US" sz="2000" smtClean="0"/>
          </a:p>
          <a:p>
            <a:r>
              <a:rPr lang="en-US" altLang="en-US" smtClean="0"/>
              <a:t>It takes only single step for any operation on direct address table.</a:t>
            </a:r>
          </a:p>
          <a:p>
            <a:endParaRPr lang="en-US" altLang="en-US" sz="2000" smtClean="0"/>
          </a:p>
          <a:p>
            <a:r>
              <a:rPr lang="en-US" altLang="en-US" smtClean="0"/>
              <a:t>It works well when the Universe U of keys is reasonable small.</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smtClean="0"/>
              <a:t>Difficulty with Direct Addressing</a:t>
            </a:r>
          </a:p>
        </p:txBody>
      </p:sp>
      <p:sp>
        <p:nvSpPr>
          <p:cNvPr id="10243" name="Rectangle 3"/>
          <p:cNvSpPr>
            <a:spLocks noGrp="1" noChangeArrowheads="1"/>
          </p:cNvSpPr>
          <p:nvPr>
            <p:ph type="body" idx="1"/>
          </p:nvPr>
        </p:nvSpPr>
        <p:spPr>
          <a:xfrm>
            <a:off x="0" y="2017713"/>
            <a:ext cx="8955088" cy="4114800"/>
          </a:xfrm>
        </p:spPr>
        <p:txBody>
          <a:bodyPr/>
          <a:lstStyle/>
          <a:p>
            <a:pPr>
              <a:lnSpc>
                <a:spcPct val="90000"/>
              </a:lnSpc>
              <a:buFontTx/>
              <a:buNone/>
            </a:pPr>
            <a:r>
              <a:rPr lang="en-US" altLang="en-US" b="0" smtClean="0"/>
              <a:t>When the universe </a:t>
            </a:r>
            <a:r>
              <a:rPr lang="en-US" altLang="en-US" b="0" i="1" smtClean="0"/>
              <a:t>U</a:t>
            </a:r>
            <a:r>
              <a:rPr lang="en-US" altLang="en-US" b="0" smtClean="0"/>
              <a:t> is very large…</a:t>
            </a:r>
          </a:p>
          <a:p>
            <a:pPr>
              <a:lnSpc>
                <a:spcPct val="90000"/>
              </a:lnSpc>
              <a:buFontTx/>
              <a:buNone/>
            </a:pPr>
            <a:endParaRPr lang="en-US" altLang="en-US" sz="1800" b="0" smtClean="0"/>
          </a:p>
          <a:p>
            <a:pPr>
              <a:lnSpc>
                <a:spcPct val="90000"/>
              </a:lnSpc>
            </a:pPr>
            <a:r>
              <a:rPr lang="en-US" altLang="en-US" smtClean="0"/>
              <a:t>Storing a table </a:t>
            </a:r>
            <a:r>
              <a:rPr lang="en-US" altLang="en-US" i="1" smtClean="0"/>
              <a:t>T</a:t>
            </a:r>
            <a:r>
              <a:rPr lang="en-US" altLang="en-US" smtClean="0"/>
              <a:t> of size </a:t>
            </a:r>
            <a:r>
              <a:rPr lang="en-US" altLang="en-US" i="1" smtClean="0"/>
              <a:t>U</a:t>
            </a:r>
            <a:r>
              <a:rPr lang="en-US" altLang="en-US" smtClean="0"/>
              <a:t> may be impractical, given the memory available on a typical computer.</a:t>
            </a:r>
          </a:p>
          <a:p>
            <a:pPr>
              <a:lnSpc>
                <a:spcPct val="90000"/>
              </a:lnSpc>
            </a:pPr>
            <a:endParaRPr lang="en-US" altLang="en-US" sz="1800" smtClean="0"/>
          </a:p>
          <a:p>
            <a:pPr>
              <a:lnSpc>
                <a:spcPct val="90000"/>
              </a:lnSpc>
            </a:pPr>
            <a:r>
              <a:rPr lang="en-US" altLang="en-US" smtClean="0"/>
              <a:t>The set </a:t>
            </a:r>
            <a:r>
              <a:rPr lang="en-US" altLang="en-US" i="1" smtClean="0"/>
              <a:t>K</a:t>
            </a:r>
            <a:r>
              <a:rPr lang="en-US" altLang="en-US" smtClean="0"/>
              <a:t> of the keys actually stored may be so small relative to </a:t>
            </a:r>
            <a:r>
              <a:rPr lang="en-US" altLang="en-US" i="1" smtClean="0"/>
              <a:t>U</a:t>
            </a:r>
            <a:r>
              <a:rPr lang="en-US" altLang="en-US" smtClean="0"/>
              <a:t> that most of the space allocated for </a:t>
            </a:r>
            <a:r>
              <a:rPr lang="en-US" altLang="en-US" i="1" smtClean="0"/>
              <a:t>T</a:t>
            </a:r>
            <a:r>
              <a:rPr lang="en-US" altLang="en-US" smtClean="0"/>
              <a:t> would be wasted.</a:t>
            </a:r>
          </a:p>
          <a:p>
            <a:pPr>
              <a:lnSpc>
                <a:spcPct val="90000"/>
              </a:lnSpc>
            </a:pPr>
            <a:endParaRPr lang="en-US" altLang="en-US"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smtClean="0"/>
              <a:t>Hash Tables</a:t>
            </a:r>
          </a:p>
        </p:txBody>
      </p:sp>
      <p:sp>
        <p:nvSpPr>
          <p:cNvPr id="11267" name="Rectangle 3"/>
          <p:cNvSpPr>
            <a:spLocks noGrp="1" noChangeArrowheads="1"/>
          </p:cNvSpPr>
          <p:nvPr>
            <p:ph type="body" idx="1"/>
          </p:nvPr>
        </p:nvSpPr>
        <p:spPr>
          <a:xfrm>
            <a:off x="381000" y="2017713"/>
            <a:ext cx="8574088" cy="4114800"/>
          </a:xfrm>
        </p:spPr>
        <p:txBody>
          <a:bodyPr/>
          <a:lstStyle/>
          <a:p>
            <a:pPr>
              <a:lnSpc>
                <a:spcPct val="90000"/>
              </a:lnSpc>
            </a:pPr>
            <a:r>
              <a:rPr lang="en-US" altLang="en-US" smtClean="0"/>
              <a:t>Definition: the ideal table data structure is merely an array of some fixed size, containing the elements.</a:t>
            </a:r>
          </a:p>
          <a:p>
            <a:pPr>
              <a:lnSpc>
                <a:spcPct val="90000"/>
              </a:lnSpc>
            </a:pPr>
            <a:endParaRPr lang="en-US" altLang="en-US" sz="1600" smtClean="0"/>
          </a:p>
          <a:p>
            <a:pPr>
              <a:lnSpc>
                <a:spcPct val="90000"/>
              </a:lnSpc>
            </a:pPr>
            <a:r>
              <a:rPr lang="en-US" altLang="en-US" smtClean="0"/>
              <a:t>Consist : an </a:t>
            </a:r>
            <a:r>
              <a:rPr lang="en-US" altLang="en-US" b="0" u="sng" smtClean="0"/>
              <a:t>array</a:t>
            </a:r>
            <a:r>
              <a:rPr lang="en-US" altLang="en-US" smtClean="0"/>
              <a:t> and a </a:t>
            </a:r>
            <a:r>
              <a:rPr lang="en-US" altLang="en-US" b="0" u="sng" smtClean="0"/>
              <a:t>mapping function</a:t>
            </a:r>
            <a:r>
              <a:rPr lang="en-US" altLang="en-US" smtClean="0"/>
              <a:t> (known as </a:t>
            </a:r>
            <a:r>
              <a:rPr lang="en-US" altLang="en-US" u="sng" smtClean="0"/>
              <a:t>hash function</a:t>
            </a:r>
            <a:r>
              <a:rPr lang="en-US" altLang="en-US" smtClean="0"/>
              <a:t>)</a:t>
            </a:r>
          </a:p>
          <a:p>
            <a:pPr>
              <a:lnSpc>
                <a:spcPct val="90000"/>
              </a:lnSpc>
            </a:pPr>
            <a:endParaRPr lang="en-US" altLang="en-US" sz="1600" smtClean="0"/>
          </a:p>
          <a:p>
            <a:pPr>
              <a:lnSpc>
                <a:spcPct val="90000"/>
              </a:lnSpc>
            </a:pPr>
            <a:r>
              <a:rPr lang="en-US" altLang="en-US" smtClean="0"/>
              <a:t>Used for performing insertion, deletion and lookup on average in constant time.</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endParaRPr lang="en-US" altLang="en-US" smtClean="0"/>
          </a:p>
        </p:txBody>
      </p:sp>
      <p:graphicFrame>
        <p:nvGraphicFramePr>
          <p:cNvPr id="12291" name="Object 3"/>
          <p:cNvGraphicFramePr>
            <a:graphicFrameLocks noChangeAspect="1"/>
          </p:cNvGraphicFramePr>
          <p:nvPr>
            <p:ph idx="1"/>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12293" name="Photo Editor Photo" r:id="rId3" imgW="5714286" imgH="4285714" progId="MSPhotoEd.3">
                  <p:embed/>
                </p:oleObj>
              </mc:Choice>
              <mc:Fallback>
                <p:oleObj name="Photo Editor Photo" r:id="rId3" imgW="5714286" imgH="4285714" progId="MSPhotoEd.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2" name="Text Box 4"/>
          <p:cNvSpPr txBox="1">
            <a:spLocks noChangeArrowheads="1"/>
          </p:cNvSpPr>
          <p:nvPr/>
        </p:nvSpPr>
        <p:spPr bwMode="auto">
          <a:xfrm>
            <a:off x="8610600" y="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1" hangingPunct="1">
              <a:spcBef>
                <a:spcPct val="50000"/>
              </a:spcBef>
              <a:buSzTx/>
              <a:buFontTx/>
              <a:buNone/>
            </a:pPr>
            <a:r>
              <a:rPr lang="en-US" altLang="en-US" sz="1800" b="0"/>
              <a:t>14</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endParaRPr lang="en-US" altLang="en-US" smtClean="0"/>
          </a:p>
        </p:txBody>
      </p:sp>
      <p:graphicFrame>
        <p:nvGraphicFramePr>
          <p:cNvPr id="13315" name="Object 3"/>
          <p:cNvGraphicFramePr>
            <a:graphicFrameLocks noChangeAspect="1"/>
          </p:cNvGraphicFramePr>
          <p:nvPr>
            <p:ph idx="1"/>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13317" name="Photo Editor Photo" r:id="rId3" imgW="5714286" imgH="4285714" progId="MSPhotoEd.3">
                  <p:embed/>
                </p:oleObj>
              </mc:Choice>
              <mc:Fallback>
                <p:oleObj name="Photo Editor Photo" r:id="rId3" imgW="5714286" imgH="4285714" progId="MSPhotoEd.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16" name="Text Box 4"/>
          <p:cNvSpPr txBox="1">
            <a:spLocks noChangeArrowheads="1"/>
          </p:cNvSpPr>
          <p:nvPr/>
        </p:nvSpPr>
        <p:spPr bwMode="auto">
          <a:xfrm>
            <a:off x="8610600" y="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1" hangingPunct="1">
              <a:spcBef>
                <a:spcPct val="50000"/>
              </a:spcBef>
              <a:buSzTx/>
              <a:buFontTx/>
              <a:buNone/>
            </a:pPr>
            <a:r>
              <a:rPr lang="en-US" altLang="en-US" sz="1800" b="0"/>
              <a:t>16</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smtClean="0"/>
              <a:t>Resolving Collisions</a:t>
            </a:r>
          </a:p>
        </p:txBody>
      </p:sp>
      <p:sp>
        <p:nvSpPr>
          <p:cNvPr id="662531" name="Rectangle 3"/>
          <p:cNvSpPr>
            <a:spLocks noGrp="1" noChangeArrowheads="1"/>
          </p:cNvSpPr>
          <p:nvPr>
            <p:ph type="body" idx="1"/>
          </p:nvPr>
        </p:nvSpPr>
        <p:spPr>
          <a:xfrm>
            <a:off x="304800" y="2017713"/>
            <a:ext cx="8650288" cy="4114800"/>
          </a:xfrm>
        </p:spPr>
        <p:txBody>
          <a:bodyPr/>
          <a:lstStyle/>
          <a:p>
            <a:pPr>
              <a:defRPr/>
            </a:pPr>
            <a:r>
              <a:rPr lang="en-US" altLang="en-US" i="1" smtClean="0">
                <a:solidFill>
                  <a:schemeClr val="folHlink"/>
                </a:solidFill>
              </a:rPr>
              <a:t>How can we solve the problem of collisions?</a:t>
            </a:r>
          </a:p>
          <a:p>
            <a:pPr>
              <a:defRPr/>
            </a:pPr>
            <a:endParaRPr lang="en-US" altLang="en-US" smtClean="0">
              <a:solidFill>
                <a:schemeClr val="folHlink"/>
              </a:solidFill>
            </a:endParaRPr>
          </a:p>
          <a:p>
            <a:pPr>
              <a:defRPr/>
            </a:pPr>
            <a:r>
              <a:rPr lang="en-US" altLang="en-US" b="0" smtClean="0">
                <a:effectLst>
                  <a:outerShdw blurRad="38100" dist="38100" dir="2700000" algn="tl">
                    <a:srgbClr val="C0C0C0"/>
                  </a:outerShdw>
                </a:effectLst>
              </a:rPr>
              <a:t>Solution 1: </a:t>
            </a:r>
            <a:r>
              <a:rPr lang="en-US" altLang="en-US" b="0" i="1" smtClean="0">
                <a:solidFill>
                  <a:schemeClr val="tx2"/>
                </a:solidFill>
                <a:effectLst>
                  <a:outerShdw blurRad="38100" dist="38100" dir="2700000" algn="tl">
                    <a:srgbClr val="C0C0C0"/>
                  </a:outerShdw>
                </a:effectLst>
              </a:rPr>
              <a:t>Chaining</a:t>
            </a:r>
          </a:p>
          <a:p>
            <a:pPr>
              <a:defRPr/>
            </a:pPr>
            <a:endParaRPr lang="en-US" altLang="en-US" b="0" i="1" smtClean="0">
              <a:effectLst>
                <a:outerShdw blurRad="38100" dist="38100" dir="2700000" algn="tl">
                  <a:srgbClr val="C0C0C0"/>
                </a:outerShdw>
              </a:effectLst>
            </a:endParaRPr>
          </a:p>
          <a:p>
            <a:pPr>
              <a:defRPr/>
            </a:pPr>
            <a:r>
              <a:rPr lang="en-US" altLang="en-US" b="0" smtClean="0">
                <a:effectLst>
                  <a:outerShdw blurRad="38100" dist="38100" dir="2700000" algn="tl">
                    <a:srgbClr val="C0C0C0"/>
                  </a:outerShdw>
                </a:effectLst>
              </a:rPr>
              <a:t>Solution 2: </a:t>
            </a:r>
            <a:r>
              <a:rPr lang="en-US" altLang="en-US" b="0" i="1" smtClean="0">
                <a:solidFill>
                  <a:schemeClr val="tx2"/>
                </a:solidFill>
                <a:effectLst>
                  <a:outerShdw blurRad="38100" dist="38100" dir="2700000" algn="tl">
                    <a:srgbClr val="C0C0C0"/>
                  </a:outerShdw>
                </a:effectLst>
              </a:rPr>
              <a:t>Open addressing</a:t>
            </a:r>
            <a:endParaRPr lang="en-US" altLang="en-US" b="0" i="1" smtClean="0">
              <a:effectLst>
                <a:outerShdw blurRad="38100" dist="38100" dir="2700000" algn="tl">
                  <a:srgbClr val="C0C0C0"/>
                </a:outerShdw>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smtClean="0"/>
              <a:t>Chaining!</a:t>
            </a:r>
          </a:p>
        </p:txBody>
      </p:sp>
      <p:sp>
        <p:nvSpPr>
          <p:cNvPr id="663555" name="Rectangle 3"/>
          <p:cNvSpPr>
            <a:spLocks noGrp="1" noChangeArrowheads="1"/>
          </p:cNvSpPr>
          <p:nvPr>
            <p:ph type="body" idx="1"/>
          </p:nvPr>
        </p:nvSpPr>
        <p:spPr>
          <a:xfrm>
            <a:off x="457200" y="2017713"/>
            <a:ext cx="8497888" cy="4114800"/>
          </a:xfrm>
        </p:spPr>
        <p:txBody>
          <a:bodyPr/>
          <a:lstStyle/>
          <a:p>
            <a:pPr>
              <a:lnSpc>
                <a:spcPct val="90000"/>
              </a:lnSpc>
              <a:defRPr/>
            </a:pPr>
            <a:r>
              <a:rPr lang="en-US" altLang="en-US" smtClean="0"/>
              <a:t>Put all the elements that hash to same slot in a linked list.</a:t>
            </a:r>
          </a:p>
          <a:p>
            <a:pPr>
              <a:lnSpc>
                <a:spcPct val="90000"/>
              </a:lnSpc>
              <a:defRPr/>
            </a:pPr>
            <a:endParaRPr lang="en-US" altLang="en-US" smtClean="0"/>
          </a:p>
          <a:p>
            <a:pPr>
              <a:lnSpc>
                <a:spcPct val="90000"/>
              </a:lnSpc>
              <a:defRPr/>
            </a:pPr>
            <a:r>
              <a:rPr lang="en-US" altLang="en-US" smtClean="0"/>
              <a:t>Worst case : All </a:t>
            </a:r>
            <a:r>
              <a:rPr lang="en-US" altLang="en-US" i="1" smtClean="0"/>
              <a:t>n</a:t>
            </a:r>
            <a:r>
              <a:rPr lang="en-US" altLang="en-US" smtClean="0"/>
              <a:t> keys hash to the same slot resulting in a linked list of length </a:t>
            </a:r>
            <a:r>
              <a:rPr lang="en-US" altLang="en-US" i="1" smtClean="0"/>
              <a:t>n</a:t>
            </a:r>
            <a:r>
              <a:rPr lang="en-US" altLang="en-US" smtClean="0"/>
              <a:t>, running time: </a:t>
            </a:r>
            <a:r>
              <a:rPr lang="en-US" altLang="en-US" i="1" smtClean="0"/>
              <a:t>O(n)</a:t>
            </a:r>
          </a:p>
          <a:p>
            <a:pPr>
              <a:lnSpc>
                <a:spcPct val="90000"/>
              </a:lnSpc>
              <a:defRPr/>
            </a:pPr>
            <a:endParaRPr lang="en-US" altLang="en-US" i="1" smtClean="0"/>
          </a:p>
          <a:p>
            <a:pPr>
              <a:lnSpc>
                <a:spcPct val="90000"/>
              </a:lnSpc>
              <a:defRPr/>
            </a:pPr>
            <a:r>
              <a:rPr lang="en-US" altLang="en-US" smtClean="0"/>
              <a:t>Best and </a:t>
            </a:r>
            <a:r>
              <a:rPr lang="en-US" altLang="en-US" smtClean="0">
                <a:effectLst>
                  <a:outerShdw blurRad="38100" dist="38100" dir="2700000" algn="tl">
                    <a:srgbClr val="C0C0C0"/>
                  </a:outerShdw>
                </a:effectLst>
              </a:rPr>
              <a:t>Average</a:t>
            </a:r>
            <a:r>
              <a:rPr lang="en-US" altLang="en-US" smtClean="0"/>
              <a:t> time: </a:t>
            </a:r>
            <a:r>
              <a:rPr lang="en-US" altLang="en-US" i="1" smtClean="0"/>
              <a:t>O(1)</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endParaRPr lang="en-US" altLang="en-US" smtClean="0"/>
          </a:p>
        </p:txBody>
      </p:sp>
      <p:graphicFrame>
        <p:nvGraphicFramePr>
          <p:cNvPr id="16387" name="Object 3"/>
          <p:cNvGraphicFramePr>
            <a:graphicFrameLocks noChangeAspect="1"/>
          </p:cNvGraphicFramePr>
          <p:nvPr>
            <p:ph idx="1"/>
          </p:nvPr>
        </p:nvGraphicFramePr>
        <p:xfrm>
          <a:off x="0" y="0"/>
          <a:ext cx="9144000" cy="6858000"/>
        </p:xfrm>
        <a:graphic>
          <a:graphicData uri="http://schemas.openxmlformats.org/presentationml/2006/ole">
            <mc:AlternateContent xmlns:mc="http://schemas.openxmlformats.org/markup-compatibility/2006">
              <mc:Choice xmlns:v="urn:schemas-microsoft-com:vml" Requires="v">
                <p:oleObj spid="_x0000_s16389" name="Photo Editor Photo" r:id="rId3" imgW="5714286" imgH="4285714" progId="MSPhotoEd.3">
                  <p:embed/>
                </p:oleObj>
              </mc:Choice>
              <mc:Fallback>
                <p:oleObj name="Photo Editor Photo" r:id="rId3" imgW="5714286" imgH="4285714" progId="MSPhotoEd.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8" name="Text Box 4"/>
          <p:cNvSpPr txBox="1">
            <a:spLocks noChangeArrowheads="1"/>
          </p:cNvSpPr>
          <p:nvPr/>
        </p:nvSpPr>
        <p:spPr bwMode="auto">
          <a:xfrm>
            <a:off x="8610600" y="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1" hangingPunct="1">
              <a:spcBef>
                <a:spcPct val="50000"/>
              </a:spcBef>
              <a:buSzTx/>
              <a:buFontTx/>
              <a:buNone/>
            </a:pPr>
            <a:r>
              <a:rPr lang="en-US" altLang="en-US" sz="1800" b="0"/>
              <a:t>20</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smtClean="0"/>
              <a:t>Analysis of Chaining</a:t>
            </a:r>
          </a:p>
        </p:txBody>
      </p:sp>
      <p:sp>
        <p:nvSpPr>
          <p:cNvPr id="667651" name="Rectangle 3"/>
          <p:cNvSpPr>
            <a:spLocks noGrp="1" noChangeArrowheads="1"/>
          </p:cNvSpPr>
          <p:nvPr>
            <p:ph type="body" idx="1"/>
          </p:nvPr>
        </p:nvSpPr>
        <p:spPr>
          <a:xfrm>
            <a:off x="0" y="1905000"/>
            <a:ext cx="8763000" cy="4724400"/>
          </a:xfrm>
        </p:spPr>
        <p:txBody>
          <a:bodyPr/>
          <a:lstStyle/>
          <a:p>
            <a:r>
              <a:rPr lang="en-US" altLang="en-US" smtClean="0"/>
              <a:t>Assume </a:t>
            </a:r>
            <a:r>
              <a:rPr lang="en-US" altLang="en-US" i="1" smtClean="0">
                <a:solidFill>
                  <a:schemeClr val="tx2"/>
                </a:solidFill>
              </a:rPr>
              <a:t>simple uniform hashing</a:t>
            </a:r>
            <a:r>
              <a:rPr lang="en-US" altLang="en-US" smtClean="0"/>
              <a:t>: each key in table is equally likely to be hashed to any slot</a:t>
            </a:r>
          </a:p>
          <a:p>
            <a:endParaRPr lang="en-US" altLang="en-US" sz="1600" smtClean="0"/>
          </a:p>
          <a:p>
            <a:r>
              <a:rPr lang="en-US" altLang="en-US" smtClean="0"/>
              <a:t>Given </a:t>
            </a:r>
            <a:r>
              <a:rPr lang="en-US" altLang="en-US" i="1" smtClean="0"/>
              <a:t>n</a:t>
            </a:r>
            <a:r>
              <a:rPr lang="en-US" altLang="en-US" smtClean="0"/>
              <a:t> keys and </a:t>
            </a:r>
            <a:r>
              <a:rPr lang="en-US" altLang="en-US" i="1" smtClean="0"/>
              <a:t>m</a:t>
            </a:r>
            <a:r>
              <a:rPr lang="en-US" altLang="en-US" smtClean="0"/>
              <a:t> slots in the table: the </a:t>
            </a:r>
            <a:r>
              <a:rPr lang="en-US" altLang="en-US" i="1" smtClean="0">
                <a:solidFill>
                  <a:schemeClr val="tx2"/>
                </a:solidFill>
              </a:rPr>
              <a:t>load factor</a:t>
            </a:r>
            <a:r>
              <a:rPr lang="en-US" altLang="en-US" smtClean="0">
                <a:solidFill>
                  <a:schemeClr val="tx2"/>
                </a:solidFill>
              </a:rPr>
              <a:t> </a:t>
            </a:r>
            <a:r>
              <a:rPr lang="en-US" altLang="en-US" i="1" smtClean="0">
                <a:solidFill>
                  <a:schemeClr val="tx2"/>
                </a:solidFill>
                <a:sym typeface="Symbol" panose="05050102010706020507" pitchFamily="18" charset="2"/>
              </a:rPr>
              <a:t></a:t>
            </a:r>
            <a:r>
              <a:rPr lang="en-US" altLang="en-US" smtClean="0">
                <a:sym typeface="Symbol" panose="05050102010706020507" pitchFamily="18" charset="2"/>
              </a:rPr>
              <a:t> = </a:t>
            </a:r>
            <a:r>
              <a:rPr lang="en-US" altLang="en-US" i="1" smtClean="0">
                <a:sym typeface="Symbol" panose="05050102010706020507" pitchFamily="18" charset="2"/>
              </a:rPr>
              <a:t>n</a:t>
            </a:r>
            <a:r>
              <a:rPr lang="en-US" altLang="en-US" smtClean="0">
                <a:sym typeface="Symbol" panose="05050102010706020507" pitchFamily="18" charset="2"/>
              </a:rPr>
              <a:t>/</a:t>
            </a:r>
            <a:r>
              <a:rPr lang="en-US" altLang="en-US" i="1" smtClean="0">
                <a:sym typeface="Symbol" panose="05050102010706020507" pitchFamily="18" charset="2"/>
              </a:rPr>
              <a:t>m</a:t>
            </a:r>
            <a:r>
              <a:rPr lang="en-US" altLang="en-US" smtClean="0">
                <a:sym typeface="Symbol" panose="05050102010706020507" pitchFamily="18" charset="2"/>
              </a:rPr>
              <a:t> = average # keys per slot</a:t>
            </a:r>
          </a:p>
          <a:p>
            <a:endParaRPr lang="en-US" altLang="en-US" sz="1800" smtClean="0">
              <a:sym typeface="Symbol" panose="05050102010706020507" pitchFamily="18" charset="2"/>
            </a:endParaRPr>
          </a:p>
          <a:p>
            <a:r>
              <a:rPr lang="en-US" altLang="en-US" sz="2400" i="1" smtClean="0">
                <a:solidFill>
                  <a:srgbClr val="063DE8"/>
                </a:solidFill>
                <a:sym typeface="Symbol" panose="05050102010706020507" pitchFamily="18" charset="2"/>
              </a:rPr>
              <a:t>What will be the average cost of an  unsuccessful search for a key?  </a:t>
            </a:r>
          </a:p>
          <a:p>
            <a:pPr>
              <a:buFontTx/>
              <a:buNone/>
            </a:pPr>
            <a:r>
              <a:rPr lang="en-US" altLang="en-US" sz="2400" i="1" smtClean="0">
                <a:solidFill>
                  <a:srgbClr val="063DE8"/>
                </a:solidFill>
                <a:sym typeface="Symbol" panose="05050102010706020507" pitchFamily="18" charset="2"/>
              </a:rPr>
              <a:t>			O(1+ )</a:t>
            </a:r>
          </a:p>
          <a:p>
            <a:endParaRPr lang="en-US" altLang="en-US" sz="2400" i="1" smtClean="0">
              <a:solidFill>
                <a:srgbClr val="063DE8"/>
              </a:solidFill>
              <a:sym typeface="Symbol" panose="05050102010706020507" pitchFamily="18" charset="2"/>
            </a:endParaRPr>
          </a:p>
          <a:p>
            <a:endParaRPr lang="en-US" altLang="en-US" smtClean="0">
              <a:solidFill>
                <a:srgbClr val="063DE8"/>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67651">
                                            <p:txEl>
                                              <p:pRg st="0" end="0"/>
                                            </p:txEl>
                                          </p:spTgt>
                                        </p:tgtEl>
                                        <p:attrNameLst>
                                          <p:attrName>style.visibility</p:attrName>
                                        </p:attrNameLst>
                                      </p:cBhvr>
                                      <p:to>
                                        <p:strVal val="visible"/>
                                      </p:to>
                                    </p:set>
                                    <p:animEffect transition="in" filter="box(in)">
                                      <p:cBhvr>
                                        <p:cTn id="7" dur="500"/>
                                        <p:tgtEl>
                                          <p:spTgt spid="6676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67651">
                                            <p:txEl>
                                              <p:pRg st="2" end="2"/>
                                            </p:txEl>
                                          </p:spTgt>
                                        </p:tgtEl>
                                        <p:attrNameLst>
                                          <p:attrName>style.visibility</p:attrName>
                                        </p:attrNameLst>
                                      </p:cBhvr>
                                      <p:to>
                                        <p:strVal val="visible"/>
                                      </p:to>
                                    </p:set>
                                    <p:animEffect transition="in" filter="box(in)">
                                      <p:cBhvr>
                                        <p:cTn id="12" dur="500"/>
                                        <p:tgtEl>
                                          <p:spTgt spid="6676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67651">
                                            <p:txEl>
                                              <p:pRg st="4" end="4"/>
                                            </p:txEl>
                                          </p:spTgt>
                                        </p:tgtEl>
                                        <p:attrNameLst>
                                          <p:attrName>style.visibility</p:attrName>
                                        </p:attrNameLst>
                                      </p:cBhvr>
                                      <p:to>
                                        <p:strVal val="visible"/>
                                      </p:to>
                                    </p:set>
                                    <p:animEffect transition="in" filter="box(in)">
                                      <p:cBhvr>
                                        <p:cTn id="17" dur="500"/>
                                        <p:tgtEl>
                                          <p:spTgt spid="667651">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667651">
                                            <p:txEl>
                                              <p:pRg st="5" end="5"/>
                                            </p:txEl>
                                          </p:spTgt>
                                        </p:tgtEl>
                                        <p:attrNameLst>
                                          <p:attrName>style.visibility</p:attrName>
                                        </p:attrNameLst>
                                      </p:cBhvr>
                                      <p:to>
                                        <p:strVal val="visible"/>
                                      </p:to>
                                    </p:set>
                                    <p:animEffect transition="in" filter="box(in)">
                                      <p:cBhvr>
                                        <p:cTn id="22" dur="500"/>
                                        <p:tgtEl>
                                          <p:spTgt spid="6676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endParaRPr lang="en-US" altLang="en-US" smtClean="0"/>
          </a:p>
        </p:txBody>
      </p:sp>
      <p:sp>
        <p:nvSpPr>
          <p:cNvPr id="668675" name="Rectangle 3"/>
          <p:cNvSpPr>
            <a:spLocks noGrp="1" noChangeArrowheads="1"/>
          </p:cNvSpPr>
          <p:nvPr>
            <p:ph type="body" idx="1"/>
          </p:nvPr>
        </p:nvSpPr>
        <p:spPr/>
        <p:txBody>
          <a:bodyPr/>
          <a:lstStyle/>
          <a:p>
            <a:r>
              <a:rPr lang="en-US" altLang="en-US" i="1" smtClean="0">
                <a:solidFill>
                  <a:srgbClr val="063DE8"/>
                </a:solidFill>
                <a:sym typeface="Symbol" panose="05050102010706020507" pitchFamily="18" charset="2"/>
              </a:rPr>
              <a:t>What will be the average cost of a successful search?</a:t>
            </a:r>
          </a:p>
          <a:p>
            <a:pPr>
              <a:buFontTx/>
              <a:buNone/>
            </a:pPr>
            <a:r>
              <a:rPr lang="en-US" altLang="en-US" smtClean="0">
                <a:sym typeface="Symbol" panose="05050102010706020507" pitchFamily="18" charset="2"/>
              </a:rPr>
              <a:t>		A: O(1 +</a:t>
            </a:r>
            <a:r>
              <a:rPr lang="en-US" altLang="en-US" smtClean="0">
                <a:solidFill>
                  <a:schemeClr val="accent1"/>
                </a:solidFill>
                <a:sym typeface="Symbol" panose="05050102010706020507" pitchFamily="18" charset="2"/>
              </a:rPr>
              <a:t> </a:t>
            </a:r>
            <a:r>
              <a:rPr lang="en-US" altLang="en-US" i="1" smtClean="0">
                <a:sym typeface="Symbol" panose="05050102010706020507" pitchFamily="18" charset="2"/>
              </a:rPr>
              <a:t></a:t>
            </a:r>
            <a:r>
              <a:rPr lang="en-US" altLang="en-US" smtClean="0">
                <a:sym typeface="Symbol" panose="05050102010706020507" pitchFamily="18" charset="2"/>
              </a:rPr>
              <a:t>/2) = O(1 + </a:t>
            </a:r>
            <a:r>
              <a:rPr lang="en-US" altLang="en-US" i="1" smtClean="0">
                <a:sym typeface="Symbol" panose="05050102010706020507" pitchFamily="18" charset="2"/>
              </a:rPr>
              <a:t></a:t>
            </a:r>
            <a:r>
              <a:rPr lang="en-US" altLang="en-US" smtClean="0">
                <a:sym typeface="Symbol" panose="05050102010706020507" pitchFamily="18" charset="2"/>
              </a:rPr>
              <a:t>)</a:t>
            </a:r>
          </a:p>
          <a:p>
            <a:endParaRPr lang="en-US" altLang="en-US" i="1" smtClean="0">
              <a:solidFill>
                <a:schemeClr val="folHlink"/>
              </a:solidFill>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68675">
                                            <p:txEl>
                                              <p:pRg st="0" end="0"/>
                                            </p:txEl>
                                          </p:spTgt>
                                        </p:tgtEl>
                                        <p:attrNameLst>
                                          <p:attrName>style.visibility</p:attrName>
                                        </p:attrNameLst>
                                      </p:cBhvr>
                                      <p:to>
                                        <p:strVal val="visible"/>
                                      </p:to>
                                    </p:set>
                                    <p:animEffect transition="in" filter="box(in)">
                                      <p:cBhvr>
                                        <p:cTn id="7" dur="500"/>
                                        <p:tgtEl>
                                          <p:spTgt spid="6686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68675">
                                            <p:txEl>
                                              <p:pRg st="1" end="1"/>
                                            </p:txEl>
                                          </p:spTgt>
                                        </p:tgtEl>
                                        <p:attrNameLst>
                                          <p:attrName>style.visibility</p:attrName>
                                        </p:attrNameLst>
                                      </p:cBhvr>
                                      <p:to>
                                        <p:strVal val="visible"/>
                                      </p:to>
                                    </p:set>
                                    <p:animEffect transition="in" filter="box(in)">
                                      <p:cBhvr>
                                        <p:cTn id="12" dur="500"/>
                                        <p:tgtEl>
                                          <p:spTgt spid="6686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smtClean="0"/>
              <a:t>Analysis of Chaining Continued</a:t>
            </a:r>
          </a:p>
        </p:txBody>
      </p:sp>
      <p:sp>
        <p:nvSpPr>
          <p:cNvPr id="669699" name="Rectangle 3"/>
          <p:cNvSpPr>
            <a:spLocks noGrp="1" noChangeArrowheads="1"/>
          </p:cNvSpPr>
          <p:nvPr>
            <p:ph type="body" idx="1"/>
          </p:nvPr>
        </p:nvSpPr>
        <p:spPr>
          <a:xfrm>
            <a:off x="533400" y="2017713"/>
            <a:ext cx="8421688" cy="4114800"/>
          </a:xfrm>
        </p:spPr>
        <p:txBody>
          <a:bodyPr/>
          <a:lstStyle/>
          <a:p>
            <a:r>
              <a:rPr lang="en-US" altLang="en-US" smtClean="0"/>
              <a:t>So the cost of searching = O(1 + </a:t>
            </a:r>
            <a:r>
              <a:rPr lang="en-US" altLang="en-US" i="1" smtClean="0">
                <a:sym typeface="Symbol" panose="05050102010706020507" pitchFamily="18" charset="2"/>
              </a:rPr>
              <a:t></a:t>
            </a:r>
            <a:r>
              <a:rPr lang="en-US" altLang="en-US" smtClean="0">
                <a:sym typeface="Symbol" panose="05050102010706020507" pitchFamily="18" charset="2"/>
              </a:rPr>
              <a:t>)</a:t>
            </a:r>
            <a:endParaRPr lang="en-US" altLang="en-US" smtClean="0"/>
          </a:p>
          <a:p>
            <a:r>
              <a:rPr lang="en-US" altLang="en-US" i="1" smtClean="0">
                <a:solidFill>
                  <a:srgbClr val="063DE8"/>
                </a:solidFill>
              </a:rPr>
              <a:t>If the number of keys n is proportional to the number of slots in the table, what is </a:t>
            </a:r>
            <a:r>
              <a:rPr lang="en-US" altLang="en-US" i="1" smtClean="0">
                <a:solidFill>
                  <a:srgbClr val="063DE8"/>
                </a:solidFill>
                <a:sym typeface="Symbol" panose="05050102010706020507" pitchFamily="18" charset="2"/>
              </a:rPr>
              <a:t>?</a:t>
            </a:r>
            <a:endParaRPr lang="en-US" altLang="en-US" smtClean="0">
              <a:solidFill>
                <a:srgbClr val="063DE8"/>
              </a:solidFill>
              <a:sym typeface="Symbol" panose="05050102010706020507" pitchFamily="18" charset="2"/>
            </a:endParaRPr>
          </a:p>
          <a:p>
            <a:r>
              <a:rPr lang="en-US" altLang="en-US" i="1" smtClean="0"/>
              <a:t> </a:t>
            </a:r>
            <a:r>
              <a:rPr lang="en-US" altLang="en-US" smtClean="0"/>
              <a:t>A: </a:t>
            </a:r>
            <a:r>
              <a:rPr lang="en-US" altLang="en-US" i="1" smtClean="0">
                <a:sym typeface="Symbol" panose="05050102010706020507" pitchFamily="18" charset="2"/>
              </a:rPr>
              <a:t></a:t>
            </a:r>
            <a:r>
              <a:rPr lang="en-US" altLang="en-US" smtClean="0">
                <a:sym typeface="Symbol" panose="05050102010706020507" pitchFamily="18" charset="2"/>
              </a:rPr>
              <a:t> = O(1)</a:t>
            </a:r>
          </a:p>
          <a:p>
            <a:pPr lvl="1"/>
            <a:r>
              <a:rPr lang="en-US" altLang="en-US" smtClean="0">
                <a:sym typeface="Symbol" panose="05050102010706020507" pitchFamily="18" charset="2"/>
              </a:rPr>
              <a:t>In other words, we can make the expected cost of searching constant if we make </a:t>
            </a:r>
            <a:r>
              <a:rPr lang="en-US" altLang="en-US" i="1" smtClean="0">
                <a:sym typeface="Symbol" panose="05050102010706020507" pitchFamily="18" charset="2"/>
              </a:rPr>
              <a:t></a:t>
            </a:r>
            <a:r>
              <a:rPr lang="en-US" altLang="en-US" smtClean="0">
                <a:sym typeface="Symbol" panose="05050102010706020507" pitchFamily="18" charset="2"/>
              </a:rPr>
              <a:t> constant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69699">
                                            <p:txEl>
                                              <p:pRg st="0" end="0"/>
                                            </p:txEl>
                                          </p:spTgt>
                                        </p:tgtEl>
                                        <p:attrNameLst>
                                          <p:attrName>style.visibility</p:attrName>
                                        </p:attrNameLst>
                                      </p:cBhvr>
                                      <p:to>
                                        <p:strVal val="visible"/>
                                      </p:to>
                                    </p:set>
                                    <p:animEffect transition="in" filter="box(in)">
                                      <p:cBhvr>
                                        <p:cTn id="7" dur="500"/>
                                        <p:tgtEl>
                                          <p:spTgt spid="669699">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669699">
                                            <p:txEl>
                                              <p:pRg st="1" end="1"/>
                                            </p:txEl>
                                          </p:spTgt>
                                        </p:tgtEl>
                                        <p:attrNameLst>
                                          <p:attrName>style.visibility</p:attrName>
                                        </p:attrNameLst>
                                      </p:cBhvr>
                                      <p:to>
                                        <p:strVal val="visible"/>
                                      </p:to>
                                    </p:set>
                                    <p:animEffect transition="in" filter="box(in)">
                                      <p:cBhvr>
                                        <p:cTn id="10" dur="500"/>
                                        <p:tgtEl>
                                          <p:spTgt spid="669699">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669699">
                                            <p:txEl>
                                              <p:pRg st="2" end="2"/>
                                            </p:txEl>
                                          </p:spTgt>
                                        </p:tgtEl>
                                        <p:attrNameLst>
                                          <p:attrName>style.visibility</p:attrName>
                                        </p:attrNameLst>
                                      </p:cBhvr>
                                      <p:to>
                                        <p:strVal val="visible"/>
                                      </p:to>
                                    </p:set>
                                    <p:animEffect transition="in" filter="box(in)">
                                      <p:cBhvr>
                                        <p:cTn id="15" dur="500"/>
                                        <p:tgtEl>
                                          <p:spTgt spid="669699">
                                            <p:txEl>
                                              <p:pRg st="2" end="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669699">
                                            <p:txEl>
                                              <p:pRg st="3" end="3"/>
                                            </p:txEl>
                                          </p:spTgt>
                                        </p:tgtEl>
                                        <p:attrNameLst>
                                          <p:attrName>style.visibility</p:attrName>
                                        </p:attrNameLst>
                                      </p:cBhvr>
                                      <p:to>
                                        <p:strVal val="visible"/>
                                      </p:to>
                                    </p:set>
                                    <p:animEffect transition="in" filter="box(in)">
                                      <p:cBhvr>
                                        <p:cTn id="18" dur="500"/>
                                        <p:tgtEl>
                                          <p:spTgt spid="6696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90600" y="381000"/>
            <a:ext cx="7924800" cy="1173163"/>
          </a:xfrm>
        </p:spPr>
        <p:txBody>
          <a:bodyPr/>
          <a:lstStyle/>
          <a:p>
            <a:r>
              <a:rPr lang="en-US" altLang="en-US" u="sng" smtClean="0"/>
              <a:t>Hash Tables</a:t>
            </a:r>
          </a:p>
        </p:txBody>
      </p:sp>
      <p:sp>
        <p:nvSpPr>
          <p:cNvPr id="20483" name="Rectangle 3"/>
          <p:cNvSpPr>
            <a:spLocks noGrp="1" noChangeArrowheads="1"/>
          </p:cNvSpPr>
          <p:nvPr>
            <p:ph type="body" sz="half" idx="1"/>
          </p:nvPr>
        </p:nvSpPr>
        <p:spPr>
          <a:xfrm>
            <a:off x="685800" y="1676400"/>
            <a:ext cx="7048500" cy="4953000"/>
          </a:xfrm>
        </p:spPr>
        <p:txBody>
          <a:bodyPr/>
          <a:lstStyle/>
          <a:p>
            <a:pPr>
              <a:lnSpc>
                <a:spcPct val="150000"/>
              </a:lnSpc>
            </a:pPr>
            <a:r>
              <a:rPr lang="en-US" altLang="en-US" sz="2000" smtClean="0"/>
              <a:t>Nature of keys</a:t>
            </a:r>
          </a:p>
          <a:p>
            <a:pPr>
              <a:lnSpc>
                <a:spcPct val="150000"/>
              </a:lnSpc>
            </a:pPr>
            <a:r>
              <a:rPr lang="en-US" altLang="en-US" sz="2000" smtClean="0"/>
              <a:t>Hash functions</a:t>
            </a:r>
          </a:p>
          <a:p>
            <a:pPr>
              <a:lnSpc>
                <a:spcPct val="150000"/>
              </a:lnSpc>
            </a:pPr>
            <a:r>
              <a:rPr lang="en-US" altLang="en-US" sz="2000" smtClean="0"/>
              <a:t>Division method</a:t>
            </a:r>
          </a:p>
          <a:p>
            <a:pPr>
              <a:lnSpc>
                <a:spcPct val="150000"/>
              </a:lnSpc>
            </a:pPr>
            <a:r>
              <a:rPr lang="en-US" altLang="en-US" sz="2000" smtClean="0"/>
              <a:t>Multiplication method</a:t>
            </a:r>
          </a:p>
          <a:p>
            <a:pPr>
              <a:lnSpc>
                <a:spcPct val="150000"/>
              </a:lnSpc>
            </a:pPr>
            <a:r>
              <a:rPr lang="en-US" altLang="en-US" sz="2000" smtClean="0"/>
              <a:t>Open Addressing (Linear and Quadratic probing, Double hashing)</a:t>
            </a:r>
          </a:p>
          <a:p>
            <a:pPr>
              <a:lnSpc>
                <a:spcPct val="150000"/>
              </a:lnSpc>
            </a:pPr>
            <a:endParaRPr lang="en-US" altLang="en-US" sz="2000" smtClean="0"/>
          </a:p>
          <a:p>
            <a:pPr>
              <a:lnSpc>
                <a:spcPct val="150000"/>
              </a:lnSpc>
            </a:pPr>
            <a:endParaRPr lang="en-US" altLang="en-US" sz="200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295400" y="381000"/>
            <a:ext cx="7848600" cy="1143000"/>
          </a:xfrm>
        </p:spPr>
        <p:txBody>
          <a:bodyPr/>
          <a:lstStyle/>
          <a:p>
            <a:r>
              <a:rPr lang="en-US" altLang="en-US" smtClean="0"/>
              <a:t>Nature  of keys</a:t>
            </a:r>
          </a:p>
        </p:txBody>
      </p:sp>
      <p:sp>
        <p:nvSpPr>
          <p:cNvPr id="21507" name="Text Box 3"/>
          <p:cNvSpPr txBox="1">
            <a:spLocks noChangeArrowheads="1"/>
          </p:cNvSpPr>
          <p:nvPr/>
        </p:nvSpPr>
        <p:spPr bwMode="auto">
          <a:xfrm>
            <a:off x="533400" y="1752600"/>
            <a:ext cx="86106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eaLnBrk="1" hangingPunct="1">
              <a:spcBef>
                <a:spcPct val="0"/>
              </a:spcBef>
              <a:buSzTx/>
              <a:buFontTx/>
              <a:buNone/>
            </a:pPr>
            <a:r>
              <a:rPr lang="en-US" altLang="en-US" b="0"/>
              <a:t>Most hash functions assume that universe of keys is the set N = {0, 1, 2,…} of natural numbers</a:t>
            </a:r>
          </a:p>
          <a:p>
            <a:pPr eaLnBrk="1" hangingPunct="1">
              <a:spcBef>
                <a:spcPct val="0"/>
              </a:spcBef>
              <a:buSzTx/>
              <a:buFontTx/>
              <a:buNone/>
            </a:pPr>
            <a:endParaRPr lang="en-US" altLang="en-US" b="0"/>
          </a:p>
          <a:p>
            <a:pPr eaLnBrk="1" hangingPunct="1">
              <a:spcBef>
                <a:spcPct val="0"/>
              </a:spcBef>
              <a:buSzTx/>
              <a:buFontTx/>
              <a:buNone/>
            </a:pPr>
            <a:r>
              <a:rPr lang="en-US" altLang="en-US" b="0"/>
              <a:t>If keys are not N, ways to be found to interpret them as N</a:t>
            </a:r>
          </a:p>
          <a:p>
            <a:pPr eaLnBrk="1" hangingPunct="1">
              <a:spcBef>
                <a:spcPct val="0"/>
              </a:spcBef>
              <a:buSzTx/>
              <a:buFontTx/>
              <a:buNone/>
            </a:pPr>
            <a:endParaRPr lang="en-US" altLang="en-US" b="0"/>
          </a:p>
          <a:p>
            <a:pPr eaLnBrk="1" hangingPunct="1">
              <a:spcBef>
                <a:spcPct val="0"/>
              </a:spcBef>
              <a:buSzTx/>
              <a:buFontTx/>
              <a:buNone/>
            </a:pPr>
            <a:r>
              <a:rPr lang="en-US" altLang="en-US" b="0"/>
              <a:t>A character key can be interpreted as an integer expressed in suitable Radix notation.</a:t>
            </a:r>
          </a:p>
          <a:p>
            <a:pPr eaLnBrk="1" hangingPunct="1">
              <a:spcBef>
                <a:spcPct val="0"/>
              </a:spcBef>
              <a:buSzTx/>
              <a:buFontTx/>
              <a:buNone/>
            </a:pPr>
            <a:endParaRPr lang="en-US" altLang="en-US" b="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ltLang="en-US" smtClean="0"/>
              <a:t>Nature of keys</a:t>
            </a:r>
          </a:p>
        </p:txBody>
      </p:sp>
      <p:sp>
        <p:nvSpPr>
          <p:cNvPr id="22531" name="Rectangle 3"/>
          <p:cNvSpPr>
            <a:spLocks noGrp="1" noChangeArrowheads="1"/>
          </p:cNvSpPr>
          <p:nvPr>
            <p:ph type="body" idx="1"/>
          </p:nvPr>
        </p:nvSpPr>
        <p:spPr>
          <a:xfrm>
            <a:off x="0" y="2017713"/>
            <a:ext cx="8955088" cy="4114800"/>
          </a:xfrm>
        </p:spPr>
        <p:txBody>
          <a:bodyPr/>
          <a:lstStyle/>
          <a:p>
            <a:pPr>
              <a:lnSpc>
                <a:spcPct val="90000"/>
              </a:lnSpc>
            </a:pPr>
            <a:r>
              <a:rPr lang="en-US" altLang="en-US" sz="2400" b="0" smtClean="0"/>
              <a:t>Example:</a:t>
            </a:r>
            <a:r>
              <a:rPr lang="en-US" altLang="en-US" sz="2400" smtClean="0"/>
              <a:t> The identifier </a:t>
            </a:r>
            <a:r>
              <a:rPr lang="en-US" altLang="en-US" sz="2400" b="0" smtClean="0"/>
              <a:t>pt</a:t>
            </a:r>
            <a:r>
              <a:rPr lang="en-US" altLang="en-US" sz="2400" smtClean="0"/>
              <a:t> might be interpreted as a pair of decimal integers (112, 116) as </a:t>
            </a:r>
            <a:r>
              <a:rPr lang="en-US" altLang="en-US" sz="2400" b="0" smtClean="0"/>
              <a:t>p</a:t>
            </a:r>
            <a:r>
              <a:rPr lang="en-US" altLang="en-US" sz="2400" smtClean="0"/>
              <a:t> = 112 and </a:t>
            </a:r>
            <a:r>
              <a:rPr lang="en-US" altLang="en-US" sz="2400" b="0" smtClean="0"/>
              <a:t>t</a:t>
            </a:r>
            <a:r>
              <a:rPr lang="en-US" altLang="en-US" sz="2400" smtClean="0"/>
              <a:t> = 116 in ASCII notation. </a:t>
            </a:r>
            <a:r>
              <a:rPr lang="en-US" altLang="en-US" sz="2400" b="0" smtClean="0">
                <a:solidFill>
                  <a:srgbClr val="063DE8"/>
                </a:solidFill>
              </a:rPr>
              <a:t>What is the problem?</a:t>
            </a:r>
          </a:p>
          <a:p>
            <a:pPr>
              <a:lnSpc>
                <a:spcPct val="90000"/>
              </a:lnSpc>
            </a:pPr>
            <a:endParaRPr lang="en-US" altLang="en-US" sz="2400" b="0" smtClean="0">
              <a:solidFill>
                <a:srgbClr val="063DE8"/>
              </a:solidFill>
            </a:endParaRPr>
          </a:p>
          <a:p>
            <a:pPr>
              <a:lnSpc>
                <a:spcPct val="90000"/>
              </a:lnSpc>
            </a:pPr>
            <a:r>
              <a:rPr lang="en-US" altLang="en-US" sz="2400" smtClean="0">
                <a:solidFill>
                  <a:srgbClr val="063DE8"/>
                </a:solidFill>
              </a:rPr>
              <a:t>Using a product/addition of ASCII codes is indifferent to the order of characters</a:t>
            </a:r>
          </a:p>
          <a:p>
            <a:pPr>
              <a:lnSpc>
                <a:spcPct val="90000"/>
              </a:lnSpc>
            </a:pPr>
            <a:endParaRPr lang="en-US" altLang="en-US" sz="2400" smtClean="0">
              <a:solidFill>
                <a:srgbClr val="063DE8"/>
              </a:solidFill>
            </a:endParaRPr>
          </a:p>
          <a:p>
            <a:pPr>
              <a:lnSpc>
                <a:spcPct val="90000"/>
              </a:lnSpc>
            </a:pPr>
            <a:r>
              <a:rPr lang="en-US" altLang="en-US" sz="2400" b="0" smtClean="0"/>
              <a:t>Solution:</a:t>
            </a:r>
            <a:r>
              <a:rPr lang="en-US" altLang="en-US" sz="2400" smtClean="0"/>
              <a:t> Using 128-radix notation this becomes (112.128) + 116 = 14,452</a:t>
            </a:r>
          </a:p>
          <a:p>
            <a:pPr>
              <a:lnSpc>
                <a:spcPct val="90000"/>
              </a:lnSpc>
            </a:pPr>
            <a:endParaRPr lang="en-US" altLang="en-US" sz="2400" smtClean="0"/>
          </a:p>
          <a:p>
            <a:pPr>
              <a:lnSpc>
                <a:spcPct val="90000"/>
              </a:lnSpc>
            </a:pPr>
            <a:endParaRPr lang="en-US" altLang="en-US" sz="240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mtClean="0"/>
              <a:t>What is a Hash function?</a:t>
            </a:r>
          </a:p>
        </p:txBody>
      </p:sp>
      <p:sp>
        <p:nvSpPr>
          <p:cNvPr id="23555" name="Rectangle 3"/>
          <p:cNvSpPr>
            <a:spLocks noGrp="1" noChangeArrowheads="1"/>
          </p:cNvSpPr>
          <p:nvPr>
            <p:ph type="body" idx="1"/>
          </p:nvPr>
        </p:nvSpPr>
        <p:spPr>
          <a:xfrm>
            <a:off x="228600" y="2017713"/>
            <a:ext cx="8726488" cy="4114800"/>
          </a:xfrm>
        </p:spPr>
        <p:txBody>
          <a:bodyPr/>
          <a:lstStyle/>
          <a:p>
            <a:pPr>
              <a:buFontTx/>
              <a:buNone/>
            </a:pPr>
            <a:r>
              <a:rPr lang="en-US" altLang="en-US" smtClean="0"/>
              <a:t>	A hash function is a </a:t>
            </a:r>
            <a:r>
              <a:rPr lang="en-US" altLang="en-US" b="0" smtClean="0"/>
              <a:t>mapping</a:t>
            </a:r>
            <a:r>
              <a:rPr lang="en-US" altLang="en-US" smtClean="0"/>
              <a:t> between a set of input values (</a:t>
            </a:r>
            <a:r>
              <a:rPr lang="en-US" altLang="en-US" b="0" smtClean="0"/>
              <a:t>Keys</a:t>
            </a:r>
            <a:r>
              <a:rPr lang="en-US" altLang="en-US" smtClean="0"/>
              <a:t>) and a set of integers, known as </a:t>
            </a:r>
            <a:r>
              <a:rPr lang="en-US" altLang="en-US" b="0" smtClean="0"/>
              <a:t>hash values</a:t>
            </a:r>
            <a:r>
              <a:rPr lang="en-US" altLang="en-US" smtClean="0"/>
              <a:t>. </a:t>
            </a:r>
          </a:p>
        </p:txBody>
      </p:sp>
      <p:grpSp>
        <p:nvGrpSpPr>
          <p:cNvPr id="23556" name="Group 4"/>
          <p:cNvGrpSpPr>
            <a:grpSpLocks/>
          </p:cNvGrpSpPr>
          <p:nvPr/>
        </p:nvGrpSpPr>
        <p:grpSpPr bwMode="auto">
          <a:xfrm>
            <a:off x="1905000" y="3733800"/>
            <a:ext cx="914400" cy="2728913"/>
            <a:chOff x="1200" y="2352"/>
            <a:chExt cx="576" cy="1719"/>
          </a:xfrm>
        </p:grpSpPr>
        <p:sp>
          <p:nvSpPr>
            <p:cNvPr id="23574" name="Oval 5"/>
            <p:cNvSpPr>
              <a:spLocks noChangeArrowheads="1"/>
            </p:cNvSpPr>
            <p:nvPr/>
          </p:nvSpPr>
          <p:spPr bwMode="auto">
            <a:xfrm>
              <a:off x="1200" y="2352"/>
              <a:ext cx="576" cy="1536"/>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75" name="Text Box 6"/>
            <p:cNvSpPr txBox="1">
              <a:spLocks noChangeArrowheads="1"/>
            </p:cNvSpPr>
            <p:nvPr/>
          </p:nvSpPr>
          <p:spPr bwMode="auto">
            <a:xfrm>
              <a:off x="1315" y="3840"/>
              <a:ext cx="45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r>
                <a:rPr lang="en-US" altLang="en-US" sz="1800">
                  <a:latin typeface="Tahoma" panose="020B0604030504040204" pitchFamily="34" charset="0"/>
                </a:rPr>
                <a:t>Keys</a:t>
              </a:r>
            </a:p>
          </p:txBody>
        </p:sp>
        <p:sp>
          <p:nvSpPr>
            <p:cNvPr id="23576" name="Oval 7"/>
            <p:cNvSpPr>
              <a:spLocks noChangeArrowheads="1"/>
            </p:cNvSpPr>
            <p:nvPr/>
          </p:nvSpPr>
          <p:spPr bwMode="auto">
            <a:xfrm>
              <a:off x="1536" y="302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77" name="Oval 8"/>
            <p:cNvSpPr>
              <a:spLocks noChangeArrowheads="1"/>
            </p:cNvSpPr>
            <p:nvPr/>
          </p:nvSpPr>
          <p:spPr bwMode="auto">
            <a:xfrm>
              <a:off x="1392" y="3408"/>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78" name="Oval 9"/>
            <p:cNvSpPr>
              <a:spLocks noChangeArrowheads="1"/>
            </p:cNvSpPr>
            <p:nvPr/>
          </p:nvSpPr>
          <p:spPr bwMode="auto">
            <a:xfrm>
              <a:off x="1392" y="3168"/>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79" name="Oval 10"/>
            <p:cNvSpPr>
              <a:spLocks noChangeArrowheads="1"/>
            </p:cNvSpPr>
            <p:nvPr/>
          </p:nvSpPr>
          <p:spPr bwMode="auto">
            <a:xfrm>
              <a:off x="1392" y="2832"/>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80" name="Oval 11"/>
            <p:cNvSpPr>
              <a:spLocks noChangeArrowheads="1"/>
            </p:cNvSpPr>
            <p:nvPr/>
          </p:nvSpPr>
          <p:spPr bwMode="auto">
            <a:xfrm>
              <a:off x="1440" y="2592"/>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grpSp>
      <p:grpSp>
        <p:nvGrpSpPr>
          <p:cNvPr id="23557" name="Group 12"/>
          <p:cNvGrpSpPr>
            <a:grpSpLocks/>
          </p:cNvGrpSpPr>
          <p:nvPr/>
        </p:nvGrpSpPr>
        <p:grpSpPr bwMode="auto">
          <a:xfrm>
            <a:off x="3733800" y="3733800"/>
            <a:ext cx="1562100" cy="2728913"/>
            <a:chOff x="2352" y="2352"/>
            <a:chExt cx="984" cy="1719"/>
          </a:xfrm>
        </p:grpSpPr>
        <p:sp>
          <p:nvSpPr>
            <p:cNvPr id="23566" name="Oval 13"/>
            <p:cNvSpPr>
              <a:spLocks noChangeArrowheads="1"/>
            </p:cNvSpPr>
            <p:nvPr/>
          </p:nvSpPr>
          <p:spPr bwMode="auto">
            <a:xfrm>
              <a:off x="2496" y="2352"/>
              <a:ext cx="576" cy="1536"/>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67" name="Text Box 14"/>
            <p:cNvSpPr txBox="1">
              <a:spLocks noChangeArrowheads="1"/>
            </p:cNvSpPr>
            <p:nvPr/>
          </p:nvSpPr>
          <p:spPr bwMode="auto">
            <a:xfrm>
              <a:off x="2352" y="3840"/>
              <a:ext cx="9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r>
                <a:rPr lang="en-US" altLang="en-US" sz="1800">
                  <a:latin typeface="Tahoma" panose="020B0604030504040204" pitchFamily="34" charset="0"/>
                </a:rPr>
                <a:t>Hash values</a:t>
              </a:r>
            </a:p>
          </p:txBody>
        </p:sp>
        <p:grpSp>
          <p:nvGrpSpPr>
            <p:cNvPr id="23568" name="Group 15"/>
            <p:cNvGrpSpPr>
              <a:grpSpLocks/>
            </p:cNvGrpSpPr>
            <p:nvPr/>
          </p:nvGrpSpPr>
          <p:grpSpPr bwMode="auto">
            <a:xfrm flipH="1">
              <a:off x="2592" y="2592"/>
              <a:ext cx="288" cy="960"/>
              <a:chOff x="2736" y="2640"/>
              <a:chExt cx="288" cy="960"/>
            </a:xfrm>
          </p:grpSpPr>
          <p:sp>
            <p:nvSpPr>
              <p:cNvPr id="23569" name="Oval 16"/>
              <p:cNvSpPr>
                <a:spLocks noChangeArrowheads="1"/>
              </p:cNvSpPr>
              <p:nvPr/>
            </p:nvSpPr>
            <p:spPr bwMode="auto">
              <a:xfrm>
                <a:off x="2880" y="3072"/>
                <a:ext cx="144" cy="14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70" name="Oval 17"/>
              <p:cNvSpPr>
                <a:spLocks noChangeArrowheads="1"/>
              </p:cNvSpPr>
              <p:nvPr/>
            </p:nvSpPr>
            <p:spPr bwMode="auto">
              <a:xfrm>
                <a:off x="2736" y="3456"/>
                <a:ext cx="144" cy="14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71" name="Oval 18"/>
              <p:cNvSpPr>
                <a:spLocks noChangeArrowheads="1"/>
              </p:cNvSpPr>
              <p:nvPr/>
            </p:nvSpPr>
            <p:spPr bwMode="auto">
              <a:xfrm>
                <a:off x="2736" y="3216"/>
                <a:ext cx="144" cy="14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72" name="Oval 19"/>
              <p:cNvSpPr>
                <a:spLocks noChangeArrowheads="1"/>
              </p:cNvSpPr>
              <p:nvPr/>
            </p:nvSpPr>
            <p:spPr bwMode="auto">
              <a:xfrm>
                <a:off x="2736" y="2880"/>
                <a:ext cx="144" cy="14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23573" name="Oval 20"/>
              <p:cNvSpPr>
                <a:spLocks noChangeArrowheads="1"/>
              </p:cNvSpPr>
              <p:nvPr/>
            </p:nvSpPr>
            <p:spPr bwMode="auto">
              <a:xfrm>
                <a:off x="2784" y="2640"/>
                <a:ext cx="144" cy="144"/>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grpSp>
      </p:grpSp>
      <p:grpSp>
        <p:nvGrpSpPr>
          <p:cNvPr id="23558" name="Group 21"/>
          <p:cNvGrpSpPr>
            <a:grpSpLocks/>
          </p:cNvGrpSpPr>
          <p:nvPr/>
        </p:nvGrpSpPr>
        <p:grpSpPr bwMode="auto">
          <a:xfrm>
            <a:off x="2286000" y="4191000"/>
            <a:ext cx="2209800" cy="1371600"/>
            <a:chOff x="1440" y="2640"/>
            <a:chExt cx="1392" cy="864"/>
          </a:xfrm>
        </p:grpSpPr>
        <p:sp>
          <p:nvSpPr>
            <p:cNvPr id="23560" name="Line 22"/>
            <p:cNvSpPr>
              <a:spLocks noChangeShapeType="1"/>
            </p:cNvSpPr>
            <p:nvPr/>
          </p:nvSpPr>
          <p:spPr bwMode="auto">
            <a:xfrm>
              <a:off x="1536" y="2640"/>
              <a:ext cx="1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nvGrpSpPr>
            <p:cNvPr id="23561" name="Group 23"/>
            <p:cNvGrpSpPr>
              <a:grpSpLocks/>
            </p:cNvGrpSpPr>
            <p:nvPr/>
          </p:nvGrpSpPr>
          <p:grpSpPr bwMode="auto">
            <a:xfrm>
              <a:off x="1440" y="2928"/>
              <a:ext cx="1392" cy="576"/>
              <a:chOff x="1440" y="2928"/>
              <a:chExt cx="1392" cy="576"/>
            </a:xfrm>
          </p:grpSpPr>
          <p:sp>
            <p:nvSpPr>
              <p:cNvPr id="23562" name="Line 24"/>
              <p:cNvSpPr>
                <a:spLocks noChangeShapeType="1"/>
              </p:cNvSpPr>
              <p:nvPr/>
            </p:nvSpPr>
            <p:spPr bwMode="auto">
              <a:xfrm flipV="1">
                <a:off x="1440" y="3072"/>
                <a:ext cx="120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63" name="Line 25"/>
              <p:cNvSpPr>
                <a:spLocks noChangeShapeType="1"/>
              </p:cNvSpPr>
              <p:nvPr/>
            </p:nvSpPr>
            <p:spPr bwMode="auto">
              <a:xfrm flipV="1">
                <a:off x="1488" y="3120"/>
                <a:ext cx="1152"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64" name="Line 26"/>
              <p:cNvSpPr>
                <a:spLocks noChangeShapeType="1"/>
              </p:cNvSpPr>
              <p:nvPr/>
            </p:nvSpPr>
            <p:spPr bwMode="auto">
              <a:xfrm>
                <a:off x="1632" y="3072"/>
                <a:ext cx="120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23565" name="Line 27"/>
              <p:cNvSpPr>
                <a:spLocks noChangeShapeType="1"/>
              </p:cNvSpPr>
              <p:nvPr/>
            </p:nvSpPr>
            <p:spPr bwMode="auto">
              <a:xfrm>
                <a:off x="1440" y="2928"/>
                <a:ext cx="120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grpSp>
      <p:sp>
        <p:nvSpPr>
          <p:cNvPr id="23559" name="Text Box 28"/>
          <p:cNvSpPr txBox="1">
            <a:spLocks noChangeArrowheads="1"/>
          </p:cNvSpPr>
          <p:nvPr/>
        </p:nvSpPr>
        <p:spPr bwMode="auto">
          <a:xfrm>
            <a:off x="2971800" y="4572000"/>
            <a:ext cx="995363" cy="6413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buSzTx/>
              <a:buFontTx/>
              <a:buNone/>
            </a:pPr>
            <a:r>
              <a:rPr lang="en-US" altLang="en-US" sz="1800" b="0">
                <a:latin typeface="Tahoma" panose="020B0604030504040204" pitchFamily="34" charset="0"/>
              </a:rPr>
              <a:t>Hash </a:t>
            </a:r>
          </a:p>
          <a:p>
            <a:pPr algn="ctr">
              <a:spcBef>
                <a:spcPct val="0"/>
              </a:spcBef>
              <a:buSzTx/>
              <a:buFontTx/>
              <a:buNone/>
            </a:pPr>
            <a:r>
              <a:rPr lang="en-US" altLang="en-US" sz="1800" b="0">
                <a:latin typeface="Tahoma" panose="020B0604030504040204" pitchFamily="34" charset="0"/>
              </a:rPr>
              <a:t>function</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smtClean="0"/>
              <a:t>The properties of a good hash function</a:t>
            </a:r>
          </a:p>
        </p:txBody>
      </p:sp>
      <p:sp>
        <p:nvSpPr>
          <p:cNvPr id="24579" name="Rectangle 3"/>
          <p:cNvSpPr>
            <a:spLocks noGrp="1" noChangeArrowheads="1"/>
          </p:cNvSpPr>
          <p:nvPr>
            <p:ph type="body" idx="1"/>
          </p:nvPr>
        </p:nvSpPr>
        <p:spPr>
          <a:xfrm>
            <a:off x="0" y="2017713"/>
            <a:ext cx="8955088" cy="4114800"/>
          </a:xfrm>
        </p:spPr>
        <p:txBody>
          <a:bodyPr/>
          <a:lstStyle/>
          <a:p>
            <a:pPr>
              <a:lnSpc>
                <a:spcPct val="90000"/>
              </a:lnSpc>
            </a:pPr>
            <a:r>
              <a:rPr lang="en-US" altLang="en-US" sz="2400" smtClean="0">
                <a:solidFill>
                  <a:srgbClr val="063DE8"/>
                </a:solidFill>
              </a:rPr>
              <a:t>Rule1</a:t>
            </a:r>
            <a:r>
              <a:rPr lang="en-US" altLang="en-US" sz="2400" smtClean="0"/>
              <a:t>: The hash value is fully determined by the data being hashed.</a:t>
            </a:r>
          </a:p>
          <a:p>
            <a:pPr>
              <a:lnSpc>
                <a:spcPct val="90000"/>
              </a:lnSpc>
            </a:pPr>
            <a:endParaRPr lang="en-US" altLang="en-US" sz="1600" smtClean="0"/>
          </a:p>
          <a:p>
            <a:pPr>
              <a:lnSpc>
                <a:spcPct val="90000"/>
              </a:lnSpc>
            </a:pPr>
            <a:r>
              <a:rPr lang="en-US" altLang="en-US" sz="2400" smtClean="0">
                <a:solidFill>
                  <a:srgbClr val="063DE8"/>
                </a:solidFill>
              </a:rPr>
              <a:t>Rule2</a:t>
            </a:r>
            <a:r>
              <a:rPr lang="en-US" altLang="en-US" sz="2400" smtClean="0"/>
              <a:t>: The hash function uses all the input data.</a:t>
            </a:r>
          </a:p>
          <a:p>
            <a:pPr>
              <a:lnSpc>
                <a:spcPct val="90000"/>
              </a:lnSpc>
            </a:pPr>
            <a:endParaRPr lang="en-US" altLang="en-US" sz="1600" smtClean="0"/>
          </a:p>
          <a:p>
            <a:pPr>
              <a:lnSpc>
                <a:spcPct val="90000"/>
              </a:lnSpc>
            </a:pPr>
            <a:r>
              <a:rPr lang="en-US" altLang="en-US" sz="2400" smtClean="0">
                <a:solidFill>
                  <a:srgbClr val="063DE8"/>
                </a:solidFill>
              </a:rPr>
              <a:t>Rule3</a:t>
            </a:r>
            <a:r>
              <a:rPr lang="en-US" altLang="en-US" sz="2400" smtClean="0"/>
              <a:t>: The hash function uniformly distributes the data across the entire set of possible hash values.</a:t>
            </a:r>
          </a:p>
          <a:p>
            <a:pPr>
              <a:lnSpc>
                <a:spcPct val="90000"/>
              </a:lnSpc>
            </a:pPr>
            <a:endParaRPr lang="en-US" altLang="en-US" sz="1400" smtClean="0"/>
          </a:p>
          <a:p>
            <a:pPr>
              <a:lnSpc>
                <a:spcPct val="90000"/>
              </a:lnSpc>
            </a:pPr>
            <a:r>
              <a:rPr lang="en-US" altLang="en-US" sz="2400" smtClean="0">
                <a:solidFill>
                  <a:srgbClr val="063DE8"/>
                </a:solidFill>
              </a:rPr>
              <a:t>Rule4</a:t>
            </a:r>
            <a:r>
              <a:rPr lang="en-US" altLang="en-US" sz="2400" smtClean="0"/>
              <a:t>: The hash function generates very different hash values for similar strings.</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smtClean="0"/>
              <a:t>An example of a hash function</a:t>
            </a:r>
          </a:p>
        </p:txBody>
      </p:sp>
      <p:sp>
        <p:nvSpPr>
          <p:cNvPr id="25603" name="Rectangle 3"/>
          <p:cNvSpPr>
            <a:spLocks noGrp="1" noChangeArrowheads="1"/>
          </p:cNvSpPr>
          <p:nvPr>
            <p:ph type="body" idx="1"/>
          </p:nvPr>
        </p:nvSpPr>
        <p:spPr/>
        <p:txBody>
          <a:bodyPr/>
          <a:lstStyle/>
          <a:p>
            <a:pPr>
              <a:buFontTx/>
              <a:buNone/>
            </a:pPr>
            <a:r>
              <a:rPr lang="en-US" altLang="en-US" i="1" smtClean="0"/>
              <a:t>int hash(char *str, int table_size)</a:t>
            </a:r>
          </a:p>
          <a:p>
            <a:pPr>
              <a:buFontTx/>
              <a:buNone/>
            </a:pPr>
            <a:r>
              <a:rPr lang="en-US" altLang="en-US" i="1" smtClean="0"/>
              <a:t>{</a:t>
            </a:r>
          </a:p>
          <a:p>
            <a:pPr>
              <a:buFontTx/>
              <a:buNone/>
            </a:pPr>
            <a:r>
              <a:rPr lang="en-US" altLang="en-US" i="1" smtClean="0"/>
              <a:t>	int sum=0;</a:t>
            </a:r>
          </a:p>
          <a:p>
            <a:pPr>
              <a:buFontTx/>
              <a:buNone/>
            </a:pPr>
            <a:r>
              <a:rPr lang="en-US" altLang="en-US" i="1" smtClean="0"/>
              <a:t>   //sum up all the characters in the string</a:t>
            </a:r>
          </a:p>
          <a:p>
            <a:pPr>
              <a:buFontTx/>
              <a:buNone/>
            </a:pPr>
            <a:r>
              <a:rPr lang="en-US" altLang="en-US" i="1" smtClean="0"/>
              <a:t>    for(;*str; str++) sum+=*str</a:t>
            </a:r>
          </a:p>
          <a:p>
            <a:pPr>
              <a:buFontTx/>
              <a:buNone/>
            </a:pPr>
            <a:r>
              <a:rPr lang="en-US" altLang="en-US" i="1" smtClean="0"/>
              <a:t>   //return sum mod table_size</a:t>
            </a:r>
          </a:p>
          <a:p>
            <a:pPr>
              <a:buFontTx/>
              <a:buNone/>
            </a:pPr>
            <a:r>
              <a:rPr lang="en-US" altLang="en-US" i="1" smtClean="0"/>
              <a:t>  return sum%table_size;</a:t>
            </a:r>
          </a:p>
          <a:p>
            <a:pPr>
              <a:buFontTx/>
              <a:buNone/>
            </a:pPr>
            <a:r>
              <a:rPr lang="en-US" altLang="en-US" i="1" smtClean="0"/>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smtClean="0"/>
              <a:t>Analysis of example</a:t>
            </a:r>
          </a:p>
        </p:txBody>
      </p:sp>
      <p:sp>
        <p:nvSpPr>
          <p:cNvPr id="26627" name="Rectangle 3"/>
          <p:cNvSpPr>
            <a:spLocks noGrp="1" noChangeArrowheads="1"/>
          </p:cNvSpPr>
          <p:nvPr>
            <p:ph type="body" idx="1"/>
          </p:nvPr>
        </p:nvSpPr>
        <p:spPr>
          <a:xfrm>
            <a:off x="0" y="2017713"/>
            <a:ext cx="8955088" cy="4114800"/>
          </a:xfrm>
        </p:spPr>
        <p:txBody>
          <a:bodyPr/>
          <a:lstStyle/>
          <a:p>
            <a:r>
              <a:rPr lang="en-US" altLang="en-US" b="0" u="sng" smtClean="0">
                <a:solidFill>
                  <a:srgbClr val="063DE8"/>
                </a:solidFill>
              </a:rPr>
              <a:t>Rule1: Satisfies</a:t>
            </a:r>
            <a:r>
              <a:rPr lang="en-US" altLang="en-US" smtClean="0"/>
              <a:t>, the hash value is fully determined by the data being hashed, the hash value is just the sum of all input characters.</a:t>
            </a:r>
          </a:p>
          <a:p>
            <a:endParaRPr lang="en-US" altLang="en-US" smtClean="0"/>
          </a:p>
          <a:p>
            <a:r>
              <a:rPr lang="en-US" altLang="en-US" b="0" u="sng" smtClean="0">
                <a:solidFill>
                  <a:srgbClr val="063DE8"/>
                </a:solidFill>
              </a:rPr>
              <a:t>Rule2: Satisfies</a:t>
            </a:r>
            <a:r>
              <a:rPr lang="en-US" altLang="en-US" smtClean="0"/>
              <a:t>, Every character is summed.</a:t>
            </a:r>
          </a:p>
          <a:p>
            <a:pPr>
              <a:buFontTx/>
              <a:buNone/>
            </a:pPr>
            <a:endParaRPr lang="en-US" altLang="en-US"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smtClean="0"/>
              <a:t>Analysis of example (contd.)</a:t>
            </a:r>
          </a:p>
        </p:txBody>
      </p:sp>
      <p:sp>
        <p:nvSpPr>
          <p:cNvPr id="27651" name="Rectangle 3"/>
          <p:cNvSpPr>
            <a:spLocks noGrp="1" noChangeArrowheads="1"/>
          </p:cNvSpPr>
          <p:nvPr>
            <p:ph type="body" idx="1"/>
          </p:nvPr>
        </p:nvSpPr>
        <p:spPr>
          <a:xfrm>
            <a:off x="0" y="1981200"/>
            <a:ext cx="9144000" cy="4114800"/>
          </a:xfrm>
        </p:spPr>
        <p:txBody>
          <a:bodyPr/>
          <a:lstStyle/>
          <a:p>
            <a:pPr>
              <a:lnSpc>
                <a:spcPct val="90000"/>
              </a:lnSpc>
            </a:pPr>
            <a:r>
              <a:rPr lang="en-US" altLang="en-US" sz="2400" b="0" u="sng" smtClean="0">
                <a:solidFill>
                  <a:schemeClr val="hlink"/>
                </a:solidFill>
              </a:rPr>
              <a:t>Rule3: Breaks</a:t>
            </a:r>
            <a:r>
              <a:rPr lang="en-US" altLang="en-US" sz="2400" smtClean="0">
                <a:solidFill>
                  <a:schemeClr val="hlink"/>
                </a:solidFill>
              </a:rPr>
              <a:t>,</a:t>
            </a:r>
            <a:r>
              <a:rPr lang="en-US" altLang="en-US" sz="2400" smtClean="0"/>
              <a:t> from looking at it, it is not obvious that it doesn’t uniformly distribute the strings, but if you were to analyze this function for larger input string, you will see certain statistical properties which are bad for a hash function.</a:t>
            </a:r>
          </a:p>
          <a:p>
            <a:pPr>
              <a:lnSpc>
                <a:spcPct val="90000"/>
              </a:lnSpc>
            </a:pPr>
            <a:endParaRPr lang="en-US" altLang="en-US" sz="2400" smtClean="0"/>
          </a:p>
          <a:p>
            <a:pPr>
              <a:lnSpc>
                <a:spcPct val="90000"/>
              </a:lnSpc>
            </a:pPr>
            <a:r>
              <a:rPr lang="en-US" altLang="en-US" sz="2400" b="0" u="sng" smtClean="0">
                <a:solidFill>
                  <a:schemeClr val="hlink"/>
                </a:solidFill>
              </a:rPr>
              <a:t>Rule4: Breaks</a:t>
            </a:r>
            <a:r>
              <a:rPr lang="en-US" altLang="en-US" sz="2400" smtClean="0">
                <a:solidFill>
                  <a:schemeClr val="hlink"/>
                </a:solidFill>
              </a:rPr>
              <a:t>,</a:t>
            </a:r>
            <a:r>
              <a:rPr lang="en-US" altLang="en-US" sz="2400" smtClean="0"/>
              <a:t> hash the string “CAT”, now hash the string “ACT”, they are the same, a slight variation in the string should result in different hash values, but with this function often they don’t.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sz="3600" smtClean="0"/>
              <a:t>Methods to create hash functions</a:t>
            </a:r>
          </a:p>
        </p:txBody>
      </p:sp>
      <p:sp>
        <p:nvSpPr>
          <p:cNvPr id="28675" name="Rectangle 3"/>
          <p:cNvSpPr>
            <a:spLocks noGrp="1" noChangeArrowheads="1"/>
          </p:cNvSpPr>
          <p:nvPr>
            <p:ph type="body" idx="1"/>
          </p:nvPr>
        </p:nvSpPr>
        <p:spPr/>
        <p:txBody>
          <a:bodyPr/>
          <a:lstStyle/>
          <a:p>
            <a:endParaRPr lang="en-US" altLang="en-US" sz="3600" b="0" smtClean="0"/>
          </a:p>
          <a:p>
            <a:r>
              <a:rPr lang="en-US" altLang="en-US" sz="3600" b="0" smtClean="0"/>
              <a:t>Division method</a:t>
            </a:r>
          </a:p>
          <a:p>
            <a:endParaRPr lang="en-US" altLang="en-US" sz="3600" b="0" smtClean="0"/>
          </a:p>
          <a:p>
            <a:r>
              <a:rPr lang="en-US" altLang="en-US" sz="3600" b="0" smtClean="0"/>
              <a:t>Multiplication method</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smtClean="0"/>
              <a:t>Division method</a:t>
            </a:r>
          </a:p>
        </p:txBody>
      </p:sp>
      <p:sp>
        <p:nvSpPr>
          <p:cNvPr id="29699" name="Rectangle 3"/>
          <p:cNvSpPr>
            <a:spLocks noGrp="1" noChangeArrowheads="1"/>
          </p:cNvSpPr>
          <p:nvPr>
            <p:ph type="body" idx="1"/>
          </p:nvPr>
        </p:nvSpPr>
        <p:spPr>
          <a:xfrm>
            <a:off x="228600" y="2017713"/>
            <a:ext cx="8726488" cy="4114800"/>
          </a:xfrm>
        </p:spPr>
        <p:txBody>
          <a:bodyPr/>
          <a:lstStyle/>
          <a:p>
            <a:pPr marL="609600" indent="-609600">
              <a:buFontTx/>
              <a:buNone/>
            </a:pPr>
            <a:r>
              <a:rPr lang="en-US" altLang="en-US" smtClean="0"/>
              <a:t>The division method requires two steps.</a:t>
            </a:r>
          </a:p>
          <a:p>
            <a:pPr marL="990600" lvl="1" indent="-533400"/>
            <a:endParaRPr lang="en-US" altLang="en-US" smtClean="0"/>
          </a:p>
          <a:p>
            <a:pPr marL="990600" lvl="1" indent="-533400">
              <a:buClr>
                <a:schemeClr val="folHlink"/>
              </a:buClr>
              <a:buSzTx/>
              <a:buFont typeface="Wingdings" panose="05000000000000000000" pitchFamily="2" charset="2"/>
              <a:buAutoNum type="arabicPeriod"/>
            </a:pPr>
            <a:r>
              <a:rPr lang="en-US" altLang="en-US" sz="2800" smtClean="0"/>
              <a:t>The key must be transformed into an integer.</a:t>
            </a:r>
          </a:p>
          <a:p>
            <a:pPr marL="990600" lvl="1" indent="-533400">
              <a:buClr>
                <a:schemeClr val="folHlink"/>
              </a:buClr>
              <a:buSzTx/>
              <a:buFont typeface="Wingdings" panose="05000000000000000000" pitchFamily="2" charset="2"/>
              <a:buAutoNum type="arabicPeriod"/>
            </a:pPr>
            <a:endParaRPr lang="en-US" altLang="en-US" sz="2800" smtClean="0"/>
          </a:p>
          <a:p>
            <a:pPr marL="990600" lvl="1" indent="-533400">
              <a:buClr>
                <a:schemeClr val="folHlink"/>
              </a:buClr>
              <a:buSzTx/>
              <a:buFont typeface="Wingdings" panose="05000000000000000000" pitchFamily="2" charset="2"/>
              <a:buAutoNum type="arabicPeriod"/>
            </a:pPr>
            <a:r>
              <a:rPr lang="en-US" altLang="en-US" sz="2800" smtClean="0"/>
              <a:t>The value must be telescoped into range 0 to m-1</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en-US" smtClean="0"/>
              <a:t>Division method…</a:t>
            </a:r>
          </a:p>
        </p:txBody>
      </p:sp>
      <p:sp>
        <p:nvSpPr>
          <p:cNvPr id="30723" name="Rectangle 3"/>
          <p:cNvSpPr>
            <a:spLocks noGrp="1" noChangeArrowheads="1"/>
          </p:cNvSpPr>
          <p:nvPr>
            <p:ph type="body" idx="1"/>
          </p:nvPr>
        </p:nvSpPr>
        <p:spPr>
          <a:xfrm>
            <a:off x="0" y="2017713"/>
            <a:ext cx="8955088" cy="4114800"/>
          </a:xfrm>
        </p:spPr>
        <p:txBody>
          <a:bodyPr/>
          <a:lstStyle/>
          <a:p>
            <a:pPr>
              <a:lnSpc>
                <a:spcPct val="90000"/>
              </a:lnSpc>
            </a:pPr>
            <a:r>
              <a:rPr lang="en-US" altLang="en-US" smtClean="0"/>
              <a:t>We map a key </a:t>
            </a:r>
            <a:r>
              <a:rPr lang="en-US" altLang="en-US" i="1" smtClean="0"/>
              <a:t>k</a:t>
            </a:r>
            <a:r>
              <a:rPr lang="en-US" altLang="en-US" smtClean="0"/>
              <a:t> into one of the </a:t>
            </a:r>
            <a:r>
              <a:rPr lang="en-US" altLang="en-US" i="1" smtClean="0"/>
              <a:t>m</a:t>
            </a:r>
            <a:r>
              <a:rPr lang="en-US" altLang="en-US" smtClean="0"/>
              <a:t> slots by taking the remainder of </a:t>
            </a:r>
            <a:r>
              <a:rPr lang="en-US" altLang="en-US" i="1" smtClean="0"/>
              <a:t>k</a:t>
            </a:r>
            <a:r>
              <a:rPr lang="en-US" altLang="en-US" smtClean="0"/>
              <a:t> divided by m, so the hash function is of form</a:t>
            </a:r>
          </a:p>
          <a:p>
            <a:pPr algn="ctr">
              <a:lnSpc>
                <a:spcPct val="90000"/>
              </a:lnSpc>
              <a:buFontTx/>
              <a:buNone/>
            </a:pPr>
            <a:r>
              <a:rPr lang="en-US" altLang="en-US" b="0" i="1" smtClean="0"/>
              <a:t> h(k)= k mod m</a:t>
            </a:r>
          </a:p>
          <a:p>
            <a:pPr algn="ctr">
              <a:lnSpc>
                <a:spcPct val="90000"/>
              </a:lnSpc>
              <a:buFontTx/>
              <a:buNone/>
            </a:pPr>
            <a:endParaRPr lang="en-US" altLang="en-US" sz="1200" b="0" i="1" smtClean="0"/>
          </a:p>
          <a:p>
            <a:pPr>
              <a:lnSpc>
                <a:spcPct val="90000"/>
              </a:lnSpc>
            </a:pPr>
            <a:r>
              <a:rPr lang="en-US" altLang="en-US" smtClean="0"/>
              <a:t>For example , if </a:t>
            </a:r>
            <a:r>
              <a:rPr lang="en-US" altLang="en-US" i="1" smtClean="0"/>
              <a:t>m=12</a:t>
            </a:r>
            <a:r>
              <a:rPr lang="en-US" altLang="en-US" smtClean="0"/>
              <a:t>, key is </a:t>
            </a:r>
            <a:r>
              <a:rPr lang="en-US" altLang="en-US" i="1" smtClean="0"/>
              <a:t>100</a:t>
            </a:r>
            <a:r>
              <a:rPr lang="en-US" altLang="en-US" smtClean="0"/>
              <a:t>  then </a:t>
            </a:r>
            <a:r>
              <a:rPr lang="en-US" altLang="en-US" i="1" smtClean="0"/>
              <a:t>h(k)=100 mod 12= 4</a:t>
            </a:r>
            <a:r>
              <a:rPr lang="en-US" altLang="en-US" smtClean="0"/>
              <a:t>.</a:t>
            </a:r>
          </a:p>
          <a:p>
            <a:pPr>
              <a:lnSpc>
                <a:spcPct val="90000"/>
              </a:lnSpc>
            </a:pPr>
            <a:endParaRPr lang="en-US" altLang="en-US" sz="1800" smtClean="0"/>
          </a:p>
          <a:p>
            <a:pPr>
              <a:lnSpc>
                <a:spcPct val="90000"/>
              </a:lnSpc>
            </a:pPr>
            <a:r>
              <a:rPr lang="en-US" altLang="en-US" b="0" smtClean="0"/>
              <a:t>Advantage?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smtClean="0"/>
              <a:t>Restrictions on value of </a:t>
            </a:r>
            <a:r>
              <a:rPr lang="en-US" altLang="en-US" i="0" smtClean="0"/>
              <a:t>m</a:t>
            </a:r>
          </a:p>
        </p:txBody>
      </p:sp>
      <p:sp>
        <p:nvSpPr>
          <p:cNvPr id="31747" name="Rectangle 3"/>
          <p:cNvSpPr>
            <a:spLocks noGrp="1" noChangeArrowheads="1"/>
          </p:cNvSpPr>
          <p:nvPr>
            <p:ph type="body" sz="half" idx="1"/>
          </p:nvPr>
        </p:nvSpPr>
        <p:spPr>
          <a:xfrm>
            <a:off x="304800" y="2057400"/>
            <a:ext cx="3810000" cy="2514600"/>
          </a:xfrm>
        </p:spPr>
        <p:txBody>
          <a:bodyPr/>
          <a:lstStyle/>
          <a:p>
            <a:pPr>
              <a:lnSpc>
                <a:spcPct val="80000"/>
              </a:lnSpc>
              <a:buFontTx/>
              <a:buNone/>
            </a:pPr>
            <a:r>
              <a:rPr lang="en-US" altLang="en-US" smtClean="0"/>
              <a:t>	M should not be a power of 2, since if m=2</a:t>
            </a:r>
            <a:r>
              <a:rPr lang="en-US" altLang="en-US" baseline="30000" smtClean="0"/>
              <a:t>p</a:t>
            </a:r>
            <a:r>
              <a:rPr lang="en-US" altLang="en-US" smtClean="0"/>
              <a:t> then h(k) is just the p lowest order bits of k.</a:t>
            </a:r>
          </a:p>
          <a:p>
            <a:pPr>
              <a:lnSpc>
                <a:spcPct val="80000"/>
              </a:lnSpc>
              <a:buFontTx/>
              <a:buNone/>
            </a:pPr>
            <a:endParaRPr lang="en-US" altLang="en-US" smtClean="0"/>
          </a:p>
          <a:p>
            <a:pPr>
              <a:lnSpc>
                <a:spcPct val="80000"/>
              </a:lnSpc>
              <a:buFontTx/>
              <a:buNone/>
            </a:pPr>
            <a:r>
              <a:rPr lang="en-US" altLang="en-US" b="0" smtClean="0"/>
              <a:t>	Disadvantage!</a:t>
            </a:r>
          </a:p>
          <a:p>
            <a:pPr>
              <a:lnSpc>
                <a:spcPct val="80000"/>
              </a:lnSpc>
            </a:pPr>
            <a:endParaRPr lang="en-US" altLang="en-US" b="0" smtClean="0"/>
          </a:p>
        </p:txBody>
      </p:sp>
      <p:graphicFrame>
        <p:nvGraphicFramePr>
          <p:cNvPr id="684036" name="Group 4"/>
          <p:cNvGraphicFramePr>
            <a:graphicFrameLocks noGrp="1"/>
          </p:cNvGraphicFramePr>
          <p:nvPr>
            <p:ph sz="half" idx="2"/>
          </p:nvPr>
        </p:nvGraphicFramePr>
        <p:xfrm>
          <a:off x="4191000" y="1828800"/>
          <a:ext cx="3810000" cy="4230688"/>
        </p:xfrm>
        <a:graphic>
          <a:graphicData uri="http://schemas.openxmlformats.org/drawingml/2006/table">
            <a:tbl>
              <a:tblPr/>
              <a:tblGrid>
                <a:gridCol w="1227138">
                  <a:extLst>
                    <a:ext uri="{9D8B030D-6E8A-4147-A177-3AD203B41FA5}">
                      <a16:colId xmlns:a16="http://schemas.microsoft.com/office/drawing/2014/main" val="20000"/>
                    </a:ext>
                  </a:extLst>
                </a:gridCol>
                <a:gridCol w="1355725">
                  <a:extLst>
                    <a:ext uri="{9D8B030D-6E8A-4147-A177-3AD203B41FA5}">
                      <a16:colId xmlns:a16="http://schemas.microsoft.com/office/drawing/2014/main" val="20001"/>
                    </a:ext>
                  </a:extLst>
                </a:gridCol>
                <a:gridCol w="1227137">
                  <a:extLst>
                    <a:ext uri="{9D8B030D-6E8A-4147-A177-3AD203B41FA5}">
                      <a16:colId xmlns:a16="http://schemas.microsoft.com/office/drawing/2014/main" val="20002"/>
                    </a:ext>
                  </a:extLst>
                </a:gridCol>
              </a:tblGrid>
              <a:tr h="573088">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Key </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Binary</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ctr" defTabSz="914400" rtl="0" eaLnBrk="0" fontAlgn="b"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K mod 8</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54013">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8</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1000</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4013">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7</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111</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7</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4013">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12</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1100</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4</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4013">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34</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100010</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2</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4013">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56</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111000</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5600">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78</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1001110</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6</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4013">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90</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1011010</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2</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4013">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23</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10111</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7</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4013">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45</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101101</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5</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54013">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67</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1000011</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defRPr sz="2400" b="1">
                          <a:solidFill>
                            <a:schemeClr val="tx1"/>
                          </a:solidFill>
                          <a:latin typeface="Arial" panose="020B0604020202020204" pitchFamily="34" charset="0"/>
                        </a:defRPr>
                      </a:lvl1pPr>
                      <a:lvl2pPr marL="742950" indent="-285750">
                        <a:spcBef>
                          <a:spcPct val="20000"/>
                        </a:spcBef>
                        <a:buSzPct val="100000"/>
                        <a:defRPr sz="2000" b="1">
                          <a:solidFill>
                            <a:srgbClr val="063DE8"/>
                          </a:solidFill>
                          <a:latin typeface="Arial" panose="020B0604020202020204" pitchFamily="34" charset="0"/>
                        </a:defRPr>
                      </a:lvl2pPr>
                      <a:lvl3pPr marL="1143000" indent="-228600">
                        <a:spcBef>
                          <a:spcPct val="20000"/>
                        </a:spcBef>
                        <a:buSzPct val="100000"/>
                        <a:defRPr sz="2000" b="1">
                          <a:solidFill>
                            <a:schemeClr val="tx1"/>
                          </a:solidFill>
                          <a:latin typeface="Arial" panose="020B0604020202020204" pitchFamily="34" charset="0"/>
                        </a:defRPr>
                      </a:lvl3pPr>
                      <a:lvl4pPr marL="1600200" indent="-228600">
                        <a:spcBef>
                          <a:spcPct val="20000"/>
                        </a:spcBef>
                        <a:buSzPct val="100000"/>
                        <a:defRPr sz="1600" b="1">
                          <a:solidFill>
                            <a:schemeClr val="tx1"/>
                          </a:solidFill>
                          <a:latin typeface="Arial" panose="020B0604020202020204" pitchFamily="34" charset="0"/>
                        </a:defRPr>
                      </a:lvl4pPr>
                      <a:lvl5pPr marL="2057400" indent="-228600">
                        <a:spcBef>
                          <a:spcPct val="20000"/>
                        </a:spcBef>
                        <a:buSzPct val="100000"/>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342900" marR="0" lvl="0" indent="-342900" algn="r" defTabSz="914400" rtl="0" eaLnBrk="0" fontAlgn="b"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3</a:t>
                      </a:r>
                      <a:endParaRPr kumimoji="0" lang="en-US" altLang="en-US" sz="3200" b="1" i="0" u="none" strike="noStrike" cap="none" normalizeH="0" baseline="0" smtClean="0">
                        <a:ln>
                          <a:noFill/>
                        </a:ln>
                        <a:solidFill>
                          <a:schemeClr val="tx1"/>
                        </a:solidFill>
                        <a:effectLst/>
                        <a:latin typeface="Arial" panose="020B0604020202020204" pitchFamily="34"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1798" name="Rectangle 54"/>
          <p:cNvSpPr>
            <a:spLocks noChangeArrowheads="1"/>
          </p:cNvSpPr>
          <p:nvPr/>
        </p:nvSpPr>
        <p:spPr bwMode="auto">
          <a:xfrm>
            <a:off x="6248400" y="2438400"/>
            <a:ext cx="457200" cy="3886200"/>
          </a:xfrm>
          <a:prstGeom prst="rect">
            <a:avLst/>
          </a:prstGeom>
          <a:noFill/>
          <a:ln w="38100">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smtClean="0"/>
              <a:t>Restrictions on value of </a:t>
            </a:r>
            <a:r>
              <a:rPr lang="en-US" altLang="en-US" i="0" smtClean="0"/>
              <a:t>m</a:t>
            </a:r>
          </a:p>
        </p:txBody>
      </p:sp>
      <p:sp>
        <p:nvSpPr>
          <p:cNvPr id="32771" name="Rectangle 3"/>
          <p:cNvSpPr>
            <a:spLocks noGrp="1" noChangeArrowheads="1"/>
          </p:cNvSpPr>
          <p:nvPr>
            <p:ph type="body" idx="1"/>
          </p:nvPr>
        </p:nvSpPr>
        <p:spPr>
          <a:xfrm>
            <a:off x="417513" y="2362200"/>
            <a:ext cx="8726487" cy="2630488"/>
          </a:xfrm>
        </p:spPr>
        <p:txBody>
          <a:bodyPr/>
          <a:lstStyle/>
          <a:p>
            <a:pPr>
              <a:lnSpc>
                <a:spcPct val="90000"/>
              </a:lnSpc>
              <a:buFontTx/>
              <a:buNone/>
            </a:pPr>
            <a:r>
              <a:rPr lang="en-US" altLang="en-US" sz="3200" smtClean="0"/>
              <a:t>	Unless it is known that probability distribution on keys makes all lower order p-bit patterns equally likely, </a:t>
            </a:r>
          </a:p>
          <a:p>
            <a:pPr>
              <a:lnSpc>
                <a:spcPct val="90000"/>
              </a:lnSpc>
              <a:buFontTx/>
              <a:buNone/>
            </a:pPr>
            <a:endParaRPr lang="en-US" altLang="en-US" sz="2400" smtClean="0"/>
          </a:p>
          <a:p>
            <a:pPr>
              <a:lnSpc>
                <a:spcPct val="90000"/>
              </a:lnSpc>
              <a:buFontTx/>
              <a:buNone/>
            </a:pPr>
            <a:r>
              <a:rPr lang="en-US" altLang="en-US" sz="3200" smtClean="0"/>
              <a:t>	it is better to make the hash function </a:t>
            </a:r>
            <a:r>
              <a:rPr lang="en-US" altLang="en-US" sz="3200" b="0" smtClean="0"/>
              <a:t>dependent</a:t>
            </a:r>
            <a:r>
              <a:rPr lang="en-US" altLang="en-US" sz="3200" smtClean="0"/>
              <a:t> on </a:t>
            </a:r>
            <a:r>
              <a:rPr lang="en-US" altLang="en-US" sz="3200" b="0" smtClean="0"/>
              <a:t>all</a:t>
            </a:r>
            <a:r>
              <a:rPr lang="en-US" altLang="en-US" sz="3200" smtClean="0"/>
              <a:t> the bits of the key.</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smtClean="0"/>
              <a:t>Good value of </a:t>
            </a:r>
            <a:r>
              <a:rPr lang="en-US" altLang="en-US" i="0" smtClean="0"/>
              <a:t>m</a:t>
            </a:r>
          </a:p>
        </p:txBody>
      </p:sp>
      <p:sp>
        <p:nvSpPr>
          <p:cNvPr id="33795" name="Rectangle 3"/>
          <p:cNvSpPr>
            <a:spLocks noGrp="1" noChangeArrowheads="1"/>
          </p:cNvSpPr>
          <p:nvPr>
            <p:ph type="body" idx="1"/>
          </p:nvPr>
        </p:nvSpPr>
        <p:spPr>
          <a:xfrm>
            <a:off x="228600" y="2017713"/>
            <a:ext cx="8726488" cy="4114800"/>
          </a:xfrm>
        </p:spPr>
        <p:txBody>
          <a:bodyPr/>
          <a:lstStyle/>
          <a:p>
            <a:r>
              <a:rPr lang="en-US" altLang="en-US" smtClean="0"/>
              <a:t>Power of 10 should be avoided, if application deals with decimal numbers as keys.</a:t>
            </a:r>
          </a:p>
          <a:p>
            <a:endParaRPr lang="en-US" altLang="en-US" sz="1800" smtClean="0"/>
          </a:p>
          <a:p>
            <a:r>
              <a:rPr lang="en-US" altLang="en-US" smtClean="0"/>
              <a:t>Good values of </a:t>
            </a:r>
            <a:r>
              <a:rPr lang="en-US" altLang="en-US" i="1" smtClean="0"/>
              <a:t>m</a:t>
            </a:r>
            <a:r>
              <a:rPr lang="en-US" altLang="en-US" smtClean="0"/>
              <a:t> are primes not close to the exact powers of 2 (or 10).</a:t>
            </a:r>
          </a:p>
          <a:p>
            <a:endParaRPr lang="en-US" altLang="en-US" sz="2000"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ltLang="en-US" smtClean="0"/>
              <a:t>Multiplication method</a:t>
            </a:r>
          </a:p>
        </p:txBody>
      </p:sp>
      <p:sp>
        <p:nvSpPr>
          <p:cNvPr id="687107" name="Rectangle 3"/>
          <p:cNvSpPr>
            <a:spLocks noGrp="1" noChangeArrowheads="1"/>
          </p:cNvSpPr>
          <p:nvPr>
            <p:ph type="body" idx="1"/>
          </p:nvPr>
        </p:nvSpPr>
        <p:spPr>
          <a:xfrm>
            <a:off x="0" y="2017713"/>
            <a:ext cx="8955088" cy="4114800"/>
          </a:xfrm>
        </p:spPr>
        <p:txBody>
          <a:bodyPr/>
          <a:lstStyle/>
          <a:p>
            <a:pPr>
              <a:lnSpc>
                <a:spcPct val="90000"/>
              </a:lnSpc>
              <a:defRPr/>
            </a:pPr>
            <a:r>
              <a:rPr lang="en-US" altLang="en-US" smtClean="0"/>
              <a:t>Using a random real number </a:t>
            </a:r>
            <a:r>
              <a:rPr lang="en-US" altLang="en-US" i="1" smtClean="0">
                <a:effectLst>
                  <a:outerShdw blurRad="38100" dist="38100" dir="2700000" algn="tl">
                    <a:srgbClr val="C0C0C0"/>
                  </a:outerShdw>
                </a:effectLst>
              </a:rPr>
              <a:t>f</a:t>
            </a:r>
            <a:r>
              <a:rPr lang="en-US" altLang="en-US" smtClean="0"/>
              <a:t>  in the range </a:t>
            </a:r>
            <a:r>
              <a:rPr lang="en-US" altLang="en-US" i="1" smtClean="0"/>
              <a:t>[0,1).</a:t>
            </a:r>
            <a:r>
              <a:rPr lang="en-US" altLang="en-US" smtClean="0"/>
              <a:t> </a:t>
            </a:r>
          </a:p>
          <a:p>
            <a:pPr>
              <a:lnSpc>
                <a:spcPct val="90000"/>
              </a:lnSpc>
              <a:defRPr/>
            </a:pPr>
            <a:endParaRPr lang="en-US" altLang="en-US" sz="1800" smtClean="0"/>
          </a:p>
          <a:p>
            <a:pPr>
              <a:lnSpc>
                <a:spcPct val="90000"/>
              </a:lnSpc>
              <a:defRPr/>
            </a:pPr>
            <a:r>
              <a:rPr lang="en-US" altLang="en-US" smtClean="0"/>
              <a:t>The fractional part of the product </a:t>
            </a:r>
            <a:r>
              <a:rPr lang="en-US" altLang="en-US" i="1" smtClean="0">
                <a:effectLst>
                  <a:outerShdw blurRad="38100" dist="38100" dir="2700000" algn="tl">
                    <a:srgbClr val="C0C0C0"/>
                  </a:outerShdw>
                </a:effectLst>
              </a:rPr>
              <a:t>f</a:t>
            </a:r>
            <a:r>
              <a:rPr lang="en-US" altLang="en-US" i="1" smtClean="0"/>
              <a:t>*key </a:t>
            </a:r>
            <a:r>
              <a:rPr lang="en-US" altLang="en-US" smtClean="0"/>
              <a:t>yields a number in the range </a:t>
            </a:r>
            <a:r>
              <a:rPr lang="en-US" altLang="en-US" i="1" smtClean="0"/>
              <a:t>0 to 1</a:t>
            </a:r>
            <a:r>
              <a:rPr lang="en-US" altLang="en-US" smtClean="0"/>
              <a:t>.</a:t>
            </a:r>
          </a:p>
          <a:p>
            <a:pPr>
              <a:lnSpc>
                <a:spcPct val="90000"/>
              </a:lnSpc>
              <a:defRPr/>
            </a:pPr>
            <a:endParaRPr lang="en-US" altLang="en-US" sz="1800" smtClean="0"/>
          </a:p>
          <a:p>
            <a:pPr>
              <a:lnSpc>
                <a:spcPct val="90000"/>
              </a:lnSpc>
              <a:defRPr/>
            </a:pPr>
            <a:r>
              <a:rPr lang="en-US" altLang="en-US" smtClean="0"/>
              <a:t>When this number is multiplied by m (hash table size), the integer portion of the product gives the hash value in the range </a:t>
            </a:r>
            <a:r>
              <a:rPr lang="en-US" altLang="en-US" i="1" smtClean="0"/>
              <a:t>0 to m-1</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smtClean="0"/>
              <a:t>More on multiplication method</a:t>
            </a:r>
          </a:p>
        </p:txBody>
      </p:sp>
      <p:sp>
        <p:nvSpPr>
          <p:cNvPr id="35843" name="Rectangle 3"/>
          <p:cNvSpPr>
            <a:spLocks noGrp="1" noChangeArrowheads="1"/>
          </p:cNvSpPr>
          <p:nvPr>
            <p:ph type="body" idx="1"/>
          </p:nvPr>
        </p:nvSpPr>
        <p:spPr/>
        <p:txBody>
          <a:bodyPr/>
          <a:lstStyle/>
          <a:p>
            <a:pPr>
              <a:lnSpc>
                <a:spcPct val="80000"/>
              </a:lnSpc>
            </a:pPr>
            <a:r>
              <a:rPr lang="en-US" altLang="en-US" sz="2400" smtClean="0">
                <a:sym typeface="Symbol" panose="05050102010706020507" pitchFamily="18" charset="2"/>
              </a:rPr>
              <a:t>Choose </a:t>
            </a:r>
            <a:r>
              <a:rPr lang="en-US" altLang="en-US" sz="2400" i="1" smtClean="0">
                <a:sym typeface="Symbol" panose="05050102010706020507" pitchFamily="18" charset="2"/>
              </a:rPr>
              <a:t>m</a:t>
            </a:r>
            <a:r>
              <a:rPr lang="en-US" altLang="en-US" sz="2400" smtClean="0">
                <a:sym typeface="Symbol" panose="05050102010706020507" pitchFamily="18" charset="2"/>
              </a:rPr>
              <a:t> = 2</a:t>
            </a:r>
            <a:r>
              <a:rPr lang="en-US" altLang="en-US" sz="2400" i="1" baseline="30000" smtClean="0">
                <a:sym typeface="Symbol" panose="05050102010706020507" pitchFamily="18" charset="2"/>
              </a:rPr>
              <a:t>P </a:t>
            </a:r>
            <a:r>
              <a:rPr lang="en-US" altLang="en-US" sz="2400" i="1" smtClean="0">
                <a:sym typeface="Symbol" panose="05050102010706020507" pitchFamily="18" charset="2"/>
              </a:rPr>
              <a:t> </a:t>
            </a:r>
          </a:p>
          <a:p>
            <a:pPr>
              <a:lnSpc>
                <a:spcPct val="80000"/>
              </a:lnSpc>
            </a:pPr>
            <a:r>
              <a:rPr lang="en-US" altLang="en-US" sz="2400" smtClean="0"/>
              <a:t>For a constant </a:t>
            </a:r>
            <a:r>
              <a:rPr lang="en-US" altLang="en-US" sz="2400" i="1" smtClean="0"/>
              <a:t>A</a:t>
            </a:r>
            <a:r>
              <a:rPr lang="en-US" altLang="en-US" sz="2400" smtClean="0"/>
              <a:t>, 0 &lt; </a:t>
            </a:r>
            <a:r>
              <a:rPr lang="en-US" altLang="en-US" sz="2400" i="1" smtClean="0"/>
              <a:t>A</a:t>
            </a:r>
            <a:r>
              <a:rPr lang="en-US" altLang="en-US" sz="2400" smtClean="0"/>
              <a:t> &lt; 1:</a:t>
            </a:r>
          </a:p>
          <a:p>
            <a:pPr>
              <a:lnSpc>
                <a:spcPct val="80000"/>
              </a:lnSpc>
            </a:pPr>
            <a:r>
              <a:rPr lang="en-US" altLang="en-US" sz="2400" i="1" smtClean="0"/>
              <a:t>h(k) = </a:t>
            </a:r>
            <a:r>
              <a:rPr lang="en-US" altLang="en-US" sz="2400" i="1" smtClean="0">
                <a:sym typeface="Symbol" panose="05050102010706020507" pitchFamily="18" charset="2"/>
              </a:rPr>
              <a:t> m (kA - kA) </a:t>
            </a:r>
          </a:p>
          <a:p>
            <a:pPr>
              <a:lnSpc>
                <a:spcPct val="80000"/>
              </a:lnSpc>
            </a:pPr>
            <a:r>
              <a:rPr lang="en-US" altLang="en-US" sz="2400" smtClean="0">
                <a:sym typeface="Symbol" panose="05050102010706020507" pitchFamily="18" charset="2"/>
              </a:rPr>
              <a:t>Value of </a:t>
            </a:r>
            <a:r>
              <a:rPr lang="en-US" altLang="en-US" sz="2400" i="1" smtClean="0">
                <a:sym typeface="Symbol" panose="05050102010706020507" pitchFamily="18" charset="2"/>
              </a:rPr>
              <a:t>A</a:t>
            </a:r>
            <a:r>
              <a:rPr lang="en-US" altLang="en-US" sz="2400" smtClean="0">
                <a:sym typeface="Symbol" panose="05050102010706020507" pitchFamily="18" charset="2"/>
              </a:rPr>
              <a:t> should not be close to 0 or 1</a:t>
            </a:r>
          </a:p>
          <a:p>
            <a:pPr>
              <a:lnSpc>
                <a:spcPct val="80000"/>
              </a:lnSpc>
            </a:pPr>
            <a:r>
              <a:rPr lang="en-US" altLang="en-US" sz="2400" i="1" smtClean="0"/>
              <a:t>Knuth</a:t>
            </a:r>
            <a:r>
              <a:rPr lang="en-US" altLang="en-US" sz="2400" smtClean="0"/>
              <a:t> says good value of A is 0.618033</a:t>
            </a:r>
          </a:p>
          <a:p>
            <a:pPr>
              <a:lnSpc>
                <a:spcPct val="80000"/>
              </a:lnSpc>
            </a:pPr>
            <a:r>
              <a:rPr lang="en-US" altLang="en-US" sz="2400" smtClean="0"/>
              <a:t>If </a:t>
            </a:r>
            <a:r>
              <a:rPr lang="en-US" altLang="en-US" sz="2400" i="1" smtClean="0"/>
              <a:t>k=123456, m=10000,and A</a:t>
            </a:r>
            <a:r>
              <a:rPr lang="en-US" altLang="en-US" sz="2400" smtClean="0"/>
              <a:t> as above</a:t>
            </a:r>
          </a:p>
          <a:p>
            <a:pPr>
              <a:lnSpc>
                <a:spcPct val="80000"/>
              </a:lnSpc>
              <a:buFontTx/>
              <a:buNone/>
            </a:pPr>
            <a:r>
              <a:rPr lang="en-US" altLang="en-US" sz="2400" smtClean="0"/>
              <a:t>	</a:t>
            </a:r>
            <a:r>
              <a:rPr lang="en-US" altLang="en-US" sz="2400" i="1" smtClean="0"/>
              <a:t>h(k)= </a:t>
            </a:r>
            <a:r>
              <a:rPr lang="en-US" altLang="en-US" sz="2400" i="1" smtClean="0">
                <a:sym typeface="Symbol" panose="05050102010706020507" pitchFamily="18" charset="2"/>
              </a:rPr>
              <a:t>10000.(123456*A- 123456*A)</a:t>
            </a:r>
          </a:p>
          <a:p>
            <a:pPr>
              <a:lnSpc>
                <a:spcPct val="80000"/>
              </a:lnSpc>
              <a:buFontTx/>
              <a:buNone/>
            </a:pPr>
            <a:r>
              <a:rPr lang="en-US" altLang="en-US" sz="2400" i="1" smtClean="0">
                <a:sym typeface="Symbol" panose="05050102010706020507" pitchFamily="18" charset="2"/>
              </a:rPr>
              <a:t>         =</a:t>
            </a:r>
            <a:r>
              <a:rPr lang="en-US" altLang="en-US" sz="2400" i="1" smtClean="0"/>
              <a:t> </a:t>
            </a:r>
            <a:r>
              <a:rPr lang="en-US" altLang="en-US" sz="2400" i="1" smtClean="0">
                <a:sym typeface="Symbol" panose="05050102010706020507" pitchFamily="18" charset="2"/>
              </a:rPr>
              <a:t>10000.0.0041151</a:t>
            </a:r>
          </a:p>
          <a:p>
            <a:pPr>
              <a:lnSpc>
                <a:spcPct val="80000"/>
              </a:lnSpc>
              <a:buFontTx/>
              <a:buNone/>
            </a:pPr>
            <a:r>
              <a:rPr lang="en-US" altLang="en-US" sz="2400" i="1" smtClean="0">
                <a:sym typeface="Symbol" panose="05050102010706020507" pitchFamily="18" charset="2"/>
              </a:rPr>
              <a:t>		  =41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ltLang="en-US" smtClean="0"/>
              <a:t>Hashing with Open Addressing</a:t>
            </a:r>
          </a:p>
        </p:txBody>
      </p:sp>
      <p:sp>
        <p:nvSpPr>
          <p:cNvPr id="36867" name="Rectangle 3"/>
          <p:cNvSpPr>
            <a:spLocks noGrp="1" noChangeArrowheads="1"/>
          </p:cNvSpPr>
          <p:nvPr>
            <p:ph type="body" idx="1"/>
          </p:nvPr>
        </p:nvSpPr>
        <p:spPr>
          <a:xfrm>
            <a:off x="1066800" y="2057400"/>
            <a:ext cx="6811963" cy="4038600"/>
          </a:xfrm>
        </p:spPr>
        <p:txBody>
          <a:bodyPr/>
          <a:lstStyle/>
          <a:p>
            <a:r>
              <a:rPr lang="en-US" altLang="en-US" sz="2000" smtClean="0"/>
              <a:t>So far we have studied hashing with chaining, using a linked-list to store keys that hash to the same location.</a:t>
            </a:r>
          </a:p>
          <a:p>
            <a:r>
              <a:rPr lang="en-US" altLang="en-US" sz="2000" smtClean="0"/>
              <a:t>Maintaining linked lists involves using pointers which is complex and inefficient in both storage and time requirements.</a:t>
            </a:r>
          </a:p>
          <a:p>
            <a:r>
              <a:rPr lang="en-US" altLang="en-US" sz="2000" smtClean="0"/>
              <a:t>Another option is to store all the keys directly in the table. This is known as </a:t>
            </a:r>
            <a:r>
              <a:rPr lang="en-US" altLang="en-US" sz="2000" b="0" u="sng" smtClean="0">
                <a:solidFill>
                  <a:srgbClr val="008000"/>
                </a:solidFill>
              </a:rPr>
              <a:t>open addressing</a:t>
            </a:r>
            <a:r>
              <a:rPr lang="en-US" altLang="en-US" sz="2000" smtClean="0"/>
              <a:t>, where collisions are resolved by systematically examining other table indexes, </a:t>
            </a:r>
            <a:r>
              <a:rPr lang="en-US" altLang="en-US" sz="2000" i="1" smtClean="0"/>
              <a:t>i </a:t>
            </a:r>
            <a:r>
              <a:rPr lang="en-US" altLang="en-US" sz="2000" baseline="-10000" smtClean="0"/>
              <a:t>0 </a:t>
            </a:r>
            <a:r>
              <a:rPr lang="en-US" altLang="en-US" sz="2000" smtClean="0"/>
              <a:t>, </a:t>
            </a:r>
            <a:r>
              <a:rPr lang="en-US" altLang="en-US" sz="2000" i="1" smtClean="0"/>
              <a:t>i </a:t>
            </a:r>
            <a:r>
              <a:rPr lang="en-US" altLang="en-US" sz="2000" baseline="-10000" smtClean="0"/>
              <a:t>1 </a:t>
            </a:r>
            <a:r>
              <a:rPr lang="en-US" altLang="en-US" sz="2000" smtClean="0"/>
              <a:t>, </a:t>
            </a:r>
            <a:r>
              <a:rPr lang="en-US" altLang="en-US" sz="2000" i="1" smtClean="0"/>
              <a:t>i </a:t>
            </a:r>
            <a:r>
              <a:rPr lang="en-US" altLang="en-US" sz="2000" i="1" baseline="-10000" smtClean="0"/>
              <a:t>2 </a:t>
            </a:r>
            <a:r>
              <a:rPr lang="en-US" altLang="en-US" sz="2000" smtClean="0"/>
              <a:t>, … until an empty slot is located.</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en-US" i="0" smtClean="0"/>
              <a:t>Open addressing</a:t>
            </a:r>
            <a:endParaRPr lang="en-US" altLang="en-US" smtClean="0"/>
          </a:p>
        </p:txBody>
      </p:sp>
      <p:sp>
        <p:nvSpPr>
          <p:cNvPr id="37891" name="Rectangle 3"/>
          <p:cNvSpPr>
            <a:spLocks noGrp="1" noChangeArrowheads="1"/>
          </p:cNvSpPr>
          <p:nvPr>
            <p:ph type="body" idx="1"/>
          </p:nvPr>
        </p:nvSpPr>
        <p:spPr>
          <a:xfrm>
            <a:off x="228600" y="2017713"/>
            <a:ext cx="8726488" cy="4114800"/>
          </a:xfrm>
        </p:spPr>
        <p:txBody>
          <a:bodyPr/>
          <a:lstStyle/>
          <a:p>
            <a:pPr lvl="1"/>
            <a:r>
              <a:rPr lang="en-US" altLang="en-US" smtClean="0"/>
              <a:t>Another approach for collision resolution.</a:t>
            </a:r>
          </a:p>
          <a:p>
            <a:pPr lvl="1"/>
            <a:endParaRPr lang="en-US" altLang="en-US" sz="1400" smtClean="0"/>
          </a:p>
          <a:p>
            <a:pPr lvl="1"/>
            <a:r>
              <a:rPr lang="en-US" altLang="en-US" smtClean="0"/>
              <a:t>All elements are stored in the hash table itself (so no pointers involved as in chaining).</a:t>
            </a:r>
          </a:p>
          <a:p>
            <a:pPr lvl="1"/>
            <a:endParaRPr lang="en-US" altLang="en-US" sz="1400" smtClean="0"/>
          </a:p>
          <a:p>
            <a:pPr lvl="1"/>
            <a:r>
              <a:rPr lang="en-US" altLang="en-US" smtClean="0"/>
              <a:t>To insert: if slot is full, try another slot, and another, until an open slot is found (</a:t>
            </a:r>
            <a:r>
              <a:rPr lang="en-US" altLang="en-US" i="1" smtClean="0">
                <a:solidFill>
                  <a:schemeClr val="tx2"/>
                </a:solidFill>
              </a:rPr>
              <a:t>probing</a:t>
            </a:r>
            <a:r>
              <a:rPr lang="en-US" altLang="en-US" smtClean="0"/>
              <a:t>)</a:t>
            </a:r>
          </a:p>
          <a:p>
            <a:pPr lvl="1"/>
            <a:endParaRPr lang="en-US" altLang="en-US" sz="1400" smtClean="0"/>
          </a:p>
          <a:p>
            <a:pPr lvl="1"/>
            <a:r>
              <a:rPr lang="en-US" altLang="en-US" smtClean="0"/>
              <a:t>To search, follow same sequence of probes as would be used when inserting the element</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ltLang="en-US" smtClean="0"/>
              <a:t>Open Addressing</a:t>
            </a:r>
          </a:p>
        </p:txBody>
      </p:sp>
      <p:sp>
        <p:nvSpPr>
          <p:cNvPr id="38915" name="Rectangle 3"/>
          <p:cNvSpPr>
            <a:spLocks noGrp="1" noChangeArrowheads="1"/>
          </p:cNvSpPr>
          <p:nvPr>
            <p:ph type="body" idx="1"/>
          </p:nvPr>
        </p:nvSpPr>
        <p:spPr>
          <a:xfrm>
            <a:off x="914400" y="1905000"/>
            <a:ext cx="7639050" cy="5257800"/>
          </a:xfrm>
        </p:spPr>
        <p:txBody>
          <a:bodyPr/>
          <a:lstStyle/>
          <a:p>
            <a:r>
              <a:rPr lang="en-US" altLang="en-US" sz="2000" smtClean="0"/>
              <a:t>The key is first mapped to a slot: </a:t>
            </a:r>
            <a:br>
              <a:rPr lang="en-US" altLang="en-US" sz="2000" smtClean="0"/>
            </a:br>
            <a:endParaRPr lang="en-US" altLang="en-US" sz="2000" smtClean="0"/>
          </a:p>
          <a:p>
            <a:r>
              <a:rPr lang="en-US" altLang="en-US" sz="2000" smtClean="0"/>
              <a:t>If there is a collision subsequent probes are performed:</a:t>
            </a:r>
          </a:p>
          <a:p>
            <a:endParaRPr lang="en-US" altLang="en-US" sz="2000" smtClean="0"/>
          </a:p>
          <a:p>
            <a:r>
              <a:rPr lang="en-US" altLang="en-US" sz="2000" smtClean="0"/>
              <a:t>If the offset constant, </a:t>
            </a:r>
            <a:r>
              <a:rPr lang="en-US" altLang="en-US" sz="2000" i="1" smtClean="0"/>
              <a:t>c</a:t>
            </a:r>
            <a:r>
              <a:rPr lang="en-US" altLang="en-US" sz="2000" smtClean="0"/>
              <a:t> and </a:t>
            </a:r>
            <a:r>
              <a:rPr lang="en-US" altLang="en-US" sz="2000" i="1" smtClean="0"/>
              <a:t>m</a:t>
            </a:r>
            <a:r>
              <a:rPr lang="en-US" altLang="en-US" sz="2000" smtClean="0"/>
              <a:t> are not relatively prime, we will not examine all the cells.  Ex.:</a:t>
            </a:r>
          </a:p>
          <a:p>
            <a:pPr lvl="1"/>
            <a:r>
              <a:rPr lang="en-US" altLang="en-US" sz="2000" smtClean="0"/>
              <a:t>Consider m=4 and c=2, then only every other slot is checked.</a:t>
            </a:r>
            <a:br>
              <a:rPr lang="en-US" altLang="en-US" sz="2000" smtClean="0"/>
            </a:br>
            <a:r>
              <a:rPr lang="en-US" altLang="en-US" sz="2000" smtClean="0"/>
              <a:t>When </a:t>
            </a:r>
            <a:r>
              <a:rPr lang="en-US" altLang="en-US" sz="2000" i="1" smtClean="0"/>
              <a:t>c</a:t>
            </a:r>
            <a:r>
              <a:rPr lang="en-US" altLang="en-US" sz="2000" smtClean="0"/>
              <a:t>=1 the collision resolution is done as a linear search.  This is known as </a:t>
            </a:r>
            <a:r>
              <a:rPr lang="en-US" altLang="en-US" sz="2000" b="0" u="sng" smtClean="0">
                <a:solidFill>
                  <a:srgbClr val="008000"/>
                </a:solidFill>
              </a:rPr>
              <a:t>linear probing</a:t>
            </a:r>
            <a:r>
              <a:rPr lang="en-US" altLang="en-US" sz="2000" smtClean="0"/>
              <a:t>.</a:t>
            </a:r>
          </a:p>
        </p:txBody>
      </p:sp>
      <p:graphicFrame>
        <p:nvGraphicFramePr>
          <p:cNvPr id="38916" name="Object 4"/>
          <p:cNvGraphicFramePr>
            <a:graphicFrameLocks noChangeAspect="1"/>
          </p:cNvGraphicFramePr>
          <p:nvPr/>
        </p:nvGraphicFramePr>
        <p:xfrm>
          <a:off x="1295400" y="2286000"/>
          <a:ext cx="1914525" cy="371475"/>
        </p:xfrm>
        <a:graphic>
          <a:graphicData uri="http://schemas.openxmlformats.org/presentationml/2006/ole">
            <mc:AlternateContent xmlns:mc="http://schemas.openxmlformats.org/markup-compatibility/2006">
              <mc:Choice xmlns:v="urn:schemas-microsoft-com:vml" Requires="v">
                <p:oleObj spid="_x0000_s38928" name="Equation" r:id="rId3" imgW="1181100" imgH="228600" progId="Equation.3">
                  <p:embed/>
                </p:oleObj>
              </mc:Choice>
              <mc:Fallback>
                <p:oleObj name="Equation" r:id="rId3" imgW="11811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286000"/>
                        <a:ext cx="1914525"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7" name="Object 5"/>
          <p:cNvGraphicFramePr>
            <a:graphicFrameLocks noChangeAspect="1"/>
          </p:cNvGraphicFramePr>
          <p:nvPr/>
        </p:nvGraphicFramePr>
        <p:xfrm>
          <a:off x="2667000" y="2895600"/>
          <a:ext cx="3738563" cy="393700"/>
        </p:xfrm>
        <a:graphic>
          <a:graphicData uri="http://schemas.openxmlformats.org/presentationml/2006/ole">
            <mc:AlternateContent xmlns:mc="http://schemas.openxmlformats.org/markup-compatibility/2006">
              <mc:Choice xmlns:v="urn:schemas-microsoft-com:vml" Requires="v">
                <p:oleObj spid="_x0000_s38929" name="Microsoft Equation 3.0" r:id="rId5" imgW="2286000" imgH="241300" progId="Equation.3">
                  <p:embed/>
                </p:oleObj>
              </mc:Choice>
              <mc:Fallback>
                <p:oleObj name="Microsoft Equation 3.0" r:id="rId5" imgW="2286000" imgH="241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2895600"/>
                        <a:ext cx="373856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8918" name="Group 6"/>
          <p:cNvGrpSpPr>
            <a:grpSpLocks/>
          </p:cNvGrpSpPr>
          <p:nvPr/>
        </p:nvGrpSpPr>
        <p:grpSpPr bwMode="auto">
          <a:xfrm>
            <a:off x="3657600" y="5867400"/>
            <a:ext cx="1524000" cy="733425"/>
            <a:chOff x="2208" y="2778"/>
            <a:chExt cx="960" cy="462"/>
          </a:xfrm>
        </p:grpSpPr>
        <p:grpSp>
          <p:nvGrpSpPr>
            <p:cNvPr id="38919" name="Group 7"/>
            <p:cNvGrpSpPr>
              <a:grpSpLocks/>
            </p:cNvGrpSpPr>
            <p:nvPr/>
          </p:nvGrpSpPr>
          <p:grpSpPr bwMode="auto">
            <a:xfrm>
              <a:off x="2208" y="3000"/>
              <a:ext cx="960" cy="240"/>
              <a:chOff x="1728" y="2880"/>
              <a:chExt cx="960" cy="240"/>
            </a:xfrm>
          </p:grpSpPr>
          <p:sp>
            <p:nvSpPr>
              <p:cNvPr id="38924" name="Rectangle 8"/>
              <p:cNvSpPr>
                <a:spLocks noChangeArrowheads="1"/>
              </p:cNvSpPr>
              <p:nvPr/>
            </p:nvSpPr>
            <p:spPr bwMode="auto">
              <a:xfrm>
                <a:off x="1728" y="2880"/>
                <a:ext cx="960" cy="24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buSzTx/>
                  <a:buFontTx/>
                  <a:buNone/>
                </a:pPr>
                <a:endParaRPr lang="en-US" altLang="en-US" sz="2400" b="0">
                  <a:latin typeface="Times New Roman" panose="02020603050405020304" pitchFamily="18" charset="0"/>
                </a:endParaRPr>
              </a:p>
            </p:txBody>
          </p:sp>
          <p:sp>
            <p:nvSpPr>
              <p:cNvPr id="38925" name="Line 9"/>
              <p:cNvSpPr>
                <a:spLocks noChangeShapeType="1"/>
              </p:cNvSpPr>
              <p:nvPr/>
            </p:nvSpPr>
            <p:spPr bwMode="auto">
              <a:xfrm flipV="1">
                <a:off x="1968" y="2880"/>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926" name="Line 10"/>
              <p:cNvSpPr>
                <a:spLocks noChangeShapeType="1"/>
              </p:cNvSpPr>
              <p:nvPr/>
            </p:nvSpPr>
            <p:spPr bwMode="auto">
              <a:xfrm flipV="1">
                <a:off x="2208" y="2880"/>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sp>
            <p:nvSpPr>
              <p:cNvPr id="38927" name="Line 11"/>
              <p:cNvSpPr>
                <a:spLocks noChangeShapeType="1"/>
              </p:cNvSpPr>
              <p:nvPr/>
            </p:nvSpPr>
            <p:spPr bwMode="auto">
              <a:xfrm flipV="1">
                <a:off x="2448" y="2880"/>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p>
            </p:txBody>
          </p:sp>
        </p:grpSp>
        <p:sp>
          <p:nvSpPr>
            <p:cNvPr id="38920" name="Text Box 12"/>
            <p:cNvSpPr txBox="1">
              <a:spLocks noChangeArrowheads="1"/>
            </p:cNvSpPr>
            <p:nvPr/>
          </p:nvSpPr>
          <p:spPr bwMode="auto">
            <a:xfrm>
              <a:off x="2211" y="2788"/>
              <a:ext cx="18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eaLnBrk="1" hangingPunct="1">
                <a:spcBef>
                  <a:spcPct val="0"/>
                </a:spcBef>
                <a:buSzTx/>
                <a:buFontTx/>
                <a:buNone/>
              </a:pPr>
              <a:r>
                <a:rPr lang="en-US" altLang="en-US" sz="1600" b="0">
                  <a:latin typeface="Tahoma" panose="020B0604030504040204" pitchFamily="34" charset="0"/>
                </a:rPr>
                <a:t>0</a:t>
              </a:r>
            </a:p>
          </p:txBody>
        </p:sp>
        <p:sp>
          <p:nvSpPr>
            <p:cNvPr id="38921" name="Text Box 13"/>
            <p:cNvSpPr txBox="1">
              <a:spLocks noChangeArrowheads="1"/>
            </p:cNvSpPr>
            <p:nvPr/>
          </p:nvSpPr>
          <p:spPr bwMode="auto">
            <a:xfrm>
              <a:off x="2448" y="2778"/>
              <a:ext cx="18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eaLnBrk="1" hangingPunct="1">
                <a:spcBef>
                  <a:spcPct val="0"/>
                </a:spcBef>
                <a:buSzTx/>
                <a:buFontTx/>
                <a:buNone/>
              </a:pPr>
              <a:r>
                <a:rPr lang="en-US" altLang="en-US" sz="1600" b="0">
                  <a:latin typeface="Tahoma" panose="020B0604030504040204" pitchFamily="34" charset="0"/>
                </a:rPr>
                <a:t>1</a:t>
              </a:r>
            </a:p>
          </p:txBody>
        </p:sp>
        <p:sp>
          <p:nvSpPr>
            <p:cNvPr id="38922" name="Text Box 14"/>
            <p:cNvSpPr txBox="1">
              <a:spLocks noChangeArrowheads="1"/>
            </p:cNvSpPr>
            <p:nvPr/>
          </p:nvSpPr>
          <p:spPr bwMode="auto">
            <a:xfrm>
              <a:off x="2688" y="2778"/>
              <a:ext cx="18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eaLnBrk="1" hangingPunct="1">
                <a:spcBef>
                  <a:spcPct val="0"/>
                </a:spcBef>
                <a:buSzTx/>
                <a:buFontTx/>
                <a:buNone/>
              </a:pPr>
              <a:r>
                <a:rPr lang="en-US" altLang="en-US" sz="1600" b="0">
                  <a:latin typeface="Tahoma" panose="020B0604030504040204" pitchFamily="34" charset="0"/>
                </a:rPr>
                <a:t>2</a:t>
              </a:r>
            </a:p>
          </p:txBody>
        </p:sp>
        <p:sp>
          <p:nvSpPr>
            <p:cNvPr id="38923" name="Text Box 15"/>
            <p:cNvSpPr txBox="1">
              <a:spLocks noChangeArrowheads="1"/>
            </p:cNvSpPr>
            <p:nvPr/>
          </p:nvSpPr>
          <p:spPr bwMode="auto">
            <a:xfrm>
              <a:off x="2928" y="2778"/>
              <a:ext cx="18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SzPct val="100000"/>
                <a:buChar char="•"/>
                <a:defRPr sz="2800" b="1">
                  <a:solidFill>
                    <a:schemeClr val="tx1"/>
                  </a:solidFill>
                  <a:latin typeface="Arial" panose="020B0604020202020204" pitchFamily="34" charset="0"/>
                </a:defRPr>
              </a:lvl1pPr>
              <a:lvl2pPr marL="742950" indent="-285750">
                <a:spcBef>
                  <a:spcPct val="20000"/>
                </a:spcBef>
                <a:buSzPct val="100000"/>
                <a:buChar char="•"/>
                <a:defRPr sz="2400" b="1">
                  <a:solidFill>
                    <a:srgbClr val="063DE8"/>
                  </a:solidFill>
                  <a:latin typeface="Arial" panose="020B0604020202020204" pitchFamily="34" charset="0"/>
                </a:defRPr>
              </a:lvl2pPr>
              <a:lvl3pPr marL="1143000" indent="-228600">
                <a:spcBef>
                  <a:spcPct val="20000"/>
                </a:spcBef>
                <a:buSzPct val="100000"/>
                <a:buChar char="•"/>
                <a:defRPr sz="2400" b="1">
                  <a:solidFill>
                    <a:schemeClr val="tx1"/>
                  </a:solidFill>
                  <a:latin typeface="Arial" panose="020B0604020202020204" pitchFamily="34" charset="0"/>
                </a:defRPr>
              </a:lvl3pPr>
              <a:lvl4pPr marL="1600200" indent="-228600">
                <a:spcBef>
                  <a:spcPct val="20000"/>
                </a:spcBef>
                <a:buSzPct val="100000"/>
                <a:buChar char="•"/>
                <a:defRPr b="1">
                  <a:solidFill>
                    <a:schemeClr val="tx1"/>
                  </a:solidFill>
                  <a:latin typeface="Arial" panose="020B0604020202020204" pitchFamily="34"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eaLnBrk="1" hangingPunct="1">
                <a:spcBef>
                  <a:spcPct val="0"/>
                </a:spcBef>
                <a:buSzTx/>
                <a:buFontTx/>
                <a:buNone/>
              </a:pPr>
              <a:r>
                <a:rPr lang="en-US" altLang="en-US" sz="1600" b="0">
                  <a:latin typeface="Tahoma" panose="020B0604030504040204" pitchFamily="34" charset="0"/>
                </a:rPr>
                <a:t>3</a:t>
              </a:r>
            </a:p>
          </p:txBody>
        </p:sp>
      </p:gr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smtClean="0"/>
              <a:t>Insertion in hash table</a:t>
            </a:r>
          </a:p>
        </p:txBody>
      </p:sp>
      <p:sp>
        <p:nvSpPr>
          <p:cNvPr id="39939" name="Rectangle 3"/>
          <p:cNvSpPr>
            <a:spLocks noGrp="1" noChangeArrowheads="1"/>
          </p:cNvSpPr>
          <p:nvPr>
            <p:ph type="body" idx="1"/>
          </p:nvPr>
        </p:nvSpPr>
        <p:spPr/>
        <p:txBody>
          <a:bodyPr/>
          <a:lstStyle/>
          <a:p>
            <a:pPr marL="381000" indent="-381000">
              <a:buFontTx/>
              <a:buNone/>
            </a:pPr>
            <a:r>
              <a:rPr lang="en-US" altLang="en-US" sz="2000" smtClean="0">
                <a:sym typeface="Symbol" panose="05050102010706020507" pitchFamily="18" charset="2"/>
              </a:rPr>
              <a:t>HASH_INSERT(</a:t>
            </a:r>
            <a:r>
              <a:rPr lang="en-US" altLang="en-US" sz="2000" i="1" smtClean="0">
                <a:sym typeface="Symbol" panose="05050102010706020507" pitchFamily="18" charset="2"/>
              </a:rPr>
              <a:t>T,k</a:t>
            </a:r>
            <a:r>
              <a:rPr lang="en-US" altLang="en-US" sz="2000" smtClean="0">
                <a:sym typeface="Symbol" panose="05050102010706020507" pitchFamily="18" charset="2"/>
              </a:rPr>
              <a:t>)</a:t>
            </a:r>
          </a:p>
          <a:p>
            <a:pPr marL="381000" indent="-381000">
              <a:buFontTx/>
              <a:buAutoNum type="arabicPlain"/>
            </a:pPr>
            <a:r>
              <a:rPr lang="en-US" altLang="en-US" sz="2000" i="1" smtClean="0">
                <a:sym typeface="Symbol" panose="05050102010706020507" pitchFamily="18" charset="2"/>
              </a:rPr>
              <a:t>i </a:t>
            </a:r>
            <a:r>
              <a:rPr lang="en-US" altLang="en-US" sz="2000" smtClean="0">
                <a:sym typeface="Symbol" panose="05050102010706020507" pitchFamily="18" charset="2"/>
              </a:rPr>
              <a:t> 0</a:t>
            </a:r>
          </a:p>
          <a:p>
            <a:pPr marL="381000" indent="-381000">
              <a:buFontTx/>
              <a:buAutoNum type="arabicPlain"/>
            </a:pPr>
            <a:r>
              <a:rPr lang="en-US" altLang="en-US" sz="2000" smtClean="0">
                <a:sym typeface="Symbol" panose="05050102010706020507" pitchFamily="18" charset="2"/>
              </a:rPr>
              <a:t>repeat </a:t>
            </a:r>
            <a:r>
              <a:rPr lang="en-US" altLang="en-US" sz="2000" i="1" smtClean="0">
                <a:sym typeface="Symbol" panose="05050102010706020507" pitchFamily="18" charset="2"/>
              </a:rPr>
              <a:t>j  h(k,i)</a:t>
            </a:r>
          </a:p>
          <a:p>
            <a:pPr marL="381000" indent="-381000">
              <a:buFontTx/>
              <a:buAutoNum type="arabicPlain"/>
            </a:pPr>
            <a:r>
              <a:rPr lang="en-US" altLang="en-US" sz="2000" smtClean="0">
                <a:sym typeface="Symbol" panose="05050102010706020507" pitchFamily="18" charset="2"/>
              </a:rPr>
              <a:t>      if </a:t>
            </a:r>
            <a:r>
              <a:rPr lang="en-US" altLang="en-US" sz="2000" i="1" smtClean="0">
                <a:sym typeface="Symbol" panose="05050102010706020507" pitchFamily="18" charset="2"/>
              </a:rPr>
              <a:t>T</a:t>
            </a:r>
            <a:r>
              <a:rPr lang="en-US" altLang="en-US" sz="2000" smtClean="0">
                <a:sym typeface="Symbol" panose="05050102010706020507" pitchFamily="18" charset="2"/>
              </a:rPr>
              <a:t>[</a:t>
            </a:r>
            <a:r>
              <a:rPr lang="en-US" altLang="en-US" sz="2000" i="1" smtClean="0">
                <a:sym typeface="Symbol" panose="05050102010706020507" pitchFamily="18" charset="2"/>
              </a:rPr>
              <a:t>j</a:t>
            </a:r>
            <a:r>
              <a:rPr lang="en-US" altLang="en-US" sz="2000" smtClean="0">
                <a:sym typeface="Symbol" panose="05050102010706020507" pitchFamily="18" charset="2"/>
              </a:rPr>
              <a:t>] = </a:t>
            </a:r>
            <a:r>
              <a:rPr lang="en-US" altLang="en-US" sz="2000" i="1" smtClean="0">
                <a:sym typeface="Symbol" panose="05050102010706020507" pitchFamily="18" charset="2"/>
              </a:rPr>
              <a:t>NIL</a:t>
            </a:r>
          </a:p>
          <a:p>
            <a:pPr marL="381000" indent="-381000">
              <a:buFontTx/>
              <a:buAutoNum type="arabicPlain"/>
            </a:pPr>
            <a:r>
              <a:rPr lang="en-US" altLang="en-US" sz="2000" smtClean="0">
                <a:sym typeface="Symbol" panose="05050102010706020507" pitchFamily="18" charset="2"/>
              </a:rPr>
              <a:t>             then </a:t>
            </a:r>
            <a:r>
              <a:rPr lang="en-US" altLang="en-US" sz="2000" i="1" smtClean="0">
                <a:sym typeface="Symbol" panose="05050102010706020507" pitchFamily="18" charset="2"/>
              </a:rPr>
              <a:t>T</a:t>
            </a:r>
            <a:r>
              <a:rPr lang="en-US" altLang="en-US" sz="2000" smtClean="0">
                <a:sym typeface="Symbol" panose="05050102010706020507" pitchFamily="18" charset="2"/>
              </a:rPr>
              <a:t>[</a:t>
            </a:r>
            <a:r>
              <a:rPr lang="en-US" altLang="en-US" sz="2000" i="1" smtClean="0">
                <a:sym typeface="Symbol" panose="05050102010706020507" pitchFamily="18" charset="2"/>
              </a:rPr>
              <a:t>j</a:t>
            </a:r>
            <a:r>
              <a:rPr lang="en-US" altLang="en-US" sz="2000" smtClean="0">
                <a:sym typeface="Symbol" panose="05050102010706020507" pitchFamily="18" charset="2"/>
              </a:rPr>
              <a:t>] = </a:t>
            </a:r>
            <a:r>
              <a:rPr lang="en-US" altLang="en-US" sz="2000" i="1" smtClean="0">
                <a:sym typeface="Symbol" panose="05050102010706020507" pitchFamily="18" charset="2"/>
              </a:rPr>
              <a:t>k</a:t>
            </a:r>
          </a:p>
          <a:p>
            <a:pPr marL="381000" indent="-381000">
              <a:buFontTx/>
              <a:buAutoNum type="arabicPlain"/>
            </a:pPr>
            <a:r>
              <a:rPr lang="en-US" altLang="en-US" sz="2000" smtClean="0">
                <a:sym typeface="Symbol" panose="05050102010706020507" pitchFamily="18" charset="2"/>
              </a:rPr>
              <a:t>              return </a:t>
            </a:r>
            <a:r>
              <a:rPr lang="en-US" altLang="en-US" sz="2000" i="1" smtClean="0">
                <a:sym typeface="Symbol" panose="05050102010706020507" pitchFamily="18" charset="2"/>
              </a:rPr>
              <a:t>j</a:t>
            </a:r>
          </a:p>
          <a:p>
            <a:pPr marL="381000" indent="-381000">
              <a:buFontTx/>
              <a:buAutoNum type="arabicPlain"/>
            </a:pPr>
            <a:r>
              <a:rPr lang="en-US" altLang="en-US" sz="2000" smtClean="0">
                <a:sym typeface="Symbol" panose="05050102010706020507" pitchFamily="18" charset="2"/>
              </a:rPr>
              <a:t>      else </a:t>
            </a:r>
            <a:r>
              <a:rPr lang="en-US" altLang="en-US" sz="2000" i="1" smtClean="0">
                <a:sym typeface="Symbol" panose="05050102010706020507" pitchFamily="18" charset="2"/>
              </a:rPr>
              <a:t>i   i</a:t>
            </a:r>
            <a:r>
              <a:rPr lang="en-US" altLang="en-US" sz="2000" smtClean="0">
                <a:sym typeface="Symbol" panose="05050102010706020507" pitchFamily="18" charset="2"/>
              </a:rPr>
              <a:t> +1</a:t>
            </a:r>
          </a:p>
          <a:p>
            <a:pPr marL="381000" indent="-381000">
              <a:buFontTx/>
              <a:buAutoNum type="arabicPlain"/>
            </a:pPr>
            <a:r>
              <a:rPr lang="en-US" altLang="en-US" sz="2000" smtClean="0">
                <a:sym typeface="Symbol" panose="05050102010706020507" pitchFamily="18" charset="2"/>
              </a:rPr>
              <a:t>until </a:t>
            </a:r>
            <a:r>
              <a:rPr lang="en-US" altLang="en-US" sz="2000" i="1" smtClean="0">
                <a:sym typeface="Symbol" panose="05050102010706020507" pitchFamily="18" charset="2"/>
              </a:rPr>
              <a:t>i = m</a:t>
            </a:r>
          </a:p>
          <a:p>
            <a:pPr marL="381000" indent="-381000">
              <a:buFontTx/>
              <a:buAutoNum type="arabicPlain"/>
            </a:pPr>
            <a:r>
              <a:rPr lang="en-US" altLang="en-US" sz="2000" smtClean="0">
                <a:sym typeface="Symbol" panose="05050102010706020507" pitchFamily="18" charset="2"/>
              </a:rPr>
              <a:t>error “ hash table overflow”</a:t>
            </a:r>
            <a:endParaRPr lang="en-US" altLang="en-US" sz="2000" smtClean="0"/>
          </a:p>
          <a:p>
            <a:pPr marL="381000" indent="-381000"/>
            <a:endParaRPr lang="en-US" altLang="en-US" sz="200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en-US" smtClean="0"/>
              <a:t>Searching from Hash table</a:t>
            </a:r>
          </a:p>
        </p:txBody>
      </p:sp>
      <p:sp>
        <p:nvSpPr>
          <p:cNvPr id="40963" name="Rectangle 3"/>
          <p:cNvSpPr>
            <a:spLocks noGrp="1" noChangeArrowheads="1"/>
          </p:cNvSpPr>
          <p:nvPr>
            <p:ph type="body" idx="1"/>
          </p:nvPr>
        </p:nvSpPr>
        <p:spPr/>
        <p:txBody>
          <a:bodyPr/>
          <a:lstStyle/>
          <a:p>
            <a:pPr>
              <a:buFontTx/>
              <a:buNone/>
            </a:pPr>
            <a:r>
              <a:rPr lang="en-US" altLang="en-US" sz="2000" smtClean="0">
                <a:sym typeface="Symbol" panose="05050102010706020507" pitchFamily="18" charset="2"/>
              </a:rPr>
              <a:t>HASH_SEARCH(</a:t>
            </a:r>
            <a:r>
              <a:rPr lang="en-US" altLang="en-US" sz="2000" i="1" smtClean="0">
                <a:sym typeface="Symbol" panose="05050102010706020507" pitchFamily="18" charset="2"/>
              </a:rPr>
              <a:t>T,k</a:t>
            </a:r>
            <a:r>
              <a:rPr lang="en-US" altLang="en-US" sz="2000" smtClean="0">
                <a:sym typeface="Symbol" panose="05050102010706020507" pitchFamily="18" charset="2"/>
              </a:rPr>
              <a:t>)</a:t>
            </a:r>
          </a:p>
          <a:p>
            <a:pPr>
              <a:buFontTx/>
              <a:buNone/>
            </a:pPr>
            <a:r>
              <a:rPr lang="en-US" altLang="en-US" sz="2000" smtClean="0">
                <a:sym typeface="Symbol" panose="05050102010706020507" pitchFamily="18" charset="2"/>
              </a:rPr>
              <a:t>1       </a:t>
            </a:r>
            <a:r>
              <a:rPr lang="en-US" altLang="en-US" sz="2000" i="1" smtClean="0">
                <a:sym typeface="Symbol" panose="05050102010706020507" pitchFamily="18" charset="2"/>
              </a:rPr>
              <a:t>i </a:t>
            </a:r>
            <a:r>
              <a:rPr lang="en-US" altLang="en-US" sz="2000" smtClean="0">
                <a:sym typeface="Symbol" panose="05050102010706020507" pitchFamily="18" charset="2"/>
              </a:rPr>
              <a:t> 0</a:t>
            </a:r>
          </a:p>
          <a:p>
            <a:pPr>
              <a:buFontTx/>
              <a:buNone/>
            </a:pPr>
            <a:r>
              <a:rPr lang="en-US" altLang="en-US" sz="2000" smtClean="0">
                <a:sym typeface="Symbol" panose="05050102010706020507" pitchFamily="18" charset="2"/>
              </a:rPr>
              <a:t>2	repeat </a:t>
            </a:r>
            <a:r>
              <a:rPr lang="en-US" altLang="en-US" sz="2000" i="1" smtClean="0">
                <a:sym typeface="Symbol" panose="05050102010706020507" pitchFamily="18" charset="2"/>
              </a:rPr>
              <a:t>j  h(k,i)</a:t>
            </a:r>
          </a:p>
          <a:p>
            <a:pPr>
              <a:buFontTx/>
              <a:buNone/>
            </a:pPr>
            <a:r>
              <a:rPr lang="en-US" altLang="en-US" sz="2000" smtClean="0">
                <a:sym typeface="Symbol" panose="05050102010706020507" pitchFamily="18" charset="2"/>
              </a:rPr>
              <a:t>3		if T[</a:t>
            </a:r>
            <a:r>
              <a:rPr lang="en-US" altLang="en-US" sz="2000" i="1" smtClean="0">
                <a:sym typeface="Symbol" panose="05050102010706020507" pitchFamily="18" charset="2"/>
              </a:rPr>
              <a:t>j</a:t>
            </a:r>
            <a:r>
              <a:rPr lang="en-US" altLang="en-US" sz="2000" smtClean="0">
                <a:sym typeface="Symbol" panose="05050102010706020507" pitchFamily="18" charset="2"/>
              </a:rPr>
              <a:t>] = </a:t>
            </a:r>
            <a:r>
              <a:rPr lang="en-US" altLang="en-US" sz="2000" i="1" smtClean="0">
                <a:sym typeface="Symbol" panose="05050102010706020507" pitchFamily="18" charset="2"/>
              </a:rPr>
              <a:t>k</a:t>
            </a:r>
          </a:p>
          <a:p>
            <a:pPr>
              <a:buFontTx/>
              <a:buNone/>
            </a:pPr>
            <a:r>
              <a:rPr lang="en-US" altLang="en-US" sz="2000" smtClean="0">
                <a:sym typeface="Symbol" panose="05050102010706020507" pitchFamily="18" charset="2"/>
              </a:rPr>
              <a:t>4	 		then return </a:t>
            </a:r>
            <a:r>
              <a:rPr lang="en-US" altLang="en-US" sz="2000" i="1" smtClean="0">
                <a:sym typeface="Symbol" panose="05050102010706020507" pitchFamily="18" charset="2"/>
              </a:rPr>
              <a:t>j</a:t>
            </a:r>
            <a:endParaRPr lang="en-US" altLang="en-US" sz="2000" smtClean="0">
              <a:sym typeface="Symbol" panose="05050102010706020507" pitchFamily="18" charset="2"/>
            </a:endParaRPr>
          </a:p>
          <a:p>
            <a:pPr>
              <a:buFontTx/>
              <a:buNone/>
            </a:pPr>
            <a:r>
              <a:rPr lang="en-US" altLang="en-US" sz="2000" smtClean="0">
                <a:sym typeface="Symbol" panose="05050102010706020507" pitchFamily="18" charset="2"/>
              </a:rPr>
              <a:t>5	       </a:t>
            </a:r>
            <a:r>
              <a:rPr lang="en-US" altLang="en-US" sz="2000" i="1" smtClean="0">
                <a:sym typeface="Symbol" panose="05050102010706020507" pitchFamily="18" charset="2"/>
              </a:rPr>
              <a:t>i   i</a:t>
            </a:r>
            <a:r>
              <a:rPr lang="en-US" altLang="en-US" sz="2000" smtClean="0">
                <a:sym typeface="Symbol" panose="05050102010706020507" pitchFamily="18" charset="2"/>
              </a:rPr>
              <a:t> +1</a:t>
            </a:r>
          </a:p>
          <a:p>
            <a:pPr>
              <a:buFontTx/>
              <a:buNone/>
            </a:pPr>
            <a:r>
              <a:rPr lang="en-US" altLang="en-US" sz="2000" smtClean="0">
                <a:sym typeface="Symbol" panose="05050102010706020507" pitchFamily="18" charset="2"/>
              </a:rPr>
              <a:t>6	until T[</a:t>
            </a:r>
            <a:r>
              <a:rPr lang="en-US" altLang="en-US" sz="2000" i="1" smtClean="0">
                <a:sym typeface="Symbol" panose="05050102010706020507" pitchFamily="18" charset="2"/>
              </a:rPr>
              <a:t>j</a:t>
            </a:r>
            <a:r>
              <a:rPr lang="en-US" altLang="en-US" sz="2000" smtClean="0">
                <a:sym typeface="Symbol" panose="05050102010706020507" pitchFamily="18" charset="2"/>
              </a:rPr>
              <a:t>] = </a:t>
            </a:r>
            <a:r>
              <a:rPr lang="en-US" altLang="en-US" sz="2000" i="1" smtClean="0">
                <a:sym typeface="Symbol" panose="05050102010706020507" pitchFamily="18" charset="2"/>
              </a:rPr>
              <a:t>NIL </a:t>
            </a:r>
            <a:r>
              <a:rPr lang="en-US" altLang="en-US" sz="2000" smtClean="0">
                <a:sym typeface="Symbol" panose="05050102010706020507" pitchFamily="18" charset="2"/>
              </a:rPr>
              <a:t>or </a:t>
            </a:r>
            <a:r>
              <a:rPr lang="en-US" altLang="en-US" sz="2000" i="1" smtClean="0">
                <a:sym typeface="Symbol" panose="05050102010706020507" pitchFamily="18" charset="2"/>
              </a:rPr>
              <a:t>i = m</a:t>
            </a:r>
          </a:p>
          <a:p>
            <a:pPr>
              <a:buFontTx/>
              <a:buNone/>
            </a:pPr>
            <a:r>
              <a:rPr lang="en-US" altLang="en-US" sz="2000" smtClean="0">
                <a:sym typeface="Symbol" panose="05050102010706020507" pitchFamily="18" charset="2"/>
              </a:rPr>
              <a:t>7	return </a:t>
            </a:r>
            <a:r>
              <a:rPr lang="en-US" altLang="en-US" sz="2000" i="1" smtClean="0">
                <a:sym typeface="Symbol" panose="05050102010706020507" pitchFamily="18" charset="2"/>
              </a:rPr>
              <a:t>NIL</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endParaRPr lang="en-US" altLang="en-US" smtClean="0"/>
          </a:p>
        </p:txBody>
      </p:sp>
      <p:sp>
        <p:nvSpPr>
          <p:cNvPr id="41987" name="Rectangle 3"/>
          <p:cNvSpPr>
            <a:spLocks noGrp="1" noChangeArrowheads="1"/>
          </p:cNvSpPr>
          <p:nvPr>
            <p:ph type="body" idx="1"/>
          </p:nvPr>
        </p:nvSpPr>
        <p:spPr/>
        <p:txBody>
          <a:bodyPr/>
          <a:lstStyle/>
          <a:p>
            <a:r>
              <a:rPr lang="en-US" altLang="en-US" sz="2400" smtClean="0"/>
              <a:t>Worst case for inserting a key is </a:t>
            </a:r>
            <a:r>
              <a:rPr lang="en-US" altLang="en-US" sz="2400" smtClean="0">
                <a:sym typeface="Symbol" panose="05050102010706020507" pitchFamily="18" charset="2"/>
              </a:rPr>
              <a:t>(</a:t>
            </a:r>
            <a:r>
              <a:rPr lang="en-US" altLang="en-US" sz="2400" i="1" smtClean="0">
                <a:sym typeface="Symbol" panose="05050102010706020507" pitchFamily="18" charset="2"/>
              </a:rPr>
              <a:t>n</a:t>
            </a:r>
            <a:r>
              <a:rPr lang="en-US" altLang="en-US" sz="2400" smtClean="0">
                <a:sym typeface="Symbol" panose="05050102010706020507" pitchFamily="18" charset="2"/>
              </a:rPr>
              <a:t>)</a:t>
            </a:r>
          </a:p>
          <a:p>
            <a:r>
              <a:rPr lang="en-US" altLang="en-US" sz="2400" smtClean="0">
                <a:sym typeface="Symbol" panose="05050102010706020507" pitchFamily="18" charset="2"/>
              </a:rPr>
              <a:t>Worst case for searching is (</a:t>
            </a:r>
            <a:r>
              <a:rPr lang="en-US" altLang="en-US" sz="2400" i="1" smtClean="0">
                <a:sym typeface="Symbol" panose="05050102010706020507" pitchFamily="18" charset="2"/>
              </a:rPr>
              <a:t>n</a:t>
            </a:r>
            <a:r>
              <a:rPr lang="en-US" altLang="en-US" sz="2400" smtClean="0">
                <a:sym typeface="Symbol" panose="05050102010706020507" pitchFamily="18" charset="2"/>
              </a:rPr>
              <a:t>)</a:t>
            </a:r>
          </a:p>
          <a:p>
            <a:r>
              <a:rPr lang="en-US" altLang="en-US" sz="2400" smtClean="0"/>
              <a:t>Algorithm assumes that keys are not deleted once they are inserted</a:t>
            </a:r>
          </a:p>
          <a:p>
            <a:r>
              <a:rPr lang="en-US" altLang="en-US" sz="2400" smtClean="0"/>
              <a:t>Deleting a key from an open addressing table is difficult, instead we can mark them in the table as removed (introduced a new class of entries, full, empty and removed)</a:t>
            </a:r>
          </a:p>
          <a:p>
            <a:endParaRPr lang="en-US" altLang="en-US" sz="2400" smtClean="0"/>
          </a:p>
          <a:p>
            <a:endParaRPr lang="en-US" altLang="en-US" smtClean="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smtClean="0"/>
              <a:t>Clustering</a:t>
            </a:r>
          </a:p>
        </p:txBody>
      </p:sp>
      <p:sp>
        <p:nvSpPr>
          <p:cNvPr id="43011" name="Rectangle 3"/>
          <p:cNvSpPr>
            <a:spLocks noGrp="1" noChangeArrowheads="1"/>
          </p:cNvSpPr>
          <p:nvPr>
            <p:ph type="body" idx="1"/>
          </p:nvPr>
        </p:nvSpPr>
        <p:spPr>
          <a:xfrm>
            <a:off x="1012825" y="1143000"/>
            <a:ext cx="7156450" cy="4697413"/>
          </a:xfrm>
        </p:spPr>
        <p:txBody>
          <a:bodyPr/>
          <a:lstStyle/>
          <a:p>
            <a:pPr>
              <a:lnSpc>
                <a:spcPct val="90000"/>
              </a:lnSpc>
            </a:pPr>
            <a:r>
              <a:rPr lang="en-US" altLang="en-US" sz="1800" smtClean="0"/>
              <a:t>Even with a good hash function, linear probing has its problems:</a:t>
            </a:r>
          </a:p>
          <a:p>
            <a:pPr lvl="1">
              <a:lnSpc>
                <a:spcPct val="90000"/>
              </a:lnSpc>
            </a:pPr>
            <a:r>
              <a:rPr lang="en-US" altLang="en-US" sz="1800" smtClean="0"/>
              <a:t>The position of the initial mapping </a:t>
            </a:r>
            <a:r>
              <a:rPr lang="en-US" altLang="en-US" sz="1800" i="1" smtClean="0"/>
              <a:t>i </a:t>
            </a:r>
            <a:r>
              <a:rPr lang="en-US" altLang="en-US" sz="1800" baseline="-10000" smtClean="0"/>
              <a:t>0</a:t>
            </a:r>
            <a:r>
              <a:rPr lang="en-US" altLang="en-US" sz="1800" smtClean="0"/>
              <a:t> of key </a:t>
            </a:r>
            <a:r>
              <a:rPr lang="en-US" altLang="en-US" sz="1800" i="1" smtClean="0"/>
              <a:t>k</a:t>
            </a:r>
            <a:r>
              <a:rPr lang="en-US" altLang="en-US" sz="1800" smtClean="0"/>
              <a:t> is called the </a:t>
            </a:r>
            <a:r>
              <a:rPr lang="en-US" altLang="en-US" sz="1800" b="0" u="sng" smtClean="0">
                <a:solidFill>
                  <a:srgbClr val="008000"/>
                </a:solidFill>
              </a:rPr>
              <a:t>home position</a:t>
            </a:r>
            <a:r>
              <a:rPr lang="en-US" altLang="en-US" sz="1800" smtClean="0"/>
              <a:t> of </a:t>
            </a:r>
            <a:r>
              <a:rPr lang="en-US" altLang="en-US" sz="1800" i="1" smtClean="0"/>
              <a:t>k</a:t>
            </a:r>
            <a:r>
              <a:rPr lang="en-US" altLang="en-US" sz="1800" smtClean="0"/>
              <a:t>.</a:t>
            </a:r>
          </a:p>
          <a:p>
            <a:pPr lvl="1">
              <a:lnSpc>
                <a:spcPct val="90000"/>
              </a:lnSpc>
            </a:pPr>
            <a:r>
              <a:rPr lang="en-US" altLang="en-US" sz="1800" smtClean="0"/>
              <a:t>When several insertions map to the same home position, they end up placed contiguously in the table.  This collection of keys with the same home position is called a </a:t>
            </a:r>
            <a:r>
              <a:rPr lang="en-US" altLang="en-US" sz="1800" b="0" u="sng" smtClean="0">
                <a:solidFill>
                  <a:srgbClr val="008000"/>
                </a:solidFill>
              </a:rPr>
              <a:t>cluster</a:t>
            </a:r>
            <a:r>
              <a:rPr lang="en-US" altLang="en-US" sz="1800" smtClean="0"/>
              <a:t>.</a:t>
            </a:r>
          </a:p>
          <a:p>
            <a:pPr lvl="1">
              <a:lnSpc>
                <a:spcPct val="90000"/>
              </a:lnSpc>
            </a:pPr>
            <a:r>
              <a:rPr lang="en-US" altLang="en-US" sz="1800" smtClean="0"/>
              <a:t>As clusters grow, the probability that a key will map to the middle of a cluster increases, increasing the rate of the cluster’s growth.  This tendency of linear probing to place items together is known as </a:t>
            </a:r>
            <a:r>
              <a:rPr lang="en-US" altLang="en-US" sz="1800" b="0" u="sng" smtClean="0">
                <a:solidFill>
                  <a:srgbClr val="008000"/>
                </a:solidFill>
              </a:rPr>
              <a:t>primary clustering</a:t>
            </a:r>
            <a:r>
              <a:rPr lang="en-US" altLang="en-US" sz="1800" smtClean="0"/>
              <a:t>.</a:t>
            </a:r>
          </a:p>
          <a:p>
            <a:pPr lvl="1">
              <a:lnSpc>
                <a:spcPct val="90000"/>
              </a:lnSpc>
            </a:pPr>
            <a:r>
              <a:rPr lang="en-US" altLang="en-US" sz="1800" smtClean="0"/>
              <a:t>As these clusters grow, they merge with other clusters forming even bigger clusters which grow even faster.</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smtClean="0">
                <a:sym typeface="Symbol" panose="05050102010706020507" pitchFamily="18" charset="2"/>
              </a:rPr>
              <a:t>Quadratic probing</a:t>
            </a:r>
          </a:p>
        </p:txBody>
      </p:sp>
      <p:sp>
        <p:nvSpPr>
          <p:cNvPr id="44035" name="Rectangle 3"/>
          <p:cNvSpPr>
            <a:spLocks noGrp="1" noChangeArrowheads="1"/>
          </p:cNvSpPr>
          <p:nvPr>
            <p:ph type="body" idx="1"/>
          </p:nvPr>
        </p:nvSpPr>
        <p:spPr/>
        <p:txBody>
          <a:bodyPr/>
          <a:lstStyle/>
          <a:p>
            <a:pPr lvl="1">
              <a:buFontTx/>
              <a:buNone/>
            </a:pPr>
            <a:r>
              <a:rPr lang="en-US" altLang="en-US" smtClean="0">
                <a:sym typeface="Symbol" panose="05050102010706020507" pitchFamily="18" charset="2"/>
              </a:rPr>
              <a:t>	</a:t>
            </a:r>
            <a:r>
              <a:rPr lang="en-US" altLang="en-US" sz="2000" i="1" smtClean="0">
                <a:sym typeface="Symbol" panose="05050102010706020507" pitchFamily="18" charset="2"/>
              </a:rPr>
              <a:t>h</a:t>
            </a:r>
            <a:r>
              <a:rPr lang="en-US" altLang="en-US" sz="2000" smtClean="0">
                <a:sym typeface="Symbol" panose="05050102010706020507" pitchFamily="18" charset="2"/>
              </a:rPr>
              <a:t>(</a:t>
            </a:r>
            <a:r>
              <a:rPr lang="en-US" altLang="en-US" sz="2000" i="1" smtClean="0">
                <a:sym typeface="Symbol" panose="05050102010706020507" pitchFamily="18" charset="2"/>
              </a:rPr>
              <a:t>k</a:t>
            </a:r>
            <a:r>
              <a:rPr lang="en-US" altLang="en-US" sz="2000" smtClean="0">
                <a:sym typeface="Symbol" panose="05050102010706020507" pitchFamily="18" charset="2"/>
              </a:rPr>
              <a:t>,</a:t>
            </a:r>
            <a:r>
              <a:rPr lang="en-US" altLang="en-US" sz="2000" i="1" smtClean="0">
                <a:sym typeface="Symbol" panose="05050102010706020507" pitchFamily="18" charset="2"/>
              </a:rPr>
              <a:t>i</a:t>
            </a:r>
            <a:r>
              <a:rPr lang="en-US" altLang="en-US" sz="2000" smtClean="0">
                <a:sym typeface="Symbol" panose="05050102010706020507" pitchFamily="18" charset="2"/>
              </a:rPr>
              <a:t>) = (</a:t>
            </a:r>
            <a:r>
              <a:rPr lang="en-US" altLang="en-US" sz="2000" i="1" smtClean="0">
                <a:sym typeface="Symbol" panose="05050102010706020507" pitchFamily="18" charset="2"/>
              </a:rPr>
              <a:t>h’</a:t>
            </a:r>
            <a:r>
              <a:rPr lang="en-US" altLang="en-US" sz="2000" smtClean="0">
                <a:sym typeface="Symbol" panose="05050102010706020507" pitchFamily="18" charset="2"/>
              </a:rPr>
              <a:t>(</a:t>
            </a:r>
            <a:r>
              <a:rPr lang="en-US" altLang="en-US" sz="2000" i="1" smtClean="0">
                <a:sym typeface="Symbol" panose="05050102010706020507" pitchFamily="18" charset="2"/>
              </a:rPr>
              <a:t>k</a:t>
            </a:r>
            <a:r>
              <a:rPr lang="en-US" altLang="en-US" sz="2000" smtClean="0">
                <a:sym typeface="Symbol" panose="05050102010706020507" pitchFamily="18" charset="2"/>
              </a:rPr>
              <a:t>) + </a:t>
            </a:r>
            <a:r>
              <a:rPr lang="en-US" altLang="en-US" sz="2000" i="1" smtClean="0">
                <a:sym typeface="Symbol" panose="05050102010706020507" pitchFamily="18" charset="2"/>
              </a:rPr>
              <a:t>c</a:t>
            </a:r>
            <a:r>
              <a:rPr lang="en-US" altLang="en-US" sz="2000" baseline="-25000" smtClean="0">
                <a:sym typeface="Symbol" panose="05050102010706020507" pitchFamily="18" charset="2"/>
              </a:rPr>
              <a:t>1</a:t>
            </a:r>
            <a:r>
              <a:rPr lang="en-US" altLang="en-US" sz="2000" i="1" smtClean="0">
                <a:sym typeface="Symbol" panose="05050102010706020507" pitchFamily="18" charset="2"/>
              </a:rPr>
              <a:t>i + c</a:t>
            </a:r>
            <a:r>
              <a:rPr lang="en-US" altLang="en-US" sz="2000" baseline="-25000" smtClean="0">
                <a:sym typeface="Symbol" panose="05050102010706020507" pitchFamily="18" charset="2"/>
              </a:rPr>
              <a:t>2</a:t>
            </a:r>
            <a:r>
              <a:rPr lang="en-US" altLang="en-US" sz="2000" i="1" smtClean="0">
                <a:sym typeface="Symbol" panose="05050102010706020507" pitchFamily="18" charset="2"/>
              </a:rPr>
              <a:t>i </a:t>
            </a:r>
            <a:r>
              <a:rPr lang="en-US" altLang="en-US" sz="2000" baseline="30000" smtClean="0">
                <a:sym typeface="Symbol" panose="05050102010706020507" pitchFamily="18" charset="2"/>
              </a:rPr>
              <a:t>2</a:t>
            </a:r>
            <a:r>
              <a:rPr lang="en-US" altLang="en-US" sz="2000" smtClean="0">
                <a:sym typeface="Symbol" panose="05050102010706020507" pitchFamily="18" charset="2"/>
              </a:rPr>
              <a:t>) </a:t>
            </a:r>
            <a:r>
              <a:rPr lang="en-US" altLang="en-US" sz="2000" i="1" smtClean="0">
                <a:sym typeface="Symbol" panose="05050102010706020507" pitchFamily="18" charset="2"/>
              </a:rPr>
              <a:t>mod m</a:t>
            </a:r>
            <a:r>
              <a:rPr lang="en-US" altLang="en-US" sz="2000" smtClean="0">
                <a:sym typeface="Symbol" panose="05050102010706020507" pitchFamily="18" charset="2"/>
              </a:rPr>
              <a:t> for </a:t>
            </a:r>
            <a:r>
              <a:rPr lang="en-US" altLang="en-US" sz="2000" i="1" smtClean="0">
                <a:sym typeface="Symbol" panose="05050102010706020507" pitchFamily="18" charset="2"/>
              </a:rPr>
              <a:t>i</a:t>
            </a:r>
            <a:r>
              <a:rPr lang="en-US" altLang="en-US" sz="2000" smtClean="0">
                <a:sym typeface="Symbol" panose="05050102010706020507" pitchFamily="18" charset="2"/>
              </a:rPr>
              <a:t> = 0,1,…,</a:t>
            </a:r>
            <a:r>
              <a:rPr lang="en-US" altLang="en-US" sz="2000" i="1" smtClean="0">
                <a:sym typeface="Symbol" panose="05050102010706020507" pitchFamily="18" charset="2"/>
              </a:rPr>
              <a:t>m</a:t>
            </a:r>
            <a:r>
              <a:rPr lang="en-US" altLang="en-US" sz="2000" smtClean="0">
                <a:sym typeface="Symbol" panose="05050102010706020507" pitchFamily="18" charset="2"/>
              </a:rPr>
              <a:t>  1. </a:t>
            </a:r>
          </a:p>
          <a:p>
            <a:pPr lvl="1"/>
            <a:r>
              <a:rPr lang="en-US" altLang="en-US" sz="2000" smtClean="0">
                <a:sym typeface="Symbol" panose="05050102010706020507" pitchFamily="18" charset="2"/>
              </a:rPr>
              <a:t>Leads to a secondary clustering (milder form of clustering)</a:t>
            </a:r>
          </a:p>
          <a:p>
            <a:pPr lvl="1"/>
            <a:r>
              <a:rPr lang="en-US" altLang="en-US" sz="2000" smtClean="0">
                <a:sym typeface="Symbol" panose="05050102010706020507" pitchFamily="18" charset="2"/>
              </a:rPr>
              <a:t>The clustering effect can be improved by increasing the order to the probing function (cubic). However the hash function becomes more expensive to compute</a:t>
            </a:r>
          </a:p>
          <a:p>
            <a:pPr lvl="1"/>
            <a:r>
              <a:rPr lang="en-US" altLang="en-US" sz="2000" smtClean="0">
                <a:sym typeface="Symbol" panose="05050102010706020507" pitchFamily="18" charset="2"/>
              </a:rPr>
              <a:t>But again for two keys k1 and k2, if h(k1,0)= h(k2,0) implies that h(k1,i)= h(k2,i)</a:t>
            </a:r>
          </a:p>
          <a:p>
            <a:pPr lvl="1"/>
            <a:endParaRPr lang="en-US" altLang="en-US" sz="2000" smtClean="0">
              <a:sym typeface="Symbol" panose="05050102010706020507" pitchFamily="18" charset="2"/>
            </a:endParaRPr>
          </a:p>
          <a:p>
            <a:pPr lvl="1">
              <a:buFontTx/>
              <a:buNone/>
            </a:pPr>
            <a:endParaRPr lang="en-US" altLang="en-US" sz="2000" smtClean="0">
              <a:sym typeface="Symbol" panose="05050102010706020507" pitchFamily="18" charset="2"/>
            </a:endParaRPr>
          </a:p>
          <a:p>
            <a:endParaRPr lang="en-US" altLang="en-US" sz="2000" smtClean="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en-US" smtClean="0"/>
              <a:t>Double Hashing</a:t>
            </a:r>
          </a:p>
        </p:txBody>
      </p:sp>
      <p:sp>
        <p:nvSpPr>
          <p:cNvPr id="45059" name="Rectangle 3"/>
          <p:cNvSpPr>
            <a:spLocks noGrp="1" noChangeArrowheads="1"/>
          </p:cNvSpPr>
          <p:nvPr>
            <p:ph type="body" idx="1"/>
          </p:nvPr>
        </p:nvSpPr>
        <p:spPr/>
        <p:txBody>
          <a:bodyPr/>
          <a:lstStyle/>
          <a:p>
            <a:r>
              <a:rPr lang="en-US" altLang="en-US" sz="1600" smtClean="0"/>
              <a:t>Recall that in open addressing the sequence of probes follows</a:t>
            </a:r>
          </a:p>
          <a:p>
            <a:endParaRPr lang="en-US" altLang="en-US" sz="1600" smtClean="0"/>
          </a:p>
          <a:p>
            <a:endParaRPr lang="en-US" altLang="en-US" sz="1600" smtClean="0"/>
          </a:p>
          <a:p>
            <a:r>
              <a:rPr lang="en-US" altLang="en-US" sz="1600" smtClean="0"/>
              <a:t>We can solve the problem of primary clustering in linear probing by having the keys which map to the same home position use differing probe sequences.  In other words, the different values for </a:t>
            </a:r>
            <a:r>
              <a:rPr lang="en-US" altLang="en-US" sz="1600" i="1" smtClean="0"/>
              <a:t>c</a:t>
            </a:r>
            <a:r>
              <a:rPr lang="en-US" altLang="en-US" sz="1600" smtClean="0"/>
              <a:t>  should be used for different keys.</a:t>
            </a:r>
          </a:p>
          <a:p>
            <a:r>
              <a:rPr lang="en-US" altLang="en-US" sz="1600" smtClean="0"/>
              <a:t>Double hashing refers to the scheme of using another hash function for </a:t>
            </a:r>
            <a:r>
              <a:rPr lang="en-US" altLang="en-US" sz="1600" i="1" smtClean="0"/>
              <a:t>c</a:t>
            </a:r>
          </a:p>
          <a:p>
            <a:endParaRPr lang="en-US" altLang="en-US" sz="1600" smtClean="0"/>
          </a:p>
          <a:p>
            <a:endParaRPr lang="en-US" altLang="en-US" sz="1600" smtClean="0"/>
          </a:p>
        </p:txBody>
      </p:sp>
      <p:graphicFrame>
        <p:nvGraphicFramePr>
          <p:cNvPr id="45060" name="Object 4"/>
          <p:cNvGraphicFramePr>
            <a:graphicFrameLocks noChangeAspect="1"/>
          </p:cNvGraphicFramePr>
          <p:nvPr/>
        </p:nvGraphicFramePr>
        <p:xfrm>
          <a:off x="2667000" y="1600200"/>
          <a:ext cx="3738563" cy="393700"/>
        </p:xfrm>
        <a:graphic>
          <a:graphicData uri="http://schemas.openxmlformats.org/presentationml/2006/ole">
            <mc:AlternateContent xmlns:mc="http://schemas.openxmlformats.org/markup-compatibility/2006">
              <mc:Choice xmlns:v="urn:schemas-microsoft-com:vml" Requires="v">
                <p:oleObj spid="_x0000_s45062" name="Equation" r:id="rId3" imgW="2286000" imgH="241300" progId="Equation.3">
                  <p:embed/>
                </p:oleObj>
              </mc:Choice>
              <mc:Fallback>
                <p:oleObj name="Equation" r:id="rId3" imgW="22860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1600200"/>
                        <a:ext cx="3738563"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1" name="Object 5"/>
          <p:cNvGraphicFramePr>
            <a:graphicFrameLocks noChangeAspect="1"/>
          </p:cNvGraphicFramePr>
          <p:nvPr/>
        </p:nvGraphicFramePr>
        <p:xfrm>
          <a:off x="1447800" y="3657600"/>
          <a:ext cx="6956425" cy="393700"/>
        </p:xfrm>
        <a:graphic>
          <a:graphicData uri="http://schemas.openxmlformats.org/presentationml/2006/ole">
            <mc:AlternateContent xmlns:mc="http://schemas.openxmlformats.org/markup-compatibility/2006">
              <mc:Choice xmlns:v="urn:schemas-microsoft-com:vml" Requires="v">
                <p:oleObj spid="_x0000_s45063" name="Equation" r:id="rId5" imgW="4254500" imgH="241300" progId="Equation.3">
                  <p:embed/>
                </p:oleObj>
              </mc:Choice>
              <mc:Fallback>
                <p:oleObj name="Equation" r:id="rId5" imgW="4254500" imgH="241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7800" y="3657600"/>
                        <a:ext cx="6956425"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plsd.pot">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plsd.po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plsd.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plsd.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plsd.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plsd.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plsd.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plsd.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plsd.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Office\Templates\plsd.pot</Template>
  <TotalTime>4702</TotalTime>
  <Pages>11</Pages>
  <Words>1731</Words>
  <Application>Microsoft Office PowerPoint</Application>
  <PresentationFormat>On-screen Show (4:3)</PresentationFormat>
  <Paragraphs>281</Paragraphs>
  <Slides>42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42</vt:i4>
      </vt:variant>
    </vt:vector>
  </HeadingPairs>
  <TitlesOfParts>
    <vt:vector size="50" baseType="lpstr">
      <vt:lpstr>Times New Roman</vt:lpstr>
      <vt:lpstr>Arial</vt:lpstr>
      <vt:lpstr>Symbol</vt:lpstr>
      <vt:lpstr>Tahoma</vt:lpstr>
      <vt:lpstr>Wingdings</vt:lpstr>
      <vt:lpstr>plsd.pot</vt:lpstr>
      <vt:lpstr>Microsoft Photo Editor 3.0 Photo</vt:lpstr>
      <vt:lpstr>Microsoft Equation 3.0</vt:lpstr>
      <vt:lpstr>Hashing</vt:lpstr>
      <vt:lpstr>Introduction</vt:lpstr>
      <vt:lpstr>Introduction</vt:lpstr>
      <vt:lpstr>What are Tables?</vt:lpstr>
      <vt:lpstr>Direct Addressing</vt:lpstr>
      <vt:lpstr>PowerPoint Presentation</vt:lpstr>
      <vt:lpstr>Advantages with Direct Addressing</vt:lpstr>
      <vt:lpstr>Difficulty with Direct Addressing</vt:lpstr>
      <vt:lpstr>Hash Tables</vt:lpstr>
      <vt:lpstr>PowerPoint Presentation</vt:lpstr>
      <vt:lpstr>PowerPoint Presentation</vt:lpstr>
      <vt:lpstr>Resolving Collisions</vt:lpstr>
      <vt:lpstr>Chaining!</vt:lpstr>
      <vt:lpstr>PowerPoint Presentation</vt:lpstr>
      <vt:lpstr>Analysis of Chaining</vt:lpstr>
      <vt:lpstr>PowerPoint Presentation</vt:lpstr>
      <vt:lpstr>Analysis of Chaining Continued</vt:lpstr>
      <vt:lpstr>Hash Tables</vt:lpstr>
      <vt:lpstr>Nature  of keys</vt:lpstr>
      <vt:lpstr>Nature of keys</vt:lpstr>
      <vt:lpstr>What is a Hash function?</vt:lpstr>
      <vt:lpstr>The properties of a good hash function</vt:lpstr>
      <vt:lpstr>An example of a hash function</vt:lpstr>
      <vt:lpstr>Analysis of example</vt:lpstr>
      <vt:lpstr>Analysis of example (contd.)</vt:lpstr>
      <vt:lpstr>Methods to create hash functions</vt:lpstr>
      <vt:lpstr>Division method</vt:lpstr>
      <vt:lpstr>Division method…</vt:lpstr>
      <vt:lpstr>Restrictions on value of m</vt:lpstr>
      <vt:lpstr>Restrictions on value of m</vt:lpstr>
      <vt:lpstr>Good value of m</vt:lpstr>
      <vt:lpstr>Multiplication method</vt:lpstr>
      <vt:lpstr>More on multiplication method</vt:lpstr>
      <vt:lpstr>Hashing with Open Addressing</vt:lpstr>
      <vt:lpstr>Open addressing</vt:lpstr>
      <vt:lpstr>Open Addressing</vt:lpstr>
      <vt:lpstr>Insertion in hash table</vt:lpstr>
      <vt:lpstr>Searching from Hash table</vt:lpstr>
      <vt:lpstr>PowerPoint Presentation</vt:lpstr>
      <vt:lpstr>Clustering</vt:lpstr>
      <vt:lpstr>Quadratic probing</vt:lpstr>
      <vt:lpstr>Double Hashing</vt:lpstr>
    </vt:vector>
  </TitlesOfParts>
  <Company>CIIPS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dc:title>
  <dc:subject>Lec Week-10</dc:subject>
  <dc:creator>Kashif Munir</dc:creator>
  <cp:keywords/>
  <cp:lastModifiedBy>user1</cp:lastModifiedBy>
  <cp:revision>289</cp:revision>
  <cp:lastPrinted>1998-07-27T03:15:14Z</cp:lastPrinted>
  <dcterms:created xsi:type="dcterms:W3CDTF">1998-07-26T04:07:26Z</dcterms:created>
  <dcterms:modified xsi:type="dcterms:W3CDTF">2025-07-28T10:26:06Z</dcterms:modified>
</cp:coreProperties>
</file>