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4"/>
  </p:notesMasterIdLst>
  <p:handoutMasterIdLst>
    <p:handoutMasterId r:id="rId15"/>
  </p:handoutMasterIdLst>
  <p:sldIdLst>
    <p:sldId id="256" r:id="rId2"/>
    <p:sldId id="288" r:id="rId3"/>
    <p:sldId id="259" r:id="rId4"/>
    <p:sldId id="260" r:id="rId5"/>
    <p:sldId id="284" r:id="rId6"/>
    <p:sldId id="285" r:id="rId7"/>
    <p:sldId id="263" r:id="rId8"/>
    <p:sldId id="286" r:id="rId9"/>
    <p:sldId id="287" r:id="rId10"/>
    <p:sldId id="264" r:id="rId11"/>
    <p:sldId id="290" r:id="rId12"/>
    <p:sldId id="265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u="sng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FF6600"/>
    <a:srgbClr val="CCFF66"/>
    <a:srgbClr val="FFFF66"/>
    <a:srgbClr val="CCFFCC"/>
    <a:srgbClr val="FFCCFF"/>
    <a:srgbClr val="CCECF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1770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u="none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u="none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6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u="none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6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u="none"/>
            </a:lvl1pPr>
          </a:lstStyle>
          <a:p>
            <a:pPr>
              <a:defRPr/>
            </a:pPr>
            <a:fld id="{89ADCB1B-77A7-4BF3-A9C5-D12DC7A40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31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E43C056-452E-4F15-AAD0-3DF9998064AB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536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  <a:solidFill>
            <a:srgbClr val="CCECFF"/>
          </a:solidFill>
          <a:ln>
            <a:solidFill>
              <a:schemeClr val="tx1"/>
            </a:solidFill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>
            <a:lvl1pPr>
              <a:defRPr u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8542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07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6190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990600"/>
            <a:ext cx="43434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3434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232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639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816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564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0254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334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2463" y="26988"/>
            <a:ext cx="2387600" cy="62976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-165100" y="26988"/>
            <a:ext cx="7015163" cy="62976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38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65100" y="26988"/>
            <a:ext cx="9555163" cy="9271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2400" y="990600"/>
            <a:ext cx="4343400" cy="5334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343400" cy="5334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5361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65100" y="26988"/>
            <a:ext cx="9555163" cy="9271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2400" y="990600"/>
            <a:ext cx="4343400" cy="5334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990600"/>
            <a:ext cx="4343400" cy="2590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33800"/>
            <a:ext cx="4343400" cy="2590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605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-165100" y="26988"/>
            <a:ext cx="9555163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990600"/>
            <a:ext cx="88392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w"/>
        <a:defRPr sz="3200">
          <a:solidFill>
            <a:srgbClr val="01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smtClean="0"/>
              <a:t>Dynamic Programming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mtClean="0"/>
              <a:t>Longest Common Subsequence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Longest Common Subsequence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i="1" smtClean="0">
                <a:solidFill>
                  <a:srgbClr val="CC3300"/>
                </a:solidFill>
              </a:rPr>
              <a:t>Problem:</a:t>
            </a:r>
            <a:r>
              <a:rPr lang="en-US" altLang="en-US" b="1" i="1" smtClean="0"/>
              <a:t> </a:t>
            </a:r>
            <a:r>
              <a:rPr lang="en-US" altLang="en-US" smtClean="0"/>
              <a:t>Given 2 sequences, </a:t>
            </a:r>
            <a:r>
              <a:rPr lang="en-US" altLang="en-US" i="1" smtClean="0"/>
              <a:t>X </a:t>
            </a:r>
            <a:r>
              <a:rPr lang="en-US" altLang="en-US" smtClean="0"/>
              <a:t>= </a:t>
            </a:r>
            <a:r>
              <a:rPr lang="en-US" altLang="en-US" smtClean="0">
                <a:sym typeface="Symbol" panose="05050102010706020507" pitchFamily="18" charset="2"/>
              </a:rPr>
              <a:t></a:t>
            </a:r>
            <a:r>
              <a:rPr lang="en-US" altLang="en-US" i="1" smtClean="0"/>
              <a:t>x</a:t>
            </a:r>
            <a:r>
              <a:rPr lang="en-US" altLang="en-US" baseline="-25000" smtClean="0"/>
              <a:t>1</a:t>
            </a:r>
            <a:r>
              <a:rPr lang="en-US" altLang="en-US" i="1" smtClean="0"/>
              <a:t>,...,x</a:t>
            </a:r>
            <a:r>
              <a:rPr lang="en-US" altLang="en-US" i="1" baseline="-25000" smtClean="0"/>
              <a:t>m</a:t>
            </a:r>
            <a:r>
              <a:rPr lang="en-US" altLang="en-US" smtClean="0">
                <a:sym typeface="Symbol" panose="05050102010706020507" pitchFamily="18" charset="2"/>
              </a:rPr>
              <a:t></a:t>
            </a:r>
            <a:r>
              <a:rPr lang="en-US" altLang="en-US" smtClean="0"/>
              <a:t> and </a:t>
            </a:r>
            <a:br>
              <a:rPr lang="en-US" altLang="en-US" smtClean="0"/>
            </a:br>
            <a:r>
              <a:rPr lang="en-US" altLang="en-US" i="1" smtClean="0"/>
              <a:t>Y </a:t>
            </a:r>
            <a:r>
              <a:rPr lang="en-US" altLang="en-US" smtClean="0"/>
              <a:t>= </a:t>
            </a:r>
            <a:r>
              <a:rPr lang="en-US" altLang="en-US" smtClean="0">
                <a:sym typeface="Symbol" panose="05050102010706020507" pitchFamily="18" charset="2"/>
              </a:rPr>
              <a:t></a:t>
            </a:r>
            <a:r>
              <a:rPr lang="en-US" altLang="en-US" i="1" smtClean="0"/>
              <a:t>y</a:t>
            </a:r>
            <a:r>
              <a:rPr lang="en-US" altLang="en-US" baseline="-25000" smtClean="0"/>
              <a:t>1</a:t>
            </a:r>
            <a:r>
              <a:rPr lang="en-US" altLang="en-US" i="1" smtClean="0"/>
              <a:t>,...,y</a:t>
            </a:r>
            <a:r>
              <a:rPr lang="en-US" altLang="en-US" i="1" baseline="-25000" smtClean="0"/>
              <a:t>n</a:t>
            </a:r>
            <a:r>
              <a:rPr lang="en-US" altLang="en-US" smtClean="0">
                <a:sym typeface="Symbol" panose="05050102010706020507" pitchFamily="18" charset="2"/>
              </a:rPr>
              <a:t></a:t>
            </a:r>
            <a:r>
              <a:rPr lang="en-US" altLang="en-US" smtClean="0"/>
              <a:t>, find a common subsequence whose length is maximum. </a:t>
            </a:r>
          </a:p>
          <a:p>
            <a:pPr>
              <a:lnSpc>
                <a:spcPct val="90000"/>
              </a:lnSpc>
            </a:pPr>
            <a:endParaRPr lang="en-US" altLang="en-US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mtClean="0">
                <a:solidFill>
                  <a:srgbClr val="CC3300"/>
                </a:solidFill>
              </a:rPr>
              <a:t>springtime		ncaa tournament		basketball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mtClean="0">
              <a:solidFill>
                <a:srgbClr val="CC3300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mtClean="0">
                <a:solidFill>
                  <a:srgbClr val="CC3300"/>
                </a:solidFill>
              </a:rPr>
              <a:t>printing		north carolina		krzyzewski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mtClean="0">
              <a:solidFill>
                <a:srgbClr val="CC3300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smtClean="0"/>
              <a:t>Subsequence </a:t>
            </a:r>
            <a:r>
              <a:rPr lang="en-US" altLang="en-US" sz="2800" smtClean="0">
                <a:solidFill>
                  <a:schemeClr val="hlink"/>
                </a:solidFill>
              </a:rPr>
              <a:t>need not be consecutive</a:t>
            </a:r>
            <a:r>
              <a:rPr lang="en-US" altLang="en-US" sz="2800" smtClean="0"/>
              <a:t>, but </a:t>
            </a:r>
            <a:r>
              <a:rPr lang="en-US" altLang="en-US" sz="2800" smtClean="0">
                <a:solidFill>
                  <a:schemeClr val="hlink"/>
                </a:solidFill>
              </a:rPr>
              <a:t>must be in order</a:t>
            </a:r>
            <a:r>
              <a:rPr lang="en-US" altLang="en-US" sz="2800" smtClean="0"/>
              <a:t>.</a:t>
            </a:r>
          </a:p>
        </p:txBody>
      </p:sp>
      <p:sp>
        <p:nvSpPr>
          <p:cNvPr id="5124" name="Line 4"/>
          <p:cNvSpPr>
            <a:spLocks noChangeShapeType="1"/>
          </p:cNvSpPr>
          <p:nvPr/>
        </p:nvSpPr>
        <p:spPr bwMode="auto">
          <a:xfrm flipV="1">
            <a:off x="304800" y="3429000"/>
            <a:ext cx="1524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125" name="Line 5"/>
          <p:cNvSpPr>
            <a:spLocks noChangeShapeType="1"/>
          </p:cNvSpPr>
          <p:nvPr/>
        </p:nvSpPr>
        <p:spPr bwMode="auto">
          <a:xfrm flipV="1">
            <a:off x="457200" y="3429000"/>
            <a:ext cx="1524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126" name="Line 6"/>
          <p:cNvSpPr>
            <a:spLocks noChangeShapeType="1"/>
          </p:cNvSpPr>
          <p:nvPr/>
        </p:nvSpPr>
        <p:spPr bwMode="auto">
          <a:xfrm flipV="1">
            <a:off x="3048000" y="34290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127" name="Line 7"/>
          <p:cNvSpPr>
            <a:spLocks noChangeShapeType="1"/>
          </p:cNvSpPr>
          <p:nvPr/>
        </p:nvSpPr>
        <p:spPr bwMode="auto">
          <a:xfrm flipH="1" flipV="1">
            <a:off x="3276600" y="3429000"/>
            <a:ext cx="6858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128" name="Line 8"/>
          <p:cNvSpPr>
            <a:spLocks noChangeShapeType="1"/>
          </p:cNvSpPr>
          <p:nvPr/>
        </p:nvSpPr>
        <p:spPr bwMode="auto">
          <a:xfrm>
            <a:off x="3505200" y="3429000"/>
            <a:ext cx="6096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129" name="Line 9"/>
          <p:cNvSpPr>
            <a:spLocks noChangeShapeType="1"/>
          </p:cNvSpPr>
          <p:nvPr/>
        </p:nvSpPr>
        <p:spPr bwMode="auto">
          <a:xfrm>
            <a:off x="4648200" y="33528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130" name="Line 10"/>
          <p:cNvSpPr>
            <a:spLocks noChangeShapeType="1"/>
          </p:cNvSpPr>
          <p:nvPr/>
        </p:nvSpPr>
        <p:spPr bwMode="auto">
          <a:xfrm>
            <a:off x="4800600" y="3352800"/>
            <a:ext cx="3810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131" name="Line 11"/>
          <p:cNvSpPr>
            <a:spLocks noChangeShapeType="1"/>
          </p:cNvSpPr>
          <p:nvPr/>
        </p:nvSpPr>
        <p:spPr bwMode="auto">
          <a:xfrm flipV="1">
            <a:off x="4419600" y="34290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132" name="Line 12"/>
          <p:cNvSpPr>
            <a:spLocks noChangeShapeType="1"/>
          </p:cNvSpPr>
          <p:nvPr/>
        </p:nvSpPr>
        <p:spPr bwMode="auto">
          <a:xfrm flipH="1">
            <a:off x="6781800" y="3352800"/>
            <a:ext cx="457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133" name="Line 13"/>
          <p:cNvSpPr>
            <a:spLocks noChangeShapeType="1"/>
          </p:cNvSpPr>
          <p:nvPr/>
        </p:nvSpPr>
        <p:spPr bwMode="auto">
          <a:xfrm>
            <a:off x="7467600" y="3429000"/>
            <a:ext cx="1524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134" name="Line 14"/>
          <p:cNvSpPr>
            <a:spLocks noChangeShapeType="1"/>
          </p:cNvSpPr>
          <p:nvPr/>
        </p:nvSpPr>
        <p:spPr bwMode="auto">
          <a:xfrm flipV="1">
            <a:off x="609600" y="3429000"/>
            <a:ext cx="1524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135" name="Line 15"/>
          <p:cNvSpPr>
            <a:spLocks noChangeShapeType="1"/>
          </p:cNvSpPr>
          <p:nvPr/>
        </p:nvSpPr>
        <p:spPr bwMode="auto">
          <a:xfrm flipV="1">
            <a:off x="762000" y="3429000"/>
            <a:ext cx="1524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136" name="Line 16"/>
          <p:cNvSpPr>
            <a:spLocks noChangeShapeType="1"/>
          </p:cNvSpPr>
          <p:nvPr/>
        </p:nvSpPr>
        <p:spPr bwMode="auto">
          <a:xfrm flipV="1">
            <a:off x="990600" y="3429000"/>
            <a:ext cx="3048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137" name="Line 17"/>
          <p:cNvSpPr>
            <a:spLocks noChangeShapeType="1"/>
          </p:cNvSpPr>
          <p:nvPr/>
        </p:nvSpPr>
        <p:spPr bwMode="auto">
          <a:xfrm flipV="1">
            <a:off x="1066800" y="3429000"/>
            <a:ext cx="3048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Naïve Algorithm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For every subsequence of </a:t>
            </a:r>
            <a:r>
              <a:rPr lang="en-US" altLang="en-US" i="1" smtClean="0"/>
              <a:t>X</a:t>
            </a:r>
            <a:r>
              <a:rPr lang="en-US" altLang="en-US" smtClean="0"/>
              <a:t>, check whether it’s a subsequence of </a:t>
            </a:r>
            <a:r>
              <a:rPr lang="en-US" altLang="en-US" i="1" smtClean="0"/>
              <a:t>Y </a:t>
            </a:r>
            <a:r>
              <a:rPr lang="en-US" altLang="en-US" smtClean="0"/>
              <a:t>.</a:t>
            </a:r>
          </a:p>
          <a:p>
            <a:r>
              <a:rPr lang="en-US" altLang="en-US" smtClean="0">
                <a:solidFill>
                  <a:srgbClr val="CC3300"/>
                </a:solidFill>
              </a:rPr>
              <a:t>Time:</a:t>
            </a:r>
            <a:r>
              <a:rPr lang="en-US" altLang="en-US" smtClean="0"/>
              <a:t> </a:t>
            </a:r>
            <a:r>
              <a:rPr lang="el-GR" altLang="en-US" smtClean="0">
                <a:cs typeface="Times New Roman" panose="02020603050405020304" pitchFamily="18" charset="0"/>
              </a:rPr>
              <a:t>Θ</a:t>
            </a:r>
            <a:r>
              <a:rPr lang="en-US" altLang="en-US" smtClean="0"/>
              <a:t>(</a:t>
            </a:r>
            <a:r>
              <a:rPr lang="en-US" altLang="en-US" i="1" smtClean="0"/>
              <a:t>n</a:t>
            </a:r>
            <a:r>
              <a:rPr lang="en-US" altLang="en-US" smtClean="0"/>
              <a:t>2</a:t>
            </a:r>
            <a:r>
              <a:rPr lang="en-US" altLang="en-US" i="1" baseline="30000" smtClean="0"/>
              <a:t>m</a:t>
            </a:r>
            <a:r>
              <a:rPr lang="en-US" altLang="en-US" smtClean="0"/>
              <a:t>).</a:t>
            </a:r>
          </a:p>
          <a:p>
            <a:pPr lvl="1"/>
            <a:r>
              <a:rPr lang="en-US" altLang="en-US" smtClean="0"/>
              <a:t>2</a:t>
            </a:r>
            <a:r>
              <a:rPr lang="en-US" altLang="en-US" i="1" baseline="30000" smtClean="0"/>
              <a:t>m</a:t>
            </a:r>
            <a:r>
              <a:rPr lang="en-US" altLang="en-US" i="1" smtClean="0"/>
              <a:t> </a:t>
            </a:r>
            <a:r>
              <a:rPr lang="en-US" altLang="en-US" smtClean="0"/>
              <a:t>subsequences of </a:t>
            </a:r>
            <a:r>
              <a:rPr lang="en-US" altLang="en-US" i="1" smtClean="0"/>
              <a:t>X </a:t>
            </a:r>
            <a:r>
              <a:rPr lang="en-US" altLang="en-US" smtClean="0"/>
              <a:t>to check.</a:t>
            </a:r>
          </a:p>
          <a:p>
            <a:pPr lvl="1"/>
            <a:r>
              <a:rPr lang="en-US" altLang="en-US" smtClean="0"/>
              <a:t>Each subsequence takes </a:t>
            </a:r>
            <a:r>
              <a:rPr lang="el-GR" altLang="en-US" smtClean="0">
                <a:cs typeface="Times New Roman" panose="02020603050405020304" pitchFamily="18" charset="0"/>
              </a:rPr>
              <a:t>Θ</a:t>
            </a:r>
            <a:r>
              <a:rPr lang="en-US" altLang="en-US" smtClean="0"/>
              <a:t>(</a:t>
            </a:r>
            <a:r>
              <a:rPr lang="en-US" altLang="en-US" i="1" smtClean="0"/>
              <a:t>n</a:t>
            </a:r>
            <a:r>
              <a:rPr lang="en-US" altLang="en-US" smtClean="0"/>
              <a:t>)</a:t>
            </a:r>
            <a:r>
              <a:rPr lang="en-US" altLang="en-US" i="1" smtClean="0"/>
              <a:t> </a:t>
            </a:r>
            <a:r>
              <a:rPr lang="en-US" altLang="en-US" smtClean="0"/>
              <a:t>time to check: </a:t>
            </a:r>
            <a:br>
              <a:rPr lang="en-US" altLang="en-US" smtClean="0"/>
            </a:br>
            <a:r>
              <a:rPr lang="en-US" altLang="en-US" smtClean="0"/>
              <a:t>scan </a:t>
            </a:r>
            <a:r>
              <a:rPr lang="en-US" altLang="en-US" i="1" smtClean="0"/>
              <a:t>Y </a:t>
            </a:r>
            <a:r>
              <a:rPr lang="en-US" altLang="en-US" smtClean="0"/>
              <a:t>for first letter, for second, and so on.</a:t>
            </a: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Optimal Substructure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3657600"/>
            <a:ext cx="8839200" cy="1981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b="1" smtClean="0">
                <a:solidFill>
                  <a:srgbClr val="CC3300"/>
                </a:solidFill>
              </a:rPr>
              <a:t>Notation:</a:t>
            </a:r>
            <a:endParaRPr lang="en-US" altLang="en-US" sz="2400" b="1" i="1" smtClean="0">
              <a:solidFill>
                <a:srgbClr val="CC33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800" smtClean="0"/>
              <a:t>	prefix </a:t>
            </a:r>
            <a:r>
              <a:rPr lang="en-US" altLang="en-US" sz="2800" i="1" smtClean="0"/>
              <a:t>X</a:t>
            </a:r>
            <a:r>
              <a:rPr lang="en-US" altLang="en-US" sz="2800" i="1" baseline="-25000" smtClean="0"/>
              <a:t>i</a:t>
            </a:r>
            <a:r>
              <a:rPr lang="en-US" altLang="en-US" sz="2800" i="1" smtClean="0"/>
              <a:t> </a:t>
            </a:r>
            <a:r>
              <a:rPr lang="en-US" altLang="en-US" sz="2800" smtClean="0"/>
              <a:t>= </a:t>
            </a:r>
            <a:r>
              <a:rPr lang="en-US" altLang="en-US" sz="2800" smtClean="0">
                <a:sym typeface="Symbol" panose="05050102010706020507" pitchFamily="18" charset="2"/>
              </a:rPr>
              <a:t></a:t>
            </a:r>
            <a:r>
              <a:rPr lang="en-US" altLang="en-US" sz="2800" i="1" smtClean="0"/>
              <a:t>x</a:t>
            </a:r>
            <a:r>
              <a:rPr lang="en-US" altLang="en-US" sz="2800" baseline="-25000" smtClean="0"/>
              <a:t>1</a:t>
            </a:r>
            <a:r>
              <a:rPr lang="en-US" altLang="en-US" sz="2800" i="1" smtClean="0"/>
              <a:t>,...,x</a:t>
            </a:r>
            <a:r>
              <a:rPr lang="en-US" altLang="en-US" sz="2800" i="1" baseline="-25000" smtClean="0"/>
              <a:t>i</a:t>
            </a:r>
            <a:r>
              <a:rPr lang="en-US" altLang="en-US" sz="2800" smtClean="0">
                <a:sym typeface="Symbol" panose="05050102010706020507" pitchFamily="18" charset="2"/>
              </a:rPr>
              <a:t></a:t>
            </a:r>
            <a:r>
              <a:rPr lang="en-US" altLang="en-US" sz="2800" i="1" smtClean="0"/>
              <a:t> </a:t>
            </a:r>
            <a:r>
              <a:rPr lang="en-US" altLang="en-US" sz="2800" smtClean="0"/>
              <a:t>is the first </a:t>
            </a:r>
            <a:r>
              <a:rPr lang="en-US" altLang="en-US" sz="2800" i="1" smtClean="0"/>
              <a:t>i </a:t>
            </a:r>
            <a:r>
              <a:rPr lang="en-US" altLang="en-US" sz="2800" smtClean="0"/>
              <a:t>letters of </a:t>
            </a:r>
            <a:r>
              <a:rPr lang="en-US" altLang="en-US" sz="2800" i="1" smtClean="0"/>
              <a:t>X.</a:t>
            </a:r>
            <a:endParaRPr lang="en-US" altLang="en-US" sz="280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200" i="1" smtClean="0"/>
              <a:t>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smtClean="0"/>
              <a:t>This says what any longest common subsequence must look like; </a:t>
            </a:r>
            <a:br>
              <a:rPr lang="en-US" altLang="en-US" sz="2400" smtClean="0"/>
            </a:br>
            <a:r>
              <a:rPr lang="en-US" altLang="en-US" sz="2400" smtClean="0"/>
              <a:t>do you believe it?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441325" y="3317875"/>
            <a:ext cx="8016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457200" y="1219200"/>
            <a:ext cx="8458200" cy="19304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 u="none">
                <a:solidFill>
                  <a:srgbClr val="CC3300"/>
                </a:solidFill>
              </a:rPr>
              <a:t>Theorem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u="none">
                <a:solidFill>
                  <a:schemeClr val="tx1"/>
                </a:solidFill>
              </a:rPr>
              <a:t>Let </a:t>
            </a:r>
            <a:r>
              <a:rPr lang="en-US" altLang="en-US" sz="2400" i="1" u="none">
                <a:solidFill>
                  <a:schemeClr val="tx1"/>
                </a:solidFill>
              </a:rPr>
              <a:t>Z </a:t>
            </a:r>
            <a:r>
              <a:rPr lang="en-US" altLang="en-US" sz="2400" u="none">
                <a:solidFill>
                  <a:schemeClr val="tx1"/>
                </a:solidFill>
              </a:rPr>
              <a:t>= </a:t>
            </a:r>
            <a:r>
              <a:rPr lang="en-US" altLang="en-US" sz="2400" u="none">
                <a:sym typeface="Symbol" panose="05050102010706020507" pitchFamily="18" charset="2"/>
              </a:rPr>
              <a:t></a:t>
            </a:r>
            <a:r>
              <a:rPr lang="en-US" altLang="en-US" sz="2400" i="1" u="none">
                <a:solidFill>
                  <a:schemeClr val="tx1"/>
                </a:solidFill>
              </a:rPr>
              <a:t>z</a:t>
            </a:r>
            <a:r>
              <a:rPr lang="en-US" altLang="en-US" sz="2800" u="none" baseline="-25000"/>
              <a:t>1</a:t>
            </a:r>
            <a:r>
              <a:rPr lang="en-US" altLang="en-US" sz="2400" i="1" u="none">
                <a:solidFill>
                  <a:schemeClr val="tx1"/>
                </a:solidFill>
              </a:rPr>
              <a:t>, . . . , z</a:t>
            </a:r>
            <a:r>
              <a:rPr lang="en-US" altLang="en-US" sz="2800" i="1" u="none" baseline="-25000"/>
              <a:t>k</a:t>
            </a:r>
            <a:r>
              <a:rPr lang="en-US" altLang="en-US" sz="2400" u="none">
                <a:sym typeface="Symbol" panose="05050102010706020507" pitchFamily="18" charset="2"/>
              </a:rPr>
              <a:t></a:t>
            </a:r>
            <a:r>
              <a:rPr lang="en-US" altLang="en-US" sz="2400" u="none">
                <a:solidFill>
                  <a:schemeClr val="tx1"/>
                </a:solidFill>
              </a:rPr>
              <a:t> be any LCS of </a:t>
            </a:r>
            <a:r>
              <a:rPr lang="en-US" altLang="en-US" sz="2400" i="1" u="none">
                <a:solidFill>
                  <a:schemeClr val="tx1"/>
                </a:solidFill>
              </a:rPr>
              <a:t>X </a:t>
            </a:r>
            <a:r>
              <a:rPr lang="en-US" altLang="en-US" sz="2400" u="none">
                <a:solidFill>
                  <a:schemeClr val="tx1"/>
                </a:solidFill>
              </a:rPr>
              <a:t>and </a:t>
            </a:r>
            <a:r>
              <a:rPr lang="en-US" altLang="en-US" sz="2400" i="1" u="none">
                <a:solidFill>
                  <a:schemeClr val="tx1"/>
                </a:solidFill>
              </a:rPr>
              <a:t>Y </a:t>
            </a:r>
            <a:r>
              <a:rPr lang="en-US" altLang="en-US" sz="2400" u="none">
                <a:solidFill>
                  <a:schemeClr val="tx1"/>
                </a:solidFill>
              </a:rPr>
              <a:t>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u="none">
                <a:solidFill>
                  <a:schemeClr val="tx1"/>
                </a:solidFill>
              </a:rPr>
              <a:t>1. If </a:t>
            </a:r>
            <a:r>
              <a:rPr lang="en-US" altLang="en-US" sz="2400" i="1" u="none">
                <a:solidFill>
                  <a:schemeClr val="tx1"/>
                </a:solidFill>
              </a:rPr>
              <a:t>x</a:t>
            </a:r>
            <a:r>
              <a:rPr lang="en-US" altLang="en-US" sz="2800" i="1" u="none" baseline="-25000"/>
              <a:t>m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</a:rPr>
              <a:t>= </a:t>
            </a:r>
            <a:r>
              <a:rPr lang="en-US" altLang="en-US" sz="2400" i="1" u="none">
                <a:solidFill>
                  <a:schemeClr val="tx1"/>
                </a:solidFill>
              </a:rPr>
              <a:t>y</a:t>
            </a:r>
            <a:r>
              <a:rPr lang="en-US" altLang="en-US" sz="2800" i="1" u="none" baseline="-25000"/>
              <a:t>n</a:t>
            </a:r>
            <a:r>
              <a:rPr lang="en-US" altLang="en-US" sz="2400" u="none">
                <a:solidFill>
                  <a:schemeClr val="tx1"/>
                </a:solidFill>
              </a:rPr>
              <a:t>, then </a:t>
            </a:r>
            <a:r>
              <a:rPr lang="en-US" altLang="en-US" sz="2400" i="1" u="none">
                <a:solidFill>
                  <a:schemeClr val="tx1"/>
                </a:solidFill>
              </a:rPr>
              <a:t>z</a:t>
            </a:r>
            <a:r>
              <a:rPr lang="en-US" altLang="en-US" sz="2800" i="1" u="none" baseline="-25000"/>
              <a:t>k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</a:rPr>
              <a:t>= </a:t>
            </a:r>
            <a:r>
              <a:rPr lang="en-US" altLang="en-US" sz="2400" i="1" u="none">
                <a:solidFill>
                  <a:schemeClr val="tx1"/>
                </a:solidFill>
              </a:rPr>
              <a:t>x</a:t>
            </a:r>
            <a:r>
              <a:rPr lang="en-US" altLang="en-US" sz="2800" i="1" u="none" baseline="-25000"/>
              <a:t>m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</a:rPr>
              <a:t>= </a:t>
            </a:r>
            <a:r>
              <a:rPr lang="en-US" altLang="en-US" sz="2400" i="1" u="none">
                <a:solidFill>
                  <a:schemeClr val="tx1"/>
                </a:solidFill>
              </a:rPr>
              <a:t>y</a:t>
            </a:r>
            <a:r>
              <a:rPr lang="en-US" altLang="en-US" sz="2800" i="1" u="none" baseline="-25000"/>
              <a:t>n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</a:rPr>
              <a:t>and </a:t>
            </a:r>
            <a:r>
              <a:rPr lang="en-US" altLang="en-US" sz="2400" i="1" u="none">
                <a:solidFill>
                  <a:schemeClr val="tx1"/>
                </a:solidFill>
              </a:rPr>
              <a:t>Z</a:t>
            </a:r>
            <a:r>
              <a:rPr lang="en-US" altLang="en-US" sz="2800" i="1" u="none" baseline="-25000"/>
              <a:t>k-</a:t>
            </a:r>
            <a:r>
              <a:rPr lang="en-US" altLang="en-US" sz="2800" u="none" baseline="-25000"/>
              <a:t>1</a:t>
            </a:r>
            <a:r>
              <a:rPr lang="en-US" altLang="en-US" sz="2400" u="none">
                <a:solidFill>
                  <a:schemeClr val="tx1"/>
                </a:solidFill>
              </a:rPr>
              <a:t> is an LCS of </a:t>
            </a:r>
            <a:r>
              <a:rPr lang="en-US" altLang="en-US" sz="2400" i="1" u="none">
                <a:solidFill>
                  <a:schemeClr val="tx1"/>
                </a:solidFill>
              </a:rPr>
              <a:t>X</a:t>
            </a:r>
            <a:r>
              <a:rPr lang="en-US" altLang="en-US" sz="2800" i="1" u="none" baseline="-25000"/>
              <a:t>m-</a:t>
            </a:r>
            <a:r>
              <a:rPr lang="en-US" altLang="en-US" sz="2800" u="none" baseline="-25000"/>
              <a:t>1</a:t>
            </a:r>
            <a:r>
              <a:rPr lang="en-US" altLang="en-US" sz="2400" u="none">
                <a:solidFill>
                  <a:schemeClr val="tx1"/>
                </a:solidFill>
              </a:rPr>
              <a:t> and </a:t>
            </a:r>
            <a:r>
              <a:rPr lang="en-US" altLang="en-US" sz="2400" i="1" u="none">
                <a:solidFill>
                  <a:schemeClr val="tx1"/>
                </a:solidFill>
              </a:rPr>
              <a:t>Y</a:t>
            </a:r>
            <a:r>
              <a:rPr lang="en-US" altLang="en-US" sz="2800" i="1" u="none" baseline="-25000"/>
              <a:t>n-</a:t>
            </a:r>
            <a:r>
              <a:rPr lang="en-US" altLang="en-US" sz="2800" u="none" baseline="-25000"/>
              <a:t>1</a:t>
            </a:r>
            <a:r>
              <a:rPr lang="en-US" altLang="en-US" sz="2400" u="none">
                <a:solidFill>
                  <a:schemeClr val="tx1"/>
                </a:solidFill>
              </a:rPr>
              <a:t>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u="none">
                <a:solidFill>
                  <a:schemeClr val="tx1"/>
                </a:solidFill>
              </a:rPr>
              <a:t>2. If </a:t>
            </a:r>
            <a:r>
              <a:rPr lang="en-US" altLang="en-US" sz="2400" i="1" u="none">
                <a:solidFill>
                  <a:schemeClr val="tx1"/>
                </a:solidFill>
              </a:rPr>
              <a:t>x</a:t>
            </a:r>
            <a:r>
              <a:rPr lang="en-US" altLang="en-US" sz="2800" i="1" u="none" baseline="-25000"/>
              <a:t>m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  <a:sym typeface="Symbol" panose="05050102010706020507" pitchFamily="18" charset="2"/>
              </a:rPr>
              <a:t></a:t>
            </a:r>
            <a:r>
              <a:rPr lang="en-US" altLang="en-US" sz="2400" u="none">
                <a:solidFill>
                  <a:schemeClr val="tx1"/>
                </a:solidFill>
              </a:rPr>
              <a:t> </a:t>
            </a:r>
            <a:r>
              <a:rPr lang="en-US" altLang="en-US" sz="2400" i="1" u="none">
                <a:solidFill>
                  <a:schemeClr val="tx1"/>
                </a:solidFill>
              </a:rPr>
              <a:t>y</a:t>
            </a:r>
            <a:r>
              <a:rPr lang="en-US" altLang="en-US" sz="2800" i="1" u="none" baseline="-25000"/>
              <a:t>n</a:t>
            </a:r>
            <a:r>
              <a:rPr lang="en-US" altLang="en-US" sz="2400" u="none">
                <a:solidFill>
                  <a:schemeClr val="tx1"/>
                </a:solidFill>
              </a:rPr>
              <a:t>, then either </a:t>
            </a:r>
            <a:r>
              <a:rPr lang="en-US" altLang="en-US" sz="2400" i="1" u="none">
                <a:solidFill>
                  <a:schemeClr val="tx1"/>
                </a:solidFill>
              </a:rPr>
              <a:t>z</a:t>
            </a:r>
            <a:r>
              <a:rPr lang="en-US" altLang="en-US" sz="2800" i="1" u="none" baseline="-25000"/>
              <a:t>k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  <a:sym typeface="Symbol" panose="05050102010706020507" pitchFamily="18" charset="2"/>
              </a:rPr>
              <a:t></a:t>
            </a:r>
            <a:r>
              <a:rPr lang="en-US" altLang="en-US" sz="2400" u="none">
                <a:solidFill>
                  <a:schemeClr val="tx1"/>
                </a:solidFill>
              </a:rPr>
              <a:t> </a:t>
            </a:r>
            <a:r>
              <a:rPr lang="en-US" altLang="en-US" sz="2400" i="1" u="none">
                <a:solidFill>
                  <a:schemeClr val="tx1"/>
                </a:solidFill>
              </a:rPr>
              <a:t>x</a:t>
            </a:r>
            <a:r>
              <a:rPr lang="en-US" altLang="en-US" sz="2800" i="1" u="none" baseline="-25000"/>
              <a:t>m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</a:rPr>
              <a:t>and </a:t>
            </a:r>
            <a:r>
              <a:rPr lang="en-US" altLang="en-US" sz="2400" i="1" u="none">
                <a:solidFill>
                  <a:schemeClr val="tx1"/>
                </a:solidFill>
              </a:rPr>
              <a:t>Z </a:t>
            </a:r>
            <a:r>
              <a:rPr lang="en-US" altLang="en-US" sz="2400" u="none">
                <a:solidFill>
                  <a:schemeClr val="tx1"/>
                </a:solidFill>
              </a:rPr>
              <a:t>is an LCS of </a:t>
            </a:r>
            <a:r>
              <a:rPr lang="en-US" altLang="en-US" sz="2400" i="1" u="none">
                <a:solidFill>
                  <a:schemeClr val="tx1"/>
                </a:solidFill>
              </a:rPr>
              <a:t>X</a:t>
            </a:r>
            <a:r>
              <a:rPr lang="en-US" altLang="en-US" sz="2800" i="1" u="none" baseline="-25000"/>
              <a:t>m-</a:t>
            </a:r>
            <a:r>
              <a:rPr lang="en-US" altLang="en-US" sz="2800" u="none" baseline="-25000"/>
              <a:t>1</a:t>
            </a:r>
            <a:r>
              <a:rPr lang="en-US" altLang="en-US" sz="2400" u="none">
                <a:solidFill>
                  <a:schemeClr val="tx1"/>
                </a:solidFill>
              </a:rPr>
              <a:t> and </a:t>
            </a:r>
            <a:r>
              <a:rPr lang="en-US" altLang="en-US" sz="2400" i="1" u="none">
                <a:solidFill>
                  <a:schemeClr val="tx1"/>
                </a:solidFill>
              </a:rPr>
              <a:t>Y </a:t>
            </a:r>
            <a:r>
              <a:rPr lang="en-US" altLang="en-US" sz="2400" u="none">
                <a:solidFill>
                  <a:schemeClr val="tx1"/>
                </a:solidFill>
              </a:rPr>
              <a:t>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u="none">
                <a:solidFill>
                  <a:schemeClr val="tx1"/>
                </a:solidFill>
              </a:rPr>
              <a:t>3.                               or  </a:t>
            </a:r>
            <a:r>
              <a:rPr lang="en-US" altLang="en-US" sz="2400" i="1" u="none">
                <a:solidFill>
                  <a:schemeClr val="tx1"/>
                </a:solidFill>
              </a:rPr>
              <a:t>z</a:t>
            </a:r>
            <a:r>
              <a:rPr lang="en-US" altLang="en-US" sz="2800" i="1" u="none" baseline="-25000"/>
              <a:t>k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  <a:sym typeface="Symbol" panose="05050102010706020507" pitchFamily="18" charset="2"/>
              </a:rPr>
              <a:t></a:t>
            </a:r>
            <a:r>
              <a:rPr lang="en-US" altLang="en-US" sz="2400" u="none">
                <a:solidFill>
                  <a:schemeClr val="tx1"/>
                </a:solidFill>
              </a:rPr>
              <a:t> </a:t>
            </a:r>
            <a:r>
              <a:rPr lang="en-US" altLang="en-US" sz="2400" i="1" u="none">
                <a:solidFill>
                  <a:schemeClr val="tx1"/>
                </a:solidFill>
              </a:rPr>
              <a:t>y</a:t>
            </a:r>
            <a:r>
              <a:rPr lang="en-US" altLang="en-US" sz="2800" i="1" u="none" baseline="-25000"/>
              <a:t>n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</a:rPr>
              <a:t>and</a:t>
            </a:r>
            <a:r>
              <a:rPr lang="en-US" altLang="en-US" sz="2400">
                <a:solidFill>
                  <a:schemeClr val="tx1"/>
                </a:solidFill>
              </a:rPr>
              <a:t> </a:t>
            </a:r>
            <a:r>
              <a:rPr lang="en-US" altLang="en-US" sz="2400" i="1" u="none">
                <a:solidFill>
                  <a:schemeClr val="tx1"/>
                </a:solidFill>
              </a:rPr>
              <a:t>Z </a:t>
            </a:r>
            <a:r>
              <a:rPr lang="en-US" altLang="en-US" sz="2400" u="none">
                <a:solidFill>
                  <a:schemeClr val="tx1"/>
                </a:solidFill>
              </a:rPr>
              <a:t>is an LCS of </a:t>
            </a:r>
            <a:r>
              <a:rPr lang="en-US" altLang="en-US" sz="2400" i="1" u="none">
                <a:solidFill>
                  <a:schemeClr val="tx1"/>
                </a:solidFill>
              </a:rPr>
              <a:t>X </a:t>
            </a:r>
            <a:r>
              <a:rPr lang="en-US" altLang="en-US" sz="2400" u="none">
                <a:solidFill>
                  <a:schemeClr val="tx1"/>
                </a:solidFill>
              </a:rPr>
              <a:t>and </a:t>
            </a:r>
            <a:r>
              <a:rPr lang="en-US" altLang="en-US" sz="2400" i="1" u="none">
                <a:solidFill>
                  <a:schemeClr val="tx1"/>
                </a:solidFill>
              </a:rPr>
              <a:t>Y</a:t>
            </a:r>
            <a:r>
              <a:rPr lang="en-US" altLang="en-US" sz="2800" i="1" u="none" baseline="-25000"/>
              <a:t>n-</a:t>
            </a:r>
            <a:r>
              <a:rPr lang="en-US" altLang="en-US" sz="2800" u="none" baseline="-25000"/>
              <a:t>1</a:t>
            </a:r>
            <a:r>
              <a:rPr lang="en-US" altLang="en-US" sz="2400" u="none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Optimal Substructure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3657600"/>
            <a:ext cx="8839200" cy="1981200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 smtClean="0">
                <a:solidFill>
                  <a:srgbClr val="CC3300"/>
                </a:solidFill>
              </a:rPr>
              <a:t>Proof: </a:t>
            </a:r>
            <a:r>
              <a:rPr lang="en-US" altLang="en-US" sz="2000" smtClean="0">
                <a:solidFill>
                  <a:schemeClr val="tx1"/>
                </a:solidFill>
              </a:rPr>
              <a:t>(case 1: </a:t>
            </a:r>
            <a:r>
              <a:rPr lang="en-US" altLang="en-US" sz="2000" i="1" smtClean="0">
                <a:solidFill>
                  <a:schemeClr val="tx1"/>
                </a:solidFill>
              </a:rPr>
              <a:t>x</a:t>
            </a:r>
            <a:r>
              <a:rPr lang="en-US" altLang="en-US" sz="2400" i="1" baseline="-25000" smtClean="0"/>
              <a:t>m</a:t>
            </a:r>
            <a:r>
              <a:rPr lang="en-US" altLang="en-US" sz="2000" i="1" smtClean="0">
                <a:solidFill>
                  <a:schemeClr val="tx1"/>
                </a:solidFill>
              </a:rPr>
              <a:t> </a:t>
            </a:r>
            <a:r>
              <a:rPr lang="en-US" altLang="en-US" sz="2000" smtClean="0">
                <a:solidFill>
                  <a:schemeClr val="tx1"/>
                </a:solidFill>
              </a:rPr>
              <a:t>= </a:t>
            </a:r>
            <a:r>
              <a:rPr lang="en-US" altLang="en-US" sz="2000" i="1" smtClean="0">
                <a:solidFill>
                  <a:schemeClr val="tx1"/>
                </a:solidFill>
              </a:rPr>
              <a:t>y</a:t>
            </a:r>
            <a:r>
              <a:rPr lang="en-US" altLang="en-US" sz="2400" i="1" baseline="-25000" smtClean="0"/>
              <a:t>n</a:t>
            </a:r>
            <a:r>
              <a:rPr lang="en-US" altLang="en-US" sz="2000" smtClean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smtClean="0">
                <a:solidFill>
                  <a:schemeClr val="tx1"/>
                </a:solidFill>
              </a:rPr>
              <a:t>Any sequence </a:t>
            </a:r>
            <a:r>
              <a:rPr lang="en-US" altLang="en-US" sz="2000" i="1" smtClean="0">
                <a:solidFill>
                  <a:schemeClr val="tx1"/>
                </a:solidFill>
              </a:rPr>
              <a:t>Z’</a:t>
            </a:r>
            <a:r>
              <a:rPr lang="en-US" altLang="en-US" sz="2000" smtClean="0">
                <a:solidFill>
                  <a:schemeClr val="tx1"/>
                </a:solidFill>
              </a:rPr>
              <a:t> that does not end in </a:t>
            </a:r>
            <a:r>
              <a:rPr lang="en-US" altLang="en-US" sz="2000" i="1" smtClean="0">
                <a:solidFill>
                  <a:schemeClr val="tx1"/>
                </a:solidFill>
              </a:rPr>
              <a:t>x</a:t>
            </a:r>
            <a:r>
              <a:rPr lang="en-US" altLang="en-US" sz="2400" i="1" baseline="-25000" smtClean="0"/>
              <a:t>m</a:t>
            </a:r>
            <a:r>
              <a:rPr lang="en-US" altLang="en-US" sz="2000" i="1" smtClean="0">
                <a:solidFill>
                  <a:schemeClr val="tx1"/>
                </a:solidFill>
              </a:rPr>
              <a:t> </a:t>
            </a:r>
            <a:r>
              <a:rPr lang="en-US" altLang="en-US" sz="2000" smtClean="0">
                <a:solidFill>
                  <a:schemeClr val="tx1"/>
                </a:solidFill>
              </a:rPr>
              <a:t>= </a:t>
            </a:r>
            <a:r>
              <a:rPr lang="en-US" altLang="en-US" sz="2000" i="1" smtClean="0">
                <a:solidFill>
                  <a:schemeClr val="tx1"/>
                </a:solidFill>
              </a:rPr>
              <a:t>y</a:t>
            </a:r>
            <a:r>
              <a:rPr lang="en-US" altLang="en-US" sz="2400" i="1" baseline="-25000" smtClean="0"/>
              <a:t>n</a:t>
            </a:r>
            <a:r>
              <a:rPr lang="en-US" altLang="en-US" sz="2000" i="1" smtClean="0">
                <a:solidFill>
                  <a:schemeClr val="tx1"/>
                </a:solidFill>
              </a:rPr>
              <a:t> </a:t>
            </a:r>
            <a:r>
              <a:rPr lang="en-US" altLang="en-US" sz="2000" smtClean="0">
                <a:solidFill>
                  <a:schemeClr val="tx1"/>
                </a:solidFill>
              </a:rPr>
              <a:t>can be made longer by adding </a:t>
            </a:r>
            <a:r>
              <a:rPr lang="en-US" altLang="en-US" sz="2000" i="1" smtClean="0">
                <a:solidFill>
                  <a:schemeClr val="tx1"/>
                </a:solidFill>
              </a:rPr>
              <a:t>x</a:t>
            </a:r>
            <a:r>
              <a:rPr lang="en-US" altLang="en-US" sz="2400" i="1" baseline="-25000" smtClean="0"/>
              <a:t>m</a:t>
            </a:r>
            <a:r>
              <a:rPr lang="en-US" altLang="en-US" sz="2000" i="1" smtClean="0">
                <a:solidFill>
                  <a:schemeClr val="tx1"/>
                </a:solidFill>
              </a:rPr>
              <a:t> </a:t>
            </a:r>
            <a:r>
              <a:rPr lang="en-US" altLang="en-US" sz="2000" smtClean="0">
                <a:solidFill>
                  <a:schemeClr val="tx1"/>
                </a:solidFill>
              </a:rPr>
              <a:t>= </a:t>
            </a:r>
            <a:r>
              <a:rPr lang="en-US" altLang="en-US" sz="2000" i="1" smtClean="0">
                <a:solidFill>
                  <a:schemeClr val="tx1"/>
                </a:solidFill>
              </a:rPr>
              <a:t>y</a:t>
            </a:r>
            <a:r>
              <a:rPr lang="en-US" altLang="en-US" sz="2400" i="1" baseline="-25000" smtClean="0"/>
              <a:t>n</a:t>
            </a:r>
            <a:r>
              <a:rPr lang="en-US" altLang="en-US" sz="2000" i="1" smtClean="0">
                <a:solidFill>
                  <a:schemeClr val="tx1"/>
                </a:solidFill>
              </a:rPr>
              <a:t> </a:t>
            </a:r>
            <a:r>
              <a:rPr lang="en-US" altLang="en-US" sz="2000" smtClean="0">
                <a:solidFill>
                  <a:schemeClr val="tx1"/>
                </a:solidFill>
              </a:rPr>
              <a:t>to the end. Therefore, </a:t>
            </a:r>
          </a:p>
          <a:p>
            <a:pPr marL="457200" indent="-457200">
              <a:lnSpc>
                <a:spcPct val="90000"/>
              </a:lnSpc>
              <a:buFont typeface="Wingdings" panose="05000000000000000000" pitchFamily="2" charset="2"/>
              <a:buAutoNum type="arabicParenBoth"/>
            </a:pPr>
            <a:r>
              <a:rPr lang="en-US" altLang="en-US" sz="2000" smtClean="0">
                <a:solidFill>
                  <a:schemeClr val="tx1"/>
                </a:solidFill>
              </a:rPr>
              <a:t>longest common subsequence (LCS) </a:t>
            </a:r>
            <a:r>
              <a:rPr lang="en-US" altLang="en-US" sz="2000" i="1" smtClean="0">
                <a:solidFill>
                  <a:schemeClr val="tx1"/>
                </a:solidFill>
              </a:rPr>
              <a:t>Z</a:t>
            </a:r>
            <a:r>
              <a:rPr lang="en-US" altLang="en-US" sz="2000" smtClean="0">
                <a:solidFill>
                  <a:schemeClr val="tx1"/>
                </a:solidFill>
              </a:rPr>
              <a:t> must end in </a:t>
            </a:r>
            <a:r>
              <a:rPr lang="en-US" altLang="en-US" sz="2000" i="1" smtClean="0">
                <a:solidFill>
                  <a:schemeClr val="tx1"/>
                </a:solidFill>
              </a:rPr>
              <a:t>x</a:t>
            </a:r>
            <a:r>
              <a:rPr lang="en-US" altLang="en-US" sz="2400" i="1" baseline="-25000" smtClean="0"/>
              <a:t>m</a:t>
            </a:r>
            <a:r>
              <a:rPr lang="en-US" altLang="en-US" sz="2000" i="1" smtClean="0">
                <a:solidFill>
                  <a:schemeClr val="tx1"/>
                </a:solidFill>
              </a:rPr>
              <a:t> </a:t>
            </a:r>
            <a:r>
              <a:rPr lang="en-US" altLang="en-US" sz="2000" smtClean="0">
                <a:solidFill>
                  <a:schemeClr val="tx1"/>
                </a:solidFill>
              </a:rPr>
              <a:t>= </a:t>
            </a:r>
            <a:r>
              <a:rPr lang="en-US" altLang="en-US" sz="2000" i="1" smtClean="0">
                <a:solidFill>
                  <a:schemeClr val="tx1"/>
                </a:solidFill>
              </a:rPr>
              <a:t>y</a:t>
            </a:r>
            <a:r>
              <a:rPr lang="en-US" altLang="en-US" sz="2400" i="1" baseline="-25000" smtClean="0"/>
              <a:t>n</a:t>
            </a:r>
            <a:r>
              <a:rPr lang="en-US" altLang="en-US" sz="2000" smtClean="0">
                <a:solidFill>
                  <a:schemeClr val="tx1"/>
                </a:solidFill>
              </a:rPr>
              <a:t>. </a:t>
            </a:r>
          </a:p>
          <a:p>
            <a:pPr marL="457200" indent="-457200">
              <a:lnSpc>
                <a:spcPct val="90000"/>
              </a:lnSpc>
              <a:buFont typeface="Wingdings" panose="05000000000000000000" pitchFamily="2" charset="2"/>
              <a:buAutoNum type="arabicParenBoth"/>
            </a:pPr>
            <a:r>
              <a:rPr lang="en-US" altLang="en-US" sz="2000" smtClean="0">
                <a:solidFill>
                  <a:schemeClr val="tx1"/>
                </a:solidFill>
              </a:rPr>
              <a:t> </a:t>
            </a:r>
            <a:r>
              <a:rPr lang="en-US" altLang="en-US" sz="2000" i="1" smtClean="0">
                <a:solidFill>
                  <a:schemeClr val="tx1"/>
                </a:solidFill>
              </a:rPr>
              <a:t>Z</a:t>
            </a:r>
            <a:r>
              <a:rPr lang="en-US" altLang="en-US" sz="2400" i="1" baseline="-25000" smtClean="0"/>
              <a:t>k-</a:t>
            </a:r>
            <a:r>
              <a:rPr lang="en-US" altLang="en-US" sz="2400" baseline="-25000" smtClean="0"/>
              <a:t>1</a:t>
            </a:r>
            <a:r>
              <a:rPr lang="en-US" altLang="en-US" sz="2000" smtClean="0">
                <a:solidFill>
                  <a:schemeClr val="tx1"/>
                </a:solidFill>
              </a:rPr>
              <a:t> is a common subsequence of </a:t>
            </a:r>
            <a:r>
              <a:rPr lang="en-US" altLang="en-US" sz="2000" i="1" smtClean="0">
                <a:solidFill>
                  <a:schemeClr val="tx1"/>
                </a:solidFill>
              </a:rPr>
              <a:t>X</a:t>
            </a:r>
            <a:r>
              <a:rPr lang="en-US" altLang="en-US" sz="2400" i="1" baseline="-25000" smtClean="0"/>
              <a:t>m-</a:t>
            </a:r>
            <a:r>
              <a:rPr lang="en-US" altLang="en-US" sz="2400" baseline="-25000" smtClean="0"/>
              <a:t>1</a:t>
            </a:r>
            <a:r>
              <a:rPr lang="en-US" altLang="en-US" sz="2000" smtClean="0">
                <a:solidFill>
                  <a:schemeClr val="tx1"/>
                </a:solidFill>
              </a:rPr>
              <a:t> and </a:t>
            </a:r>
            <a:r>
              <a:rPr lang="en-US" altLang="en-US" sz="2000" i="1" smtClean="0">
                <a:solidFill>
                  <a:schemeClr val="tx1"/>
                </a:solidFill>
              </a:rPr>
              <a:t>Y</a:t>
            </a:r>
            <a:r>
              <a:rPr lang="en-US" altLang="en-US" sz="2400" i="1" baseline="-25000" smtClean="0"/>
              <a:t>n-</a:t>
            </a:r>
            <a:r>
              <a:rPr lang="en-US" altLang="en-US" sz="2400" baseline="-25000" smtClean="0"/>
              <a:t>1</a:t>
            </a:r>
            <a:r>
              <a:rPr lang="en-US" altLang="en-US" sz="2000" smtClean="0"/>
              <a:t>, </a:t>
            </a:r>
            <a:r>
              <a:rPr lang="en-US" altLang="en-US" sz="2000" smtClean="0">
                <a:solidFill>
                  <a:schemeClr val="tx1"/>
                </a:solidFill>
              </a:rPr>
              <a:t>and </a:t>
            </a:r>
          </a:p>
          <a:p>
            <a:pPr marL="457200" indent="-457200">
              <a:lnSpc>
                <a:spcPct val="90000"/>
              </a:lnSpc>
              <a:buFont typeface="Wingdings" panose="05000000000000000000" pitchFamily="2" charset="2"/>
              <a:buAutoNum type="arabicParenBoth"/>
            </a:pPr>
            <a:r>
              <a:rPr lang="en-US" altLang="en-US" sz="2000" smtClean="0">
                <a:solidFill>
                  <a:schemeClr val="tx1"/>
                </a:solidFill>
              </a:rPr>
              <a:t>there is no longer CS of </a:t>
            </a:r>
            <a:r>
              <a:rPr lang="en-US" altLang="en-US" sz="2000" i="1" smtClean="0">
                <a:solidFill>
                  <a:schemeClr val="tx1"/>
                </a:solidFill>
              </a:rPr>
              <a:t>X</a:t>
            </a:r>
            <a:r>
              <a:rPr lang="en-US" altLang="en-US" sz="2400" i="1" baseline="-25000" smtClean="0"/>
              <a:t>m-</a:t>
            </a:r>
            <a:r>
              <a:rPr lang="en-US" altLang="en-US" sz="2400" baseline="-25000" smtClean="0"/>
              <a:t>1</a:t>
            </a:r>
            <a:r>
              <a:rPr lang="en-US" altLang="en-US" sz="2000" smtClean="0">
                <a:solidFill>
                  <a:schemeClr val="tx1"/>
                </a:solidFill>
              </a:rPr>
              <a:t> and </a:t>
            </a:r>
            <a:r>
              <a:rPr lang="en-US" altLang="en-US" sz="2000" i="1" smtClean="0">
                <a:solidFill>
                  <a:schemeClr val="tx1"/>
                </a:solidFill>
              </a:rPr>
              <a:t>Y</a:t>
            </a:r>
            <a:r>
              <a:rPr lang="en-US" altLang="en-US" sz="2400" i="1" baseline="-25000" smtClean="0"/>
              <a:t>n-</a:t>
            </a:r>
            <a:r>
              <a:rPr lang="en-US" altLang="en-US" sz="2400" baseline="-25000" smtClean="0"/>
              <a:t>1</a:t>
            </a:r>
            <a:r>
              <a:rPr lang="en-US" altLang="en-US" sz="2000" smtClean="0"/>
              <a:t>, or </a:t>
            </a:r>
            <a:r>
              <a:rPr lang="en-US" altLang="en-US" sz="2000" i="1" smtClean="0"/>
              <a:t>Z</a:t>
            </a:r>
            <a:r>
              <a:rPr lang="en-US" altLang="en-US" sz="2000" smtClean="0"/>
              <a:t> would not be an LCS.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441325" y="3317875"/>
            <a:ext cx="8016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457200" y="1219200"/>
            <a:ext cx="8458200" cy="19304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 u="none">
                <a:solidFill>
                  <a:srgbClr val="CC3300"/>
                </a:solidFill>
              </a:rPr>
              <a:t>Theorem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u="none">
                <a:solidFill>
                  <a:schemeClr val="tx1"/>
                </a:solidFill>
              </a:rPr>
              <a:t>Let </a:t>
            </a:r>
            <a:r>
              <a:rPr lang="en-US" altLang="en-US" sz="2400" i="1" u="none">
                <a:solidFill>
                  <a:schemeClr val="tx1"/>
                </a:solidFill>
              </a:rPr>
              <a:t>Z </a:t>
            </a:r>
            <a:r>
              <a:rPr lang="en-US" altLang="en-US" sz="2400" u="none">
                <a:solidFill>
                  <a:schemeClr val="tx1"/>
                </a:solidFill>
              </a:rPr>
              <a:t>= </a:t>
            </a:r>
            <a:r>
              <a:rPr lang="en-US" altLang="en-US" sz="2400" u="none">
                <a:sym typeface="Symbol" panose="05050102010706020507" pitchFamily="18" charset="2"/>
              </a:rPr>
              <a:t></a:t>
            </a:r>
            <a:r>
              <a:rPr lang="en-US" altLang="en-US" sz="2400" i="1" u="none">
                <a:solidFill>
                  <a:schemeClr val="tx1"/>
                </a:solidFill>
              </a:rPr>
              <a:t>z</a:t>
            </a:r>
            <a:r>
              <a:rPr lang="en-US" altLang="en-US" sz="2800" u="none" baseline="-25000"/>
              <a:t>1</a:t>
            </a:r>
            <a:r>
              <a:rPr lang="en-US" altLang="en-US" sz="2400" i="1" u="none">
                <a:solidFill>
                  <a:schemeClr val="tx1"/>
                </a:solidFill>
              </a:rPr>
              <a:t>, . . . , z</a:t>
            </a:r>
            <a:r>
              <a:rPr lang="en-US" altLang="en-US" sz="2800" i="1" u="none" baseline="-25000"/>
              <a:t>k</a:t>
            </a:r>
            <a:r>
              <a:rPr lang="en-US" altLang="en-US" sz="2400" u="none">
                <a:sym typeface="Symbol" panose="05050102010706020507" pitchFamily="18" charset="2"/>
              </a:rPr>
              <a:t></a:t>
            </a:r>
            <a:r>
              <a:rPr lang="en-US" altLang="en-US" sz="2400" u="none">
                <a:solidFill>
                  <a:schemeClr val="tx1"/>
                </a:solidFill>
              </a:rPr>
              <a:t> be any LCS of </a:t>
            </a:r>
            <a:r>
              <a:rPr lang="en-US" altLang="en-US" sz="2400" i="1" u="none">
                <a:solidFill>
                  <a:schemeClr val="tx1"/>
                </a:solidFill>
              </a:rPr>
              <a:t>X </a:t>
            </a:r>
            <a:r>
              <a:rPr lang="en-US" altLang="en-US" sz="2400" u="none">
                <a:solidFill>
                  <a:schemeClr val="tx1"/>
                </a:solidFill>
              </a:rPr>
              <a:t>and </a:t>
            </a:r>
            <a:r>
              <a:rPr lang="en-US" altLang="en-US" sz="2400" i="1" u="none">
                <a:solidFill>
                  <a:schemeClr val="tx1"/>
                </a:solidFill>
              </a:rPr>
              <a:t>Y </a:t>
            </a:r>
            <a:r>
              <a:rPr lang="en-US" altLang="en-US" sz="2400" u="none">
                <a:solidFill>
                  <a:schemeClr val="tx1"/>
                </a:solidFill>
              </a:rPr>
              <a:t>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u="none">
                <a:solidFill>
                  <a:schemeClr val="tx1"/>
                </a:solidFill>
              </a:rPr>
              <a:t>1. If </a:t>
            </a:r>
            <a:r>
              <a:rPr lang="en-US" altLang="en-US" sz="2400" i="1" u="none">
                <a:solidFill>
                  <a:schemeClr val="tx1"/>
                </a:solidFill>
              </a:rPr>
              <a:t>x</a:t>
            </a:r>
            <a:r>
              <a:rPr lang="en-US" altLang="en-US" sz="2800" i="1" u="none" baseline="-25000"/>
              <a:t>m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</a:rPr>
              <a:t>= </a:t>
            </a:r>
            <a:r>
              <a:rPr lang="en-US" altLang="en-US" sz="2400" i="1" u="none">
                <a:solidFill>
                  <a:schemeClr val="tx1"/>
                </a:solidFill>
              </a:rPr>
              <a:t>y</a:t>
            </a:r>
            <a:r>
              <a:rPr lang="en-US" altLang="en-US" sz="2800" i="1" u="none" baseline="-25000"/>
              <a:t>n</a:t>
            </a:r>
            <a:r>
              <a:rPr lang="en-US" altLang="en-US" sz="2400" u="none">
                <a:solidFill>
                  <a:schemeClr val="tx1"/>
                </a:solidFill>
              </a:rPr>
              <a:t>, then </a:t>
            </a:r>
            <a:r>
              <a:rPr lang="en-US" altLang="en-US" sz="2400" i="1" u="none">
                <a:solidFill>
                  <a:schemeClr val="tx1"/>
                </a:solidFill>
              </a:rPr>
              <a:t>z</a:t>
            </a:r>
            <a:r>
              <a:rPr lang="en-US" altLang="en-US" sz="2800" i="1" u="none" baseline="-25000"/>
              <a:t>k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</a:rPr>
              <a:t>= </a:t>
            </a:r>
            <a:r>
              <a:rPr lang="en-US" altLang="en-US" sz="2400" i="1" u="none">
                <a:solidFill>
                  <a:schemeClr val="tx1"/>
                </a:solidFill>
              </a:rPr>
              <a:t>x</a:t>
            </a:r>
            <a:r>
              <a:rPr lang="en-US" altLang="en-US" sz="2800" i="1" u="none" baseline="-25000"/>
              <a:t>m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</a:rPr>
              <a:t>= </a:t>
            </a:r>
            <a:r>
              <a:rPr lang="en-US" altLang="en-US" sz="2400" i="1" u="none">
                <a:solidFill>
                  <a:schemeClr val="tx1"/>
                </a:solidFill>
              </a:rPr>
              <a:t>y</a:t>
            </a:r>
            <a:r>
              <a:rPr lang="en-US" altLang="en-US" sz="2800" i="1" u="none" baseline="-25000"/>
              <a:t>n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</a:rPr>
              <a:t>and </a:t>
            </a:r>
            <a:r>
              <a:rPr lang="en-US" altLang="en-US" sz="2400" i="1" u="none">
                <a:solidFill>
                  <a:schemeClr val="tx1"/>
                </a:solidFill>
              </a:rPr>
              <a:t>Z</a:t>
            </a:r>
            <a:r>
              <a:rPr lang="en-US" altLang="en-US" sz="2800" i="1" u="none" baseline="-25000"/>
              <a:t>k-</a:t>
            </a:r>
            <a:r>
              <a:rPr lang="en-US" altLang="en-US" sz="2800" u="none" baseline="-25000"/>
              <a:t>1</a:t>
            </a:r>
            <a:r>
              <a:rPr lang="en-US" altLang="en-US" sz="2400" u="none">
                <a:solidFill>
                  <a:schemeClr val="tx1"/>
                </a:solidFill>
              </a:rPr>
              <a:t> is an LCS of </a:t>
            </a:r>
            <a:r>
              <a:rPr lang="en-US" altLang="en-US" sz="2400" i="1" u="none">
                <a:solidFill>
                  <a:schemeClr val="tx1"/>
                </a:solidFill>
              </a:rPr>
              <a:t>X</a:t>
            </a:r>
            <a:r>
              <a:rPr lang="en-US" altLang="en-US" sz="2800" i="1" u="none" baseline="-25000"/>
              <a:t>m-</a:t>
            </a:r>
            <a:r>
              <a:rPr lang="en-US" altLang="en-US" sz="2800" u="none" baseline="-25000"/>
              <a:t>1</a:t>
            </a:r>
            <a:r>
              <a:rPr lang="en-US" altLang="en-US" sz="2400" u="none">
                <a:solidFill>
                  <a:schemeClr val="tx1"/>
                </a:solidFill>
              </a:rPr>
              <a:t> and </a:t>
            </a:r>
            <a:r>
              <a:rPr lang="en-US" altLang="en-US" sz="2400" i="1" u="none">
                <a:solidFill>
                  <a:schemeClr val="tx1"/>
                </a:solidFill>
              </a:rPr>
              <a:t>Y</a:t>
            </a:r>
            <a:r>
              <a:rPr lang="en-US" altLang="en-US" sz="2800" i="1" u="none" baseline="-25000"/>
              <a:t>n-</a:t>
            </a:r>
            <a:r>
              <a:rPr lang="en-US" altLang="en-US" sz="2800" u="none" baseline="-25000"/>
              <a:t>1</a:t>
            </a:r>
            <a:r>
              <a:rPr lang="en-US" altLang="en-US" sz="2400" u="none">
                <a:solidFill>
                  <a:schemeClr val="tx1"/>
                </a:solidFill>
              </a:rPr>
              <a:t>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u="none">
                <a:solidFill>
                  <a:schemeClr val="tx1"/>
                </a:solidFill>
              </a:rPr>
              <a:t>2. If </a:t>
            </a:r>
            <a:r>
              <a:rPr lang="en-US" altLang="en-US" sz="2400" i="1" u="none">
                <a:solidFill>
                  <a:schemeClr val="tx1"/>
                </a:solidFill>
              </a:rPr>
              <a:t>x</a:t>
            </a:r>
            <a:r>
              <a:rPr lang="en-US" altLang="en-US" sz="2800" i="1" u="none" baseline="-25000"/>
              <a:t>m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  <a:sym typeface="Symbol" panose="05050102010706020507" pitchFamily="18" charset="2"/>
              </a:rPr>
              <a:t></a:t>
            </a:r>
            <a:r>
              <a:rPr lang="en-US" altLang="en-US" sz="2400" u="none">
                <a:solidFill>
                  <a:schemeClr val="tx1"/>
                </a:solidFill>
              </a:rPr>
              <a:t> </a:t>
            </a:r>
            <a:r>
              <a:rPr lang="en-US" altLang="en-US" sz="2400" i="1" u="none">
                <a:solidFill>
                  <a:schemeClr val="tx1"/>
                </a:solidFill>
              </a:rPr>
              <a:t>y</a:t>
            </a:r>
            <a:r>
              <a:rPr lang="en-US" altLang="en-US" sz="2800" i="1" u="none" baseline="-25000"/>
              <a:t>n</a:t>
            </a:r>
            <a:r>
              <a:rPr lang="en-US" altLang="en-US" sz="2400" u="none">
                <a:solidFill>
                  <a:schemeClr val="tx1"/>
                </a:solidFill>
              </a:rPr>
              <a:t>, then either </a:t>
            </a:r>
            <a:r>
              <a:rPr lang="en-US" altLang="en-US" sz="2400" i="1" u="none">
                <a:solidFill>
                  <a:schemeClr val="tx1"/>
                </a:solidFill>
              </a:rPr>
              <a:t>z</a:t>
            </a:r>
            <a:r>
              <a:rPr lang="en-US" altLang="en-US" sz="2800" i="1" u="none" baseline="-25000"/>
              <a:t>k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  <a:sym typeface="Symbol" panose="05050102010706020507" pitchFamily="18" charset="2"/>
              </a:rPr>
              <a:t></a:t>
            </a:r>
            <a:r>
              <a:rPr lang="en-US" altLang="en-US" sz="2400" u="none">
                <a:solidFill>
                  <a:schemeClr val="tx1"/>
                </a:solidFill>
              </a:rPr>
              <a:t> </a:t>
            </a:r>
            <a:r>
              <a:rPr lang="en-US" altLang="en-US" sz="2400" i="1" u="none">
                <a:solidFill>
                  <a:schemeClr val="tx1"/>
                </a:solidFill>
              </a:rPr>
              <a:t>x</a:t>
            </a:r>
            <a:r>
              <a:rPr lang="en-US" altLang="en-US" sz="2800" i="1" u="none" baseline="-25000"/>
              <a:t>m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</a:rPr>
              <a:t>and </a:t>
            </a:r>
            <a:r>
              <a:rPr lang="en-US" altLang="en-US" sz="2400" i="1" u="none">
                <a:solidFill>
                  <a:schemeClr val="tx1"/>
                </a:solidFill>
              </a:rPr>
              <a:t>Z </a:t>
            </a:r>
            <a:r>
              <a:rPr lang="en-US" altLang="en-US" sz="2400" u="none">
                <a:solidFill>
                  <a:schemeClr val="tx1"/>
                </a:solidFill>
              </a:rPr>
              <a:t>is an LCS of </a:t>
            </a:r>
            <a:r>
              <a:rPr lang="en-US" altLang="en-US" sz="2400" i="1" u="none">
                <a:solidFill>
                  <a:schemeClr val="tx1"/>
                </a:solidFill>
              </a:rPr>
              <a:t>X</a:t>
            </a:r>
            <a:r>
              <a:rPr lang="en-US" altLang="en-US" sz="2800" i="1" u="none" baseline="-25000"/>
              <a:t>m-</a:t>
            </a:r>
            <a:r>
              <a:rPr lang="en-US" altLang="en-US" sz="2800" u="none" baseline="-25000"/>
              <a:t>1</a:t>
            </a:r>
            <a:r>
              <a:rPr lang="en-US" altLang="en-US" sz="2400" u="none">
                <a:solidFill>
                  <a:schemeClr val="tx1"/>
                </a:solidFill>
              </a:rPr>
              <a:t> and </a:t>
            </a:r>
            <a:r>
              <a:rPr lang="en-US" altLang="en-US" sz="2400" i="1" u="none">
                <a:solidFill>
                  <a:schemeClr val="tx1"/>
                </a:solidFill>
              </a:rPr>
              <a:t>Y </a:t>
            </a:r>
            <a:r>
              <a:rPr lang="en-US" altLang="en-US" sz="2400" u="none">
                <a:solidFill>
                  <a:schemeClr val="tx1"/>
                </a:solidFill>
              </a:rPr>
              <a:t>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u="none">
                <a:solidFill>
                  <a:schemeClr val="tx1"/>
                </a:solidFill>
              </a:rPr>
              <a:t>3.                               or  </a:t>
            </a:r>
            <a:r>
              <a:rPr lang="en-US" altLang="en-US" sz="2400" i="1" u="none">
                <a:solidFill>
                  <a:schemeClr val="tx1"/>
                </a:solidFill>
              </a:rPr>
              <a:t>z</a:t>
            </a:r>
            <a:r>
              <a:rPr lang="en-US" altLang="en-US" sz="2800" i="1" u="none" baseline="-25000"/>
              <a:t>k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  <a:sym typeface="Symbol" panose="05050102010706020507" pitchFamily="18" charset="2"/>
              </a:rPr>
              <a:t></a:t>
            </a:r>
            <a:r>
              <a:rPr lang="en-US" altLang="en-US" sz="2400" u="none">
                <a:solidFill>
                  <a:schemeClr val="tx1"/>
                </a:solidFill>
              </a:rPr>
              <a:t> </a:t>
            </a:r>
            <a:r>
              <a:rPr lang="en-US" altLang="en-US" sz="2400" i="1" u="none">
                <a:solidFill>
                  <a:schemeClr val="tx1"/>
                </a:solidFill>
              </a:rPr>
              <a:t>y</a:t>
            </a:r>
            <a:r>
              <a:rPr lang="en-US" altLang="en-US" sz="2800" i="1" u="none" baseline="-25000"/>
              <a:t>n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</a:rPr>
              <a:t>and</a:t>
            </a:r>
            <a:r>
              <a:rPr lang="en-US" altLang="en-US" sz="2400">
                <a:solidFill>
                  <a:schemeClr val="tx1"/>
                </a:solidFill>
              </a:rPr>
              <a:t> </a:t>
            </a:r>
            <a:r>
              <a:rPr lang="en-US" altLang="en-US" sz="2400" i="1" u="none">
                <a:solidFill>
                  <a:schemeClr val="tx1"/>
                </a:solidFill>
              </a:rPr>
              <a:t>Z </a:t>
            </a:r>
            <a:r>
              <a:rPr lang="en-US" altLang="en-US" sz="2400" u="none">
                <a:solidFill>
                  <a:schemeClr val="tx1"/>
                </a:solidFill>
              </a:rPr>
              <a:t>is an LCS of </a:t>
            </a:r>
            <a:r>
              <a:rPr lang="en-US" altLang="en-US" sz="2400" i="1" u="none">
                <a:solidFill>
                  <a:schemeClr val="tx1"/>
                </a:solidFill>
              </a:rPr>
              <a:t>X </a:t>
            </a:r>
            <a:r>
              <a:rPr lang="en-US" altLang="en-US" sz="2400" u="none">
                <a:solidFill>
                  <a:schemeClr val="tx1"/>
                </a:solidFill>
              </a:rPr>
              <a:t>and </a:t>
            </a:r>
            <a:r>
              <a:rPr lang="en-US" altLang="en-US" sz="2400" i="1" u="none">
                <a:solidFill>
                  <a:schemeClr val="tx1"/>
                </a:solidFill>
              </a:rPr>
              <a:t>Y</a:t>
            </a:r>
            <a:r>
              <a:rPr lang="en-US" altLang="en-US" sz="2800" i="1" u="none" baseline="-25000"/>
              <a:t>n-</a:t>
            </a:r>
            <a:r>
              <a:rPr lang="en-US" altLang="en-US" sz="2800" u="none" baseline="-25000"/>
              <a:t>1</a:t>
            </a:r>
            <a:r>
              <a:rPr lang="en-US" altLang="en-US" sz="2400" u="none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Optimal Substructure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3657600"/>
            <a:ext cx="8839200" cy="19812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z="2400" b="1" smtClean="0">
                <a:solidFill>
                  <a:srgbClr val="CC3300"/>
                </a:solidFill>
              </a:rPr>
              <a:t>Proof: </a:t>
            </a:r>
            <a:r>
              <a:rPr lang="en-US" altLang="en-US" sz="2400" smtClean="0">
                <a:solidFill>
                  <a:schemeClr val="tx1"/>
                </a:solidFill>
              </a:rPr>
              <a:t>(case 2: </a:t>
            </a:r>
            <a:r>
              <a:rPr lang="en-US" altLang="en-US" sz="2400" i="1" smtClean="0">
                <a:solidFill>
                  <a:schemeClr val="tx1"/>
                </a:solidFill>
              </a:rPr>
              <a:t>x</a:t>
            </a:r>
            <a:r>
              <a:rPr lang="en-US" altLang="en-US" sz="2400" i="1" baseline="-25000" smtClean="0"/>
              <a:t>m</a:t>
            </a:r>
            <a:r>
              <a:rPr lang="en-US" altLang="en-US" sz="2400" i="1" smtClean="0">
                <a:solidFill>
                  <a:schemeClr val="tx1"/>
                </a:solidFill>
              </a:rPr>
              <a:t> </a:t>
            </a:r>
            <a:r>
              <a:rPr lang="en-US" altLang="en-US" sz="2400" smtClean="0">
                <a:solidFill>
                  <a:schemeClr val="tx1"/>
                </a:solidFill>
                <a:sym typeface="Symbol" panose="05050102010706020507" pitchFamily="18" charset="2"/>
              </a:rPr>
              <a:t></a:t>
            </a:r>
            <a:r>
              <a:rPr lang="en-US" altLang="en-US" sz="2400" smtClean="0">
                <a:solidFill>
                  <a:schemeClr val="tx1"/>
                </a:solidFill>
              </a:rPr>
              <a:t> </a:t>
            </a:r>
            <a:r>
              <a:rPr lang="en-US" altLang="en-US" sz="2400" i="1" smtClean="0">
                <a:solidFill>
                  <a:schemeClr val="tx1"/>
                </a:solidFill>
              </a:rPr>
              <a:t>y</a:t>
            </a:r>
            <a:r>
              <a:rPr lang="en-US" altLang="en-US" sz="2400" i="1" baseline="-25000" smtClean="0"/>
              <a:t>n</a:t>
            </a:r>
            <a:r>
              <a:rPr lang="en-US" altLang="en-US" sz="2400" smtClean="0"/>
              <a:t>, and</a:t>
            </a:r>
            <a:r>
              <a:rPr lang="en-US" altLang="en-US" sz="2400" i="1" baseline="-25000" smtClean="0"/>
              <a:t> </a:t>
            </a:r>
            <a:r>
              <a:rPr lang="en-US" altLang="en-US" sz="2400" i="1" smtClean="0">
                <a:solidFill>
                  <a:schemeClr val="tx1"/>
                </a:solidFill>
              </a:rPr>
              <a:t>z</a:t>
            </a:r>
            <a:r>
              <a:rPr lang="en-US" altLang="en-US" sz="2400" i="1" baseline="-25000" smtClean="0"/>
              <a:t>k</a:t>
            </a:r>
            <a:r>
              <a:rPr lang="en-US" altLang="en-US" sz="2400" i="1" smtClean="0">
                <a:solidFill>
                  <a:schemeClr val="tx1"/>
                </a:solidFill>
              </a:rPr>
              <a:t> </a:t>
            </a:r>
            <a:r>
              <a:rPr lang="en-US" altLang="en-US" sz="2400" smtClean="0">
                <a:solidFill>
                  <a:schemeClr val="tx1"/>
                </a:solidFill>
                <a:sym typeface="Symbol" panose="05050102010706020507" pitchFamily="18" charset="2"/>
              </a:rPr>
              <a:t></a:t>
            </a:r>
            <a:r>
              <a:rPr lang="en-US" altLang="en-US" sz="2400" smtClean="0">
                <a:solidFill>
                  <a:schemeClr val="tx1"/>
                </a:solidFill>
              </a:rPr>
              <a:t> </a:t>
            </a:r>
            <a:r>
              <a:rPr lang="en-US" altLang="en-US" sz="2400" i="1" smtClean="0">
                <a:solidFill>
                  <a:schemeClr val="tx1"/>
                </a:solidFill>
              </a:rPr>
              <a:t>x</a:t>
            </a:r>
            <a:r>
              <a:rPr lang="en-US" altLang="en-US" sz="2400" i="1" baseline="-25000" smtClean="0"/>
              <a:t>m</a:t>
            </a:r>
            <a:r>
              <a:rPr lang="en-US" altLang="en-US" sz="2400" smtClean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en-US" sz="2400" smtClean="0">
                <a:solidFill>
                  <a:schemeClr val="tx1"/>
                </a:solidFill>
              </a:rPr>
              <a:t>Since </a:t>
            </a:r>
            <a:r>
              <a:rPr lang="en-US" altLang="en-US" sz="2400" i="1" smtClean="0">
                <a:solidFill>
                  <a:schemeClr val="tx1"/>
                </a:solidFill>
              </a:rPr>
              <a:t>Z </a:t>
            </a:r>
            <a:r>
              <a:rPr lang="en-US" altLang="en-US" sz="2400" smtClean="0">
                <a:solidFill>
                  <a:schemeClr val="tx1"/>
                </a:solidFill>
              </a:rPr>
              <a:t>does not end in </a:t>
            </a:r>
            <a:r>
              <a:rPr lang="en-US" altLang="en-US" sz="2400" i="1" smtClean="0">
                <a:solidFill>
                  <a:schemeClr val="tx1"/>
                </a:solidFill>
              </a:rPr>
              <a:t>x</a:t>
            </a:r>
            <a:r>
              <a:rPr lang="en-US" altLang="en-US" sz="2800" i="1" baseline="-25000" smtClean="0"/>
              <a:t>m</a:t>
            </a:r>
            <a:r>
              <a:rPr lang="en-US" altLang="en-US" sz="2400" smtClean="0">
                <a:solidFill>
                  <a:schemeClr val="tx1"/>
                </a:solidFill>
              </a:rPr>
              <a:t>, </a:t>
            </a:r>
          </a:p>
          <a:p>
            <a:pPr marL="457200" indent="-457200">
              <a:buFont typeface="Wingdings" panose="05000000000000000000" pitchFamily="2" charset="2"/>
              <a:buAutoNum type="arabicParenBoth"/>
            </a:pPr>
            <a:r>
              <a:rPr lang="en-US" altLang="en-US" sz="2400" smtClean="0">
                <a:solidFill>
                  <a:schemeClr val="tx1"/>
                </a:solidFill>
              </a:rPr>
              <a:t> </a:t>
            </a:r>
            <a:r>
              <a:rPr lang="en-US" altLang="en-US" sz="2400" i="1" smtClean="0">
                <a:solidFill>
                  <a:schemeClr val="tx1"/>
                </a:solidFill>
              </a:rPr>
              <a:t>Z</a:t>
            </a:r>
            <a:r>
              <a:rPr lang="en-US" altLang="en-US" sz="2400" smtClean="0">
                <a:solidFill>
                  <a:schemeClr val="tx1"/>
                </a:solidFill>
              </a:rPr>
              <a:t> is a common subsequence of </a:t>
            </a:r>
            <a:r>
              <a:rPr lang="en-US" altLang="en-US" sz="2400" i="1" smtClean="0">
                <a:solidFill>
                  <a:schemeClr val="tx1"/>
                </a:solidFill>
              </a:rPr>
              <a:t>X</a:t>
            </a:r>
            <a:r>
              <a:rPr lang="en-US" altLang="en-US" sz="2800" i="1" baseline="-25000" smtClean="0"/>
              <a:t>m-</a:t>
            </a:r>
            <a:r>
              <a:rPr lang="en-US" altLang="en-US" sz="2800" baseline="-25000" smtClean="0"/>
              <a:t>1</a:t>
            </a:r>
            <a:r>
              <a:rPr lang="en-US" altLang="en-US" sz="2400" smtClean="0">
                <a:solidFill>
                  <a:schemeClr val="tx1"/>
                </a:solidFill>
              </a:rPr>
              <a:t> and </a:t>
            </a:r>
            <a:r>
              <a:rPr lang="en-US" altLang="en-US" sz="2400" i="1" smtClean="0">
                <a:solidFill>
                  <a:schemeClr val="tx1"/>
                </a:solidFill>
              </a:rPr>
              <a:t>Y</a:t>
            </a:r>
            <a:r>
              <a:rPr lang="en-US" altLang="en-US" sz="2400" smtClean="0"/>
              <a:t>, </a:t>
            </a:r>
            <a:r>
              <a:rPr lang="en-US" altLang="en-US" sz="2400" smtClean="0">
                <a:solidFill>
                  <a:schemeClr val="tx1"/>
                </a:solidFill>
              </a:rPr>
              <a:t>and </a:t>
            </a:r>
          </a:p>
          <a:p>
            <a:pPr marL="457200" indent="-457200">
              <a:buFont typeface="Wingdings" panose="05000000000000000000" pitchFamily="2" charset="2"/>
              <a:buAutoNum type="arabicParenBoth"/>
            </a:pPr>
            <a:r>
              <a:rPr lang="en-US" altLang="en-US" sz="2400" smtClean="0">
                <a:solidFill>
                  <a:schemeClr val="tx1"/>
                </a:solidFill>
              </a:rPr>
              <a:t>there is no longer CS of </a:t>
            </a:r>
            <a:r>
              <a:rPr lang="en-US" altLang="en-US" sz="2400" i="1" smtClean="0">
                <a:solidFill>
                  <a:schemeClr val="tx1"/>
                </a:solidFill>
              </a:rPr>
              <a:t>X</a:t>
            </a:r>
            <a:r>
              <a:rPr lang="en-US" altLang="en-US" sz="2800" i="1" baseline="-25000" smtClean="0"/>
              <a:t>m-</a:t>
            </a:r>
            <a:r>
              <a:rPr lang="en-US" altLang="en-US" sz="2800" baseline="-25000" smtClean="0"/>
              <a:t>1</a:t>
            </a:r>
            <a:r>
              <a:rPr lang="en-US" altLang="en-US" sz="2400" smtClean="0">
                <a:solidFill>
                  <a:schemeClr val="tx1"/>
                </a:solidFill>
              </a:rPr>
              <a:t> and </a:t>
            </a:r>
            <a:r>
              <a:rPr lang="en-US" altLang="en-US" sz="2400" i="1" smtClean="0">
                <a:solidFill>
                  <a:schemeClr val="tx1"/>
                </a:solidFill>
              </a:rPr>
              <a:t>Y</a:t>
            </a:r>
            <a:r>
              <a:rPr lang="en-US" altLang="en-US" sz="2400" smtClean="0"/>
              <a:t>, or </a:t>
            </a:r>
            <a:r>
              <a:rPr lang="en-US" altLang="en-US" sz="2400" i="1" smtClean="0"/>
              <a:t>Z</a:t>
            </a:r>
            <a:r>
              <a:rPr lang="en-US" altLang="en-US" sz="2400" smtClean="0"/>
              <a:t> would not be an LCS.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441325" y="3317875"/>
            <a:ext cx="8016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457200" y="1219200"/>
            <a:ext cx="8458200" cy="19304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 u="none">
                <a:solidFill>
                  <a:srgbClr val="CC3300"/>
                </a:solidFill>
              </a:rPr>
              <a:t>Theorem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u="none">
                <a:solidFill>
                  <a:schemeClr val="tx1"/>
                </a:solidFill>
              </a:rPr>
              <a:t>Let </a:t>
            </a:r>
            <a:r>
              <a:rPr lang="en-US" altLang="en-US" sz="2400" i="1" u="none">
                <a:solidFill>
                  <a:schemeClr val="tx1"/>
                </a:solidFill>
              </a:rPr>
              <a:t>Z </a:t>
            </a:r>
            <a:r>
              <a:rPr lang="en-US" altLang="en-US" sz="2400" u="none">
                <a:solidFill>
                  <a:schemeClr val="tx1"/>
                </a:solidFill>
              </a:rPr>
              <a:t>= </a:t>
            </a:r>
            <a:r>
              <a:rPr lang="en-US" altLang="en-US" sz="2400" u="none">
                <a:sym typeface="Symbol" panose="05050102010706020507" pitchFamily="18" charset="2"/>
              </a:rPr>
              <a:t></a:t>
            </a:r>
            <a:r>
              <a:rPr lang="en-US" altLang="en-US" sz="2400" i="1" u="none">
                <a:solidFill>
                  <a:schemeClr val="tx1"/>
                </a:solidFill>
              </a:rPr>
              <a:t>z</a:t>
            </a:r>
            <a:r>
              <a:rPr lang="en-US" altLang="en-US" sz="2800" u="none" baseline="-25000"/>
              <a:t>1</a:t>
            </a:r>
            <a:r>
              <a:rPr lang="en-US" altLang="en-US" sz="2400" i="1" u="none">
                <a:solidFill>
                  <a:schemeClr val="tx1"/>
                </a:solidFill>
              </a:rPr>
              <a:t>, . . . , z</a:t>
            </a:r>
            <a:r>
              <a:rPr lang="en-US" altLang="en-US" sz="2800" i="1" u="none" baseline="-25000"/>
              <a:t>k</a:t>
            </a:r>
            <a:r>
              <a:rPr lang="en-US" altLang="en-US" sz="2400" u="none">
                <a:sym typeface="Symbol" panose="05050102010706020507" pitchFamily="18" charset="2"/>
              </a:rPr>
              <a:t></a:t>
            </a:r>
            <a:r>
              <a:rPr lang="en-US" altLang="en-US" sz="2400" u="none">
                <a:solidFill>
                  <a:schemeClr val="tx1"/>
                </a:solidFill>
              </a:rPr>
              <a:t> be any LCS of </a:t>
            </a:r>
            <a:r>
              <a:rPr lang="en-US" altLang="en-US" sz="2400" i="1" u="none">
                <a:solidFill>
                  <a:schemeClr val="tx1"/>
                </a:solidFill>
              </a:rPr>
              <a:t>X </a:t>
            </a:r>
            <a:r>
              <a:rPr lang="en-US" altLang="en-US" sz="2400" u="none">
                <a:solidFill>
                  <a:schemeClr val="tx1"/>
                </a:solidFill>
              </a:rPr>
              <a:t>and </a:t>
            </a:r>
            <a:r>
              <a:rPr lang="en-US" altLang="en-US" sz="2400" i="1" u="none">
                <a:solidFill>
                  <a:schemeClr val="tx1"/>
                </a:solidFill>
              </a:rPr>
              <a:t>Y </a:t>
            </a:r>
            <a:r>
              <a:rPr lang="en-US" altLang="en-US" sz="2400" u="none">
                <a:solidFill>
                  <a:schemeClr val="tx1"/>
                </a:solidFill>
              </a:rPr>
              <a:t>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u="none">
                <a:solidFill>
                  <a:schemeClr val="tx1"/>
                </a:solidFill>
              </a:rPr>
              <a:t>1. If </a:t>
            </a:r>
            <a:r>
              <a:rPr lang="en-US" altLang="en-US" sz="2400" i="1" u="none">
                <a:solidFill>
                  <a:schemeClr val="tx1"/>
                </a:solidFill>
              </a:rPr>
              <a:t>x</a:t>
            </a:r>
            <a:r>
              <a:rPr lang="en-US" altLang="en-US" sz="2800" i="1" u="none" baseline="-25000"/>
              <a:t>m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</a:rPr>
              <a:t>= </a:t>
            </a:r>
            <a:r>
              <a:rPr lang="en-US" altLang="en-US" sz="2400" i="1" u="none">
                <a:solidFill>
                  <a:schemeClr val="tx1"/>
                </a:solidFill>
              </a:rPr>
              <a:t>y</a:t>
            </a:r>
            <a:r>
              <a:rPr lang="en-US" altLang="en-US" sz="2800" i="1" u="none" baseline="-25000"/>
              <a:t>n</a:t>
            </a:r>
            <a:r>
              <a:rPr lang="en-US" altLang="en-US" sz="2400" u="none">
                <a:solidFill>
                  <a:schemeClr val="tx1"/>
                </a:solidFill>
              </a:rPr>
              <a:t>, then </a:t>
            </a:r>
            <a:r>
              <a:rPr lang="en-US" altLang="en-US" sz="2400" i="1" u="none">
                <a:solidFill>
                  <a:schemeClr val="tx1"/>
                </a:solidFill>
              </a:rPr>
              <a:t>z</a:t>
            </a:r>
            <a:r>
              <a:rPr lang="en-US" altLang="en-US" sz="2800" i="1" u="none" baseline="-25000"/>
              <a:t>k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</a:rPr>
              <a:t>= </a:t>
            </a:r>
            <a:r>
              <a:rPr lang="en-US" altLang="en-US" sz="2400" i="1" u="none">
                <a:solidFill>
                  <a:schemeClr val="tx1"/>
                </a:solidFill>
              </a:rPr>
              <a:t>x</a:t>
            </a:r>
            <a:r>
              <a:rPr lang="en-US" altLang="en-US" sz="2800" i="1" u="none" baseline="-25000"/>
              <a:t>m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</a:rPr>
              <a:t>= </a:t>
            </a:r>
            <a:r>
              <a:rPr lang="en-US" altLang="en-US" sz="2400" i="1" u="none">
                <a:solidFill>
                  <a:schemeClr val="tx1"/>
                </a:solidFill>
              </a:rPr>
              <a:t>y</a:t>
            </a:r>
            <a:r>
              <a:rPr lang="en-US" altLang="en-US" sz="2800" i="1" u="none" baseline="-25000"/>
              <a:t>n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</a:rPr>
              <a:t>and </a:t>
            </a:r>
            <a:r>
              <a:rPr lang="en-US" altLang="en-US" sz="2400" i="1" u="none">
                <a:solidFill>
                  <a:schemeClr val="tx1"/>
                </a:solidFill>
              </a:rPr>
              <a:t>Z</a:t>
            </a:r>
            <a:r>
              <a:rPr lang="en-US" altLang="en-US" sz="2800" i="1" u="none" baseline="-25000"/>
              <a:t>k-</a:t>
            </a:r>
            <a:r>
              <a:rPr lang="en-US" altLang="en-US" sz="2800" u="none" baseline="-25000"/>
              <a:t>1</a:t>
            </a:r>
            <a:r>
              <a:rPr lang="en-US" altLang="en-US" sz="2400" u="none">
                <a:solidFill>
                  <a:schemeClr val="tx1"/>
                </a:solidFill>
              </a:rPr>
              <a:t> is an LCS of </a:t>
            </a:r>
            <a:r>
              <a:rPr lang="en-US" altLang="en-US" sz="2400" i="1" u="none">
                <a:solidFill>
                  <a:schemeClr val="tx1"/>
                </a:solidFill>
              </a:rPr>
              <a:t>X</a:t>
            </a:r>
            <a:r>
              <a:rPr lang="en-US" altLang="en-US" sz="2800" i="1" u="none" baseline="-25000"/>
              <a:t>m-</a:t>
            </a:r>
            <a:r>
              <a:rPr lang="en-US" altLang="en-US" sz="2800" u="none" baseline="-25000"/>
              <a:t>1</a:t>
            </a:r>
            <a:r>
              <a:rPr lang="en-US" altLang="en-US" sz="2400" u="none">
                <a:solidFill>
                  <a:schemeClr val="tx1"/>
                </a:solidFill>
              </a:rPr>
              <a:t> and </a:t>
            </a:r>
            <a:r>
              <a:rPr lang="en-US" altLang="en-US" sz="2400" i="1" u="none">
                <a:solidFill>
                  <a:schemeClr val="tx1"/>
                </a:solidFill>
              </a:rPr>
              <a:t>Y</a:t>
            </a:r>
            <a:r>
              <a:rPr lang="en-US" altLang="en-US" sz="2800" i="1" u="none" baseline="-25000"/>
              <a:t>n-</a:t>
            </a:r>
            <a:r>
              <a:rPr lang="en-US" altLang="en-US" sz="2800" u="none" baseline="-25000"/>
              <a:t>1</a:t>
            </a:r>
            <a:r>
              <a:rPr lang="en-US" altLang="en-US" sz="2400" u="none">
                <a:solidFill>
                  <a:schemeClr val="tx1"/>
                </a:solidFill>
              </a:rPr>
              <a:t>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u="none">
                <a:solidFill>
                  <a:schemeClr val="tx1"/>
                </a:solidFill>
              </a:rPr>
              <a:t>2. If </a:t>
            </a:r>
            <a:r>
              <a:rPr lang="en-US" altLang="en-US" sz="2400" i="1" u="none">
                <a:solidFill>
                  <a:schemeClr val="tx1"/>
                </a:solidFill>
              </a:rPr>
              <a:t>x</a:t>
            </a:r>
            <a:r>
              <a:rPr lang="en-US" altLang="en-US" sz="2800" i="1" u="none" baseline="-25000"/>
              <a:t>m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  <a:sym typeface="Symbol" panose="05050102010706020507" pitchFamily="18" charset="2"/>
              </a:rPr>
              <a:t></a:t>
            </a:r>
            <a:r>
              <a:rPr lang="en-US" altLang="en-US" sz="2400" u="none">
                <a:solidFill>
                  <a:schemeClr val="tx1"/>
                </a:solidFill>
              </a:rPr>
              <a:t> </a:t>
            </a:r>
            <a:r>
              <a:rPr lang="en-US" altLang="en-US" sz="2400" i="1" u="none">
                <a:solidFill>
                  <a:schemeClr val="tx1"/>
                </a:solidFill>
              </a:rPr>
              <a:t>y</a:t>
            </a:r>
            <a:r>
              <a:rPr lang="en-US" altLang="en-US" sz="2800" i="1" u="none" baseline="-25000"/>
              <a:t>n</a:t>
            </a:r>
            <a:r>
              <a:rPr lang="en-US" altLang="en-US" sz="2400" u="none">
                <a:solidFill>
                  <a:schemeClr val="tx1"/>
                </a:solidFill>
              </a:rPr>
              <a:t>, then either </a:t>
            </a:r>
            <a:r>
              <a:rPr lang="en-US" altLang="en-US" sz="2400" i="1" u="none">
                <a:solidFill>
                  <a:schemeClr val="tx1"/>
                </a:solidFill>
              </a:rPr>
              <a:t>z</a:t>
            </a:r>
            <a:r>
              <a:rPr lang="en-US" altLang="en-US" sz="2800" i="1" u="none" baseline="-25000"/>
              <a:t>k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  <a:sym typeface="Symbol" panose="05050102010706020507" pitchFamily="18" charset="2"/>
              </a:rPr>
              <a:t></a:t>
            </a:r>
            <a:r>
              <a:rPr lang="en-US" altLang="en-US" sz="2400" u="none">
                <a:solidFill>
                  <a:schemeClr val="tx1"/>
                </a:solidFill>
              </a:rPr>
              <a:t> </a:t>
            </a:r>
            <a:r>
              <a:rPr lang="en-US" altLang="en-US" sz="2400" i="1" u="none">
                <a:solidFill>
                  <a:schemeClr val="tx1"/>
                </a:solidFill>
              </a:rPr>
              <a:t>x</a:t>
            </a:r>
            <a:r>
              <a:rPr lang="en-US" altLang="en-US" sz="2800" i="1" u="none" baseline="-25000"/>
              <a:t>m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</a:rPr>
              <a:t>and </a:t>
            </a:r>
            <a:r>
              <a:rPr lang="en-US" altLang="en-US" sz="2400" i="1" u="none">
                <a:solidFill>
                  <a:schemeClr val="tx1"/>
                </a:solidFill>
              </a:rPr>
              <a:t>Z </a:t>
            </a:r>
            <a:r>
              <a:rPr lang="en-US" altLang="en-US" sz="2400" u="none">
                <a:solidFill>
                  <a:schemeClr val="tx1"/>
                </a:solidFill>
              </a:rPr>
              <a:t>is an LCS of </a:t>
            </a:r>
            <a:r>
              <a:rPr lang="en-US" altLang="en-US" sz="2400" i="1" u="none">
                <a:solidFill>
                  <a:schemeClr val="tx1"/>
                </a:solidFill>
              </a:rPr>
              <a:t>X</a:t>
            </a:r>
            <a:r>
              <a:rPr lang="en-US" altLang="en-US" sz="2800" i="1" u="none" baseline="-25000"/>
              <a:t>m-</a:t>
            </a:r>
            <a:r>
              <a:rPr lang="en-US" altLang="en-US" sz="2800" u="none" baseline="-25000"/>
              <a:t>1</a:t>
            </a:r>
            <a:r>
              <a:rPr lang="en-US" altLang="en-US" sz="2400" u="none">
                <a:solidFill>
                  <a:schemeClr val="tx1"/>
                </a:solidFill>
              </a:rPr>
              <a:t> and </a:t>
            </a:r>
            <a:r>
              <a:rPr lang="en-US" altLang="en-US" sz="2400" i="1" u="none">
                <a:solidFill>
                  <a:schemeClr val="tx1"/>
                </a:solidFill>
              </a:rPr>
              <a:t>Y </a:t>
            </a:r>
            <a:r>
              <a:rPr lang="en-US" altLang="en-US" sz="2400" u="none">
                <a:solidFill>
                  <a:schemeClr val="tx1"/>
                </a:solidFill>
              </a:rPr>
              <a:t>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u="none">
                <a:solidFill>
                  <a:schemeClr val="tx1"/>
                </a:solidFill>
              </a:rPr>
              <a:t>3.                               or  </a:t>
            </a:r>
            <a:r>
              <a:rPr lang="en-US" altLang="en-US" sz="2400" i="1" u="none">
                <a:solidFill>
                  <a:schemeClr val="tx1"/>
                </a:solidFill>
              </a:rPr>
              <a:t>z</a:t>
            </a:r>
            <a:r>
              <a:rPr lang="en-US" altLang="en-US" sz="2800" i="1" u="none" baseline="-25000"/>
              <a:t>k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  <a:sym typeface="Symbol" panose="05050102010706020507" pitchFamily="18" charset="2"/>
              </a:rPr>
              <a:t></a:t>
            </a:r>
            <a:r>
              <a:rPr lang="en-US" altLang="en-US" sz="2400" u="none">
                <a:solidFill>
                  <a:schemeClr val="tx1"/>
                </a:solidFill>
              </a:rPr>
              <a:t> </a:t>
            </a:r>
            <a:r>
              <a:rPr lang="en-US" altLang="en-US" sz="2400" i="1" u="none">
                <a:solidFill>
                  <a:schemeClr val="tx1"/>
                </a:solidFill>
              </a:rPr>
              <a:t>y</a:t>
            </a:r>
            <a:r>
              <a:rPr lang="en-US" altLang="en-US" sz="2800" i="1" u="none" baseline="-25000"/>
              <a:t>n</a:t>
            </a:r>
            <a:r>
              <a:rPr lang="en-US" altLang="en-US" sz="2400" i="1" u="none">
                <a:solidFill>
                  <a:schemeClr val="tx1"/>
                </a:solidFill>
              </a:rPr>
              <a:t> </a:t>
            </a:r>
            <a:r>
              <a:rPr lang="en-US" altLang="en-US" sz="2400" u="none">
                <a:solidFill>
                  <a:schemeClr val="tx1"/>
                </a:solidFill>
              </a:rPr>
              <a:t>and</a:t>
            </a:r>
            <a:r>
              <a:rPr lang="en-US" altLang="en-US" sz="2400">
                <a:solidFill>
                  <a:schemeClr val="tx1"/>
                </a:solidFill>
              </a:rPr>
              <a:t> </a:t>
            </a:r>
            <a:r>
              <a:rPr lang="en-US" altLang="en-US" sz="2400" i="1" u="none">
                <a:solidFill>
                  <a:schemeClr val="tx1"/>
                </a:solidFill>
              </a:rPr>
              <a:t>Z </a:t>
            </a:r>
            <a:r>
              <a:rPr lang="en-US" altLang="en-US" sz="2400" u="none">
                <a:solidFill>
                  <a:schemeClr val="tx1"/>
                </a:solidFill>
              </a:rPr>
              <a:t>is an LCS of </a:t>
            </a:r>
            <a:r>
              <a:rPr lang="en-US" altLang="en-US" sz="2400" i="1" u="none">
                <a:solidFill>
                  <a:schemeClr val="tx1"/>
                </a:solidFill>
              </a:rPr>
              <a:t>X </a:t>
            </a:r>
            <a:r>
              <a:rPr lang="en-US" altLang="en-US" sz="2400" u="none">
                <a:solidFill>
                  <a:schemeClr val="tx1"/>
                </a:solidFill>
              </a:rPr>
              <a:t>and </a:t>
            </a:r>
            <a:r>
              <a:rPr lang="en-US" altLang="en-US" sz="2400" i="1" u="none">
                <a:solidFill>
                  <a:schemeClr val="tx1"/>
                </a:solidFill>
              </a:rPr>
              <a:t>Y</a:t>
            </a:r>
            <a:r>
              <a:rPr lang="en-US" altLang="en-US" sz="2800" i="1" u="none" baseline="-25000"/>
              <a:t>n-</a:t>
            </a:r>
            <a:r>
              <a:rPr lang="en-US" altLang="en-US" sz="2800" u="none" baseline="-25000"/>
              <a:t>1</a:t>
            </a:r>
            <a:r>
              <a:rPr lang="en-US" altLang="en-US" sz="2400" u="none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Recursive Solution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990600"/>
            <a:ext cx="8991600" cy="1524000"/>
          </a:xfrm>
        </p:spPr>
        <p:txBody>
          <a:bodyPr/>
          <a:lstStyle/>
          <a:p>
            <a:r>
              <a:rPr lang="en-US" altLang="en-US" sz="2800" smtClean="0"/>
              <a:t>Define </a:t>
            </a:r>
            <a:r>
              <a:rPr lang="en-US" altLang="en-US" sz="2800" i="1" smtClean="0">
                <a:solidFill>
                  <a:srgbClr val="CC3300"/>
                </a:solidFill>
              </a:rPr>
              <a:t>c</a:t>
            </a:r>
            <a:r>
              <a:rPr lang="en-US" altLang="en-US" sz="2800" smtClean="0">
                <a:solidFill>
                  <a:srgbClr val="CC3300"/>
                </a:solidFill>
              </a:rPr>
              <a:t>[</a:t>
            </a:r>
            <a:r>
              <a:rPr lang="en-US" altLang="en-US" sz="2800" i="1" smtClean="0">
                <a:solidFill>
                  <a:srgbClr val="CC3300"/>
                </a:solidFill>
              </a:rPr>
              <a:t>i, j</a:t>
            </a:r>
            <a:r>
              <a:rPr lang="en-US" altLang="en-US" sz="2800" smtClean="0">
                <a:solidFill>
                  <a:srgbClr val="CC3300"/>
                </a:solidFill>
              </a:rPr>
              <a:t>] = length of LCS of </a:t>
            </a:r>
            <a:r>
              <a:rPr lang="en-US" altLang="en-US" sz="2800" i="1" smtClean="0">
                <a:solidFill>
                  <a:srgbClr val="CC3300"/>
                </a:solidFill>
              </a:rPr>
              <a:t>X</a:t>
            </a:r>
            <a:r>
              <a:rPr lang="en-US" altLang="en-US" sz="2800" i="1" baseline="-25000" smtClean="0">
                <a:solidFill>
                  <a:srgbClr val="CC3300"/>
                </a:solidFill>
              </a:rPr>
              <a:t>i</a:t>
            </a:r>
            <a:r>
              <a:rPr lang="en-US" altLang="en-US" sz="2800" i="1" smtClean="0">
                <a:solidFill>
                  <a:srgbClr val="CC3300"/>
                </a:solidFill>
              </a:rPr>
              <a:t> </a:t>
            </a:r>
            <a:r>
              <a:rPr lang="en-US" altLang="en-US" sz="2800" smtClean="0">
                <a:solidFill>
                  <a:srgbClr val="CC3300"/>
                </a:solidFill>
              </a:rPr>
              <a:t>and </a:t>
            </a:r>
            <a:r>
              <a:rPr lang="en-US" altLang="en-US" sz="2800" i="1" smtClean="0">
                <a:solidFill>
                  <a:srgbClr val="CC3300"/>
                </a:solidFill>
              </a:rPr>
              <a:t>Y</a:t>
            </a:r>
            <a:r>
              <a:rPr lang="en-US" altLang="en-US" sz="2800" i="1" baseline="-25000" smtClean="0">
                <a:solidFill>
                  <a:srgbClr val="CC3300"/>
                </a:solidFill>
              </a:rPr>
              <a:t>j</a:t>
            </a:r>
            <a:r>
              <a:rPr lang="en-US" altLang="en-US" sz="2800" i="1" smtClean="0"/>
              <a:t> </a:t>
            </a:r>
            <a:r>
              <a:rPr lang="en-US" altLang="en-US" sz="2800" smtClean="0"/>
              <a:t>. </a:t>
            </a:r>
          </a:p>
          <a:p>
            <a:r>
              <a:rPr lang="en-US" altLang="en-US" sz="2800" smtClean="0"/>
              <a:t>We want </a:t>
            </a:r>
            <a:r>
              <a:rPr lang="en-US" altLang="en-US" sz="2800" i="1" smtClean="0"/>
              <a:t>c</a:t>
            </a:r>
            <a:r>
              <a:rPr lang="en-US" altLang="en-US" sz="2800" smtClean="0"/>
              <a:t>[</a:t>
            </a:r>
            <a:r>
              <a:rPr lang="en-US" altLang="en-US" sz="2800" i="1" smtClean="0"/>
              <a:t>m,n</a:t>
            </a:r>
            <a:r>
              <a:rPr lang="en-US" altLang="en-US" sz="2800" smtClean="0"/>
              <a:t>].</a:t>
            </a:r>
          </a:p>
          <a:p>
            <a:endParaRPr lang="en-US" altLang="en-US" sz="2800" smtClean="0"/>
          </a:p>
          <a:p>
            <a:endParaRPr lang="en-US" altLang="en-US" sz="2800" smtClean="0"/>
          </a:p>
        </p:txBody>
      </p:sp>
      <p:graphicFrame>
        <p:nvGraphicFramePr>
          <p:cNvPr id="10244" name="Object 22"/>
          <p:cNvGraphicFramePr>
            <a:graphicFrameLocks noChangeAspect="1"/>
          </p:cNvGraphicFramePr>
          <p:nvPr>
            <p:ph sz="half" idx="2"/>
          </p:nvPr>
        </p:nvGraphicFramePr>
        <p:xfrm>
          <a:off x="457200" y="2438400"/>
          <a:ext cx="78486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Equation" r:id="rId3" imgW="6921500" imgH="1397000" progId="Equation.3">
                  <p:embed/>
                </p:oleObj>
              </mc:Choice>
              <mc:Fallback>
                <p:oleObj name="Equation" r:id="rId3" imgW="6921500" imgH="13970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438400"/>
                        <a:ext cx="7848600" cy="1524000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12700" cap="flat" cmpd="sng">
                        <a:solidFill>
                          <a:schemeClr val="tx1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  <a:effectLst>
                        <a:outerShdw dist="107763" dir="2700000" algn="ctr" rotWithShape="0">
                          <a:schemeClr val="bg2">
                            <a:alpha val="50000"/>
                          </a:scheme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Text Box 24"/>
          <p:cNvSpPr txBox="1">
            <a:spLocks noChangeArrowheads="1"/>
          </p:cNvSpPr>
          <p:nvPr/>
        </p:nvSpPr>
        <p:spPr bwMode="auto">
          <a:xfrm>
            <a:off x="381000" y="4419600"/>
            <a:ext cx="8229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u="none">
                <a:solidFill>
                  <a:schemeClr val="tx1"/>
                </a:solidFill>
              </a:rPr>
              <a:t>This gives a recursive algorithm and solves the problem.</a:t>
            </a:r>
            <a:br>
              <a:rPr lang="en-US" altLang="en-US" sz="2400" u="none">
                <a:solidFill>
                  <a:schemeClr val="tx1"/>
                </a:solidFill>
              </a:rPr>
            </a:br>
            <a:r>
              <a:rPr lang="en-US" altLang="en-US" sz="2400" u="none">
                <a:solidFill>
                  <a:schemeClr val="tx1"/>
                </a:solidFill>
              </a:rPr>
              <a:t>But does it solve well?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Recursive Solution</a:t>
            </a:r>
          </a:p>
        </p:txBody>
      </p:sp>
      <p:sp>
        <p:nvSpPr>
          <p:cNvPr id="106504" name="Text Box 8"/>
          <p:cNvSpPr txBox="1">
            <a:spLocks noChangeArrowheads="1"/>
          </p:cNvSpPr>
          <p:nvPr/>
        </p:nvSpPr>
        <p:spPr bwMode="auto">
          <a:xfrm>
            <a:off x="0" y="2667000"/>
            <a:ext cx="891540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400" i="1" u="none">
                <a:solidFill>
                  <a:schemeClr val="tx1"/>
                </a:solidFill>
              </a:rPr>
              <a:t>c</a:t>
            </a:r>
            <a:r>
              <a:rPr lang="en-US" altLang="en-US" sz="2400" u="none">
                <a:solidFill>
                  <a:schemeClr val="tx1"/>
                </a:solidFill>
              </a:rPr>
              <a:t>[springtime, printing]</a:t>
            </a:r>
          </a:p>
          <a:p>
            <a:pPr algn="ctr">
              <a:spcBef>
                <a:spcPct val="50000"/>
              </a:spcBef>
              <a:buFontTx/>
              <a:buNone/>
            </a:pPr>
            <a:endParaRPr lang="en-US" altLang="en-US" sz="1600" u="none">
              <a:solidFill>
                <a:schemeClr val="tx1"/>
              </a:solidFill>
            </a:endParaRP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400" i="1" u="none">
                <a:solidFill>
                  <a:schemeClr val="tx1"/>
                </a:solidFill>
              </a:rPr>
              <a:t>c</a:t>
            </a:r>
            <a:r>
              <a:rPr lang="en-US" altLang="en-US" sz="2400" u="none">
                <a:solidFill>
                  <a:schemeClr val="tx1"/>
                </a:solidFill>
              </a:rPr>
              <a:t>[springtim, printing]      </a:t>
            </a:r>
            <a:r>
              <a:rPr lang="en-US" altLang="en-US" sz="2400" i="1" u="none">
                <a:solidFill>
                  <a:schemeClr val="tx1"/>
                </a:solidFill>
              </a:rPr>
              <a:t>c</a:t>
            </a:r>
            <a:r>
              <a:rPr lang="en-US" altLang="en-US" sz="2400" u="none">
                <a:solidFill>
                  <a:schemeClr val="tx1"/>
                </a:solidFill>
              </a:rPr>
              <a:t>[springtime, printin]</a:t>
            </a:r>
          </a:p>
          <a:p>
            <a:pPr algn="ctr">
              <a:spcBef>
                <a:spcPct val="50000"/>
              </a:spcBef>
              <a:buFontTx/>
              <a:buNone/>
            </a:pPr>
            <a:endParaRPr lang="en-US" altLang="en-US" sz="1800" u="none">
              <a:solidFill>
                <a:schemeClr val="tx1"/>
              </a:solidFill>
            </a:endParaRP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 u="none">
                <a:solidFill>
                  <a:schemeClr val="tx1"/>
                </a:solidFill>
              </a:rPr>
              <a:t>[springti, printing] [springtim, printin]    [springtim, printin] [springtime, printi]</a:t>
            </a:r>
          </a:p>
          <a:p>
            <a:pPr algn="ctr">
              <a:spcBef>
                <a:spcPct val="50000"/>
              </a:spcBef>
              <a:buFontTx/>
              <a:buNone/>
            </a:pPr>
            <a:endParaRPr lang="en-US" altLang="en-US" sz="2000" u="none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u="none">
                <a:solidFill>
                  <a:schemeClr val="tx1"/>
                </a:solidFill>
              </a:rPr>
              <a:t>[springt, printing] [springti, printin] [springtim, printi] [springtime, print]</a:t>
            </a: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3124200" y="3124200"/>
            <a:ext cx="2514600" cy="533400"/>
            <a:chOff x="1968" y="1968"/>
            <a:chExt cx="1584" cy="336"/>
          </a:xfrm>
        </p:grpSpPr>
        <p:sp>
          <p:nvSpPr>
            <p:cNvPr id="11286" name="Line 9"/>
            <p:cNvSpPr>
              <a:spLocks noChangeShapeType="1"/>
            </p:cNvSpPr>
            <p:nvPr/>
          </p:nvSpPr>
          <p:spPr bwMode="auto">
            <a:xfrm flipV="1">
              <a:off x="1968" y="1968"/>
              <a:ext cx="576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287" name="Line 10"/>
            <p:cNvSpPr>
              <a:spLocks noChangeShapeType="1"/>
            </p:cNvSpPr>
            <p:nvPr/>
          </p:nvSpPr>
          <p:spPr bwMode="auto">
            <a:xfrm>
              <a:off x="2976" y="1968"/>
              <a:ext cx="576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752600" y="4114800"/>
            <a:ext cx="5410200" cy="457200"/>
            <a:chOff x="1104" y="2592"/>
            <a:chExt cx="3408" cy="288"/>
          </a:xfrm>
        </p:grpSpPr>
        <p:sp>
          <p:nvSpPr>
            <p:cNvPr id="11282" name="Line 11"/>
            <p:cNvSpPr>
              <a:spLocks noChangeShapeType="1"/>
            </p:cNvSpPr>
            <p:nvPr/>
          </p:nvSpPr>
          <p:spPr bwMode="auto">
            <a:xfrm flipH="1">
              <a:off x="1104" y="2592"/>
              <a:ext cx="48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283" name="Line 12"/>
            <p:cNvSpPr>
              <a:spLocks noChangeShapeType="1"/>
            </p:cNvSpPr>
            <p:nvPr/>
          </p:nvSpPr>
          <p:spPr bwMode="auto">
            <a:xfrm>
              <a:off x="1776" y="2592"/>
              <a:ext cx="288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284" name="Line 13"/>
            <p:cNvSpPr>
              <a:spLocks noChangeShapeType="1"/>
            </p:cNvSpPr>
            <p:nvPr/>
          </p:nvSpPr>
          <p:spPr bwMode="auto">
            <a:xfrm flipV="1">
              <a:off x="3456" y="2592"/>
              <a:ext cx="288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285" name="Line 14"/>
            <p:cNvSpPr>
              <a:spLocks noChangeShapeType="1"/>
            </p:cNvSpPr>
            <p:nvPr/>
          </p:nvSpPr>
          <p:spPr bwMode="auto">
            <a:xfrm>
              <a:off x="3984" y="2592"/>
              <a:ext cx="528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1066800" y="4953000"/>
            <a:ext cx="6019800" cy="457200"/>
            <a:chOff x="672" y="3120"/>
            <a:chExt cx="3792" cy="288"/>
          </a:xfrm>
        </p:grpSpPr>
        <p:sp>
          <p:nvSpPr>
            <p:cNvPr id="11276" name="Line 15"/>
            <p:cNvSpPr>
              <a:spLocks noChangeShapeType="1"/>
            </p:cNvSpPr>
            <p:nvPr/>
          </p:nvSpPr>
          <p:spPr bwMode="auto">
            <a:xfrm flipH="1">
              <a:off x="672" y="3120"/>
              <a:ext cx="192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277" name="Line 16"/>
            <p:cNvSpPr>
              <a:spLocks noChangeShapeType="1"/>
            </p:cNvSpPr>
            <p:nvPr/>
          </p:nvSpPr>
          <p:spPr bwMode="auto">
            <a:xfrm>
              <a:off x="1008" y="3120"/>
              <a:ext cx="432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278" name="Line 17"/>
            <p:cNvSpPr>
              <a:spLocks noChangeShapeType="1"/>
            </p:cNvSpPr>
            <p:nvPr/>
          </p:nvSpPr>
          <p:spPr bwMode="auto">
            <a:xfrm flipH="1">
              <a:off x="1680" y="3120"/>
              <a:ext cx="24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279" name="Line 18"/>
            <p:cNvSpPr>
              <a:spLocks noChangeShapeType="1"/>
            </p:cNvSpPr>
            <p:nvPr/>
          </p:nvSpPr>
          <p:spPr bwMode="auto">
            <a:xfrm>
              <a:off x="2064" y="3120"/>
              <a:ext cx="624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280" name="Line 19"/>
            <p:cNvSpPr>
              <a:spLocks noChangeShapeType="1"/>
            </p:cNvSpPr>
            <p:nvPr/>
          </p:nvSpPr>
          <p:spPr bwMode="auto">
            <a:xfrm flipH="1">
              <a:off x="3360" y="3120"/>
              <a:ext cx="96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281" name="Line 20"/>
            <p:cNvSpPr>
              <a:spLocks noChangeShapeType="1"/>
            </p:cNvSpPr>
            <p:nvPr/>
          </p:nvSpPr>
          <p:spPr bwMode="auto">
            <a:xfrm flipH="1">
              <a:off x="4272" y="3120"/>
              <a:ext cx="192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5094288" y="4383088"/>
            <a:ext cx="715962" cy="612775"/>
            <a:chOff x="3209" y="2761"/>
            <a:chExt cx="451" cy="386"/>
          </a:xfrm>
        </p:grpSpPr>
        <p:sp>
          <p:nvSpPr>
            <p:cNvPr id="11274" name="Freeform 21"/>
            <p:cNvSpPr>
              <a:spLocks/>
            </p:cNvSpPr>
            <p:nvPr/>
          </p:nvSpPr>
          <p:spPr bwMode="auto">
            <a:xfrm>
              <a:off x="3218" y="2761"/>
              <a:ext cx="442" cy="386"/>
            </a:xfrm>
            <a:custGeom>
              <a:avLst/>
              <a:gdLst>
                <a:gd name="T0" fmla="*/ 0 w 442"/>
                <a:gd name="T1" fmla="*/ 0 h 386"/>
                <a:gd name="T2" fmla="*/ 92 w 442"/>
                <a:gd name="T3" fmla="*/ 110 h 386"/>
                <a:gd name="T4" fmla="*/ 156 w 442"/>
                <a:gd name="T5" fmla="*/ 156 h 386"/>
                <a:gd name="T6" fmla="*/ 311 w 442"/>
                <a:gd name="T7" fmla="*/ 329 h 386"/>
                <a:gd name="T8" fmla="*/ 375 w 442"/>
                <a:gd name="T9" fmla="*/ 366 h 386"/>
                <a:gd name="T10" fmla="*/ 439 w 442"/>
                <a:gd name="T11" fmla="*/ 384 h 3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42"/>
                <a:gd name="T19" fmla="*/ 0 h 386"/>
                <a:gd name="T20" fmla="*/ 442 w 442"/>
                <a:gd name="T21" fmla="*/ 386 h 38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42" h="386">
                  <a:moveTo>
                    <a:pt x="0" y="0"/>
                  </a:moveTo>
                  <a:cubicBezTo>
                    <a:pt x="22" y="43"/>
                    <a:pt x="51" y="83"/>
                    <a:pt x="92" y="110"/>
                  </a:cubicBezTo>
                  <a:cubicBezTo>
                    <a:pt x="138" y="140"/>
                    <a:pt x="120" y="112"/>
                    <a:pt x="156" y="156"/>
                  </a:cubicBezTo>
                  <a:cubicBezTo>
                    <a:pt x="190" y="198"/>
                    <a:pt x="262" y="304"/>
                    <a:pt x="311" y="329"/>
                  </a:cubicBezTo>
                  <a:cubicBezTo>
                    <a:pt x="333" y="340"/>
                    <a:pt x="351" y="359"/>
                    <a:pt x="375" y="366"/>
                  </a:cubicBezTo>
                  <a:cubicBezTo>
                    <a:pt x="442" y="386"/>
                    <a:pt x="439" y="352"/>
                    <a:pt x="439" y="384"/>
                  </a:cubicBezTo>
                </a:path>
              </a:pathLst>
            </a:custGeom>
            <a:noFill/>
            <a:ln w="76200" cap="flat" cmpd="sng">
              <a:solidFill>
                <a:srgbClr val="CC3300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275" name="Freeform 22"/>
            <p:cNvSpPr>
              <a:spLocks/>
            </p:cNvSpPr>
            <p:nvPr/>
          </p:nvSpPr>
          <p:spPr bwMode="auto">
            <a:xfrm>
              <a:off x="3209" y="2853"/>
              <a:ext cx="421" cy="292"/>
            </a:xfrm>
            <a:custGeom>
              <a:avLst/>
              <a:gdLst>
                <a:gd name="T0" fmla="*/ 0 w 421"/>
                <a:gd name="T1" fmla="*/ 292 h 292"/>
                <a:gd name="T2" fmla="*/ 64 w 421"/>
                <a:gd name="T3" fmla="*/ 237 h 292"/>
                <a:gd name="T4" fmla="*/ 128 w 421"/>
                <a:gd name="T5" fmla="*/ 210 h 292"/>
                <a:gd name="T6" fmla="*/ 220 w 421"/>
                <a:gd name="T7" fmla="*/ 155 h 292"/>
                <a:gd name="T8" fmla="*/ 247 w 421"/>
                <a:gd name="T9" fmla="*/ 118 h 292"/>
                <a:gd name="T10" fmla="*/ 302 w 421"/>
                <a:gd name="T11" fmla="*/ 82 h 292"/>
                <a:gd name="T12" fmla="*/ 357 w 421"/>
                <a:gd name="T13" fmla="*/ 36 h 292"/>
                <a:gd name="T14" fmla="*/ 421 w 421"/>
                <a:gd name="T15" fmla="*/ 0 h 29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21"/>
                <a:gd name="T25" fmla="*/ 0 h 292"/>
                <a:gd name="T26" fmla="*/ 421 w 421"/>
                <a:gd name="T27" fmla="*/ 292 h 29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21" h="292">
                  <a:moveTo>
                    <a:pt x="0" y="292"/>
                  </a:moveTo>
                  <a:cubicBezTo>
                    <a:pt x="21" y="274"/>
                    <a:pt x="41" y="253"/>
                    <a:pt x="64" y="237"/>
                  </a:cubicBezTo>
                  <a:cubicBezTo>
                    <a:pt x="83" y="224"/>
                    <a:pt x="108" y="221"/>
                    <a:pt x="128" y="210"/>
                  </a:cubicBezTo>
                  <a:cubicBezTo>
                    <a:pt x="159" y="193"/>
                    <a:pt x="190" y="174"/>
                    <a:pt x="220" y="155"/>
                  </a:cubicBezTo>
                  <a:cubicBezTo>
                    <a:pt x="229" y="143"/>
                    <a:pt x="236" y="128"/>
                    <a:pt x="247" y="118"/>
                  </a:cubicBezTo>
                  <a:cubicBezTo>
                    <a:pt x="263" y="103"/>
                    <a:pt x="287" y="98"/>
                    <a:pt x="302" y="82"/>
                  </a:cubicBezTo>
                  <a:cubicBezTo>
                    <a:pt x="324" y="59"/>
                    <a:pt x="329" y="50"/>
                    <a:pt x="357" y="36"/>
                  </a:cubicBezTo>
                  <a:cubicBezTo>
                    <a:pt x="376" y="27"/>
                    <a:pt x="421" y="27"/>
                    <a:pt x="421" y="0"/>
                  </a:cubicBezTo>
                </a:path>
              </a:pathLst>
            </a:custGeom>
            <a:noFill/>
            <a:ln w="76200" cap="flat" cmpd="sng">
              <a:solidFill>
                <a:srgbClr val="CC3300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1272" name="Content Placeholder 2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altLang="en-US" smtClean="0"/>
          </a:p>
        </p:txBody>
      </p:sp>
      <p:graphicFrame>
        <p:nvGraphicFramePr>
          <p:cNvPr id="11273" name="Object 22"/>
          <p:cNvGraphicFramePr>
            <a:graphicFrameLocks noChangeAspect="1"/>
          </p:cNvGraphicFramePr>
          <p:nvPr/>
        </p:nvGraphicFramePr>
        <p:xfrm>
          <a:off x="685800" y="990600"/>
          <a:ext cx="78486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8" name="Equation" r:id="rId3" imgW="6921500" imgH="1397000" progId="Equation.3">
                  <p:embed/>
                </p:oleObj>
              </mc:Choice>
              <mc:Fallback>
                <p:oleObj name="Equation" r:id="rId3" imgW="6921500" imgH="13970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990600"/>
                        <a:ext cx="7848600" cy="1524000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12700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>
                        <a:outerShdw dist="107763" dir="2700000" algn="ctr" rotWithShape="0">
                          <a:schemeClr val="bg2">
                            <a:alpha val="50000"/>
                          </a:scheme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smtClean="0"/>
              <a:t>Recursive Solution</a:t>
            </a:r>
          </a:p>
        </p:txBody>
      </p:sp>
      <p:graphicFrame>
        <p:nvGraphicFramePr>
          <p:cNvPr id="107728" name="Group 208"/>
          <p:cNvGraphicFramePr>
            <a:graphicFrameLocks noGrp="1"/>
          </p:cNvGraphicFramePr>
          <p:nvPr/>
        </p:nvGraphicFramePr>
        <p:xfrm>
          <a:off x="4419600" y="2362200"/>
          <a:ext cx="4503738" cy="4389438"/>
        </p:xfrm>
        <a:graphic>
          <a:graphicData uri="http://schemas.openxmlformats.org/drawingml/2006/table">
            <a:tbl>
              <a:tblPr/>
              <a:tblGrid>
                <a:gridCol w="312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51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5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1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51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51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578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10000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10000"/>
                          </a:solidFill>
                          <a:effectLst/>
                          <a:latin typeface="Times New Roman" pitchFamily="18" charset="0"/>
                        </a:rPr>
                        <a:t>r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10000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10000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10000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10000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10000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10000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8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8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10000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8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10000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8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10000"/>
                          </a:solidFill>
                          <a:effectLst/>
                          <a:latin typeface="Times New Roman" pitchFamily="18" charset="0"/>
                        </a:rPr>
                        <a:t>r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8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10000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8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10000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8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10000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8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10000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8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10000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8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10000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8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10000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1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221" name="Text Box 209"/>
          <p:cNvSpPr txBox="1">
            <a:spLocks noChangeArrowheads="1"/>
          </p:cNvSpPr>
          <p:nvPr/>
        </p:nvSpPr>
        <p:spPr bwMode="auto">
          <a:xfrm>
            <a:off x="457200" y="2590800"/>
            <a:ext cx="3429000" cy="13843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en-US" u="none" dirty="0"/>
              <a:t>Keep track of </a:t>
            </a:r>
            <a:r>
              <a:rPr lang="en-US" i="1" u="none" dirty="0"/>
              <a:t>c</a:t>
            </a:r>
            <a:r>
              <a:rPr lang="en-US" u="none" dirty="0"/>
              <a:t>[</a:t>
            </a:r>
            <a:r>
              <a:rPr lang="en-US" i="1" u="none" dirty="0" err="1">
                <a:latin typeface="+mj-lt"/>
              </a:rPr>
              <a:t>i,j</a:t>
            </a:r>
            <a:r>
              <a:rPr lang="en-US" u="none" dirty="0"/>
              <a:t>] in a table of </a:t>
            </a:r>
            <a:r>
              <a:rPr lang="en-US" i="1" u="none" dirty="0"/>
              <a:t>nm </a:t>
            </a:r>
            <a:r>
              <a:rPr lang="en-US" u="none" dirty="0"/>
              <a:t>entries:</a:t>
            </a:r>
          </a:p>
          <a:p>
            <a:pPr lvl="1">
              <a:spcBef>
                <a:spcPct val="50000"/>
              </a:spcBef>
              <a:buFontTx/>
              <a:buChar char="•"/>
              <a:defRPr/>
            </a:pPr>
            <a:r>
              <a:rPr lang="en-US" u="none" dirty="0"/>
              <a:t>bottom/up</a:t>
            </a:r>
            <a:endParaRPr lang="en-US" i="1" u="none" dirty="0"/>
          </a:p>
        </p:txBody>
      </p:sp>
      <p:sp>
        <p:nvSpPr>
          <p:cNvPr id="12437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altLang="en-US" smtClean="0"/>
          </a:p>
        </p:txBody>
      </p:sp>
      <p:graphicFrame>
        <p:nvGraphicFramePr>
          <p:cNvPr id="12438" name="Object 22"/>
          <p:cNvGraphicFramePr>
            <a:graphicFrameLocks noChangeAspect="1"/>
          </p:cNvGraphicFramePr>
          <p:nvPr/>
        </p:nvGraphicFramePr>
        <p:xfrm>
          <a:off x="685800" y="762000"/>
          <a:ext cx="78486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9" name="Equation" r:id="rId3" imgW="6921500" imgH="1397000" progId="Equation.3">
                  <p:embed/>
                </p:oleObj>
              </mc:Choice>
              <mc:Fallback>
                <p:oleObj name="Equation" r:id="rId3" imgW="6921500" imgH="13970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762000"/>
                        <a:ext cx="7848600" cy="1524000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12700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>
                        <a:outerShdw dist="107763" dir="2700000" algn="ctr" rotWithShape="0">
                          <a:schemeClr val="bg2">
                            <a:alpha val="50000"/>
                          </a:scheme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28600"/>
            <a:ext cx="9555163" cy="927100"/>
          </a:xfrm>
        </p:spPr>
        <p:txBody>
          <a:bodyPr/>
          <a:lstStyle/>
          <a:p>
            <a:r>
              <a:rPr lang="en-US" altLang="en-US" smtClean="0"/>
              <a:t>Computing the length of an LCS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685800"/>
            <a:ext cx="5334000" cy="5791200"/>
          </a:xfrm>
          <a:solidFill>
            <a:srgbClr val="CCECFF"/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81000" indent="-3810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b="1" u="sng" smtClean="0"/>
              <a:t>LCS-LENGTH (</a:t>
            </a:r>
            <a:r>
              <a:rPr lang="en-US" altLang="en-US" sz="2000" b="1" i="1" u="sng" smtClean="0"/>
              <a:t>X, Y</a:t>
            </a:r>
            <a:r>
              <a:rPr lang="en-US" altLang="en-US" sz="2000" b="1" u="sng" smtClean="0"/>
              <a:t>)</a:t>
            </a:r>
          </a:p>
          <a:p>
            <a:pPr marL="381000" indent="-3810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 i="1" smtClean="0"/>
              <a:t>m</a:t>
            </a:r>
            <a:r>
              <a:rPr lang="en-US" altLang="en-US" sz="2000" b="1" smtClean="0"/>
              <a:t> </a:t>
            </a:r>
            <a:r>
              <a:rPr lang="en-US" altLang="en-US" sz="2000" smtClean="0"/>
              <a:t>← </a:t>
            </a:r>
            <a:r>
              <a:rPr lang="en-US" altLang="en-US" sz="2000" i="1" smtClean="0"/>
              <a:t>length</a:t>
            </a:r>
            <a:r>
              <a:rPr lang="en-US" altLang="en-US" sz="2000" smtClean="0"/>
              <a:t>[</a:t>
            </a:r>
            <a:r>
              <a:rPr lang="en-US" altLang="en-US" sz="2000" i="1" smtClean="0"/>
              <a:t>X</a:t>
            </a:r>
            <a:r>
              <a:rPr lang="en-US" altLang="en-US" sz="2000" smtClean="0"/>
              <a:t>]</a:t>
            </a:r>
          </a:p>
          <a:p>
            <a:pPr marL="381000" indent="-3810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 i="1" smtClean="0"/>
              <a:t>n</a:t>
            </a:r>
            <a:r>
              <a:rPr lang="en-US" altLang="en-US" sz="2000" b="1" smtClean="0"/>
              <a:t> </a:t>
            </a:r>
            <a:r>
              <a:rPr lang="en-US" altLang="en-US" sz="2000" smtClean="0"/>
              <a:t>← </a:t>
            </a:r>
            <a:r>
              <a:rPr lang="en-US" altLang="en-US" sz="2000" i="1" smtClean="0"/>
              <a:t>length</a:t>
            </a:r>
            <a:r>
              <a:rPr lang="en-US" altLang="en-US" sz="2000" smtClean="0"/>
              <a:t>[</a:t>
            </a:r>
            <a:r>
              <a:rPr lang="en-US" altLang="en-US" sz="2000" i="1" smtClean="0"/>
              <a:t>Y</a:t>
            </a:r>
            <a:r>
              <a:rPr lang="en-US" altLang="en-US" sz="2000" smtClean="0"/>
              <a:t>]</a:t>
            </a:r>
            <a:endParaRPr lang="en-US" altLang="en-US" sz="2000" b="1" i="1" smtClean="0"/>
          </a:p>
          <a:p>
            <a:pPr marL="381000" indent="-3810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 b="1" smtClean="0"/>
              <a:t>for </a:t>
            </a:r>
            <a:r>
              <a:rPr lang="en-US" altLang="en-US" sz="2000" i="1" smtClean="0"/>
              <a:t>i </a:t>
            </a:r>
            <a:r>
              <a:rPr lang="en-US" altLang="en-US" sz="2000" smtClean="0"/>
              <a:t>← 1 </a:t>
            </a:r>
            <a:r>
              <a:rPr lang="en-US" altLang="en-US" sz="2000" b="1" smtClean="0"/>
              <a:t>to </a:t>
            </a:r>
            <a:r>
              <a:rPr lang="en-US" altLang="en-US" sz="2000" i="1" smtClean="0"/>
              <a:t>m</a:t>
            </a:r>
          </a:p>
          <a:p>
            <a:pPr marL="381000" indent="-3810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 b="1" smtClean="0"/>
              <a:t>     do </a:t>
            </a:r>
            <a:r>
              <a:rPr lang="en-US" altLang="en-US" sz="2000" i="1" smtClean="0"/>
              <a:t>c</a:t>
            </a:r>
            <a:r>
              <a:rPr lang="en-US" altLang="en-US" sz="2000" smtClean="0"/>
              <a:t>[</a:t>
            </a:r>
            <a:r>
              <a:rPr lang="en-US" altLang="en-US" sz="2000" i="1" smtClean="0"/>
              <a:t>i, </a:t>
            </a:r>
            <a:r>
              <a:rPr lang="en-US" altLang="en-US" sz="2000" smtClean="0"/>
              <a:t>0] ← 0</a:t>
            </a:r>
          </a:p>
          <a:p>
            <a:pPr marL="381000" indent="-3810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 b="1" smtClean="0"/>
              <a:t>for </a:t>
            </a:r>
            <a:r>
              <a:rPr lang="en-US" altLang="en-US" sz="2000" i="1" smtClean="0"/>
              <a:t>j </a:t>
            </a:r>
            <a:r>
              <a:rPr lang="en-US" altLang="en-US" sz="2000" smtClean="0"/>
              <a:t>← 0 </a:t>
            </a:r>
            <a:r>
              <a:rPr lang="en-US" altLang="en-US" sz="2000" b="1" smtClean="0"/>
              <a:t>to </a:t>
            </a:r>
            <a:r>
              <a:rPr lang="en-US" altLang="en-US" sz="2000" i="1" smtClean="0"/>
              <a:t>n</a:t>
            </a:r>
          </a:p>
          <a:p>
            <a:pPr marL="381000" indent="-3810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 b="1" smtClean="0"/>
              <a:t>     do </a:t>
            </a:r>
            <a:r>
              <a:rPr lang="en-US" altLang="en-US" sz="2000" i="1" smtClean="0"/>
              <a:t>c</a:t>
            </a:r>
            <a:r>
              <a:rPr lang="en-US" altLang="en-US" sz="2000" smtClean="0"/>
              <a:t>[0</a:t>
            </a:r>
            <a:r>
              <a:rPr lang="en-US" altLang="en-US" sz="2000" i="1" smtClean="0"/>
              <a:t>, j </a:t>
            </a:r>
            <a:r>
              <a:rPr lang="en-US" altLang="en-US" sz="2000" smtClean="0"/>
              <a:t>] ← 0</a:t>
            </a:r>
          </a:p>
          <a:p>
            <a:pPr marL="381000" indent="-3810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 b="1" smtClean="0"/>
              <a:t>for </a:t>
            </a:r>
            <a:r>
              <a:rPr lang="en-US" altLang="en-US" sz="2000" i="1" smtClean="0"/>
              <a:t>i </a:t>
            </a:r>
            <a:r>
              <a:rPr lang="en-US" altLang="en-US" sz="2000" smtClean="0"/>
              <a:t>← 1 </a:t>
            </a:r>
            <a:r>
              <a:rPr lang="en-US" altLang="en-US" sz="2000" b="1" smtClean="0"/>
              <a:t>to </a:t>
            </a:r>
            <a:r>
              <a:rPr lang="en-US" altLang="en-US" sz="2000" i="1" smtClean="0"/>
              <a:t>m</a:t>
            </a:r>
          </a:p>
          <a:p>
            <a:pPr marL="381000" indent="-3810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 b="1" smtClean="0"/>
              <a:t>      do for </a:t>
            </a:r>
            <a:r>
              <a:rPr lang="en-US" altLang="en-US" sz="2000" i="1" smtClean="0"/>
              <a:t>j </a:t>
            </a:r>
            <a:r>
              <a:rPr lang="en-US" altLang="en-US" sz="2000" smtClean="0"/>
              <a:t>← 1 </a:t>
            </a:r>
            <a:r>
              <a:rPr lang="en-US" altLang="en-US" sz="2000" b="1" smtClean="0"/>
              <a:t>to </a:t>
            </a:r>
            <a:r>
              <a:rPr lang="en-US" altLang="en-US" sz="2000" i="1" smtClean="0"/>
              <a:t>n</a:t>
            </a:r>
          </a:p>
          <a:p>
            <a:pPr marL="381000" indent="-3810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 b="1" smtClean="0"/>
              <a:t>           do if </a:t>
            </a:r>
            <a:r>
              <a:rPr lang="en-US" altLang="en-US" sz="2000" i="1" smtClean="0"/>
              <a:t>x</a:t>
            </a:r>
            <a:r>
              <a:rPr lang="en-US" altLang="en-US" sz="2000" i="1" baseline="-25000" smtClean="0"/>
              <a:t>i</a:t>
            </a:r>
            <a:r>
              <a:rPr lang="en-US" altLang="en-US" sz="2000" i="1" smtClean="0"/>
              <a:t> </a:t>
            </a:r>
            <a:r>
              <a:rPr lang="en-US" altLang="en-US" sz="2000" smtClean="0"/>
              <a:t>= </a:t>
            </a:r>
            <a:r>
              <a:rPr lang="en-US" altLang="en-US" sz="2000" i="1" smtClean="0"/>
              <a:t>y</a:t>
            </a:r>
            <a:r>
              <a:rPr lang="en-US" altLang="en-US" sz="2000" i="1" baseline="-25000" smtClean="0"/>
              <a:t>j</a:t>
            </a:r>
          </a:p>
          <a:p>
            <a:pPr marL="381000" indent="-3810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 b="1" smtClean="0"/>
              <a:t>                    then </a:t>
            </a:r>
            <a:r>
              <a:rPr lang="en-US" altLang="en-US" sz="2000" i="1" smtClean="0"/>
              <a:t>c</a:t>
            </a:r>
            <a:r>
              <a:rPr lang="en-US" altLang="en-US" sz="2000" smtClean="0"/>
              <a:t>[</a:t>
            </a:r>
            <a:r>
              <a:rPr lang="en-US" altLang="en-US" sz="2000" i="1" smtClean="0"/>
              <a:t>i, j </a:t>
            </a:r>
            <a:r>
              <a:rPr lang="en-US" altLang="en-US" sz="2000" smtClean="0"/>
              <a:t>] ← </a:t>
            </a:r>
            <a:r>
              <a:rPr lang="en-US" altLang="en-US" sz="2000" i="1" smtClean="0"/>
              <a:t>c</a:t>
            </a:r>
            <a:r>
              <a:rPr lang="en-US" altLang="en-US" sz="2000" smtClean="0"/>
              <a:t>[</a:t>
            </a:r>
            <a:r>
              <a:rPr lang="en-US" altLang="en-US" sz="2000" i="1" smtClean="0"/>
              <a:t>i</a:t>
            </a:r>
            <a:r>
              <a:rPr lang="en-US" altLang="en-US" sz="2000" i="1" smtClean="0">
                <a:sym typeface="Symbol" panose="05050102010706020507" pitchFamily="18" charset="2"/>
              </a:rPr>
              <a:t></a:t>
            </a:r>
            <a:r>
              <a:rPr lang="en-US" altLang="en-US" sz="2000" smtClean="0"/>
              <a:t>1,</a:t>
            </a:r>
            <a:r>
              <a:rPr lang="en-US" altLang="en-US" sz="2000" i="1" smtClean="0"/>
              <a:t> j</a:t>
            </a:r>
            <a:r>
              <a:rPr lang="en-US" altLang="en-US" sz="2000" i="1" smtClean="0">
                <a:sym typeface="Symbol" panose="05050102010706020507" pitchFamily="18" charset="2"/>
              </a:rPr>
              <a:t></a:t>
            </a:r>
            <a:r>
              <a:rPr lang="en-US" altLang="en-US" sz="2000" smtClean="0"/>
              <a:t>1] + 1</a:t>
            </a:r>
          </a:p>
          <a:p>
            <a:pPr marL="381000" indent="-3810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 i="1" smtClean="0"/>
              <a:t>                             b</a:t>
            </a:r>
            <a:r>
              <a:rPr lang="en-US" altLang="en-US" sz="2000" smtClean="0"/>
              <a:t>[</a:t>
            </a:r>
            <a:r>
              <a:rPr lang="en-US" altLang="en-US" sz="2000" i="1" smtClean="0"/>
              <a:t>i, j </a:t>
            </a:r>
            <a:r>
              <a:rPr lang="en-US" altLang="en-US" sz="2000" smtClean="0"/>
              <a:t>] ← “   ”</a:t>
            </a:r>
          </a:p>
          <a:p>
            <a:pPr marL="381000" indent="-3810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 b="1" smtClean="0"/>
              <a:t>                    else if </a:t>
            </a:r>
            <a:r>
              <a:rPr lang="en-US" altLang="en-US" sz="2000" i="1" smtClean="0"/>
              <a:t>c</a:t>
            </a:r>
            <a:r>
              <a:rPr lang="en-US" altLang="en-US" sz="2000" smtClean="0"/>
              <a:t>[</a:t>
            </a:r>
            <a:r>
              <a:rPr lang="en-US" altLang="en-US" sz="2000" i="1" smtClean="0"/>
              <a:t>i</a:t>
            </a:r>
            <a:r>
              <a:rPr lang="en-US" altLang="en-US" sz="2000" i="1" smtClean="0">
                <a:sym typeface="Symbol" panose="05050102010706020507" pitchFamily="18" charset="2"/>
              </a:rPr>
              <a:t></a:t>
            </a:r>
            <a:r>
              <a:rPr lang="en-US" altLang="en-US" sz="2000" smtClean="0"/>
              <a:t>1</a:t>
            </a:r>
            <a:r>
              <a:rPr lang="en-US" altLang="en-US" sz="2000" i="1" smtClean="0"/>
              <a:t>, j </a:t>
            </a:r>
            <a:r>
              <a:rPr lang="en-US" altLang="en-US" sz="2000" smtClean="0"/>
              <a:t>] ≥ </a:t>
            </a:r>
            <a:r>
              <a:rPr lang="en-US" altLang="en-US" sz="2000" i="1" smtClean="0"/>
              <a:t>c</a:t>
            </a:r>
            <a:r>
              <a:rPr lang="en-US" altLang="en-US" sz="2000" smtClean="0"/>
              <a:t>[</a:t>
            </a:r>
            <a:r>
              <a:rPr lang="en-US" altLang="en-US" sz="2000" i="1" smtClean="0"/>
              <a:t>i</a:t>
            </a:r>
            <a:r>
              <a:rPr lang="en-US" altLang="en-US" sz="2000" smtClean="0"/>
              <a:t>,</a:t>
            </a:r>
            <a:r>
              <a:rPr lang="en-US" altLang="en-US" sz="2000" i="1" smtClean="0"/>
              <a:t> j</a:t>
            </a:r>
            <a:r>
              <a:rPr lang="en-US" altLang="en-US" sz="2000" i="1" smtClean="0">
                <a:sym typeface="Symbol" panose="05050102010706020507" pitchFamily="18" charset="2"/>
              </a:rPr>
              <a:t></a:t>
            </a:r>
            <a:r>
              <a:rPr lang="en-US" altLang="en-US" sz="2000" smtClean="0"/>
              <a:t>1]</a:t>
            </a:r>
          </a:p>
          <a:p>
            <a:pPr marL="381000" indent="-3810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 b="1" smtClean="0"/>
              <a:t>                           then </a:t>
            </a:r>
            <a:r>
              <a:rPr lang="en-US" altLang="en-US" sz="2000" i="1" smtClean="0"/>
              <a:t>c</a:t>
            </a:r>
            <a:r>
              <a:rPr lang="en-US" altLang="en-US" sz="2000" smtClean="0"/>
              <a:t>[</a:t>
            </a:r>
            <a:r>
              <a:rPr lang="en-US" altLang="en-US" sz="2000" i="1" smtClean="0"/>
              <a:t>i, j </a:t>
            </a:r>
            <a:r>
              <a:rPr lang="en-US" altLang="en-US" sz="2000" smtClean="0"/>
              <a:t>] ← </a:t>
            </a:r>
            <a:r>
              <a:rPr lang="en-US" altLang="en-US" sz="2000" i="1" smtClean="0"/>
              <a:t>c</a:t>
            </a:r>
            <a:r>
              <a:rPr lang="en-US" altLang="en-US" sz="2000" smtClean="0"/>
              <a:t>[</a:t>
            </a:r>
            <a:r>
              <a:rPr lang="en-US" altLang="en-US" sz="2000" i="1" smtClean="0"/>
              <a:t>i</a:t>
            </a:r>
            <a:r>
              <a:rPr lang="en-US" altLang="en-US" sz="2000" i="1" smtClean="0">
                <a:sym typeface="Symbol" panose="05050102010706020507" pitchFamily="18" charset="2"/>
              </a:rPr>
              <a:t></a:t>
            </a:r>
            <a:r>
              <a:rPr lang="en-US" altLang="en-US" sz="2000" smtClean="0"/>
              <a:t> 1,</a:t>
            </a:r>
            <a:r>
              <a:rPr lang="en-US" altLang="en-US" sz="2000" i="1" smtClean="0"/>
              <a:t> j </a:t>
            </a:r>
            <a:r>
              <a:rPr lang="en-US" altLang="en-US" sz="2000" smtClean="0"/>
              <a:t>]</a:t>
            </a:r>
          </a:p>
          <a:p>
            <a:pPr marL="381000" indent="-3810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 i="1" smtClean="0"/>
              <a:t>                                    b</a:t>
            </a:r>
            <a:r>
              <a:rPr lang="en-US" altLang="en-US" sz="2000" smtClean="0"/>
              <a:t>[</a:t>
            </a:r>
            <a:r>
              <a:rPr lang="en-US" altLang="en-US" sz="2000" i="1" smtClean="0"/>
              <a:t>i, j </a:t>
            </a:r>
            <a:r>
              <a:rPr lang="en-US" altLang="en-US" sz="2000" smtClean="0"/>
              <a:t>] ← “↑”</a:t>
            </a:r>
          </a:p>
          <a:p>
            <a:pPr marL="381000" indent="-3810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 b="1" smtClean="0"/>
              <a:t>                            else </a:t>
            </a:r>
            <a:r>
              <a:rPr lang="en-US" altLang="en-US" sz="2000" i="1" smtClean="0"/>
              <a:t>c</a:t>
            </a:r>
            <a:r>
              <a:rPr lang="en-US" altLang="en-US" sz="2000" smtClean="0"/>
              <a:t>[</a:t>
            </a:r>
            <a:r>
              <a:rPr lang="en-US" altLang="en-US" sz="2000" i="1" smtClean="0"/>
              <a:t>i, j </a:t>
            </a:r>
            <a:r>
              <a:rPr lang="en-US" altLang="en-US" sz="2000" smtClean="0"/>
              <a:t>] ← </a:t>
            </a:r>
            <a:r>
              <a:rPr lang="en-US" altLang="en-US" sz="2000" i="1" smtClean="0"/>
              <a:t>c</a:t>
            </a:r>
            <a:r>
              <a:rPr lang="en-US" altLang="en-US" sz="2000" smtClean="0"/>
              <a:t>[</a:t>
            </a:r>
            <a:r>
              <a:rPr lang="en-US" altLang="en-US" sz="2000" i="1" smtClean="0"/>
              <a:t>i</a:t>
            </a:r>
            <a:r>
              <a:rPr lang="en-US" altLang="en-US" sz="2000" smtClean="0"/>
              <a:t>,</a:t>
            </a:r>
            <a:r>
              <a:rPr lang="en-US" altLang="en-US" sz="2000" i="1" smtClean="0"/>
              <a:t> j</a:t>
            </a:r>
            <a:r>
              <a:rPr lang="en-US" altLang="en-US" sz="2000" i="1" smtClean="0">
                <a:sym typeface="Symbol" panose="05050102010706020507" pitchFamily="18" charset="2"/>
              </a:rPr>
              <a:t></a:t>
            </a:r>
            <a:r>
              <a:rPr lang="en-US" altLang="en-US" sz="2000" smtClean="0"/>
              <a:t>1]</a:t>
            </a:r>
          </a:p>
          <a:p>
            <a:pPr marL="381000" indent="-3810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 i="1" smtClean="0"/>
              <a:t>                                   b</a:t>
            </a:r>
            <a:r>
              <a:rPr lang="en-US" altLang="en-US" sz="2000" smtClean="0"/>
              <a:t>[</a:t>
            </a:r>
            <a:r>
              <a:rPr lang="en-US" altLang="en-US" sz="2000" i="1" smtClean="0"/>
              <a:t>i, j </a:t>
            </a:r>
            <a:r>
              <a:rPr lang="en-US" altLang="en-US" sz="2000" smtClean="0"/>
              <a:t>] ← “←”</a:t>
            </a:r>
          </a:p>
          <a:p>
            <a:pPr marL="381000" indent="-3810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 b="1" smtClean="0"/>
              <a:t>return </a:t>
            </a:r>
            <a:r>
              <a:rPr lang="en-US" altLang="en-US" sz="2000" i="1" smtClean="0"/>
              <a:t>c </a:t>
            </a:r>
            <a:r>
              <a:rPr lang="en-US" altLang="en-US" sz="2000" smtClean="0"/>
              <a:t>and </a:t>
            </a:r>
            <a:r>
              <a:rPr lang="en-US" altLang="en-US" sz="2000" i="1" smtClean="0"/>
              <a:t>b</a:t>
            </a:r>
            <a:endParaRPr lang="en-US" altLang="en-US" sz="2000" smtClean="0"/>
          </a:p>
          <a:p>
            <a:pPr marL="381000" indent="-381000">
              <a:lnSpc>
                <a:spcPct val="80000"/>
              </a:lnSpc>
            </a:pPr>
            <a:endParaRPr lang="en-US" altLang="en-US" sz="2000" smtClean="0"/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 flipH="1" flipV="1">
            <a:off x="3581400" y="4114800"/>
            <a:ext cx="2286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5562600" y="2514600"/>
            <a:ext cx="35814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 u="none">
                <a:solidFill>
                  <a:schemeClr val="tx1"/>
                </a:solidFill>
              </a:rPr>
              <a:t>b</a:t>
            </a:r>
            <a:r>
              <a:rPr lang="en-US" altLang="en-US" sz="2400" u="none">
                <a:solidFill>
                  <a:schemeClr val="tx1"/>
                </a:solidFill>
              </a:rPr>
              <a:t>[</a:t>
            </a:r>
            <a:r>
              <a:rPr lang="en-US" altLang="en-US" sz="2400" i="1" u="none">
                <a:solidFill>
                  <a:schemeClr val="tx1"/>
                </a:solidFill>
              </a:rPr>
              <a:t>i, j </a:t>
            </a:r>
            <a:r>
              <a:rPr lang="en-US" altLang="en-US" sz="2400" u="none">
                <a:solidFill>
                  <a:schemeClr val="tx1"/>
                </a:solidFill>
              </a:rPr>
              <a:t>] points to table entry whose subproblem we used in solving LCS of </a:t>
            </a:r>
            <a:r>
              <a:rPr lang="en-US" altLang="en-US" sz="2400" i="1" u="none">
                <a:solidFill>
                  <a:schemeClr val="tx1"/>
                </a:solidFill>
              </a:rPr>
              <a:t>X</a:t>
            </a:r>
            <a:r>
              <a:rPr lang="en-US" altLang="en-US" sz="2400" i="1" u="none" baseline="-25000">
                <a:solidFill>
                  <a:schemeClr val="tx1"/>
                </a:solidFill>
              </a:rPr>
              <a:t>i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u="none">
                <a:solidFill>
                  <a:schemeClr val="tx1"/>
                </a:solidFill>
              </a:rPr>
              <a:t>and </a:t>
            </a:r>
            <a:r>
              <a:rPr lang="en-US" altLang="en-US" sz="2400" i="1" u="none">
                <a:solidFill>
                  <a:schemeClr val="tx1"/>
                </a:solidFill>
              </a:rPr>
              <a:t>Y</a:t>
            </a:r>
            <a:r>
              <a:rPr lang="en-US" altLang="en-US" sz="2400" i="1" u="none" baseline="-25000">
                <a:solidFill>
                  <a:schemeClr val="tx1"/>
                </a:solidFill>
              </a:rPr>
              <a:t>j</a:t>
            </a:r>
            <a:r>
              <a:rPr lang="en-US" altLang="en-US" sz="2400" u="none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5562600" y="4419600"/>
            <a:ext cx="3581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 u="none">
                <a:solidFill>
                  <a:schemeClr val="tx1"/>
                </a:solidFill>
              </a:rPr>
              <a:t>c</a:t>
            </a:r>
            <a:r>
              <a:rPr lang="en-US" altLang="en-US" sz="2400" u="none">
                <a:solidFill>
                  <a:schemeClr val="tx1"/>
                </a:solidFill>
              </a:rPr>
              <a:t>[</a:t>
            </a:r>
            <a:r>
              <a:rPr lang="en-US" altLang="en-US" sz="2400" i="1" u="none">
                <a:solidFill>
                  <a:schemeClr val="tx1"/>
                </a:solidFill>
              </a:rPr>
              <a:t>m</a:t>
            </a:r>
            <a:r>
              <a:rPr lang="en-US" altLang="en-US" sz="2400" u="none">
                <a:solidFill>
                  <a:schemeClr val="tx1"/>
                </a:solidFill>
              </a:rPr>
              <a:t>,</a:t>
            </a:r>
            <a:r>
              <a:rPr lang="en-US" altLang="en-US" sz="2400" i="1" u="none">
                <a:solidFill>
                  <a:schemeClr val="tx1"/>
                </a:solidFill>
              </a:rPr>
              <a:t>n</a:t>
            </a:r>
            <a:r>
              <a:rPr lang="en-US" altLang="en-US" sz="2400" u="none">
                <a:solidFill>
                  <a:schemeClr val="tx1"/>
                </a:solidFill>
              </a:rPr>
              <a:t>] contains the length of an LCS of </a:t>
            </a:r>
            <a:r>
              <a:rPr lang="en-US" altLang="en-US" sz="2400" i="1" u="none">
                <a:solidFill>
                  <a:schemeClr val="tx1"/>
                </a:solidFill>
              </a:rPr>
              <a:t>X</a:t>
            </a:r>
            <a:r>
              <a:rPr lang="en-US" altLang="en-US" sz="2400" u="none">
                <a:solidFill>
                  <a:schemeClr val="tx1"/>
                </a:solidFill>
              </a:rPr>
              <a:t> and </a:t>
            </a:r>
            <a:r>
              <a:rPr lang="en-US" altLang="en-US" sz="2400" i="1" u="none">
                <a:solidFill>
                  <a:schemeClr val="tx1"/>
                </a:solidFill>
              </a:rPr>
              <a:t>Y</a:t>
            </a:r>
            <a:r>
              <a:rPr lang="en-US" altLang="en-US" sz="2400" u="none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5775325" y="5451475"/>
            <a:ext cx="1782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u="none">
                <a:solidFill>
                  <a:srgbClr val="CC3300"/>
                </a:solidFill>
              </a:rPr>
              <a:t>Time:</a:t>
            </a:r>
            <a:r>
              <a:rPr lang="en-US" altLang="en-US" sz="2400" u="none">
                <a:solidFill>
                  <a:schemeClr val="tx1"/>
                </a:solidFill>
              </a:rPr>
              <a:t> </a:t>
            </a:r>
            <a:r>
              <a:rPr lang="en-US" altLang="en-US" sz="2400" i="1" u="none">
                <a:solidFill>
                  <a:schemeClr val="tx1"/>
                </a:solidFill>
              </a:rPr>
              <a:t>O</a:t>
            </a:r>
            <a:r>
              <a:rPr lang="en-US" altLang="en-US" sz="2400" u="none">
                <a:solidFill>
                  <a:schemeClr val="tx1"/>
                </a:solidFill>
              </a:rPr>
              <a:t>(</a:t>
            </a:r>
            <a:r>
              <a:rPr lang="en-US" altLang="en-US" sz="2400" i="1" u="none">
                <a:solidFill>
                  <a:schemeClr val="tx1"/>
                </a:solidFill>
              </a:rPr>
              <a:t>mn</a:t>
            </a:r>
            <a:r>
              <a:rPr lang="en-US" altLang="en-US" sz="2400" u="none">
                <a:solidFill>
                  <a:schemeClr val="tx1"/>
                </a:solidFill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2438" y="274638"/>
            <a:ext cx="7626350" cy="1143000"/>
          </a:xfrm>
          <a:noFill/>
        </p:spPr>
        <p:txBody>
          <a:bodyPr/>
          <a:lstStyle/>
          <a:p>
            <a:r>
              <a:rPr lang="en-US" altLang="en-US" b="1" smtClean="0"/>
              <a:t>Example</a:t>
            </a:r>
          </a:p>
        </p:txBody>
      </p:sp>
      <p:graphicFrame>
        <p:nvGraphicFramePr>
          <p:cNvPr id="14339" name="Object 2"/>
          <p:cNvGraphicFramePr>
            <a:graphicFrameLocks/>
          </p:cNvGraphicFramePr>
          <p:nvPr/>
        </p:nvGraphicFramePr>
        <p:xfrm>
          <a:off x="1524000" y="1773238"/>
          <a:ext cx="5983288" cy="3986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7" name="Document" r:id="rId4" imgW="6277123" imgH="4181353" progId="Word.Document.8">
                  <p:embed/>
                </p:oleObj>
              </mc:Choice>
              <mc:Fallback>
                <p:oleObj name="Document" r:id="rId4" imgW="6277123" imgH="4181353" progId="Word.Document.8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773238"/>
                        <a:ext cx="5983288" cy="3986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" name="Line 4"/>
          <p:cNvSpPr>
            <a:spLocks noChangeShapeType="1"/>
          </p:cNvSpPr>
          <p:nvPr/>
        </p:nvSpPr>
        <p:spPr bwMode="auto">
          <a:xfrm flipV="1">
            <a:off x="3581400" y="29718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 flipV="1">
            <a:off x="4572000" y="29718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 flipV="1">
            <a:off x="5486400" y="30480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3" name="Line 7"/>
          <p:cNvSpPr>
            <a:spLocks noChangeShapeType="1"/>
          </p:cNvSpPr>
          <p:nvPr/>
        </p:nvSpPr>
        <p:spPr bwMode="auto">
          <a:xfrm>
            <a:off x="6096000" y="3048000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4" name="Line 8"/>
          <p:cNvSpPr>
            <a:spLocks noChangeShapeType="1"/>
          </p:cNvSpPr>
          <p:nvPr/>
        </p:nvSpPr>
        <p:spPr bwMode="auto">
          <a:xfrm>
            <a:off x="3352800" y="3657600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5" name="Line 9"/>
          <p:cNvSpPr>
            <a:spLocks noChangeShapeType="1"/>
          </p:cNvSpPr>
          <p:nvPr/>
        </p:nvSpPr>
        <p:spPr bwMode="auto">
          <a:xfrm flipH="1">
            <a:off x="4343400" y="40386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6" name="Line 10"/>
          <p:cNvSpPr>
            <a:spLocks noChangeShapeType="1"/>
          </p:cNvSpPr>
          <p:nvPr/>
        </p:nvSpPr>
        <p:spPr bwMode="auto">
          <a:xfrm flipH="1">
            <a:off x="5257800" y="40386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7" name="Line 11"/>
          <p:cNvSpPr>
            <a:spLocks noChangeShapeType="1"/>
          </p:cNvSpPr>
          <p:nvPr/>
        </p:nvSpPr>
        <p:spPr bwMode="auto">
          <a:xfrm flipV="1">
            <a:off x="6400800" y="36576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8" name="Line 12"/>
          <p:cNvSpPr>
            <a:spLocks noChangeShapeType="1"/>
          </p:cNvSpPr>
          <p:nvPr/>
        </p:nvSpPr>
        <p:spPr bwMode="auto">
          <a:xfrm flipV="1">
            <a:off x="3657600" y="42672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9" name="Line 13"/>
          <p:cNvSpPr>
            <a:spLocks noChangeShapeType="1"/>
          </p:cNvSpPr>
          <p:nvPr/>
        </p:nvSpPr>
        <p:spPr bwMode="auto">
          <a:xfrm flipV="1">
            <a:off x="4495800" y="42672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50" name="Line 14"/>
          <p:cNvSpPr>
            <a:spLocks noChangeShapeType="1"/>
          </p:cNvSpPr>
          <p:nvPr/>
        </p:nvSpPr>
        <p:spPr bwMode="auto">
          <a:xfrm>
            <a:off x="5257800" y="4343400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 flipH="1">
            <a:off x="6172200" y="46482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>
            <a:off x="3429000" y="4953000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V="1">
            <a:off x="4572000" y="49530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V="1">
            <a:off x="5486400" y="49530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55" name="Line 19"/>
          <p:cNvSpPr>
            <a:spLocks noChangeShapeType="1"/>
          </p:cNvSpPr>
          <p:nvPr/>
        </p:nvSpPr>
        <p:spPr bwMode="auto">
          <a:xfrm flipV="1">
            <a:off x="6324600" y="49530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609600" y="5622925"/>
            <a:ext cx="67341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  <a:cs typeface="Arial" panose="020B0604020202020204" pitchFamily="34" charset="0"/>
              </a:rPr>
              <a:t>To find an LCS follow the arrows, for each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  <a:cs typeface="Arial" panose="020B0604020202020204" pitchFamily="34" charset="0"/>
              </a:rPr>
              <a:t> diagonal arrow there is a member of the LCS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Constructing an LCS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5638800" cy="3429000"/>
          </a:xfrm>
          <a:solidFill>
            <a:srgbClr val="CCECFF"/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457200" indent="-4572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u="sng" smtClean="0"/>
              <a:t>PRINT-LCS (</a:t>
            </a:r>
            <a:r>
              <a:rPr lang="en-US" altLang="en-US" sz="2400" i="1" u="sng" smtClean="0"/>
              <a:t>b, X, i, j</a:t>
            </a:r>
            <a:r>
              <a:rPr lang="en-US" altLang="en-US" sz="2400" u="sng" smtClean="0"/>
              <a:t>)</a:t>
            </a:r>
          </a:p>
          <a:p>
            <a:pPr marL="457200" indent="-4572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400" b="1" smtClean="0"/>
              <a:t>if </a:t>
            </a:r>
            <a:r>
              <a:rPr lang="en-US" altLang="en-US" sz="2400" i="1" smtClean="0"/>
              <a:t>i </a:t>
            </a:r>
            <a:r>
              <a:rPr lang="en-US" altLang="en-US" sz="2400" smtClean="0"/>
              <a:t>= 0 or </a:t>
            </a:r>
            <a:r>
              <a:rPr lang="en-US" altLang="en-US" sz="2400" i="1" smtClean="0"/>
              <a:t>j </a:t>
            </a:r>
            <a:r>
              <a:rPr lang="en-US" altLang="en-US" sz="2400" smtClean="0"/>
              <a:t>= 0</a:t>
            </a:r>
          </a:p>
          <a:p>
            <a:pPr marL="457200" indent="-4572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400" b="1" smtClean="0"/>
              <a:t>    then return</a:t>
            </a:r>
          </a:p>
          <a:p>
            <a:pPr marL="457200" indent="-4572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400" b="1" smtClean="0"/>
              <a:t>if </a:t>
            </a:r>
            <a:r>
              <a:rPr lang="en-US" altLang="en-US" sz="2400" i="1" smtClean="0"/>
              <a:t>b</a:t>
            </a:r>
            <a:r>
              <a:rPr lang="en-US" altLang="en-US" sz="2400" smtClean="0"/>
              <a:t>[</a:t>
            </a:r>
            <a:r>
              <a:rPr lang="en-US" altLang="en-US" sz="2400" i="1" smtClean="0"/>
              <a:t>i, j </a:t>
            </a:r>
            <a:r>
              <a:rPr lang="en-US" altLang="en-US" sz="2400" smtClean="0"/>
              <a:t>] = “   ”</a:t>
            </a:r>
          </a:p>
          <a:p>
            <a:pPr marL="457200" indent="-4572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400" b="1" smtClean="0"/>
              <a:t>    then </a:t>
            </a:r>
            <a:r>
              <a:rPr lang="en-US" altLang="en-US" sz="2400" smtClean="0"/>
              <a:t>PRINT-LCS(</a:t>
            </a:r>
            <a:r>
              <a:rPr lang="en-US" altLang="en-US" sz="2400" i="1" smtClean="0"/>
              <a:t>b, X, i</a:t>
            </a:r>
            <a:r>
              <a:rPr lang="en-US" altLang="en-US" sz="2400" i="1" smtClean="0">
                <a:sym typeface="Symbol" panose="05050102010706020507" pitchFamily="18" charset="2"/>
              </a:rPr>
              <a:t></a:t>
            </a:r>
            <a:r>
              <a:rPr lang="en-US" altLang="en-US" sz="2400" smtClean="0"/>
              <a:t>1</a:t>
            </a:r>
            <a:r>
              <a:rPr lang="en-US" altLang="en-US" sz="2400" i="1" smtClean="0"/>
              <a:t>, j</a:t>
            </a:r>
            <a:r>
              <a:rPr lang="en-US" altLang="en-US" sz="2400" i="1" smtClean="0">
                <a:sym typeface="Symbol" panose="05050102010706020507" pitchFamily="18" charset="2"/>
              </a:rPr>
              <a:t></a:t>
            </a:r>
            <a:r>
              <a:rPr lang="en-US" altLang="en-US" sz="2400" smtClean="0"/>
              <a:t>1)</a:t>
            </a:r>
          </a:p>
          <a:p>
            <a:pPr marL="457200" indent="-4572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400" smtClean="0"/>
              <a:t>             print </a:t>
            </a:r>
            <a:r>
              <a:rPr lang="en-US" altLang="en-US" sz="2400" i="1" smtClean="0"/>
              <a:t>x</a:t>
            </a:r>
            <a:r>
              <a:rPr lang="en-US" altLang="en-US" sz="2400" i="1" baseline="-25000" smtClean="0"/>
              <a:t>i</a:t>
            </a:r>
          </a:p>
          <a:p>
            <a:pPr marL="457200" indent="-4572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400" b="1" smtClean="0"/>
              <a:t>    elseif </a:t>
            </a:r>
            <a:r>
              <a:rPr lang="en-US" altLang="en-US" sz="2400" i="1" smtClean="0"/>
              <a:t>b</a:t>
            </a:r>
            <a:r>
              <a:rPr lang="en-US" altLang="en-US" sz="2400" smtClean="0"/>
              <a:t>[</a:t>
            </a:r>
            <a:r>
              <a:rPr lang="en-US" altLang="en-US" sz="2400" i="1" smtClean="0"/>
              <a:t>i, j </a:t>
            </a:r>
            <a:r>
              <a:rPr lang="en-US" altLang="en-US" sz="2400" smtClean="0"/>
              <a:t>] = “↑”</a:t>
            </a:r>
          </a:p>
          <a:p>
            <a:pPr marL="457200" indent="-4572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400" b="1" smtClean="0"/>
              <a:t>              then </a:t>
            </a:r>
            <a:r>
              <a:rPr lang="en-US" altLang="en-US" sz="2400" smtClean="0"/>
              <a:t>PRINT-LCS(</a:t>
            </a:r>
            <a:r>
              <a:rPr lang="en-US" altLang="en-US" sz="2400" i="1" smtClean="0"/>
              <a:t>b, X, i</a:t>
            </a:r>
            <a:r>
              <a:rPr lang="en-US" altLang="en-US" sz="2400" i="1" smtClean="0">
                <a:sym typeface="Symbol" panose="05050102010706020507" pitchFamily="18" charset="2"/>
              </a:rPr>
              <a:t></a:t>
            </a:r>
            <a:r>
              <a:rPr lang="en-US" altLang="en-US" sz="2400" smtClean="0"/>
              <a:t>1</a:t>
            </a:r>
            <a:r>
              <a:rPr lang="en-US" altLang="en-US" sz="2400" i="1" smtClean="0"/>
              <a:t>, j</a:t>
            </a:r>
            <a:r>
              <a:rPr lang="en-US" altLang="en-US" sz="2400" smtClean="0"/>
              <a:t>)</a:t>
            </a:r>
          </a:p>
          <a:p>
            <a:pPr marL="457200" indent="-4572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400" b="1" smtClean="0"/>
              <a:t>else </a:t>
            </a:r>
            <a:r>
              <a:rPr lang="en-US" altLang="en-US" sz="2400" smtClean="0"/>
              <a:t>PRINT-LCS(</a:t>
            </a:r>
            <a:r>
              <a:rPr lang="en-US" altLang="en-US" sz="2400" i="1" smtClean="0"/>
              <a:t>b, X, i, j</a:t>
            </a:r>
            <a:r>
              <a:rPr lang="en-US" altLang="en-US" sz="2400" i="1" smtClean="0">
                <a:sym typeface="Symbol" panose="05050102010706020507" pitchFamily="18" charset="2"/>
              </a:rPr>
              <a:t></a:t>
            </a:r>
            <a:r>
              <a:rPr lang="en-US" altLang="en-US" sz="2400" smtClean="0"/>
              <a:t>1)</a:t>
            </a:r>
          </a:p>
          <a:p>
            <a:pPr marL="457200" indent="-457200">
              <a:lnSpc>
                <a:spcPct val="80000"/>
              </a:lnSpc>
            </a:pPr>
            <a:endParaRPr lang="en-US" altLang="en-US" sz="2400" smtClean="0"/>
          </a:p>
        </p:txBody>
      </p:sp>
      <p:sp>
        <p:nvSpPr>
          <p:cNvPr id="16388" name="Line 4"/>
          <p:cNvSpPr>
            <a:spLocks noChangeShapeType="1"/>
          </p:cNvSpPr>
          <p:nvPr/>
        </p:nvSpPr>
        <p:spPr bwMode="auto">
          <a:xfrm flipH="1" flipV="1">
            <a:off x="2209800" y="2209800"/>
            <a:ext cx="2286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89" name="Rectangle 6"/>
          <p:cNvSpPr>
            <a:spLocks noChangeArrowheads="1"/>
          </p:cNvSpPr>
          <p:nvPr/>
        </p:nvSpPr>
        <p:spPr bwMode="auto">
          <a:xfrm>
            <a:off x="304800" y="4648200"/>
            <a:ext cx="84582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2400" u="none">
                <a:solidFill>
                  <a:schemeClr val="tx1"/>
                </a:solidFill>
              </a:rPr>
              <a:t>Initial call is PRINT-LCS (</a:t>
            </a:r>
            <a:r>
              <a:rPr lang="en-US" altLang="en-US" sz="2400" i="1" u="none">
                <a:solidFill>
                  <a:schemeClr val="tx1"/>
                </a:solidFill>
              </a:rPr>
              <a:t>b, X,m, n</a:t>
            </a:r>
            <a:r>
              <a:rPr lang="en-US" altLang="en-US" sz="2400" u="none">
                <a:solidFill>
                  <a:schemeClr val="tx1"/>
                </a:solidFill>
              </a:rPr>
              <a:t>).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2400" u="none">
                <a:solidFill>
                  <a:schemeClr val="tx1"/>
                </a:solidFill>
              </a:rPr>
              <a:t>When </a:t>
            </a:r>
            <a:r>
              <a:rPr lang="en-US" altLang="en-US" sz="2400" i="1" u="none">
                <a:solidFill>
                  <a:schemeClr val="tx1"/>
                </a:solidFill>
              </a:rPr>
              <a:t>b</a:t>
            </a:r>
            <a:r>
              <a:rPr lang="en-US" altLang="en-US" sz="2400" u="none">
                <a:solidFill>
                  <a:schemeClr val="tx1"/>
                </a:solidFill>
              </a:rPr>
              <a:t>[</a:t>
            </a:r>
            <a:r>
              <a:rPr lang="en-US" altLang="en-US" sz="2400" i="1" u="none">
                <a:solidFill>
                  <a:schemeClr val="tx1"/>
                </a:solidFill>
              </a:rPr>
              <a:t>i, j </a:t>
            </a:r>
            <a:r>
              <a:rPr lang="en-US" altLang="en-US" sz="2400" u="none">
                <a:solidFill>
                  <a:schemeClr val="tx1"/>
                </a:solidFill>
              </a:rPr>
              <a:t>] =    , we have extended LCS by one character. So LCS = entries with      in them.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2400" u="none">
                <a:solidFill>
                  <a:schemeClr val="tx1"/>
                </a:solidFill>
              </a:rPr>
              <a:t>Time: </a:t>
            </a:r>
            <a:r>
              <a:rPr lang="en-US" altLang="en-US" sz="2400" i="1" u="none">
                <a:solidFill>
                  <a:schemeClr val="tx1"/>
                </a:solidFill>
              </a:rPr>
              <a:t>O</a:t>
            </a:r>
            <a:r>
              <a:rPr lang="en-US" altLang="en-US" sz="2400" u="none">
                <a:solidFill>
                  <a:schemeClr val="tx1"/>
                </a:solidFill>
              </a:rPr>
              <a:t>(</a:t>
            </a:r>
            <a:r>
              <a:rPr lang="en-US" altLang="en-US" sz="2400" i="1" u="none">
                <a:solidFill>
                  <a:schemeClr val="tx1"/>
                </a:solidFill>
              </a:rPr>
              <a:t>m</a:t>
            </a:r>
            <a:r>
              <a:rPr lang="en-US" altLang="en-US" sz="2400" u="none">
                <a:solidFill>
                  <a:schemeClr val="tx1"/>
                </a:solidFill>
              </a:rPr>
              <a:t>+</a:t>
            </a:r>
            <a:r>
              <a:rPr lang="en-US" altLang="en-US" sz="2400" i="1" u="none">
                <a:solidFill>
                  <a:schemeClr val="tx1"/>
                </a:solidFill>
              </a:rPr>
              <a:t>n</a:t>
            </a:r>
            <a:r>
              <a:rPr lang="en-US" altLang="en-US" sz="2400" u="none">
                <a:solidFill>
                  <a:schemeClr val="tx1"/>
                </a:solidFill>
              </a:rPr>
              <a:t>)</a:t>
            </a:r>
          </a:p>
          <a:p>
            <a:pPr>
              <a:spcBef>
                <a:spcPct val="0"/>
              </a:spcBef>
              <a:buFontTx/>
              <a:buChar char="•"/>
            </a:pPr>
            <a:endParaRPr lang="en-US" altLang="en-US" sz="2400" u="none">
              <a:solidFill>
                <a:schemeClr val="tx1"/>
              </a:solidFill>
            </a:endParaRPr>
          </a:p>
        </p:txBody>
      </p:sp>
      <p:sp>
        <p:nvSpPr>
          <p:cNvPr id="16390" name="Line 7"/>
          <p:cNvSpPr>
            <a:spLocks noChangeShapeType="1"/>
          </p:cNvSpPr>
          <p:nvPr/>
        </p:nvSpPr>
        <p:spPr bwMode="auto">
          <a:xfrm flipH="1" flipV="1">
            <a:off x="2743200" y="5486400"/>
            <a:ext cx="2286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91" name="Line 8"/>
          <p:cNvSpPr>
            <a:spLocks noChangeShapeType="1"/>
          </p:cNvSpPr>
          <p:nvPr/>
        </p:nvSpPr>
        <p:spPr bwMode="auto">
          <a:xfrm flipH="1" flipV="1">
            <a:off x="2362200" y="5181600"/>
            <a:ext cx="2286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mp122">
  <a:themeElements>
    <a:clrScheme name="comp122 8">
      <a:dk1>
        <a:srgbClr val="000000"/>
      </a:dk1>
      <a:lt1>
        <a:srgbClr val="FFFFCC"/>
      </a:lt1>
      <a:dk2>
        <a:srgbClr val="0000FF"/>
      </a:dk2>
      <a:lt2>
        <a:srgbClr val="808000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comp12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omp12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12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8">
        <a:dk1>
          <a:srgbClr val="000000"/>
        </a:dk1>
        <a:lt1>
          <a:srgbClr val="FFFFCC"/>
        </a:lt1>
        <a:dk2>
          <a:srgbClr val="0000FF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9">
        <a:dk1>
          <a:srgbClr val="080808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060606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Settings\UmaMaheswari\Application Data\Microsoft\Templates\comp122.pot</Template>
  <TotalTime>4921</TotalTime>
  <Words>901</Words>
  <Application>Microsoft Office PowerPoint</Application>
  <PresentationFormat>On-screen Show (4:3)</PresentationFormat>
  <Paragraphs>120</Paragraphs>
  <Slides>12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Times New Roman</vt:lpstr>
      <vt:lpstr>Arial</vt:lpstr>
      <vt:lpstr>Wingdings</vt:lpstr>
      <vt:lpstr>Symbol</vt:lpstr>
      <vt:lpstr>comp122</vt:lpstr>
      <vt:lpstr>Microsoft Equation 3.0</vt:lpstr>
      <vt:lpstr>Microsoft Office Word 97 - 2003 Document</vt:lpstr>
      <vt:lpstr>Dynamic Programming</vt:lpstr>
      <vt:lpstr>Longest Common Subsequence</vt:lpstr>
      <vt:lpstr>Naïve Algorithm</vt:lpstr>
      <vt:lpstr>Optimal Substructure</vt:lpstr>
      <vt:lpstr>Optimal Substructure</vt:lpstr>
      <vt:lpstr>Optimal Substructure</vt:lpstr>
      <vt:lpstr>Recursive Solution</vt:lpstr>
      <vt:lpstr>Recursive Solution</vt:lpstr>
      <vt:lpstr>Recursive Solution</vt:lpstr>
      <vt:lpstr>Computing the length of an LCS</vt:lpstr>
      <vt:lpstr>Example</vt:lpstr>
      <vt:lpstr>Constructing an LCS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Programming</dc:title>
  <dc:creator>UmaMaheswari</dc:creator>
  <cp:lastModifiedBy>user1</cp:lastModifiedBy>
  <cp:revision>201</cp:revision>
  <dcterms:created xsi:type="dcterms:W3CDTF">2003-10-30T07:50:22Z</dcterms:created>
  <dcterms:modified xsi:type="dcterms:W3CDTF">2025-07-28T10:26:04Z</dcterms:modified>
</cp:coreProperties>
</file>