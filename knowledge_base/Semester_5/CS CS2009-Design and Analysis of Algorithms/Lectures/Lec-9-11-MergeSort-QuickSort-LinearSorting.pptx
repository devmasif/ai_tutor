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386" r:id="rId2"/>
    <p:sldId id="429" r:id="rId3"/>
    <p:sldId id="423" r:id="rId4"/>
    <p:sldId id="430" r:id="rId5"/>
    <p:sldId id="431" r:id="rId6"/>
    <p:sldId id="425" r:id="rId7"/>
    <p:sldId id="426" r:id="rId8"/>
    <p:sldId id="428" r:id="rId9"/>
    <p:sldId id="427" r:id="rId10"/>
    <p:sldId id="433" r:id="rId11"/>
    <p:sldId id="434" r:id="rId12"/>
    <p:sldId id="435" r:id="rId13"/>
    <p:sldId id="436" r:id="rId14"/>
    <p:sldId id="437" r:id="rId15"/>
    <p:sldId id="438" r:id="rId16"/>
    <p:sldId id="439" r:id="rId17"/>
    <p:sldId id="440" r:id="rId18"/>
    <p:sldId id="441" r:id="rId19"/>
    <p:sldId id="442" r:id="rId20"/>
    <p:sldId id="443" r:id="rId21"/>
    <p:sldId id="444" r:id="rId22"/>
    <p:sldId id="445" r:id="rId23"/>
    <p:sldId id="446" r:id="rId24"/>
    <p:sldId id="447" r:id="rId25"/>
    <p:sldId id="448" r:id="rId26"/>
    <p:sldId id="449" r:id="rId27"/>
    <p:sldId id="450" r:id="rId28"/>
    <p:sldId id="451" r:id="rId29"/>
    <p:sldId id="452" r:id="rId30"/>
    <p:sldId id="453" r:id="rId31"/>
    <p:sldId id="454" r:id="rId32"/>
    <p:sldId id="455" r:id="rId33"/>
    <p:sldId id="456" r:id="rId34"/>
    <p:sldId id="457" r:id="rId35"/>
    <p:sldId id="458" r:id="rId36"/>
    <p:sldId id="459" r:id="rId37"/>
    <p:sldId id="460" r:id="rId38"/>
    <p:sldId id="461" r:id="rId39"/>
    <p:sldId id="462" r:id="rId40"/>
    <p:sldId id="463" r:id="rId41"/>
    <p:sldId id="464" r:id="rId42"/>
    <p:sldId id="465" r:id="rId43"/>
    <p:sldId id="466" r:id="rId44"/>
    <p:sldId id="467" r:id="rId45"/>
    <p:sldId id="468" r:id="rId46"/>
    <p:sldId id="469" r:id="rId47"/>
    <p:sldId id="470" r:id="rId48"/>
    <p:sldId id="471" r:id="rId49"/>
    <p:sldId id="472" r:id="rId50"/>
    <p:sldId id="473" r:id="rId51"/>
    <p:sldId id="474" r:id="rId52"/>
    <p:sldId id="475" r:id="rId53"/>
    <p:sldId id="476" r:id="rId54"/>
  </p:sldIdLst>
  <p:sldSz cx="9144000" cy="6858000" type="screen4x3"/>
  <p:notesSz cx="6661150" cy="98710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99"/>
    <a:srgbClr val="99FF99"/>
    <a:srgbClr val="99CCFF"/>
    <a:srgbClr val="FFFF00"/>
    <a:srgbClr val="063DE8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7" autoAdjust="0"/>
    <p:restoredTop sz="94660"/>
  </p:normalViewPr>
  <p:slideViewPr>
    <p:cSldViewPr>
      <p:cViewPr varScale="1">
        <p:scale>
          <a:sx n="74" d="100"/>
          <a:sy n="74" d="100"/>
        </p:scale>
        <p:origin x="1374" y="72"/>
      </p:cViewPr>
      <p:guideLst>
        <p:guide orient="horz" pos="2160"/>
        <p:guide pos="55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5.xml"/><Relationship Id="rId2" Type="http://schemas.openxmlformats.org/officeDocument/2006/relationships/slide" Target="slides/slide4.xml"/><Relationship Id="rId1" Type="http://schemas.openxmlformats.org/officeDocument/2006/relationships/slide" Target="slides/slide2.xml"/><Relationship Id="rId5" Type="http://schemas.openxmlformats.org/officeDocument/2006/relationships/slide" Target="slides/slide34.xml"/><Relationship Id="rId4" Type="http://schemas.openxmlformats.org/officeDocument/2006/relationships/slide" Target="slides/slide3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7413" y="4689475"/>
            <a:ext cx="4886325" cy="4441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846" tIns="44134" rIns="89846" bIns="441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5" name="Rectangle 3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71538" y="746125"/>
            <a:ext cx="4919662" cy="3689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DB4D00-C913-41CA-ADA6-255351F4372B}" type="slidenum">
              <a:rPr lang="ar-SA" altLang="en-US"/>
              <a:pPr/>
              <a:t>34</a:t>
            </a:fld>
            <a:endParaRPr lang="en-US" altLang="en-US"/>
          </a:p>
        </p:txBody>
      </p:sp>
      <p:sp>
        <p:nvSpPr>
          <p:cNvPr id="3993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871538" y="747713"/>
            <a:ext cx="4916487" cy="3687762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413" y="4686300"/>
            <a:ext cx="4886325" cy="44465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latin typeface="Times New Roman" panose="02020603050405020304" pitchFamily="18" charset="0"/>
              </a:rPr>
              <a:t>larger constant in the O notation</a:t>
            </a:r>
            <a:endParaRPr lang="en-GB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6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16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393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65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3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39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9188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2444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2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304800"/>
            <a:ext cx="19621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7340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19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74825"/>
            <a:ext cx="4038600" cy="4625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4825"/>
            <a:ext cx="4038600" cy="4625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3" y="6477000"/>
            <a:ext cx="5508625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04200" y="6477000"/>
            <a:ext cx="733425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5F3AF26-2F68-4D30-AC54-A2D78792A5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6406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8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2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7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 altLang="en-US" smtClean="0"/>
              <a:t>   Design and Analysis of Algorithms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29000"/>
            <a:ext cx="6629400" cy="16002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en-US" sz="2000" smtClean="0"/>
          </a:p>
          <a:p>
            <a:pPr>
              <a:lnSpc>
                <a:spcPct val="80000"/>
              </a:lnSpc>
            </a:pPr>
            <a:endParaRPr lang="en-US" altLang="en-US" sz="1000" smtClean="0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838200" y="51054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National University of Computer and Emerging Sciences, Islamabad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Sorting algorithms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Selection and bubble sort have quadratic best/average/worst-case performance</a:t>
            </a:r>
          </a:p>
          <a:p>
            <a:r>
              <a:rPr lang="en-US" altLang="en-US" smtClean="0"/>
              <a:t>Insertion sort has quadratic average-case and worst-case performance</a:t>
            </a:r>
          </a:p>
          <a:p>
            <a:r>
              <a:rPr lang="en-US" altLang="en-US" smtClean="0"/>
              <a:t>The faster comparison based algorithm ?</a:t>
            </a:r>
          </a:p>
          <a:p>
            <a:pPr>
              <a:buFontTx/>
              <a:buNone/>
            </a:pPr>
            <a:r>
              <a:rPr lang="en-US" altLang="en-US" smtClean="0"/>
              <a:t>                O(nlogn)</a:t>
            </a:r>
          </a:p>
          <a:p>
            <a:endParaRPr lang="en-US" altLang="en-US" smtClean="0"/>
          </a:p>
          <a:p>
            <a:r>
              <a:rPr lang="en-US" altLang="en-US" smtClean="0"/>
              <a:t>Mergesort and Quicksort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Merge Sort (Divide and Conquer)</a:t>
            </a:r>
          </a:p>
        </p:txBody>
      </p:sp>
      <p:pic>
        <p:nvPicPr>
          <p:cNvPr id="7171" name="Content Placeholder 4" descr="Screen shot 2011-01-20 at 3.50.01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93" r="-1593"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838200"/>
          </a:xfrm>
        </p:spPr>
        <p:txBody>
          <a:bodyPr/>
          <a:lstStyle/>
          <a:p>
            <a:r>
              <a:rPr lang="en-US" altLang="en-US" smtClean="0"/>
              <a:t>Example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7772400" cy="914400"/>
          </a:xfrm>
        </p:spPr>
        <p:txBody>
          <a:bodyPr/>
          <a:lstStyle/>
          <a:p>
            <a:r>
              <a:rPr lang="en-US" altLang="en-US" smtClean="0"/>
              <a:t>Partition into lists of size n/2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293938" y="3355975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[10, 4, 6, 3]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2244725" y="2303463"/>
            <a:ext cx="282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[10, 4, 6, 3, 8, 2, 5, 7]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5511800" y="3422650"/>
            <a:ext cx="145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[8, 2, 5, 7]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366963" y="4611688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[10, 4]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3598863" y="459263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[6, 3]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5270500" y="4570413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[8, 2]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6808788" y="4614863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[5, 7]</a:t>
            </a:r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>
            <a:off x="3014663" y="2752725"/>
            <a:ext cx="0" cy="673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04" name="Line 12"/>
          <p:cNvSpPr>
            <a:spLocks noChangeShapeType="1"/>
          </p:cNvSpPr>
          <p:nvPr/>
        </p:nvSpPr>
        <p:spPr bwMode="auto">
          <a:xfrm>
            <a:off x="3460750" y="2762250"/>
            <a:ext cx="2727325" cy="663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 flipH="1">
            <a:off x="2779713" y="3854450"/>
            <a:ext cx="244475" cy="760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>
            <a:off x="3241675" y="3854450"/>
            <a:ext cx="717550" cy="750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 flipH="1">
            <a:off x="5732463" y="3906838"/>
            <a:ext cx="420687" cy="681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08" name="Line 16"/>
          <p:cNvSpPr>
            <a:spLocks noChangeShapeType="1"/>
          </p:cNvSpPr>
          <p:nvPr/>
        </p:nvSpPr>
        <p:spPr bwMode="auto">
          <a:xfrm>
            <a:off x="6327775" y="3906838"/>
            <a:ext cx="838200" cy="750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2333625" y="5435600"/>
            <a:ext cx="112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[4] [10]</a:t>
            </a:r>
          </a:p>
        </p:txBody>
      </p:sp>
      <p:sp>
        <p:nvSpPr>
          <p:cNvPr id="8210" name="Text Box 18"/>
          <p:cNvSpPr txBox="1">
            <a:spLocks noChangeArrowheads="1"/>
          </p:cNvSpPr>
          <p:nvPr/>
        </p:nvSpPr>
        <p:spPr bwMode="auto">
          <a:xfrm>
            <a:off x="3567113" y="5462588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[3][6]</a:t>
            </a:r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5275263" y="5465763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[2][8]</a:t>
            </a:r>
          </a:p>
        </p:txBody>
      </p:sp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6784975" y="5457825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[5][7]</a:t>
            </a:r>
          </a:p>
        </p:txBody>
      </p:sp>
      <p:sp>
        <p:nvSpPr>
          <p:cNvPr id="8213" name="Line 21"/>
          <p:cNvSpPr>
            <a:spLocks noChangeShapeType="1"/>
          </p:cNvSpPr>
          <p:nvPr/>
        </p:nvSpPr>
        <p:spPr bwMode="auto">
          <a:xfrm flipH="1">
            <a:off x="2690813" y="5076825"/>
            <a:ext cx="149225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14" name="Line 22"/>
          <p:cNvSpPr>
            <a:spLocks noChangeShapeType="1"/>
          </p:cNvSpPr>
          <p:nvPr/>
        </p:nvSpPr>
        <p:spPr bwMode="auto">
          <a:xfrm>
            <a:off x="2987675" y="5086350"/>
            <a:ext cx="122238" cy="392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15" name="Line 23"/>
          <p:cNvSpPr>
            <a:spLocks noChangeShapeType="1"/>
          </p:cNvSpPr>
          <p:nvPr/>
        </p:nvSpPr>
        <p:spPr bwMode="auto">
          <a:xfrm flipH="1">
            <a:off x="3810000" y="5111750"/>
            <a:ext cx="174625" cy="411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16" name="Line 24"/>
          <p:cNvSpPr>
            <a:spLocks noChangeShapeType="1"/>
          </p:cNvSpPr>
          <p:nvPr/>
        </p:nvSpPr>
        <p:spPr bwMode="auto">
          <a:xfrm>
            <a:off x="4062413" y="5111750"/>
            <a:ext cx="141287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17" name="Line 25"/>
          <p:cNvSpPr>
            <a:spLocks noChangeShapeType="1"/>
          </p:cNvSpPr>
          <p:nvPr/>
        </p:nvSpPr>
        <p:spPr bwMode="auto">
          <a:xfrm flipH="1">
            <a:off x="5540375" y="5059363"/>
            <a:ext cx="157163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18" name="Line 26"/>
          <p:cNvSpPr>
            <a:spLocks noChangeShapeType="1"/>
          </p:cNvSpPr>
          <p:nvPr/>
        </p:nvSpPr>
        <p:spPr bwMode="auto">
          <a:xfrm>
            <a:off x="5775325" y="5068888"/>
            <a:ext cx="131763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19" name="Line 27"/>
          <p:cNvSpPr>
            <a:spLocks noChangeShapeType="1"/>
          </p:cNvSpPr>
          <p:nvPr/>
        </p:nvSpPr>
        <p:spPr bwMode="auto">
          <a:xfrm flipH="1">
            <a:off x="7069138" y="5111750"/>
            <a:ext cx="149225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20" name="Line 28"/>
          <p:cNvSpPr>
            <a:spLocks noChangeShapeType="1"/>
          </p:cNvSpPr>
          <p:nvPr/>
        </p:nvSpPr>
        <p:spPr bwMode="auto">
          <a:xfrm>
            <a:off x="7278688" y="5111750"/>
            <a:ext cx="122237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r>
              <a:rPr lang="en-US" altLang="en-US" smtClean="0"/>
              <a:t>Example Cont’d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762000"/>
          </a:xfrm>
        </p:spPr>
        <p:txBody>
          <a:bodyPr/>
          <a:lstStyle/>
          <a:p>
            <a:r>
              <a:rPr lang="en-US" altLang="en-US" smtClean="0"/>
              <a:t>Merge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2390775" y="3548063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[3, 4, 6, 10]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2341563" y="2495550"/>
            <a:ext cx="290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[2, 3, 4, 5, 6, 7, 8, 10 ]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5608638" y="3614738"/>
            <a:ext cx="145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[2, 5, 7, 8]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2463800" y="4803775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[4, 10]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3695700" y="4784725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[3, 6]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5367338" y="4762500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[2, 8]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6905625" y="4806950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[5, 7]</a:t>
            </a:r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 flipH="1">
            <a:off x="5829300" y="4098925"/>
            <a:ext cx="420688" cy="681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>
            <a:off x="6424613" y="4098925"/>
            <a:ext cx="838200" cy="750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 flipV="1">
            <a:off x="2927350" y="4133850"/>
            <a:ext cx="184150" cy="69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 flipH="1" flipV="1">
            <a:off x="3400425" y="4141788"/>
            <a:ext cx="706438" cy="717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31" name="Line 15"/>
          <p:cNvSpPr>
            <a:spLocks noChangeShapeType="1"/>
          </p:cNvSpPr>
          <p:nvPr/>
        </p:nvSpPr>
        <p:spPr bwMode="auto">
          <a:xfrm flipV="1">
            <a:off x="3189288" y="2954338"/>
            <a:ext cx="463550" cy="611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32" name="Line 16"/>
          <p:cNvSpPr>
            <a:spLocks noChangeShapeType="1"/>
          </p:cNvSpPr>
          <p:nvPr/>
        </p:nvSpPr>
        <p:spPr bwMode="auto">
          <a:xfrm flipH="1" flipV="1">
            <a:off x="4116388" y="2997200"/>
            <a:ext cx="2166937" cy="611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2430463" y="5627688"/>
            <a:ext cx="112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[4] [10]</a:t>
            </a: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3663950" y="5654675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[3][6]</a:t>
            </a:r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5372100" y="5657850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[2][8]</a:t>
            </a:r>
          </a:p>
        </p:txBody>
      </p:sp>
      <p:sp>
        <p:nvSpPr>
          <p:cNvPr id="9236" name="Text Box 20"/>
          <p:cNvSpPr txBox="1">
            <a:spLocks noChangeArrowheads="1"/>
          </p:cNvSpPr>
          <p:nvPr/>
        </p:nvSpPr>
        <p:spPr bwMode="auto">
          <a:xfrm>
            <a:off x="6881813" y="5649913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[5][7]</a:t>
            </a:r>
          </a:p>
        </p:txBody>
      </p:sp>
      <p:sp>
        <p:nvSpPr>
          <p:cNvPr id="9237" name="Line 21"/>
          <p:cNvSpPr>
            <a:spLocks noChangeShapeType="1"/>
          </p:cNvSpPr>
          <p:nvPr/>
        </p:nvSpPr>
        <p:spPr bwMode="auto">
          <a:xfrm flipV="1">
            <a:off x="2709863" y="5286375"/>
            <a:ext cx="182562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38" name="Line 22"/>
          <p:cNvSpPr>
            <a:spLocks noChangeShapeType="1"/>
          </p:cNvSpPr>
          <p:nvPr/>
        </p:nvSpPr>
        <p:spPr bwMode="auto">
          <a:xfrm flipH="1" flipV="1">
            <a:off x="3067050" y="5313363"/>
            <a:ext cx="131763" cy="349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39" name="Line 23"/>
          <p:cNvSpPr>
            <a:spLocks noChangeShapeType="1"/>
          </p:cNvSpPr>
          <p:nvPr/>
        </p:nvSpPr>
        <p:spPr bwMode="auto">
          <a:xfrm flipV="1">
            <a:off x="3897313" y="5286375"/>
            <a:ext cx="157162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40" name="Line 24"/>
          <p:cNvSpPr>
            <a:spLocks noChangeShapeType="1"/>
          </p:cNvSpPr>
          <p:nvPr/>
        </p:nvSpPr>
        <p:spPr bwMode="auto">
          <a:xfrm flipH="1" flipV="1">
            <a:off x="4194175" y="5303838"/>
            <a:ext cx="106363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41" name="Line 25"/>
          <p:cNvSpPr>
            <a:spLocks noChangeShapeType="1"/>
          </p:cNvSpPr>
          <p:nvPr/>
        </p:nvSpPr>
        <p:spPr bwMode="auto">
          <a:xfrm flipV="1">
            <a:off x="5567363" y="5295900"/>
            <a:ext cx="16510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42" name="Line 26"/>
          <p:cNvSpPr>
            <a:spLocks noChangeShapeType="1"/>
          </p:cNvSpPr>
          <p:nvPr/>
        </p:nvSpPr>
        <p:spPr bwMode="auto">
          <a:xfrm flipH="1" flipV="1">
            <a:off x="5864225" y="5313363"/>
            <a:ext cx="112713" cy="392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43" name="Line 27"/>
          <p:cNvSpPr>
            <a:spLocks noChangeShapeType="1"/>
          </p:cNvSpPr>
          <p:nvPr/>
        </p:nvSpPr>
        <p:spPr bwMode="auto">
          <a:xfrm flipV="1">
            <a:off x="7140575" y="5303838"/>
            <a:ext cx="139700" cy="376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44" name="Line 28"/>
          <p:cNvSpPr>
            <a:spLocks noChangeShapeType="1"/>
          </p:cNvSpPr>
          <p:nvPr/>
        </p:nvSpPr>
        <p:spPr bwMode="auto">
          <a:xfrm flipH="1" flipV="1">
            <a:off x="7419975" y="5321300"/>
            <a:ext cx="130175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Analysis of Merge Sort</a:t>
            </a:r>
          </a:p>
        </p:txBody>
      </p:sp>
      <p:pic>
        <p:nvPicPr>
          <p:cNvPr id="10243" name="Content Placeholder 4" descr="Screen shot 2011-01-20 at 4.16.08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115" b="-10115"/>
          <a:stretch>
            <a:fillRect/>
          </a:stretch>
        </p:blipFill>
        <p:spPr>
          <a:xfrm>
            <a:off x="457200" y="1181100"/>
            <a:ext cx="8229600" cy="4525963"/>
          </a:xfrm>
        </p:spPr>
      </p:pic>
      <p:pic>
        <p:nvPicPr>
          <p:cNvPr id="10244" name="Picture 5" descr="Screen shot 2011-01-20 at 4.27.57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450" y="5159375"/>
            <a:ext cx="5221288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Visual Representation of the Recurrence for Merge Sort</a:t>
            </a:r>
            <a:endParaRPr lang="en-US" dirty="0"/>
          </a:p>
        </p:txBody>
      </p:sp>
      <p:pic>
        <p:nvPicPr>
          <p:cNvPr id="11267" name="Content Placeholder 4" descr="Screen shot 2011-01-20 at 4.29.43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9" b="-1559"/>
          <a:stretch>
            <a:fillRect/>
          </a:stretch>
        </p:blipFill>
        <p:spPr>
          <a:xfrm>
            <a:off x="457200" y="1600200"/>
            <a:ext cx="8229600" cy="47561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/>
        <p:txBody>
          <a:bodyPr tIns="45720" bIns="45720"/>
          <a:lstStyle/>
          <a:p>
            <a:pPr eaLnBrk="1" hangingPunct="1"/>
            <a:r>
              <a:rPr lang="en-US" altLang="en-US" smtClean="0"/>
              <a:t>Time Complexity (Using Master Theorem)</a:t>
            </a:r>
          </a:p>
        </p:txBody>
      </p:sp>
      <p:sp>
        <p:nvSpPr>
          <p:cNvPr id="12291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305800" cy="4525963"/>
          </a:xfrm>
        </p:spPr>
        <p:txBody>
          <a:bodyPr/>
          <a:lstStyle/>
          <a:p>
            <a:pPr eaLnBrk="1" hangingPunct="1"/>
            <a:r>
              <a:rPr lang="en-US" altLang="en-US" smtClean="0"/>
              <a:t>Recurrence Relation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mtClean="0"/>
              <a:t>	T(n)=2T(n/2) + n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mtClean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mtClean="0"/>
              <a:t>Using Master Theorem applying case 2: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mtClean="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mtClean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mtClean="0"/>
              <a:t>So time complexity is </a:t>
            </a:r>
            <a:r>
              <a:rPr lang="el-GR" altLang="en-US" smtClean="0"/>
              <a:t>Θ</a:t>
            </a:r>
            <a:r>
              <a:rPr lang="en-US" altLang="en-US" smtClean="0"/>
              <a:t>(nlogn)</a:t>
            </a: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2693988" y="3643313"/>
          <a:ext cx="2792412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3" imgW="863225" imgH="457002" progId="Equation.3">
                  <p:embed/>
                </p:oleObj>
              </mc:Choice>
              <mc:Fallback>
                <p:oleObj name="Equation" r:id="rId3" imgW="863225" imgH="45700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3643313"/>
                        <a:ext cx="2792412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Θ(nlgn) grows more slowly than Θ(n</a:t>
            </a:r>
            <a:r>
              <a:rPr lang="en-US" altLang="en-US" baseline="30000" smtClean="0"/>
              <a:t>2</a:t>
            </a:r>
            <a:r>
              <a:rPr lang="en-US" altLang="en-US" smtClean="0"/>
              <a:t>)</a:t>
            </a:r>
          </a:p>
          <a:p>
            <a:r>
              <a:rPr lang="en-US" altLang="en-US" smtClean="0"/>
              <a:t>Therefore, merge sort asymptotically beats insertion sort in the worst case.</a:t>
            </a:r>
          </a:p>
          <a:p>
            <a:r>
              <a:rPr lang="en-US" altLang="en-US" smtClean="0"/>
              <a:t>In practice, merge sort beats insertion sort for n &gt;=3 </a:t>
            </a:r>
          </a:p>
        </p:txBody>
      </p:sp>
      <p:sp>
        <p:nvSpPr>
          <p:cNvPr id="1331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en-US" smtClean="0"/>
              <a:t>Quick Sort</a:t>
            </a:r>
          </a:p>
        </p:txBody>
      </p:sp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2997200" y="1125538"/>
            <a:ext cx="2946400" cy="2151062"/>
            <a:chOff x="118" y="2928"/>
            <a:chExt cx="1856" cy="1355"/>
          </a:xfrm>
        </p:grpSpPr>
        <p:sp>
          <p:nvSpPr>
            <p:cNvPr id="14350" name="Freeform 4"/>
            <p:cNvSpPr>
              <a:spLocks/>
            </p:cNvSpPr>
            <p:nvPr/>
          </p:nvSpPr>
          <p:spPr bwMode="auto">
            <a:xfrm>
              <a:off x="118" y="2928"/>
              <a:ext cx="1856" cy="1355"/>
            </a:xfrm>
            <a:custGeom>
              <a:avLst/>
              <a:gdLst>
                <a:gd name="T0" fmla="*/ 364 w 1856"/>
                <a:gd name="T1" fmla="*/ 288 h 1355"/>
                <a:gd name="T2" fmla="*/ 28 w 1856"/>
                <a:gd name="T3" fmla="*/ 768 h 1355"/>
                <a:gd name="T4" fmla="*/ 535 w 1856"/>
                <a:gd name="T5" fmla="*/ 923 h 1355"/>
                <a:gd name="T6" fmla="*/ 888 w 1856"/>
                <a:gd name="T7" fmla="*/ 1233 h 1355"/>
                <a:gd name="T8" fmla="*/ 1301 w 1856"/>
                <a:gd name="T9" fmla="*/ 1293 h 1355"/>
                <a:gd name="T10" fmla="*/ 1804 w 1856"/>
                <a:gd name="T11" fmla="*/ 864 h 1355"/>
                <a:gd name="T12" fmla="*/ 988 w 1856"/>
                <a:gd name="T13" fmla="*/ 96 h 1355"/>
                <a:gd name="T14" fmla="*/ 364 w 1856"/>
                <a:gd name="T15" fmla="*/ 288 h 135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6"/>
                <a:gd name="T25" fmla="*/ 0 h 1355"/>
                <a:gd name="T26" fmla="*/ 1856 w 1856"/>
                <a:gd name="T27" fmla="*/ 1355 h 135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6" h="1355">
                  <a:moveTo>
                    <a:pt x="364" y="288"/>
                  </a:moveTo>
                  <a:cubicBezTo>
                    <a:pt x="204" y="400"/>
                    <a:pt x="0" y="662"/>
                    <a:pt x="28" y="768"/>
                  </a:cubicBezTo>
                  <a:cubicBezTo>
                    <a:pt x="56" y="874"/>
                    <a:pt x="392" y="846"/>
                    <a:pt x="535" y="923"/>
                  </a:cubicBezTo>
                  <a:cubicBezTo>
                    <a:pt x="678" y="1000"/>
                    <a:pt x="760" y="1171"/>
                    <a:pt x="888" y="1233"/>
                  </a:cubicBezTo>
                  <a:cubicBezTo>
                    <a:pt x="1016" y="1295"/>
                    <a:pt x="1148" y="1355"/>
                    <a:pt x="1301" y="1293"/>
                  </a:cubicBezTo>
                  <a:cubicBezTo>
                    <a:pt x="1454" y="1231"/>
                    <a:pt x="1856" y="1063"/>
                    <a:pt x="1804" y="864"/>
                  </a:cubicBezTo>
                  <a:cubicBezTo>
                    <a:pt x="1752" y="665"/>
                    <a:pt x="1228" y="192"/>
                    <a:pt x="988" y="96"/>
                  </a:cubicBezTo>
                  <a:cubicBezTo>
                    <a:pt x="748" y="0"/>
                    <a:pt x="524" y="176"/>
                    <a:pt x="364" y="288"/>
                  </a:cubicBez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51" name="Text Box 5"/>
            <p:cNvSpPr txBox="1">
              <a:spLocks noChangeArrowheads="1"/>
            </p:cNvSpPr>
            <p:nvPr/>
          </p:nvSpPr>
          <p:spPr bwMode="auto">
            <a:xfrm>
              <a:off x="518" y="3220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88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2" name="Text Box 6"/>
            <p:cNvSpPr txBox="1">
              <a:spLocks noChangeArrowheads="1"/>
            </p:cNvSpPr>
            <p:nvPr/>
          </p:nvSpPr>
          <p:spPr bwMode="auto">
            <a:xfrm>
              <a:off x="1248" y="3312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14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3" name="Text Box 7"/>
            <p:cNvSpPr txBox="1">
              <a:spLocks noChangeArrowheads="1"/>
            </p:cNvSpPr>
            <p:nvPr/>
          </p:nvSpPr>
          <p:spPr bwMode="auto">
            <a:xfrm>
              <a:off x="864" y="350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98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4" name="Text Box 8"/>
            <p:cNvSpPr txBox="1">
              <a:spLocks noChangeArrowheads="1"/>
            </p:cNvSpPr>
            <p:nvPr/>
          </p:nvSpPr>
          <p:spPr bwMode="auto">
            <a:xfrm>
              <a:off x="576" y="3552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25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5" name="Text Box 9"/>
            <p:cNvSpPr txBox="1">
              <a:spLocks noChangeArrowheads="1"/>
            </p:cNvSpPr>
            <p:nvPr/>
          </p:nvSpPr>
          <p:spPr bwMode="auto">
            <a:xfrm>
              <a:off x="998" y="3700"/>
              <a:ext cx="3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62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6" name="Text Box 10"/>
            <p:cNvSpPr txBox="1">
              <a:spLocks noChangeArrowheads="1"/>
            </p:cNvSpPr>
            <p:nvPr/>
          </p:nvSpPr>
          <p:spPr bwMode="auto">
            <a:xfrm>
              <a:off x="864" y="3216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52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7" name="Text Box 11"/>
            <p:cNvSpPr txBox="1">
              <a:spLocks noChangeArrowheads="1"/>
            </p:cNvSpPr>
            <p:nvPr/>
          </p:nvSpPr>
          <p:spPr bwMode="auto">
            <a:xfrm>
              <a:off x="1190" y="3892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79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8" name="Text Box 12"/>
            <p:cNvSpPr txBox="1">
              <a:spLocks noChangeArrowheads="1"/>
            </p:cNvSpPr>
            <p:nvPr/>
          </p:nvSpPr>
          <p:spPr bwMode="auto">
            <a:xfrm>
              <a:off x="1296" y="3552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30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9" name="Text Box 13"/>
            <p:cNvSpPr txBox="1">
              <a:spLocks noChangeArrowheads="1"/>
            </p:cNvSpPr>
            <p:nvPr/>
          </p:nvSpPr>
          <p:spPr bwMode="auto">
            <a:xfrm>
              <a:off x="1526" y="3696"/>
              <a:ext cx="2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23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0" name="Rectangle 14"/>
            <p:cNvSpPr>
              <a:spLocks noChangeArrowheads="1"/>
            </p:cNvSpPr>
            <p:nvPr/>
          </p:nvSpPr>
          <p:spPr bwMode="auto">
            <a:xfrm>
              <a:off x="370" y="3447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31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4340" name="Group 15"/>
          <p:cNvGrpSpPr>
            <a:grpSpLocks/>
          </p:cNvGrpSpPr>
          <p:nvPr/>
        </p:nvGrpSpPr>
        <p:grpSpPr bwMode="auto">
          <a:xfrm>
            <a:off x="2362200" y="3549650"/>
            <a:ext cx="5181600" cy="3232150"/>
            <a:chOff x="1440" y="2236"/>
            <a:chExt cx="3264" cy="2036"/>
          </a:xfrm>
        </p:grpSpPr>
        <p:sp>
          <p:nvSpPr>
            <p:cNvPr id="14348" name="Text Box 16"/>
            <p:cNvSpPr txBox="1">
              <a:spLocks noChangeArrowheads="1"/>
            </p:cNvSpPr>
            <p:nvPr/>
          </p:nvSpPr>
          <p:spPr bwMode="auto">
            <a:xfrm>
              <a:off x="1440" y="2236"/>
              <a:ext cx="32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3600" b="0">
                  <a:solidFill>
                    <a:schemeClr val="hlink"/>
                  </a:solidFill>
                  <a:latin typeface="Times New Roman" panose="02020603050405020304" pitchFamily="18" charset="0"/>
                </a:rPr>
                <a:t>Divide and Conquer</a:t>
              </a:r>
              <a:r>
                <a:rPr lang="en-US" altLang="en-US" sz="3600" b="0">
                  <a:latin typeface="Times New Roman" panose="02020603050405020304" pitchFamily="18" charset="0"/>
                </a:rPr>
                <a:t> </a:t>
              </a:r>
              <a:endParaRPr lang="en-CA" altLang="en-US" b="0">
                <a:latin typeface="Times New Roman" panose="02020603050405020304" pitchFamily="18" charset="0"/>
              </a:endParaRPr>
            </a:p>
          </p:txBody>
        </p:sp>
        <p:pic>
          <p:nvPicPr>
            <p:cNvPr id="14349" name="Picture 17" descr="brut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0" y="2648"/>
              <a:ext cx="1720" cy="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341" name="Group 18"/>
          <p:cNvGrpSpPr>
            <a:grpSpLocks/>
          </p:cNvGrpSpPr>
          <p:nvPr/>
        </p:nvGrpSpPr>
        <p:grpSpPr bwMode="auto">
          <a:xfrm>
            <a:off x="2590800" y="1600200"/>
            <a:ext cx="457200" cy="914400"/>
            <a:chOff x="2432" y="1328"/>
            <a:chExt cx="906" cy="2075"/>
          </a:xfrm>
        </p:grpSpPr>
        <p:sp>
          <p:nvSpPr>
            <p:cNvPr id="14342" name="Freeform 19"/>
            <p:cNvSpPr>
              <a:spLocks/>
            </p:cNvSpPr>
            <p:nvPr/>
          </p:nvSpPr>
          <p:spPr bwMode="auto">
            <a:xfrm>
              <a:off x="2594" y="1328"/>
              <a:ext cx="450" cy="433"/>
            </a:xfrm>
            <a:custGeom>
              <a:avLst/>
              <a:gdLst>
                <a:gd name="T0" fmla="*/ 902 w 410"/>
                <a:gd name="T1" fmla="*/ 270 h 406"/>
                <a:gd name="T2" fmla="*/ 729 w 410"/>
                <a:gd name="T3" fmla="*/ 96 h 406"/>
                <a:gd name="T4" fmla="*/ 556 w 410"/>
                <a:gd name="T5" fmla="*/ 0 h 406"/>
                <a:gd name="T6" fmla="*/ 355 w 410"/>
                <a:gd name="T7" fmla="*/ 0 h 406"/>
                <a:gd name="T8" fmla="*/ 135 w 410"/>
                <a:gd name="T9" fmla="*/ 61 h 406"/>
                <a:gd name="T10" fmla="*/ 32 w 410"/>
                <a:gd name="T11" fmla="*/ 164 h 406"/>
                <a:gd name="T12" fmla="*/ 0 w 410"/>
                <a:gd name="T13" fmla="*/ 306 h 406"/>
                <a:gd name="T14" fmla="*/ 32 w 410"/>
                <a:gd name="T15" fmla="*/ 491 h 406"/>
                <a:gd name="T16" fmla="*/ 165 w 410"/>
                <a:gd name="T17" fmla="*/ 704 h 406"/>
                <a:gd name="T18" fmla="*/ 407 w 410"/>
                <a:gd name="T19" fmla="*/ 841 h 406"/>
                <a:gd name="T20" fmla="*/ 592 w 410"/>
                <a:gd name="T21" fmla="*/ 912 h 406"/>
                <a:gd name="T22" fmla="*/ 780 w 410"/>
                <a:gd name="T23" fmla="*/ 937 h 406"/>
                <a:gd name="T24" fmla="*/ 933 w 410"/>
                <a:gd name="T25" fmla="*/ 904 h 406"/>
                <a:gd name="T26" fmla="*/ 1016 w 410"/>
                <a:gd name="T27" fmla="*/ 841 h 406"/>
                <a:gd name="T28" fmla="*/ 1067 w 410"/>
                <a:gd name="T29" fmla="*/ 704 h 406"/>
                <a:gd name="T30" fmla="*/ 1058 w 410"/>
                <a:gd name="T31" fmla="*/ 536 h 406"/>
                <a:gd name="T32" fmla="*/ 999 w 410"/>
                <a:gd name="T33" fmla="*/ 400 h 406"/>
                <a:gd name="T34" fmla="*/ 1341 w 410"/>
                <a:gd name="T35" fmla="*/ 270 h 406"/>
                <a:gd name="T36" fmla="*/ 1374 w 410"/>
                <a:gd name="T37" fmla="*/ 212 h 406"/>
                <a:gd name="T38" fmla="*/ 1341 w 410"/>
                <a:gd name="T39" fmla="*/ 187 h 406"/>
                <a:gd name="T40" fmla="*/ 966 w 410"/>
                <a:gd name="T41" fmla="*/ 339 h 406"/>
                <a:gd name="T42" fmla="*/ 902 w 410"/>
                <a:gd name="T43" fmla="*/ 270 h 40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10"/>
                <a:gd name="T67" fmla="*/ 0 h 406"/>
                <a:gd name="T68" fmla="*/ 410 w 410"/>
                <a:gd name="T69" fmla="*/ 406 h 40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10" h="406">
                  <a:moveTo>
                    <a:pt x="268" y="117"/>
                  </a:moveTo>
                  <a:lnTo>
                    <a:pt x="217" y="41"/>
                  </a:lnTo>
                  <a:lnTo>
                    <a:pt x="166" y="0"/>
                  </a:lnTo>
                  <a:lnTo>
                    <a:pt x="106" y="0"/>
                  </a:lnTo>
                  <a:lnTo>
                    <a:pt x="40" y="26"/>
                  </a:lnTo>
                  <a:lnTo>
                    <a:pt x="10" y="71"/>
                  </a:lnTo>
                  <a:lnTo>
                    <a:pt x="0" y="132"/>
                  </a:lnTo>
                  <a:lnTo>
                    <a:pt x="10" y="213"/>
                  </a:lnTo>
                  <a:lnTo>
                    <a:pt x="50" y="304"/>
                  </a:lnTo>
                  <a:lnTo>
                    <a:pt x="121" y="365"/>
                  </a:lnTo>
                  <a:lnTo>
                    <a:pt x="176" y="395"/>
                  </a:lnTo>
                  <a:lnTo>
                    <a:pt x="232" y="406"/>
                  </a:lnTo>
                  <a:lnTo>
                    <a:pt x="278" y="390"/>
                  </a:lnTo>
                  <a:lnTo>
                    <a:pt x="303" y="365"/>
                  </a:lnTo>
                  <a:lnTo>
                    <a:pt x="319" y="304"/>
                  </a:lnTo>
                  <a:lnTo>
                    <a:pt x="314" y="233"/>
                  </a:lnTo>
                  <a:lnTo>
                    <a:pt x="298" y="173"/>
                  </a:lnTo>
                  <a:lnTo>
                    <a:pt x="399" y="117"/>
                  </a:lnTo>
                  <a:lnTo>
                    <a:pt x="410" y="92"/>
                  </a:lnTo>
                  <a:lnTo>
                    <a:pt x="399" y="81"/>
                  </a:lnTo>
                  <a:lnTo>
                    <a:pt x="288" y="147"/>
                  </a:lnTo>
                  <a:lnTo>
                    <a:pt x="268" y="11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43" name="Freeform 20"/>
            <p:cNvSpPr>
              <a:spLocks/>
            </p:cNvSpPr>
            <p:nvPr/>
          </p:nvSpPr>
          <p:spPr bwMode="auto">
            <a:xfrm>
              <a:off x="2432" y="1810"/>
              <a:ext cx="362" cy="582"/>
            </a:xfrm>
            <a:custGeom>
              <a:avLst/>
              <a:gdLst>
                <a:gd name="T0" fmla="*/ 1138 w 329"/>
                <a:gd name="T1" fmla="*/ 33 h 546"/>
                <a:gd name="T2" fmla="*/ 1012 w 329"/>
                <a:gd name="T3" fmla="*/ 0 h 546"/>
                <a:gd name="T4" fmla="*/ 754 w 329"/>
                <a:gd name="T5" fmla="*/ 5 h 546"/>
                <a:gd name="T6" fmla="*/ 520 w 329"/>
                <a:gd name="T7" fmla="*/ 128 h 546"/>
                <a:gd name="T8" fmla="*/ 191 w 329"/>
                <a:gd name="T9" fmla="*/ 373 h 546"/>
                <a:gd name="T10" fmla="*/ 21 w 329"/>
                <a:gd name="T11" fmla="*/ 568 h 546"/>
                <a:gd name="T12" fmla="*/ 0 w 329"/>
                <a:gd name="T13" fmla="*/ 640 h 546"/>
                <a:gd name="T14" fmla="*/ 89 w 329"/>
                <a:gd name="T15" fmla="*/ 764 h 546"/>
                <a:gd name="T16" fmla="*/ 278 w 329"/>
                <a:gd name="T17" fmla="*/ 826 h 546"/>
                <a:gd name="T18" fmla="*/ 520 w 329"/>
                <a:gd name="T19" fmla="*/ 893 h 546"/>
                <a:gd name="T20" fmla="*/ 720 w 329"/>
                <a:gd name="T21" fmla="*/ 925 h 546"/>
                <a:gd name="T22" fmla="*/ 803 w 329"/>
                <a:gd name="T23" fmla="*/ 985 h 546"/>
                <a:gd name="T24" fmla="*/ 754 w 329"/>
                <a:gd name="T25" fmla="*/ 1068 h 546"/>
                <a:gd name="T26" fmla="*/ 616 w 329"/>
                <a:gd name="T27" fmla="*/ 1160 h 546"/>
                <a:gd name="T28" fmla="*/ 437 w 329"/>
                <a:gd name="T29" fmla="*/ 1173 h 546"/>
                <a:gd name="T30" fmla="*/ 316 w 329"/>
                <a:gd name="T31" fmla="*/ 1136 h 546"/>
                <a:gd name="T32" fmla="*/ 242 w 329"/>
                <a:gd name="T33" fmla="*/ 1173 h 546"/>
                <a:gd name="T34" fmla="*/ 261 w 329"/>
                <a:gd name="T35" fmla="*/ 1216 h 546"/>
                <a:gd name="T36" fmla="*/ 405 w 329"/>
                <a:gd name="T37" fmla="*/ 1252 h 546"/>
                <a:gd name="T38" fmla="*/ 616 w 329"/>
                <a:gd name="T39" fmla="*/ 1252 h 546"/>
                <a:gd name="T40" fmla="*/ 803 w 329"/>
                <a:gd name="T41" fmla="*/ 1216 h 546"/>
                <a:gd name="T42" fmla="*/ 913 w 329"/>
                <a:gd name="T43" fmla="*/ 1173 h 546"/>
                <a:gd name="T44" fmla="*/ 979 w 329"/>
                <a:gd name="T45" fmla="*/ 1088 h 546"/>
                <a:gd name="T46" fmla="*/ 1012 w 329"/>
                <a:gd name="T47" fmla="*/ 1000 h 546"/>
                <a:gd name="T48" fmla="*/ 933 w 329"/>
                <a:gd name="T49" fmla="*/ 916 h 546"/>
                <a:gd name="T50" fmla="*/ 720 w 329"/>
                <a:gd name="T51" fmla="*/ 859 h 546"/>
                <a:gd name="T52" fmla="*/ 472 w 329"/>
                <a:gd name="T53" fmla="*/ 810 h 546"/>
                <a:gd name="T54" fmla="*/ 261 w 329"/>
                <a:gd name="T55" fmla="*/ 730 h 546"/>
                <a:gd name="T56" fmla="*/ 209 w 329"/>
                <a:gd name="T57" fmla="*/ 662 h 546"/>
                <a:gd name="T58" fmla="*/ 242 w 329"/>
                <a:gd name="T59" fmla="*/ 533 h 546"/>
                <a:gd name="T60" fmla="*/ 405 w 329"/>
                <a:gd name="T61" fmla="*/ 373 h 546"/>
                <a:gd name="T62" fmla="*/ 596 w 329"/>
                <a:gd name="T63" fmla="*/ 278 h 546"/>
                <a:gd name="T64" fmla="*/ 891 w 329"/>
                <a:gd name="T65" fmla="*/ 208 h 546"/>
                <a:gd name="T66" fmla="*/ 1138 w 329"/>
                <a:gd name="T67" fmla="*/ 173 h 546"/>
                <a:gd name="T68" fmla="*/ 1138 w 329"/>
                <a:gd name="T69" fmla="*/ 80 h 546"/>
                <a:gd name="T70" fmla="*/ 1138 w 329"/>
                <a:gd name="T71" fmla="*/ 33 h 5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29"/>
                <a:gd name="T109" fmla="*/ 0 h 546"/>
                <a:gd name="T110" fmla="*/ 329 w 329"/>
                <a:gd name="T111" fmla="*/ 546 h 54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29" h="546">
                  <a:moveTo>
                    <a:pt x="329" y="15"/>
                  </a:moveTo>
                  <a:lnTo>
                    <a:pt x="293" y="0"/>
                  </a:lnTo>
                  <a:lnTo>
                    <a:pt x="217" y="5"/>
                  </a:lnTo>
                  <a:lnTo>
                    <a:pt x="151" y="56"/>
                  </a:lnTo>
                  <a:lnTo>
                    <a:pt x="55" y="162"/>
                  </a:lnTo>
                  <a:lnTo>
                    <a:pt x="5" y="248"/>
                  </a:lnTo>
                  <a:lnTo>
                    <a:pt x="0" y="278"/>
                  </a:lnTo>
                  <a:lnTo>
                    <a:pt x="25" y="334"/>
                  </a:lnTo>
                  <a:lnTo>
                    <a:pt x="80" y="359"/>
                  </a:lnTo>
                  <a:lnTo>
                    <a:pt x="151" y="389"/>
                  </a:lnTo>
                  <a:lnTo>
                    <a:pt x="207" y="404"/>
                  </a:lnTo>
                  <a:lnTo>
                    <a:pt x="232" y="430"/>
                  </a:lnTo>
                  <a:lnTo>
                    <a:pt x="217" y="465"/>
                  </a:lnTo>
                  <a:lnTo>
                    <a:pt x="177" y="506"/>
                  </a:lnTo>
                  <a:lnTo>
                    <a:pt x="126" y="511"/>
                  </a:lnTo>
                  <a:lnTo>
                    <a:pt x="91" y="495"/>
                  </a:lnTo>
                  <a:lnTo>
                    <a:pt x="70" y="511"/>
                  </a:lnTo>
                  <a:lnTo>
                    <a:pt x="75" y="531"/>
                  </a:lnTo>
                  <a:lnTo>
                    <a:pt x="116" y="546"/>
                  </a:lnTo>
                  <a:lnTo>
                    <a:pt x="177" y="546"/>
                  </a:lnTo>
                  <a:lnTo>
                    <a:pt x="232" y="531"/>
                  </a:lnTo>
                  <a:lnTo>
                    <a:pt x="263" y="511"/>
                  </a:lnTo>
                  <a:lnTo>
                    <a:pt x="283" y="475"/>
                  </a:lnTo>
                  <a:lnTo>
                    <a:pt x="293" y="435"/>
                  </a:lnTo>
                  <a:lnTo>
                    <a:pt x="268" y="399"/>
                  </a:lnTo>
                  <a:lnTo>
                    <a:pt x="207" y="374"/>
                  </a:lnTo>
                  <a:lnTo>
                    <a:pt x="136" y="354"/>
                  </a:lnTo>
                  <a:lnTo>
                    <a:pt x="75" y="319"/>
                  </a:lnTo>
                  <a:lnTo>
                    <a:pt x="60" y="288"/>
                  </a:lnTo>
                  <a:lnTo>
                    <a:pt x="70" y="233"/>
                  </a:lnTo>
                  <a:lnTo>
                    <a:pt x="116" y="162"/>
                  </a:lnTo>
                  <a:lnTo>
                    <a:pt x="172" y="121"/>
                  </a:lnTo>
                  <a:lnTo>
                    <a:pt x="258" y="91"/>
                  </a:lnTo>
                  <a:lnTo>
                    <a:pt x="329" y="76"/>
                  </a:lnTo>
                  <a:lnTo>
                    <a:pt x="329" y="35"/>
                  </a:lnTo>
                  <a:lnTo>
                    <a:pt x="329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44" name="Freeform 21"/>
            <p:cNvSpPr>
              <a:spLocks/>
            </p:cNvSpPr>
            <p:nvPr/>
          </p:nvSpPr>
          <p:spPr bwMode="auto">
            <a:xfrm>
              <a:off x="2737" y="1811"/>
              <a:ext cx="339" cy="717"/>
            </a:xfrm>
            <a:custGeom>
              <a:avLst/>
              <a:gdLst>
                <a:gd name="T0" fmla="*/ 895 w 309"/>
                <a:gd name="T1" fmla="*/ 485 h 673"/>
                <a:gd name="T2" fmla="*/ 791 w 309"/>
                <a:gd name="T3" fmla="*/ 196 h 673"/>
                <a:gd name="T4" fmla="*/ 678 w 309"/>
                <a:gd name="T5" fmla="*/ 58 h 673"/>
                <a:gd name="T6" fmla="*/ 419 w 309"/>
                <a:gd name="T7" fmla="*/ 0 h 673"/>
                <a:gd name="T8" fmla="*/ 165 w 309"/>
                <a:gd name="T9" fmla="*/ 23 h 673"/>
                <a:gd name="T10" fmla="*/ 50 w 309"/>
                <a:gd name="T11" fmla="*/ 173 h 673"/>
                <a:gd name="T12" fmla="*/ 66 w 309"/>
                <a:gd name="T13" fmla="*/ 357 h 673"/>
                <a:gd name="T14" fmla="*/ 134 w 309"/>
                <a:gd name="T15" fmla="*/ 655 h 673"/>
                <a:gd name="T16" fmla="*/ 134 w 309"/>
                <a:gd name="T17" fmla="*/ 920 h 673"/>
                <a:gd name="T18" fmla="*/ 50 w 309"/>
                <a:gd name="T19" fmla="*/ 1147 h 673"/>
                <a:gd name="T20" fmla="*/ 0 w 309"/>
                <a:gd name="T21" fmla="*/ 1278 h 673"/>
                <a:gd name="T22" fmla="*/ 32 w 309"/>
                <a:gd name="T23" fmla="*/ 1394 h 673"/>
                <a:gd name="T24" fmla="*/ 149 w 309"/>
                <a:gd name="T25" fmla="*/ 1453 h 673"/>
                <a:gd name="T26" fmla="*/ 308 w 309"/>
                <a:gd name="T27" fmla="*/ 1506 h 673"/>
                <a:gd name="T28" fmla="*/ 451 w 309"/>
                <a:gd name="T29" fmla="*/ 1533 h 673"/>
                <a:gd name="T30" fmla="*/ 647 w 309"/>
                <a:gd name="T31" fmla="*/ 1533 h 673"/>
                <a:gd name="T32" fmla="*/ 863 w 309"/>
                <a:gd name="T33" fmla="*/ 1414 h 673"/>
                <a:gd name="T34" fmla="*/ 1030 w 309"/>
                <a:gd name="T35" fmla="*/ 1171 h 673"/>
                <a:gd name="T36" fmla="*/ 1017 w 309"/>
                <a:gd name="T37" fmla="*/ 954 h 673"/>
                <a:gd name="T38" fmla="*/ 914 w 309"/>
                <a:gd name="T39" fmla="*/ 700 h 673"/>
                <a:gd name="T40" fmla="*/ 895 w 309"/>
                <a:gd name="T41" fmla="*/ 485 h 67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9"/>
                <a:gd name="T64" fmla="*/ 0 h 673"/>
                <a:gd name="T65" fmla="*/ 309 w 309"/>
                <a:gd name="T66" fmla="*/ 673 h 67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9" h="673">
                  <a:moveTo>
                    <a:pt x="269" y="212"/>
                  </a:moveTo>
                  <a:lnTo>
                    <a:pt x="238" y="86"/>
                  </a:lnTo>
                  <a:lnTo>
                    <a:pt x="203" y="25"/>
                  </a:lnTo>
                  <a:lnTo>
                    <a:pt x="126" y="0"/>
                  </a:lnTo>
                  <a:lnTo>
                    <a:pt x="50" y="10"/>
                  </a:lnTo>
                  <a:lnTo>
                    <a:pt x="15" y="76"/>
                  </a:lnTo>
                  <a:lnTo>
                    <a:pt x="20" y="157"/>
                  </a:lnTo>
                  <a:lnTo>
                    <a:pt x="40" y="288"/>
                  </a:lnTo>
                  <a:lnTo>
                    <a:pt x="40" y="404"/>
                  </a:lnTo>
                  <a:lnTo>
                    <a:pt x="15" y="505"/>
                  </a:lnTo>
                  <a:lnTo>
                    <a:pt x="0" y="561"/>
                  </a:lnTo>
                  <a:lnTo>
                    <a:pt x="10" y="612"/>
                  </a:lnTo>
                  <a:lnTo>
                    <a:pt x="45" y="638"/>
                  </a:lnTo>
                  <a:lnTo>
                    <a:pt x="91" y="663"/>
                  </a:lnTo>
                  <a:lnTo>
                    <a:pt x="136" y="673"/>
                  </a:lnTo>
                  <a:lnTo>
                    <a:pt x="193" y="673"/>
                  </a:lnTo>
                  <a:lnTo>
                    <a:pt x="259" y="622"/>
                  </a:lnTo>
                  <a:lnTo>
                    <a:pt x="309" y="515"/>
                  </a:lnTo>
                  <a:lnTo>
                    <a:pt x="304" y="419"/>
                  </a:lnTo>
                  <a:lnTo>
                    <a:pt x="274" y="308"/>
                  </a:lnTo>
                  <a:lnTo>
                    <a:pt x="269" y="21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45" name="Freeform 22"/>
            <p:cNvSpPr>
              <a:spLocks/>
            </p:cNvSpPr>
            <p:nvPr/>
          </p:nvSpPr>
          <p:spPr bwMode="auto">
            <a:xfrm>
              <a:off x="2625" y="2365"/>
              <a:ext cx="259" cy="1038"/>
            </a:xfrm>
            <a:custGeom>
              <a:avLst/>
              <a:gdLst>
                <a:gd name="T0" fmla="*/ 792 w 235"/>
                <a:gd name="T1" fmla="*/ 33 h 973"/>
                <a:gd name="T2" fmla="*/ 578 w 235"/>
                <a:gd name="T3" fmla="*/ 0 h 973"/>
                <a:gd name="T4" fmla="*/ 449 w 235"/>
                <a:gd name="T5" fmla="*/ 33 h 973"/>
                <a:gd name="T6" fmla="*/ 398 w 235"/>
                <a:gd name="T7" fmla="*/ 151 h 973"/>
                <a:gd name="T8" fmla="*/ 449 w 235"/>
                <a:gd name="T9" fmla="*/ 799 h 973"/>
                <a:gd name="T10" fmla="*/ 449 w 235"/>
                <a:gd name="T11" fmla="*/ 948 h 973"/>
                <a:gd name="T12" fmla="*/ 380 w 235"/>
                <a:gd name="T13" fmla="*/ 1233 h 973"/>
                <a:gd name="T14" fmla="*/ 361 w 235"/>
                <a:gd name="T15" fmla="*/ 1561 h 973"/>
                <a:gd name="T16" fmla="*/ 398 w 235"/>
                <a:gd name="T17" fmla="*/ 1725 h 973"/>
                <a:gd name="T18" fmla="*/ 361 w 235"/>
                <a:gd name="T19" fmla="*/ 1819 h 973"/>
                <a:gd name="T20" fmla="*/ 109 w 235"/>
                <a:gd name="T21" fmla="*/ 1961 h 973"/>
                <a:gd name="T22" fmla="*/ 0 w 235"/>
                <a:gd name="T23" fmla="*/ 2139 h 973"/>
                <a:gd name="T24" fmla="*/ 23 w 235"/>
                <a:gd name="T25" fmla="*/ 2193 h 973"/>
                <a:gd name="T26" fmla="*/ 214 w 235"/>
                <a:gd name="T27" fmla="*/ 2254 h 973"/>
                <a:gd name="T28" fmla="*/ 270 w 235"/>
                <a:gd name="T29" fmla="*/ 2231 h 973"/>
                <a:gd name="T30" fmla="*/ 287 w 235"/>
                <a:gd name="T31" fmla="*/ 2125 h 973"/>
                <a:gd name="T32" fmla="*/ 345 w 235"/>
                <a:gd name="T33" fmla="*/ 1977 h 973"/>
                <a:gd name="T34" fmla="*/ 431 w 235"/>
                <a:gd name="T35" fmla="*/ 1904 h 973"/>
                <a:gd name="T36" fmla="*/ 539 w 235"/>
                <a:gd name="T37" fmla="*/ 1857 h 973"/>
                <a:gd name="T38" fmla="*/ 632 w 235"/>
                <a:gd name="T39" fmla="*/ 1796 h 973"/>
                <a:gd name="T40" fmla="*/ 652 w 235"/>
                <a:gd name="T41" fmla="*/ 1748 h 973"/>
                <a:gd name="T42" fmla="*/ 594 w 235"/>
                <a:gd name="T43" fmla="*/ 1692 h 973"/>
                <a:gd name="T44" fmla="*/ 539 w 235"/>
                <a:gd name="T45" fmla="*/ 1656 h 973"/>
                <a:gd name="T46" fmla="*/ 508 w 235"/>
                <a:gd name="T47" fmla="*/ 1515 h 973"/>
                <a:gd name="T48" fmla="*/ 539 w 235"/>
                <a:gd name="T49" fmla="*/ 1217 h 973"/>
                <a:gd name="T50" fmla="*/ 665 w 235"/>
                <a:gd name="T51" fmla="*/ 880 h 973"/>
                <a:gd name="T52" fmla="*/ 792 w 235"/>
                <a:gd name="T53" fmla="*/ 612 h 973"/>
                <a:gd name="T54" fmla="*/ 829 w 235"/>
                <a:gd name="T55" fmla="*/ 285 h 973"/>
                <a:gd name="T56" fmla="*/ 792 w 235"/>
                <a:gd name="T57" fmla="*/ 33 h 97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35"/>
                <a:gd name="T88" fmla="*/ 0 h 973"/>
                <a:gd name="T89" fmla="*/ 235 w 235"/>
                <a:gd name="T90" fmla="*/ 973 h 97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35" h="973">
                  <a:moveTo>
                    <a:pt x="223" y="15"/>
                  </a:moveTo>
                  <a:lnTo>
                    <a:pt x="163" y="0"/>
                  </a:lnTo>
                  <a:lnTo>
                    <a:pt x="127" y="15"/>
                  </a:lnTo>
                  <a:lnTo>
                    <a:pt x="112" y="66"/>
                  </a:lnTo>
                  <a:lnTo>
                    <a:pt x="127" y="344"/>
                  </a:lnTo>
                  <a:lnTo>
                    <a:pt x="127" y="410"/>
                  </a:lnTo>
                  <a:lnTo>
                    <a:pt x="107" y="532"/>
                  </a:lnTo>
                  <a:lnTo>
                    <a:pt x="102" y="674"/>
                  </a:lnTo>
                  <a:lnTo>
                    <a:pt x="112" y="745"/>
                  </a:lnTo>
                  <a:lnTo>
                    <a:pt x="102" y="785"/>
                  </a:lnTo>
                  <a:lnTo>
                    <a:pt x="31" y="846"/>
                  </a:lnTo>
                  <a:lnTo>
                    <a:pt x="0" y="922"/>
                  </a:lnTo>
                  <a:lnTo>
                    <a:pt x="6" y="947"/>
                  </a:lnTo>
                  <a:lnTo>
                    <a:pt x="61" y="973"/>
                  </a:lnTo>
                  <a:lnTo>
                    <a:pt x="76" y="962"/>
                  </a:lnTo>
                  <a:lnTo>
                    <a:pt x="82" y="917"/>
                  </a:lnTo>
                  <a:lnTo>
                    <a:pt x="97" y="851"/>
                  </a:lnTo>
                  <a:lnTo>
                    <a:pt x="122" y="821"/>
                  </a:lnTo>
                  <a:lnTo>
                    <a:pt x="152" y="801"/>
                  </a:lnTo>
                  <a:lnTo>
                    <a:pt x="178" y="775"/>
                  </a:lnTo>
                  <a:lnTo>
                    <a:pt x="183" y="755"/>
                  </a:lnTo>
                  <a:lnTo>
                    <a:pt x="168" y="730"/>
                  </a:lnTo>
                  <a:lnTo>
                    <a:pt x="152" y="715"/>
                  </a:lnTo>
                  <a:lnTo>
                    <a:pt x="142" y="653"/>
                  </a:lnTo>
                  <a:lnTo>
                    <a:pt x="152" y="526"/>
                  </a:lnTo>
                  <a:lnTo>
                    <a:pt x="188" y="380"/>
                  </a:lnTo>
                  <a:lnTo>
                    <a:pt x="223" y="263"/>
                  </a:lnTo>
                  <a:lnTo>
                    <a:pt x="235" y="122"/>
                  </a:lnTo>
                  <a:lnTo>
                    <a:pt x="223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46" name="Freeform 23"/>
            <p:cNvSpPr>
              <a:spLocks/>
            </p:cNvSpPr>
            <p:nvPr/>
          </p:nvSpPr>
          <p:spPr bwMode="auto">
            <a:xfrm>
              <a:off x="2906" y="2365"/>
              <a:ext cx="422" cy="876"/>
            </a:xfrm>
            <a:custGeom>
              <a:avLst/>
              <a:gdLst>
                <a:gd name="T0" fmla="*/ 430 w 384"/>
                <a:gd name="T1" fmla="*/ 285 h 821"/>
                <a:gd name="T2" fmla="*/ 393 w 384"/>
                <a:gd name="T3" fmla="*/ 92 h 821"/>
                <a:gd name="T4" fmla="*/ 242 w 384"/>
                <a:gd name="T5" fmla="*/ 0 h 821"/>
                <a:gd name="T6" fmla="*/ 5 w 384"/>
                <a:gd name="T7" fmla="*/ 5 h 821"/>
                <a:gd name="T8" fmla="*/ 0 w 384"/>
                <a:gd name="T9" fmla="*/ 92 h 821"/>
                <a:gd name="T10" fmla="*/ 5 w 384"/>
                <a:gd name="T11" fmla="*/ 272 h 821"/>
                <a:gd name="T12" fmla="*/ 135 w 384"/>
                <a:gd name="T13" fmla="*/ 543 h 821"/>
                <a:gd name="T14" fmla="*/ 230 w 384"/>
                <a:gd name="T15" fmla="*/ 743 h 821"/>
                <a:gd name="T16" fmla="*/ 324 w 384"/>
                <a:gd name="T17" fmla="*/ 1009 h 821"/>
                <a:gd name="T18" fmla="*/ 358 w 384"/>
                <a:gd name="T19" fmla="*/ 1246 h 821"/>
                <a:gd name="T20" fmla="*/ 358 w 384"/>
                <a:gd name="T21" fmla="*/ 1432 h 821"/>
                <a:gd name="T22" fmla="*/ 309 w 384"/>
                <a:gd name="T23" fmla="*/ 1578 h 821"/>
                <a:gd name="T24" fmla="*/ 259 w 384"/>
                <a:gd name="T25" fmla="*/ 1626 h 821"/>
                <a:gd name="T26" fmla="*/ 259 w 384"/>
                <a:gd name="T27" fmla="*/ 1669 h 821"/>
                <a:gd name="T28" fmla="*/ 324 w 384"/>
                <a:gd name="T29" fmla="*/ 1740 h 821"/>
                <a:gd name="T30" fmla="*/ 447 w 384"/>
                <a:gd name="T31" fmla="*/ 1764 h 821"/>
                <a:gd name="T32" fmla="*/ 638 w 384"/>
                <a:gd name="T33" fmla="*/ 1764 h 821"/>
                <a:gd name="T34" fmla="*/ 984 w 384"/>
                <a:gd name="T35" fmla="*/ 1825 h 821"/>
                <a:gd name="T36" fmla="*/ 1085 w 384"/>
                <a:gd name="T37" fmla="*/ 1908 h 821"/>
                <a:gd name="T38" fmla="*/ 1246 w 384"/>
                <a:gd name="T39" fmla="*/ 1857 h 821"/>
                <a:gd name="T40" fmla="*/ 1310 w 384"/>
                <a:gd name="T41" fmla="*/ 1740 h 821"/>
                <a:gd name="T42" fmla="*/ 1246 w 384"/>
                <a:gd name="T43" fmla="*/ 1697 h 821"/>
                <a:gd name="T44" fmla="*/ 947 w 384"/>
                <a:gd name="T45" fmla="*/ 1669 h 821"/>
                <a:gd name="T46" fmla="*/ 621 w 384"/>
                <a:gd name="T47" fmla="*/ 1669 h 821"/>
                <a:gd name="T48" fmla="*/ 481 w 384"/>
                <a:gd name="T49" fmla="*/ 1658 h 821"/>
                <a:gd name="T50" fmla="*/ 447 w 384"/>
                <a:gd name="T51" fmla="*/ 1590 h 821"/>
                <a:gd name="T52" fmla="*/ 481 w 384"/>
                <a:gd name="T53" fmla="*/ 1456 h 821"/>
                <a:gd name="T54" fmla="*/ 501 w 384"/>
                <a:gd name="T55" fmla="*/ 1236 h 821"/>
                <a:gd name="T56" fmla="*/ 466 w 384"/>
                <a:gd name="T57" fmla="*/ 986 h 821"/>
                <a:gd name="T58" fmla="*/ 411 w 384"/>
                <a:gd name="T59" fmla="*/ 659 h 821"/>
                <a:gd name="T60" fmla="*/ 430 w 384"/>
                <a:gd name="T61" fmla="*/ 376 h 821"/>
                <a:gd name="T62" fmla="*/ 430 w 384"/>
                <a:gd name="T63" fmla="*/ 285 h 82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84"/>
                <a:gd name="T97" fmla="*/ 0 h 821"/>
                <a:gd name="T98" fmla="*/ 384 w 384"/>
                <a:gd name="T99" fmla="*/ 821 h 82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84" h="821">
                  <a:moveTo>
                    <a:pt x="126" y="122"/>
                  </a:moveTo>
                  <a:lnTo>
                    <a:pt x="116" y="40"/>
                  </a:lnTo>
                  <a:lnTo>
                    <a:pt x="71" y="0"/>
                  </a:lnTo>
                  <a:lnTo>
                    <a:pt x="5" y="5"/>
                  </a:lnTo>
                  <a:lnTo>
                    <a:pt x="0" y="40"/>
                  </a:lnTo>
                  <a:lnTo>
                    <a:pt x="5" y="117"/>
                  </a:lnTo>
                  <a:lnTo>
                    <a:pt x="40" y="233"/>
                  </a:lnTo>
                  <a:lnTo>
                    <a:pt x="66" y="319"/>
                  </a:lnTo>
                  <a:lnTo>
                    <a:pt x="96" y="435"/>
                  </a:lnTo>
                  <a:lnTo>
                    <a:pt x="106" y="536"/>
                  </a:lnTo>
                  <a:lnTo>
                    <a:pt x="106" y="617"/>
                  </a:lnTo>
                  <a:lnTo>
                    <a:pt x="91" y="679"/>
                  </a:lnTo>
                  <a:lnTo>
                    <a:pt x="76" y="699"/>
                  </a:lnTo>
                  <a:lnTo>
                    <a:pt x="76" y="719"/>
                  </a:lnTo>
                  <a:lnTo>
                    <a:pt x="96" y="750"/>
                  </a:lnTo>
                  <a:lnTo>
                    <a:pt x="131" y="760"/>
                  </a:lnTo>
                  <a:lnTo>
                    <a:pt x="187" y="760"/>
                  </a:lnTo>
                  <a:lnTo>
                    <a:pt x="288" y="785"/>
                  </a:lnTo>
                  <a:lnTo>
                    <a:pt x="318" y="821"/>
                  </a:lnTo>
                  <a:lnTo>
                    <a:pt x="364" y="800"/>
                  </a:lnTo>
                  <a:lnTo>
                    <a:pt x="384" y="750"/>
                  </a:lnTo>
                  <a:lnTo>
                    <a:pt x="364" y="730"/>
                  </a:lnTo>
                  <a:lnTo>
                    <a:pt x="278" y="719"/>
                  </a:lnTo>
                  <a:lnTo>
                    <a:pt x="182" y="719"/>
                  </a:lnTo>
                  <a:lnTo>
                    <a:pt x="141" y="714"/>
                  </a:lnTo>
                  <a:lnTo>
                    <a:pt x="131" y="684"/>
                  </a:lnTo>
                  <a:lnTo>
                    <a:pt x="141" y="627"/>
                  </a:lnTo>
                  <a:lnTo>
                    <a:pt x="147" y="531"/>
                  </a:lnTo>
                  <a:lnTo>
                    <a:pt x="136" y="425"/>
                  </a:lnTo>
                  <a:lnTo>
                    <a:pt x="121" y="284"/>
                  </a:lnTo>
                  <a:lnTo>
                    <a:pt x="126" y="162"/>
                  </a:lnTo>
                  <a:lnTo>
                    <a:pt x="126" y="12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47" name="Freeform 24"/>
            <p:cNvSpPr>
              <a:spLocks/>
            </p:cNvSpPr>
            <p:nvPr/>
          </p:nvSpPr>
          <p:spPr bwMode="auto">
            <a:xfrm rot="10800000" flipV="1">
              <a:off x="2976" y="1824"/>
              <a:ext cx="362" cy="582"/>
            </a:xfrm>
            <a:custGeom>
              <a:avLst/>
              <a:gdLst>
                <a:gd name="T0" fmla="*/ 1138 w 329"/>
                <a:gd name="T1" fmla="*/ 33 h 546"/>
                <a:gd name="T2" fmla="*/ 1012 w 329"/>
                <a:gd name="T3" fmla="*/ 0 h 546"/>
                <a:gd name="T4" fmla="*/ 754 w 329"/>
                <a:gd name="T5" fmla="*/ 5 h 546"/>
                <a:gd name="T6" fmla="*/ 520 w 329"/>
                <a:gd name="T7" fmla="*/ 128 h 546"/>
                <a:gd name="T8" fmla="*/ 191 w 329"/>
                <a:gd name="T9" fmla="*/ 373 h 546"/>
                <a:gd name="T10" fmla="*/ 21 w 329"/>
                <a:gd name="T11" fmla="*/ 568 h 546"/>
                <a:gd name="T12" fmla="*/ 0 w 329"/>
                <a:gd name="T13" fmla="*/ 640 h 546"/>
                <a:gd name="T14" fmla="*/ 89 w 329"/>
                <a:gd name="T15" fmla="*/ 764 h 546"/>
                <a:gd name="T16" fmla="*/ 278 w 329"/>
                <a:gd name="T17" fmla="*/ 826 h 546"/>
                <a:gd name="T18" fmla="*/ 520 w 329"/>
                <a:gd name="T19" fmla="*/ 893 h 546"/>
                <a:gd name="T20" fmla="*/ 720 w 329"/>
                <a:gd name="T21" fmla="*/ 925 h 546"/>
                <a:gd name="T22" fmla="*/ 803 w 329"/>
                <a:gd name="T23" fmla="*/ 985 h 546"/>
                <a:gd name="T24" fmla="*/ 754 w 329"/>
                <a:gd name="T25" fmla="*/ 1068 h 546"/>
                <a:gd name="T26" fmla="*/ 616 w 329"/>
                <a:gd name="T27" fmla="*/ 1160 h 546"/>
                <a:gd name="T28" fmla="*/ 437 w 329"/>
                <a:gd name="T29" fmla="*/ 1173 h 546"/>
                <a:gd name="T30" fmla="*/ 316 w 329"/>
                <a:gd name="T31" fmla="*/ 1136 h 546"/>
                <a:gd name="T32" fmla="*/ 242 w 329"/>
                <a:gd name="T33" fmla="*/ 1173 h 546"/>
                <a:gd name="T34" fmla="*/ 261 w 329"/>
                <a:gd name="T35" fmla="*/ 1216 h 546"/>
                <a:gd name="T36" fmla="*/ 405 w 329"/>
                <a:gd name="T37" fmla="*/ 1252 h 546"/>
                <a:gd name="T38" fmla="*/ 616 w 329"/>
                <a:gd name="T39" fmla="*/ 1252 h 546"/>
                <a:gd name="T40" fmla="*/ 803 w 329"/>
                <a:gd name="T41" fmla="*/ 1216 h 546"/>
                <a:gd name="T42" fmla="*/ 913 w 329"/>
                <a:gd name="T43" fmla="*/ 1173 h 546"/>
                <a:gd name="T44" fmla="*/ 979 w 329"/>
                <a:gd name="T45" fmla="*/ 1088 h 546"/>
                <a:gd name="T46" fmla="*/ 1012 w 329"/>
                <a:gd name="T47" fmla="*/ 1000 h 546"/>
                <a:gd name="T48" fmla="*/ 933 w 329"/>
                <a:gd name="T49" fmla="*/ 916 h 546"/>
                <a:gd name="T50" fmla="*/ 720 w 329"/>
                <a:gd name="T51" fmla="*/ 859 h 546"/>
                <a:gd name="T52" fmla="*/ 472 w 329"/>
                <a:gd name="T53" fmla="*/ 810 h 546"/>
                <a:gd name="T54" fmla="*/ 261 w 329"/>
                <a:gd name="T55" fmla="*/ 730 h 546"/>
                <a:gd name="T56" fmla="*/ 209 w 329"/>
                <a:gd name="T57" fmla="*/ 662 h 546"/>
                <a:gd name="T58" fmla="*/ 242 w 329"/>
                <a:gd name="T59" fmla="*/ 533 h 546"/>
                <a:gd name="T60" fmla="*/ 405 w 329"/>
                <a:gd name="T61" fmla="*/ 373 h 546"/>
                <a:gd name="T62" fmla="*/ 596 w 329"/>
                <a:gd name="T63" fmla="*/ 278 h 546"/>
                <a:gd name="T64" fmla="*/ 891 w 329"/>
                <a:gd name="T65" fmla="*/ 208 h 546"/>
                <a:gd name="T66" fmla="*/ 1138 w 329"/>
                <a:gd name="T67" fmla="*/ 173 h 546"/>
                <a:gd name="T68" fmla="*/ 1138 w 329"/>
                <a:gd name="T69" fmla="*/ 80 h 546"/>
                <a:gd name="T70" fmla="*/ 1138 w 329"/>
                <a:gd name="T71" fmla="*/ 33 h 5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29"/>
                <a:gd name="T109" fmla="*/ 0 h 546"/>
                <a:gd name="T110" fmla="*/ 329 w 329"/>
                <a:gd name="T111" fmla="*/ 546 h 54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29" h="546">
                  <a:moveTo>
                    <a:pt x="329" y="15"/>
                  </a:moveTo>
                  <a:lnTo>
                    <a:pt x="293" y="0"/>
                  </a:lnTo>
                  <a:lnTo>
                    <a:pt x="217" y="5"/>
                  </a:lnTo>
                  <a:lnTo>
                    <a:pt x="151" y="56"/>
                  </a:lnTo>
                  <a:lnTo>
                    <a:pt x="55" y="162"/>
                  </a:lnTo>
                  <a:lnTo>
                    <a:pt x="5" y="248"/>
                  </a:lnTo>
                  <a:lnTo>
                    <a:pt x="0" y="278"/>
                  </a:lnTo>
                  <a:lnTo>
                    <a:pt x="25" y="334"/>
                  </a:lnTo>
                  <a:lnTo>
                    <a:pt x="80" y="359"/>
                  </a:lnTo>
                  <a:lnTo>
                    <a:pt x="151" y="389"/>
                  </a:lnTo>
                  <a:lnTo>
                    <a:pt x="207" y="404"/>
                  </a:lnTo>
                  <a:lnTo>
                    <a:pt x="232" y="430"/>
                  </a:lnTo>
                  <a:lnTo>
                    <a:pt x="217" y="465"/>
                  </a:lnTo>
                  <a:lnTo>
                    <a:pt x="177" y="506"/>
                  </a:lnTo>
                  <a:lnTo>
                    <a:pt x="126" y="511"/>
                  </a:lnTo>
                  <a:lnTo>
                    <a:pt x="91" y="495"/>
                  </a:lnTo>
                  <a:lnTo>
                    <a:pt x="70" y="511"/>
                  </a:lnTo>
                  <a:lnTo>
                    <a:pt x="75" y="531"/>
                  </a:lnTo>
                  <a:lnTo>
                    <a:pt x="116" y="546"/>
                  </a:lnTo>
                  <a:lnTo>
                    <a:pt x="177" y="546"/>
                  </a:lnTo>
                  <a:lnTo>
                    <a:pt x="232" y="531"/>
                  </a:lnTo>
                  <a:lnTo>
                    <a:pt x="263" y="511"/>
                  </a:lnTo>
                  <a:lnTo>
                    <a:pt x="283" y="475"/>
                  </a:lnTo>
                  <a:lnTo>
                    <a:pt x="293" y="435"/>
                  </a:lnTo>
                  <a:lnTo>
                    <a:pt x="268" y="399"/>
                  </a:lnTo>
                  <a:lnTo>
                    <a:pt x="207" y="374"/>
                  </a:lnTo>
                  <a:lnTo>
                    <a:pt x="136" y="354"/>
                  </a:lnTo>
                  <a:lnTo>
                    <a:pt x="75" y="319"/>
                  </a:lnTo>
                  <a:lnTo>
                    <a:pt x="60" y="288"/>
                  </a:lnTo>
                  <a:lnTo>
                    <a:pt x="70" y="233"/>
                  </a:lnTo>
                  <a:lnTo>
                    <a:pt x="116" y="162"/>
                  </a:lnTo>
                  <a:lnTo>
                    <a:pt x="172" y="121"/>
                  </a:lnTo>
                  <a:lnTo>
                    <a:pt x="258" y="91"/>
                  </a:lnTo>
                  <a:lnTo>
                    <a:pt x="329" y="76"/>
                  </a:lnTo>
                  <a:lnTo>
                    <a:pt x="329" y="35"/>
                  </a:lnTo>
                  <a:lnTo>
                    <a:pt x="329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en-US" smtClean="0"/>
              <a:t>Quick Sort</a:t>
            </a:r>
          </a:p>
        </p:txBody>
      </p:sp>
      <p:grpSp>
        <p:nvGrpSpPr>
          <p:cNvPr id="15363" name="Group 3"/>
          <p:cNvGrpSpPr>
            <a:grpSpLocks/>
          </p:cNvGrpSpPr>
          <p:nvPr/>
        </p:nvGrpSpPr>
        <p:grpSpPr bwMode="auto">
          <a:xfrm>
            <a:off x="2616200" y="2954338"/>
            <a:ext cx="2946400" cy="2151062"/>
            <a:chOff x="118" y="2928"/>
            <a:chExt cx="1856" cy="1355"/>
          </a:xfrm>
        </p:grpSpPr>
        <p:sp>
          <p:nvSpPr>
            <p:cNvPr id="15388" name="Freeform 4"/>
            <p:cNvSpPr>
              <a:spLocks/>
            </p:cNvSpPr>
            <p:nvPr/>
          </p:nvSpPr>
          <p:spPr bwMode="auto">
            <a:xfrm>
              <a:off x="118" y="2928"/>
              <a:ext cx="1856" cy="1355"/>
            </a:xfrm>
            <a:custGeom>
              <a:avLst/>
              <a:gdLst>
                <a:gd name="T0" fmla="*/ 364 w 1856"/>
                <a:gd name="T1" fmla="*/ 288 h 1355"/>
                <a:gd name="T2" fmla="*/ 28 w 1856"/>
                <a:gd name="T3" fmla="*/ 768 h 1355"/>
                <a:gd name="T4" fmla="*/ 535 w 1856"/>
                <a:gd name="T5" fmla="*/ 923 h 1355"/>
                <a:gd name="T6" fmla="*/ 888 w 1856"/>
                <a:gd name="T7" fmla="*/ 1233 h 1355"/>
                <a:gd name="T8" fmla="*/ 1301 w 1856"/>
                <a:gd name="T9" fmla="*/ 1293 h 1355"/>
                <a:gd name="T10" fmla="*/ 1804 w 1856"/>
                <a:gd name="T11" fmla="*/ 864 h 1355"/>
                <a:gd name="T12" fmla="*/ 988 w 1856"/>
                <a:gd name="T13" fmla="*/ 96 h 1355"/>
                <a:gd name="T14" fmla="*/ 364 w 1856"/>
                <a:gd name="T15" fmla="*/ 288 h 135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56"/>
                <a:gd name="T25" fmla="*/ 0 h 1355"/>
                <a:gd name="T26" fmla="*/ 1856 w 1856"/>
                <a:gd name="T27" fmla="*/ 1355 h 135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56" h="1355">
                  <a:moveTo>
                    <a:pt x="364" y="288"/>
                  </a:moveTo>
                  <a:cubicBezTo>
                    <a:pt x="204" y="400"/>
                    <a:pt x="0" y="662"/>
                    <a:pt x="28" y="768"/>
                  </a:cubicBezTo>
                  <a:cubicBezTo>
                    <a:pt x="56" y="874"/>
                    <a:pt x="392" y="846"/>
                    <a:pt x="535" y="923"/>
                  </a:cubicBezTo>
                  <a:cubicBezTo>
                    <a:pt x="678" y="1000"/>
                    <a:pt x="760" y="1171"/>
                    <a:pt x="888" y="1233"/>
                  </a:cubicBezTo>
                  <a:cubicBezTo>
                    <a:pt x="1016" y="1295"/>
                    <a:pt x="1148" y="1355"/>
                    <a:pt x="1301" y="1293"/>
                  </a:cubicBezTo>
                  <a:cubicBezTo>
                    <a:pt x="1454" y="1231"/>
                    <a:pt x="1856" y="1063"/>
                    <a:pt x="1804" y="864"/>
                  </a:cubicBezTo>
                  <a:cubicBezTo>
                    <a:pt x="1752" y="665"/>
                    <a:pt x="1228" y="192"/>
                    <a:pt x="988" y="96"/>
                  </a:cubicBezTo>
                  <a:cubicBezTo>
                    <a:pt x="748" y="0"/>
                    <a:pt x="524" y="176"/>
                    <a:pt x="364" y="288"/>
                  </a:cubicBez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89" name="Text Box 5"/>
            <p:cNvSpPr txBox="1">
              <a:spLocks noChangeArrowheads="1"/>
            </p:cNvSpPr>
            <p:nvPr/>
          </p:nvSpPr>
          <p:spPr bwMode="auto">
            <a:xfrm>
              <a:off x="518" y="3220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88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90" name="Text Box 6"/>
            <p:cNvSpPr txBox="1">
              <a:spLocks noChangeArrowheads="1"/>
            </p:cNvSpPr>
            <p:nvPr/>
          </p:nvSpPr>
          <p:spPr bwMode="auto">
            <a:xfrm>
              <a:off x="1248" y="3312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14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91" name="Text Box 7"/>
            <p:cNvSpPr txBox="1">
              <a:spLocks noChangeArrowheads="1"/>
            </p:cNvSpPr>
            <p:nvPr/>
          </p:nvSpPr>
          <p:spPr bwMode="auto">
            <a:xfrm>
              <a:off x="864" y="350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98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92" name="Text Box 8"/>
            <p:cNvSpPr txBox="1">
              <a:spLocks noChangeArrowheads="1"/>
            </p:cNvSpPr>
            <p:nvPr/>
          </p:nvSpPr>
          <p:spPr bwMode="auto">
            <a:xfrm>
              <a:off x="576" y="3552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25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93" name="Text Box 9"/>
            <p:cNvSpPr txBox="1">
              <a:spLocks noChangeArrowheads="1"/>
            </p:cNvSpPr>
            <p:nvPr/>
          </p:nvSpPr>
          <p:spPr bwMode="auto">
            <a:xfrm>
              <a:off x="998" y="3700"/>
              <a:ext cx="3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62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94" name="Text Box 10"/>
            <p:cNvSpPr txBox="1">
              <a:spLocks noChangeArrowheads="1"/>
            </p:cNvSpPr>
            <p:nvPr/>
          </p:nvSpPr>
          <p:spPr bwMode="auto">
            <a:xfrm>
              <a:off x="864" y="3216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52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95" name="Text Box 11"/>
            <p:cNvSpPr txBox="1">
              <a:spLocks noChangeArrowheads="1"/>
            </p:cNvSpPr>
            <p:nvPr/>
          </p:nvSpPr>
          <p:spPr bwMode="auto">
            <a:xfrm>
              <a:off x="1190" y="3892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79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96" name="Text Box 12"/>
            <p:cNvSpPr txBox="1">
              <a:spLocks noChangeArrowheads="1"/>
            </p:cNvSpPr>
            <p:nvPr/>
          </p:nvSpPr>
          <p:spPr bwMode="auto">
            <a:xfrm>
              <a:off x="1296" y="3552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30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97" name="Text Box 13"/>
            <p:cNvSpPr txBox="1">
              <a:spLocks noChangeArrowheads="1"/>
            </p:cNvSpPr>
            <p:nvPr/>
          </p:nvSpPr>
          <p:spPr bwMode="auto">
            <a:xfrm>
              <a:off x="1526" y="3696"/>
              <a:ext cx="2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23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98" name="Rectangle 14"/>
            <p:cNvSpPr>
              <a:spLocks noChangeArrowheads="1"/>
            </p:cNvSpPr>
            <p:nvPr/>
          </p:nvSpPr>
          <p:spPr bwMode="auto">
            <a:xfrm>
              <a:off x="370" y="3447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31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5364" name="Group 15"/>
          <p:cNvGrpSpPr>
            <a:grpSpLocks/>
          </p:cNvGrpSpPr>
          <p:nvPr/>
        </p:nvGrpSpPr>
        <p:grpSpPr bwMode="auto">
          <a:xfrm>
            <a:off x="2209800" y="3429000"/>
            <a:ext cx="457200" cy="914400"/>
            <a:chOff x="2432" y="1328"/>
            <a:chExt cx="906" cy="2075"/>
          </a:xfrm>
        </p:grpSpPr>
        <p:sp>
          <p:nvSpPr>
            <p:cNvPr id="15382" name="Freeform 16"/>
            <p:cNvSpPr>
              <a:spLocks/>
            </p:cNvSpPr>
            <p:nvPr/>
          </p:nvSpPr>
          <p:spPr bwMode="auto">
            <a:xfrm>
              <a:off x="2594" y="1328"/>
              <a:ext cx="450" cy="433"/>
            </a:xfrm>
            <a:custGeom>
              <a:avLst/>
              <a:gdLst>
                <a:gd name="T0" fmla="*/ 902 w 410"/>
                <a:gd name="T1" fmla="*/ 270 h 406"/>
                <a:gd name="T2" fmla="*/ 729 w 410"/>
                <a:gd name="T3" fmla="*/ 96 h 406"/>
                <a:gd name="T4" fmla="*/ 556 w 410"/>
                <a:gd name="T5" fmla="*/ 0 h 406"/>
                <a:gd name="T6" fmla="*/ 355 w 410"/>
                <a:gd name="T7" fmla="*/ 0 h 406"/>
                <a:gd name="T8" fmla="*/ 135 w 410"/>
                <a:gd name="T9" fmla="*/ 61 h 406"/>
                <a:gd name="T10" fmla="*/ 32 w 410"/>
                <a:gd name="T11" fmla="*/ 164 h 406"/>
                <a:gd name="T12" fmla="*/ 0 w 410"/>
                <a:gd name="T13" fmla="*/ 306 h 406"/>
                <a:gd name="T14" fmla="*/ 32 w 410"/>
                <a:gd name="T15" fmla="*/ 491 h 406"/>
                <a:gd name="T16" fmla="*/ 165 w 410"/>
                <a:gd name="T17" fmla="*/ 704 h 406"/>
                <a:gd name="T18" fmla="*/ 407 w 410"/>
                <a:gd name="T19" fmla="*/ 841 h 406"/>
                <a:gd name="T20" fmla="*/ 592 w 410"/>
                <a:gd name="T21" fmla="*/ 912 h 406"/>
                <a:gd name="T22" fmla="*/ 780 w 410"/>
                <a:gd name="T23" fmla="*/ 937 h 406"/>
                <a:gd name="T24" fmla="*/ 933 w 410"/>
                <a:gd name="T25" fmla="*/ 904 h 406"/>
                <a:gd name="T26" fmla="*/ 1016 w 410"/>
                <a:gd name="T27" fmla="*/ 841 h 406"/>
                <a:gd name="T28" fmla="*/ 1067 w 410"/>
                <a:gd name="T29" fmla="*/ 704 h 406"/>
                <a:gd name="T30" fmla="*/ 1058 w 410"/>
                <a:gd name="T31" fmla="*/ 536 h 406"/>
                <a:gd name="T32" fmla="*/ 999 w 410"/>
                <a:gd name="T33" fmla="*/ 400 h 406"/>
                <a:gd name="T34" fmla="*/ 1341 w 410"/>
                <a:gd name="T35" fmla="*/ 270 h 406"/>
                <a:gd name="T36" fmla="*/ 1374 w 410"/>
                <a:gd name="T37" fmla="*/ 212 h 406"/>
                <a:gd name="T38" fmla="*/ 1341 w 410"/>
                <a:gd name="T39" fmla="*/ 187 h 406"/>
                <a:gd name="T40" fmla="*/ 966 w 410"/>
                <a:gd name="T41" fmla="*/ 339 h 406"/>
                <a:gd name="T42" fmla="*/ 902 w 410"/>
                <a:gd name="T43" fmla="*/ 270 h 40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10"/>
                <a:gd name="T67" fmla="*/ 0 h 406"/>
                <a:gd name="T68" fmla="*/ 410 w 410"/>
                <a:gd name="T69" fmla="*/ 406 h 40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10" h="406">
                  <a:moveTo>
                    <a:pt x="268" y="117"/>
                  </a:moveTo>
                  <a:lnTo>
                    <a:pt x="217" y="41"/>
                  </a:lnTo>
                  <a:lnTo>
                    <a:pt x="166" y="0"/>
                  </a:lnTo>
                  <a:lnTo>
                    <a:pt x="106" y="0"/>
                  </a:lnTo>
                  <a:lnTo>
                    <a:pt x="40" y="26"/>
                  </a:lnTo>
                  <a:lnTo>
                    <a:pt x="10" y="71"/>
                  </a:lnTo>
                  <a:lnTo>
                    <a:pt x="0" y="132"/>
                  </a:lnTo>
                  <a:lnTo>
                    <a:pt x="10" y="213"/>
                  </a:lnTo>
                  <a:lnTo>
                    <a:pt x="50" y="304"/>
                  </a:lnTo>
                  <a:lnTo>
                    <a:pt x="121" y="365"/>
                  </a:lnTo>
                  <a:lnTo>
                    <a:pt x="176" y="395"/>
                  </a:lnTo>
                  <a:lnTo>
                    <a:pt x="232" y="406"/>
                  </a:lnTo>
                  <a:lnTo>
                    <a:pt x="278" y="390"/>
                  </a:lnTo>
                  <a:lnTo>
                    <a:pt x="303" y="365"/>
                  </a:lnTo>
                  <a:lnTo>
                    <a:pt x="319" y="304"/>
                  </a:lnTo>
                  <a:lnTo>
                    <a:pt x="314" y="233"/>
                  </a:lnTo>
                  <a:lnTo>
                    <a:pt x="298" y="173"/>
                  </a:lnTo>
                  <a:lnTo>
                    <a:pt x="399" y="117"/>
                  </a:lnTo>
                  <a:lnTo>
                    <a:pt x="410" y="92"/>
                  </a:lnTo>
                  <a:lnTo>
                    <a:pt x="399" y="81"/>
                  </a:lnTo>
                  <a:lnTo>
                    <a:pt x="288" y="147"/>
                  </a:lnTo>
                  <a:lnTo>
                    <a:pt x="268" y="11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83" name="Freeform 17"/>
            <p:cNvSpPr>
              <a:spLocks/>
            </p:cNvSpPr>
            <p:nvPr/>
          </p:nvSpPr>
          <p:spPr bwMode="auto">
            <a:xfrm>
              <a:off x="2432" y="1810"/>
              <a:ext cx="362" cy="582"/>
            </a:xfrm>
            <a:custGeom>
              <a:avLst/>
              <a:gdLst>
                <a:gd name="T0" fmla="*/ 1138 w 329"/>
                <a:gd name="T1" fmla="*/ 33 h 546"/>
                <a:gd name="T2" fmla="*/ 1012 w 329"/>
                <a:gd name="T3" fmla="*/ 0 h 546"/>
                <a:gd name="T4" fmla="*/ 754 w 329"/>
                <a:gd name="T5" fmla="*/ 5 h 546"/>
                <a:gd name="T6" fmla="*/ 520 w 329"/>
                <a:gd name="T7" fmla="*/ 128 h 546"/>
                <a:gd name="T8" fmla="*/ 191 w 329"/>
                <a:gd name="T9" fmla="*/ 373 h 546"/>
                <a:gd name="T10" fmla="*/ 21 w 329"/>
                <a:gd name="T11" fmla="*/ 568 h 546"/>
                <a:gd name="T12" fmla="*/ 0 w 329"/>
                <a:gd name="T13" fmla="*/ 640 h 546"/>
                <a:gd name="T14" fmla="*/ 89 w 329"/>
                <a:gd name="T15" fmla="*/ 764 h 546"/>
                <a:gd name="T16" fmla="*/ 278 w 329"/>
                <a:gd name="T17" fmla="*/ 826 h 546"/>
                <a:gd name="T18" fmla="*/ 520 w 329"/>
                <a:gd name="T19" fmla="*/ 893 h 546"/>
                <a:gd name="T20" fmla="*/ 720 w 329"/>
                <a:gd name="T21" fmla="*/ 925 h 546"/>
                <a:gd name="T22" fmla="*/ 803 w 329"/>
                <a:gd name="T23" fmla="*/ 985 h 546"/>
                <a:gd name="T24" fmla="*/ 754 w 329"/>
                <a:gd name="T25" fmla="*/ 1068 h 546"/>
                <a:gd name="T26" fmla="*/ 616 w 329"/>
                <a:gd name="T27" fmla="*/ 1160 h 546"/>
                <a:gd name="T28" fmla="*/ 437 w 329"/>
                <a:gd name="T29" fmla="*/ 1173 h 546"/>
                <a:gd name="T30" fmla="*/ 316 w 329"/>
                <a:gd name="T31" fmla="*/ 1136 h 546"/>
                <a:gd name="T32" fmla="*/ 242 w 329"/>
                <a:gd name="T33" fmla="*/ 1173 h 546"/>
                <a:gd name="T34" fmla="*/ 261 w 329"/>
                <a:gd name="T35" fmla="*/ 1216 h 546"/>
                <a:gd name="T36" fmla="*/ 405 w 329"/>
                <a:gd name="T37" fmla="*/ 1252 h 546"/>
                <a:gd name="T38" fmla="*/ 616 w 329"/>
                <a:gd name="T39" fmla="*/ 1252 h 546"/>
                <a:gd name="T40" fmla="*/ 803 w 329"/>
                <a:gd name="T41" fmla="*/ 1216 h 546"/>
                <a:gd name="T42" fmla="*/ 913 w 329"/>
                <a:gd name="T43" fmla="*/ 1173 h 546"/>
                <a:gd name="T44" fmla="*/ 979 w 329"/>
                <a:gd name="T45" fmla="*/ 1088 h 546"/>
                <a:gd name="T46" fmla="*/ 1012 w 329"/>
                <a:gd name="T47" fmla="*/ 1000 h 546"/>
                <a:gd name="T48" fmla="*/ 933 w 329"/>
                <a:gd name="T49" fmla="*/ 916 h 546"/>
                <a:gd name="T50" fmla="*/ 720 w 329"/>
                <a:gd name="T51" fmla="*/ 859 h 546"/>
                <a:gd name="T52" fmla="*/ 472 w 329"/>
                <a:gd name="T53" fmla="*/ 810 h 546"/>
                <a:gd name="T54" fmla="*/ 261 w 329"/>
                <a:gd name="T55" fmla="*/ 730 h 546"/>
                <a:gd name="T56" fmla="*/ 209 w 329"/>
                <a:gd name="T57" fmla="*/ 662 h 546"/>
                <a:gd name="T58" fmla="*/ 242 w 329"/>
                <a:gd name="T59" fmla="*/ 533 h 546"/>
                <a:gd name="T60" fmla="*/ 405 w 329"/>
                <a:gd name="T61" fmla="*/ 373 h 546"/>
                <a:gd name="T62" fmla="*/ 596 w 329"/>
                <a:gd name="T63" fmla="*/ 278 h 546"/>
                <a:gd name="T64" fmla="*/ 891 w 329"/>
                <a:gd name="T65" fmla="*/ 208 h 546"/>
                <a:gd name="T66" fmla="*/ 1138 w 329"/>
                <a:gd name="T67" fmla="*/ 173 h 546"/>
                <a:gd name="T68" fmla="*/ 1138 w 329"/>
                <a:gd name="T69" fmla="*/ 80 h 546"/>
                <a:gd name="T70" fmla="*/ 1138 w 329"/>
                <a:gd name="T71" fmla="*/ 33 h 5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29"/>
                <a:gd name="T109" fmla="*/ 0 h 546"/>
                <a:gd name="T110" fmla="*/ 329 w 329"/>
                <a:gd name="T111" fmla="*/ 546 h 54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29" h="546">
                  <a:moveTo>
                    <a:pt x="329" y="15"/>
                  </a:moveTo>
                  <a:lnTo>
                    <a:pt x="293" y="0"/>
                  </a:lnTo>
                  <a:lnTo>
                    <a:pt x="217" y="5"/>
                  </a:lnTo>
                  <a:lnTo>
                    <a:pt x="151" y="56"/>
                  </a:lnTo>
                  <a:lnTo>
                    <a:pt x="55" y="162"/>
                  </a:lnTo>
                  <a:lnTo>
                    <a:pt x="5" y="248"/>
                  </a:lnTo>
                  <a:lnTo>
                    <a:pt x="0" y="278"/>
                  </a:lnTo>
                  <a:lnTo>
                    <a:pt x="25" y="334"/>
                  </a:lnTo>
                  <a:lnTo>
                    <a:pt x="80" y="359"/>
                  </a:lnTo>
                  <a:lnTo>
                    <a:pt x="151" y="389"/>
                  </a:lnTo>
                  <a:lnTo>
                    <a:pt x="207" y="404"/>
                  </a:lnTo>
                  <a:lnTo>
                    <a:pt x="232" y="430"/>
                  </a:lnTo>
                  <a:lnTo>
                    <a:pt x="217" y="465"/>
                  </a:lnTo>
                  <a:lnTo>
                    <a:pt x="177" y="506"/>
                  </a:lnTo>
                  <a:lnTo>
                    <a:pt x="126" y="511"/>
                  </a:lnTo>
                  <a:lnTo>
                    <a:pt x="91" y="495"/>
                  </a:lnTo>
                  <a:lnTo>
                    <a:pt x="70" y="511"/>
                  </a:lnTo>
                  <a:lnTo>
                    <a:pt x="75" y="531"/>
                  </a:lnTo>
                  <a:lnTo>
                    <a:pt x="116" y="546"/>
                  </a:lnTo>
                  <a:lnTo>
                    <a:pt x="177" y="546"/>
                  </a:lnTo>
                  <a:lnTo>
                    <a:pt x="232" y="531"/>
                  </a:lnTo>
                  <a:lnTo>
                    <a:pt x="263" y="511"/>
                  </a:lnTo>
                  <a:lnTo>
                    <a:pt x="283" y="475"/>
                  </a:lnTo>
                  <a:lnTo>
                    <a:pt x="293" y="435"/>
                  </a:lnTo>
                  <a:lnTo>
                    <a:pt x="268" y="399"/>
                  </a:lnTo>
                  <a:lnTo>
                    <a:pt x="207" y="374"/>
                  </a:lnTo>
                  <a:lnTo>
                    <a:pt x="136" y="354"/>
                  </a:lnTo>
                  <a:lnTo>
                    <a:pt x="75" y="319"/>
                  </a:lnTo>
                  <a:lnTo>
                    <a:pt x="60" y="288"/>
                  </a:lnTo>
                  <a:lnTo>
                    <a:pt x="70" y="233"/>
                  </a:lnTo>
                  <a:lnTo>
                    <a:pt x="116" y="162"/>
                  </a:lnTo>
                  <a:lnTo>
                    <a:pt x="172" y="121"/>
                  </a:lnTo>
                  <a:lnTo>
                    <a:pt x="258" y="91"/>
                  </a:lnTo>
                  <a:lnTo>
                    <a:pt x="329" y="76"/>
                  </a:lnTo>
                  <a:lnTo>
                    <a:pt x="329" y="35"/>
                  </a:lnTo>
                  <a:lnTo>
                    <a:pt x="329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84" name="Freeform 18"/>
            <p:cNvSpPr>
              <a:spLocks/>
            </p:cNvSpPr>
            <p:nvPr/>
          </p:nvSpPr>
          <p:spPr bwMode="auto">
            <a:xfrm>
              <a:off x="2737" y="1811"/>
              <a:ext cx="339" cy="717"/>
            </a:xfrm>
            <a:custGeom>
              <a:avLst/>
              <a:gdLst>
                <a:gd name="T0" fmla="*/ 895 w 309"/>
                <a:gd name="T1" fmla="*/ 485 h 673"/>
                <a:gd name="T2" fmla="*/ 791 w 309"/>
                <a:gd name="T3" fmla="*/ 196 h 673"/>
                <a:gd name="T4" fmla="*/ 678 w 309"/>
                <a:gd name="T5" fmla="*/ 58 h 673"/>
                <a:gd name="T6" fmla="*/ 419 w 309"/>
                <a:gd name="T7" fmla="*/ 0 h 673"/>
                <a:gd name="T8" fmla="*/ 165 w 309"/>
                <a:gd name="T9" fmla="*/ 23 h 673"/>
                <a:gd name="T10" fmla="*/ 50 w 309"/>
                <a:gd name="T11" fmla="*/ 173 h 673"/>
                <a:gd name="T12" fmla="*/ 66 w 309"/>
                <a:gd name="T13" fmla="*/ 357 h 673"/>
                <a:gd name="T14" fmla="*/ 134 w 309"/>
                <a:gd name="T15" fmla="*/ 655 h 673"/>
                <a:gd name="T16" fmla="*/ 134 w 309"/>
                <a:gd name="T17" fmla="*/ 920 h 673"/>
                <a:gd name="T18" fmla="*/ 50 w 309"/>
                <a:gd name="T19" fmla="*/ 1147 h 673"/>
                <a:gd name="T20" fmla="*/ 0 w 309"/>
                <a:gd name="T21" fmla="*/ 1278 h 673"/>
                <a:gd name="T22" fmla="*/ 32 w 309"/>
                <a:gd name="T23" fmla="*/ 1394 h 673"/>
                <a:gd name="T24" fmla="*/ 149 w 309"/>
                <a:gd name="T25" fmla="*/ 1453 h 673"/>
                <a:gd name="T26" fmla="*/ 308 w 309"/>
                <a:gd name="T27" fmla="*/ 1506 h 673"/>
                <a:gd name="T28" fmla="*/ 451 w 309"/>
                <a:gd name="T29" fmla="*/ 1533 h 673"/>
                <a:gd name="T30" fmla="*/ 647 w 309"/>
                <a:gd name="T31" fmla="*/ 1533 h 673"/>
                <a:gd name="T32" fmla="*/ 863 w 309"/>
                <a:gd name="T33" fmla="*/ 1414 h 673"/>
                <a:gd name="T34" fmla="*/ 1030 w 309"/>
                <a:gd name="T35" fmla="*/ 1171 h 673"/>
                <a:gd name="T36" fmla="*/ 1017 w 309"/>
                <a:gd name="T37" fmla="*/ 954 h 673"/>
                <a:gd name="T38" fmla="*/ 914 w 309"/>
                <a:gd name="T39" fmla="*/ 700 h 673"/>
                <a:gd name="T40" fmla="*/ 895 w 309"/>
                <a:gd name="T41" fmla="*/ 485 h 67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9"/>
                <a:gd name="T64" fmla="*/ 0 h 673"/>
                <a:gd name="T65" fmla="*/ 309 w 309"/>
                <a:gd name="T66" fmla="*/ 673 h 67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9" h="673">
                  <a:moveTo>
                    <a:pt x="269" y="212"/>
                  </a:moveTo>
                  <a:lnTo>
                    <a:pt x="238" y="86"/>
                  </a:lnTo>
                  <a:lnTo>
                    <a:pt x="203" y="25"/>
                  </a:lnTo>
                  <a:lnTo>
                    <a:pt x="126" y="0"/>
                  </a:lnTo>
                  <a:lnTo>
                    <a:pt x="50" y="10"/>
                  </a:lnTo>
                  <a:lnTo>
                    <a:pt x="15" y="76"/>
                  </a:lnTo>
                  <a:lnTo>
                    <a:pt x="20" y="157"/>
                  </a:lnTo>
                  <a:lnTo>
                    <a:pt x="40" y="288"/>
                  </a:lnTo>
                  <a:lnTo>
                    <a:pt x="40" y="404"/>
                  </a:lnTo>
                  <a:lnTo>
                    <a:pt x="15" y="505"/>
                  </a:lnTo>
                  <a:lnTo>
                    <a:pt x="0" y="561"/>
                  </a:lnTo>
                  <a:lnTo>
                    <a:pt x="10" y="612"/>
                  </a:lnTo>
                  <a:lnTo>
                    <a:pt x="45" y="638"/>
                  </a:lnTo>
                  <a:lnTo>
                    <a:pt x="91" y="663"/>
                  </a:lnTo>
                  <a:lnTo>
                    <a:pt x="136" y="673"/>
                  </a:lnTo>
                  <a:lnTo>
                    <a:pt x="193" y="673"/>
                  </a:lnTo>
                  <a:lnTo>
                    <a:pt x="259" y="622"/>
                  </a:lnTo>
                  <a:lnTo>
                    <a:pt x="309" y="515"/>
                  </a:lnTo>
                  <a:lnTo>
                    <a:pt x="304" y="419"/>
                  </a:lnTo>
                  <a:lnTo>
                    <a:pt x="274" y="308"/>
                  </a:lnTo>
                  <a:lnTo>
                    <a:pt x="269" y="21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85" name="Freeform 19"/>
            <p:cNvSpPr>
              <a:spLocks/>
            </p:cNvSpPr>
            <p:nvPr/>
          </p:nvSpPr>
          <p:spPr bwMode="auto">
            <a:xfrm>
              <a:off x="2625" y="2365"/>
              <a:ext cx="259" cy="1038"/>
            </a:xfrm>
            <a:custGeom>
              <a:avLst/>
              <a:gdLst>
                <a:gd name="T0" fmla="*/ 792 w 235"/>
                <a:gd name="T1" fmla="*/ 33 h 973"/>
                <a:gd name="T2" fmla="*/ 578 w 235"/>
                <a:gd name="T3" fmla="*/ 0 h 973"/>
                <a:gd name="T4" fmla="*/ 449 w 235"/>
                <a:gd name="T5" fmla="*/ 33 h 973"/>
                <a:gd name="T6" fmla="*/ 398 w 235"/>
                <a:gd name="T7" fmla="*/ 151 h 973"/>
                <a:gd name="T8" fmla="*/ 449 w 235"/>
                <a:gd name="T9" fmla="*/ 799 h 973"/>
                <a:gd name="T10" fmla="*/ 449 w 235"/>
                <a:gd name="T11" fmla="*/ 948 h 973"/>
                <a:gd name="T12" fmla="*/ 380 w 235"/>
                <a:gd name="T13" fmla="*/ 1233 h 973"/>
                <a:gd name="T14" fmla="*/ 361 w 235"/>
                <a:gd name="T15" fmla="*/ 1561 h 973"/>
                <a:gd name="T16" fmla="*/ 398 w 235"/>
                <a:gd name="T17" fmla="*/ 1725 h 973"/>
                <a:gd name="T18" fmla="*/ 361 w 235"/>
                <a:gd name="T19" fmla="*/ 1819 h 973"/>
                <a:gd name="T20" fmla="*/ 109 w 235"/>
                <a:gd name="T21" fmla="*/ 1961 h 973"/>
                <a:gd name="T22" fmla="*/ 0 w 235"/>
                <a:gd name="T23" fmla="*/ 2139 h 973"/>
                <a:gd name="T24" fmla="*/ 23 w 235"/>
                <a:gd name="T25" fmla="*/ 2193 h 973"/>
                <a:gd name="T26" fmla="*/ 214 w 235"/>
                <a:gd name="T27" fmla="*/ 2254 h 973"/>
                <a:gd name="T28" fmla="*/ 270 w 235"/>
                <a:gd name="T29" fmla="*/ 2231 h 973"/>
                <a:gd name="T30" fmla="*/ 287 w 235"/>
                <a:gd name="T31" fmla="*/ 2125 h 973"/>
                <a:gd name="T32" fmla="*/ 345 w 235"/>
                <a:gd name="T33" fmla="*/ 1977 h 973"/>
                <a:gd name="T34" fmla="*/ 431 w 235"/>
                <a:gd name="T35" fmla="*/ 1904 h 973"/>
                <a:gd name="T36" fmla="*/ 539 w 235"/>
                <a:gd name="T37" fmla="*/ 1857 h 973"/>
                <a:gd name="T38" fmla="*/ 632 w 235"/>
                <a:gd name="T39" fmla="*/ 1796 h 973"/>
                <a:gd name="T40" fmla="*/ 652 w 235"/>
                <a:gd name="T41" fmla="*/ 1748 h 973"/>
                <a:gd name="T42" fmla="*/ 594 w 235"/>
                <a:gd name="T43" fmla="*/ 1692 h 973"/>
                <a:gd name="T44" fmla="*/ 539 w 235"/>
                <a:gd name="T45" fmla="*/ 1656 h 973"/>
                <a:gd name="T46" fmla="*/ 508 w 235"/>
                <a:gd name="T47" fmla="*/ 1515 h 973"/>
                <a:gd name="T48" fmla="*/ 539 w 235"/>
                <a:gd name="T49" fmla="*/ 1217 h 973"/>
                <a:gd name="T50" fmla="*/ 665 w 235"/>
                <a:gd name="T51" fmla="*/ 880 h 973"/>
                <a:gd name="T52" fmla="*/ 792 w 235"/>
                <a:gd name="T53" fmla="*/ 612 h 973"/>
                <a:gd name="T54" fmla="*/ 829 w 235"/>
                <a:gd name="T55" fmla="*/ 285 h 973"/>
                <a:gd name="T56" fmla="*/ 792 w 235"/>
                <a:gd name="T57" fmla="*/ 33 h 97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35"/>
                <a:gd name="T88" fmla="*/ 0 h 973"/>
                <a:gd name="T89" fmla="*/ 235 w 235"/>
                <a:gd name="T90" fmla="*/ 973 h 97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35" h="973">
                  <a:moveTo>
                    <a:pt x="223" y="15"/>
                  </a:moveTo>
                  <a:lnTo>
                    <a:pt x="163" y="0"/>
                  </a:lnTo>
                  <a:lnTo>
                    <a:pt x="127" y="15"/>
                  </a:lnTo>
                  <a:lnTo>
                    <a:pt x="112" y="66"/>
                  </a:lnTo>
                  <a:lnTo>
                    <a:pt x="127" y="344"/>
                  </a:lnTo>
                  <a:lnTo>
                    <a:pt x="127" y="410"/>
                  </a:lnTo>
                  <a:lnTo>
                    <a:pt x="107" y="532"/>
                  </a:lnTo>
                  <a:lnTo>
                    <a:pt x="102" y="674"/>
                  </a:lnTo>
                  <a:lnTo>
                    <a:pt x="112" y="745"/>
                  </a:lnTo>
                  <a:lnTo>
                    <a:pt x="102" y="785"/>
                  </a:lnTo>
                  <a:lnTo>
                    <a:pt x="31" y="846"/>
                  </a:lnTo>
                  <a:lnTo>
                    <a:pt x="0" y="922"/>
                  </a:lnTo>
                  <a:lnTo>
                    <a:pt x="6" y="947"/>
                  </a:lnTo>
                  <a:lnTo>
                    <a:pt x="61" y="973"/>
                  </a:lnTo>
                  <a:lnTo>
                    <a:pt x="76" y="962"/>
                  </a:lnTo>
                  <a:lnTo>
                    <a:pt x="82" y="917"/>
                  </a:lnTo>
                  <a:lnTo>
                    <a:pt x="97" y="851"/>
                  </a:lnTo>
                  <a:lnTo>
                    <a:pt x="122" y="821"/>
                  </a:lnTo>
                  <a:lnTo>
                    <a:pt x="152" y="801"/>
                  </a:lnTo>
                  <a:lnTo>
                    <a:pt x="178" y="775"/>
                  </a:lnTo>
                  <a:lnTo>
                    <a:pt x="183" y="755"/>
                  </a:lnTo>
                  <a:lnTo>
                    <a:pt x="168" y="730"/>
                  </a:lnTo>
                  <a:lnTo>
                    <a:pt x="152" y="715"/>
                  </a:lnTo>
                  <a:lnTo>
                    <a:pt x="142" y="653"/>
                  </a:lnTo>
                  <a:lnTo>
                    <a:pt x="152" y="526"/>
                  </a:lnTo>
                  <a:lnTo>
                    <a:pt x="188" y="380"/>
                  </a:lnTo>
                  <a:lnTo>
                    <a:pt x="223" y="263"/>
                  </a:lnTo>
                  <a:lnTo>
                    <a:pt x="235" y="122"/>
                  </a:lnTo>
                  <a:lnTo>
                    <a:pt x="223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86" name="Freeform 20"/>
            <p:cNvSpPr>
              <a:spLocks/>
            </p:cNvSpPr>
            <p:nvPr/>
          </p:nvSpPr>
          <p:spPr bwMode="auto">
            <a:xfrm>
              <a:off x="2906" y="2365"/>
              <a:ext cx="422" cy="876"/>
            </a:xfrm>
            <a:custGeom>
              <a:avLst/>
              <a:gdLst>
                <a:gd name="T0" fmla="*/ 430 w 384"/>
                <a:gd name="T1" fmla="*/ 285 h 821"/>
                <a:gd name="T2" fmla="*/ 393 w 384"/>
                <a:gd name="T3" fmla="*/ 92 h 821"/>
                <a:gd name="T4" fmla="*/ 242 w 384"/>
                <a:gd name="T5" fmla="*/ 0 h 821"/>
                <a:gd name="T6" fmla="*/ 5 w 384"/>
                <a:gd name="T7" fmla="*/ 5 h 821"/>
                <a:gd name="T8" fmla="*/ 0 w 384"/>
                <a:gd name="T9" fmla="*/ 92 h 821"/>
                <a:gd name="T10" fmla="*/ 5 w 384"/>
                <a:gd name="T11" fmla="*/ 272 h 821"/>
                <a:gd name="T12" fmla="*/ 135 w 384"/>
                <a:gd name="T13" fmla="*/ 543 h 821"/>
                <a:gd name="T14" fmla="*/ 230 w 384"/>
                <a:gd name="T15" fmla="*/ 743 h 821"/>
                <a:gd name="T16" fmla="*/ 324 w 384"/>
                <a:gd name="T17" fmla="*/ 1009 h 821"/>
                <a:gd name="T18" fmla="*/ 358 w 384"/>
                <a:gd name="T19" fmla="*/ 1246 h 821"/>
                <a:gd name="T20" fmla="*/ 358 w 384"/>
                <a:gd name="T21" fmla="*/ 1432 h 821"/>
                <a:gd name="T22" fmla="*/ 309 w 384"/>
                <a:gd name="T23" fmla="*/ 1578 h 821"/>
                <a:gd name="T24" fmla="*/ 259 w 384"/>
                <a:gd name="T25" fmla="*/ 1626 h 821"/>
                <a:gd name="T26" fmla="*/ 259 w 384"/>
                <a:gd name="T27" fmla="*/ 1669 h 821"/>
                <a:gd name="T28" fmla="*/ 324 w 384"/>
                <a:gd name="T29" fmla="*/ 1740 h 821"/>
                <a:gd name="T30" fmla="*/ 447 w 384"/>
                <a:gd name="T31" fmla="*/ 1764 h 821"/>
                <a:gd name="T32" fmla="*/ 638 w 384"/>
                <a:gd name="T33" fmla="*/ 1764 h 821"/>
                <a:gd name="T34" fmla="*/ 984 w 384"/>
                <a:gd name="T35" fmla="*/ 1825 h 821"/>
                <a:gd name="T36" fmla="*/ 1085 w 384"/>
                <a:gd name="T37" fmla="*/ 1908 h 821"/>
                <a:gd name="T38" fmla="*/ 1246 w 384"/>
                <a:gd name="T39" fmla="*/ 1857 h 821"/>
                <a:gd name="T40" fmla="*/ 1310 w 384"/>
                <a:gd name="T41" fmla="*/ 1740 h 821"/>
                <a:gd name="T42" fmla="*/ 1246 w 384"/>
                <a:gd name="T43" fmla="*/ 1697 h 821"/>
                <a:gd name="T44" fmla="*/ 947 w 384"/>
                <a:gd name="T45" fmla="*/ 1669 h 821"/>
                <a:gd name="T46" fmla="*/ 621 w 384"/>
                <a:gd name="T47" fmla="*/ 1669 h 821"/>
                <a:gd name="T48" fmla="*/ 481 w 384"/>
                <a:gd name="T49" fmla="*/ 1658 h 821"/>
                <a:gd name="T50" fmla="*/ 447 w 384"/>
                <a:gd name="T51" fmla="*/ 1590 h 821"/>
                <a:gd name="T52" fmla="*/ 481 w 384"/>
                <a:gd name="T53" fmla="*/ 1456 h 821"/>
                <a:gd name="T54" fmla="*/ 501 w 384"/>
                <a:gd name="T55" fmla="*/ 1236 h 821"/>
                <a:gd name="T56" fmla="*/ 466 w 384"/>
                <a:gd name="T57" fmla="*/ 986 h 821"/>
                <a:gd name="T58" fmla="*/ 411 w 384"/>
                <a:gd name="T59" fmla="*/ 659 h 821"/>
                <a:gd name="T60" fmla="*/ 430 w 384"/>
                <a:gd name="T61" fmla="*/ 376 h 821"/>
                <a:gd name="T62" fmla="*/ 430 w 384"/>
                <a:gd name="T63" fmla="*/ 285 h 82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84"/>
                <a:gd name="T97" fmla="*/ 0 h 821"/>
                <a:gd name="T98" fmla="*/ 384 w 384"/>
                <a:gd name="T99" fmla="*/ 821 h 82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84" h="821">
                  <a:moveTo>
                    <a:pt x="126" y="122"/>
                  </a:moveTo>
                  <a:lnTo>
                    <a:pt x="116" y="40"/>
                  </a:lnTo>
                  <a:lnTo>
                    <a:pt x="71" y="0"/>
                  </a:lnTo>
                  <a:lnTo>
                    <a:pt x="5" y="5"/>
                  </a:lnTo>
                  <a:lnTo>
                    <a:pt x="0" y="40"/>
                  </a:lnTo>
                  <a:lnTo>
                    <a:pt x="5" y="117"/>
                  </a:lnTo>
                  <a:lnTo>
                    <a:pt x="40" y="233"/>
                  </a:lnTo>
                  <a:lnTo>
                    <a:pt x="66" y="319"/>
                  </a:lnTo>
                  <a:lnTo>
                    <a:pt x="96" y="435"/>
                  </a:lnTo>
                  <a:lnTo>
                    <a:pt x="106" y="536"/>
                  </a:lnTo>
                  <a:lnTo>
                    <a:pt x="106" y="617"/>
                  </a:lnTo>
                  <a:lnTo>
                    <a:pt x="91" y="679"/>
                  </a:lnTo>
                  <a:lnTo>
                    <a:pt x="76" y="699"/>
                  </a:lnTo>
                  <a:lnTo>
                    <a:pt x="76" y="719"/>
                  </a:lnTo>
                  <a:lnTo>
                    <a:pt x="96" y="750"/>
                  </a:lnTo>
                  <a:lnTo>
                    <a:pt x="131" y="760"/>
                  </a:lnTo>
                  <a:lnTo>
                    <a:pt x="187" y="760"/>
                  </a:lnTo>
                  <a:lnTo>
                    <a:pt x="288" y="785"/>
                  </a:lnTo>
                  <a:lnTo>
                    <a:pt x="318" y="821"/>
                  </a:lnTo>
                  <a:lnTo>
                    <a:pt x="364" y="800"/>
                  </a:lnTo>
                  <a:lnTo>
                    <a:pt x="384" y="750"/>
                  </a:lnTo>
                  <a:lnTo>
                    <a:pt x="364" y="730"/>
                  </a:lnTo>
                  <a:lnTo>
                    <a:pt x="278" y="719"/>
                  </a:lnTo>
                  <a:lnTo>
                    <a:pt x="182" y="719"/>
                  </a:lnTo>
                  <a:lnTo>
                    <a:pt x="141" y="714"/>
                  </a:lnTo>
                  <a:lnTo>
                    <a:pt x="131" y="684"/>
                  </a:lnTo>
                  <a:lnTo>
                    <a:pt x="141" y="627"/>
                  </a:lnTo>
                  <a:lnTo>
                    <a:pt x="147" y="531"/>
                  </a:lnTo>
                  <a:lnTo>
                    <a:pt x="136" y="425"/>
                  </a:lnTo>
                  <a:lnTo>
                    <a:pt x="121" y="284"/>
                  </a:lnTo>
                  <a:lnTo>
                    <a:pt x="126" y="162"/>
                  </a:lnTo>
                  <a:lnTo>
                    <a:pt x="126" y="12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87" name="Freeform 21"/>
            <p:cNvSpPr>
              <a:spLocks/>
            </p:cNvSpPr>
            <p:nvPr/>
          </p:nvSpPr>
          <p:spPr bwMode="auto">
            <a:xfrm rot="10800000" flipV="1">
              <a:off x="2976" y="1824"/>
              <a:ext cx="362" cy="582"/>
            </a:xfrm>
            <a:custGeom>
              <a:avLst/>
              <a:gdLst>
                <a:gd name="T0" fmla="*/ 1138 w 329"/>
                <a:gd name="T1" fmla="*/ 33 h 546"/>
                <a:gd name="T2" fmla="*/ 1012 w 329"/>
                <a:gd name="T3" fmla="*/ 0 h 546"/>
                <a:gd name="T4" fmla="*/ 754 w 329"/>
                <a:gd name="T5" fmla="*/ 5 h 546"/>
                <a:gd name="T6" fmla="*/ 520 w 329"/>
                <a:gd name="T7" fmla="*/ 128 h 546"/>
                <a:gd name="T8" fmla="*/ 191 w 329"/>
                <a:gd name="T9" fmla="*/ 373 h 546"/>
                <a:gd name="T10" fmla="*/ 21 w 329"/>
                <a:gd name="T11" fmla="*/ 568 h 546"/>
                <a:gd name="T12" fmla="*/ 0 w 329"/>
                <a:gd name="T13" fmla="*/ 640 h 546"/>
                <a:gd name="T14" fmla="*/ 89 w 329"/>
                <a:gd name="T15" fmla="*/ 764 h 546"/>
                <a:gd name="T16" fmla="*/ 278 w 329"/>
                <a:gd name="T17" fmla="*/ 826 h 546"/>
                <a:gd name="T18" fmla="*/ 520 w 329"/>
                <a:gd name="T19" fmla="*/ 893 h 546"/>
                <a:gd name="T20" fmla="*/ 720 w 329"/>
                <a:gd name="T21" fmla="*/ 925 h 546"/>
                <a:gd name="T22" fmla="*/ 803 w 329"/>
                <a:gd name="T23" fmla="*/ 985 h 546"/>
                <a:gd name="T24" fmla="*/ 754 w 329"/>
                <a:gd name="T25" fmla="*/ 1068 h 546"/>
                <a:gd name="T26" fmla="*/ 616 w 329"/>
                <a:gd name="T27" fmla="*/ 1160 h 546"/>
                <a:gd name="T28" fmla="*/ 437 w 329"/>
                <a:gd name="T29" fmla="*/ 1173 h 546"/>
                <a:gd name="T30" fmla="*/ 316 w 329"/>
                <a:gd name="T31" fmla="*/ 1136 h 546"/>
                <a:gd name="T32" fmla="*/ 242 w 329"/>
                <a:gd name="T33" fmla="*/ 1173 h 546"/>
                <a:gd name="T34" fmla="*/ 261 w 329"/>
                <a:gd name="T35" fmla="*/ 1216 h 546"/>
                <a:gd name="T36" fmla="*/ 405 w 329"/>
                <a:gd name="T37" fmla="*/ 1252 h 546"/>
                <a:gd name="T38" fmla="*/ 616 w 329"/>
                <a:gd name="T39" fmla="*/ 1252 h 546"/>
                <a:gd name="T40" fmla="*/ 803 w 329"/>
                <a:gd name="T41" fmla="*/ 1216 h 546"/>
                <a:gd name="T42" fmla="*/ 913 w 329"/>
                <a:gd name="T43" fmla="*/ 1173 h 546"/>
                <a:gd name="T44" fmla="*/ 979 w 329"/>
                <a:gd name="T45" fmla="*/ 1088 h 546"/>
                <a:gd name="T46" fmla="*/ 1012 w 329"/>
                <a:gd name="T47" fmla="*/ 1000 h 546"/>
                <a:gd name="T48" fmla="*/ 933 w 329"/>
                <a:gd name="T49" fmla="*/ 916 h 546"/>
                <a:gd name="T50" fmla="*/ 720 w 329"/>
                <a:gd name="T51" fmla="*/ 859 h 546"/>
                <a:gd name="T52" fmla="*/ 472 w 329"/>
                <a:gd name="T53" fmla="*/ 810 h 546"/>
                <a:gd name="T54" fmla="*/ 261 w 329"/>
                <a:gd name="T55" fmla="*/ 730 h 546"/>
                <a:gd name="T56" fmla="*/ 209 w 329"/>
                <a:gd name="T57" fmla="*/ 662 h 546"/>
                <a:gd name="T58" fmla="*/ 242 w 329"/>
                <a:gd name="T59" fmla="*/ 533 h 546"/>
                <a:gd name="T60" fmla="*/ 405 w 329"/>
                <a:gd name="T61" fmla="*/ 373 h 546"/>
                <a:gd name="T62" fmla="*/ 596 w 329"/>
                <a:gd name="T63" fmla="*/ 278 h 546"/>
                <a:gd name="T64" fmla="*/ 891 w 329"/>
                <a:gd name="T65" fmla="*/ 208 h 546"/>
                <a:gd name="T66" fmla="*/ 1138 w 329"/>
                <a:gd name="T67" fmla="*/ 173 h 546"/>
                <a:gd name="T68" fmla="*/ 1138 w 329"/>
                <a:gd name="T69" fmla="*/ 80 h 546"/>
                <a:gd name="T70" fmla="*/ 1138 w 329"/>
                <a:gd name="T71" fmla="*/ 33 h 5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29"/>
                <a:gd name="T109" fmla="*/ 0 h 546"/>
                <a:gd name="T110" fmla="*/ 329 w 329"/>
                <a:gd name="T111" fmla="*/ 546 h 54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29" h="546">
                  <a:moveTo>
                    <a:pt x="329" y="15"/>
                  </a:moveTo>
                  <a:lnTo>
                    <a:pt x="293" y="0"/>
                  </a:lnTo>
                  <a:lnTo>
                    <a:pt x="217" y="5"/>
                  </a:lnTo>
                  <a:lnTo>
                    <a:pt x="151" y="56"/>
                  </a:lnTo>
                  <a:lnTo>
                    <a:pt x="55" y="162"/>
                  </a:lnTo>
                  <a:lnTo>
                    <a:pt x="5" y="248"/>
                  </a:lnTo>
                  <a:lnTo>
                    <a:pt x="0" y="278"/>
                  </a:lnTo>
                  <a:lnTo>
                    <a:pt x="25" y="334"/>
                  </a:lnTo>
                  <a:lnTo>
                    <a:pt x="80" y="359"/>
                  </a:lnTo>
                  <a:lnTo>
                    <a:pt x="151" y="389"/>
                  </a:lnTo>
                  <a:lnTo>
                    <a:pt x="207" y="404"/>
                  </a:lnTo>
                  <a:lnTo>
                    <a:pt x="232" y="430"/>
                  </a:lnTo>
                  <a:lnTo>
                    <a:pt x="217" y="465"/>
                  </a:lnTo>
                  <a:lnTo>
                    <a:pt x="177" y="506"/>
                  </a:lnTo>
                  <a:lnTo>
                    <a:pt x="126" y="511"/>
                  </a:lnTo>
                  <a:lnTo>
                    <a:pt x="91" y="495"/>
                  </a:lnTo>
                  <a:lnTo>
                    <a:pt x="70" y="511"/>
                  </a:lnTo>
                  <a:lnTo>
                    <a:pt x="75" y="531"/>
                  </a:lnTo>
                  <a:lnTo>
                    <a:pt x="116" y="546"/>
                  </a:lnTo>
                  <a:lnTo>
                    <a:pt x="177" y="546"/>
                  </a:lnTo>
                  <a:lnTo>
                    <a:pt x="232" y="531"/>
                  </a:lnTo>
                  <a:lnTo>
                    <a:pt x="263" y="511"/>
                  </a:lnTo>
                  <a:lnTo>
                    <a:pt x="283" y="475"/>
                  </a:lnTo>
                  <a:lnTo>
                    <a:pt x="293" y="435"/>
                  </a:lnTo>
                  <a:lnTo>
                    <a:pt x="268" y="399"/>
                  </a:lnTo>
                  <a:lnTo>
                    <a:pt x="207" y="374"/>
                  </a:lnTo>
                  <a:lnTo>
                    <a:pt x="136" y="354"/>
                  </a:lnTo>
                  <a:lnTo>
                    <a:pt x="75" y="319"/>
                  </a:lnTo>
                  <a:lnTo>
                    <a:pt x="60" y="288"/>
                  </a:lnTo>
                  <a:lnTo>
                    <a:pt x="70" y="233"/>
                  </a:lnTo>
                  <a:lnTo>
                    <a:pt x="116" y="162"/>
                  </a:lnTo>
                  <a:lnTo>
                    <a:pt x="172" y="121"/>
                  </a:lnTo>
                  <a:lnTo>
                    <a:pt x="258" y="91"/>
                  </a:lnTo>
                  <a:lnTo>
                    <a:pt x="329" y="76"/>
                  </a:lnTo>
                  <a:lnTo>
                    <a:pt x="329" y="35"/>
                  </a:lnTo>
                  <a:lnTo>
                    <a:pt x="329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365" name="Text Box 22"/>
          <p:cNvSpPr txBox="1">
            <a:spLocks noChangeArrowheads="1"/>
          </p:cNvSpPr>
          <p:nvPr/>
        </p:nvSpPr>
        <p:spPr bwMode="auto">
          <a:xfrm>
            <a:off x="2286000" y="1600200"/>
            <a:ext cx="466566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3200" b="0">
                <a:latin typeface="Times New Roman" panose="02020603050405020304" pitchFamily="18" charset="0"/>
              </a:rPr>
              <a:t>Partition set into two using </a:t>
            </a:r>
            <a:br>
              <a:rPr lang="en-US" altLang="en-US" sz="3200" b="0">
                <a:latin typeface="Times New Roman" panose="02020603050405020304" pitchFamily="18" charset="0"/>
              </a:rPr>
            </a:br>
            <a:r>
              <a:rPr lang="en-US" altLang="en-US" sz="3200" b="0">
                <a:latin typeface="Times New Roman" panose="02020603050405020304" pitchFamily="18" charset="0"/>
              </a:rPr>
              <a:t>randomly chosen pivot</a:t>
            </a:r>
          </a:p>
        </p:txBody>
      </p:sp>
      <p:grpSp>
        <p:nvGrpSpPr>
          <p:cNvPr id="15366" name="Group 23"/>
          <p:cNvGrpSpPr>
            <a:grpSpLocks/>
          </p:cNvGrpSpPr>
          <p:nvPr/>
        </p:nvGrpSpPr>
        <p:grpSpPr bwMode="auto">
          <a:xfrm>
            <a:off x="2379663" y="4997450"/>
            <a:ext cx="4308475" cy="1479550"/>
            <a:chOff x="3046" y="1901"/>
            <a:chExt cx="2714" cy="932"/>
          </a:xfrm>
        </p:grpSpPr>
        <p:grpSp>
          <p:nvGrpSpPr>
            <p:cNvPr id="15368" name="Group 24"/>
            <p:cNvGrpSpPr>
              <a:grpSpLocks/>
            </p:cNvGrpSpPr>
            <p:nvPr/>
          </p:nvGrpSpPr>
          <p:grpSpPr bwMode="auto">
            <a:xfrm>
              <a:off x="3046" y="1997"/>
              <a:ext cx="1073" cy="779"/>
              <a:chOff x="3124" y="3297"/>
              <a:chExt cx="1073" cy="779"/>
            </a:xfrm>
          </p:grpSpPr>
          <p:sp>
            <p:nvSpPr>
              <p:cNvPr id="15376" name="Freeform 25"/>
              <p:cNvSpPr>
                <a:spLocks/>
              </p:cNvSpPr>
              <p:nvPr/>
            </p:nvSpPr>
            <p:spPr bwMode="auto">
              <a:xfrm>
                <a:off x="3124" y="3297"/>
                <a:ext cx="1073" cy="779"/>
              </a:xfrm>
              <a:custGeom>
                <a:avLst/>
                <a:gdLst>
                  <a:gd name="T0" fmla="*/ 317 w 1073"/>
                  <a:gd name="T1" fmla="*/ 64 h 779"/>
                  <a:gd name="T2" fmla="*/ 48 w 1073"/>
                  <a:gd name="T3" fmla="*/ 246 h 779"/>
                  <a:gd name="T4" fmla="*/ 26 w 1073"/>
                  <a:gd name="T5" fmla="*/ 531 h 779"/>
                  <a:gd name="T6" fmla="*/ 150 w 1073"/>
                  <a:gd name="T7" fmla="*/ 669 h 779"/>
                  <a:gd name="T8" fmla="*/ 529 w 1073"/>
                  <a:gd name="T9" fmla="*/ 750 h 779"/>
                  <a:gd name="T10" fmla="*/ 1048 w 1073"/>
                  <a:gd name="T11" fmla="*/ 495 h 779"/>
                  <a:gd name="T12" fmla="*/ 682 w 1073"/>
                  <a:gd name="T13" fmla="*/ 72 h 779"/>
                  <a:gd name="T14" fmla="*/ 317 w 1073"/>
                  <a:gd name="T15" fmla="*/ 64 h 77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73"/>
                  <a:gd name="T25" fmla="*/ 0 h 779"/>
                  <a:gd name="T26" fmla="*/ 1073 w 1073"/>
                  <a:gd name="T27" fmla="*/ 779 h 77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73" h="779">
                    <a:moveTo>
                      <a:pt x="317" y="64"/>
                    </a:moveTo>
                    <a:cubicBezTo>
                      <a:pt x="211" y="93"/>
                      <a:pt x="96" y="168"/>
                      <a:pt x="48" y="246"/>
                    </a:cubicBezTo>
                    <a:cubicBezTo>
                      <a:pt x="0" y="324"/>
                      <a:pt x="9" y="461"/>
                      <a:pt x="26" y="531"/>
                    </a:cubicBezTo>
                    <a:cubicBezTo>
                      <a:pt x="43" y="601"/>
                      <a:pt x="66" y="633"/>
                      <a:pt x="150" y="669"/>
                    </a:cubicBezTo>
                    <a:cubicBezTo>
                      <a:pt x="234" y="705"/>
                      <a:pt x="380" y="779"/>
                      <a:pt x="529" y="750"/>
                    </a:cubicBezTo>
                    <a:cubicBezTo>
                      <a:pt x="678" y="721"/>
                      <a:pt x="1023" y="608"/>
                      <a:pt x="1048" y="495"/>
                    </a:cubicBezTo>
                    <a:cubicBezTo>
                      <a:pt x="1073" y="382"/>
                      <a:pt x="804" y="144"/>
                      <a:pt x="682" y="72"/>
                    </a:cubicBezTo>
                    <a:cubicBezTo>
                      <a:pt x="560" y="0"/>
                      <a:pt x="423" y="35"/>
                      <a:pt x="317" y="64"/>
                    </a:cubicBezTo>
                    <a:close/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377" name="Text Box 26"/>
              <p:cNvSpPr txBox="1">
                <a:spLocks noChangeArrowheads="1"/>
              </p:cNvSpPr>
              <p:nvPr/>
            </p:nvSpPr>
            <p:spPr bwMode="auto">
              <a:xfrm>
                <a:off x="3498" y="3312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14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5378" name="Text Box 27"/>
              <p:cNvSpPr txBox="1">
                <a:spLocks noChangeArrowheads="1"/>
              </p:cNvSpPr>
              <p:nvPr/>
            </p:nvSpPr>
            <p:spPr bwMode="auto">
              <a:xfrm>
                <a:off x="3374" y="3734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25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5379" name="Text Box 28"/>
              <p:cNvSpPr txBox="1">
                <a:spLocks noChangeArrowheads="1"/>
              </p:cNvSpPr>
              <p:nvPr/>
            </p:nvSpPr>
            <p:spPr bwMode="auto">
              <a:xfrm>
                <a:off x="3546" y="3552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30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5380" name="Text Box 29"/>
              <p:cNvSpPr txBox="1">
                <a:spLocks noChangeArrowheads="1"/>
              </p:cNvSpPr>
              <p:nvPr/>
            </p:nvSpPr>
            <p:spPr bwMode="auto">
              <a:xfrm>
                <a:off x="3776" y="3696"/>
                <a:ext cx="29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23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5381" name="Rectangle 30"/>
              <p:cNvSpPr>
                <a:spLocks noChangeArrowheads="1"/>
              </p:cNvSpPr>
              <p:nvPr/>
            </p:nvSpPr>
            <p:spPr bwMode="auto">
              <a:xfrm>
                <a:off x="3168" y="3629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31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5369" name="Group 31"/>
            <p:cNvGrpSpPr>
              <a:grpSpLocks/>
            </p:cNvGrpSpPr>
            <p:nvPr/>
          </p:nvGrpSpPr>
          <p:grpSpPr bwMode="auto">
            <a:xfrm>
              <a:off x="4743" y="1901"/>
              <a:ext cx="1017" cy="932"/>
              <a:chOff x="4503" y="3100"/>
              <a:chExt cx="1017" cy="932"/>
            </a:xfrm>
          </p:grpSpPr>
          <p:sp>
            <p:nvSpPr>
              <p:cNvPr id="15371" name="Freeform 32"/>
              <p:cNvSpPr>
                <a:spLocks/>
              </p:cNvSpPr>
              <p:nvPr/>
            </p:nvSpPr>
            <p:spPr bwMode="auto">
              <a:xfrm>
                <a:off x="4503" y="3100"/>
                <a:ext cx="1017" cy="932"/>
              </a:xfrm>
              <a:custGeom>
                <a:avLst/>
                <a:gdLst>
                  <a:gd name="T0" fmla="*/ 91 w 1017"/>
                  <a:gd name="T1" fmla="*/ 138 h 932"/>
                  <a:gd name="T2" fmla="*/ 18 w 1017"/>
                  <a:gd name="T3" fmla="*/ 443 h 932"/>
                  <a:gd name="T4" fmla="*/ 197 w 1017"/>
                  <a:gd name="T5" fmla="*/ 611 h 932"/>
                  <a:gd name="T6" fmla="*/ 416 w 1017"/>
                  <a:gd name="T7" fmla="*/ 841 h 932"/>
                  <a:gd name="T8" fmla="*/ 673 w 1017"/>
                  <a:gd name="T9" fmla="*/ 886 h 932"/>
                  <a:gd name="T10" fmla="*/ 985 w 1017"/>
                  <a:gd name="T11" fmla="*/ 567 h 932"/>
                  <a:gd name="T12" fmla="*/ 484 w 1017"/>
                  <a:gd name="T13" fmla="*/ 72 h 932"/>
                  <a:gd name="T14" fmla="*/ 91 w 1017"/>
                  <a:gd name="T15" fmla="*/ 138 h 9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7"/>
                  <a:gd name="T25" fmla="*/ 0 h 932"/>
                  <a:gd name="T26" fmla="*/ 1017 w 1017"/>
                  <a:gd name="T27" fmla="*/ 932 h 9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7" h="932">
                    <a:moveTo>
                      <a:pt x="91" y="138"/>
                    </a:moveTo>
                    <a:cubicBezTo>
                      <a:pt x="14" y="213"/>
                      <a:pt x="0" y="364"/>
                      <a:pt x="18" y="443"/>
                    </a:cubicBezTo>
                    <a:cubicBezTo>
                      <a:pt x="36" y="522"/>
                      <a:pt x="131" y="545"/>
                      <a:pt x="197" y="611"/>
                    </a:cubicBezTo>
                    <a:cubicBezTo>
                      <a:pt x="263" y="677"/>
                      <a:pt x="337" y="795"/>
                      <a:pt x="416" y="841"/>
                    </a:cubicBezTo>
                    <a:cubicBezTo>
                      <a:pt x="496" y="887"/>
                      <a:pt x="578" y="932"/>
                      <a:pt x="673" y="886"/>
                    </a:cubicBezTo>
                    <a:cubicBezTo>
                      <a:pt x="767" y="840"/>
                      <a:pt x="1017" y="703"/>
                      <a:pt x="985" y="567"/>
                    </a:cubicBezTo>
                    <a:cubicBezTo>
                      <a:pt x="953" y="431"/>
                      <a:pt x="633" y="144"/>
                      <a:pt x="484" y="72"/>
                    </a:cubicBezTo>
                    <a:cubicBezTo>
                      <a:pt x="335" y="0"/>
                      <a:pt x="173" y="124"/>
                      <a:pt x="91" y="138"/>
                    </a:cubicBezTo>
                    <a:close/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372" name="Text Box 33"/>
              <p:cNvSpPr txBox="1">
                <a:spLocks noChangeArrowheads="1"/>
              </p:cNvSpPr>
              <p:nvPr/>
            </p:nvSpPr>
            <p:spPr bwMode="auto">
              <a:xfrm>
                <a:off x="4544" y="3220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88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5373" name="Text Box 34"/>
              <p:cNvSpPr txBox="1">
                <a:spLocks noChangeArrowheads="1"/>
              </p:cNvSpPr>
              <p:nvPr/>
            </p:nvSpPr>
            <p:spPr bwMode="auto">
              <a:xfrm>
                <a:off x="5040" y="3312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98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5374" name="Text Box 35"/>
              <p:cNvSpPr txBox="1">
                <a:spLocks noChangeArrowheads="1"/>
              </p:cNvSpPr>
              <p:nvPr/>
            </p:nvSpPr>
            <p:spPr bwMode="auto">
              <a:xfrm>
                <a:off x="4656" y="3504"/>
                <a:ext cx="3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62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5375" name="Text Box 36"/>
              <p:cNvSpPr txBox="1">
                <a:spLocks noChangeArrowheads="1"/>
              </p:cNvSpPr>
              <p:nvPr/>
            </p:nvSpPr>
            <p:spPr bwMode="auto">
              <a:xfrm>
                <a:off x="5088" y="3648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79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5370" name="Text Box 37"/>
            <p:cNvSpPr txBox="1">
              <a:spLocks noChangeArrowheads="1"/>
            </p:cNvSpPr>
            <p:nvPr/>
          </p:nvSpPr>
          <p:spPr bwMode="auto">
            <a:xfrm>
              <a:off x="4153" y="2286"/>
              <a:ext cx="5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CA" altLang="en-US" sz="2000" b="0">
                  <a:solidFill>
                    <a:srgbClr val="33CC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lang="en-US" altLang="en-US" sz="2000" b="0">
                  <a:solidFill>
                    <a:srgbClr val="33CC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52 </a:t>
              </a:r>
              <a:r>
                <a:rPr lang="en-CA" altLang="en-US" sz="2000" b="0">
                  <a:solidFill>
                    <a:srgbClr val="33CC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</a:p>
          </p:txBody>
        </p:sp>
      </p:grpSp>
      <p:sp>
        <p:nvSpPr>
          <p:cNvPr id="15367" name="Oval 38"/>
          <p:cNvSpPr>
            <a:spLocks noChangeArrowheads="1"/>
          </p:cNvSpPr>
          <p:nvPr/>
        </p:nvSpPr>
        <p:spPr bwMode="auto">
          <a:xfrm>
            <a:off x="3784600" y="3427413"/>
            <a:ext cx="457200" cy="382587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 sz="32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en-US" smtClean="0"/>
              <a:t>Quick Sort</a:t>
            </a:r>
          </a:p>
        </p:txBody>
      </p:sp>
      <p:grpSp>
        <p:nvGrpSpPr>
          <p:cNvPr id="16387" name="Group 3"/>
          <p:cNvGrpSpPr>
            <a:grpSpLocks/>
          </p:cNvGrpSpPr>
          <p:nvPr/>
        </p:nvGrpSpPr>
        <p:grpSpPr bwMode="auto">
          <a:xfrm>
            <a:off x="1846263" y="1600200"/>
            <a:ext cx="457200" cy="914400"/>
            <a:chOff x="2432" y="1328"/>
            <a:chExt cx="906" cy="2075"/>
          </a:xfrm>
        </p:grpSpPr>
        <p:sp>
          <p:nvSpPr>
            <p:cNvPr id="16443" name="Freeform 4"/>
            <p:cNvSpPr>
              <a:spLocks/>
            </p:cNvSpPr>
            <p:nvPr/>
          </p:nvSpPr>
          <p:spPr bwMode="auto">
            <a:xfrm>
              <a:off x="2594" y="1328"/>
              <a:ext cx="450" cy="433"/>
            </a:xfrm>
            <a:custGeom>
              <a:avLst/>
              <a:gdLst>
                <a:gd name="T0" fmla="*/ 902 w 410"/>
                <a:gd name="T1" fmla="*/ 270 h 406"/>
                <a:gd name="T2" fmla="*/ 729 w 410"/>
                <a:gd name="T3" fmla="*/ 96 h 406"/>
                <a:gd name="T4" fmla="*/ 556 w 410"/>
                <a:gd name="T5" fmla="*/ 0 h 406"/>
                <a:gd name="T6" fmla="*/ 355 w 410"/>
                <a:gd name="T7" fmla="*/ 0 h 406"/>
                <a:gd name="T8" fmla="*/ 135 w 410"/>
                <a:gd name="T9" fmla="*/ 61 h 406"/>
                <a:gd name="T10" fmla="*/ 32 w 410"/>
                <a:gd name="T11" fmla="*/ 164 h 406"/>
                <a:gd name="T12" fmla="*/ 0 w 410"/>
                <a:gd name="T13" fmla="*/ 306 h 406"/>
                <a:gd name="T14" fmla="*/ 32 w 410"/>
                <a:gd name="T15" fmla="*/ 491 h 406"/>
                <a:gd name="T16" fmla="*/ 165 w 410"/>
                <a:gd name="T17" fmla="*/ 704 h 406"/>
                <a:gd name="T18" fmla="*/ 407 w 410"/>
                <a:gd name="T19" fmla="*/ 841 h 406"/>
                <a:gd name="T20" fmla="*/ 592 w 410"/>
                <a:gd name="T21" fmla="*/ 912 h 406"/>
                <a:gd name="T22" fmla="*/ 780 w 410"/>
                <a:gd name="T23" fmla="*/ 937 h 406"/>
                <a:gd name="T24" fmla="*/ 933 w 410"/>
                <a:gd name="T25" fmla="*/ 904 h 406"/>
                <a:gd name="T26" fmla="*/ 1016 w 410"/>
                <a:gd name="T27" fmla="*/ 841 h 406"/>
                <a:gd name="T28" fmla="*/ 1067 w 410"/>
                <a:gd name="T29" fmla="*/ 704 h 406"/>
                <a:gd name="T30" fmla="*/ 1058 w 410"/>
                <a:gd name="T31" fmla="*/ 536 h 406"/>
                <a:gd name="T32" fmla="*/ 999 w 410"/>
                <a:gd name="T33" fmla="*/ 400 h 406"/>
                <a:gd name="T34" fmla="*/ 1341 w 410"/>
                <a:gd name="T35" fmla="*/ 270 h 406"/>
                <a:gd name="T36" fmla="*/ 1374 w 410"/>
                <a:gd name="T37" fmla="*/ 212 h 406"/>
                <a:gd name="T38" fmla="*/ 1341 w 410"/>
                <a:gd name="T39" fmla="*/ 187 h 406"/>
                <a:gd name="T40" fmla="*/ 966 w 410"/>
                <a:gd name="T41" fmla="*/ 339 h 406"/>
                <a:gd name="T42" fmla="*/ 902 w 410"/>
                <a:gd name="T43" fmla="*/ 270 h 40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10"/>
                <a:gd name="T67" fmla="*/ 0 h 406"/>
                <a:gd name="T68" fmla="*/ 410 w 410"/>
                <a:gd name="T69" fmla="*/ 406 h 40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10" h="406">
                  <a:moveTo>
                    <a:pt x="268" y="117"/>
                  </a:moveTo>
                  <a:lnTo>
                    <a:pt x="217" y="41"/>
                  </a:lnTo>
                  <a:lnTo>
                    <a:pt x="166" y="0"/>
                  </a:lnTo>
                  <a:lnTo>
                    <a:pt x="106" y="0"/>
                  </a:lnTo>
                  <a:lnTo>
                    <a:pt x="40" y="26"/>
                  </a:lnTo>
                  <a:lnTo>
                    <a:pt x="10" y="71"/>
                  </a:lnTo>
                  <a:lnTo>
                    <a:pt x="0" y="132"/>
                  </a:lnTo>
                  <a:lnTo>
                    <a:pt x="10" y="213"/>
                  </a:lnTo>
                  <a:lnTo>
                    <a:pt x="50" y="304"/>
                  </a:lnTo>
                  <a:lnTo>
                    <a:pt x="121" y="365"/>
                  </a:lnTo>
                  <a:lnTo>
                    <a:pt x="176" y="395"/>
                  </a:lnTo>
                  <a:lnTo>
                    <a:pt x="232" y="406"/>
                  </a:lnTo>
                  <a:lnTo>
                    <a:pt x="278" y="390"/>
                  </a:lnTo>
                  <a:lnTo>
                    <a:pt x="303" y="365"/>
                  </a:lnTo>
                  <a:lnTo>
                    <a:pt x="319" y="304"/>
                  </a:lnTo>
                  <a:lnTo>
                    <a:pt x="314" y="233"/>
                  </a:lnTo>
                  <a:lnTo>
                    <a:pt x="298" y="173"/>
                  </a:lnTo>
                  <a:lnTo>
                    <a:pt x="399" y="117"/>
                  </a:lnTo>
                  <a:lnTo>
                    <a:pt x="410" y="92"/>
                  </a:lnTo>
                  <a:lnTo>
                    <a:pt x="399" y="81"/>
                  </a:lnTo>
                  <a:lnTo>
                    <a:pt x="288" y="147"/>
                  </a:lnTo>
                  <a:lnTo>
                    <a:pt x="268" y="11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44" name="Freeform 5"/>
            <p:cNvSpPr>
              <a:spLocks/>
            </p:cNvSpPr>
            <p:nvPr/>
          </p:nvSpPr>
          <p:spPr bwMode="auto">
            <a:xfrm>
              <a:off x="2432" y="1810"/>
              <a:ext cx="362" cy="582"/>
            </a:xfrm>
            <a:custGeom>
              <a:avLst/>
              <a:gdLst>
                <a:gd name="T0" fmla="*/ 1138 w 329"/>
                <a:gd name="T1" fmla="*/ 33 h 546"/>
                <a:gd name="T2" fmla="*/ 1012 w 329"/>
                <a:gd name="T3" fmla="*/ 0 h 546"/>
                <a:gd name="T4" fmla="*/ 754 w 329"/>
                <a:gd name="T5" fmla="*/ 5 h 546"/>
                <a:gd name="T6" fmla="*/ 520 w 329"/>
                <a:gd name="T7" fmla="*/ 128 h 546"/>
                <a:gd name="T8" fmla="*/ 191 w 329"/>
                <a:gd name="T9" fmla="*/ 373 h 546"/>
                <a:gd name="T10" fmla="*/ 21 w 329"/>
                <a:gd name="T11" fmla="*/ 568 h 546"/>
                <a:gd name="T12" fmla="*/ 0 w 329"/>
                <a:gd name="T13" fmla="*/ 640 h 546"/>
                <a:gd name="T14" fmla="*/ 89 w 329"/>
                <a:gd name="T15" fmla="*/ 764 h 546"/>
                <a:gd name="T16" fmla="*/ 278 w 329"/>
                <a:gd name="T17" fmla="*/ 826 h 546"/>
                <a:gd name="T18" fmla="*/ 520 w 329"/>
                <a:gd name="T19" fmla="*/ 893 h 546"/>
                <a:gd name="T20" fmla="*/ 720 w 329"/>
                <a:gd name="T21" fmla="*/ 925 h 546"/>
                <a:gd name="T22" fmla="*/ 803 w 329"/>
                <a:gd name="T23" fmla="*/ 985 h 546"/>
                <a:gd name="T24" fmla="*/ 754 w 329"/>
                <a:gd name="T25" fmla="*/ 1068 h 546"/>
                <a:gd name="T26" fmla="*/ 616 w 329"/>
                <a:gd name="T27" fmla="*/ 1160 h 546"/>
                <a:gd name="T28" fmla="*/ 437 w 329"/>
                <a:gd name="T29" fmla="*/ 1173 h 546"/>
                <a:gd name="T30" fmla="*/ 316 w 329"/>
                <a:gd name="T31" fmla="*/ 1136 h 546"/>
                <a:gd name="T32" fmla="*/ 242 w 329"/>
                <a:gd name="T33" fmla="*/ 1173 h 546"/>
                <a:gd name="T34" fmla="*/ 261 w 329"/>
                <a:gd name="T35" fmla="*/ 1216 h 546"/>
                <a:gd name="T36" fmla="*/ 405 w 329"/>
                <a:gd name="T37" fmla="*/ 1252 h 546"/>
                <a:gd name="T38" fmla="*/ 616 w 329"/>
                <a:gd name="T39" fmla="*/ 1252 h 546"/>
                <a:gd name="T40" fmla="*/ 803 w 329"/>
                <a:gd name="T41" fmla="*/ 1216 h 546"/>
                <a:gd name="T42" fmla="*/ 913 w 329"/>
                <a:gd name="T43" fmla="*/ 1173 h 546"/>
                <a:gd name="T44" fmla="*/ 979 w 329"/>
                <a:gd name="T45" fmla="*/ 1088 h 546"/>
                <a:gd name="T46" fmla="*/ 1012 w 329"/>
                <a:gd name="T47" fmla="*/ 1000 h 546"/>
                <a:gd name="T48" fmla="*/ 933 w 329"/>
                <a:gd name="T49" fmla="*/ 916 h 546"/>
                <a:gd name="T50" fmla="*/ 720 w 329"/>
                <a:gd name="T51" fmla="*/ 859 h 546"/>
                <a:gd name="T52" fmla="*/ 472 w 329"/>
                <a:gd name="T53" fmla="*/ 810 h 546"/>
                <a:gd name="T54" fmla="*/ 261 w 329"/>
                <a:gd name="T55" fmla="*/ 730 h 546"/>
                <a:gd name="T56" fmla="*/ 209 w 329"/>
                <a:gd name="T57" fmla="*/ 662 h 546"/>
                <a:gd name="T58" fmla="*/ 242 w 329"/>
                <a:gd name="T59" fmla="*/ 533 h 546"/>
                <a:gd name="T60" fmla="*/ 405 w 329"/>
                <a:gd name="T61" fmla="*/ 373 h 546"/>
                <a:gd name="T62" fmla="*/ 596 w 329"/>
                <a:gd name="T63" fmla="*/ 278 h 546"/>
                <a:gd name="T64" fmla="*/ 891 w 329"/>
                <a:gd name="T65" fmla="*/ 208 h 546"/>
                <a:gd name="T66" fmla="*/ 1138 w 329"/>
                <a:gd name="T67" fmla="*/ 173 h 546"/>
                <a:gd name="T68" fmla="*/ 1138 w 329"/>
                <a:gd name="T69" fmla="*/ 80 h 546"/>
                <a:gd name="T70" fmla="*/ 1138 w 329"/>
                <a:gd name="T71" fmla="*/ 33 h 5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29"/>
                <a:gd name="T109" fmla="*/ 0 h 546"/>
                <a:gd name="T110" fmla="*/ 329 w 329"/>
                <a:gd name="T111" fmla="*/ 546 h 54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29" h="546">
                  <a:moveTo>
                    <a:pt x="329" y="15"/>
                  </a:moveTo>
                  <a:lnTo>
                    <a:pt x="293" y="0"/>
                  </a:lnTo>
                  <a:lnTo>
                    <a:pt x="217" y="5"/>
                  </a:lnTo>
                  <a:lnTo>
                    <a:pt x="151" y="56"/>
                  </a:lnTo>
                  <a:lnTo>
                    <a:pt x="55" y="162"/>
                  </a:lnTo>
                  <a:lnTo>
                    <a:pt x="5" y="248"/>
                  </a:lnTo>
                  <a:lnTo>
                    <a:pt x="0" y="278"/>
                  </a:lnTo>
                  <a:lnTo>
                    <a:pt x="25" y="334"/>
                  </a:lnTo>
                  <a:lnTo>
                    <a:pt x="80" y="359"/>
                  </a:lnTo>
                  <a:lnTo>
                    <a:pt x="151" y="389"/>
                  </a:lnTo>
                  <a:lnTo>
                    <a:pt x="207" y="404"/>
                  </a:lnTo>
                  <a:lnTo>
                    <a:pt x="232" y="430"/>
                  </a:lnTo>
                  <a:lnTo>
                    <a:pt x="217" y="465"/>
                  </a:lnTo>
                  <a:lnTo>
                    <a:pt x="177" y="506"/>
                  </a:lnTo>
                  <a:lnTo>
                    <a:pt x="126" y="511"/>
                  </a:lnTo>
                  <a:lnTo>
                    <a:pt x="91" y="495"/>
                  </a:lnTo>
                  <a:lnTo>
                    <a:pt x="70" y="511"/>
                  </a:lnTo>
                  <a:lnTo>
                    <a:pt x="75" y="531"/>
                  </a:lnTo>
                  <a:lnTo>
                    <a:pt x="116" y="546"/>
                  </a:lnTo>
                  <a:lnTo>
                    <a:pt x="177" y="546"/>
                  </a:lnTo>
                  <a:lnTo>
                    <a:pt x="232" y="531"/>
                  </a:lnTo>
                  <a:lnTo>
                    <a:pt x="263" y="511"/>
                  </a:lnTo>
                  <a:lnTo>
                    <a:pt x="283" y="475"/>
                  </a:lnTo>
                  <a:lnTo>
                    <a:pt x="293" y="435"/>
                  </a:lnTo>
                  <a:lnTo>
                    <a:pt x="268" y="399"/>
                  </a:lnTo>
                  <a:lnTo>
                    <a:pt x="207" y="374"/>
                  </a:lnTo>
                  <a:lnTo>
                    <a:pt x="136" y="354"/>
                  </a:lnTo>
                  <a:lnTo>
                    <a:pt x="75" y="319"/>
                  </a:lnTo>
                  <a:lnTo>
                    <a:pt x="60" y="288"/>
                  </a:lnTo>
                  <a:lnTo>
                    <a:pt x="70" y="233"/>
                  </a:lnTo>
                  <a:lnTo>
                    <a:pt x="116" y="162"/>
                  </a:lnTo>
                  <a:lnTo>
                    <a:pt x="172" y="121"/>
                  </a:lnTo>
                  <a:lnTo>
                    <a:pt x="258" y="91"/>
                  </a:lnTo>
                  <a:lnTo>
                    <a:pt x="329" y="76"/>
                  </a:lnTo>
                  <a:lnTo>
                    <a:pt x="329" y="35"/>
                  </a:lnTo>
                  <a:lnTo>
                    <a:pt x="329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45" name="Freeform 6"/>
            <p:cNvSpPr>
              <a:spLocks/>
            </p:cNvSpPr>
            <p:nvPr/>
          </p:nvSpPr>
          <p:spPr bwMode="auto">
            <a:xfrm>
              <a:off x="2737" y="1811"/>
              <a:ext cx="339" cy="717"/>
            </a:xfrm>
            <a:custGeom>
              <a:avLst/>
              <a:gdLst>
                <a:gd name="T0" fmla="*/ 895 w 309"/>
                <a:gd name="T1" fmla="*/ 485 h 673"/>
                <a:gd name="T2" fmla="*/ 791 w 309"/>
                <a:gd name="T3" fmla="*/ 196 h 673"/>
                <a:gd name="T4" fmla="*/ 678 w 309"/>
                <a:gd name="T5" fmla="*/ 58 h 673"/>
                <a:gd name="T6" fmla="*/ 419 w 309"/>
                <a:gd name="T7" fmla="*/ 0 h 673"/>
                <a:gd name="T8" fmla="*/ 165 w 309"/>
                <a:gd name="T9" fmla="*/ 23 h 673"/>
                <a:gd name="T10" fmla="*/ 50 w 309"/>
                <a:gd name="T11" fmla="*/ 173 h 673"/>
                <a:gd name="T12" fmla="*/ 66 w 309"/>
                <a:gd name="T13" fmla="*/ 357 h 673"/>
                <a:gd name="T14" fmla="*/ 134 w 309"/>
                <a:gd name="T15" fmla="*/ 655 h 673"/>
                <a:gd name="T16" fmla="*/ 134 w 309"/>
                <a:gd name="T17" fmla="*/ 920 h 673"/>
                <a:gd name="T18" fmla="*/ 50 w 309"/>
                <a:gd name="T19" fmla="*/ 1147 h 673"/>
                <a:gd name="T20" fmla="*/ 0 w 309"/>
                <a:gd name="T21" fmla="*/ 1278 h 673"/>
                <a:gd name="T22" fmla="*/ 32 w 309"/>
                <a:gd name="T23" fmla="*/ 1394 h 673"/>
                <a:gd name="T24" fmla="*/ 149 w 309"/>
                <a:gd name="T25" fmla="*/ 1453 h 673"/>
                <a:gd name="T26" fmla="*/ 308 w 309"/>
                <a:gd name="T27" fmla="*/ 1506 h 673"/>
                <a:gd name="T28" fmla="*/ 451 w 309"/>
                <a:gd name="T29" fmla="*/ 1533 h 673"/>
                <a:gd name="T30" fmla="*/ 647 w 309"/>
                <a:gd name="T31" fmla="*/ 1533 h 673"/>
                <a:gd name="T32" fmla="*/ 863 w 309"/>
                <a:gd name="T33" fmla="*/ 1414 h 673"/>
                <a:gd name="T34" fmla="*/ 1030 w 309"/>
                <a:gd name="T35" fmla="*/ 1171 h 673"/>
                <a:gd name="T36" fmla="*/ 1017 w 309"/>
                <a:gd name="T37" fmla="*/ 954 h 673"/>
                <a:gd name="T38" fmla="*/ 914 w 309"/>
                <a:gd name="T39" fmla="*/ 700 h 673"/>
                <a:gd name="T40" fmla="*/ 895 w 309"/>
                <a:gd name="T41" fmla="*/ 485 h 67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9"/>
                <a:gd name="T64" fmla="*/ 0 h 673"/>
                <a:gd name="T65" fmla="*/ 309 w 309"/>
                <a:gd name="T66" fmla="*/ 673 h 67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9" h="673">
                  <a:moveTo>
                    <a:pt x="269" y="212"/>
                  </a:moveTo>
                  <a:lnTo>
                    <a:pt x="238" y="86"/>
                  </a:lnTo>
                  <a:lnTo>
                    <a:pt x="203" y="25"/>
                  </a:lnTo>
                  <a:lnTo>
                    <a:pt x="126" y="0"/>
                  </a:lnTo>
                  <a:lnTo>
                    <a:pt x="50" y="10"/>
                  </a:lnTo>
                  <a:lnTo>
                    <a:pt x="15" y="76"/>
                  </a:lnTo>
                  <a:lnTo>
                    <a:pt x="20" y="157"/>
                  </a:lnTo>
                  <a:lnTo>
                    <a:pt x="40" y="288"/>
                  </a:lnTo>
                  <a:lnTo>
                    <a:pt x="40" y="404"/>
                  </a:lnTo>
                  <a:lnTo>
                    <a:pt x="15" y="505"/>
                  </a:lnTo>
                  <a:lnTo>
                    <a:pt x="0" y="561"/>
                  </a:lnTo>
                  <a:lnTo>
                    <a:pt x="10" y="612"/>
                  </a:lnTo>
                  <a:lnTo>
                    <a:pt x="45" y="638"/>
                  </a:lnTo>
                  <a:lnTo>
                    <a:pt x="91" y="663"/>
                  </a:lnTo>
                  <a:lnTo>
                    <a:pt x="136" y="673"/>
                  </a:lnTo>
                  <a:lnTo>
                    <a:pt x="193" y="673"/>
                  </a:lnTo>
                  <a:lnTo>
                    <a:pt x="259" y="622"/>
                  </a:lnTo>
                  <a:lnTo>
                    <a:pt x="309" y="515"/>
                  </a:lnTo>
                  <a:lnTo>
                    <a:pt x="304" y="419"/>
                  </a:lnTo>
                  <a:lnTo>
                    <a:pt x="274" y="308"/>
                  </a:lnTo>
                  <a:lnTo>
                    <a:pt x="269" y="21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46" name="Freeform 7"/>
            <p:cNvSpPr>
              <a:spLocks/>
            </p:cNvSpPr>
            <p:nvPr/>
          </p:nvSpPr>
          <p:spPr bwMode="auto">
            <a:xfrm>
              <a:off x="2625" y="2365"/>
              <a:ext cx="259" cy="1038"/>
            </a:xfrm>
            <a:custGeom>
              <a:avLst/>
              <a:gdLst>
                <a:gd name="T0" fmla="*/ 792 w 235"/>
                <a:gd name="T1" fmla="*/ 33 h 973"/>
                <a:gd name="T2" fmla="*/ 578 w 235"/>
                <a:gd name="T3" fmla="*/ 0 h 973"/>
                <a:gd name="T4" fmla="*/ 449 w 235"/>
                <a:gd name="T5" fmla="*/ 33 h 973"/>
                <a:gd name="T6" fmla="*/ 398 w 235"/>
                <a:gd name="T7" fmla="*/ 151 h 973"/>
                <a:gd name="T8" fmla="*/ 449 w 235"/>
                <a:gd name="T9" fmla="*/ 799 h 973"/>
                <a:gd name="T10" fmla="*/ 449 w 235"/>
                <a:gd name="T11" fmla="*/ 948 h 973"/>
                <a:gd name="T12" fmla="*/ 380 w 235"/>
                <a:gd name="T13" fmla="*/ 1233 h 973"/>
                <a:gd name="T14" fmla="*/ 361 w 235"/>
                <a:gd name="T15" fmla="*/ 1561 h 973"/>
                <a:gd name="T16" fmla="*/ 398 w 235"/>
                <a:gd name="T17" fmla="*/ 1725 h 973"/>
                <a:gd name="T18" fmla="*/ 361 w 235"/>
                <a:gd name="T19" fmla="*/ 1819 h 973"/>
                <a:gd name="T20" fmla="*/ 109 w 235"/>
                <a:gd name="T21" fmla="*/ 1961 h 973"/>
                <a:gd name="T22" fmla="*/ 0 w 235"/>
                <a:gd name="T23" fmla="*/ 2139 h 973"/>
                <a:gd name="T24" fmla="*/ 23 w 235"/>
                <a:gd name="T25" fmla="*/ 2193 h 973"/>
                <a:gd name="T26" fmla="*/ 214 w 235"/>
                <a:gd name="T27" fmla="*/ 2254 h 973"/>
                <a:gd name="T28" fmla="*/ 270 w 235"/>
                <a:gd name="T29" fmla="*/ 2231 h 973"/>
                <a:gd name="T30" fmla="*/ 287 w 235"/>
                <a:gd name="T31" fmla="*/ 2125 h 973"/>
                <a:gd name="T32" fmla="*/ 345 w 235"/>
                <a:gd name="T33" fmla="*/ 1977 h 973"/>
                <a:gd name="T34" fmla="*/ 431 w 235"/>
                <a:gd name="T35" fmla="*/ 1904 h 973"/>
                <a:gd name="T36" fmla="*/ 539 w 235"/>
                <a:gd name="T37" fmla="*/ 1857 h 973"/>
                <a:gd name="T38" fmla="*/ 632 w 235"/>
                <a:gd name="T39" fmla="*/ 1796 h 973"/>
                <a:gd name="T40" fmla="*/ 652 w 235"/>
                <a:gd name="T41" fmla="*/ 1748 h 973"/>
                <a:gd name="T42" fmla="*/ 594 w 235"/>
                <a:gd name="T43" fmla="*/ 1692 h 973"/>
                <a:gd name="T44" fmla="*/ 539 w 235"/>
                <a:gd name="T45" fmla="*/ 1656 h 973"/>
                <a:gd name="T46" fmla="*/ 508 w 235"/>
                <a:gd name="T47" fmla="*/ 1515 h 973"/>
                <a:gd name="T48" fmla="*/ 539 w 235"/>
                <a:gd name="T49" fmla="*/ 1217 h 973"/>
                <a:gd name="T50" fmla="*/ 665 w 235"/>
                <a:gd name="T51" fmla="*/ 880 h 973"/>
                <a:gd name="T52" fmla="*/ 792 w 235"/>
                <a:gd name="T53" fmla="*/ 612 h 973"/>
                <a:gd name="T54" fmla="*/ 829 w 235"/>
                <a:gd name="T55" fmla="*/ 285 h 973"/>
                <a:gd name="T56" fmla="*/ 792 w 235"/>
                <a:gd name="T57" fmla="*/ 33 h 97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35"/>
                <a:gd name="T88" fmla="*/ 0 h 973"/>
                <a:gd name="T89" fmla="*/ 235 w 235"/>
                <a:gd name="T90" fmla="*/ 973 h 97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35" h="973">
                  <a:moveTo>
                    <a:pt x="223" y="15"/>
                  </a:moveTo>
                  <a:lnTo>
                    <a:pt x="163" y="0"/>
                  </a:lnTo>
                  <a:lnTo>
                    <a:pt x="127" y="15"/>
                  </a:lnTo>
                  <a:lnTo>
                    <a:pt x="112" y="66"/>
                  </a:lnTo>
                  <a:lnTo>
                    <a:pt x="127" y="344"/>
                  </a:lnTo>
                  <a:lnTo>
                    <a:pt x="127" y="410"/>
                  </a:lnTo>
                  <a:lnTo>
                    <a:pt x="107" y="532"/>
                  </a:lnTo>
                  <a:lnTo>
                    <a:pt x="102" y="674"/>
                  </a:lnTo>
                  <a:lnTo>
                    <a:pt x="112" y="745"/>
                  </a:lnTo>
                  <a:lnTo>
                    <a:pt x="102" y="785"/>
                  </a:lnTo>
                  <a:lnTo>
                    <a:pt x="31" y="846"/>
                  </a:lnTo>
                  <a:lnTo>
                    <a:pt x="0" y="922"/>
                  </a:lnTo>
                  <a:lnTo>
                    <a:pt x="6" y="947"/>
                  </a:lnTo>
                  <a:lnTo>
                    <a:pt x="61" y="973"/>
                  </a:lnTo>
                  <a:lnTo>
                    <a:pt x="76" y="962"/>
                  </a:lnTo>
                  <a:lnTo>
                    <a:pt x="82" y="917"/>
                  </a:lnTo>
                  <a:lnTo>
                    <a:pt x="97" y="851"/>
                  </a:lnTo>
                  <a:lnTo>
                    <a:pt x="122" y="821"/>
                  </a:lnTo>
                  <a:lnTo>
                    <a:pt x="152" y="801"/>
                  </a:lnTo>
                  <a:lnTo>
                    <a:pt x="178" y="775"/>
                  </a:lnTo>
                  <a:lnTo>
                    <a:pt x="183" y="755"/>
                  </a:lnTo>
                  <a:lnTo>
                    <a:pt x="168" y="730"/>
                  </a:lnTo>
                  <a:lnTo>
                    <a:pt x="152" y="715"/>
                  </a:lnTo>
                  <a:lnTo>
                    <a:pt x="142" y="653"/>
                  </a:lnTo>
                  <a:lnTo>
                    <a:pt x="152" y="526"/>
                  </a:lnTo>
                  <a:lnTo>
                    <a:pt x="188" y="380"/>
                  </a:lnTo>
                  <a:lnTo>
                    <a:pt x="223" y="263"/>
                  </a:lnTo>
                  <a:lnTo>
                    <a:pt x="235" y="122"/>
                  </a:lnTo>
                  <a:lnTo>
                    <a:pt x="223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47" name="Freeform 8"/>
            <p:cNvSpPr>
              <a:spLocks/>
            </p:cNvSpPr>
            <p:nvPr/>
          </p:nvSpPr>
          <p:spPr bwMode="auto">
            <a:xfrm>
              <a:off x="2906" y="2365"/>
              <a:ext cx="422" cy="876"/>
            </a:xfrm>
            <a:custGeom>
              <a:avLst/>
              <a:gdLst>
                <a:gd name="T0" fmla="*/ 430 w 384"/>
                <a:gd name="T1" fmla="*/ 285 h 821"/>
                <a:gd name="T2" fmla="*/ 393 w 384"/>
                <a:gd name="T3" fmla="*/ 92 h 821"/>
                <a:gd name="T4" fmla="*/ 242 w 384"/>
                <a:gd name="T5" fmla="*/ 0 h 821"/>
                <a:gd name="T6" fmla="*/ 5 w 384"/>
                <a:gd name="T7" fmla="*/ 5 h 821"/>
                <a:gd name="T8" fmla="*/ 0 w 384"/>
                <a:gd name="T9" fmla="*/ 92 h 821"/>
                <a:gd name="T10" fmla="*/ 5 w 384"/>
                <a:gd name="T11" fmla="*/ 272 h 821"/>
                <a:gd name="T12" fmla="*/ 135 w 384"/>
                <a:gd name="T13" fmla="*/ 543 h 821"/>
                <a:gd name="T14" fmla="*/ 230 w 384"/>
                <a:gd name="T15" fmla="*/ 743 h 821"/>
                <a:gd name="T16" fmla="*/ 324 w 384"/>
                <a:gd name="T17" fmla="*/ 1009 h 821"/>
                <a:gd name="T18" fmla="*/ 358 w 384"/>
                <a:gd name="T19" fmla="*/ 1246 h 821"/>
                <a:gd name="T20" fmla="*/ 358 w 384"/>
                <a:gd name="T21" fmla="*/ 1432 h 821"/>
                <a:gd name="T22" fmla="*/ 309 w 384"/>
                <a:gd name="T23" fmla="*/ 1578 h 821"/>
                <a:gd name="T24" fmla="*/ 259 w 384"/>
                <a:gd name="T25" fmla="*/ 1626 h 821"/>
                <a:gd name="T26" fmla="*/ 259 w 384"/>
                <a:gd name="T27" fmla="*/ 1669 h 821"/>
                <a:gd name="T28" fmla="*/ 324 w 384"/>
                <a:gd name="T29" fmla="*/ 1740 h 821"/>
                <a:gd name="T30" fmla="*/ 447 w 384"/>
                <a:gd name="T31" fmla="*/ 1764 h 821"/>
                <a:gd name="T32" fmla="*/ 638 w 384"/>
                <a:gd name="T33" fmla="*/ 1764 h 821"/>
                <a:gd name="T34" fmla="*/ 984 w 384"/>
                <a:gd name="T35" fmla="*/ 1825 h 821"/>
                <a:gd name="T36" fmla="*/ 1085 w 384"/>
                <a:gd name="T37" fmla="*/ 1908 h 821"/>
                <a:gd name="T38" fmla="*/ 1246 w 384"/>
                <a:gd name="T39" fmla="*/ 1857 h 821"/>
                <a:gd name="T40" fmla="*/ 1310 w 384"/>
                <a:gd name="T41" fmla="*/ 1740 h 821"/>
                <a:gd name="T42" fmla="*/ 1246 w 384"/>
                <a:gd name="T43" fmla="*/ 1697 h 821"/>
                <a:gd name="T44" fmla="*/ 947 w 384"/>
                <a:gd name="T45" fmla="*/ 1669 h 821"/>
                <a:gd name="T46" fmla="*/ 621 w 384"/>
                <a:gd name="T47" fmla="*/ 1669 h 821"/>
                <a:gd name="T48" fmla="*/ 481 w 384"/>
                <a:gd name="T49" fmla="*/ 1658 h 821"/>
                <a:gd name="T50" fmla="*/ 447 w 384"/>
                <a:gd name="T51" fmla="*/ 1590 h 821"/>
                <a:gd name="T52" fmla="*/ 481 w 384"/>
                <a:gd name="T53" fmla="*/ 1456 h 821"/>
                <a:gd name="T54" fmla="*/ 501 w 384"/>
                <a:gd name="T55" fmla="*/ 1236 h 821"/>
                <a:gd name="T56" fmla="*/ 466 w 384"/>
                <a:gd name="T57" fmla="*/ 986 h 821"/>
                <a:gd name="T58" fmla="*/ 411 w 384"/>
                <a:gd name="T59" fmla="*/ 659 h 821"/>
                <a:gd name="T60" fmla="*/ 430 w 384"/>
                <a:gd name="T61" fmla="*/ 376 h 821"/>
                <a:gd name="T62" fmla="*/ 430 w 384"/>
                <a:gd name="T63" fmla="*/ 285 h 82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84"/>
                <a:gd name="T97" fmla="*/ 0 h 821"/>
                <a:gd name="T98" fmla="*/ 384 w 384"/>
                <a:gd name="T99" fmla="*/ 821 h 82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84" h="821">
                  <a:moveTo>
                    <a:pt x="126" y="122"/>
                  </a:moveTo>
                  <a:lnTo>
                    <a:pt x="116" y="40"/>
                  </a:lnTo>
                  <a:lnTo>
                    <a:pt x="71" y="0"/>
                  </a:lnTo>
                  <a:lnTo>
                    <a:pt x="5" y="5"/>
                  </a:lnTo>
                  <a:lnTo>
                    <a:pt x="0" y="40"/>
                  </a:lnTo>
                  <a:lnTo>
                    <a:pt x="5" y="117"/>
                  </a:lnTo>
                  <a:lnTo>
                    <a:pt x="40" y="233"/>
                  </a:lnTo>
                  <a:lnTo>
                    <a:pt x="66" y="319"/>
                  </a:lnTo>
                  <a:lnTo>
                    <a:pt x="96" y="435"/>
                  </a:lnTo>
                  <a:lnTo>
                    <a:pt x="106" y="536"/>
                  </a:lnTo>
                  <a:lnTo>
                    <a:pt x="106" y="617"/>
                  </a:lnTo>
                  <a:lnTo>
                    <a:pt x="91" y="679"/>
                  </a:lnTo>
                  <a:lnTo>
                    <a:pt x="76" y="699"/>
                  </a:lnTo>
                  <a:lnTo>
                    <a:pt x="76" y="719"/>
                  </a:lnTo>
                  <a:lnTo>
                    <a:pt x="96" y="750"/>
                  </a:lnTo>
                  <a:lnTo>
                    <a:pt x="131" y="760"/>
                  </a:lnTo>
                  <a:lnTo>
                    <a:pt x="187" y="760"/>
                  </a:lnTo>
                  <a:lnTo>
                    <a:pt x="288" y="785"/>
                  </a:lnTo>
                  <a:lnTo>
                    <a:pt x="318" y="821"/>
                  </a:lnTo>
                  <a:lnTo>
                    <a:pt x="364" y="800"/>
                  </a:lnTo>
                  <a:lnTo>
                    <a:pt x="384" y="750"/>
                  </a:lnTo>
                  <a:lnTo>
                    <a:pt x="364" y="730"/>
                  </a:lnTo>
                  <a:lnTo>
                    <a:pt x="278" y="719"/>
                  </a:lnTo>
                  <a:lnTo>
                    <a:pt x="182" y="719"/>
                  </a:lnTo>
                  <a:lnTo>
                    <a:pt x="141" y="714"/>
                  </a:lnTo>
                  <a:lnTo>
                    <a:pt x="131" y="684"/>
                  </a:lnTo>
                  <a:lnTo>
                    <a:pt x="141" y="627"/>
                  </a:lnTo>
                  <a:lnTo>
                    <a:pt x="147" y="531"/>
                  </a:lnTo>
                  <a:lnTo>
                    <a:pt x="136" y="425"/>
                  </a:lnTo>
                  <a:lnTo>
                    <a:pt x="121" y="284"/>
                  </a:lnTo>
                  <a:lnTo>
                    <a:pt x="126" y="162"/>
                  </a:lnTo>
                  <a:lnTo>
                    <a:pt x="126" y="12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48" name="Freeform 9"/>
            <p:cNvSpPr>
              <a:spLocks/>
            </p:cNvSpPr>
            <p:nvPr/>
          </p:nvSpPr>
          <p:spPr bwMode="auto">
            <a:xfrm rot="10800000" flipV="1">
              <a:off x="2976" y="1824"/>
              <a:ext cx="362" cy="582"/>
            </a:xfrm>
            <a:custGeom>
              <a:avLst/>
              <a:gdLst>
                <a:gd name="T0" fmla="*/ 1138 w 329"/>
                <a:gd name="T1" fmla="*/ 33 h 546"/>
                <a:gd name="T2" fmla="*/ 1012 w 329"/>
                <a:gd name="T3" fmla="*/ 0 h 546"/>
                <a:gd name="T4" fmla="*/ 754 w 329"/>
                <a:gd name="T5" fmla="*/ 5 h 546"/>
                <a:gd name="T6" fmla="*/ 520 w 329"/>
                <a:gd name="T7" fmla="*/ 128 h 546"/>
                <a:gd name="T8" fmla="*/ 191 w 329"/>
                <a:gd name="T9" fmla="*/ 373 h 546"/>
                <a:gd name="T10" fmla="*/ 21 w 329"/>
                <a:gd name="T11" fmla="*/ 568 h 546"/>
                <a:gd name="T12" fmla="*/ 0 w 329"/>
                <a:gd name="T13" fmla="*/ 640 h 546"/>
                <a:gd name="T14" fmla="*/ 89 w 329"/>
                <a:gd name="T15" fmla="*/ 764 h 546"/>
                <a:gd name="T16" fmla="*/ 278 w 329"/>
                <a:gd name="T17" fmla="*/ 826 h 546"/>
                <a:gd name="T18" fmla="*/ 520 w 329"/>
                <a:gd name="T19" fmla="*/ 893 h 546"/>
                <a:gd name="T20" fmla="*/ 720 w 329"/>
                <a:gd name="T21" fmla="*/ 925 h 546"/>
                <a:gd name="T22" fmla="*/ 803 w 329"/>
                <a:gd name="T23" fmla="*/ 985 h 546"/>
                <a:gd name="T24" fmla="*/ 754 w 329"/>
                <a:gd name="T25" fmla="*/ 1068 h 546"/>
                <a:gd name="T26" fmla="*/ 616 w 329"/>
                <a:gd name="T27" fmla="*/ 1160 h 546"/>
                <a:gd name="T28" fmla="*/ 437 w 329"/>
                <a:gd name="T29" fmla="*/ 1173 h 546"/>
                <a:gd name="T30" fmla="*/ 316 w 329"/>
                <a:gd name="T31" fmla="*/ 1136 h 546"/>
                <a:gd name="T32" fmla="*/ 242 w 329"/>
                <a:gd name="T33" fmla="*/ 1173 h 546"/>
                <a:gd name="T34" fmla="*/ 261 w 329"/>
                <a:gd name="T35" fmla="*/ 1216 h 546"/>
                <a:gd name="T36" fmla="*/ 405 w 329"/>
                <a:gd name="T37" fmla="*/ 1252 h 546"/>
                <a:gd name="T38" fmla="*/ 616 w 329"/>
                <a:gd name="T39" fmla="*/ 1252 h 546"/>
                <a:gd name="T40" fmla="*/ 803 w 329"/>
                <a:gd name="T41" fmla="*/ 1216 h 546"/>
                <a:gd name="T42" fmla="*/ 913 w 329"/>
                <a:gd name="T43" fmla="*/ 1173 h 546"/>
                <a:gd name="T44" fmla="*/ 979 w 329"/>
                <a:gd name="T45" fmla="*/ 1088 h 546"/>
                <a:gd name="T46" fmla="*/ 1012 w 329"/>
                <a:gd name="T47" fmla="*/ 1000 h 546"/>
                <a:gd name="T48" fmla="*/ 933 w 329"/>
                <a:gd name="T49" fmla="*/ 916 h 546"/>
                <a:gd name="T50" fmla="*/ 720 w 329"/>
                <a:gd name="T51" fmla="*/ 859 h 546"/>
                <a:gd name="T52" fmla="*/ 472 w 329"/>
                <a:gd name="T53" fmla="*/ 810 h 546"/>
                <a:gd name="T54" fmla="*/ 261 w 329"/>
                <a:gd name="T55" fmla="*/ 730 h 546"/>
                <a:gd name="T56" fmla="*/ 209 w 329"/>
                <a:gd name="T57" fmla="*/ 662 h 546"/>
                <a:gd name="T58" fmla="*/ 242 w 329"/>
                <a:gd name="T59" fmla="*/ 533 h 546"/>
                <a:gd name="T60" fmla="*/ 405 w 329"/>
                <a:gd name="T61" fmla="*/ 373 h 546"/>
                <a:gd name="T62" fmla="*/ 596 w 329"/>
                <a:gd name="T63" fmla="*/ 278 h 546"/>
                <a:gd name="T64" fmla="*/ 891 w 329"/>
                <a:gd name="T65" fmla="*/ 208 h 546"/>
                <a:gd name="T66" fmla="*/ 1138 w 329"/>
                <a:gd name="T67" fmla="*/ 173 h 546"/>
                <a:gd name="T68" fmla="*/ 1138 w 329"/>
                <a:gd name="T69" fmla="*/ 80 h 546"/>
                <a:gd name="T70" fmla="*/ 1138 w 329"/>
                <a:gd name="T71" fmla="*/ 33 h 5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29"/>
                <a:gd name="T109" fmla="*/ 0 h 546"/>
                <a:gd name="T110" fmla="*/ 329 w 329"/>
                <a:gd name="T111" fmla="*/ 546 h 54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29" h="546">
                  <a:moveTo>
                    <a:pt x="329" y="15"/>
                  </a:moveTo>
                  <a:lnTo>
                    <a:pt x="293" y="0"/>
                  </a:lnTo>
                  <a:lnTo>
                    <a:pt x="217" y="5"/>
                  </a:lnTo>
                  <a:lnTo>
                    <a:pt x="151" y="56"/>
                  </a:lnTo>
                  <a:lnTo>
                    <a:pt x="55" y="162"/>
                  </a:lnTo>
                  <a:lnTo>
                    <a:pt x="5" y="248"/>
                  </a:lnTo>
                  <a:lnTo>
                    <a:pt x="0" y="278"/>
                  </a:lnTo>
                  <a:lnTo>
                    <a:pt x="25" y="334"/>
                  </a:lnTo>
                  <a:lnTo>
                    <a:pt x="80" y="359"/>
                  </a:lnTo>
                  <a:lnTo>
                    <a:pt x="151" y="389"/>
                  </a:lnTo>
                  <a:lnTo>
                    <a:pt x="207" y="404"/>
                  </a:lnTo>
                  <a:lnTo>
                    <a:pt x="232" y="430"/>
                  </a:lnTo>
                  <a:lnTo>
                    <a:pt x="217" y="465"/>
                  </a:lnTo>
                  <a:lnTo>
                    <a:pt x="177" y="506"/>
                  </a:lnTo>
                  <a:lnTo>
                    <a:pt x="126" y="511"/>
                  </a:lnTo>
                  <a:lnTo>
                    <a:pt x="91" y="495"/>
                  </a:lnTo>
                  <a:lnTo>
                    <a:pt x="70" y="511"/>
                  </a:lnTo>
                  <a:lnTo>
                    <a:pt x="75" y="531"/>
                  </a:lnTo>
                  <a:lnTo>
                    <a:pt x="116" y="546"/>
                  </a:lnTo>
                  <a:lnTo>
                    <a:pt x="177" y="546"/>
                  </a:lnTo>
                  <a:lnTo>
                    <a:pt x="232" y="531"/>
                  </a:lnTo>
                  <a:lnTo>
                    <a:pt x="263" y="511"/>
                  </a:lnTo>
                  <a:lnTo>
                    <a:pt x="283" y="475"/>
                  </a:lnTo>
                  <a:lnTo>
                    <a:pt x="293" y="435"/>
                  </a:lnTo>
                  <a:lnTo>
                    <a:pt x="268" y="399"/>
                  </a:lnTo>
                  <a:lnTo>
                    <a:pt x="207" y="374"/>
                  </a:lnTo>
                  <a:lnTo>
                    <a:pt x="136" y="354"/>
                  </a:lnTo>
                  <a:lnTo>
                    <a:pt x="75" y="319"/>
                  </a:lnTo>
                  <a:lnTo>
                    <a:pt x="60" y="288"/>
                  </a:lnTo>
                  <a:lnTo>
                    <a:pt x="70" y="233"/>
                  </a:lnTo>
                  <a:lnTo>
                    <a:pt x="116" y="162"/>
                  </a:lnTo>
                  <a:lnTo>
                    <a:pt x="172" y="121"/>
                  </a:lnTo>
                  <a:lnTo>
                    <a:pt x="258" y="91"/>
                  </a:lnTo>
                  <a:lnTo>
                    <a:pt x="329" y="76"/>
                  </a:lnTo>
                  <a:lnTo>
                    <a:pt x="329" y="35"/>
                  </a:lnTo>
                  <a:lnTo>
                    <a:pt x="329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6388" name="Group 10"/>
          <p:cNvGrpSpPr>
            <a:grpSpLocks/>
          </p:cNvGrpSpPr>
          <p:nvPr/>
        </p:nvGrpSpPr>
        <p:grpSpPr bwMode="auto">
          <a:xfrm>
            <a:off x="2625725" y="1263650"/>
            <a:ext cx="4308475" cy="1479550"/>
            <a:chOff x="3046" y="1901"/>
            <a:chExt cx="2714" cy="932"/>
          </a:xfrm>
        </p:grpSpPr>
        <p:grpSp>
          <p:nvGrpSpPr>
            <p:cNvPr id="16429" name="Group 11"/>
            <p:cNvGrpSpPr>
              <a:grpSpLocks/>
            </p:cNvGrpSpPr>
            <p:nvPr/>
          </p:nvGrpSpPr>
          <p:grpSpPr bwMode="auto">
            <a:xfrm>
              <a:off x="3046" y="1997"/>
              <a:ext cx="1073" cy="779"/>
              <a:chOff x="3124" y="3297"/>
              <a:chExt cx="1073" cy="779"/>
            </a:xfrm>
          </p:grpSpPr>
          <p:sp>
            <p:nvSpPr>
              <p:cNvPr id="16437" name="Freeform 12"/>
              <p:cNvSpPr>
                <a:spLocks/>
              </p:cNvSpPr>
              <p:nvPr/>
            </p:nvSpPr>
            <p:spPr bwMode="auto">
              <a:xfrm>
                <a:off x="3124" y="3297"/>
                <a:ext cx="1073" cy="779"/>
              </a:xfrm>
              <a:custGeom>
                <a:avLst/>
                <a:gdLst>
                  <a:gd name="T0" fmla="*/ 317 w 1073"/>
                  <a:gd name="T1" fmla="*/ 64 h 779"/>
                  <a:gd name="T2" fmla="*/ 48 w 1073"/>
                  <a:gd name="T3" fmla="*/ 246 h 779"/>
                  <a:gd name="T4" fmla="*/ 26 w 1073"/>
                  <a:gd name="T5" fmla="*/ 531 h 779"/>
                  <a:gd name="T6" fmla="*/ 150 w 1073"/>
                  <a:gd name="T7" fmla="*/ 669 h 779"/>
                  <a:gd name="T8" fmla="*/ 529 w 1073"/>
                  <a:gd name="T9" fmla="*/ 750 h 779"/>
                  <a:gd name="T10" fmla="*/ 1048 w 1073"/>
                  <a:gd name="T11" fmla="*/ 495 h 779"/>
                  <a:gd name="T12" fmla="*/ 682 w 1073"/>
                  <a:gd name="T13" fmla="*/ 72 h 779"/>
                  <a:gd name="T14" fmla="*/ 317 w 1073"/>
                  <a:gd name="T15" fmla="*/ 64 h 77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73"/>
                  <a:gd name="T25" fmla="*/ 0 h 779"/>
                  <a:gd name="T26" fmla="*/ 1073 w 1073"/>
                  <a:gd name="T27" fmla="*/ 779 h 77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73" h="779">
                    <a:moveTo>
                      <a:pt x="317" y="64"/>
                    </a:moveTo>
                    <a:cubicBezTo>
                      <a:pt x="211" y="93"/>
                      <a:pt x="96" y="168"/>
                      <a:pt x="48" y="246"/>
                    </a:cubicBezTo>
                    <a:cubicBezTo>
                      <a:pt x="0" y="324"/>
                      <a:pt x="9" y="461"/>
                      <a:pt x="26" y="531"/>
                    </a:cubicBezTo>
                    <a:cubicBezTo>
                      <a:pt x="43" y="601"/>
                      <a:pt x="66" y="633"/>
                      <a:pt x="150" y="669"/>
                    </a:cubicBezTo>
                    <a:cubicBezTo>
                      <a:pt x="234" y="705"/>
                      <a:pt x="380" y="779"/>
                      <a:pt x="529" y="750"/>
                    </a:cubicBezTo>
                    <a:cubicBezTo>
                      <a:pt x="678" y="721"/>
                      <a:pt x="1023" y="608"/>
                      <a:pt x="1048" y="495"/>
                    </a:cubicBezTo>
                    <a:cubicBezTo>
                      <a:pt x="1073" y="382"/>
                      <a:pt x="804" y="144"/>
                      <a:pt x="682" y="72"/>
                    </a:cubicBezTo>
                    <a:cubicBezTo>
                      <a:pt x="560" y="0"/>
                      <a:pt x="423" y="35"/>
                      <a:pt x="317" y="64"/>
                    </a:cubicBezTo>
                    <a:close/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438" name="Text Box 13"/>
              <p:cNvSpPr txBox="1">
                <a:spLocks noChangeArrowheads="1"/>
              </p:cNvSpPr>
              <p:nvPr/>
            </p:nvSpPr>
            <p:spPr bwMode="auto">
              <a:xfrm>
                <a:off x="3498" y="3312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14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6439" name="Text Box 14"/>
              <p:cNvSpPr txBox="1">
                <a:spLocks noChangeArrowheads="1"/>
              </p:cNvSpPr>
              <p:nvPr/>
            </p:nvSpPr>
            <p:spPr bwMode="auto">
              <a:xfrm>
                <a:off x="3374" y="3734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25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6440" name="Text Box 15"/>
              <p:cNvSpPr txBox="1">
                <a:spLocks noChangeArrowheads="1"/>
              </p:cNvSpPr>
              <p:nvPr/>
            </p:nvSpPr>
            <p:spPr bwMode="auto">
              <a:xfrm>
                <a:off x="3546" y="3552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30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6441" name="Text Box 16"/>
              <p:cNvSpPr txBox="1">
                <a:spLocks noChangeArrowheads="1"/>
              </p:cNvSpPr>
              <p:nvPr/>
            </p:nvSpPr>
            <p:spPr bwMode="auto">
              <a:xfrm>
                <a:off x="3776" y="3696"/>
                <a:ext cx="29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23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6442" name="Rectangle 17"/>
              <p:cNvSpPr>
                <a:spLocks noChangeArrowheads="1"/>
              </p:cNvSpPr>
              <p:nvPr/>
            </p:nvSpPr>
            <p:spPr bwMode="auto">
              <a:xfrm>
                <a:off x="3168" y="3629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31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6430" name="Group 18"/>
            <p:cNvGrpSpPr>
              <a:grpSpLocks/>
            </p:cNvGrpSpPr>
            <p:nvPr/>
          </p:nvGrpSpPr>
          <p:grpSpPr bwMode="auto">
            <a:xfrm>
              <a:off x="4743" y="1901"/>
              <a:ext cx="1017" cy="932"/>
              <a:chOff x="4503" y="3100"/>
              <a:chExt cx="1017" cy="932"/>
            </a:xfrm>
          </p:grpSpPr>
          <p:sp>
            <p:nvSpPr>
              <p:cNvPr id="16432" name="Freeform 19"/>
              <p:cNvSpPr>
                <a:spLocks/>
              </p:cNvSpPr>
              <p:nvPr/>
            </p:nvSpPr>
            <p:spPr bwMode="auto">
              <a:xfrm>
                <a:off x="4503" y="3100"/>
                <a:ext cx="1017" cy="932"/>
              </a:xfrm>
              <a:custGeom>
                <a:avLst/>
                <a:gdLst>
                  <a:gd name="T0" fmla="*/ 91 w 1017"/>
                  <a:gd name="T1" fmla="*/ 138 h 932"/>
                  <a:gd name="T2" fmla="*/ 18 w 1017"/>
                  <a:gd name="T3" fmla="*/ 443 h 932"/>
                  <a:gd name="T4" fmla="*/ 197 w 1017"/>
                  <a:gd name="T5" fmla="*/ 611 h 932"/>
                  <a:gd name="T6" fmla="*/ 416 w 1017"/>
                  <a:gd name="T7" fmla="*/ 841 h 932"/>
                  <a:gd name="T8" fmla="*/ 673 w 1017"/>
                  <a:gd name="T9" fmla="*/ 886 h 932"/>
                  <a:gd name="T10" fmla="*/ 985 w 1017"/>
                  <a:gd name="T11" fmla="*/ 567 h 932"/>
                  <a:gd name="T12" fmla="*/ 484 w 1017"/>
                  <a:gd name="T13" fmla="*/ 72 h 932"/>
                  <a:gd name="T14" fmla="*/ 91 w 1017"/>
                  <a:gd name="T15" fmla="*/ 138 h 9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7"/>
                  <a:gd name="T25" fmla="*/ 0 h 932"/>
                  <a:gd name="T26" fmla="*/ 1017 w 1017"/>
                  <a:gd name="T27" fmla="*/ 932 h 9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7" h="932">
                    <a:moveTo>
                      <a:pt x="91" y="138"/>
                    </a:moveTo>
                    <a:cubicBezTo>
                      <a:pt x="14" y="213"/>
                      <a:pt x="0" y="364"/>
                      <a:pt x="18" y="443"/>
                    </a:cubicBezTo>
                    <a:cubicBezTo>
                      <a:pt x="36" y="522"/>
                      <a:pt x="131" y="545"/>
                      <a:pt x="197" y="611"/>
                    </a:cubicBezTo>
                    <a:cubicBezTo>
                      <a:pt x="263" y="677"/>
                      <a:pt x="337" y="795"/>
                      <a:pt x="416" y="841"/>
                    </a:cubicBezTo>
                    <a:cubicBezTo>
                      <a:pt x="496" y="887"/>
                      <a:pt x="578" y="932"/>
                      <a:pt x="673" y="886"/>
                    </a:cubicBezTo>
                    <a:cubicBezTo>
                      <a:pt x="767" y="840"/>
                      <a:pt x="1017" y="703"/>
                      <a:pt x="985" y="567"/>
                    </a:cubicBezTo>
                    <a:cubicBezTo>
                      <a:pt x="953" y="431"/>
                      <a:pt x="633" y="144"/>
                      <a:pt x="484" y="72"/>
                    </a:cubicBezTo>
                    <a:cubicBezTo>
                      <a:pt x="335" y="0"/>
                      <a:pt x="173" y="124"/>
                      <a:pt x="91" y="138"/>
                    </a:cubicBezTo>
                    <a:close/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433" name="Text Box 20"/>
              <p:cNvSpPr txBox="1">
                <a:spLocks noChangeArrowheads="1"/>
              </p:cNvSpPr>
              <p:nvPr/>
            </p:nvSpPr>
            <p:spPr bwMode="auto">
              <a:xfrm>
                <a:off x="4544" y="3220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88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6434" name="Text Box 21"/>
              <p:cNvSpPr txBox="1">
                <a:spLocks noChangeArrowheads="1"/>
              </p:cNvSpPr>
              <p:nvPr/>
            </p:nvSpPr>
            <p:spPr bwMode="auto">
              <a:xfrm>
                <a:off x="5040" y="3312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98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6435" name="Text Box 22"/>
              <p:cNvSpPr txBox="1">
                <a:spLocks noChangeArrowheads="1"/>
              </p:cNvSpPr>
              <p:nvPr/>
            </p:nvSpPr>
            <p:spPr bwMode="auto">
              <a:xfrm>
                <a:off x="4656" y="3504"/>
                <a:ext cx="3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62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6436" name="Text Box 23"/>
              <p:cNvSpPr txBox="1">
                <a:spLocks noChangeArrowheads="1"/>
              </p:cNvSpPr>
              <p:nvPr/>
            </p:nvSpPr>
            <p:spPr bwMode="auto">
              <a:xfrm>
                <a:off x="5088" y="3648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79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6431" name="Text Box 24"/>
            <p:cNvSpPr txBox="1">
              <a:spLocks noChangeArrowheads="1"/>
            </p:cNvSpPr>
            <p:nvPr/>
          </p:nvSpPr>
          <p:spPr bwMode="auto">
            <a:xfrm>
              <a:off x="4153" y="2286"/>
              <a:ext cx="5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CA" altLang="en-US" sz="2000" b="0">
                  <a:solidFill>
                    <a:srgbClr val="33CC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  <a:r>
                <a:rPr lang="en-US" altLang="en-US" sz="2000" b="0">
                  <a:solidFill>
                    <a:srgbClr val="33CC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52 </a:t>
              </a:r>
              <a:r>
                <a:rPr lang="en-CA" altLang="en-US" sz="2000" b="0">
                  <a:solidFill>
                    <a:srgbClr val="33CC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≤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304800" y="3067050"/>
            <a:ext cx="3084513" cy="2343150"/>
            <a:chOff x="278" y="1932"/>
            <a:chExt cx="1943" cy="1476"/>
          </a:xfrm>
        </p:grpSpPr>
        <p:grpSp>
          <p:nvGrpSpPr>
            <p:cNvPr id="16410" name="Group 26"/>
            <p:cNvGrpSpPr>
              <a:grpSpLocks/>
            </p:cNvGrpSpPr>
            <p:nvPr/>
          </p:nvGrpSpPr>
          <p:grpSpPr bwMode="auto">
            <a:xfrm flipH="1">
              <a:off x="432" y="2782"/>
              <a:ext cx="240" cy="626"/>
              <a:chOff x="2308" y="1513"/>
              <a:chExt cx="1162" cy="2570"/>
            </a:xfrm>
          </p:grpSpPr>
          <p:grpSp>
            <p:nvGrpSpPr>
              <p:cNvPr id="16415" name="Group 27"/>
              <p:cNvGrpSpPr>
                <a:grpSpLocks/>
              </p:cNvGrpSpPr>
              <p:nvPr/>
            </p:nvGrpSpPr>
            <p:grpSpPr bwMode="auto">
              <a:xfrm>
                <a:off x="2308" y="1740"/>
                <a:ext cx="957" cy="2343"/>
                <a:chOff x="2308" y="1740"/>
                <a:chExt cx="957" cy="2343"/>
              </a:xfrm>
            </p:grpSpPr>
            <p:sp>
              <p:nvSpPr>
                <p:cNvPr id="16423" name="Freeform 28"/>
                <p:cNvSpPr>
                  <a:spLocks/>
                </p:cNvSpPr>
                <p:nvPr/>
              </p:nvSpPr>
              <p:spPr bwMode="auto">
                <a:xfrm>
                  <a:off x="2673" y="1740"/>
                  <a:ext cx="432" cy="485"/>
                </a:xfrm>
                <a:custGeom>
                  <a:avLst/>
                  <a:gdLst>
                    <a:gd name="T0" fmla="*/ 123 w 432"/>
                    <a:gd name="T1" fmla="*/ 206 h 485"/>
                    <a:gd name="T2" fmla="*/ 159 w 432"/>
                    <a:gd name="T3" fmla="*/ 53 h 485"/>
                    <a:gd name="T4" fmla="*/ 248 w 432"/>
                    <a:gd name="T5" fmla="*/ 0 h 485"/>
                    <a:gd name="T6" fmla="*/ 335 w 432"/>
                    <a:gd name="T7" fmla="*/ 0 h 485"/>
                    <a:gd name="T8" fmla="*/ 388 w 432"/>
                    <a:gd name="T9" fmla="*/ 53 h 485"/>
                    <a:gd name="T10" fmla="*/ 432 w 432"/>
                    <a:gd name="T11" fmla="*/ 215 h 485"/>
                    <a:gd name="T12" fmla="*/ 415 w 432"/>
                    <a:gd name="T13" fmla="*/ 349 h 485"/>
                    <a:gd name="T14" fmla="*/ 379 w 432"/>
                    <a:gd name="T15" fmla="*/ 458 h 485"/>
                    <a:gd name="T16" fmla="*/ 309 w 432"/>
                    <a:gd name="T17" fmla="*/ 485 h 485"/>
                    <a:gd name="T18" fmla="*/ 221 w 432"/>
                    <a:gd name="T19" fmla="*/ 475 h 485"/>
                    <a:gd name="T20" fmla="*/ 132 w 432"/>
                    <a:gd name="T21" fmla="*/ 368 h 485"/>
                    <a:gd name="T22" fmla="*/ 123 w 432"/>
                    <a:gd name="T23" fmla="*/ 288 h 485"/>
                    <a:gd name="T24" fmla="*/ 0 w 432"/>
                    <a:gd name="T25" fmla="*/ 242 h 485"/>
                    <a:gd name="T26" fmla="*/ 0 w 432"/>
                    <a:gd name="T27" fmla="*/ 189 h 485"/>
                    <a:gd name="T28" fmla="*/ 123 w 432"/>
                    <a:gd name="T29" fmla="*/ 206 h 48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432"/>
                    <a:gd name="T46" fmla="*/ 0 h 485"/>
                    <a:gd name="T47" fmla="*/ 432 w 432"/>
                    <a:gd name="T48" fmla="*/ 485 h 48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432" h="485">
                      <a:moveTo>
                        <a:pt x="123" y="206"/>
                      </a:moveTo>
                      <a:lnTo>
                        <a:pt x="159" y="53"/>
                      </a:lnTo>
                      <a:lnTo>
                        <a:pt x="248" y="0"/>
                      </a:lnTo>
                      <a:lnTo>
                        <a:pt x="335" y="0"/>
                      </a:lnTo>
                      <a:lnTo>
                        <a:pt x="388" y="53"/>
                      </a:lnTo>
                      <a:lnTo>
                        <a:pt x="432" y="215"/>
                      </a:lnTo>
                      <a:lnTo>
                        <a:pt x="415" y="349"/>
                      </a:lnTo>
                      <a:lnTo>
                        <a:pt x="379" y="458"/>
                      </a:lnTo>
                      <a:lnTo>
                        <a:pt x="309" y="485"/>
                      </a:lnTo>
                      <a:lnTo>
                        <a:pt x="221" y="475"/>
                      </a:lnTo>
                      <a:lnTo>
                        <a:pt x="132" y="368"/>
                      </a:lnTo>
                      <a:lnTo>
                        <a:pt x="123" y="288"/>
                      </a:lnTo>
                      <a:lnTo>
                        <a:pt x="0" y="242"/>
                      </a:lnTo>
                      <a:lnTo>
                        <a:pt x="0" y="189"/>
                      </a:lnTo>
                      <a:lnTo>
                        <a:pt x="123" y="20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24" name="Freeform 29"/>
                <p:cNvSpPr>
                  <a:spLocks/>
                </p:cNvSpPr>
                <p:nvPr/>
              </p:nvSpPr>
              <p:spPr bwMode="auto">
                <a:xfrm>
                  <a:off x="2573" y="2253"/>
                  <a:ext cx="500" cy="828"/>
                </a:xfrm>
                <a:custGeom>
                  <a:avLst/>
                  <a:gdLst>
                    <a:gd name="T0" fmla="*/ 41 w 500"/>
                    <a:gd name="T1" fmla="*/ 173 h 828"/>
                    <a:gd name="T2" fmla="*/ 163 w 500"/>
                    <a:gd name="T3" fmla="*/ 35 h 828"/>
                    <a:gd name="T4" fmla="*/ 232 w 500"/>
                    <a:gd name="T5" fmla="*/ 0 h 828"/>
                    <a:gd name="T6" fmla="*/ 366 w 500"/>
                    <a:gd name="T7" fmla="*/ 5 h 828"/>
                    <a:gd name="T8" fmla="*/ 488 w 500"/>
                    <a:gd name="T9" fmla="*/ 57 h 828"/>
                    <a:gd name="T10" fmla="*/ 500 w 500"/>
                    <a:gd name="T11" fmla="*/ 126 h 828"/>
                    <a:gd name="T12" fmla="*/ 483 w 500"/>
                    <a:gd name="T13" fmla="*/ 207 h 828"/>
                    <a:gd name="T14" fmla="*/ 396 w 500"/>
                    <a:gd name="T15" fmla="*/ 281 h 828"/>
                    <a:gd name="T16" fmla="*/ 349 w 500"/>
                    <a:gd name="T17" fmla="*/ 414 h 828"/>
                    <a:gd name="T18" fmla="*/ 349 w 500"/>
                    <a:gd name="T19" fmla="*/ 552 h 828"/>
                    <a:gd name="T20" fmla="*/ 384 w 500"/>
                    <a:gd name="T21" fmla="*/ 637 h 828"/>
                    <a:gd name="T22" fmla="*/ 448 w 500"/>
                    <a:gd name="T23" fmla="*/ 695 h 828"/>
                    <a:gd name="T24" fmla="*/ 448 w 500"/>
                    <a:gd name="T25" fmla="*/ 765 h 828"/>
                    <a:gd name="T26" fmla="*/ 419 w 500"/>
                    <a:gd name="T27" fmla="*/ 800 h 828"/>
                    <a:gd name="T28" fmla="*/ 384 w 500"/>
                    <a:gd name="T29" fmla="*/ 816 h 828"/>
                    <a:gd name="T30" fmla="*/ 268 w 500"/>
                    <a:gd name="T31" fmla="*/ 828 h 828"/>
                    <a:gd name="T32" fmla="*/ 163 w 500"/>
                    <a:gd name="T33" fmla="*/ 747 h 828"/>
                    <a:gd name="T34" fmla="*/ 53 w 500"/>
                    <a:gd name="T35" fmla="*/ 574 h 828"/>
                    <a:gd name="T36" fmla="*/ 0 w 500"/>
                    <a:gd name="T37" fmla="*/ 368 h 828"/>
                    <a:gd name="T38" fmla="*/ 140 w 500"/>
                    <a:gd name="T39" fmla="*/ 436 h 828"/>
                    <a:gd name="T40" fmla="*/ 192 w 500"/>
                    <a:gd name="T41" fmla="*/ 436 h 828"/>
                    <a:gd name="T42" fmla="*/ 227 w 500"/>
                    <a:gd name="T43" fmla="*/ 396 h 828"/>
                    <a:gd name="T44" fmla="*/ 251 w 500"/>
                    <a:gd name="T45" fmla="*/ 316 h 828"/>
                    <a:gd name="T46" fmla="*/ 209 w 500"/>
                    <a:gd name="T47" fmla="*/ 293 h 828"/>
                    <a:gd name="T48" fmla="*/ 53 w 500"/>
                    <a:gd name="T49" fmla="*/ 293 h 828"/>
                    <a:gd name="T50" fmla="*/ 18 w 500"/>
                    <a:gd name="T51" fmla="*/ 293 h 828"/>
                    <a:gd name="T52" fmla="*/ 41 w 500"/>
                    <a:gd name="T53" fmla="*/ 173 h 828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500"/>
                    <a:gd name="T82" fmla="*/ 0 h 828"/>
                    <a:gd name="T83" fmla="*/ 500 w 500"/>
                    <a:gd name="T84" fmla="*/ 828 h 828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T81" t="T82" r="T83" b="T84"/>
                  <a:pathLst>
                    <a:path w="500" h="828">
                      <a:moveTo>
                        <a:pt x="41" y="173"/>
                      </a:moveTo>
                      <a:lnTo>
                        <a:pt x="163" y="35"/>
                      </a:lnTo>
                      <a:lnTo>
                        <a:pt x="232" y="0"/>
                      </a:lnTo>
                      <a:lnTo>
                        <a:pt x="366" y="5"/>
                      </a:lnTo>
                      <a:lnTo>
                        <a:pt x="488" y="57"/>
                      </a:lnTo>
                      <a:lnTo>
                        <a:pt x="500" y="126"/>
                      </a:lnTo>
                      <a:lnTo>
                        <a:pt x="483" y="207"/>
                      </a:lnTo>
                      <a:lnTo>
                        <a:pt x="396" y="281"/>
                      </a:lnTo>
                      <a:lnTo>
                        <a:pt x="349" y="414"/>
                      </a:lnTo>
                      <a:lnTo>
                        <a:pt x="349" y="552"/>
                      </a:lnTo>
                      <a:lnTo>
                        <a:pt x="384" y="637"/>
                      </a:lnTo>
                      <a:lnTo>
                        <a:pt x="448" y="695"/>
                      </a:lnTo>
                      <a:lnTo>
                        <a:pt x="448" y="765"/>
                      </a:lnTo>
                      <a:lnTo>
                        <a:pt x="419" y="800"/>
                      </a:lnTo>
                      <a:lnTo>
                        <a:pt x="384" y="816"/>
                      </a:lnTo>
                      <a:lnTo>
                        <a:pt x="268" y="828"/>
                      </a:lnTo>
                      <a:lnTo>
                        <a:pt x="163" y="747"/>
                      </a:lnTo>
                      <a:lnTo>
                        <a:pt x="53" y="574"/>
                      </a:lnTo>
                      <a:lnTo>
                        <a:pt x="0" y="368"/>
                      </a:lnTo>
                      <a:lnTo>
                        <a:pt x="140" y="436"/>
                      </a:lnTo>
                      <a:lnTo>
                        <a:pt x="192" y="436"/>
                      </a:lnTo>
                      <a:lnTo>
                        <a:pt x="227" y="396"/>
                      </a:lnTo>
                      <a:lnTo>
                        <a:pt x="251" y="316"/>
                      </a:lnTo>
                      <a:lnTo>
                        <a:pt x="209" y="293"/>
                      </a:lnTo>
                      <a:lnTo>
                        <a:pt x="53" y="293"/>
                      </a:lnTo>
                      <a:lnTo>
                        <a:pt x="18" y="293"/>
                      </a:lnTo>
                      <a:lnTo>
                        <a:pt x="41" y="17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25" name="Freeform 30"/>
                <p:cNvSpPr>
                  <a:spLocks/>
                </p:cNvSpPr>
                <p:nvPr/>
              </p:nvSpPr>
              <p:spPr bwMode="auto">
                <a:xfrm>
                  <a:off x="2950" y="2289"/>
                  <a:ext cx="265" cy="895"/>
                </a:xfrm>
                <a:custGeom>
                  <a:avLst/>
                  <a:gdLst>
                    <a:gd name="T0" fmla="*/ 0 w 265"/>
                    <a:gd name="T1" fmla="*/ 75 h 895"/>
                    <a:gd name="T2" fmla="*/ 29 w 265"/>
                    <a:gd name="T3" fmla="*/ 23 h 895"/>
                    <a:gd name="T4" fmla="*/ 83 w 265"/>
                    <a:gd name="T5" fmla="*/ 0 h 895"/>
                    <a:gd name="T6" fmla="*/ 135 w 265"/>
                    <a:gd name="T7" fmla="*/ 5 h 895"/>
                    <a:gd name="T8" fmla="*/ 206 w 265"/>
                    <a:gd name="T9" fmla="*/ 108 h 895"/>
                    <a:gd name="T10" fmla="*/ 265 w 265"/>
                    <a:gd name="T11" fmla="*/ 264 h 895"/>
                    <a:gd name="T12" fmla="*/ 265 w 265"/>
                    <a:gd name="T13" fmla="*/ 384 h 895"/>
                    <a:gd name="T14" fmla="*/ 241 w 265"/>
                    <a:gd name="T15" fmla="*/ 447 h 895"/>
                    <a:gd name="T16" fmla="*/ 118 w 265"/>
                    <a:gd name="T17" fmla="*/ 522 h 895"/>
                    <a:gd name="T18" fmla="*/ 83 w 265"/>
                    <a:gd name="T19" fmla="*/ 573 h 895"/>
                    <a:gd name="T20" fmla="*/ 83 w 265"/>
                    <a:gd name="T21" fmla="*/ 608 h 895"/>
                    <a:gd name="T22" fmla="*/ 123 w 265"/>
                    <a:gd name="T23" fmla="*/ 654 h 895"/>
                    <a:gd name="T24" fmla="*/ 189 w 265"/>
                    <a:gd name="T25" fmla="*/ 723 h 895"/>
                    <a:gd name="T26" fmla="*/ 224 w 265"/>
                    <a:gd name="T27" fmla="*/ 814 h 895"/>
                    <a:gd name="T28" fmla="*/ 212 w 265"/>
                    <a:gd name="T29" fmla="*/ 895 h 895"/>
                    <a:gd name="T30" fmla="*/ 177 w 265"/>
                    <a:gd name="T31" fmla="*/ 877 h 895"/>
                    <a:gd name="T32" fmla="*/ 159 w 265"/>
                    <a:gd name="T33" fmla="*/ 764 h 895"/>
                    <a:gd name="T34" fmla="*/ 101 w 265"/>
                    <a:gd name="T35" fmla="*/ 694 h 895"/>
                    <a:gd name="T36" fmla="*/ 54 w 265"/>
                    <a:gd name="T37" fmla="*/ 676 h 895"/>
                    <a:gd name="T38" fmla="*/ 29 w 265"/>
                    <a:gd name="T39" fmla="*/ 643 h 895"/>
                    <a:gd name="T40" fmla="*/ 29 w 265"/>
                    <a:gd name="T41" fmla="*/ 568 h 895"/>
                    <a:gd name="T42" fmla="*/ 64 w 265"/>
                    <a:gd name="T43" fmla="*/ 505 h 895"/>
                    <a:gd name="T44" fmla="*/ 123 w 265"/>
                    <a:gd name="T45" fmla="*/ 465 h 895"/>
                    <a:gd name="T46" fmla="*/ 212 w 265"/>
                    <a:gd name="T47" fmla="*/ 402 h 895"/>
                    <a:gd name="T48" fmla="*/ 224 w 265"/>
                    <a:gd name="T49" fmla="*/ 327 h 895"/>
                    <a:gd name="T50" fmla="*/ 177 w 265"/>
                    <a:gd name="T51" fmla="*/ 224 h 895"/>
                    <a:gd name="T52" fmla="*/ 101 w 265"/>
                    <a:gd name="T53" fmla="*/ 143 h 895"/>
                    <a:gd name="T54" fmla="*/ 0 w 265"/>
                    <a:gd name="T55" fmla="*/ 75 h 895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265"/>
                    <a:gd name="T85" fmla="*/ 0 h 895"/>
                    <a:gd name="T86" fmla="*/ 265 w 265"/>
                    <a:gd name="T87" fmla="*/ 895 h 895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265" h="895">
                      <a:moveTo>
                        <a:pt x="0" y="75"/>
                      </a:moveTo>
                      <a:lnTo>
                        <a:pt x="29" y="23"/>
                      </a:lnTo>
                      <a:lnTo>
                        <a:pt x="83" y="0"/>
                      </a:lnTo>
                      <a:lnTo>
                        <a:pt x="135" y="5"/>
                      </a:lnTo>
                      <a:lnTo>
                        <a:pt x="206" y="108"/>
                      </a:lnTo>
                      <a:lnTo>
                        <a:pt x="265" y="264"/>
                      </a:lnTo>
                      <a:lnTo>
                        <a:pt x="265" y="384"/>
                      </a:lnTo>
                      <a:lnTo>
                        <a:pt x="241" y="447"/>
                      </a:lnTo>
                      <a:lnTo>
                        <a:pt x="118" y="522"/>
                      </a:lnTo>
                      <a:lnTo>
                        <a:pt x="83" y="573"/>
                      </a:lnTo>
                      <a:lnTo>
                        <a:pt x="83" y="608"/>
                      </a:lnTo>
                      <a:lnTo>
                        <a:pt x="123" y="654"/>
                      </a:lnTo>
                      <a:lnTo>
                        <a:pt x="189" y="723"/>
                      </a:lnTo>
                      <a:lnTo>
                        <a:pt x="224" y="814"/>
                      </a:lnTo>
                      <a:lnTo>
                        <a:pt x="212" y="895"/>
                      </a:lnTo>
                      <a:lnTo>
                        <a:pt x="177" y="877"/>
                      </a:lnTo>
                      <a:lnTo>
                        <a:pt x="159" y="764"/>
                      </a:lnTo>
                      <a:lnTo>
                        <a:pt x="101" y="694"/>
                      </a:lnTo>
                      <a:lnTo>
                        <a:pt x="54" y="676"/>
                      </a:lnTo>
                      <a:lnTo>
                        <a:pt x="29" y="643"/>
                      </a:lnTo>
                      <a:lnTo>
                        <a:pt x="29" y="568"/>
                      </a:lnTo>
                      <a:lnTo>
                        <a:pt x="64" y="505"/>
                      </a:lnTo>
                      <a:lnTo>
                        <a:pt x="123" y="465"/>
                      </a:lnTo>
                      <a:lnTo>
                        <a:pt x="212" y="402"/>
                      </a:lnTo>
                      <a:lnTo>
                        <a:pt x="224" y="327"/>
                      </a:lnTo>
                      <a:lnTo>
                        <a:pt x="177" y="224"/>
                      </a:lnTo>
                      <a:lnTo>
                        <a:pt x="101" y="143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26" name="Freeform 31"/>
                <p:cNvSpPr>
                  <a:spLocks/>
                </p:cNvSpPr>
                <p:nvPr/>
              </p:nvSpPr>
              <p:spPr bwMode="auto">
                <a:xfrm>
                  <a:off x="2308" y="2238"/>
                  <a:ext cx="520" cy="435"/>
                </a:xfrm>
                <a:custGeom>
                  <a:avLst/>
                  <a:gdLst>
                    <a:gd name="T0" fmla="*/ 398 w 520"/>
                    <a:gd name="T1" fmla="*/ 5 h 435"/>
                    <a:gd name="T2" fmla="*/ 485 w 520"/>
                    <a:gd name="T3" fmla="*/ 0 h 435"/>
                    <a:gd name="T4" fmla="*/ 520 w 520"/>
                    <a:gd name="T5" fmla="*/ 35 h 435"/>
                    <a:gd name="T6" fmla="*/ 497 w 520"/>
                    <a:gd name="T7" fmla="*/ 87 h 435"/>
                    <a:gd name="T8" fmla="*/ 428 w 520"/>
                    <a:gd name="T9" fmla="*/ 110 h 435"/>
                    <a:gd name="T10" fmla="*/ 365 w 520"/>
                    <a:gd name="T11" fmla="*/ 110 h 435"/>
                    <a:gd name="T12" fmla="*/ 272 w 520"/>
                    <a:gd name="T13" fmla="*/ 127 h 435"/>
                    <a:gd name="T14" fmla="*/ 168 w 520"/>
                    <a:gd name="T15" fmla="*/ 145 h 435"/>
                    <a:gd name="T16" fmla="*/ 87 w 520"/>
                    <a:gd name="T17" fmla="*/ 180 h 435"/>
                    <a:gd name="T18" fmla="*/ 63 w 520"/>
                    <a:gd name="T19" fmla="*/ 214 h 435"/>
                    <a:gd name="T20" fmla="*/ 70 w 520"/>
                    <a:gd name="T21" fmla="*/ 249 h 435"/>
                    <a:gd name="T22" fmla="*/ 115 w 520"/>
                    <a:gd name="T23" fmla="*/ 296 h 435"/>
                    <a:gd name="T24" fmla="*/ 202 w 520"/>
                    <a:gd name="T25" fmla="*/ 331 h 435"/>
                    <a:gd name="T26" fmla="*/ 306 w 520"/>
                    <a:gd name="T27" fmla="*/ 331 h 435"/>
                    <a:gd name="T28" fmla="*/ 382 w 520"/>
                    <a:gd name="T29" fmla="*/ 331 h 435"/>
                    <a:gd name="T30" fmla="*/ 468 w 520"/>
                    <a:gd name="T31" fmla="*/ 348 h 435"/>
                    <a:gd name="T32" fmla="*/ 450 w 520"/>
                    <a:gd name="T33" fmla="*/ 435 h 435"/>
                    <a:gd name="T34" fmla="*/ 330 w 520"/>
                    <a:gd name="T35" fmla="*/ 401 h 435"/>
                    <a:gd name="T36" fmla="*/ 290 w 520"/>
                    <a:gd name="T37" fmla="*/ 371 h 435"/>
                    <a:gd name="T38" fmla="*/ 208 w 520"/>
                    <a:gd name="T39" fmla="*/ 371 h 435"/>
                    <a:gd name="T40" fmla="*/ 70 w 520"/>
                    <a:gd name="T41" fmla="*/ 336 h 435"/>
                    <a:gd name="T42" fmla="*/ 12 w 520"/>
                    <a:gd name="T43" fmla="*/ 284 h 435"/>
                    <a:gd name="T44" fmla="*/ 0 w 520"/>
                    <a:gd name="T45" fmla="*/ 214 h 435"/>
                    <a:gd name="T46" fmla="*/ 46 w 520"/>
                    <a:gd name="T47" fmla="*/ 145 h 435"/>
                    <a:gd name="T48" fmla="*/ 202 w 520"/>
                    <a:gd name="T49" fmla="*/ 75 h 435"/>
                    <a:gd name="T50" fmla="*/ 340 w 520"/>
                    <a:gd name="T51" fmla="*/ 40 h 435"/>
                    <a:gd name="T52" fmla="*/ 398 w 520"/>
                    <a:gd name="T53" fmla="*/ 5 h 435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520"/>
                    <a:gd name="T82" fmla="*/ 0 h 435"/>
                    <a:gd name="T83" fmla="*/ 520 w 520"/>
                    <a:gd name="T84" fmla="*/ 435 h 435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T81" t="T82" r="T83" b="T84"/>
                  <a:pathLst>
                    <a:path w="520" h="435">
                      <a:moveTo>
                        <a:pt x="398" y="5"/>
                      </a:moveTo>
                      <a:lnTo>
                        <a:pt x="485" y="0"/>
                      </a:lnTo>
                      <a:lnTo>
                        <a:pt x="520" y="35"/>
                      </a:lnTo>
                      <a:lnTo>
                        <a:pt x="497" y="87"/>
                      </a:lnTo>
                      <a:lnTo>
                        <a:pt x="428" y="110"/>
                      </a:lnTo>
                      <a:lnTo>
                        <a:pt x="365" y="110"/>
                      </a:lnTo>
                      <a:lnTo>
                        <a:pt x="272" y="127"/>
                      </a:lnTo>
                      <a:lnTo>
                        <a:pt x="168" y="145"/>
                      </a:lnTo>
                      <a:lnTo>
                        <a:pt x="87" y="180"/>
                      </a:lnTo>
                      <a:lnTo>
                        <a:pt x="63" y="214"/>
                      </a:lnTo>
                      <a:lnTo>
                        <a:pt x="70" y="249"/>
                      </a:lnTo>
                      <a:lnTo>
                        <a:pt x="115" y="296"/>
                      </a:lnTo>
                      <a:lnTo>
                        <a:pt x="202" y="331"/>
                      </a:lnTo>
                      <a:lnTo>
                        <a:pt x="306" y="331"/>
                      </a:lnTo>
                      <a:lnTo>
                        <a:pt x="382" y="331"/>
                      </a:lnTo>
                      <a:lnTo>
                        <a:pt x="468" y="348"/>
                      </a:lnTo>
                      <a:lnTo>
                        <a:pt x="450" y="435"/>
                      </a:lnTo>
                      <a:lnTo>
                        <a:pt x="330" y="401"/>
                      </a:lnTo>
                      <a:lnTo>
                        <a:pt x="290" y="371"/>
                      </a:lnTo>
                      <a:lnTo>
                        <a:pt x="208" y="371"/>
                      </a:lnTo>
                      <a:lnTo>
                        <a:pt x="70" y="336"/>
                      </a:lnTo>
                      <a:lnTo>
                        <a:pt x="12" y="284"/>
                      </a:lnTo>
                      <a:lnTo>
                        <a:pt x="0" y="214"/>
                      </a:lnTo>
                      <a:lnTo>
                        <a:pt x="46" y="145"/>
                      </a:lnTo>
                      <a:lnTo>
                        <a:pt x="202" y="75"/>
                      </a:lnTo>
                      <a:lnTo>
                        <a:pt x="340" y="40"/>
                      </a:lnTo>
                      <a:lnTo>
                        <a:pt x="398" y="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27" name="Freeform 32"/>
                <p:cNvSpPr>
                  <a:spLocks/>
                </p:cNvSpPr>
                <p:nvPr/>
              </p:nvSpPr>
              <p:spPr bwMode="auto">
                <a:xfrm>
                  <a:off x="2882" y="2923"/>
                  <a:ext cx="383" cy="1160"/>
                </a:xfrm>
                <a:custGeom>
                  <a:avLst/>
                  <a:gdLst>
                    <a:gd name="T0" fmla="*/ 0 w 383"/>
                    <a:gd name="T1" fmla="*/ 0 h 1160"/>
                    <a:gd name="T2" fmla="*/ 99 w 383"/>
                    <a:gd name="T3" fmla="*/ 17 h 1160"/>
                    <a:gd name="T4" fmla="*/ 151 w 383"/>
                    <a:gd name="T5" fmla="*/ 103 h 1160"/>
                    <a:gd name="T6" fmla="*/ 203 w 383"/>
                    <a:gd name="T7" fmla="*/ 257 h 1160"/>
                    <a:gd name="T8" fmla="*/ 226 w 383"/>
                    <a:gd name="T9" fmla="*/ 451 h 1160"/>
                    <a:gd name="T10" fmla="*/ 226 w 383"/>
                    <a:gd name="T11" fmla="*/ 560 h 1160"/>
                    <a:gd name="T12" fmla="*/ 191 w 383"/>
                    <a:gd name="T13" fmla="*/ 696 h 1160"/>
                    <a:gd name="T14" fmla="*/ 134 w 383"/>
                    <a:gd name="T15" fmla="*/ 885 h 1160"/>
                    <a:gd name="T16" fmla="*/ 122 w 383"/>
                    <a:gd name="T17" fmla="*/ 937 h 1160"/>
                    <a:gd name="T18" fmla="*/ 139 w 383"/>
                    <a:gd name="T19" fmla="*/ 965 h 1160"/>
                    <a:gd name="T20" fmla="*/ 261 w 383"/>
                    <a:gd name="T21" fmla="*/ 1006 h 1160"/>
                    <a:gd name="T22" fmla="*/ 383 w 383"/>
                    <a:gd name="T23" fmla="*/ 1086 h 1160"/>
                    <a:gd name="T24" fmla="*/ 378 w 383"/>
                    <a:gd name="T25" fmla="*/ 1119 h 1160"/>
                    <a:gd name="T26" fmla="*/ 290 w 383"/>
                    <a:gd name="T27" fmla="*/ 1160 h 1160"/>
                    <a:gd name="T28" fmla="*/ 256 w 383"/>
                    <a:gd name="T29" fmla="*/ 1142 h 1160"/>
                    <a:gd name="T30" fmla="*/ 191 w 383"/>
                    <a:gd name="T31" fmla="*/ 1057 h 1160"/>
                    <a:gd name="T32" fmla="*/ 116 w 383"/>
                    <a:gd name="T33" fmla="*/ 1016 h 1160"/>
                    <a:gd name="T34" fmla="*/ 34 w 383"/>
                    <a:gd name="T35" fmla="*/ 988 h 1160"/>
                    <a:gd name="T36" fmla="*/ 29 w 383"/>
                    <a:gd name="T37" fmla="*/ 948 h 1160"/>
                    <a:gd name="T38" fmla="*/ 52 w 383"/>
                    <a:gd name="T39" fmla="*/ 868 h 1160"/>
                    <a:gd name="T40" fmla="*/ 116 w 383"/>
                    <a:gd name="T41" fmla="*/ 743 h 1160"/>
                    <a:gd name="T42" fmla="*/ 156 w 383"/>
                    <a:gd name="T43" fmla="*/ 594 h 1160"/>
                    <a:gd name="T44" fmla="*/ 156 w 383"/>
                    <a:gd name="T45" fmla="*/ 423 h 1160"/>
                    <a:gd name="T46" fmla="*/ 122 w 383"/>
                    <a:gd name="T47" fmla="*/ 274 h 1160"/>
                    <a:gd name="T48" fmla="*/ 47 w 383"/>
                    <a:gd name="T49" fmla="*/ 136 h 1160"/>
                    <a:gd name="T50" fmla="*/ 12 w 383"/>
                    <a:gd name="T51" fmla="*/ 63 h 1160"/>
                    <a:gd name="T52" fmla="*/ 0 w 383"/>
                    <a:gd name="T53" fmla="*/ 0 h 1160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383"/>
                    <a:gd name="T82" fmla="*/ 0 h 1160"/>
                    <a:gd name="T83" fmla="*/ 383 w 383"/>
                    <a:gd name="T84" fmla="*/ 1160 h 1160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T81" t="T82" r="T83" b="T84"/>
                  <a:pathLst>
                    <a:path w="383" h="1160">
                      <a:moveTo>
                        <a:pt x="0" y="0"/>
                      </a:moveTo>
                      <a:lnTo>
                        <a:pt x="99" y="17"/>
                      </a:lnTo>
                      <a:lnTo>
                        <a:pt x="151" y="103"/>
                      </a:lnTo>
                      <a:lnTo>
                        <a:pt x="203" y="257"/>
                      </a:lnTo>
                      <a:lnTo>
                        <a:pt x="226" y="451"/>
                      </a:lnTo>
                      <a:lnTo>
                        <a:pt x="226" y="560"/>
                      </a:lnTo>
                      <a:lnTo>
                        <a:pt x="191" y="696"/>
                      </a:lnTo>
                      <a:lnTo>
                        <a:pt x="134" y="885"/>
                      </a:lnTo>
                      <a:lnTo>
                        <a:pt x="122" y="937"/>
                      </a:lnTo>
                      <a:lnTo>
                        <a:pt x="139" y="965"/>
                      </a:lnTo>
                      <a:lnTo>
                        <a:pt x="261" y="1006"/>
                      </a:lnTo>
                      <a:lnTo>
                        <a:pt x="383" y="1086"/>
                      </a:lnTo>
                      <a:lnTo>
                        <a:pt x="378" y="1119"/>
                      </a:lnTo>
                      <a:lnTo>
                        <a:pt x="290" y="1160"/>
                      </a:lnTo>
                      <a:lnTo>
                        <a:pt x="256" y="1142"/>
                      </a:lnTo>
                      <a:lnTo>
                        <a:pt x="191" y="1057"/>
                      </a:lnTo>
                      <a:lnTo>
                        <a:pt x="116" y="1016"/>
                      </a:lnTo>
                      <a:lnTo>
                        <a:pt x="34" y="988"/>
                      </a:lnTo>
                      <a:lnTo>
                        <a:pt x="29" y="948"/>
                      </a:lnTo>
                      <a:lnTo>
                        <a:pt x="52" y="868"/>
                      </a:lnTo>
                      <a:lnTo>
                        <a:pt x="116" y="743"/>
                      </a:lnTo>
                      <a:lnTo>
                        <a:pt x="156" y="594"/>
                      </a:lnTo>
                      <a:lnTo>
                        <a:pt x="156" y="423"/>
                      </a:lnTo>
                      <a:lnTo>
                        <a:pt x="122" y="274"/>
                      </a:lnTo>
                      <a:lnTo>
                        <a:pt x="47" y="136"/>
                      </a:lnTo>
                      <a:lnTo>
                        <a:pt x="12" y="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28" name="Freeform 33"/>
                <p:cNvSpPr>
                  <a:spLocks/>
                </p:cNvSpPr>
                <p:nvPr/>
              </p:nvSpPr>
              <p:spPr bwMode="auto">
                <a:xfrm>
                  <a:off x="2443" y="2919"/>
                  <a:ext cx="461" cy="1027"/>
                </a:xfrm>
                <a:custGeom>
                  <a:avLst/>
                  <a:gdLst>
                    <a:gd name="T0" fmla="*/ 421 w 461"/>
                    <a:gd name="T1" fmla="*/ 0 h 1027"/>
                    <a:gd name="T2" fmla="*/ 449 w 461"/>
                    <a:gd name="T3" fmla="*/ 22 h 1027"/>
                    <a:gd name="T4" fmla="*/ 461 w 461"/>
                    <a:gd name="T5" fmla="*/ 91 h 1027"/>
                    <a:gd name="T6" fmla="*/ 439 w 461"/>
                    <a:gd name="T7" fmla="*/ 159 h 1027"/>
                    <a:gd name="T8" fmla="*/ 380 w 461"/>
                    <a:gd name="T9" fmla="*/ 245 h 1027"/>
                    <a:gd name="T10" fmla="*/ 315 w 461"/>
                    <a:gd name="T11" fmla="*/ 348 h 1027"/>
                    <a:gd name="T12" fmla="*/ 293 w 461"/>
                    <a:gd name="T13" fmla="*/ 462 h 1027"/>
                    <a:gd name="T14" fmla="*/ 310 w 461"/>
                    <a:gd name="T15" fmla="*/ 645 h 1027"/>
                    <a:gd name="T16" fmla="*/ 350 w 461"/>
                    <a:gd name="T17" fmla="*/ 868 h 1027"/>
                    <a:gd name="T18" fmla="*/ 380 w 461"/>
                    <a:gd name="T19" fmla="*/ 959 h 1027"/>
                    <a:gd name="T20" fmla="*/ 368 w 461"/>
                    <a:gd name="T21" fmla="*/ 987 h 1027"/>
                    <a:gd name="T22" fmla="*/ 298 w 461"/>
                    <a:gd name="T23" fmla="*/ 992 h 1027"/>
                    <a:gd name="T24" fmla="*/ 211 w 461"/>
                    <a:gd name="T25" fmla="*/ 969 h 1027"/>
                    <a:gd name="T26" fmla="*/ 134 w 461"/>
                    <a:gd name="T27" fmla="*/ 1004 h 1027"/>
                    <a:gd name="T28" fmla="*/ 87 w 461"/>
                    <a:gd name="T29" fmla="*/ 1027 h 1027"/>
                    <a:gd name="T30" fmla="*/ 53 w 461"/>
                    <a:gd name="T31" fmla="*/ 1022 h 1027"/>
                    <a:gd name="T32" fmla="*/ 0 w 461"/>
                    <a:gd name="T33" fmla="*/ 959 h 1027"/>
                    <a:gd name="T34" fmla="*/ 53 w 461"/>
                    <a:gd name="T35" fmla="*/ 936 h 1027"/>
                    <a:gd name="T36" fmla="*/ 187 w 461"/>
                    <a:gd name="T37" fmla="*/ 908 h 1027"/>
                    <a:gd name="T38" fmla="*/ 263 w 461"/>
                    <a:gd name="T39" fmla="*/ 936 h 1027"/>
                    <a:gd name="T40" fmla="*/ 315 w 461"/>
                    <a:gd name="T41" fmla="*/ 936 h 1027"/>
                    <a:gd name="T42" fmla="*/ 310 w 461"/>
                    <a:gd name="T43" fmla="*/ 890 h 1027"/>
                    <a:gd name="T44" fmla="*/ 258 w 461"/>
                    <a:gd name="T45" fmla="*/ 616 h 1027"/>
                    <a:gd name="T46" fmla="*/ 222 w 461"/>
                    <a:gd name="T47" fmla="*/ 456 h 1027"/>
                    <a:gd name="T48" fmla="*/ 228 w 461"/>
                    <a:gd name="T49" fmla="*/ 376 h 1027"/>
                    <a:gd name="T50" fmla="*/ 280 w 461"/>
                    <a:gd name="T51" fmla="*/ 227 h 1027"/>
                    <a:gd name="T52" fmla="*/ 333 w 461"/>
                    <a:gd name="T53" fmla="*/ 91 h 1027"/>
                    <a:gd name="T54" fmla="*/ 421 w 461"/>
                    <a:gd name="T55" fmla="*/ 0 h 1027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461"/>
                    <a:gd name="T85" fmla="*/ 0 h 1027"/>
                    <a:gd name="T86" fmla="*/ 461 w 461"/>
                    <a:gd name="T87" fmla="*/ 1027 h 1027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461" h="1027">
                      <a:moveTo>
                        <a:pt x="421" y="0"/>
                      </a:moveTo>
                      <a:lnTo>
                        <a:pt x="449" y="22"/>
                      </a:lnTo>
                      <a:lnTo>
                        <a:pt x="461" y="91"/>
                      </a:lnTo>
                      <a:lnTo>
                        <a:pt x="439" y="159"/>
                      </a:lnTo>
                      <a:lnTo>
                        <a:pt x="380" y="245"/>
                      </a:lnTo>
                      <a:lnTo>
                        <a:pt x="315" y="348"/>
                      </a:lnTo>
                      <a:lnTo>
                        <a:pt x="293" y="462"/>
                      </a:lnTo>
                      <a:lnTo>
                        <a:pt x="310" y="645"/>
                      </a:lnTo>
                      <a:lnTo>
                        <a:pt x="350" y="868"/>
                      </a:lnTo>
                      <a:lnTo>
                        <a:pt x="380" y="959"/>
                      </a:lnTo>
                      <a:lnTo>
                        <a:pt x="368" y="987"/>
                      </a:lnTo>
                      <a:lnTo>
                        <a:pt x="298" y="992"/>
                      </a:lnTo>
                      <a:lnTo>
                        <a:pt x="211" y="969"/>
                      </a:lnTo>
                      <a:lnTo>
                        <a:pt x="134" y="1004"/>
                      </a:lnTo>
                      <a:lnTo>
                        <a:pt x="87" y="1027"/>
                      </a:lnTo>
                      <a:lnTo>
                        <a:pt x="53" y="1022"/>
                      </a:lnTo>
                      <a:lnTo>
                        <a:pt x="0" y="959"/>
                      </a:lnTo>
                      <a:lnTo>
                        <a:pt x="53" y="936"/>
                      </a:lnTo>
                      <a:lnTo>
                        <a:pt x="187" y="908"/>
                      </a:lnTo>
                      <a:lnTo>
                        <a:pt x="263" y="936"/>
                      </a:lnTo>
                      <a:lnTo>
                        <a:pt x="315" y="936"/>
                      </a:lnTo>
                      <a:lnTo>
                        <a:pt x="310" y="890"/>
                      </a:lnTo>
                      <a:lnTo>
                        <a:pt x="258" y="616"/>
                      </a:lnTo>
                      <a:lnTo>
                        <a:pt x="222" y="456"/>
                      </a:lnTo>
                      <a:lnTo>
                        <a:pt x="228" y="376"/>
                      </a:lnTo>
                      <a:lnTo>
                        <a:pt x="280" y="227"/>
                      </a:lnTo>
                      <a:lnTo>
                        <a:pt x="333" y="91"/>
                      </a:lnTo>
                      <a:lnTo>
                        <a:pt x="42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6416" name="Freeform 34"/>
              <p:cNvSpPr>
                <a:spLocks/>
              </p:cNvSpPr>
              <p:nvPr/>
            </p:nvSpPr>
            <p:spPr bwMode="auto">
              <a:xfrm>
                <a:off x="2626" y="1540"/>
                <a:ext cx="827" cy="563"/>
              </a:xfrm>
              <a:custGeom>
                <a:avLst/>
                <a:gdLst>
                  <a:gd name="T0" fmla="*/ 0 w 827"/>
                  <a:gd name="T1" fmla="*/ 139 h 563"/>
                  <a:gd name="T2" fmla="*/ 108 w 827"/>
                  <a:gd name="T3" fmla="*/ 18 h 563"/>
                  <a:gd name="T4" fmla="*/ 160 w 827"/>
                  <a:gd name="T5" fmla="*/ 75 h 563"/>
                  <a:gd name="T6" fmla="*/ 213 w 827"/>
                  <a:gd name="T7" fmla="*/ 110 h 563"/>
                  <a:gd name="T8" fmla="*/ 269 w 827"/>
                  <a:gd name="T9" fmla="*/ 110 h 563"/>
                  <a:gd name="T10" fmla="*/ 327 w 827"/>
                  <a:gd name="T11" fmla="*/ 52 h 563"/>
                  <a:gd name="T12" fmla="*/ 396 w 827"/>
                  <a:gd name="T13" fmla="*/ 5 h 563"/>
                  <a:gd name="T14" fmla="*/ 477 w 827"/>
                  <a:gd name="T15" fmla="*/ 0 h 563"/>
                  <a:gd name="T16" fmla="*/ 563 w 827"/>
                  <a:gd name="T17" fmla="*/ 35 h 563"/>
                  <a:gd name="T18" fmla="*/ 620 w 827"/>
                  <a:gd name="T19" fmla="*/ 87 h 563"/>
                  <a:gd name="T20" fmla="*/ 648 w 827"/>
                  <a:gd name="T21" fmla="*/ 157 h 563"/>
                  <a:gd name="T22" fmla="*/ 654 w 827"/>
                  <a:gd name="T23" fmla="*/ 249 h 563"/>
                  <a:gd name="T24" fmla="*/ 671 w 827"/>
                  <a:gd name="T25" fmla="*/ 331 h 563"/>
                  <a:gd name="T26" fmla="*/ 718 w 827"/>
                  <a:gd name="T27" fmla="*/ 371 h 563"/>
                  <a:gd name="T28" fmla="*/ 774 w 827"/>
                  <a:gd name="T29" fmla="*/ 389 h 563"/>
                  <a:gd name="T30" fmla="*/ 827 w 827"/>
                  <a:gd name="T31" fmla="*/ 401 h 563"/>
                  <a:gd name="T32" fmla="*/ 786 w 827"/>
                  <a:gd name="T33" fmla="*/ 563 h 563"/>
                  <a:gd name="T34" fmla="*/ 654 w 827"/>
                  <a:gd name="T35" fmla="*/ 540 h 563"/>
                  <a:gd name="T36" fmla="*/ 517 w 827"/>
                  <a:gd name="T37" fmla="*/ 493 h 563"/>
                  <a:gd name="T38" fmla="*/ 407 w 827"/>
                  <a:gd name="T39" fmla="*/ 441 h 563"/>
                  <a:gd name="T40" fmla="*/ 286 w 827"/>
                  <a:gd name="T41" fmla="*/ 389 h 563"/>
                  <a:gd name="T42" fmla="*/ 160 w 827"/>
                  <a:gd name="T43" fmla="*/ 331 h 563"/>
                  <a:gd name="T44" fmla="*/ 57 w 827"/>
                  <a:gd name="T45" fmla="*/ 209 h 563"/>
                  <a:gd name="T46" fmla="*/ 0 w 827"/>
                  <a:gd name="T47" fmla="*/ 139 h 56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827"/>
                  <a:gd name="T73" fmla="*/ 0 h 563"/>
                  <a:gd name="T74" fmla="*/ 827 w 827"/>
                  <a:gd name="T75" fmla="*/ 563 h 563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827" h="563">
                    <a:moveTo>
                      <a:pt x="0" y="139"/>
                    </a:moveTo>
                    <a:lnTo>
                      <a:pt x="108" y="18"/>
                    </a:lnTo>
                    <a:lnTo>
                      <a:pt x="160" y="75"/>
                    </a:lnTo>
                    <a:lnTo>
                      <a:pt x="213" y="110"/>
                    </a:lnTo>
                    <a:lnTo>
                      <a:pt x="269" y="110"/>
                    </a:lnTo>
                    <a:lnTo>
                      <a:pt x="327" y="52"/>
                    </a:lnTo>
                    <a:lnTo>
                      <a:pt x="396" y="5"/>
                    </a:lnTo>
                    <a:lnTo>
                      <a:pt x="477" y="0"/>
                    </a:lnTo>
                    <a:lnTo>
                      <a:pt x="563" y="35"/>
                    </a:lnTo>
                    <a:lnTo>
                      <a:pt x="620" y="87"/>
                    </a:lnTo>
                    <a:lnTo>
                      <a:pt x="648" y="157"/>
                    </a:lnTo>
                    <a:lnTo>
                      <a:pt x="654" y="249"/>
                    </a:lnTo>
                    <a:lnTo>
                      <a:pt x="671" y="331"/>
                    </a:lnTo>
                    <a:lnTo>
                      <a:pt x="718" y="371"/>
                    </a:lnTo>
                    <a:lnTo>
                      <a:pt x="774" y="389"/>
                    </a:lnTo>
                    <a:lnTo>
                      <a:pt x="827" y="401"/>
                    </a:lnTo>
                    <a:lnTo>
                      <a:pt x="786" y="563"/>
                    </a:lnTo>
                    <a:lnTo>
                      <a:pt x="654" y="540"/>
                    </a:lnTo>
                    <a:lnTo>
                      <a:pt x="517" y="493"/>
                    </a:lnTo>
                    <a:lnTo>
                      <a:pt x="407" y="441"/>
                    </a:lnTo>
                    <a:lnTo>
                      <a:pt x="286" y="389"/>
                    </a:lnTo>
                    <a:lnTo>
                      <a:pt x="160" y="331"/>
                    </a:lnTo>
                    <a:lnTo>
                      <a:pt x="57" y="209"/>
                    </a:lnTo>
                    <a:lnTo>
                      <a:pt x="0" y="139"/>
                    </a:lnTo>
                    <a:close/>
                  </a:path>
                </a:pathLst>
              </a:custGeom>
              <a:solidFill>
                <a:srgbClr val="063D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417" name="Freeform 35"/>
              <p:cNvSpPr>
                <a:spLocks/>
              </p:cNvSpPr>
              <p:nvPr/>
            </p:nvSpPr>
            <p:spPr bwMode="auto">
              <a:xfrm>
                <a:off x="2614" y="1513"/>
                <a:ext cx="856" cy="606"/>
              </a:xfrm>
              <a:custGeom>
                <a:avLst/>
                <a:gdLst>
                  <a:gd name="T0" fmla="*/ 75 w 856"/>
                  <a:gd name="T1" fmla="*/ 266 h 606"/>
                  <a:gd name="T2" fmla="*/ 172 w 856"/>
                  <a:gd name="T3" fmla="*/ 363 h 606"/>
                  <a:gd name="T4" fmla="*/ 304 w 856"/>
                  <a:gd name="T5" fmla="*/ 428 h 606"/>
                  <a:gd name="T6" fmla="*/ 489 w 856"/>
                  <a:gd name="T7" fmla="*/ 513 h 606"/>
                  <a:gd name="T8" fmla="*/ 615 w 856"/>
                  <a:gd name="T9" fmla="*/ 566 h 606"/>
                  <a:gd name="T10" fmla="*/ 816 w 856"/>
                  <a:gd name="T11" fmla="*/ 606 h 606"/>
                  <a:gd name="T12" fmla="*/ 856 w 856"/>
                  <a:gd name="T13" fmla="*/ 393 h 606"/>
                  <a:gd name="T14" fmla="*/ 804 w 856"/>
                  <a:gd name="T15" fmla="*/ 393 h 606"/>
                  <a:gd name="T16" fmla="*/ 753 w 856"/>
                  <a:gd name="T17" fmla="*/ 363 h 606"/>
                  <a:gd name="T18" fmla="*/ 695 w 856"/>
                  <a:gd name="T19" fmla="*/ 323 h 606"/>
                  <a:gd name="T20" fmla="*/ 695 w 856"/>
                  <a:gd name="T21" fmla="*/ 243 h 606"/>
                  <a:gd name="T22" fmla="*/ 660 w 856"/>
                  <a:gd name="T23" fmla="*/ 116 h 606"/>
                  <a:gd name="T24" fmla="*/ 597 w 856"/>
                  <a:gd name="T25" fmla="*/ 46 h 606"/>
                  <a:gd name="T26" fmla="*/ 505 w 856"/>
                  <a:gd name="T27" fmla="*/ 0 h 606"/>
                  <a:gd name="T28" fmla="*/ 391 w 856"/>
                  <a:gd name="T29" fmla="*/ 12 h 606"/>
                  <a:gd name="T30" fmla="*/ 321 w 856"/>
                  <a:gd name="T31" fmla="*/ 53 h 606"/>
                  <a:gd name="T32" fmla="*/ 286 w 856"/>
                  <a:gd name="T33" fmla="*/ 98 h 606"/>
                  <a:gd name="T34" fmla="*/ 253 w 856"/>
                  <a:gd name="T35" fmla="*/ 121 h 606"/>
                  <a:gd name="T36" fmla="*/ 218 w 856"/>
                  <a:gd name="T37" fmla="*/ 116 h 606"/>
                  <a:gd name="T38" fmla="*/ 166 w 856"/>
                  <a:gd name="T39" fmla="*/ 63 h 606"/>
                  <a:gd name="T40" fmla="*/ 132 w 856"/>
                  <a:gd name="T41" fmla="*/ 0 h 606"/>
                  <a:gd name="T42" fmla="*/ 103 w 856"/>
                  <a:gd name="T43" fmla="*/ 30 h 606"/>
                  <a:gd name="T44" fmla="*/ 0 w 856"/>
                  <a:gd name="T45" fmla="*/ 150 h 606"/>
                  <a:gd name="T46" fmla="*/ 5 w 856"/>
                  <a:gd name="T47" fmla="*/ 178 h 606"/>
                  <a:gd name="T48" fmla="*/ 17 w 856"/>
                  <a:gd name="T49" fmla="*/ 191 h 606"/>
                  <a:gd name="T50" fmla="*/ 120 w 856"/>
                  <a:gd name="T51" fmla="*/ 81 h 606"/>
                  <a:gd name="T52" fmla="*/ 172 w 856"/>
                  <a:gd name="T53" fmla="*/ 133 h 606"/>
                  <a:gd name="T54" fmla="*/ 206 w 856"/>
                  <a:gd name="T55" fmla="*/ 168 h 606"/>
                  <a:gd name="T56" fmla="*/ 253 w 856"/>
                  <a:gd name="T57" fmla="*/ 168 h 606"/>
                  <a:gd name="T58" fmla="*/ 286 w 856"/>
                  <a:gd name="T59" fmla="*/ 156 h 606"/>
                  <a:gd name="T60" fmla="*/ 339 w 856"/>
                  <a:gd name="T61" fmla="*/ 116 h 606"/>
                  <a:gd name="T62" fmla="*/ 367 w 856"/>
                  <a:gd name="T63" fmla="*/ 70 h 606"/>
                  <a:gd name="T64" fmla="*/ 442 w 856"/>
                  <a:gd name="T65" fmla="*/ 46 h 606"/>
                  <a:gd name="T66" fmla="*/ 505 w 856"/>
                  <a:gd name="T67" fmla="*/ 53 h 606"/>
                  <a:gd name="T68" fmla="*/ 562 w 856"/>
                  <a:gd name="T69" fmla="*/ 87 h 606"/>
                  <a:gd name="T70" fmla="*/ 615 w 856"/>
                  <a:gd name="T71" fmla="*/ 138 h 606"/>
                  <a:gd name="T72" fmla="*/ 643 w 856"/>
                  <a:gd name="T73" fmla="*/ 203 h 606"/>
                  <a:gd name="T74" fmla="*/ 643 w 856"/>
                  <a:gd name="T75" fmla="*/ 260 h 606"/>
                  <a:gd name="T76" fmla="*/ 643 w 856"/>
                  <a:gd name="T77" fmla="*/ 323 h 606"/>
                  <a:gd name="T78" fmla="*/ 666 w 856"/>
                  <a:gd name="T79" fmla="*/ 375 h 606"/>
                  <a:gd name="T80" fmla="*/ 730 w 856"/>
                  <a:gd name="T81" fmla="*/ 410 h 606"/>
                  <a:gd name="T82" fmla="*/ 804 w 856"/>
                  <a:gd name="T83" fmla="*/ 444 h 606"/>
                  <a:gd name="T84" fmla="*/ 770 w 856"/>
                  <a:gd name="T85" fmla="*/ 554 h 606"/>
                  <a:gd name="T86" fmla="*/ 580 w 856"/>
                  <a:gd name="T87" fmla="*/ 503 h 606"/>
                  <a:gd name="T88" fmla="*/ 454 w 856"/>
                  <a:gd name="T89" fmla="*/ 450 h 606"/>
                  <a:gd name="T90" fmla="*/ 339 w 856"/>
                  <a:gd name="T91" fmla="*/ 416 h 606"/>
                  <a:gd name="T92" fmla="*/ 241 w 856"/>
                  <a:gd name="T93" fmla="*/ 363 h 606"/>
                  <a:gd name="T94" fmla="*/ 120 w 856"/>
                  <a:gd name="T95" fmla="*/ 266 h 606"/>
                  <a:gd name="T96" fmla="*/ 34 w 856"/>
                  <a:gd name="T97" fmla="*/ 173 h 606"/>
                  <a:gd name="T98" fmla="*/ 22 w 856"/>
                  <a:gd name="T99" fmla="*/ 185 h 606"/>
                  <a:gd name="T100" fmla="*/ 75 w 856"/>
                  <a:gd name="T101" fmla="*/ 266 h 60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856"/>
                  <a:gd name="T154" fmla="*/ 0 h 606"/>
                  <a:gd name="T155" fmla="*/ 856 w 856"/>
                  <a:gd name="T156" fmla="*/ 606 h 60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856" h="606">
                    <a:moveTo>
                      <a:pt x="75" y="266"/>
                    </a:moveTo>
                    <a:lnTo>
                      <a:pt x="172" y="363"/>
                    </a:lnTo>
                    <a:lnTo>
                      <a:pt x="304" y="428"/>
                    </a:lnTo>
                    <a:lnTo>
                      <a:pt x="489" y="513"/>
                    </a:lnTo>
                    <a:lnTo>
                      <a:pt x="615" y="566"/>
                    </a:lnTo>
                    <a:lnTo>
                      <a:pt x="816" y="606"/>
                    </a:lnTo>
                    <a:lnTo>
                      <a:pt x="856" y="393"/>
                    </a:lnTo>
                    <a:lnTo>
                      <a:pt x="804" y="393"/>
                    </a:lnTo>
                    <a:lnTo>
                      <a:pt x="753" y="363"/>
                    </a:lnTo>
                    <a:lnTo>
                      <a:pt x="695" y="323"/>
                    </a:lnTo>
                    <a:lnTo>
                      <a:pt x="695" y="243"/>
                    </a:lnTo>
                    <a:lnTo>
                      <a:pt x="660" y="116"/>
                    </a:lnTo>
                    <a:lnTo>
                      <a:pt x="597" y="46"/>
                    </a:lnTo>
                    <a:lnTo>
                      <a:pt x="505" y="0"/>
                    </a:lnTo>
                    <a:lnTo>
                      <a:pt x="391" y="12"/>
                    </a:lnTo>
                    <a:lnTo>
                      <a:pt x="321" y="53"/>
                    </a:lnTo>
                    <a:lnTo>
                      <a:pt x="286" y="98"/>
                    </a:lnTo>
                    <a:lnTo>
                      <a:pt x="253" y="121"/>
                    </a:lnTo>
                    <a:lnTo>
                      <a:pt x="218" y="116"/>
                    </a:lnTo>
                    <a:lnTo>
                      <a:pt x="166" y="63"/>
                    </a:lnTo>
                    <a:lnTo>
                      <a:pt x="132" y="0"/>
                    </a:lnTo>
                    <a:lnTo>
                      <a:pt x="103" y="30"/>
                    </a:lnTo>
                    <a:lnTo>
                      <a:pt x="0" y="150"/>
                    </a:lnTo>
                    <a:lnTo>
                      <a:pt x="5" y="178"/>
                    </a:lnTo>
                    <a:lnTo>
                      <a:pt x="17" y="191"/>
                    </a:lnTo>
                    <a:lnTo>
                      <a:pt x="120" y="81"/>
                    </a:lnTo>
                    <a:lnTo>
                      <a:pt x="172" y="133"/>
                    </a:lnTo>
                    <a:lnTo>
                      <a:pt x="206" y="168"/>
                    </a:lnTo>
                    <a:lnTo>
                      <a:pt x="253" y="168"/>
                    </a:lnTo>
                    <a:lnTo>
                      <a:pt x="286" y="156"/>
                    </a:lnTo>
                    <a:lnTo>
                      <a:pt x="339" y="116"/>
                    </a:lnTo>
                    <a:lnTo>
                      <a:pt x="367" y="70"/>
                    </a:lnTo>
                    <a:lnTo>
                      <a:pt x="442" y="46"/>
                    </a:lnTo>
                    <a:lnTo>
                      <a:pt x="505" y="53"/>
                    </a:lnTo>
                    <a:lnTo>
                      <a:pt x="562" y="87"/>
                    </a:lnTo>
                    <a:lnTo>
                      <a:pt x="615" y="138"/>
                    </a:lnTo>
                    <a:lnTo>
                      <a:pt x="643" y="203"/>
                    </a:lnTo>
                    <a:lnTo>
                      <a:pt x="643" y="260"/>
                    </a:lnTo>
                    <a:lnTo>
                      <a:pt x="643" y="323"/>
                    </a:lnTo>
                    <a:lnTo>
                      <a:pt x="666" y="375"/>
                    </a:lnTo>
                    <a:lnTo>
                      <a:pt x="730" y="410"/>
                    </a:lnTo>
                    <a:lnTo>
                      <a:pt x="804" y="444"/>
                    </a:lnTo>
                    <a:lnTo>
                      <a:pt x="770" y="554"/>
                    </a:lnTo>
                    <a:lnTo>
                      <a:pt x="580" y="503"/>
                    </a:lnTo>
                    <a:lnTo>
                      <a:pt x="454" y="450"/>
                    </a:lnTo>
                    <a:lnTo>
                      <a:pt x="339" y="416"/>
                    </a:lnTo>
                    <a:lnTo>
                      <a:pt x="241" y="363"/>
                    </a:lnTo>
                    <a:lnTo>
                      <a:pt x="120" y="266"/>
                    </a:lnTo>
                    <a:lnTo>
                      <a:pt x="34" y="173"/>
                    </a:lnTo>
                    <a:lnTo>
                      <a:pt x="22" y="185"/>
                    </a:lnTo>
                    <a:lnTo>
                      <a:pt x="75" y="2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418" name="Oval 36"/>
              <p:cNvSpPr>
                <a:spLocks noChangeArrowheads="1"/>
              </p:cNvSpPr>
              <p:nvPr/>
            </p:nvSpPr>
            <p:spPr bwMode="auto">
              <a:xfrm rot="-4286940">
                <a:off x="2791" y="1887"/>
                <a:ext cx="141" cy="50"/>
              </a:xfrm>
              <a:prstGeom prst="ellipse">
                <a:avLst/>
              </a:prstGeom>
              <a:solidFill>
                <a:schemeClr val="tx2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274320" rIns="274320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19" name="Oval 37"/>
              <p:cNvSpPr>
                <a:spLocks noChangeArrowheads="1"/>
              </p:cNvSpPr>
              <p:nvPr/>
            </p:nvSpPr>
            <p:spPr bwMode="auto">
              <a:xfrm rot="-4286940">
                <a:off x="2810" y="1913"/>
                <a:ext cx="81" cy="19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274320" rIns="274320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20" name="Oval 38"/>
              <p:cNvSpPr>
                <a:spLocks noChangeArrowheads="1"/>
              </p:cNvSpPr>
              <p:nvPr/>
            </p:nvSpPr>
            <p:spPr bwMode="auto">
              <a:xfrm rot="-4286940">
                <a:off x="2741" y="1887"/>
                <a:ext cx="141" cy="50"/>
              </a:xfrm>
              <a:prstGeom prst="ellipse">
                <a:avLst/>
              </a:prstGeom>
              <a:solidFill>
                <a:schemeClr val="tx2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274320" rIns="274320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21" name="Oval 39"/>
              <p:cNvSpPr>
                <a:spLocks noChangeArrowheads="1"/>
              </p:cNvSpPr>
              <p:nvPr/>
            </p:nvSpPr>
            <p:spPr bwMode="auto">
              <a:xfrm rot="-4286940">
                <a:off x="2760" y="1913"/>
                <a:ext cx="81" cy="19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274320" rIns="274320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22" name="Oval 40"/>
              <p:cNvSpPr>
                <a:spLocks noChangeArrowheads="1"/>
              </p:cNvSpPr>
              <p:nvPr/>
            </p:nvSpPr>
            <p:spPr bwMode="auto">
              <a:xfrm>
                <a:off x="2687" y="2089"/>
                <a:ext cx="198" cy="8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274320" rIns="274320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Arial Rounded MT Bold" pitchFamily="34" charset="0"/>
                </a:endParaRPr>
              </a:p>
            </p:txBody>
          </p:sp>
        </p:grpSp>
        <p:grpSp>
          <p:nvGrpSpPr>
            <p:cNvPr id="16411" name="Group 41"/>
            <p:cNvGrpSpPr>
              <a:grpSpLocks/>
            </p:cNvGrpSpPr>
            <p:nvPr/>
          </p:nvGrpSpPr>
          <p:grpSpPr bwMode="auto">
            <a:xfrm>
              <a:off x="816" y="2880"/>
              <a:ext cx="1200" cy="336"/>
              <a:chOff x="3072" y="3360"/>
              <a:chExt cx="2352" cy="336"/>
            </a:xfrm>
          </p:grpSpPr>
          <p:sp>
            <p:nvSpPr>
              <p:cNvPr id="16413" name="Text Box 42"/>
              <p:cNvSpPr txBox="1">
                <a:spLocks noChangeArrowheads="1"/>
              </p:cNvSpPr>
              <p:nvPr/>
            </p:nvSpPr>
            <p:spPr bwMode="auto">
              <a:xfrm>
                <a:off x="3105" y="3408"/>
                <a:ext cx="230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14,23,25,30,31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6414" name="Rectangle 43"/>
              <p:cNvSpPr>
                <a:spLocks noChangeArrowheads="1"/>
              </p:cNvSpPr>
              <p:nvPr/>
            </p:nvSpPr>
            <p:spPr bwMode="auto">
              <a:xfrm>
                <a:off x="3072" y="3360"/>
                <a:ext cx="2352" cy="336"/>
              </a:xfrm>
              <a:prstGeom prst="rect">
                <a:avLst/>
              </a:prstGeom>
              <a:noFill/>
              <a:ln w="38100">
                <a:solidFill>
                  <a:srgbClr val="00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412" name="Text Box 44"/>
            <p:cNvSpPr txBox="1">
              <a:spLocks noChangeArrowheads="1"/>
            </p:cNvSpPr>
            <p:nvPr/>
          </p:nvSpPr>
          <p:spPr bwMode="auto">
            <a:xfrm>
              <a:off x="278" y="1932"/>
              <a:ext cx="1943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3200" b="0">
                  <a:latin typeface="Times New Roman" panose="02020603050405020304" pitchFamily="18" charset="0"/>
                </a:rPr>
                <a:t/>
              </a:r>
              <a:br>
                <a:rPr lang="en-US" altLang="en-US" sz="3200" b="0">
                  <a:latin typeface="Times New Roman" panose="02020603050405020304" pitchFamily="18" charset="0"/>
                </a:rPr>
              </a:br>
              <a:r>
                <a:rPr lang="en-US" altLang="en-US" sz="3200" b="0">
                  <a:latin typeface="Times New Roman" panose="02020603050405020304" pitchFamily="18" charset="0"/>
                </a:rPr>
                <a:t>sort the first half. </a:t>
              </a:r>
            </a:p>
          </p:txBody>
        </p:sp>
      </p:grpSp>
      <p:grpSp>
        <p:nvGrpSpPr>
          <p:cNvPr id="10" name="Group 45"/>
          <p:cNvGrpSpPr>
            <a:grpSpLocks/>
          </p:cNvGrpSpPr>
          <p:nvPr/>
        </p:nvGrpSpPr>
        <p:grpSpPr bwMode="auto">
          <a:xfrm>
            <a:off x="5583238" y="3048000"/>
            <a:ext cx="3560762" cy="2343150"/>
            <a:chOff x="3517" y="1920"/>
            <a:chExt cx="2243" cy="1476"/>
          </a:xfrm>
        </p:grpSpPr>
        <p:grpSp>
          <p:nvGrpSpPr>
            <p:cNvPr id="16391" name="Group 46"/>
            <p:cNvGrpSpPr>
              <a:grpSpLocks/>
            </p:cNvGrpSpPr>
            <p:nvPr/>
          </p:nvGrpSpPr>
          <p:grpSpPr bwMode="auto">
            <a:xfrm>
              <a:off x="4068" y="2866"/>
              <a:ext cx="972" cy="350"/>
              <a:chOff x="3072" y="3360"/>
              <a:chExt cx="2352" cy="336"/>
            </a:xfrm>
          </p:grpSpPr>
          <p:sp>
            <p:nvSpPr>
              <p:cNvPr id="16408" name="Text Box 47"/>
              <p:cNvSpPr txBox="1">
                <a:spLocks noChangeArrowheads="1"/>
              </p:cNvSpPr>
              <p:nvPr/>
            </p:nvSpPr>
            <p:spPr bwMode="auto">
              <a:xfrm>
                <a:off x="3106" y="3408"/>
                <a:ext cx="2313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CA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62,79,98,88</a:t>
                </a:r>
              </a:p>
            </p:txBody>
          </p:sp>
          <p:sp>
            <p:nvSpPr>
              <p:cNvPr id="16409" name="Rectangle 48"/>
              <p:cNvSpPr>
                <a:spLocks noChangeArrowheads="1"/>
              </p:cNvSpPr>
              <p:nvPr/>
            </p:nvSpPr>
            <p:spPr bwMode="auto">
              <a:xfrm>
                <a:off x="3072" y="3360"/>
                <a:ext cx="2352" cy="336"/>
              </a:xfrm>
              <a:prstGeom prst="rect">
                <a:avLst/>
              </a:prstGeom>
              <a:noFill/>
              <a:ln w="38100">
                <a:solidFill>
                  <a:srgbClr val="00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392" name="Group 49"/>
            <p:cNvGrpSpPr>
              <a:grpSpLocks/>
            </p:cNvGrpSpPr>
            <p:nvPr/>
          </p:nvGrpSpPr>
          <p:grpSpPr bwMode="auto">
            <a:xfrm flipH="1">
              <a:off x="3671" y="2770"/>
              <a:ext cx="240" cy="626"/>
              <a:chOff x="2308" y="1513"/>
              <a:chExt cx="1162" cy="2570"/>
            </a:xfrm>
          </p:grpSpPr>
          <p:grpSp>
            <p:nvGrpSpPr>
              <p:cNvPr id="16394" name="Group 50"/>
              <p:cNvGrpSpPr>
                <a:grpSpLocks/>
              </p:cNvGrpSpPr>
              <p:nvPr/>
            </p:nvGrpSpPr>
            <p:grpSpPr bwMode="auto">
              <a:xfrm>
                <a:off x="2308" y="1740"/>
                <a:ext cx="957" cy="2343"/>
                <a:chOff x="2308" y="1740"/>
                <a:chExt cx="957" cy="2343"/>
              </a:xfrm>
            </p:grpSpPr>
            <p:sp>
              <p:nvSpPr>
                <p:cNvPr id="16402" name="Freeform 51"/>
                <p:cNvSpPr>
                  <a:spLocks/>
                </p:cNvSpPr>
                <p:nvPr/>
              </p:nvSpPr>
              <p:spPr bwMode="auto">
                <a:xfrm>
                  <a:off x="2673" y="1740"/>
                  <a:ext cx="432" cy="485"/>
                </a:xfrm>
                <a:custGeom>
                  <a:avLst/>
                  <a:gdLst>
                    <a:gd name="T0" fmla="*/ 123 w 432"/>
                    <a:gd name="T1" fmla="*/ 206 h 485"/>
                    <a:gd name="T2" fmla="*/ 159 w 432"/>
                    <a:gd name="T3" fmla="*/ 53 h 485"/>
                    <a:gd name="T4" fmla="*/ 248 w 432"/>
                    <a:gd name="T5" fmla="*/ 0 h 485"/>
                    <a:gd name="T6" fmla="*/ 335 w 432"/>
                    <a:gd name="T7" fmla="*/ 0 h 485"/>
                    <a:gd name="T8" fmla="*/ 388 w 432"/>
                    <a:gd name="T9" fmla="*/ 53 h 485"/>
                    <a:gd name="T10" fmla="*/ 432 w 432"/>
                    <a:gd name="T11" fmla="*/ 215 h 485"/>
                    <a:gd name="T12" fmla="*/ 415 w 432"/>
                    <a:gd name="T13" fmla="*/ 349 h 485"/>
                    <a:gd name="T14" fmla="*/ 379 w 432"/>
                    <a:gd name="T15" fmla="*/ 458 h 485"/>
                    <a:gd name="T16" fmla="*/ 309 w 432"/>
                    <a:gd name="T17" fmla="*/ 485 h 485"/>
                    <a:gd name="T18" fmla="*/ 221 w 432"/>
                    <a:gd name="T19" fmla="*/ 475 h 485"/>
                    <a:gd name="T20" fmla="*/ 132 w 432"/>
                    <a:gd name="T21" fmla="*/ 368 h 485"/>
                    <a:gd name="T22" fmla="*/ 123 w 432"/>
                    <a:gd name="T23" fmla="*/ 288 h 485"/>
                    <a:gd name="T24" fmla="*/ 0 w 432"/>
                    <a:gd name="T25" fmla="*/ 242 h 485"/>
                    <a:gd name="T26" fmla="*/ 0 w 432"/>
                    <a:gd name="T27" fmla="*/ 189 h 485"/>
                    <a:gd name="T28" fmla="*/ 123 w 432"/>
                    <a:gd name="T29" fmla="*/ 206 h 48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432"/>
                    <a:gd name="T46" fmla="*/ 0 h 485"/>
                    <a:gd name="T47" fmla="*/ 432 w 432"/>
                    <a:gd name="T48" fmla="*/ 485 h 48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432" h="485">
                      <a:moveTo>
                        <a:pt x="123" y="206"/>
                      </a:moveTo>
                      <a:lnTo>
                        <a:pt x="159" y="53"/>
                      </a:lnTo>
                      <a:lnTo>
                        <a:pt x="248" y="0"/>
                      </a:lnTo>
                      <a:lnTo>
                        <a:pt x="335" y="0"/>
                      </a:lnTo>
                      <a:lnTo>
                        <a:pt x="388" y="53"/>
                      </a:lnTo>
                      <a:lnTo>
                        <a:pt x="432" y="215"/>
                      </a:lnTo>
                      <a:lnTo>
                        <a:pt x="415" y="349"/>
                      </a:lnTo>
                      <a:lnTo>
                        <a:pt x="379" y="458"/>
                      </a:lnTo>
                      <a:lnTo>
                        <a:pt x="309" y="485"/>
                      </a:lnTo>
                      <a:lnTo>
                        <a:pt x="221" y="475"/>
                      </a:lnTo>
                      <a:lnTo>
                        <a:pt x="132" y="368"/>
                      </a:lnTo>
                      <a:lnTo>
                        <a:pt x="123" y="288"/>
                      </a:lnTo>
                      <a:lnTo>
                        <a:pt x="0" y="242"/>
                      </a:lnTo>
                      <a:lnTo>
                        <a:pt x="0" y="189"/>
                      </a:lnTo>
                      <a:lnTo>
                        <a:pt x="123" y="20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03" name="Freeform 52"/>
                <p:cNvSpPr>
                  <a:spLocks/>
                </p:cNvSpPr>
                <p:nvPr/>
              </p:nvSpPr>
              <p:spPr bwMode="auto">
                <a:xfrm>
                  <a:off x="2573" y="2253"/>
                  <a:ext cx="500" cy="828"/>
                </a:xfrm>
                <a:custGeom>
                  <a:avLst/>
                  <a:gdLst>
                    <a:gd name="T0" fmla="*/ 41 w 500"/>
                    <a:gd name="T1" fmla="*/ 173 h 828"/>
                    <a:gd name="T2" fmla="*/ 163 w 500"/>
                    <a:gd name="T3" fmla="*/ 35 h 828"/>
                    <a:gd name="T4" fmla="*/ 232 w 500"/>
                    <a:gd name="T5" fmla="*/ 0 h 828"/>
                    <a:gd name="T6" fmla="*/ 366 w 500"/>
                    <a:gd name="T7" fmla="*/ 5 h 828"/>
                    <a:gd name="T8" fmla="*/ 488 w 500"/>
                    <a:gd name="T9" fmla="*/ 57 h 828"/>
                    <a:gd name="T10" fmla="*/ 500 w 500"/>
                    <a:gd name="T11" fmla="*/ 126 h 828"/>
                    <a:gd name="T12" fmla="*/ 483 w 500"/>
                    <a:gd name="T13" fmla="*/ 207 h 828"/>
                    <a:gd name="T14" fmla="*/ 396 w 500"/>
                    <a:gd name="T15" fmla="*/ 281 h 828"/>
                    <a:gd name="T16" fmla="*/ 349 w 500"/>
                    <a:gd name="T17" fmla="*/ 414 h 828"/>
                    <a:gd name="T18" fmla="*/ 349 w 500"/>
                    <a:gd name="T19" fmla="*/ 552 h 828"/>
                    <a:gd name="T20" fmla="*/ 384 w 500"/>
                    <a:gd name="T21" fmla="*/ 637 h 828"/>
                    <a:gd name="T22" fmla="*/ 448 w 500"/>
                    <a:gd name="T23" fmla="*/ 695 h 828"/>
                    <a:gd name="T24" fmla="*/ 448 w 500"/>
                    <a:gd name="T25" fmla="*/ 765 h 828"/>
                    <a:gd name="T26" fmla="*/ 419 w 500"/>
                    <a:gd name="T27" fmla="*/ 800 h 828"/>
                    <a:gd name="T28" fmla="*/ 384 w 500"/>
                    <a:gd name="T29" fmla="*/ 816 h 828"/>
                    <a:gd name="T30" fmla="*/ 268 w 500"/>
                    <a:gd name="T31" fmla="*/ 828 h 828"/>
                    <a:gd name="T32" fmla="*/ 163 w 500"/>
                    <a:gd name="T33" fmla="*/ 747 h 828"/>
                    <a:gd name="T34" fmla="*/ 53 w 500"/>
                    <a:gd name="T35" fmla="*/ 574 h 828"/>
                    <a:gd name="T36" fmla="*/ 0 w 500"/>
                    <a:gd name="T37" fmla="*/ 368 h 828"/>
                    <a:gd name="T38" fmla="*/ 140 w 500"/>
                    <a:gd name="T39" fmla="*/ 436 h 828"/>
                    <a:gd name="T40" fmla="*/ 192 w 500"/>
                    <a:gd name="T41" fmla="*/ 436 h 828"/>
                    <a:gd name="T42" fmla="*/ 227 w 500"/>
                    <a:gd name="T43" fmla="*/ 396 h 828"/>
                    <a:gd name="T44" fmla="*/ 251 w 500"/>
                    <a:gd name="T45" fmla="*/ 316 h 828"/>
                    <a:gd name="T46" fmla="*/ 209 w 500"/>
                    <a:gd name="T47" fmla="*/ 293 h 828"/>
                    <a:gd name="T48" fmla="*/ 53 w 500"/>
                    <a:gd name="T49" fmla="*/ 293 h 828"/>
                    <a:gd name="T50" fmla="*/ 18 w 500"/>
                    <a:gd name="T51" fmla="*/ 293 h 828"/>
                    <a:gd name="T52" fmla="*/ 41 w 500"/>
                    <a:gd name="T53" fmla="*/ 173 h 828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500"/>
                    <a:gd name="T82" fmla="*/ 0 h 828"/>
                    <a:gd name="T83" fmla="*/ 500 w 500"/>
                    <a:gd name="T84" fmla="*/ 828 h 828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T81" t="T82" r="T83" b="T84"/>
                  <a:pathLst>
                    <a:path w="500" h="828">
                      <a:moveTo>
                        <a:pt x="41" y="173"/>
                      </a:moveTo>
                      <a:lnTo>
                        <a:pt x="163" y="35"/>
                      </a:lnTo>
                      <a:lnTo>
                        <a:pt x="232" y="0"/>
                      </a:lnTo>
                      <a:lnTo>
                        <a:pt x="366" y="5"/>
                      </a:lnTo>
                      <a:lnTo>
                        <a:pt x="488" y="57"/>
                      </a:lnTo>
                      <a:lnTo>
                        <a:pt x="500" y="126"/>
                      </a:lnTo>
                      <a:lnTo>
                        <a:pt x="483" y="207"/>
                      </a:lnTo>
                      <a:lnTo>
                        <a:pt x="396" y="281"/>
                      </a:lnTo>
                      <a:lnTo>
                        <a:pt x="349" y="414"/>
                      </a:lnTo>
                      <a:lnTo>
                        <a:pt x="349" y="552"/>
                      </a:lnTo>
                      <a:lnTo>
                        <a:pt x="384" y="637"/>
                      </a:lnTo>
                      <a:lnTo>
                        <a:pt x="448" y="695"/>
                      </a:lnTo>
                      <a:lnTo>
                        <a:pt x="448" y="765"/>
                      </a:lnTo>
                      <a:lnTo>
                        <a:pt x="419" y="800"/>
                      </a:lnTo>
                      <a:lnTo>
                        <a:pt x="384" y="816"/>
                      </a:lnTo>
                      <a:lnTo>
                        <a:pt x="268" y="828"/>
                      </a:lnTo>
                      <a:lnTo>
                        <a:pt x="163" y="747"/>
                      </a:lnTo>
                      <a:lnTo>
                        <a:pt x="53" y="574"/>
                      </a:lnTo>
                      <a:lnTo>
                        <a:pt x="0" y="368"/>
                      </a:lnTo>
                      <a:lnTo>
                        <a:pt x="140" y="436"/>
                      </a:lnTo>
                      <a:lnTo>
                        <a:pt x="192" y="436"/>
                      </a:lnTo>
                      <a:lnTo>
                        <a:pt x="227" y="396"/>
                      </a:lnTo>
                      <a:lnTo>
                        <a:pt x="251" y="316"/>
                      </a:lnTo>
                      <a:lnTo>
                        <a:pt x="209" y="293"/>
                      </a:lnTo>
                      <a:lnTo>
                        <a:pt x="53" y="293"/>
                      </a:lnTo>
                      <a:lnTo>
                        <a:pt x="18" y="293"/>
                      </a:lnTo>
                      <a:lnTo>
                        <a:pt x="41" y="17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04" name="Freeform 53"/>
                <p:cNvSpPr>
                  <a:spLocks/>
                </p:cNvSpPr>
                <p:nvPr/>
              </p:nvSpPr>
              <p:spPr bwMode="auto">
                <a:xfrm>
                  <a:off x="2950" y="2289"/>
                  <a:ext cx="265" cy="895"/>
                </a:xfrm>
                <a:custGeom>
                  <a:avLst/>
                  <a:gdLst>
                    <a:gd name="T0" fmla="*/ 0 w 265"/>
                    <a:gd name="T1" fmla="*/ 75 h 895"/>
                    <a:gd name="T2" fmla="*/ 29 w 265"/>
                    <a:gd name="T3" fmla="*/ 23 h 895"/>
                    <a:gd name="T4" fmla="*/ 83 w 265"/>
                    <a:gd name="T5" fmla="*/ 0 h 895"/>
                    <a:gd name="T6" fmla="*/ 135 w 265"/>
                    <a:gd name="T7" fmla="*/ 5 h 895"/>
                    <a:gd name="T8" fmla="*/ 206 w 265"/>
                    <a:gd name="T9" fmla="*/ 108 h 895"/>
                    <a:gd name="T10" fmla="*/ 265 w 265"/>
                    <a:gd name="T11" fmla="*/ 264 h 895"/>
                    <a:gd name="T12" fmla="*/ 265 w 265"/>
                    <a:gd name="T13" fmla="*/ 384 h 895"/>
                    <a:gd name="T14" fmla="*/ 241 w 265"/>
                    <a:gd name="T15" fmla="*/ 447 h 895"/>
                    <a:gd name="T16" fmla="*/ 118 w 265"/>
                    <a:gd name="T17" fmla="*/ 522 h 895"/>
                    <a:gd name="T18" fmla="*/ 83 w 265"/>
                    <a:gd name="T19" fmla="*/ 573 h 895"/>
                    <a:gd name="T20" fmla="*/ 83 w 265"/>
                    <a:gd name="T21" fmla="*/ 608 h 895"/>
                    <a:gd name="T22" fmla="*/ 123 w 265"/>
                    <a:gd name="T23" fmla="*/ 654 h 895"/>
                    <a:gd name="T24" fmla="*/ 189 w 265"/>
                    <a:gd name="T25" fmla="*/ 723 h 895"/>
                    <a:gd name="T26" fmla="*/ 224 w 265"/>
                    <a:gd name="T27" fmla="*/ 814 h 895"/>
                    <a:gd name="T28" fmla="*/ 212 w 265"/>
                    <a:gd name="T29" fmla="*/ 895 h 895"/>
                    <a:gd name="T30" fmla="*/ 177 w 265"/>
                    <a:gd name="T31" fmla="*/ 877 h 895"/>
                    <a:gd name="T32" fmla="*/ 159 w 265"/>
                    <a:gd name="T33" fmla="*/ 764 h 895"/>
                    <a:gd name="T34" fmla="*/ 101 w 265"/>
                    <a:gd name="T35" fmla="*/ 694 h 895"/>
                    <a:gd name="T36" fmla="*/ 54 w 265"/>
                    <a:gd name="T37" fmla="*/ 676 h 895"/>
                    <a:gd name="T38" fmla="*/ 29 w 265"/>
                    <a:gd name="T39" fmla="*/ 643 h 895"/>
                    <a:gd name="T40" fmla="*/ 29 w 265"/>
                    <a:gd name="T41" fmla="*/ 568 h 895"/>
                    <a:gd name="T42" fmla="*/ 64 w 265"/>
                    <a:gd name="T43" fmla="*/ 505 h 895"/>
                    <a:gd name="T44" fmla="*/ 123 w 265"/>
                    <a:gd name="T45" fmla="*/ 465 h 895"/>
                    <a:gd name="T46" fmla="*/ 212 w 265"/>
                    <a:gd name="T47" fmla="*/ 402 h 895"/>
                    <a:gd name="T48" fmla="*/ 224 w 265"/>
                    <a:gd name="T49" fmla="*/ 327 h 895"/>
                    <a:gd name="T50" fmla="*/ 177 w 265"/>
                    <a:gd name="T51" fmla="*/ 224 h 895"/>
                    <a:gd name="T52" fmla="*/ 101 w 265"/>
                    <a:gd name="T53" fmla="*/ 143 h 895"/>
                    <a:gd name="T54" fmla="*/ 0 w 265"/>
                    <a:gd name="T55" fmla="*/ 75 h 895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265"/>
                    <a:gd name="T85" fmla="*/ 0 h 895"/>
                    <a:gd name="T86" fmla="*/ 265 w 265"/>
                    <a:gd name="T87" fmla="*/ 895 h 895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265" h="895">
                      <a:moveTo>
                        <a:pt x="0" y="75"/>
                      </a:moveTo>
                      <a:lnTo>
                        <a:pt x="29" y="23"/>
                      </a:lnTo>
                      <a:lnTo>
                        <a:pt x="83" y="0"/>
                      </a:lnTo>
                      <a:lnTo>
                        <a:pt x="135" y="5"/>
                      </a:lnTo>
                      <a:lnTo>
                        <a:pt x="206" y="108"/>
                      </a:lnTo>
                      <a:lnTo>
                        <a:pt x="265" y="264"/>
                      </a:lnTo>
                      <a:lnTo>
                        <a:pt x="265" y="384"/>
                      </a:lnTo>
                      <a:lnTo>
                        <a:pt x="241" y="447"/>
                      </a:lnTo>
                      <a:lnTo>
                        <a:pt x="118" y="522"/>
                      </a:lnTo>
                      <a:lnTo>
                        <a:pt x="83" y="573"/>
                      </a:lnTo>
                      <a:lnTo>
                        <a:pt x="83" y="608"/>
                      </a:lnTo>
                      <a:lnTo>
                        <a:pt x="123" y="654"/>
                      </a:lnTo>
                      <a:lnTo>
                        <a:pt x="189" y="723"/>
                      </a:lnTo>
                      <a:lnTo>
                        <a:pt x="224" y="814"/>
                      </a:lnTo>
                      <a:lnTo>
                        <a:pt x="212" y="895"/>
                      </a:lnTo>
                      <a:lnTo>
                        <a:pt x="177" y="877"/>
                      </a:lnTo>
                      <a:lnTo>
                        <a:pt x="159" y="764"/>
                      </a:lnTo>
                      <a:lnTo>
                        <a:pt x="101" y="694"/>
                      </a:lnTo>
                      <a:lnTo>
                        <a:pt x="54" y="676"/>
                      </a:lnTo>
                      <a:lnTo>
                        <a:pt x="29" y="643"/>
                      </a:lnTo>
                      <a:lnTo>
                        <a:pt x="29" y="568"/>
                      </a:lnTo>
                      <a:lnTo>
                        <a:pt x="64" y="505"/>
                      </a:lnTo>
                      <a:lnTo>
                        <a:pt x="123" y="465"/>
                      </a:lnTo>
                      <a:lnTo>
                        <a:pt x="212" y="402"/>
                      </a:lnTo>
                      <a:lnTo>
                        <a:pt x="224" y="327"/>
                      </a:lnTo>
                      <a:lnTo>
                        <a:pt x="177" y="224"/>
                      </a:lnTo>
                      <a:lnTo>
                        <a:pt x="101" y="143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05" name="Freeform 54"/>
                <p:cNvSpPr>
                  <a:spLocks/>
                </p:cNvSpPr>
                <p:nvPr/>
              </p:nvSpPr>
              <p:spPr bwMode="auto">
                <a:xfrm>
                  <a:off x="2308" y="2238"/>
                  <a:ext cx="520" cy="435"/>
                </a:xfrm>
                <a:custGeom>
                  <a:avLst/>
                  <a:gdLst>
                    <a:gd name="T0" fmla="*/ 398 w 520"/>
                    <a:gd name="T1" fmla="*/ 5 h 435"/>
                    <a:gd name="T2" fmla="*/ 485 w 520"/>
                    <a:gd name="T3" fmla="*/ 0 h 435"/>
                    <a:gd name="T4" fmla="*/ 520 w 520"/>
                    <a:gd name="T5" fmla="*/ 35 h 435"/>
                    <a:gd name="T6" fmla="*/ 497 w 520"/>
                    <a:gd name="T7" fmla="*/ 87 h 435"/>
                    <a:gd name="T8" fmla="*/ 428 w 520"/>
                    <a:gd name="T9" fmla="*/ 110 h 435"/>
                    <a:gd name="T10" fmla="*/ 365 w 520"/>
                    <a:gd name="T11" fmla="*/ 110 h 435"/>
                    <a:gd name="T12" fmla="*/ 272 w 520"/>
                    <a:gd name="T13" fmla="*/ 127 h 435"/>
                    <a:gd name="T14" fmla="*/ 168 w 520"/>
                    <a:gd name="T15" fmla="*/ 145 h 435"/>
                    <a:gd name="T16" fmla="*/ 87 w 520"/>
                    <a:gd name="T17" fmla="*/ 180 h 435"/>
                    <a:gd name="T18" fmla="*/ 63 w 520"/>
                    <a:gd name="T19" fmla="*/ 214 h 435"/>
                    <a:gd name="T20" fmla="*/ 70 w 520"/>
                    <a:gd name="T21" fmla="*/ 249 h 435"/>
                    <a:gd name="T22" fmla="*/ 115 w 520"/>
                    <a:gd name="T23" fmla="*/ 296 h 435"/>
                    <a:gd name="T24" fmla="*/ 202 w 520"/>
                    <a:gd name="T25" fmla="*/ 331 h 435"/>
                    <a:gd name="T26" fmla="*/ 306 w 520"/>
                    <a:gd name="T27" fmla="*/ 331 h 435"/>
                    <a:gd name="T28" fmla="*/ 382 w 520"/>
                    <a:gd name="T29" fmla="*/ 331 h 435"/>
                    <a:gd name="T30" fmla="*/ 468 w 520"/>
                    <a:gd name="T31" fmla="*/ 348 h 435"/>
                    <a:gd name="T32" fmla="*/ 450 w 520"/>
                    <a:gd name="T33" fmla="*/ 435 h 435"/>
                    <a:gd name="T34" fmla="*/ 330 w 520"/>
                    <a:gd name="T35" fmla="*/ 401 h 435"/>
                    <a:gd name="T36" fmla="*/ 290 w 520"/>
                    <a:gd name="T37" fmla="*/ 371 h 435"/>
                    <a:gd name="T38" fmla="*/ 208 w 520"/>
                    <a:gd name="T39" fmla="*/ 371 h 435"/>
                    <a:gd name="T40" fmla="*/ 70 w 520"/>
                    <a:gd name="T41" fmla="*/ 336 h 435"/>
                    <a:gd name="T42" fmla="*/ 12 w 520"/>
                    <a:gd name="T43" fmla="*/ 284 h 435"/>
                    <a:gd name="T44" fmla="*/ 0 w 520"/>
                    <a:gd name="T45" fmla="*/ 214 h 435"/>
                    <a:gd name="T46" fmla="*/ 46 w 520"/>
                    <a:gd name="T47" fmla="*/ 145 h 435"/>
                    <a:gd name="T48" fmla="*/ 202 w 520"/>
                    <a:gd name="T49" fmla="*/ 75 h 435"/>
                    <a:gd name="T50" fmla="*/ 340 w 520"/>
                    <a:gd name="T51" fmla="*/ 40 h 435"/>
                    <a:gd name="T52" fmla="*/ 398 w 520"/>
                    <a:gd name="T53" fmla="*/ 5 h 435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520"/>
                    <a:gd name="T82" fmla="*/ 0 h 435"/>
                    <a:gd name="T83" fmla="*/ 520 w 520"/>
                    <a:gd name="T84" fmla="*/ 435 h 435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T81" t="T82" r="T83" b="T84"/>
                  <a:pathLst>
                    <a:path w="520" h="435">
                      <a:moveTo>
                        <a:pt x="398" y="5"/>
                      </a:moveTo>
                      <a:lnTo>
                        <a:pt x="485" y="0"/>
                      </a:lnTo>
                      <a:lnTo>
                        <a:pt x="520" y="35"/>
                      </a:lnTo>
                      <a:lnTo>
                        <a:pt x="497" y="87"/>
                      </a:lnTo>
                      <a:lnTo>
                        <a:pt x="428" y="110"/>
                      </a:lnTo>
                      <a:lnTo>
                        <a:pt x="365" y="110"/>
                      </a:lnTo>
                      <a:lnTo>
                        <a:pt x="272" y="127"/>
                      </a:lnTo>
                      <a:lnTo>
                        <a:pt x="168" y="145"/>
                      </a:lnTo>
                      <a:lnTo>
                        <a:pt x="87" y="180"/>
                      </a:lnTo>
                      <a:lnTo>
                        <a:pt x="63" y="214"/>
                      </a:lnTo>
                      <a:lnTo>
                        <a:pt x="70" y="249"/>
                      </a:lnTo>
                      <a:lnTo>
                        <a:pt x="115" y="296"/>
                      </a:lnTo>
                      <a:lnTo>
                        <a:pt x="202" y="331"/>
                      </a:lnTo>
                      <a:lnTo>
                        <a:pt x="306" y="331"/>
                      </a:lnTo>
                      <a:lnTo>
                        <a:pt x="382" y="331"/>
                      </a:lnTo>
                      <a:lnTo>
                        <a:pt x="468" y="348"/>
                      </a:lnTo>
                      <a:lnTo>
                        <a:pt x="450" y="435"/>
                      </a:lnTo>
                      <a:lnTo>
                        <a:pt x="330" y="401"/>
                      </a:lnTo>
                      <a:lnTo>
                        <a:pt x="290" y="371"/>
                      </a:lnTo>
                      <a:lnTo>
                        <a:pt x="208" y="371"/>
                      </a:lnTo>
                      <a:lnTo>
                        <a:pt x="70" y="336"/>
                      </a:lnTo>
                      <a:lnTo>
                        <a:pt x="12" y="284"/>
                      </a:lnTo>
                      <a:lnTo>
                        <a:pt x="0" y="214"/>
                      </a:lnTo>
                      <a:lnTo>
                        <a:pt x="46" y="145"/>
                      </a:lnTo>
                      <a:lnTo>
                        <a:pt x="202" y="75"/>
                      </a:lnTo>
                      <a:lnTo>
                        <a:pt x="340" y="40"/>
                      </a:lnTo>
                      <a:lnTo>
                        <a:pt x="398" y="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06" name="Freeform 55"/>
                <p:cNvSpPr>
                  <a:spLocks/>
                </p:cNvSpPr>
                <p:nvPr/>
              </p:nvSpPr>
              <p:spPr bwMode="auto">
                <a:xfrm>
                  <a:off x="2882" y="2923"/>
                  <a:ext cx="383" cy="1160"/>
                </a:xfrm>
                <a:custGeom>
                  <a:avLst/>
                  <a:gdLst>
                    <a:gd name="T0" fmla="*/ 0 w 383"/>
                    <a:gd name="T1" fmla="*/ 0 h 1160"/>
                    <a:gd name="T2" fmla="*/ 99 w 383"/>
                    <a:gd name="T3" fmla="*/ 17 h 1160"/>
                    <a:gd name="T4" fmla="*/ 151 w 383"/>
                    <a:gd name="T5" fmla="*/ 103 h 1160"/>
                    <a:gd name="T6" fmla="*/ 203 w 383"/>
                    <a:gd name="T7" fmla="*/ 257 h 1160"/>
                    <a:gd name="T8" fmla="*/ 226 w 383"/>
                    <a:gd name="T9" fmla="*/ 451 h 1160"/>
                    <a:gd name="T10" fmla="*/ 226 w 383"/>
                    <a:gd name="T11" fmla="*/ 560 h 1160"/>
                    <a:gd name="T12" fmla="*/ 191 w 383"/>
                    <a:gd name="T13" fmla="*/ 696 h 1160"/>
                    <a:gd name="T14" fmla="*/ 134 w 383"/>
                    <a:gd name="T15" fmla="*/ 885 h 1160"/>
                    <a:gd name="T16" fmla="*/ 122 w 383"/>
                    <a:gd name="T17" fmla="*/ 937 h 1160"/>
                    <a:gd name="T18" fmla="*/ 139 w 383"/>
                    <a:gd name="T19" fmla="*/ 965 h 1160"/>
                    <a:gd name="T20" fmla="*/ 261 w 383"/>
                    <a:gd name="T21" fmla="*/ 1006 h 1160"/>
                    <a:gd name="T22" fmla="*/ 383 w 383"/>
                    <a:gd name="T23" fmla="*/ 1086 h 1160"/>
                    <a:gd name="T24" fmla="*/ 378 w 383"/>
                    <a:gd name="T25" fmla="*/ 1119 h 1160"/>
                    <a:gd name="T26" fmla="*/ 290 w 383"/>
                    <a:gd name="T27" fmla="*/ 1160 h 1160"/>
                    <a:gd name="T28" fmla="*/ 256 w 383"/>
                    <a:gd name="T29" fmla="*/ 1142 h 1160"/>
                    <a:gd name="T30" fmla="*/ 191 w 383"/>
                    <a:gd name="T31" fmla="*/ 1057 h 1160"/>
                    <a:gd name="T32" fmla="*/ 116 w 383"/>
                    <a:gd name="T33" fmla="*/ 1016 h 1160"/>
                    <a:gd name="T34" fmla="*/ 34 w 383"/>
                    <a:gd name="T35" fmla="*/ 988 h 1160"/>
                    <a:gd name="T36" fmla="*/ 29 w 383"/>
                    <a:gd name="T37" fmla="*/ 948 h 1160"/>
                    <a:gd name="T38" fmla="*/ 52 w 383"/>
                    <a:gd name="T39" fmla="*/ 868 h 1160"/>
                    <a:gd name="T40" fmla="*/ 116 w 383"/>
                    <a:gd name="T41" fmla="*/ 743 h 1160"/>
                    <a:gd name="T42" fmla="*/ 156 w 383"/>
                    <a:gd name="T43" fmla="*/ 594 h 1160"/>
                    <a:gd name="T44" fmla="*/ 156 w 383"/>
                    <a:gd name="T45" fmla="*/ 423 h 1160"/>
                    <a:gd name="T46" fmla="*/ 122 w 383"/>
                    <a:gd name="T47" fmla="*/ 274 h 1160"/>
                    <a:gd name="T48" fmla="*/ 47 w 383"/>
                    <a:gd name="T49" fmla="*/ 136 h 1160"/>
                    <a:gd name="T50" fmla="*/ 12 w 383"/>
                    <a:gd name="T51" fmla="*/ 63 h 1160"/>
                    <a:gd name="T52" fmla="*/ 0 w 383"/>
                    <a:gd name="T53" fmla="*/ 0 h 1160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383"/>
                    <a:gd name="T82" fmla="*/ 0 h 1160"/>
                    <a:gd name="T83" fmla="*/ 383 w 383"/>
                    <a:gd name="T84" fmla="*/ 1160 h 1160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T81" t="T82" r="T83" b="T84"/>
                  <a:pathLst>
                    <a:path w="383" h="1160">
                      <a:moveTo>
                        <a:pt x="0" y="0"/>
                      </a:moveTo>
                      <a:lnTo>
                        <a:pt x="99" y="17"/>
                      </a:lnTo>
                      <a:lnTo>
                        <a:pt x="151" y="103"/>
                      </a:lnTo>
                      <a:lnTo>
                        <a:pt x="203" y="257"/>
                      </a:lnTo>
                      <a:lnTo>
                        <a:pt x="226" y="451"/>
                      </a:lnTo>
                      <a:lnTo>
                        <a:pt x="226" y="560"/>
                      </a:lnTo>
                      <a:lnTo>
                        <a:pt x="191" y="696"/>
                      </a:lnTo>
                      <a:lnTo>
                        <a:pt x="134" y="885"/>
                      </a:lnTo>
                      <a:lnTo>
                        <a:pt x="122" y="937"/>
                      </a:lnTo>
                      <a:lnTo>
                        <a:pt x="139" y="965"/>
                      </a:lnTo>
                      <a:lnTo>
                        <a:pt x="261" y="1006"/>
                      </a:lnTo>
                      <a:lnTo>
                        <a:pt x="383" y="1086"/>
                      </a:lnTo>
                      <a:lnTo>
                        <a:pt x="378" y="1119"/>
                      </a:lnTo>
                      <a:lnTo>
                        <a:pt x="290" y="1160"/>
                      </a:lnTo>
                      <a:lnTo>
                        <a:pt x="256" y="1142"/>
                      </a:lnTo>
                      <a:lnTo>
                        <a:pt x="191" y="1057"/>
                      </a:lnTo>
                      <a:lnTo>
                        <a:pt x="116" y="1016"/>
                      </a:lnTo>
                      <a:lnTo>
                        <a:pt x="34" y="988"/>
                      </a:lnTo>
                      <a:lnTo>
                        <a:pt x="29" y="948"/>
                      </a:lnTo>
                      <a:lnTo>
                        <a:pt x="52" y="868"/>
                      </a:lnTo>
                      <a:lnTo>
                        <a:pt x="116" y="743"/>
                      </a:lnTo>
                      <a:lnTo>
                        <a:pt x="156" y="594"/>
                      </a:lnTo>
                      <a:lnTo>
                        <a:pt x="156" y="423"/>
                      </a:lnTo>
                      <a:lnTo>
                        <a:pt x="122" y="274"/>
                      </a:lnTo>
                      <a:lnTo>
                        <a:pt x="47" y="136"/>
                      </a:lnTo>
                      <a:lnTo>
                        <a:pt x="12" y="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07" name="Freeform 56"/>
                <p:cNvSpPr>
                  <a:spLocks/>
                </p:cNvSpPr>
                <p:nvPr/>
              </p:nvSpPr>
              <p:spPr bwMode="auto">
                <a:xfrm>
                  <a:off x="2443" y="2919"/>
                  <a:ext cx="461" cy="1027"/>
                </a:xfrm>
                <a:custGeom>
                  <a:avLst/>
                  <a:gdLst>
                    <a:gd name="T0" fmla="*/ 421 w 461"/>
                    <a:gd name="T1" fmla="*/ 0 h 1027"/>
                    <a:gd name="T2" fmla="*/ 449 w 461"/>
                    <a:gd name="T3" fmla="*/ 22 h 1027"/>
                    <a:gd name="T4" fmla="*/ 461 w 461"/>
                    <a:gd name="T5" fmla="*/ 91 h 1027"/>
                    <a:gd name="T6" fmla="*/ 439 w 461"/>
                    <a:gd name="T7" fmla="*/ 159 h 1027"/>
                    <a:gd name="T8" fmla="*/ 380 w 461"/>
                    <a:gd name="T9" fmla="*/ 245 h 1027"/>
                    <a:gd name="T10" fmla="*/ 315 w 461"/>
                    <a:gd name="T11" fmla="*/ 348 h 1027"/>
                    <a:gd name="T12" fmla="*/ 293 w 461"/>
                    <a:gd name="T13" fmla="*/ 462 h 1027"/>
                    <a:gd name="T14" fmla="*/ 310 w 461"/>
                    <a:gd name="T15" fmla="*/ 645 h 1027"/>
                    <a:gd name="T16" fmla="*/ 350 w 461"/>
                    <a:gd name="T17" fmla="*/ 868 h 1027"/>
                    <a:gd name="T18" fmla="*/ 380 w 461"/>
                    <a:gd name="T19" fmla="*/ 959 h 1027"/>
                    <a:gd name="T20" fmla="*/ 368 w 461"/>
                    <a:gd name="T21" fmla="*/ 987 h 1027"/>
                    <a:gd name="T22" fmla="*/ 298 w 461"/>
                    <a:gd name="T23" fmla="*/ 992 h 1027"/>
                    <a:gd name="T24" fmla="*/ 211 w 461"/>
                    <a:gd name="T25" fmla="*/ 969 h 1027"/>
                    <a:gd name="T26" fmla="*/ 134 w 461"/>
                    <a:gd name="T27" fmla="*/ 1004 h 1027"/>
                    <a:gd name="T28" fmla="*/ 87 w 461"/>
                    <a:gd name="T29" fmla="*/ 1027 h 1027"/>
                    <a:gd name="T30" fmla="*/ 53 w 461"/>
                    <a:gd name="T31" fmla="*/ 1022 h 1027"/>
                    <a:gd name="T32" fmla="*/ 0 w 461"/>
                    <a:gd name="T33" fmla="*/ 959 h 1027"/>
                    <a:gd name="T34" fmla="*/ 53 w 461"/>
                    <a:gd name="T35" fmla="*/ 936 h 1027"/>
                    <a:gd name="T36" fmla="*/ 187 w 461"/>
                    <a:gd name="T37" fmla="*/ 908 h 1027"/>
                    <a:gd name="T38" fmla="*/ 263 w 461"/>
                    <a:gd name="T39" fmla="*/ 936 h 1027"/>
                    <a:gd name="T40" fmla="*/ 315 w 461"/>
                    <a:gd name="T41" fmla="*/ 936 h 1027"/>
                    <a:gd name="T42" fmla="*/ 310 w 461"/>
                    <a:gd name="T43" fmla="*/ 890 h 1027"/>
                    <a:gd name="T44" fmla="*/ 258 w 461"/>
                    <a:gd name="T45" fmla="*/ 616 h 1027"/>
                    <a:gd name="T46" fmla="*/ 222 w 461"/>
                    <a:gd name="T47" fmla="*/ 456 h 1027"/>
                    <a:gd name="T48" fmla="*/ 228 w 461"/>
                    <a:gd name="T49" fmla="*/ 376 h 1027"/>
                    <a:gd name="T50" fmla="*/ 280 w 461"/>
                    <a:gd name="T51" fmla="*/ 227 h 1027"/>
                    <a:gd name="T52" fmla="*/ 333 w 461"/>
                    <a:gd name="T53" fmla="*/ 91 h 1027"/>
                    <a:gd name="T54" fmla="*/ 421 w 461"/>
                    <a:gd name="T55" fmla="*/ 0 h 1027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461"/>
                    <a:gd name="T85" fmla="*/ 0 h 1027"/>
                    <a:gd name="T86" fmla="*/ 461 w 461"/>
                    <a:gd name="T87" fmla="*/ 1027 h 1027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461" h="1027">
                      <a:moveTo>
                        <a:pt x="421" y="0"/>
                      </a:moveTo>
                      <a:lnTo>
                        <a:pt x="449" y="22"/>
                      </a:lnTo>
                      <a:lnTo>
                        <a:pt x="461" y="91"/>
                      </a:lnTo>
                      <a:lnTo>
                        <a:pt x="439" y="159"/>
                      </a:lnTo>
                      <a:lnTo>
                        <a:pt x="380" y="245"/>
                      </a:lnTo>
                      <a:lnTo>
                        <a:pt x="315" y="348"/>
                      </a:lnTo>
                      <a:lnTo>
                        <a:pt x="293" y="462"/>
                      </a:lnTo>
                      <a:lnTo>
                        <a:pt x="310" y="645"/>
                      </a:lnTo>
                      <a:lnTo>
                        <a:pt x="350" y="868"/>
                      </a:lnTo>
                      <a:lnTo>
                        <a:pt x="380" y="959"/>
                      </a:lnTo>
                      <a:lnTo>
                        <a:pt x="368" y="987"/>
                      </a:lnTo>
                      <a:lnTo>
                        <a:pt x="298" y="992"/>
                      </a:lnTo>
                      <a:lnTo>
                        <a:pt x="211" y="969"/>
                      </a:lnTo>
                      <a:lnTo>
                        <a:pt x="134" y="1004"/>
                      </a:lnTo>
                      <a:lnTo>
                        <a:pt x="87" y="1027"/>
                      </a:lnTo>
                      <a:lnTo>
                        <a:pt x="53" y="1022"/>
                      </a:lnTo>
                      <a:lnTo>
                        <a:pt x="0" y="959"/>
                      </a:lnTo>
                      <a:lnTo>
                        <a:pt x="53" y="936"/>
                      </a:lnTo>
                      <a:lnTo>
                        <a:pt x="187" y="908"/>
                      </a:lnTo>
                      <a:lnTo>
                        <a:pt x="263" y="936"/>
                      </a:lnTo>
                      <a:lnTo>
                        <a:pt x="315" y="936"/>
                      </a:lnTo>
                      <a:lnTo>
                        <a:pt x="310" y="890"/>
                      </a:lnTo>
                      <a:lnTo>
                        <a:pt x="258" y="616"/>
                      </a:lnTo>
                      <a:lnTo>
                        <a:pt x="222" y="456"/>
                      </a:lnTo>
                      <a:lnTo>
                        <a:pt x="228" y="376"/>
                      </a:lnTo>
                      <a:lnTo>
                        <a:pt x="280" y="227"/>
                      </a:lnTo>
                      <a:lnTo>
                        <a:pt x="333" y="91"/>
                      </a:lnTo>
                      <a:lnTo>
                        <a:pt x="42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6395" name="Freeform 57"/>
              <p:cNvSpPr>
                <a:spLocks/>
              </p:cNvSpPr>
              <p:nvPr/>
            </p:nvSpPr>
            <p:spPr bwMode="auto">
              <a:xfrm>
                <a:off x="2626" y="1540"/>
                <a:ext cx="827" cy="563"/>
              </a:xfrm>
              <a:custGeom>
                <a:avLst/>
                <a:gdLst>
                  <a:gd name="T0" fmla="*/ 0 w 827"/>
                  <a:gd name="T1" fmla="*/ 139 h 563"/>
                  <a:gd name="T2" fmla="*/ 108 w 827"/>
                  <a:gd name="T3" fmla="*/ 18 h 563"/>
                  <a:gd name="T4" fmla="*/ 160 w 827"/>
                  <a:gd name="T5" fmla="*/ 75 h 563"/>
                  <a:gd name="T6" fmla="*/ 213 w 827"/>
                  <a:gd name="T7" fmla="*/ 110 h 563"/>
                  <a:gd name="T8" fmla="*/ 269 w 827"/>
                  <a:gd name="T9" fmla="*/ 110 h 563"/>
                  <a:gd name="T10" fmla="*/ 327 w 827"/>
                  <a:gd name="T11" fmla="*/ 52 h 563"/>
                  <a:gd name="T12" fmla="*/ 396 w 827"/>
                  <a:gd name="T13" fmla="*/ 5 h 563"/>
                  <a:gd name="T14" fmla="*/ 477 w 827"/>
                  <a:gd name="T15" fmla="*/ 0 h 563"/>
                  <a:gd name="T16" fmla="*/ 563 w 827"/>
                  <a:gd name="T17" fmla="*/ 35 h 563"/>
                  <a:gd name="T18" fmla="*/ 620 w 827"/>
                  <a:gd name="T19" fmla="*/ 87 h 563"/>
                  <a:gd name="T20" fmla="*/ 648 w 827"/>
                  <a:gd name="T21" fmla="*/ 157 h 563"/>
                  <a:gd name="T22" fmla="*/ 654 w 827"/>
                  <a:gd name="T23" fmla="*/ 249 h 563"/>
                  <a:gd name="T24" fmla="*/ 671 w 827"/>
                  <a:gd name="T25" fmla="*/ 331 h 563"/>
                  <a:gd name="T26" fmla="*/ 718 w 827"/>
                  <a:gd name="T27" fmla="*/ 371 h 563"/>
                  <a:gd name="T28" fmla="*/ 774 w 827"/>
                  <a:gd name="T29" fmla="*/ 389 h 563"/>
                  <a:gd name="T30" fmla="*/ 827 w 827"/>
                  <a:gd name="T31" fmla="*/ 401 h 563"/>
                  <a:gd name="T32" fmla="*/ 786 w 827"/>
                  <a:gd name="T33" fmla="*/ 563 h 563"/>
                  <a:gd name="T34" fmla="*/ 654 w 827"/>
                  <a:gd name="T35" fmla="*/ 540 h 563"/>
                  <a:gd name="T36" fmla="*/ 517 w 827"/>
                  <a:gd name="T37" fmla="*/ 493 h 563"/>
                  <a:gd name="T38" fmla="*/ 407 w 827"/>
                  <a:gd name="T39" fmla="*/ 441 h 563"/>
                  <a:gd name="T40" fmla="*/ 286 w 827"/>
                  <a:gd name="T41" fmla="*/ 389 h 563"/>
                  <a:gd name="T42" fmla="*/ 160 w 827"/>
                  <a:gd name="T43" fmla="*/ 331 h 563"/>
                  <a:gd name="T44" fmla="*/ 57 w 827"/>
                  <a:gd name="T45" fmla="*/ 209 h 563"/>
                  <a:gd name="T46" fmla="*/ 0 w 827"/>
                  <a:gd name="T47" fmla="*/ 139 h 56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827"/>
                  <a:gd name="T73" fmla="*/ 0 h 563"/>
                  <a:gd name="T74" fmla="*/ 827 w 827"/>
                  <a:gd name="T75" fmla="*/ 563 h 563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827" h="563">
                    <a:moveTo>
                      <a:pt x="0" y="139"/>
                    </a:moveTo>
                    <a:lnTo>
                      <a:pt x="108" y="18"/>
                    </a:lnTo>
                    <a:lnTo>
                      <a:pt x="160" y="75"/>
                    </a:lnTo>
                    <a:lnTo>
                      <a:pt x="213" y="110"/>
                    </a:lnTo>
                    <a:lnTo>
                      <a:pt x="269" y="110"/>
                    </a:lnTo>
                    <a:lnTo>
                      <a:pt x="327" y="52"/>
                    </a:lnTo>
                    <a:lnTo>
                      <a:pt x="396" y="5"/>
                    </a:lnTo>
                    <a:lnTo>
                      <a:pt x="477" y="0"/>
                    </a:lnTo>
                    <a:lnTo>
                      <a:pt x="563" y="35"/>
                    </a:lnTo>
                    <a:lnTo>
                      <a:pt x="620" y="87"/>
                    </a:lnTo>
                    <a:lnTo>
                      <a:pt x="648" y="157"/>
                    </a:lnTo>
                    <a:lnTo>
                      <a:pt x="654" y="249"/>
                    </a:lnTo>
                    <a:lnTo>
                      <a:pt x="671" y="331"/>
                    </a:lnTo>
                    <a:lnTo>
                      <a:pt x="718" y="371"/>
                    </a:lnTo>
                    <a:lnTo>
                      <a:pt x="774" y="389"/>
                    </a:lnTo>
                    <a:lnTo>
                      <a:pt x="827" y="401"/>
                    </a:lnTo>
                    <a:lnTo>
                      <a:pt x="786" y="563"/>
                    </a:lnTo>
                    <a:lnTo>
                      <a:pt x="654" y="540"/>
                    </a:lnTo>
                    <a:lnTo>
                      <a:pt x="517" y="493"/>
                    </a:lnTo>
                    <a:lnTo>
                      <a:pt x="407" y="441"/>
                    </a:lnTo>
                    <a:lnTo>
                      <a:pt x="286" y="389"/>
                    </a:lnTo>
                    <a:lnTo>
                      <a:pt x="160" y="331"/>
                    </a:lnTo>
                    <a:lnTo>
                      <a:pt x="57" y="209"/>
                    </a:lnTo>
                    <a:lnTo>
                      <a:pt x="0" y="139"/>
                    </a:lnTo>
                    <a:close/>
                  </a:path>
                </a:pathLst>
              </a:custGeom>
              <a:solidFill>
                <a:srgbClr val="063D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396" name="Freeform 58"/>
              <p:cNvSpPr>
                <a:spLocks/>
              </p:cNvSpPr>
              <p:nvPr/>
            </p:nvSpPr>
            <p:spPr bwMode="auto">
              <a:xfrm>
                <a:off x="2614" y="1513"/>
                <a:ext cx="856" cy="606"/>
              </a:xfrm>
              <a:custGeom>
                <a:avLst/>
                <a:gdLst>
                  <a:gd name="T0" fmla="*/ 75 w 856"/>
                  <a:gd name="T1" fmla="*/ 266 h 606"/>
                  <a:gd name="T2" fmla="*/ 172 w 856"/>
                  <a:gd name="T3" fmla="*/ 363 h 606"/>
                  <a:gd name="T4" fmla="*/ 304 w 856"/>
                  <a:gd name="T5" fmla="*/ 428 h 606"/>
                  <a:gd name="T6" fmla="*/ 489 w 856"/>
                  <a:gd name="T7" fmla="*/ 513 h 606"/>
                  <a:gd name="T8" fmla="*/ 615 w 856"/>
                  <a:gd name="T9" fmla="*/ 566 h 606"/>
                  <a:gd name="T10" fmla="*/ 816 w 856"/>
                  <a:gd name="T11" fmla="*/ 606 h 606"/>
                  <a:gd name="T12" fmla="*/ 856 w 856"/>
                  <a:gd name="T13" fmla="*/ 393 h 606"/>
                  <a:gd name="T14" fmla="*/ 804 w 856"/>
                  <a:gd name="T15" fmla="*/ 393 h 606"/>
                  <a:gd name="T16" fmla="*/ 753 w 856"/>
                  <a:gd name="T17" fmla="*/ 363 h 606"/>
                  <a:gd name="T18" fmla="*/ 695 w 856"/>
                  <a:gd name="T19" fmla="*/ 323 h 606"/>
                  <a:gd name="T20" fmla="*/ 695 w 856"/>
                  <a:gd name="T21" fmla="*/ 243 h 606"/>
                  <a:gd name="T22" fmla="*/ 660 w 856"/>
                  <a:gd name="T23" fmla="*/ 116 h 606"/>
                  <a:gd name="T24" fmla="*/ 597 w 856"/>
                  <a:gd name="T25" fmla="*/ 46 h 606"/>
                  <a:gd name="T26" fmla="*/ 505 w 856"/>
                  <a:gd name="T27" fmla="*/ 0 h 606"/>
                  <a:gd name="T28" fmla="*/ 391 w 856"/>
                  <a:gd name="T29" fmla="*/ 12 h 606"/>
                  <a:gd name="T30" fmla="*/ 321 w 856"/>
                  <a:gd name="T31" fmla="*/ 53 h 606"/>
                  <a:gd name="T32" fmla="*/ 286 w 856"/>
                  <a:gd name="T33" fmla="*/ 98 h 606"/>
                  <a:gd name="T34" fmla="*/ 253 w 856"/>
                  <a:gd name="T35" fmla="*/ 121 h 606"/>
                  <a:gd name="T36" fmla="*/ 218 w 856"/>
                  <a:gd name="T37" fmla="*/ 116 h 606"/>
                  <a:gd name="T38" fmla="*/ 166 w 856"/>
                  <a:gd name="T39" fmla="*/ 63 h 606"/>
                  <a:gd name="T40" fmla="*/ 132 w 856"/>
                  <a:gd name="T41" fmla="*/ 0 h 606"/>
                  <a:gd name="T42" fmla="*/ 103 w 856"/>
                  <a:gd name="T43" fmla="*/ 30 h 606"/>
                  <a:gd name="T44" fmla="*/ 0 w 856"/>
                  <a:gd name="T45" fmla="*/ 150 h 606"/>
                  <a:gd name="T46" fmla="*/ 5 w 856"/>
                  <a:gd name="T47" fmla="*/ 178 h 606"/>
                  <a:gd name="T48" fmla="*/ 17 w 856"/>
                  <a:gd name="T49" fmla="*/ 191 h 606"/>
                  <a:gd name="T50" fmla="*/ 120 w 856"/>
                  <a:gd name="T51" fmla="*/ 81 h 606"/>
                  <a:gd name="T52" fmla="*/ 172 w 856"/>
                  <a:gd name="T53" fmla="*/ 133 h 606"/>
                  <a:gd name="T54" fmla="*/ 206 w 856"/>
                  <a:gd name="T55" fmla="*/ 168 h 606"/>
                  <a:gd name="T56" fmla="*/ 253 w 856"/>
                  <a:gd name="T57" fmla="*/ 168 h 606"/>
                  <a:gd name="T58" fmla="*/ 286 w 856"/>
                  <a:gd name="T59" fmla="*/ 156 h 606"/>
                  <a:gd name="T60" fmla="*/ 339 w 856"/>
                  <a:gd name="T61" fmla="*/ 116 h 606"/>
                  <a:gd name="T62" fmla="*/ 367 w 856"/>
                  <a:gd name="T63" fmla="*/ 70 h 606"/>
                  <a:gd name="T64" fmla="*/ 442 w 856"/>
                  <a:gd name="T65" fmla="*/ 46 h 606"/>
                  <a:gd name="T66" fmla="*/ 505 w 856"/>
                  <a:gd name="T67" fmla="*/ 53 h 606"/>
                  <a:gd name="T68" fmla="*/ 562 w 856"/>
                  <a:gd name="T69" fmla="*/ 87 h 606"/>
                  <a:gd name="T70" fmla="*/ 615 w 856"/>
                  <a:gd name="T71" fmla="*/ 138 h 606"/>
                  <a:gd name="T72" fmla="*/ 643 w 856"/>
                  <a:gd name="T73" fmla="*/ 203 h 606"/>
                  <a:gd name="T74" fmla="*/ 643 w 856"/>
                  <a:gd name="T75" fmla="*/ 260 h 606"/>
                  <a:gd name="T76" fmla="*/ 643 w 856"/>
                  <a:gd name="T77" fmla="*/ 323 h 606"/>
                  <a:gd name="T78" fmla="*/ 666 w 856"/>
                  <a:gd name="T79" fmla="*/ 375 h 606"/>
                  <a:gd name="T80" fmla="*/ 730 w 856"/>
                  <a:gd name="T81" fmla="*/ 410 h 606"/>
                  <a:gd name="T82" fmla="*/ 804 w 856"/>
                  <a:gd name="T83" fmla="*/ 444 h 606"/>
                  <a:gd name="T84" fmla="*/ 770 w 856"/>
                  <a:gd name="T85" fmla="*/ 554 h 606"/>
                  <a:gd name="T86" fmla="*/ 580 w 856"/>
                  <a:gd name="T87" fmla="*/ 503 h 606"/>
                  <a:gd name="T88" fmla="*/ 454 w 856"/>
                  <a:gd name="T89" fmla="*/ 450 h 606"/>
                  <a:gd name="T90" fmla="*/ 339 w 856"/>
                  <a:gd name="T91" fmla="*/ 416 h 606"/>
                  <a:gd name="T92" fmla="*/ 241 w 856"/>
                  <a:gd name="T93" fmla="*/ 363 h 606"/>
                  <a:gd name="T94" fmla="*/ 120 w 856"/>
                  <a:gd name="T95" fmla="*/ 266 h 606"/>
                  <a:gd name="T96" fmla="*/ 34 w 856"/>
                  <a:gd name="T97" fmla="*/ 173 h 606"/>
                  <a:gd name="T98" fmla="*/ 22 w 856"/>
                  <a:gd name="T99" fmla="*/ 185 h 606"/>
                  <a:gd name="T100" fmla="*/ 75 w 856"/>
                  <a:gd name="T101" fmla="*/ 266 h 60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856"/>
                  <a:gd name="T154" fmla="*/ 0 h 606"/>
                  <a:gd name="T155" fmla="*/ 856 w 856"/>
                  <a:gd name="T156" fmla="*/ 606 h 60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856" h="606">
                    <a:moveTo>
                      <a:pt x="75" y="266"/>
                    </a:moveTo>
                    <a:lnTo>
                      <a:pt x="172" y="363"/>
                    </a:lnTo>
                    <a:lnTo>
                      <a:pt x="304" y="428"/>
                    </a:lnTo>
                    <a:lnTo>
                      <a:pt x="489" y="513"/>
                    </a:lnTo>
                    <a:lnTo>
                      <a:pt x="615" y="566"/>
                    </a:lnTo>
                    <a:lnTo>
                      <a:pt x="816" y="606"/>
                    </a:lnTo>
                    <a:lnTo>
                      <a:pt x="856" y="393"/>
                    </a:lnTo>
                    <a:lnTo>
                      <a:pt x="804" y="393"/>
                    </a:lnTo>
                    <a:lnTo>
                      <a:pt x="753" y="363"/>
                    </a:lnTo>
                    <a:lnTo>
                      <a:pt x="695" y="323"/>
                    </a:lnTo>
                    <a:lnTo>
                      <a:pt x="695" y="243"/>
                    </a:lnTo>
                    <a:lnTo>
                      <a:pt x="660" y="116"/>
                    </a:lnTo>
                    <a:lnTo>
                      <a:pt x="597" y="46"/>
                    </a:lnTo>
                    <a:lnTo>
                      <a:pt x="505" y="0"/>
                    </a:lnTo>
                    <a:lnTo>
                      <a:pt x="391" y="12"/>
                    </a:lnTo>
                    <a:lnTo>
                      <a:pt x="321" y="53"/>
                    </a:lnTo>
                    <a:lnTo>
                      <a:pt x="286" y="98"/>
                    </a:lnTo>
                    <a:lnTo>
                      <a:pt x="253" y="121"/>
                    </a:lnTo>
                    <a:lnTo>
                      <a:pt x="218" y="116"/>
                    </a:lnTo>
                    <a:lnTo>
                      <a:pt x="166" y="63"/>
                    </a:lnTo>
                    <a:lnTo>
                      <a:pt x="132" y="0"/>
                    </a:lnTo>
                    <a:lnTo>
                      <a:pt x="103" y="30"/>
                    </a:lnTo>
                    <a:lnTo>
                      <a:pt x="0" y="150"/>
                    </a:lnTo>
                    <a:lnTo>
                      <a:pt x="5" y="178"/>
                    </a:lnTo>
                    <a:lnTo>
                      <a:pt x="17" y="191"/>
                    </a:lnTo>
                    <a:lnTo>
                      <a:pt x="120" y="81"/>
                    </a:lnTo>
                    <a:lnTo>
                      <a:pt x="172" y="133"/>
                    </a:lnTo>
                    <a:lnTo>
                      <a:pt x="206" y="168"/>
                    </a:lnTo>
                    <a:lnTo>
                      <a:pt x="253" y="168"/>
                    </a:lnTo>
                    <a:lnTo>
                      <a:pt x="286" y="156"/>
                    </a:lnTo>
                    <a:lnTo>
                      <a:pt x="339" y="116"/>
                    </a:lnTo>
                    <a:lnTo>
                      <a:pt x="367" y="70"/>
                    </a:lnTo>
                    <a:lnTo>
                      <a:pt x="442" y="46"/>
                    </a:lnTo>
                    <a:lnTo>
                      <a:pt x="505" y="53"/>
                    </a:lnTo>
                    <a:lnTo>
                      <a:pt x="562" y="87"/>
                    </a:lnTo>
                    <a:lnTo>
                      <a:pt x="615" y="138"/>
                    </a:lnTo>
                    <a:lnTo>
                      <a:pt x="643" y="203"/>
                    </a:lnTo>
                    <a:lnTo>
                      <a:pt x="643" y="260"/>
                    </a:lnTo>
                    <a:lnTo>
                      <a:pt x="643" y="323"/>
                    </a:lnTo>
                    <a:lnTo>
                      <a:pt x="666" y="375"/>
                    </a:lnTo>
                    <a:lnTo>
                      <a:pt x="730" y="410"/>
                    </a:lnTo>
                    <a:lnTo>
                      <a:pt x="804" y="444"/>
                    </a:lnTo>
                    <a:lnTo>
                      <a:pt x="770" y="554"/>
                    </a:lnTo>
                    <a:lnTo>
                      <a:pt x="580" y="503"/>
                    </a:lnTo>
                    <a:lnTo>
                      <a:pt x="454" y="450"/>
                    </a:lnTo>
                    <a:lnTo>
                      <a:pt x="339" y="416"/>
                    </a:lnTo>
                    <a:lnTo>
                      <a:pt x="241" y="363"/>
                    </a:lnTo>
                    <a:lnTo>
                      <a:pt x="120" y="266"/>
                    </a:lnTo>
                    <a:lnTo>
                      <a:pt x="34" y="173"/>
                    </a:lnTo>
                    <a:lnTo>
                      <a:pt x="22" y="185"/>
                    </a:lnTo>
                    <a:lnTo>
                      <a:pt x="75" y="2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397" name="Oval 59"/>
              <p:cNvSpPr>
                <a:spLocks noChangeArrowheads="1"/>
              </p:cNvSpPr>
              <p:nvPr/>
            </p:nvSpPr>
            <p:spPr bwMode="auto">
              <a:xfrm rot="-4286940">
                <a:off x="2791" y="1887"/>
                <a:ext cx="141" cy="50"/>
              </a:xfrm>
              <a:prstGeom prst="ellipse">
                <a:avLst/>
              </a:prstGeom>
              <a:solidFill>
                <a:schemeClr val="tx2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274320" rIns="274320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98" name="Oval 60"/>
              <p:cNvSpPr>
                <a:spLocks noChangeArrowheads="1"/>
              </p:cNvSpPr>
              <p:nvPr/>
            </p:nvSpPr>
            <p:spPr bwMode="auto">
              <a:xfrm rot="-4286940">
                <a:off x="2810" y="1913"/>
                <a:ext cx="81" cy="19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274320" rIns="274320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99" name="Oval 61"/>
              <p:cNvSpPr>
                <a:spLocks noChangeArrowheads="1"/>
              </p:cNvSpPr>
              <p:nvPr/>
            </p:nvSpPr>
            <p:spPr bwMode="auto">
              <a:xfrm rot="-4286940">
                <a:off x="2741" y="1887"/>
                <a:ext cx="141" cy="50"/>
              </a:xfrm>
              <a:prstGeom prst="ellipse">
                <a:avLst/>
              </a:prstGeom>
              <a:solidFill>
                <a:schemeClr val="tx2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274320" rIns="274320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0" name="Oval 62"/>
              <p:cNvSpPr>
                <a:spLocks noChangeArrowheads="1"/>
              </p:cNvSpPr>
              <p:nvPr/>
            </p:nvSpPr>
            <p:spPr bwMode="auto">
              <a:xfrm rot="-4286940">
                <a:off x="2760" y="1913"/>
                <a:ext cx="81" cy="19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274320" rIns="274320" anchor="ctr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1" name="Oval 63"/>
              <p:cNvSpPr>
                <a:spLocks noChangeArrowheads="1"/>
              </p:cNvSpPr>
              <p:nvPr/>
            </p:nvSpPr>
            <p:spPr bwMode="auto">
              <a:xfrm>
                <a:off x="2687" y="2089"/>
                <a:ext cx="198" cy="8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274320" rIns="274320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Arial Rounded MT Bold" pitchFamily="34" charset="0"/>
                </a:endParaRPr>
              </a:p>
            </p:txBody>
          </p:sp>
        </p:grpSp>
        <p:sp>
          <p:nvSpPr>
            <p:cNvPr id="16393" name="Text Box 64"/>
            <p:cNvSpPr txBox="1">
              <a:spLocks noChangeArrowheads="1"/>
            </p:cNvSpPr>
            <p:nvPr/>
          </p:nvSpPr>
          <p:spPr bwMode="auto">
            <a:xfrm>
              <a:off x="3517" y="1920"/>
              <a:ext cx="2243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3200" b="0">
                  <a:latin typeface="Times New Roman" panose="02020603050405020304" pitchFamily="18" charset="0"/>
                </a:rPr>
                <a:t/>
              </a:r>
              <a:br>
                <a:rPr lang="en-US" altLang="en-US" sz="3200" b="0">
                  <a:latin typeface="Times New Roman" panose="02020603050405020304" pitchFamily="18" charset="0"/>
                </a:rPr>
              </a:br>
              <a:r>
                <a:rPr lang="en-US" altLang="en-US" sz="3200" b="0">
                  <a:latin typeface="Times New Roman" panose="02020603050405020304" pitchFamily="18" charset="0"/>
                </a:rPr>
                <a:t>sort the second half.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en-US" smtClean="0"/>
              <a:t>Quick Sort</a:t>
            </a:r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2133600" y="1752600"/>
            <a:ext cx="457200" cy="914400"/>
            <a:chOff x="2432" y="1328"/>
            <a:chExt cx="906" cy="2075"/>
          </a:xfrm>
        </p:grpSpPr>
        <p:sp>
          <p:nvSpPr>
            <p:cNvPr id="17427" name="Freeform 4"/>
            <p:cNvSpPr>
              <a:spLocks/>
            </p:cNvSpPr>
            <p:nvPr/>
          </p:nvSpPr>
          <p:spPr bwMode="auto">
            <a:xfrm>
              <a:off x="2594" y="1328"/>
              <a:ext cx="450" cy="433"/>
            </a:xfrm>
            <a:custGeom>
              <a:avLst/>
              <a:gdLst>
                <a:gd name="T0" fmla="*/ 902 w 410"/>
                <a:gd name="T1" fmla="*/ 270 h 406"/>
                <a:gd name="T2" fmla="*/ 729 w 410"/>
                <a:gd name="T3" fmla="*/ 96 h 406"/>
                <a:gd name="T4" fmla="*/ 556 w 410"/>
                <a:gd name="T5" fmla="*/ 0 h 406"/>
                <a:gd name="T6" fmla="*/ 355 w 410"/>
                <a:gd name="T7" fmla="*/ 0 h 406"/>
                <a:gd name="T8" fmla="*/ 135 w 410"/>
                <a:gd name="T9" fmla="*/ 61 h 406"/>
                <a:gd name="T10" fmla="*/ 32 w 410"/>
                <a:gd name="T11" fmla="*/ 164 h 406"/>
                <a:gd name="T12" fmla="*/ 0 w 410"/>
                <a:gd name="T13" fmla="*/ 306 h 406"/>
                <a:gd name="T14" fmla="*/ 32 w 410"/>
                <a:gd name="T15" fmla="*/ 491 h 406"/>
                <a:gd name="T16" fmla="*/ 165 w 410"/>
                <a:gd name="T17" fmla="*/ 704 h 406"/>
                <a:gd name="T18" fmla="*/ 407 w 410"/>
                <a:gd name="T19" fmla="*/ 841 h 406"/>
                <a:gd name="T20" fmla="*/ 592 w 410"/>
                <a:gd name="T21" fmla="*/ 912 h 406"/>
                <a:gd name="T22" fmla="*/ 780 w 410"/>
                <a:gd name="T23" fmla="*/ 937 h 406"/>
                <a:gd name="T24" fmla="*/ 933 w 410"/>
                <a:gd name="T25" fmla="*/ 904 h 406"/>
                <a:gd name="T26" fmla="*/ 1016 w 410"/>
                <a:gd name="T27" fmla="*/ 841 h 406"/>
                <a:gd name="T28" fmla="*/ 1067 w 410"/>
                <a:gd name="T29" fmla="*/ 704 h 406"/>
                <a:gd name="T30" fmla="*/ 1058 w 410"/>
                <a:gd name="T31" fmla="*/ 536 h 406"/>
                <a:gd name="T32" fmla="*/ 999 w 410"/>
                <a:gd name="T33" fmla="*/ 400 h 406"/>
                <a:gd name="T34" fmla="*/ 1341 w 410"/>
                <a:gd name="T35" fmla="*/ 270 h 406"/>
                <a:gd name="T36" fmla="*/ 1374 w 410"/>
                <a:gd name="T37" fmla="*/ 212 h 406"/>
                <a:gd name="T38" fmla="*/ 1341 w 410"/>
                <a:gd name="T39" fmla="*/ 187 h 406"/>
                <a:gd name="T40" fmla="*/ 966 w 410"/>
                <a:gd name="T41" fmla="*/ 339 h 406"/>
                <a:gd name="T42" fmla="*/ 902 w 410"/>
                <a:gd name="T43" fmla="*/ 270 h 40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10"/>
                <a:gd name="T67" fmla="*/ 0 h 406"/>
                <a:gd name="T68" fmla="*/ 410 w 410"/>
                <a:gd name="T69" fmla="*/ 406 h 40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10" h="406">
                  <a:moveTo>
                    <a:pt x="268" y="117"/>
                  </a:moveTo>
                  <a:lnTo>
                    <a:pt x="217" y="41"/>
                  </a:lnTo>
                  <a:lnTo>
                    <a:pt x="166" y="0"/>
                  </a:lnTo>
                  <a:lnTo>
                    <a:pt x="106" y="0"/>
                  </a:lnTo>
                  <a:lnTo>
                    <a:pt x="40" y="26"/>
                  </a:lnTo>
                  <a:lnTo>
                    <a:pt x="10" y="71"/>
                  </a:lnTo>
                  <a:lnTo>
                    <a:pt x="0" y="132"/>
                  </a:lnTo>
                  <a:lnTo>
                    <a:pt x="10" y="213"/>
                  </a:lnTo>
                  <a:lnTo>
                    <a:pt x="50" y="304"/>
                  </a:lnTo>
                  <a:lnTo>
                    <a:pt x="121" y="365"/>
                  </a:lnTo>
                  <a:lnTo>
                    <a:pt x="176" y="395"/>
                  </a:lnTo>
                  <a:lnTo>
                    <a:pt x="232" y="406"/>
                  </a:lnTo>
                  <a:lnTo>
                    <a:pt x="278" y="390"/>
                  </a:lnTo>
                  <a:lnTo>
                    <a:pt x="303" y="365"/>
                  </a:lnTo>
                  <a:lnTo>
                    <a:pt x="319" y="304"/>
                  </a:lnTo>
                  <a:lnTo>
                    <a:pt x="314" y="233"/>
                  </a:lnTo>
                  <a:lnTo>
                    <a:pt x="298" y="173"/>
                  </a:lnTo>
                  <a:lnTo>
                    <a:pt x="399" y="117"/>
                  </a:lnTo>
                  <a:lnTo>
                    <a:pt x="410" y="92"/>
                  </a:lnTo>
                  <a:lnTo>
                    <a:pt x="399" y="81"/>
                  </a:lnTo>
                  <a:lnTo>
                    <a:pt x="288" y="147"/>
                  </a:lnTo>
                  <a:lnTo>
                    <a:pt x="268" y="11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28" name="Freeform 5"/>
            <p:cNvSpPr>
              <a:spLocks/>
            </p:cNvSpPr>
            <p:nvPr/>
          </p:nvSpPr>
          <p:spPr bwMode="auto">
            <a:xfrm>
              <a:off x="2432" y="1810"/>
              <a:ext cx="362" cy="582"/>
            </a:xfrm>
            <a:custGeom>
              <a:avLst/>
              <a:gdLst>
                <a:gd name="T0" fmla="*/ 1138 w 329"/>
                <a:gd name="T1" fmla="*/ 33 h 546"/>
                <a:gd name="T2" fmla="*/ 1012 w 329"/>
                <a:gd name="T3" fmla="*/ 0 h 546"/>
                <a:gd name="T4" fmla="*/ 754 w 329"/>
                <a:gd name="T5" fmla="*/ 5 h 546"/>
                <a:gd name="T6" fmla="*/ 520 w 329"/>
                <a:gd name="T7" fmla="*/ 128 h 546"/>
                <a:gd name="T8" fmla="*/ 191 w 329"/>
                <a:gd name="T9" fmla="*/ 373 h 546"/>
                <a:gd name="T10" fmla="*/ 21 w 329"/>
                <a:gd name="T11" fmla="*/ 568 h 546"/>
                <a:gd name="T12" fmla="*/ 0 w 329"/>
                <a:gd name="T13" fmla="*/ 640 h 546"/>
                <a:gd name="T14" fmla="*/ 89 w 329"/>
                <a:gd name="T15" fmla="*/ 764 h 546"/>
                <a:gd name="T16" fmla="*/ 278 w 329"/>
                <a:gd name="T17" fmla="*/ 826 h 546"/>
                <a:gd name="T18" fmla="*/ 520 w 329"/>
                <a:gd name="T19" fmla="*/ 893 h 546"/>
                <a:gd name="T20" fmla="*/ 720 w 329"/>
                <a:gd name="T21" fmla="*/ 925 h 546"/>
                <a:gd name="T22" fmla="*/ 803 w 329"/>
                <a:gd name="T23" fmla="*/ 985 h 546"/>
                <a:gd name="T24" fmla="*/ 754 w 329"/>
                <a:gd name="T25" fmla="*/ 1068 h 546"/>
                <a:gd name="T26" fmla="*/ 616 w 329"/>
                <a:gd name="T27" fmla="*/ 1160 h 546"/>
                <a:gd name="T28" fmla="*/ 437 w 329"/>
                <a:gd name="T29" fmla="*/ 1173 h 546"/>
                <a:gd name="T30" fmla="*/ 316 w 329"/>
                <a:gd name="T31" fmla="*/ 1136 h 546"/>
                <a:gd name="T32" fmla="*/ 242 w 329"/>
                <a:gd name="T33" fmla="*/ 1173 h 546"/>
                <a:gd name="T34" fmla="*/ 261 w 329"/>
                <a:gd name="T35" fmla="*/ 1216 h 546"/>
                <a:gd name="T36" fmla="*/ 405 w 329"/>
                <a:gd name="T37" fmla="*/ 1252 h 546"/>
                <a:gd name="T38" fmla="*/ 616 w 329"/>
                <a:gd name="T39" fmla="*/ 1252 h 546"/>
                <a:gd name="T40" fmla="*/ 803 w 329"/>
                <a:gd name="T41" fmla="*/ 1216 h 546"/>
                <a:gd name="T42" fmla="*/ 913 w 329"/>
                <a:gd name="T43" fmla="*/ 1173 h 546"/>
                <a:gd name="T44" fmla="*/ 979 w 329"/>
                <a:gd name="T45" fmla="*/ 1088 h 546"/>
                <a:gd name="T46" fmla="*/ 1012 w 329"/>
                <a:gd name="T47" fmla="*/ 1000 h 546"/>
                <a:gd name="T48" fmla="*/ 933 w 329"/>
                <a:gd name="T49" fmla="*/ 916 h 546"/>
                <a:gd name="T50" fmla="*/ 720 w 329"/>
                <a:gd name="T51" fmla="*/ 859 h 546"/>
                <a:gd name="T52" fmla="*/ 472 w 329"/>
                <a:gd name="T53" fmla="*/ 810 h 546"/>
                <a:gd name="T54" fmla="*/ 261 w 329"/>
                <a:gd name="T55" fmla="*/ 730 h 546"/>
                <a:gd name="T56" fmla="*/ 209 w 329"/>
                <a:gd name="T57" fmla="*/ 662 h 546"/>
                <a:gd name="T58" fmla="*/ 242 w 329"/>
                <a:gd name="T59" fmla="*/ 533 h 546"/>
                <a:gd name="T60" fmla="*/ 405 w 329"/>
                <a:gd name="T61" fmla="*/ 373 h 546"/>
                <a:gd name="T62" fmla="*/ 596 w 329"/>
                <a:gd name="T63" fmla="*/ 278 h 546"/>
                <a:gd name="T64" fmla="*/ 891 w 329"/>
                <a:gd name="T65" fmla="*/ 208 h 546"/>
                <a:gd name="T66" fmla="*/ 1138 w 329"/>
                <a:gd name="T67" fmla="*/ 173 h 546"/>
                <a:gd name="T68" fmla="*/ 1138 w 329"/>
                <a:gd name="T69" fmla="*/ 80 h 546"/>
                <a:gd name="T70" fmla="*/ 1138 w 329"/>
                <a:gd name="T71" fmla="*/ 33 h 5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29"/>
                <a:gd name="T109" fmla="*/ 0 h 546"/>
                <a:gd name="T110" fmla="*/ 329 w 329"/>
                <a:gd name="T111" fmla="*/ 546 h 54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29" h="546">
                  <a:moveTo>
                    <a:pt x="329" y="15"/>
                  </a:moveTo>
                  <a:lnTo>
                    <a:pt x="293" y="0"/>
                  </a:lnTo>
                  <a:lnTo>
                    <a:pt x="217" y="5"/>
                  </a:lnTo>
                  <a:lnTo>
                    <a:pt x="151" y="56"/>
                  </a:lnTo>
                  <a:lnTo>
                    <a:pt x="55" y="162"/>
                  </a:lnTo>
                  <a:lnTo>
                    <a:pt x="5" y="248"/>
                  </a:lnTo>
                  <a:lnTo>
                    <a:pt x="0" y="278"/>
                  </a:lnTo>
                  <a:lnTo>
                    <a:pt x="25" y="334"/>
                  </a:lnTo>
                  <a:lnTo>
                    <a:pt x="80" y="359"/>
                  </a:lnTo>
                  <a:lnTo>
                    <a:pt x="151" y="389"/>
                  </a:lnTo>
                  <a:lnTo>
                    <a:pt x="207" y="404"/>
                  </a:lnTo>
                  <a:lnTo>
                    <a:pt x="232" y="430"/>
                  </a:lnTo>
                  <a:lnTo>
                    <a:pt x="217" y="465"/>
                  </a:lnTo>
                  <a:lnTo>
                    <a:pt x="177" y="506"/>
                  </a:lnTo>
                  <a:lnTo>
                    <a:pt x="126" y="511"/>
                  </a:lnTo>
                  <a:lnTo>
                    <a:pt x="91" y="495"/>
                  </a:lnTo>
                  <a:lnTo>
                    <a:pt x="70" y="511"/>
                  </a:lnTo>
                  <a:lnTo>
                    <a:pt x="75" y="531"/>
                  </a:lnTo>
                  <a:lnTo>
                    <a:pt x="116" y="546"/>
                  </a:lnTo>
                  <a:lnTo>
                    <a:pt x="177" y="546"/>
                  </a:lnTo>
                  <a:lnTo>
                    <a:pt x="232" y="531"/>
                  </a:lnTo>
                  <a:lnTo>
                    <a:pt x="263" y="511"/>
                  </a:lnTo>
                  <a:lnTo>
                    <a:pt x="283" y="475"/>
                  </a:lnTo>
                  <a:lnTo>
                    <a:pt x="293" y="435"/>
                  </a:lnTo>
                  <a:lnTo>
                    <a:pt x="268" y="399"/>
                  </a:lnTo>
                  <a:lnTo>
                    <a:pt x="207" y="374"/>
                  </a:lnTo>
                  <a:lnTo>
                    <a:pt x="136" y="354"/>
                  </a:lnTo>
                  <a:lnTo>
                    <a:pt x="75" y="319"/>
                  </a:lnTo>
                  <a:lnTo>
                    <a:pt x="60" y="288"/>
                  </a:lnTo>
                  <a:lnTo>
                    <a:pt x="70" y="233"/>
                  </a:lnTo>
                  <a:lnTo>
                    <a:pt x="116" y="162"/>
                  </a:lnTo>
                  <a:lnTo>
                    <a:pt x="172" y="121"/>
                  </a:lnTo>
                  <a:lnTo>
                    <a:pt x="258" y="91"/>
                  </a:lnTo>
                  <a:lnTo>
                    <a:pt x="329" y="76"/>
                  </a:lnTo>
                  <a:lnTo>
                    <a:pt x="329" y="35"/>
                  </a:lnTo>
                  <a:lnTo>
                    <a:pt x="329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29" name="Freeform 6"/>
            <p:cNvSpPr>
              <a:spLocks/>
            </p:cNvSpPr>
            <p:nvPr/>
          </p:nvSpPr>
          <p:spPr bwMode="auto">
            <a:xfrm>
              <a:off x="2737" y="1811"/>
              <a:ext cx="339" cy="717"/>
            </a:xfrm>
            <a:custGeom>
              <a:avLst/>
              <a:gdLst>
                <a:gd name="T0" fmla="*/ 895 w 309"/>
                <a:gd name="T1" fmla="*/ 485 h 673"/>
                <a:gd name="T2" fmla="*/ 791 w 309"/>
                <a:gd name="T3" fmla="*/ 196 h 673"/>
                <a:gd name="T4" fmla="*/ 678 w 309"/>
                <a:gd name="T5" fmla="*/ 58 h 673"/>
                <a:gd name="T6" fmla="*/ 419 w 309"/>
                <a:gd name="T7" fmla="*/ 0 h 673"/>
                <a:gd name="T8" fmla="*/ 165 w 309"/>
                <a:gd name="T9" fmla="*/ 23 h 673"/>
                <a:gd name="T10" fmla="*/ 50 w 309"/>
                <a:gd name="T11" fmla="*/ 173 h 673"/>
                <a:gd name="T12" fmla="*/ 66 w 309"/>
                <a:gd name="T13" fmla="*/ 357 h 673"/>
                <a:gd name="T14" fmla="*/ 134 w 309"/>
                <a:gd name="T15" fmla="*/ 655 h 673"/>
                <a:gd name="T16" fmla="*/ 134 w 309"/>
                <a:gd name="T17" fmla="*/ 920 h 673"/>
                <a:gd name="T18" fmla="*/ 50 w 309"/>
                <a:gd name="T19" fmla="*/ 1147 h 673"/>
                <a:gd name="T20" fmla="*/ 0 w 309"/>
                <a:gd name="T21" fmla="*/ 1278 h 673"/>
                <a:gd name="T22" fmla="*/ 32 w 309"/>
                <a:gd name="T23" fmla="*/ 1394 h 673"/>
                <a:gd name="T24" fmla="*/ 149 w 309"/>
                <a:gd name="T25" fmla="*/ 1453 h 673"/>
                <a:gd name="T26" fmla="*/ 308 w 309"/>
                <a:gd name="T27" fmla="*/ 1506 h 673"/>
                <a:gd name="T28" fmla="*/ 451 w 309"/>
                <a:gd name="T29" fmla="*/ 1533 h 673"/>
                <a:gd name="T30" fmla="*/ 647 w 309"/>
                <a:gd name="T31" fmla="*/ 1533 h 673"/>
                <a:gd name="T32" fmla="*/ 863 w 309"/>
                <a:gd name="T33" fmla="*/ 1414 h 673"/>
                <a:gd name="T34" fmla="*/ 1030 w 309"/>
                <a:gd name="T35" fmla="*/ 1171 h 673"/>
                <a:gd name="T36" fmla="*/ 1017 w 309"/>
                <a:gd name="T37" fmla="*/ 954 h 673"/>
                <a:gd name="T38" fmla="*/ 914 w 309"/>
                <a:gd name="T39" fmla="*/ 700 h 673"/>
                <a:gd name="T40" fmla="*/ 895 w 309"/>
                <a:gd name="T41" fmla="*/ 485 h 67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09"/>
                <a:gd name="T64" fmla="*/ 0 h 673"/>
                <a:gd name="T65" fmla="*/ 309 w 309"/>
                <a:gd name="T66" fmla="*/ 673 h 67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09" h="673">
                  <a:moveTo>
                    <a:pt x="269" y="212"/>
                  </a:moveTo>
                  <a:lnTo>
                    <a:pt x="238" y="86"/>
                  </a:lnTo>
                  <a:lnTo>
                    <a:pt x="203" y="25"/>
                  </a:lnTo>
                  <a:lnTo>
                    <a:pt x="126" y="0"/>
                  </a:lnTo>
                  <a:lnTo>
                    <a:pt x="50" y="10"/>
                  </a:lnTo>
                  <a:lnTo>
                    <a:pt x="15" y="76"/>
                  </a:lnTo>
                  <a:lnTo>
                    <a:pt x="20" y="157"/>
                  </a:lnTo>
                  <a:lnTo>
                    <a:pt x="40" y="288"/>
                  </a:lnTo>
                  <a:lnTo>
                    <a:pt x="40" y="404"/>
                  </a:lnTo>
                  <a:lnTo>
                    <a:pt x="15" y="505"/>
                  </a:lnTo>
                  <a:lnTo>
                    <a:pt x="0" y="561"/>
                  </a:lnTo>
                  <a:lnTo>
                    <a:pt x="10" y="612"/>
                  </a:lnTo>
                  <a:lnTo>
                    <a:pt x="45" y="638"/>
                  </a:lnTo>
                  <a:lnTo>
                    <a:pt x="91" y="663"/>
                  </a:lnTo>
                  <a:lnTo>
                    <a:pt x="136" y="673"/>
                  </a:lnTo>
                  <a:lnTo>
                    <a:pt x="193" y="673"/>
                  </a:lnTo>
                  <a:lnTo>
                    <a:pt x="259" y="622"/>
                  </a:lnTo>
                  <a:lnTo>
                    <a:pt x="309" y="515"/>
                  </a:lnTo>
                  <a:lnTo>
                    <a:pt x="304" y="419"/>
                  </a:lnTo>
                  <a:lnTo>
                    <a:pt x="274" y="308"/>
                  </a:lnTo>
                  <a:lnTo>
                    <a:pt x="269" y="21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30" name="Freeform 7"/>
            <p:cNvSpPr>
              <a:spLocks/>
            </p:cNvSpPr>
            <p:nvPr/>
          </p:nvSpPr>
          <p:spPr bwMode="auto">
            <a:xfrm>
              <a:off x="2625" y="2365"/>
              <a:ext cx="259" cy="1038"/>
            </a:xfrm>
            <a:custGeom>
              <a:avLst/>
              <a:gdLst>
                <a:gd name="T0" fmla="*/ 792 w 235"/>
                <a:gd name="T1" fmla="*/ 33 h 973"/>
                <a:gd name="T2" fmla="*/ 578 w 235"/>
                <a:gd name="T3" fmla="*/ 0 h 973"/>
                <a:gd name="T4" fmla="*/ 449 w 235"/>
                <a:gd name="T5" fmla="*/ 33 h 973"/>
                <a:gd name="T6" fmla="*/ 398 w 235"/>
                <a:gd name="T7" fmla="*/ 151 h 973"/>
                <a:gd name="T8" fmla="*/ 449 w 235"/>
                <a:gd name="T9" fmla="*/ 799 h 973"/>
                <a:gd name="T10" fmla="*/ 449 w 235"/>
                <a:gd name="T11" fmla="*/ 948 h 973"/>
                <a:gd name="T12" fmla="*/ 380 w 235"/>
                <a:gd name="T13" fmla="*/ 1233 h 973"/>
                <a:gd name="T14" fmla="*/ 361 w 235"/>
                <a:gd name="T15" fmla="*/ 1561 h 973"/>
                <a:gd name="T16" fmla="*/ 398 w 235"/>
                <a:gd name="T17" fmla="*/ 1725 h 973"/>
                <a:gd name="T18" fmla="*/ 361 w 235"/>
                <a:gd name="T19" fmla="*/ 1819 h 973"/>
                <a:gd name="T20" fmla="*/ 109 w 235"/>
                <a:gd name="T21" fmla="*/ 1961 h 973"/>
                <a:gd name="T22" fmla="*/ 0 w 235"/>
                <a:gd name="T23" fmla="*/ 2139 h 973"/>
                <a:gd name="T24" fmla="*/ 23 w 235"/>
                <a:gd name="T25" fmla="*/ 2193 h 973"/>
                <a:gd name="T26" fmla="*/ 214 w 235"/>
                <a:gd name="T27" fmla="*/ 2254 h 973"/>
                <a:gd name="T28" fmla="*/ 270 w 235"/>
                <a:gd name="T29" fmla="*/ 2231 h 973"/>
                <a:gd name="T30" fmla="*/ 287 w 235"/>
                <a:gd name="T31" fmla="*/ 2125 h 973"/>
                <a:gd name="T32" fmla="*/ 345 w 235"/>
                <a:gd name="T33" fmla="*/ 1977 h 973"/>
                <a:gd name="T34" fmla="*/ 431 w 235"/>
                <a:gd name="T35" fmla="*/ 1904 h 973"/>
                <a:gd name="T36" fmla="*/ 539 w 235"/>
                <a:gd name="T37" fmla="*/ 1857 h 973"/>
                <a:gd name="T38" fmla="*/ 632 w 235"/>
                <a:gd name="T39" fmla="*/ 1796 h 973"/>
                <a:gd name="T40" fmla="*/ 652 w 235"/>
                <a:gd name="T41" fmla="*/ 1748 h 973"/>
                <a:gd name="T42" fmla="*/ 594 w 235"/>
                <a:gd name="T43" fmla="*/ 1692 h 973"/>
                <a:gd name="T44" fmla="*/ 539 w 235"/>
                <a:gd name="T45" fmla="*/ 1656 h 973"/>
                <a:gd name="T46" fmla="*/ 508 w 235"/>
                <a:gd name="T47" fmla="*/ 1515 h 973"/>
                <a:gd name="T48" fmla="*/ 539 w 235"/>
                <a:gd name="T49" fmla="*/ 1217 h 973"/>
                <a:gd name="T50" fmla="*/ 665 w 235"/>
                <a:gd name="T51" fmla="*/ 880 h 973"/>
                <a:gd name="T52" fmla="*/ 792 w 235"/>
                <a:gd name="T53" fmla="*/ 612 h 973"/>
                <a:gd name="T54" fmla="*/ 829 w 235"/>
                <a:gd name="T55" fmla="*/ 285 h 973"/>
                <a:gd name="T56" fmla="*/ 792 w 235"/>
                <a:gd name="T57" fmla="*/ 33 h 97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35"/>
                <a:gd name="T88" fmla="*/ 0 h 973"/>
                <a:gd name="T89" fmla="*/ 235 w 235"/>
                <a:gd name="T90" fmla="*/ 973 h 97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35" h="973">
                  <a:moveTo>
                    <a:pt x="223" y="15"/>
                  </a:moveTo>
                  <a:lnTo>
                    <a:pt x="163" y="0"/>
                  </a:lnTo>
                  <a:lnTo>
                    <a:pt x="127" y="15"/>
                  </a:lnTo>
                  <a:lnTo>
                    <a:pt x="112" y="66"/>
                  </a:lnTo>
                  <a:lnTo>
                    <a:pt x="127" y="344"/>
                  </a:lnTo>
                  <a:lnTo>
                    <a:pt x="127" y="410"/>
                  </a:lnTo>
                  <a:lnTo>
                    <a:pt x="107" y="532"/>
                  </a:lnTo>
                  <a:lnTo>
                    <a:pt x="102" y="674"/>
                  </a:lnTo>
                  <a:lnTo>
                    <a:pt x="112" y="745"/>
                  </a:lnTo>
                  <a:lnTo>
                    <a:pt x="102" y="785"/>
                  </a:lnTo>
                  <a:lnTo>
                    <a:pt x="31" y="846"/>
                  </a:lnTo>
                  <a:lnTo>
                    <a:pt x="0" y="922"/>
                  </a:lnTo>
                  <a:lnTo>
                    <a:pt x="6" y="947"/>
                  </a:lnTo>
                  <a:lnTo>
                    <a:pt x="61" y="973"/>
                  </a:lnTo>
                  <a:lnTo>
                    <a:pt x="76" y="962"/>
                  </a:lnTo>
                  <a:lnTo>
                    <a:pt x="82" y="917"/>
                  </a:lnTo>
                  <a:lnTo>
                    <a:pt x="97" y="851"/>
                  </a:lnTo>
                  <a:lnTo>
                    <a:pt x="122" y="821"/>
                  </a:lnTo>
                  <a:lnTo>
                    <a:pt x="152" y="801"/>
                  </a:lnTo>
                  <a:lnTo>
                    <a:pt x="178" y="775"/>
                  </a:lnTo>
                  <a:lnTo>
                    <a:pt x="183" y="755"/>
                  </a:lnTo>
                  <a:lnTo>
                    <a:pt x="168" y="730"/>
                  </a:lnTo>
                  <a:lnTo>
                    <a:pt x="152" y="715"/>
                  </a:lnTo>
                  <a:lnTo>
                    <a:pt x="142" y="653"/>
                  </a:lnTo>
                  <a:lnTo>
                    <a:pt x="152" y="526"/>
                  </a:lnTo>
                  <a:lnTo>
                    <a:pt x="188" y="380"/>
                  </a:lnTo>
                  <a:lnTo>
                    <a:pt x="223" y="263"/>
                  </a:lnTo>
                  <a:lnTo>
                    <a:pt x="235" y="122"/>
                  </a:lnTo>
                  <a:lnTo>
                    <a:pt x="223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31" name="Freeform 8"/>
            <p:cNvSpPr>
              <a:spLocks/>
            </p:cNvSpPr>
            <p:nvPr/>
          </p:nvSpPr>
          <p:spPr bwMode="auto">
            <a:xfrm>
              <a:off x="2906" y="2365"/>
              <a:ext cx="422" cy="876"/>
            </a:xfrm>
            <a:custGeom>
              <a:avLst/>
              <a:gdLst>
                <a:gd name="T0" fmla="*/ 430 w 384"/>
                <a:gd name="T1" fmla="*/ 285 h 821"/>
                <a:gd name="T2" fmla="*/ 393 w 384"/>
                <a:gd name="T3" fmla="*/ 92 h 821"/>
                <a:gd name="T4" fmla="*/ 242 w 384"/>
                <a:gd name="T5" fmla="*/ 0 h 821"/>
                <a:gd name="T6" fmla="*/ 5 w 384"/>
                <a:gd name="T7" fmla="*/ 5 h 821"/>
                <a:gd name="T8" fmla="*/ 0 w 384"/>
                <a:gd name="T9" fmla="*/ 92 h 821"/>
                <a:gd name="T10" fmla="*/ 5 w 384"/>
                <a:gd name="T11" fmla="*/ 272 h 821"/>
                <a:gd name="T12" fmla="*/ 135 w 384"/>
                <a:gd name="T13" fmla="*/ 543 h 821"/>
                <a:gd name="T14" fmla="*/ 230 w 384"/>
                <a:gd name="T15" fmla="*/ 743 h 821"/>
                <a:gd name="T16" fmla="*/ 324 w 384"/>
                <a:gd name="T17" fmla="*/ 1009 h 821"/>
                <a:gd name="T18" fmla="*/ 358 w 384"/>
                <a:gd name="T19" fmla="*/ 1246 h 821"/>
                <a:gd name="T20" fmla="*/ 358 w 384"/>
                <a:gd name="T21" fmla="*/ 1432 h 821"/>
                <a:gd name="T22" fmla="*/ 309 w 384"/>
                <a:gd name="T23" fmla="*/ 1578 h 821"/>
                <a:gd name="T24" fmla="*/ 259 w 384"/>
                <a:gd name="T25" fmla="*/ 1626 h 821"/>
                <a:gd name="T26" fmla="*/ 259 w 384"/>
                <a:gd name="T27" fmla="*/ 1669 h 821"/>
                <a:gd name="T28" fmla="*/ 324 w 384"/>
                <a:gd name="T29" fmla="*/ 1740 h 821"/>
                <a:gd name="T30" fmla="*/ 447 w 384"/>
                <a:gd name="T31" fmla="*/ 1764 h 821"/>
                <a:gd name="T32" fmla="*/ 638 w 384"/>
                <a:gd name="T33" fmla="*/ 1764 h 821"/>
                <a:gd name="T34" fmla="*/ 984 w 384"/>
                <a:gd name="T35" fmla="*/ 1825 h 821"/>
                <a:gd name="T36" fmla="*/ 1085 w 384"/>
                <a:gd name="T37" fmla="*/ 1908 h 821"/>
                <a:gd name="T38" fmla="*/ 1246 w 384"/>
                <a:gd name="T39" fmla="*/ 1857 h 821"/>
                <a:gd name="T40" fmla="*/ 1310 w 384"/>
                <a:gd name="T41" fmla="*/ 1740 h 821"/>
                <a:gd name="T42" fmla="*/ 1246 w 384"/>
                <a:gd name="T43" fmla="*/ 1697 h 821"/>
                <a:gd name="T44" fmla="*/ 947 w 384"/>
                <a:gd name="T45" fmla="*/ 1669 h 821"/>
                <a:gd name="T46" fmla="*/ 621 w 384"/>
                <a:gd name="T47" fmla="*/ 1669 h 821"/>
                <a:gd name="T48" fmla="*/ 481 w 384"/>
                <a:gd name="T49" fmla="*/ 1658 h 821"/>
                <a:gd name="T50" fmla="*/ 447 w 384"/>
                <a:gd name="T51" fmla="*/ 1590 h 821"/>
                <a:gd name="T52" fmla="*/ 481 w 384"/>
                <a:gd name="T53" fmla="*/ 1456 h 821"/>
                <a:gd name="T54" fmla="*/ 501 w 384"/>
                <a:gd name="T55" fmla="*/ 1236 h 821"/>
                <a:gd name="T56" fmla="*/ 466 w 384"/>
                <a:gd name="T57" fmla="*/ 986 h 821"/>
                <a:gd name="T58" fmla="*/ 411 w 384"/>
                <a:gd name="T59" fmla="*/ 659 h 821"/>
                <a:gd name="T60" fmla="*/ 430 w 384"/>
                <a:gd name="T61" fmla="*/ 376 h 821"/>
                <a:gd name="T62" fmla="*/ 430 w 384"/>
                <a:gd name="T63" fmla="*/ 285 h 82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84"/>
                <a:gd name="T97" fmla="*/ 0 h 821"/>
                <a:gd name="T98" fmla="*/ 384 w 384"/>
                <a:gd name="T99" fmla="*/ 821 h 82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84" h="821">
                  <a:moveTo>
                    <a:pt x="126" y="122"/>
                  </a:moveTo>
                  <a:lnTo>
                    <a:pt x="116" y="40"/>
                  </a:lnTo>
                  <a:lnTo>
                    <a:pt x="71" y="0"/>
                  </a:lnTo>
                  <a:lnTo>
                    <a:pt x="5" y="5"/>
                  </a:lnTo>
                  <a:lnTo>
                    <a:pt x="0" y="40"/>
                  </a:lnTo>
                  <a:lnTo>
                    <a:pt x="5" y="117"/>
                  </a:lnTo>
                  <a:lnTo>
                    <a:pt x="40" y="233"/>
                  </a:lnTo>
                  <a:lnTo>
                    <a:pt x="66" y="319"/>
                  </a:lnTo>
                  <a:lnTo>
                    <a:pt x="96" y="435"/>
                  </a:lnTo>
                  <a:lnTo>
                    <a:pt x="106" y="536"/>
                  </a:lnTo>
                  <a:lnTo>
                    <a:pt x="106" y="617"/>
                  </a:lnTo>
                  <a:lnTo>
                    <a:pt x="91" y="679"/>
                  </a:lnTo>
                  <a:lnTo>
                    <a:pt x="76" y="699"/>
                  </a:lnTo>
                  <a:lnTo>
                    <a:pt x="76" y="719"/>
                  </a:lnTo>
                  <a:lnTo>
                    <a:pt x="96" y="750"/>
                  </a:lnTo>
                  <a:lnTo>
                    <a:pt x="131" y="760"/>
                  </a:lnTo>
                  <a:lnTo>
                    <a:pt x="187" y="760"/>
                  </a:lnTo>
                  <a:lnTo>
                    <a:pt x="288" y="785"/>
                  </a:lnTo>
                  <a:lnTo>
                    <a:pt x="318" y="821"/>
                  </a:lnTo>
                  <a:lnTo>
                    <a:pt x="364" y="800"/>
                  </a:lnTo>
                  <a:lnTo>
                    <a:pt x="384" y="750"/>
                  </a:lnTo>
                  <a:lnTo>
                    <a:pt x="364" y="730"/>
                  </a:lnTo>
                  <a:lnTo>
                    <a:pt x="278" y="719"/>
                  </a:lnTo>
                  <a:lnTo>
                    <a:pt x="182" y="719"/>
                  </a:lnTo>
                  <a:lnTo>
                    <a:pt x="141" y="714"/>
                  </a:lnTo>
                  <a:lnTo>
                    <a:pt x="131" y="684"/>
                  </a:lnTo>
                  <a:lnTo>
                    <a:pt x="141" y="627"/>
                  </a:lnTo>
                  <a:lnTo>
                    <a:pt x="147" y="531"/>
                  </a:lnTo>
                  <a:lnTo>
                    <a:pt x="136" y="425"/>
                  </a:lnTo>
                  <a:lnTo>
                    <a:pt x="121" y="284"/>
                  </a:lnTo>
                  <a:lnTo>
                    <a:pt x="126" y="162"/>
                  </a:lnTo>
                  <a:lnTo>
                    <a:pt x="126" y="12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32" name="Freeform 9"/>
            <p:cNvSpPr>
              <a:spLocks/>
            </p:cNvSpPr>
            <p:nvPr/>
          </p:nvSpPr>
          <p:spPr bwMode="auto">
            <a:xfrm rot="10800000" flipV="1">
              <a:off x="2976" y="1824"/>
              <a:ext cx="362" cy="582"/>
            </a:xfrm>
            <a:custGeom>
              <a:avLst/>
              <a:gdLst>
                <a:gd name="T0" fmla="*/ 1138 w 329"/>
                <a:gd name="T1" fmla="*/ 33 h 546"/>
                <a:gd name="T2" fmla="*/ 1012 w 329"/>
                <a:gd name="T3" fmla="*/ 0 h 546"/>
                <a:gd name="T4" fmla="*/ 754 w 329"/>
                <a:gd name="T5" fmla="*/ 5 h 546"/>
                <a:gd name="T6" fmla="*/ 520 w 329"/>
                <a:gd name="T7" fmla="*/ 128 h 546"/>
                <a:gd name="T8" fmla="*/ 191 w 329"/>
                <a:gd name="T9" fmla="*/ 373 h 546"/>
                <a:gd name="T10" fmla="*/ 21 w 329"/>
                <a:gd name="T11" fmla="*/ 568 h 546"/>
                <a:gd name="T12" fmla="*/ 0 w 329"/>
                <a:gd name="T13" fmla="*/ 640 h 546"/>
                <a:gd name="T14" fmla="*/ 89 w 329"/>
                <a:gd name="T15" fmla="*/ 764 h 546"/>
                <a:gd name="T16" fmla="*/ 278 w 329"/>
                <a:gd name="T17" fmla="*/ 826 h 546"/>
                <a:gd name="T18" fmla="*/ 520 w 329"/>
                <a:gd name="T19" fmla="*/ 893 h 546"/>
                <a:gd name="T20" fmla="*/ 720 w 329"/>
                <a:gd name="T21" fmla="*/ 925 h 546"/>
                <a:gd name="T22" fmla="*/ 803 w 329"/>
                <a:gd name="T23" fmla="*/ 985 h 546"/>
                <a:gd name="T24" fmla="*/ 754 w 329"/>
                <a:gd name="T25" fmla="*/ 1068 h 546"/>
                <a:gd name="T26" fmla="*/ 616 w 329"/>
                <a:gd name="T27" fmla="*/ 1160 h 546"/>
                <a:gd name="T28" fmla="*/ 437 w 329"/>
                <a:gd name="T29" fmla="*/ 1173 h 546"/>
                <a:gd name="T30" fmla="*/ 316 w 329"/>
                <a:gd name="T31" fmla="*/ 1136 h 546"/>
                <a:gd name="T32" fmla="*/ 242 w 329"/>
                <a:gd name="T33" fmla="*/ 1173 h 546"/>
                <a:gd name="T34" fmla="*/ 261 w 329"/>
                <a:gd name="T35" fmla="*/ 1216 h 546"/>
                <a:gd name="T36" fmla="*/ 405 w 329"/>
                <a:gd name="T37" fmla="*/ 1252 h 546"/>
                <a:gd name="T38" fmla="*/ 616 w 329"/>
                <a:gd name="T39" fmla="*/ 1252 h 546"/>
                <a:gd name="T40" fmla="*/ 803 w 329"/>
                <a:gd name="T41" fmla="*/ 1216 h 546"/>
                <a:gd name="T42" fmla="*/ 913 w 329"/>
                <a:gd name="T43" fmla="*/ 1173 h 546"/>
                <a:gd name="T44" fmla="*/ 979 w 329"/>
                <a:gd name="T45" fmla="*/ 1088 h 546"/>
                <a:gd name="T46" fmla="*/ 1012 w 329"/>
                <a:gd name="T47" fmla="*/ 1000 h 546"/>
                <a:gd name="T48" fmla="*/ 933 w 329"/>
                <a:gd name="T49" fmla="*/ 916 h 546"/>
                <a:gd name="T50" fmla="*/ 720 w 329"/>
                <a:gd name="T51" fmla="*/ 859 h 546"/>
                <a:gd name="T52" fmla="*/ 472 w 329"/>
                <a:gd name="T53" fmla="*/ 810 h 546"/>
                <a:gd name="T54" fmla="*/ 261 w 329"/>
                <a:gd name="T55" fmla="*/ 730 h 546"/>
                <a:gd name="T56" fmla="*/ 209 w 329"/>
                <a:gd name="T57" fmla="*/ 662 h 546"/>
                <a:gd name="T58" fmla="*/ 242 w 329"/>
                <a:gd name="T59" fmla="*/ 533 h 546"/>
                <a:gd name="T60" fmla="*/ 405 w 329"/>
                <a:gd name="T61" fmla="*/ 373 h 546"/>
                <a:gd name="T62" fmla="*/ 596 w 329"/>
                <a:gd name="T63" fmla="*/ 278 h 546"/>
                <a:gd name="T64" fmla="*/ 891 w 329"/>
                <a:gd name="T65" fmla="*/ 208 h 546"/>
                <a:gd name="T66" fmla="*/ 1138 w 329"/>
                <a:gd name="T67" fmla="*/ 173 h 546"/>
                <a:gd name="T68" fmla="*/ 1138 w 329"/>
                <a:gd name="T69" fmla="*/ 80 h 546"/>
                <a:gd name="T70" fmla="*/ 1138 w 329"/>
                <a:gd name="T71" fmla="*/ 33 h 5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29"/>
                <a:gd name="T109" fmla="*/ 0 h 546"/>
                <a:gd name="T110" fmla="*/ 329 w 329"/>
                <a:gd name="T111" fmla="*/ 546 h 54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29" h="546">
                  <a:moveTo>
                    <a:pt x="329" y="15"/>
                  </a:moveTo>
                  <a:lnTo>
                    <a:pt x="293" y="0"/>
                  </a:lnTo>
                  <a:lnTo>
                    <a:pt x="217" y="5"/>
                  </a:lnTo>
                  <a:lnTo>
                    <a:pt x="151" y="56"/>
                  </a:lnTo>
                  <a:lnTo>
                    <a:pt x="55" y="162"/>
                  </a:lnTo>
                  <a:lnTo>
                    <a:pt x="5" y="248"/>
                  </a:lnTo>
                  <a:lnTo>
                    <a:pt x="0" y="278"/>
                  </a:lnTo>
                  <a:lnTo>
                    <a:pt x="25" y="334"/>
                  </a:lnTo>
                  <a:lnTo>
                    <a:pt x="80" y="359"/>
                  </a:lnTo>
                  <a:lnTo>
                    <a:pt x="151" y="389"/>
                  </a:lnTo>
                  <a:lnTo>
                    <a:pt x="207" y="404"/>
                  </a:lnTo>
                  <a:lnTo>
                    <a:pt x="232" y="430"/>
                  </a:lnTo>
                  <a:lnTo>
                    <a:pt x="217" y="465"/>
                  </a:lnTo>
                  <a:lnTo>
                    <a:pt x="177" y="506"/>
                  </a:lnTo>
                  <a:lnTo>
                    <a:pt x="126" y="511"/>
                  </a:lnTo>
                  <a:lnTo>
                    <a:pt x="91" y="495"/>
                  </a:lnTo>
                  <a:lnTo>
                    <a:pt x="70" y="511"/>
                  </a:lnTo>
                  <a:lnTo>
                    <a:pt x="75" y="531"/>
                  </a:lnTo>
                  <a:lnTo>
                    <a:pt x="116" y="546"/>
                  </a:lnTo>
                  <a:lnTo>
                    <a:pt x="177" y="546"/>
                  </a:lnTo>
                  <a:lnTo>
                    <a:pt x="232" y="531"/>
                  </a:lnTo>
                  <a:lnTo>
                    <a:pt x="263" y="511"/>
                  </a:lnTo>
                  <a:lnTo>
                    <a:pt x="283" y="475"/>
                  </a:lnTo>
                  <a:lnTo>
                    <a:pt x="293" y="435"/>
                  </a:lnTo>
                  <a:lnTo>
                    <a:pt x="268" y="399"/>
                  </a:lnTo>
                  <a:lnTo>
                    <a:pt x="207" y="374"/>
                  </a:lnTo>
                  <a:lnTo>
                    <a:pt x="136" y="354"/>
                  </a:lnTo>
                  <a:lnTo>
                    <a:pt x="75" y="319"/>
                  </a:lnTo>
                  <a:lnTo>
                    <a:pt x="60" y="288"/>
                  </a:lnTo>
                  <a:lnTo>
                    <a:pt x="70" y="233"/>
                  </a:lnTo>
                  <a:lnTo>
                    <a:pt x="116" y="162"/>
                  </a:lnTo>
                  <a:lnTo>
                    <a:pt x="172" y="121"/>
                  </a:lnTo>
                  <a:lnTo>
                    <a:pt x="258" y="91"/>
                  </a:lnTo>
                  <a:lnTo>
                    <a:pt x="329" y="76"/>
                  </a:lnTo>
                  <a:lnTo>
                    <a:pt x="329" y="35"/>
                  </a:lnTo>
                  <a:lnTo>
                    <a:pt x="329" y="1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412" name="Freeform 10"/>
          <p:cNvSpPr>
            <a:spLocks/>
          </p:cNvSpPr>
          <p:nvPr/>
        </p:nvSpPr>
        <p:spPr bwMode="auto">
          <a:xfrm>
            <a:off x="3962400" y="1354138"/>
            <a:ext cx="977900" cy="1770062"/>
          </a:xfrm>
          <a:custGeom>
            <a:avLst/>
            <a:gdLst>
              <a:gd name="T0" fmla="*/ 0 w 616"/>
              <a:gd name="T1" fmla="*/ 2147483646 h 1115"/>
              <a:gd name="T2" fmla="*/ 2147483646 w 616"/>
              <a:gd name="T3" fmla="*/ 2147483646 h 1115"/>
              <a:gd name="T4" fmla="*/ 2147483646 w 616"/>
              <a:gd name="T5" fmla="*/ 2147483646 h 1115"/>
              <a:gd name="T6" fmla="*/ 2147483646 w 616"/>
              <a:gd name="T7" fmla="*/ 0 h 1115"/>
              <a:gd name="T8" fmla="*/ 0 60000 65536"/>
              <a:gd name="T9" fmla="*/ 0 60000 65536"/>
              <a:gd name="T10" fmla="*/ 0 60000 65536"/>
              <a:gd name="T11" fmla="*/ 0 60000 65536"/>
              <a:gd name="T12" fmla="*/ 0 w 616"/>
              <a:gd name="T13" fmla="*/ 0 h 1115"/>
              <a:gd name="T14" fmla="*/ 616 w 616"/>
              <a:gd name="T15" fmla="*/ 1115 h 11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6" h="1115">
                <a:moveTo>
                  <a:pt x="0" y="1115"/>
                </a:moveTo>
                <a:cubicBezTo>
                  <a:pt x="56" y="971"/>
                  <a:pt x="112" y="827"/>
                  <a:pt x="192" y="731"/>
                </a:cubicBezTo>
                <a:cubicBezTo>
                  <a:pt x="272" y="635"/>
                  <a:pt x="409" y="661"/>
                  <a:pt x="480" y="539"/>
                </a:cubicBezTo>
                <a:cubicBezTo>
                  <a:pt x="551" y="417"/>
                  <a:pt x="588" y="112"/>
                  <a:pt x="616" y="0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7413" name="Group 11"/>
          <p:cNvGrpSpPr>
            <a:grpSpLocks/>
          </p:cNvGrpSpPr>
          <p:nvPr/>
        </p:nvGrpSpPr>
        <p:grpSpPr bwMode="auto">
          <a:xfrm>
            <a:off x="2743200" y="1524000"/>
            <a:ext cx="1905000" cy="533400"/>
            <a:chOff x="3072" y="3360"/>
            <a:chExt cx="2352" cy="336"/>
          </a:xfrm>
        </p:grpSpPr>
        <p:sp>
          <p:nvSpPr>
            <p:cNvPr id="17425" name="Text Box 12"/>
            <p:cNvSpPr txBox="1">
              <a:spLocks noChangeArrowheads="1"/>
            </p:cNvSpPr>
            <p:nvPr/>
          </p:nvSpPr>
          <p:spPr bwMode="auto">
            <a:xfrm>
              <a:off x="3105" y="3408"/>
              <a:ext cx="23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14,23,25,30,31</a:t>
              </a:r>
              <a:endParaRPr lang="en-CA" altLang="en-US" sz="2000" b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6" name="Rectangle 13"/>
            <p:cNvSpPr>
              <a:spLocks noChangeArrowheads="1"/>
            </p:cNvSpPr>
            <p:nvPr/>
          </p:nvSpPr>
          <p:spPr bwMode="auto">
            <a:xfrm>
              <a:off x="3072" y="3360"/>
              <a:ext cx="2352" cy="336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414" name="Group 14"/>
          <p:cNvGrpSpPr>
            <a:grpSpLocks/>
          </p:cNvGrpSpPr>
          <p:nvPr/>
        </p:nvGrpSpPr>
        <p:grpSpPr bwMode="auto">
          <a:xfrm>
            <a:off x="4800600" y="2339975"/>
            <a:ext cx="1543050" cy="555625"/>
            <a:chOff x="3072" y="3360"/>
            <a:chExt cx="2352" cy="336"/>
          </a:xfrm>
        </p:grpSpPr>
        <p:sp>
          <p:nvSpPr>
            <p:cNvPr id="17423" name="Text Box 15"/>
            <p:cNvSpPr txBox="1">
              <a:spLocks noChangeArrowheads="1"/>
            </p:cNvSpPr>
            <p:nvPr/>
          </p:nvSpPr>
          <p:spPr bwMode="auto">
            <a:xfrm>
              <a:off x="3106" y="3408"/>
              <a:ext cx="23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62,79,88,98</a:t>
              </a:r>
            </a:p>
          </p:txBody>
        </p:sp>
        <p:sp>
          <p:nvSpPr>
            <p:cNvPr id="17424" name="Rectangle 16"/>
            <p:cNvSpPr>
              <a:spLocks noChangeArrowheads="1"/>
            </p:cNvSpPr>
            <p:nvPr/>
          </p:nvSpPr>
          <p:spPr bwMode="auto">
            <a:xfrm>
              <a:off x="3072" y="3360"/>
              <a:ext cx="2352" cy="336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415" name="Group 17"/>
          <p:cNvGrpSpPr>
            <a:grpSpLocks/>
          </p:cNvGrpSpPr>
          <p:nvPr/>
        </p:nvGrpSpPr>
        <p:grpSpPr bwMode="auto">
          <a:xfrm>
            <a:off x="4492625" y="1958975"/>
            <a:ext cx="460375" cy="555625"/>
            <a:chOff x="2982" y="3360"/>
            <a:chExt cx="2821" cy="336"/>
          </a:xfrm>
        </p:grpSpPr>
        <p:sp>
          <p:nvSpPr>
            <p:cNvPr id="17421" name="Text Box 18"/>
            <p:cNvSpPr txBox="1">
              <a:spLocks noChangeArrowheads="1"/>
            </p:cNvSpPr>
            <p:nvPr/>
          </p:nvSpPr>
          <p:spPr bwMode="auto">
            <a:xfrm>
              <a:off x="2982" y="3408"/>
              <a:ext cx="282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rPr>
                <a:t>52</a:t>
              </a:r>
            </a:p>
          </p:txBody>
        </p:sp>
        <p:sp>
          <p:nvSpPr>
            <p:cNvPr id="17422" name="Rectangle 19"/>
            <p:cNvSpPr>
              <a:spLocks noChangeArrowheads="1"/>
            </p:cNvSpPr>
            <p:nvPr/>
          </p:nvSpPr>
          <p:spPr bwMode="auto">
            <a:xfrm>
              <a:off x="3072" y="3360"/>
              <a:ext cx="2352" cy="336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1508125" y="3524250"/>
            <a:ext cx="5502275" cy="1809750"/>
            <a:chOff x="950" y="2220"/>
            <a:chExt cx="3466" cy="1140"/>
          </a:xfrm>
        </p:grpSpPr>
        <p:sp>
          <p:nvSpPr>
            <p:cNvPr id="17417" name="Text Box 21"/>
            <p:cNvSpPr txBox="1">
              <a:spLocks noChangeArrowheads="1"/>
            </p:cNvSpPr>
            <p:nvPr/>
          </p:nvSpPr>
          <p:spPr bwMode="auto">
            <a:xfrm>
              <a:off x="950" y="2220"/>
              <a:ext cx="228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3200" b="0">
                  <a:latin typeface="Times New Roman" panose="02020603050405020304" pitchFamily="18" charset="0"/>
                </a:rPr>
                <a:t>Glue pieces together.</a:t>
              </a:r>
            </a:p>
          </p:txBody>
        </p:sp>
        <p:grpSp>
          <p:nvGrpSpPr>
            <p:cNvPr id="17418" name="Group 22"/>
            <p:cNvGrpSpPr>
              <a:grpSpLocks/>
            </p:cNvGrpSpPr>
            <p:nvPr/>
          </p:nvGrpSpPr>
          <p:grpSpPr bwMode="auto">
            <a:xfrm>
              <a:off x="2064" y="3024"/>
              <a:ext cx="2352" cy="336"/>
              <a:chOff x="3072" y="3360"/>
              <a:chExt cx="2352" cy="336"/>
            </a:xfrm>
          </p:grpSpPr>
          <p:sp>
            <p:nvSpPr>
              <p:cNvPr id="17419" name="Text Box 23"/>
              <p:cNvSpPr txBox="1">
                <a:spLocks noChangeArrowheads="1"/>
              </p:cNvSpPr>
              <p:nvPr/>
            </p:nvSpPr>
            <p:spPr bwMode="auto">
              <a:xfrm>
                <a:off x="3106" y="3408"/>
                <a:ext cx="2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33CC33"/>
                    </a:solidFill>
                    <a:latin typeface="Tahoma" panose="020B0604030504040204" pitchFamily="34" charset="0"/>
                  </a:rPr>
                  <a:t>14,23,25,30,31,52,62,79,88,98</a:t>
                </a:r>
                <a:endParaRPr lang="en-CA" altLang="en-US" sz="2000" b="0">
                  <a:solidFill>
                    <a:srgbClr val="33CC33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7420" name="Rectangle 24"/>
              <p:cNvSpPr>
                <a:spLocks noChangeArrowheads="1"/>
              </p:cNvSpPr>
              <p:nvPr/>
            </p:nvSpPr>
            <p:spPr bwMode="auto">
              <a:xfrm>
                <a:off x="3072" y="3360"/>
                <a:ext cx="2352" cy="336"/>
              </a:xfrm>
              <a:prstGeom prst="rect">
                <a:avLst/>
              </a:prstGeom>
              <a:noFill/>
              <a:ln w="38100">
                <a:solidFill>
                  <a:srgbClr val="00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Quicksort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en-US" sz="2000" smtClean="0"/>
              <a:t>Quicksort pros [advantage]:</a:t>
            </a:r>
          </a:p>
          <a:p>
            <a:pPr lvl="1"/>
            <a:r>
              <a:rPr lang="en-US" altLang="en-US" sz="2000" smtClean="0"/>
              <a:t>Sorts </a:t>
            </a:r>
            <a:r>
              <a:rPr lang="en-US" altLang="en-US" sz="2000" smtClean="0">
                <a:solidFill>
                  <a:srgbClr val="A50021"/>
                </a:solidFill>
              </a:rPr>
              <a:t>in place</a:t>
            </a:r>
          </a:p>
          <a:p>
            <a:pPr lvl="1"/>
            <a:r>
              <a:rPr lang="en-US" altLang="en-US" sz="2000" smtClean="0"/>
              <a:t>Sorts </a:t>
            </a:r>
            <a:r>
              <a:rPr lang="en-US" altLang="en-US" sz="2000" i="1" smtClean="0">
                <a:solidFill>
                  <a:srgbClr val="A50021"/>
                </a:solidFill>
              </a:rPr>
              <a:t>O</a:t>
            </a:r>
            <a:r>
              <a:rPr lang="en-US" altLang="en-US" sz="2000" smtClean="0">
                <a:solidFill>
                  <a:srgbClr val="A50021"/>
                </a:solidFill>
              </a:rPr>
              <a:t>(</a:t>
            </a:r>
            <a:r>
              <a:rPr lang="en-US" altLang="en-US" sz="2000" i="1" smtClean="0">
                <a:solidFill>
                  <a:srgbClr val="A50021"/>
                </a:solidFill>
              </a:rPr>
              <a:t>n</a:t>
            </a:r>
            <a:r>
              <a:rPr lang="en-US" altLang="en-US" sz="2000" smtClean="0">
                <a:solidFill>
                  <a:srgbClr val="A50021"/>
                </a:solidFill>
              </a:rPr>
              <a:t> lg </a:t>
            </a:r>
            <a:r>
              <a:rPr lang="en-US" altLang="en-US" sz="2000" i="1" smtClean="0">
                <a:solidFill>
                  <a:srgbClr val="A50021"/>
                </a:solidFill>
              </a:rPr>
              <a:t>n</a:t>
            </a:r>
            <a:r>
              <a:rPr lang="en-US" altLang="en-US" sz="2000" smtClean="0">
                <a:solidFill>
                  <a:srgbClr val="A50021"/>
                </a:solidFill>
              </a:rPr>
              <a:t>)</a:t>
            </a:r>
            <a:r>
              <a:rPr lang="en-US" altLang="en-US" sz="2000" smtClean="0"/>
              <a:t> in the </a:t>
            </a:r>
            <a:r>
              <a:rPr lang="en-US" altLang="en-US" sz="2000" smtClean="0">
                <a:solidFill>
                  <a:srgbClr val="A50021"/>
                </a:solidFill>
              </a:rPr>
              <a:t>average case</a:t>
            </a:r>
          </a:p>
          <a:p>
            <a:pPr lvl="1"/>
            <a:r>
              <a:rPr lang="en-US" altLang="en-US" sz="2000" smtClean="0"/>
              <a:t>Very efficient in practice , it’s quick</a:t>
            </a:r>
          </a:p>
          <a:p>
            <a:pPr lvl="1"/>
            <a:endParaRPr lang="en-US" altLang="en-US" sz="2000" smtClean="0"/>
          </a:p>
          <a:p>
            <a:endParaRPr lang="en-US" altLang="en-US" sz="2000" smtClean="0"/>
          </a:p>
          <a:p>
            <a:r>
              <a:rPr lang="en-US" altLang="en-US" sz="2000" smtClean="0"/>
              <a:t>Quicksort cons [disadvantage]:</a:t>
            </a:r>
          </a:p>
          <a:p>
            <a:pPr lvl="1"/>
            <a:r>
              <a:rPr lang="en-US" altLang="en-US" sz="2000" smtClean="0"/>
              <a:t>Sorts </a:t>
            </a:r>
            <a:r>
              <a:rPr lang="en-US" altLang="en-US" sz="2000" i="1" smtClean="0">
                <a:solidFill>
                  <a:srgbClr val="A50021"/>
                </a:solidFill>
              </a:rPr>
              <a:t>O</a:t>
            </a:r>
            <a:r>
              <a:rPr lang="en-US" altLang="en-US" sz="2000" smtClean="0">
                <a:solidFill>
                  <a:srgbClr val="A50021"/>
                </a:solidFill>
              </a:rPr>
              <a:t>(</a:t>
            </a:r>
            <a:r>
              <a:rPr lang="en-US" altLang="en-US" sz="2000" i="1" smtClean="0">
                <a:solidFill>
                  <a:srgbClr val="A50021"/>
                </a:solidFill>
              </a:rPr>
              <a:t>n</a:t>
            </a:r>
            <a:r>
              <a:rPr lang="en-US" altLang="en-US" sz="2000" baseline="30000" smtClean="0">
                <a:solidFill>
                  <a:srgbClr val="A50021"/>
                </a:solidFill>
              </a:rPr>
              <a:t>2</a:t>
            </a:r>
            <a:r>
              <a:rPr lang="en-US" altLang="en-US" sz="2000" smtClean="0">
                <a:solidFill>
                  <a:srgbClr val="A50021"/>
                </a:solidFill>
              </a:rPr>
              <a:t>)</a:t>
            </a:r>
            <a:r>
              <a:rPr lang="en-US" altLang="en-US" sz="2000" smtClean="0"/>
              <a:t> in the </a:t>
            </a:r>
            <a:r>
              <a:rPr lang="en-US" altLang="en-US" sz="2000" smtClean="0">
                <a:solidFill>
                  <a:srgbClr val="A50021"/>
                </a:solidFill>
              </a:rPr>
              <a:t>worst case</a:t>
            </a:r>
          </a:p>
          <a:p>
            <a:pPr lvl="1"/>
            <a:r>
              <a:rPr lang="en-US" altLang="en-US" sz="2000" smtClean="0"/>
              <a:t>And the worst case doesn’t happen often … </a:t>
            </a:r>
            <a:r>
              <a:rPr lang="en-US" altLang="en-US" sz="2000" smtClean="0">
                <a:solidFill>
                  <a:srgbClr val="FF3300"/>
                </a:solidFill>
              </a:rPr>
              <a:t>sorted</a:t>
            </a:r>
          </a:p>
          <a:p>
            <a:pPr lvl="1">
              <a:buFontTx/>
              <a:buNone/>
            </a:pPr>
            <a:endParaRPr lang="en-US" altLang="en-US" sz="2000" smtClean="0">
              <a:solidFill>
                <a:srgbClr val="A5002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Quicksort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1527175"/>
            <a:ext cx="7772400" cy="47101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smtClean="0"/>
              <a:t>Another divide-and-conquer algorithm:</a:t>
            </a:r>
          </a:p>
          <a:p>
            <a:pPr>
              <a:lnSpc>
                <a:spcPct val="90000"/>
              </a:lnSpc>
            </a:pPr>
            <a:r>
              <a:rPr lang="en-US" altLang="en-US" sz="2400" i="1" smtClean="0">
                <a:solidFill>
                  <a:srgbClr val="A50021"/>
                </a:solidFill>
              </a:rPr>
              <a:t>Divide</a:t>
            </a:r>
            <a:r>
              <a:rPr lang="en-US" altLang="en-US" sz="2400" smtClean="0"/>
              <a:t>:  </a:t>
            </a:r>
            <a:r>
              <a:rPr lang="en-US" altLang="en-US" sz="2400" i="1" smtClean="0"/>
              <a:t>A</a:t>
            </a:r>
            <a:r>
              <a:rPr lang="en-US" altLang="en-US" sz="2400" smtClean="0"/>
              <a:t>[</a:t>
            </a:r>
            <a:r>
              <a:rPr lang="en-US" altLang="en-US" sz="2400" i="1" smtClean="0"/>
              <a:t>p</a:t>
            </a:r>
            <a:r>
              <a:rPr lang="en-US" altLang="en-US" sz="2400" smtClean="0"/>
              <a:t>…</a:t>
            </a:r>
            <a:r>
              <a:rPr lang="en-US" altLang="en-US" sz="2400" i="1" smtClean="0"/>
              <a:t>r</a:t>
            </a:r>
            <a:r>
              <a:rPr lang="en-US" altLang="en-US" sz="2400" smtClean="0"/>
              <a:t>] is partitioned (rearranged) into two nonempty subarrays </a:t>
            </a:r>
            <a:r>
              <a:rPr lang="en-US" altLang="en-US" sz="2400" i="1" smtClean="0"/>
              <a:t>A</a:t>
            </a:r>
            <a:r>
              <a:rPr lang="en-US" altLang="en-US" sz="2400" smtClean="0"/>
              <a:t>[</a:t>
            </a:r>
            <a:r>
              <a:rPr lang="en-US" altLang="en-US" sz="2400" i="1" smtClean="0"/>
              <a:t>p</a:t>
            </a:r>
            <a:r>
              <a:rPr lang="en-US" altLang="en-US" sz="2400" smtClean="0"/>
              <a:t>…</a:t>
            </a:r>
            <a:r>
              <a:rPr lang="en-US" altLang="en-US" sz="2400" i="1" smtClean="0"/>
              <a:t>q</a:t>
            </a:r>
            <a:r>
              <a:rPr lang="en-US" altLang="en-US" sz="2400" smtClean="0"/>
              <a:t>-1] and </a:t>
            </a:r>
            <a:r>
              <a:rPr lang="en-US" altLang="en-US" sz="2400" i="1" smtClean="0"/>
              <a:t>A</a:t>
            </a:r>
            <a:r>
              <a:rPr lang="en-US" altLang="en-US" sz="2400" smtClean="0"/>
              <a:t>[</a:t>
            </a:r>
            <a:r>
              <a:rPr lang="en-US" altLang="en-US" sz="2400" i="1" smtClean="0"/>
              <a:t>q</a:t>
            </a:r>
            <a:r>
              <a:rPr lang="en-US" altLang="en-US" sz="2400" smtClean="0"/>
              <a:t>+1…</a:t>
            </a:r>
            <a:r>
              <a:rPr lang="en-US" altLang="en-US" sz="2400" i="1" smtClean="0"/>
              <a:t>r</a:t>
            </a:r>
            <a:r>
              <a:rPr lang="en-US" altLang="en-US" sz="2400" smtClean="0"/>
              <a:t>] s.t. each element of </a:t>
            </a:r>
            <a:r>
              <a:rPr lang="en-US" altLang="en-US" sz="2400" i="1" smtClean="0"/>
              <a:t>A</a:t>
            </a:r>
            <a:r>
              <a:rPr lang="en-US" altLang="en-US" sz="2400" smtClean="0"/>
              <a:t>[</a:t>
            </a:r>
            <a:r>
              <a:rPr lang="en-US" altLang="en-US" sz="2400" i="1" smtClean="0"/>
              <a:t>p</a:t>
            </a:r>
            <a:r>
              <a:rPr lang="en-US" altLang="en-US" sz="2400" smtClean="0"/>
              <a:t>…</a:t>
            </a:r>
            <a:r>
              <a:rPr lang="en-US" altLang="en-US" sz="2400" i="1" smtClean="0"/>
              <a:t>q</a:t>
            </a:r>
            <a:r>
              <a:rPr lang="en-US" altLang="en-US" sz="2400" smtClean="0"/>
              <a:t>-1] is less than or equal to each element of </a:t>
            </a:r>
            <a:r>
              <a:rPr lang="en-US" altLang="en-US" sz="2400" i="1" smtClean="0"/>
              <a:t>A</a:t>
            </a:r>
            <a:r>
              <a:rPr lang="en-US" altLang="en-US" sz="2400" smtClean="0"/>
              <a:t>[</a:t>
            </a:r>
            <a:r>
              <a:rPr lang="en-US" altLang="en-US" sz="2400" i="1" smtClean="0"/>
              <a:t>q</a:t>
            </a:r>
            <a:r>
              <a:rPr lang="en-US" altLang="en-US" sz="2400" smtClean="0"/>
              <a:t>+1…</a:t>
            </a:r>
            <a:r>
              <a:rPr lang="en-US" altLang="en-US" sz="2400" i="1" smtClean="0"/>
              <a:t>r</a:t>
            </a:r>
            <a:r>
              <a:rPr lang="en-US" altLang="en-US" sz="2400" smtClean="0"/>
              <a:t>]. Index </a:t>
            </a:r>
            <a:r>
              <a:rPr lang="en-US" altLang="en-US" sz="2400" i="1" smtClean="0"/>
              <a:t>q</a:t>
            </a:r>
            <a:r>
              <a:rPr lang="en-US" altLang="en-US" sz="2400" smtClean="0"/>
              <a:t> is computed here, called pivot.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900" smtClean="0"/>
          </a:p>
          <a:p>
            <a:pPr>
              <a:lnSpc>
                <a:spcPct val="90000"/>
              </a:lnSpc>
            </a:pPr>
            <a:r>
              <a:rPr lang="en-US" altLang="en-US" sz="2400" i="1" smtClean="0">
                <a:solidFill>
                  <a:srgbClr val="A50021"/>
                </a:solidFill>
              </a:rPr>
              <a:t>Conquer</a:t>
            </a:r>
            <a:r>
              <a:rPr lang="en-US" altLang="en-US" sz="2400" smtClean="0"/>
              <a:t>:  two subarrays are sorted by recursive calls to quicksort.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900" smtClean="0"/>
          </a:p>
          <a:p>
            <a:pPr>
              <a:lnSpc>
                <a:spcPct val="90000"/>
              </a:lnSpc>
            </a:pPr>
            <a:r>
              <a:rPr lang="en-US" altLang="en-US" sz="2400" i="1" smtClean="0">
                <a:solidFill>
                  <a:srgbClr val="A50021"/>
                </a:solidFill>
              </a:rPr>
              <a:t>Combine</a:t>
            </a:r>
            <a:r>
              <a:rPr lang="en-US" altLang="en-US" sz="2400" smtClean="0"/>
              <a:t>: unlike merge sort, no work needed since the subarrays are sorted in place already.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Quicksort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9000"/>
              </a:lnSpc>
            </a:pPr>
            <a:r>
              <a:rPr lang="en-US" altLang="en-US" sz="2000" smtClean="0"/>
              <a:t>The basic algorithm to sort an array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 consists of the following four easy steps:</a:t>
            </a:r>
          </a:p>
          <a:p>
            <a:pPr>
              <a:lnSpc>
                <a:spcPct val="79000"/>
              </a:lnSpc>
            </a:pPr>
            <a:endParaRPr lang="en-US" altLang="en-US" sz="2000" smtClean="0"/>
          </a:p>
          <a:p>
            <a:pPr lvl="1">
              <a:lnSpc>
                <a:spcPct val="70000"/>
              </a:lnSpc>
            </a:pPr>
            <a:r>
              <a:rPr lang="en-US" altLang="en-US" sz="2000" smtClean="0"/>
              <a:t>If the number of elements in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 is 0 or 1, then return</a:t>
            </a:r>
          </a:p>
          <a:p>
            <a:pPr lvl="1">
              <a:lnSpc>
                <a:spcPct val="70000"/>
              </a:lnSpc>
            </a:pPr>
            <a:r>
              <a:rPr lang="en-US" altLang="en-US" sz="2000" smtClean="0"/>
              <a:t>Pick any element </a:t>
            </a:r>
            <a:r>
              <a:rPr lang="en-US" altLang="en-US" sz="2000" i="1" smtClean="0">
                <a:solidFill>
                  <a:srgbClr val="A50021"/>
                </a:solidFill>
              </a:rPr>
              <a:t>v</a:t>
            </a:r>
            <a:r>
              <a:rPr lang="en-US" altLang="en-US" sz="2000" smtClean="0"/>
              <a:t> in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.  This is called the </a:t>
            </a:r>
            <a:r>
              <a:rPr lang="en-US" altLang="en-US" sz="2000" i="1" smtClean="0">
                <a:solidFill>
                  <a:srgbClr val="A50021"/>
                </a:solidFill>
              </a:rPr>
              <a:t>pivot</a:t>
            </a:r>
          </a:p>
          <a:p>
            <a:pPr lvl="1">
              <a:lnSpc>
                <a:spcPct val="70000"/>
              </a:lnSpc>
            </a:pPr>
            <a:endParaRPr lang="en-US" altLang="en-US" sz="2000" smtClean="0"/>
          </a:p>
          <a:p>
            <a:pPr lvl="1">
              <a:lnSpc>
                <a:spcPct val="70000"/>
              </a:lnSpc>
            </a:pPr>
            <a:r>
              <a:rPr lang="en-US" altLang="en-US" sz="2000" smtClean="0"/>
              <a:t>Partition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-{</a:t>
            </a:r>
            <a:r>
              <a:rPr lang="en-US" altLang="en-US" sz="2000" i="1" smtClean="0"/>
              <a:t>v</a:t>
            </a:r>
            <a:r>
              <a:rPr lang="en-US" altLang="en-US" sz="2000" smtClean="0"/>
              <a:t>} (the remaining elements in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) into two disjoint groups:</a:t>
            </a:r>
          </a:p>
          <a:p>
            <a:pPr lvl="2">
              <a:lnSpc>
                <a:spcPct val="90000"/>
              </a:lnSpc>
            </a:pPr>
            <a:r>
              <a:rPr lang="en-US" altLang="en-US" sz="2000" i="1" smtClean="0">
                <a:solidFill>
                  <a:srgbClr val="A50021"/>
                </a:solidFill>
              </a:rPr>
              <a:t>A</a:t>
            </a:r>
            <a:r>
              <a:rPr lang="en-US" altLang="en-US" sz="2000" baseline="-25000" smtClean="0">
                <a:solidFill>
                  <a:srgbClr val="A50021"/>
                </a:solidFill>
              </a:rPr>
              <a:t>1</a:t>
            </a:r>
            <a:r>
              <a:rPr lang="en-US" altLang="en-US" sz="2000" smtClean="0">
                <a:solidFill>
                  <a:srgbClr val="A50021"/>
                </a:solidFill>
              </a:rPr>
              <a:t> = {</a:t>
            </a:r>
            <a:r>
              <a:rPr lang="en-US" altLang="en-US" sz="2000" i="1" smtClean="0">
                <a:solidFill>
                  <a:srgbClr val="A50021"/>
                </a:solidFill>
              </a:rPr>
              <a:t>x</a:t>
            </a:r>
            <a:r>
              <a:rPr lang="en-US" altLang="en-US" sz="2000" smtClean="0">
                <a:solidFill>
                  <a:srgbClr val="A50021"/>
                </a:solidFill>
              </a:rPr>
              <a:t> </a:t>
            </a:r>
            <a:r>
              <a:rPr lang="en-US" altLang="en-US" sz="2000" smtClean="0">
                <a:solidFill>
                  <a:srgbClr val="A50021"/>
                </a:solidFill>
                <a:sym typeface="Symbol" panose="05050102010706020507" pitchFamily="18" charset="2"/>
              </a:rPr>
              <a:t></a:t>
            </a:r>
            <a:r>
              <a:rPr lang="en-US" altLang="en-US" sz="2000" smtClean="0">
                <a:solidFill>
                  <a:srgbClr val="A50021"/>
                </a:solidFill>
              </a:rPr>
              <a:t> </a:t>
            </a:r>
            <a:r>
              <a:rPr lang="en-US" altLang="en-US" sz="2000" i="1" smtClean="0">
                <a:solidFill>
                  <a:srgbClr val="A50021"/>
                </a:solidFill>
              </a:rPr>
              <a:t>A</a:t>
            </a:r>
            <a:r>
              <a:rPr lang="en-US" altLang="en-US" sz="2000" smtClean="0">
                <a:solidFill>
                  <a:srgbClr val="A50021"/>
                </a:solidFill>
              </a:rPr>
              <a:t>-{</a:t>
            </a:r>
            <a:r>
              <a:rPr lang="en-US" altLang="en-US" sz="2000" i="1" smtClean="0">
                <a:solidFill>
                  <a:srgbClr val="A50021"/>
                </a:solidFill>
              </a:rPr>
              <a:t>v</a:t>
            </a:r>
            <a:r>
              <a:rPr lang="en-US" altLang="en-US" sz="2000" smtClean="0">
                <a:solidFill>
                  <a:srgbClr val="A50021"/>
                </a:solidFill>
              </a:rPr>
              <a:t>} | </a:t>
            </a:r>
            <a:r>
              <a:rPr lang="en-US" altLang="en-US" sz="2000" i="1" smtClean="0">
                <a:solidFill>
                  <a:srgbClr val="A50021"/>
                </a:solidFill>
              </a:rPr>
              <a:t>x</a:t>
            </a:r>
            <a:r>
              <a:rPr lang="en-US" altLang="en-US" sz="2000" smtClean="0">
                <a:solidFill>
                  <a:srgbClr val="A50021"/>
                </a:solidFill>
              </a:rPr>
              <a:t> </a:t>
            </a:r>
            <a:r>
              <a:rPr lang="en-US" altLang="en-US" sz="2000" smtClean="0">
                <a:solidFill>
                  <a:srgbClr val="A50021"/>
                </a:solidFill>
                <a:cs typeface="Times New Roman" panose="02020603050405020304" pitchFamily="18" charset="0"/>
              </a:rPr>
              <a:t>≤</a:t>
            </a:r>
            <a:r>
              <a:rPr lang="en-US" altLang="en-US" sz="2000" smtClean="0">
                <a:solidFill>
                  <a:srgbClr val="A50021"/>
                </a:solidFill>
              </a:rPr>
              <a:t> </a:t>
            </a:r>
            <a:r>
              <a:rPr lang="en-US" altLang="en-US" sz="2000" i="1" smtClean="0">
                <a:solidFill>
                  <a:srgbClr val="A50021"/>
                </a:solidFill>
              </a:rPr>
              <a:t>v</a:t>
            </a:r>
            <a:r>
              <a:rPr lang="en-US" altLang="en-US" sz="2000" smtClean="0">
                <a:solidFill>
                  <a:srgbClr val="A50021"/>
                </a:solidFill>
              </a:rPr>
              <a:t>}, and</a:t>
            </a:r>
          </a:p>
          <a:p>
            <a:pPr lvl="2">
              <a:lnSpc>
                <a:spcPct val="90000"/>
              </a:lnSpc>
            </a:pPr>
            <a:r>
              <a:rPr lang="en-US" altLang="en-US" sz="2000" i="1" smtClean="0">
                <a:solidFill>
                  <a:srgbClr val="A50021"/>
                </a:solidFill>
              </a:rPr>
              <a:t>A</a:t>
            </a:r>
            <a:r>
              <a:rPr lang="en-US" altLang="en-US" sz="2000" baseline="-25000" smtClean="0">
                <a:solidFill>
                  <a:srgbClr val="A50021"/>
                </a:solidFill>
              </a:rPr>
              <a:t>2</a:t>
            </a:r>
            <a:r>
              <a:rPr lang="en-US" altLang="en-US" sz="2000" smtClean="0">
                <a:solidFill>
                  <a:srgbClr val="A50021"/>
                </a:solidFill>
              </a:rPr>
              <a:t> = {</a:t>
            </a:r>
            <a:r>
              <a:rPr lang="en-US" altLang="en-US" sz="2000" i="1" smtClean="0">
                <a:solidFill>
                  <a:srgbClr val="A50021"/>
                </a:solidFill>
              </a:rPr>
              <a:t>x</a:t>
            </a:r>
            <a:r>
              <a:rPr lang="en-US" altLang="en-US" sz="2000" smtClean="0">
                <a:solidFill>
                  <a:srgbClr val="A50021"/>
                </a:solidFill>
              </a:rPr>
              <a:t> </a:t>
            </a:r>
            <a:r>
              <a:rPr lang="en-US" altLang="en-US" sz="2000" smtClean="0">
                <a:solidFill>
                  <a:srgbClr val="A50021"/>
                </a:solidFill>
                <a:sym typeface="Symbol" panose="05050102010706020507" pitchFamily="18" charset="2"/>
              </a:rPr>
              <a:t></a:t>
            </a:r>
            <a:r>
              <a:rPr lang="en-US" altLang="en-US" sz="2000" smtClean="0">
                <a:solidFill>
                  <a:srgbClr val="A50021"/>
                </a:solidFill>
              </a:rPr>
              <a:t> </a:t>
            </a:r>
            <a:r>
              <a:rPr lang="en-US" altLang="en-US" sz="2000" i="1" smtClean="0">
                <a:solidFill>
                  <a:srgbClr val="A50021"/>
                </a:solidFill>
              </a:rPr>
              <a:t>A</a:t>
            </a:r>
            <a:r>
              <a:rPr lang="en-US" altLang="en-US" sz="2000" smtClean="0">
                <a:solidFill>
                  <a:srgbClr val="A50021"/>
                </a:solidFill>
              </a:rPr>
              <a:t>-{</a:t>
            </a:r>
            <a:r>
              <a:rPr lang="en-US" altLang="en-US" sz="2000" i="1" smtClean="0">
                <a:solidFill>
                  <a:srgbClr val="A50021"/>
                </a:solidFill>
              </a:rPr>
              <a:t>v</a:t>
            </a:r>
            <a:r>
              <a:rPr lang="en-US" altLang="en-US" sz="2000" smtClean="0">
                <a:solidFill>
                  <a:srgbClr val="A50021"/>
                </a:solidFill>
              </a:rPr>
              <a:t>} | </a:t>
            </a:r>
            <a:r>
              <a:rPr lang="en-US" altLang="en-US" sz="2000" i="1" smtClean="0">
                <a:solidFill>
                  <a:srgbClr val="A50021"/>
                </a:solidFill>
              </a:rPr>
              <a:t>x</a:t>
            </a:r>
            <a:r>
              <a:rPr lang="en-US" altLang="en-US" sz="2000" smtClean="0">
                <a:solidFill>
                  <a:srgbClr val="A50021"/>
                </a:solidFill>
              </a:rPr>
              <a:t> </a:t>
            </a:r>
            <a:r>
              <a:rPr lang="en-US" altLang="en-US" sz="2000" smtClean="0">
                <a:solidFill>
                  <a:srgbClr val="A50021"/>
                </a:solidFill>
                <a:cs typeface="Times New Roman" panose="02020603050405020304" pitchFamily="18" charset="0"/>
              </a:rPr>
              <a:t>≥</a:t>
            </a:r>
            <a:r>
              <a:rPr lang="en-US" altLang="en-US" sz="2000" smtClean="0">
                <a:solidFill>
                  <a:srgbClr val="A50021"/>
                </a:solidFill>
              </a:rPr>
              <a:t> </a:t>
            </a:r>
            <a:r>
              <a:rPr lang="en-US" altLang="en-US" sz="2000" i="1" smtClean="0">
                <a:solidFill>
                  <a:srgbClr val="A50021"/>
                </a:solidFill>
              </a:rPr>
              <a:t>v</a:t>
            </a:r>
            <a:r>
              <a:rPr lang="en-US" altLang="en-US" sz="2000" smtClean="0">
                <a:solidFill>
                  <a:srgbClr val="A50021"/>
                </a:solidFill>
              </a:rPr>
              <a:t>}</a:t>
            </a:r>
          </a:p>
          <a:p>
            <a:pPr lvl="1">
              <a:lnSpc>
                <a:spcPct val="70000"/>
              </a:lnSpc>
            </a:pPr>
            <a:r>
              <a:rPr lang="en-US" altLang="en-US" sz="2000" smtClean="0"/>
              <a:t>return </a:t>
            </a:r>
          </a:p>
          <a:p>
            <a:pPr lvl="2">
              <a:lnSpc>
                <a:spcPct val="90000"/>
              </a:lnSpc>
            </a:pPr>
            <a:r>
              <a:rPr lang="en-US" altLang="en-US" sz="2000" smtClean="0">
                <a:solidFill>
                  <a:srgbClr val="A50021"/>
                </a:solidFill>
              </a:rPr>
              <a:t>{</a:t>
            </a:r>
            <a:r>
              <a:rPr lang="en-US" altLang="en-US" sz="2000" smtClean="0"/>
              <a:t>	quicksort(</a:t>
            </a:r>
            <a:r>
              <a:rPr lang="en-US" altLang="en-US" sz="2000" i="1" smtClean="0"/>
              <a:t>A</a:t>
            </a:r>
            <a:r>
              <a:rPr lang="en-US" altLang="en-US" sz="2000" baseline="-25000" smtClean="0"/>
              <a:t>1</a:t>
            </a:r>
            <a:r>
              <a:rPr lang="en-US" altLang="en-US" sz="2000" smtClean="0"/>
              <a:t>) 	</a:t>
            </a:r>
            <a:r>
              <a:rPr lang="en-US" altLang="en-US" sz="2000" smtClean="0">
                <a:solidFill>
                  <a:srgbClr val="A50021"/>
                </a:solidFill>
              </a:rPr>
              <a:t>followed by</a:t>
            </a:r>
            <a:r>
              <a:rPr lang="en-US" altLang="en-US" sz="2000" smtClean="0"/>
              <a:t>  </a:t>
            </a:r>
            <a:r>
              <a:rPr lang="en-US" altLang="en-US" sz="2000" i="1" smtClean="0">
                <a:solidFill>
                  <a:schemeClr val="accent2"/>
                </a:solidFill>
              </a:rPr>
              <a:t>v</a:t>
            </a:r>
            <a:r>
              <a:rPr lang="en-US" altLang="en-US" sz="2000" i="1" smtClean="0"/>
              <a:t>	</a:t>
            </a:r>
            <a:r>
              <a:rPr lang="en-US" altLang="en-US" sz="2000" smtClean="0"/>
              <a:t> </a:t>
            </a:r>
            <a:r>
              <a:rPr lang="en-US" altLang="en-US" sz="2000" smtClean="0">
                <a:solidFill>
                  <a:srgbClr val="A50021"/>
                </a:solidFill>
              </a:rPr>
              <a:t>followed by</a:t>
            </a:r>
            <a:r>
              <a:rPr lang="en-US" altLang="en-US" sz="2000" smtClean="0"/>
              <a:t>                  	quicksort(</a:t>
            </a:r>
            <a:r>
              <a:rPr lang="en-US" altLang="en-US" sz="2000" i="1" smtClean="0"/>
              <a:t>A</a:t>
            </a:r>
            <a:r>
              <a:rPr lang="en-US" altLang="en-US" sz="2000" baseline="-25000" smtClean="0"/>
              <a:t>2</a:t>
            </a:r>
            <a:r>
              <a:rPr lang="en-US" altLang="en-US" sz="2000" smtClean="0"/>
              <a:t>)</a:t>
            </a:r>
            <a:r>
              <a:rPr lang="en-US" altLang="en-US" sz="2000" smtClean="0">
                <a:solidFill>
                  <a:srgbClr val="A50021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/>
          <a:lstStyle/>
          <a:p>
            <a:r>
              <a:rPr lang="en-US" altLang="en-US" smtClean="0"/>
              <a:t>Quicksort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039813"/>
            <a:ext cx="8077200" cy="5324475"/>
          </a:xfrm>
        </p:spPr>
        <p:txBody>
          <a:bodyPr/>
          <a:lstStyle/>
          <a:p>
            <a:pPr>
              <a:lnSpc>
                <a:spcPct val="79000"/>
              </a:lnSpc>
            </a:pPr>
            <a:r>
              <a:rPr lang="en-US" altLang="en-US" sz="2400" smtClean="0"/>
              <a:t>Small instance has </a:t>
            </a:r>
            <a:r>
              <a:rPr lang="en-US" altLang="en-US" sz="2400" i="1" smtClean="0"/>
              <a:t>n</a:t>
            </a:r>
            <a:r>
              <a:rPr lang="en-US" altLang="en-US" sz="2400" smtClean="0"/>
              <a:t> </a:t>
            </a:r>
            <a:r>
              <a:rPr lang="en-US" altLang="en-US" sz="2400" smtClean="0">
                <a:cs typeface="Times New Roman" panose="02020603050405020304" pitchFamily="18" charset="0"/>
              </a:rPr>
              <a:t>≤</a:t>
            </a:r>
            <a:r>
              <a:rPr lang="en-US" altLang="en-US" sz="2400" smtClean="0"/>
              <a:t> 1</a:t>
            </a:r>
          </a:p>
          <a:p>
            <a:pPr lvl="1">
              <a:lnSpc>
                <a:spcPct val="70000"/>
              </a:lnSpc>
            </a:pPr>
            <a:r>
              <a:rPr lang="en-US" altLang="en-US" smtClean="0"/>
              <a:t>Every small instance is a sorted instance</a:t>
            </a:r>
          </a:p>
          <a:p>
            <a:pPr lvl="1">
              <a:lnSpc>
                <a:spcPct val="70000"/>
              </a:lnSpc>
              <a:buFontTx/>
              <a:buNone/>
            </a:pPr>
            <a:endParaRPr lang="en-US" altLang="en-US" smtClean="0"/>
          </a:p>
          <a:p>
            <a:pPr>
              <a:lnSpc>
                <a:spcPct val="79000"/>
              </a:lnSpc>
            </a:pPr>
            <a:r>
              <a:rPr lang="en-US" altLang="en-US" sz="2400" smtClean="0"/>
              <a:t>To sort a large instance:</a:t>
            </a:r>
          </a:p>
          <a:p>
            <a:pPr lvl="1">
              <a:lnSpc>
                <a:spcPct val="70000"/>
              </a:lnSpc>
            </a:pPr>
            <a:r>
              <a:rPr lang="en-US" altLang="en-US" smtClean="0"/>
              <a:t>select a </a:t>
            </a:r>
            <a:r>
              <a:rPr lang="en-US" altLang="en-US" smtClean="0">
                <a:solidFill>
                  <a:srgbClr val="A50021"/>
                </a:solidFill>
              </a:rPr>
              <a:t>pivot</a:t>
            </a:r>
            <a:r>
              <a:rPr lang="en-US" altLang="en-US" smtClean="0"/>
              <a:t> element from out of the </a:t>
            </a:r>
            <a:r>
              <a:rPr lang="en-US" altLang="en-US" i="1" smtClean="0"/>
              <a:t>n</a:t>
            </a:r>
            <a:r>
              <a:rPr lang="en-US" altLang="en-US" smtClean="0"/>
              <a:t> elements</a:t>
            </a:r>
          </a:p>
          <a:p>
            <a:pPr lvl="1">
              <a:lnSpc>
                <a:spcPct val="70000"/>
              </a:lnSpc>
              <a:buFontTx/>
              <a:buNone/>
            </a:pPr>
            <a:endParaRPr lang="en-US" altLang="en-US" smtClean="0"/>
          </a:p>
          <a:p>
            <a:pPr>
              <a:lnSpc>
                <a:spcPct val="79000"/>
              </a:lnSpc>
            </a:pPr>
            <a:r>
              <a:rPr lang="en-US" altLang="en-US" sz="2400" smtClean="0"/>
              <a:t>Partition the </a:t>
            </a:r>
            <a:r>
              <a:rPr lang="en-US" altLang="en-US" sz="2400" i="1" smtClean="0"/>
              <a:t>n</a:t>
            </a:r>
            <a:r>
              <a:rPr lang="en-US" altLang="en-US" sz="2400" smtClean="0"/>
              <a:t> elements into 3 groups </a:t>
            </a:r>
            <a:r>
              <a:rPr lang="en-US" altLang="en-US" sz="2400" smtClean="0">
                <a:solidFill>
                  <a:srgbClr val="A50021"/>
                </a:solidFill>
              </a:rPr>
              <a:t>left</a:t>
            </a:r>
            <a:r>
              <a:rPr lang="en-US" altLang="en-US" sz="2400" smtClean="0"/>
              <a:t>, </a:t>
            </a:r>
            <a:r>
              <a:rPr lang="en-US" altLang="en-US" sz="2400" smtClean="0">
                <a:solidFill>
                  <a:srgbClr val="A50021"/>
                </a:solidFill>
              </a:rPr>
              <a:t>middle</a:t>
            </a:r>
            <a:r>
              <a:rPr lang="en-US" altLang="en-US" sz="2400" smtClean="0"/>
              <a:t> and </a:t>
            </a:r>
            <a:r>
              <a:rPr lang="en-US" altLang="en-US" sz="2400" smtClean="0">
                <a:solidFill>
                  <a:srgbClr val="A50021"/>
                </a:solidFill>
              </a:rPr>
              <a:t>right</a:t>
            </a:r>
          </a:p>
          <a:p>
            <a:pPr lvl="1">
              <a:lnSpc>
                <a:spcPct val="70000"/>
              </a:lnSpc>
            </a:pPr>
            <a:r>
              <a:rPr lang="en-US" altLang="en-US" smtClean="0"/>
              <a:t>The </a:t>
            </a:r>
            <a:r>
              <a:rPr lang="en-US" altLang="en-US" smtClean="0">
                <a:solidFill>
                  <a:srgbClr val="A50021"/>
                </a:solidFill>
              </a:rPr>
              <a:t>middle</a:t>
            </a:r>
            <a:r>
              <a:rPr lang="en-US" altLang="en-US" smtClean="0"/>
              <a:t> group contains only the </a:t>
            </a:r>
            <a:r>
              <a:rPr lang="en-US" altLang="en-US" smtClean="0">
                <a:solidFill>
                  <a:srgbClr val="A50021"/>
                </a:solidFill>
              </a:rPr>
              <a:t>pivot </a:t>
            </a:r>
            <a:r>
              <a:rPr lang="en-US" altLang="en-US" smtClean="0"/>
              <a:t>element</a:t>
            </a:r>
          </a:p>
          <a:p>
            <a:pPr lvl="1">
              <a:lnSpc>
                <a:spcPct val="70000"/>
              </a:lnSpc>
            </a:pPr>
            <a:r>
              <a:rPr lang="en-US" altLang="en-US" smtClean="0"/>
              <a:t>All elements in the </a:t>
            </a:r>
            <a:r>
              <a:rPr lang="en-US" altLang="en-US" smtClean="0">
                <a:solidFill>
                  <a:srgbClr val="A50021"/>
                </a:solidFill>
              </a:rPr>
              <a:t>left </a:t>
            </a:r>
            <a:r>
              <a:rPr lang="en-US" altLang="en-US" smtClean="0"/>
              <a:t>group are </a:t>
            </a:r>
            <a:r>
              <a:rPr lang="en-US" altLang="en-US" smtClean="0">
                <a:cs typeface="Times New Roman" panose="02020603050405020304" pitchFamily="18" charset="0"/>
              </a:rPr>
              <a:t>≤</a:t>
            </a:r>
            <a:r>
              <a:rPr lang="en-US" altLang="en-US" smtClean="0"/>
              <a:t> </a:t>
            </a:r>
            <a:r>
              <a:rPr lang="en-US" altLang="en-US" smtClean="0">
                <a:solidFill>
                  <a:srgbClr val="A50021"/>
                </a:solidFill>
              </a:rPr>
              <a:t>pivot</a:t>
            </a:r>
          </a:p>
          <a:p>
            <a:pPr lvl="1">
              <a:lnSpc>
                <a:spcPct val="70000"/>
              </a:lnSpc>
            </a:pPr>
            <a:r>
              <a:rPr lang="en-US" altLang="en-US" smtClean="0"/>
              <a:t>All elements in the </a:t>
            </a:r>
            <a:r>
              <a:rPr lang="en-US" altLang="en-US" smtClean="0">
                <a:solidFill>
                  <a:srgbClr val="A50021"/>
                </a:solidFill>
              </a:rPr>
              <a:t>right</a:t>
            </a:r>
            <a:r>
              <a:rPr lang="en-US" altLang="en-US" smtClean="0"/>
              <a:t> group are </a:t>
            </a:r>
            <a:r>
              <a:rPr lang="en-US" altLang="en-US" smtClean="0">
                <a:cs typeface="Times New Roman" panose="02020603050405020304" pitchFamily="18" charset="0"/>
              </a:rPr>
              <a:t>≥</a:t>
            </a:r>
            <a:r>
              <a:rPr lang="en-US" altLang="en-US" smtClean="0"/>
              <a:t> </a:t>
            </a:r>
            <a:r>
              <a:rPr lang="en-US" altLang="en-US" smtClean="0">
                <a:solidFill>
                  <a:srgbClr val="A50021"/>
                </a:solidFill>
              </a:rPr>
              <a:t>pivot</a:t>
            </a:r>
          </a:p>
          <a:p>
            <a:pPr lvl="1">
              <a:lnSpc>
                <a:spcPct val="70000"/>
              </a:lnSpc>
              <a:buFontTx/>
              <a:buNone/>
            </a:pPr>
            <a:endParaRPr lang="en-US" altLang="en-US" smtClean="0">
              <a:solidFill>
                <a:srgbClr val="A50021"/>
              </a:solidFill>
            </a:endParaRPr>
          </a:p>
          <a:p>
            <a:pPr>
              <a:lnSpc>
                <a:spcPct val="79000"/>
              </a:lnSpc>
            </a:pPr>
            <a:r>
              <a:rPr lang="en-US" altLang="en-US" sz="2400" smtClean="0"/>
              <a:t>Sort </a:t>
            </a:r>
            <a:r>
              <a:rPr lang="en-US" altLang="en-US" sz="2400" smtClean="0">
                <a:solidFill>
                  <a:srgbClr val="A50021"/>
                </a:solidFill>
              </a:rPr>
              <a:t>left </a:t>
            </a:r>
            <a:r>
              <a:rPr lang="en-US" altLang="en-US" sz="2400" smtClean="0"/>
              <a:t>and </a:t>
            </a:r>
            <a:r>
              <a:rPr lang="en-US" altLang="en-US" sz="2400" smtClean="0">
                <a:solidFill>
                  <a:srgbClr val="A50021"/>
                </a:solidFill>
              </a:rPr>
              <a:t>right</a:t>
            </a:r>
            <a:r>
              <a:rPr lang="en-US" altLang="en-US" sz="2400" smtClean="0"/>
              <a:t> groups recursively</a:t>
            </a:r>
          </a:p>
          <a:p>
            <a:pPr>
              <a:lnSpc>
                <a:spcPct val="79000"/>
              </a:lnSpc>
            </a:pPr>
            <a:endParaRPr lang="en-US" altLang="en-US" sz="2400" smtClean="0"/>
          </a:p>
          <a:p>
            <a:pPr>
              <a:lnSpc>
                <a:spcPct val="79000"/>
              </a:lnSpc>
            </a:pPr>
            <a:r>
              <a:rPr lang="en-US" altLang="en-US" sz="2400" smtClean="0"/>
              <a:t>Answer is sorted</a:t>
            </a:r>
            <a:r>
              <a:rPr lang="en-US" altLang="en-US" sz="2400" smtClean="0">
                <a:solidFill>
                  <a:srgbClr val="FF3300"/>
                </a:solidFill>
              </a:rPr>
              <a:t> </a:t>
            </a:r>
            <a:r>
              <a:rPr lang="en-US" altLang="en-US" sz="2400" smtClean="0">
                <a:solidFill>
                  <a:srgbClr val="A50021"/>
                </a:solidFill>
              </a:rPr>
              <a:t>left</a:t>
            </a:r>
            <a:r>
              <a:rPr lang="en-US" altLang="en-US" sz="2400" smtClean="0"/>
              <a:t> group, followed by </a:t>
            </a:r>
            <a:r>
              <a:rPr lang="en-US" altLang="en-US" sz="2400" smtClean="0">
                <a:solidFill>
                  <a:srgbClr val="A50021"/>
                </a:solidFill>
              </a:rPr>
              <a:t>middle</a:t>
            </a:r>
            <a:r>
              <a:rPr lang="en-US" altLang="en-US" sz="2400" smtClean="0"/>
              <a:t> group followed by sorted</a:t>
            </a:r>
            <a:r>
              <a:rPr lang="en-US" altLang="en-US" sz="2400" smtClean="0">
                <a:solidFill>
                  <a:srgbClr val="FF3300"/>
                </a:solidFill>
              </a:rPr>
              <a:t> </a:t>
            </a:r>
            <a:r>
              <a:rPr lang="en-US" altLang="en-US" sz="2400" smtClean="0">
                <a:solidFill>
                  <a:srgbClr val="A50021"/>
                </a:solidFill>
              </a:rPr>
              <a:t>right </a:t>
            </a:r>
            <a:r>
              <a:rPr lang="en-US" altLang="en-US" sz="2400" smtClean="0"/>
              <a:t>group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Quicksort Code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79525"/>
            <a:ext cx="8229600" cy="51022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P: first element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r: last element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Quicksort(A, p, r)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if (p &lt; r)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{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q = Partition(A, p, r)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Quicksort(A, p	, q-1)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Quicksort(A, q+1	, r)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}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}</a:t>
            </a:r>
          </a:p>
          <a:p>
            <a:pPr>
              <a:buFontTx/>
              <a:buNone/>
            </a:pPr>
            <a:endParaRPr lang="en-US" altLang="en-US" sz="2000" smtClean="0">
              <a:latin typeface="Courier New" panose="02070309020205020404" pitchFamily="49" charset="0"/>
            </a:endParaRPr>
          </a:p>
          <a:p>
            <a:r>
              <a:rPr lang="en-US" altLang="en-US" sz="2000" smtClean="0">
                <a:cs typeface="Times New Roman" panose="02020603050405020304" pitchFamily="18" charset="0"/>
              </a:rPr>
              <a:t>Initial call is Quicksort(</a:t>
            </a:r>
            <a:r>
              <a:rPr lang="en-US" altLang="en-US" sz="2000" i="1" smtClean="0">
                <a:cs typeface="Times New Roman" panose="02020603050405020304" pitchFamily="18" charset="0"/>
              </a:rPr>
              <a:t>A</a:t>
            </a:r>
            <a:r>
              <a:rPr lang="en-US" altLang="en-US" sz="2000" smtClean="0">
                <a:cs typeface="Times New Roman" panose="02020603050405020304" pitchFamily="18" charset="0"/>
              </a:rPr>
              <a:t>, 1, </a:t>
            </a:r>
            <a:r>
              <a:rPr lang="en-US" altLang="en-US" sz="2000" i="1" smtClean="0">
                <a:cs typeface="Times New Roman" panose="02020603050405020304" pitchFamily="18" charset="0"/>
              </a:rPr>
              <a:t>n</a:t>
            </a:r>
            <a:r>
              <a:rPr lang="en-US" altLang="en-US" sz="2000" smtClean="0">
                <a:cs typeface="Times New Roman" panose="02020603050405020304" pitchFamily="18" charset="0"/>
              </a:rPr>
              <a:t>), where </a:t>
            </a:r>
            <a:r>
              <a:rPr lang="en-US" altLang="en-US" sz="2000" i="1" smtClean="0">
                <a:cs typeface="Times New Roman" panose="02020603050405020304" pitchFamily="18" charset="0"/>
              </a:rPr>
              <a:t>n</a:t>
            </a:r>
            <a:r>
              <a:rPr lang="en-US" altLang="en-US" sz="2000" smtClean="0">
                <a:cs typeface="Times New Roman" panose="02020603050405020304" pitchFamily="18" charset="0"/>
              </a:rPr>
              <a:t> in the length of </a:t>
            </a:r>
            <a:r>
              <a:rPr lang="en-US" altLang="en-US" sz="2000" i="1" smtClean="0">
                <a:cs typeface="Times New Roman" panose="02020603050405020304" pitchFamily="18" charset="0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Partition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Clearly, all the action takes place in the </a:t>
            </a:r>
            <a:r>
              <a:rPr lang="en-US" altLang="en-US" smtClean="0">
                <a:latin typeface="Courier New" panose="02070309020205020404" pitchFamily="49" charset="0"/>
              </a:rPr>
              <a:t>partition()</a:t>
            </a:r>
            <a:r>
              <a:rPr lang="en-US" altLang="en-US" smtClean="0"/>
              <a:t> function</a:t>
            </a:r>
          </a:p>
          <a:p>
            <a:pPr lvl="1"/>
            <a:r>
              <a:rPr lang="en-US" altLang="en-US" smtClean="0"/>
              <a:t>Rearranges the subarray in place</a:t>
            </a:r>
          </a:p>
          <a:p>
            <a:pPr lvl="1"/>
            <a:r>
              <a:rPr lang="en-US" altLang="en-US" smtClean="0"/>
              <a:t>End result: </a:t>
            </a:r>
          </a:p>
          <a:p>
            <a:pPr lvl="2"/>
            <a:r>
              <a:rPr lang="en-US" altLang="en-US" smtClean="0">
                <a:solidFill>
                  <a:srgbClr val="A50021"/>
                </a:solidFill>
              </a:rPr>
              <a:t>Two subarrays</a:t>
            </a:r>
          </a:p>
          <a:p>
            <a:pPr lvl="2"/>
            <a:r>
              <a:rPr lang="en-US" altLang="en-US" smtClean="0">
                <a:solidFill>
                  <a:srgbClr val="A50021"/>
                </a:solidFill>
              </a:rPr>
              <a:t>All values in first subarray </a:t>
            </a:r>
            <a:r>
              <a:rPr lang="en-US" altLang="en-US" smtClean="0">
                <a:solidFill>
                  <a:srgbClr val="A50021"/>
                </a:solidFill>
                <a:sym typeface="Symbol" panose="05050102010706020507" pitchFamily="18" charset="2"/>
              </a:rPr>
              <a:t> all values in second</a:t>
            </a:r>
          </a:p>
          <a:p>
            <a:pPr lvl="1"/>
            <a:r>
              <a:rPr lang="en-US" altLang="en-US" smtClean="0"/>
              <a:t>Returns the index of the “pivot” element separating the two subarrays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1143000"/>
          </a:xfrm>
        </p:spPr>
        <p:txBody>
          <a:bodyPr/>
          <a:lstStyle/>
          <a:p>
            <a:r>
              <a:rPr lang="en-US" altLang="en-US" smtClean="0"/>
              <a:t>Partition Code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90805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Partition(A, p, r)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x = A[r]		// x is pivot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i = p - 1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	  for j = p to r </a:t>
            </a:r>
            <a:r>
              <a:rPr lang="en-US" altLang="en-US" sz="2000" smtClean="0"/>
              <a:t>–</a:t>
            </a:r>
            <a:r>
              <a:rPr lang="en-US" altLang="en-US" sz="2000" smtClean="0">
                <a:latin typeface="Courier New" panose="02070309020205020404" pitchFamily="49" charset="0"/>
              </a:rPr>
              <a:t> 1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	  {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do if A[j] &lt;= x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    	then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			{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			  i = i + 1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			  exchange A[i] </a:t>
            </a:r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 </a:t>
            </a:r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A[j]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			}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	  }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exchange A[i+1] </a:t>
            </a:r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</a:t>
            </a:r>
            <a:r>
              <a:rPr lang="en-US" altLang="en-US" sz="2000" smtClean="0">
                <a:latin typeface="Courier New" panose="02070309020205020404" pitchFamily="49" charset="0"/>
              </a:rPr>
              <a:t> A[r] 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    return i+1</a:t>
            </a:r>
          </a:p>
          <a:p>
            <a:pPr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4343400" y="5410200"/>
            <a:ext cx="3860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 i="1">
                <a:solidFill>
                  <a:srgbClr val="A50021"/>
                </a:solidFill>
                <a:latin typeface="Courier New" panose="02070309020205020404" pitchFamily="49" charset="0"/>
              </a:rPr>
              <a:t>partition()</a:t>
            </a:r>
            <a:r>
              <a:rPr lang="en-US" altLang="en-US" sz="2000" i="1">
                <a:solidFill>
                  <a:srgbClr val="A50021"/>
                </a:solidFill>
                <a:latin typeface="Times New Roman" panose="02020603050405020304" pitchFamily="18" charset="0"/>
              </a:rPr>
              <a:t> runs in O(n)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Partition Example</a:t>
            </a:r>
            <a:br>
              <a:rPr lang="en-US" altLang="en-US" smtClean="0"/>
            </a:br>
            <a:r>
              <a:rPr lang="en-US" altLang="en-US" smtClean="0">
                <a:cs typeface="Times New Roman" panose="02020603050405020304" pitchFamily="18" charset="0"/>
              </a:rPr>
              <a:t>A = {2, 8, 7, 1, 3, 5, 6, 4}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1143000" y="3008313"/>
            <a:ext cx="457200" cy="533400"/>
          </a:xfrm>
          <a:prstGeom prst="rect">
            <a:avLst/>
          </a:prstGeom>
          <a:solidFill>
            <a:srgbClr val="969696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685800" y="1941513"/>
            <a:ext cx="3429000" cy="5191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2 8 7 1 3 5 6 </a:t>
            </a:r>
            <a:r>
              <a:rPr 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  <a:endParaRPr lang="en-US" sz="2800" b="1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11430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16002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19812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23622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28194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32004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3657600" y="19415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609600" y="19415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>
            <a:off x="609600" y="24749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>
            <a:off x="609600" y="19415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15" name="Line 15"/>
          <p:cNvSpPr>
            <a:spLocks noChangeShapeType="1"/>
          </p:cNvSpPr>
          <p:nvPr/>
        </p:nvSpPr>
        <p:spPr bwMode="auto">
          <a:xfrm>
            <a:off x="40386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16" name="Text Box 16"/>
          <p:cNvSpPr txBox="1">
            <a:spLocks noChangeArrowheads="1"/>
          </p:cNvSpPr>
          <p:nvPr/>
        </p:nvSpPr>
        <p:spPr bwMode="auto">
          <a:xfrm>
            <a:off x="3733800" y="15605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5617" name="Text Box 17"/>
          <p:cNvSpPr txBox="1">
            <a:spLocks noChangeArrowheads="1"/>
          </p:cNvSpPr>
          <p:nvPr/>
        </p:nvSpPr>
        <p:spPr bwMode="auto">
          <a:xfrm>
            <a:off x="609600" y="15605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p j</a:t>
            </a:r>
          </a:p>
        </p:txBody>
      </p:sp>
      <p:sp>
        <p:nvSpPr>
          <p:cNvPr id="25618" name="Text Box 18"/>
          <p:cNvSpPr txBox="1">
            <a:spLocks noChangeArrowheads="1"/>
          </p:cNvSpPr>
          <p:nvPr/>
        </p:nvSpPr>
        <p:spPr bwMode="auto">
          <a:xfrm>
            <a:off x="228600" y="15605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5181600" y="1941513"/>
            <a:ext cx="3429000" cy="5191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2 8 7 1 3 5 6 </a:t>
            </a:r>
            <a:r>
              <a:rPr 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  <a:endParaRPr lang="en-US" sz="2800" b="1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5620" name="Line 20"/>
          <p:cNvSpPr>
            <a:spLocks noChangeShapeType="1"/>
          </p:cNvSpPr>
          <p:nvPr/>
        </p:nvSpPr>
        <p:spPr bwMode="auto">
          <a:xfrm>
            <a:off x="5638800" y="19415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>
            <a:off x="60960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22" name="Line 22"/>
          <p:cNvSpPr>
            <a:spLocks noChangeShapeType="1"/>
          </p:cNvSpPr>
          <p:nvPr/>
        </p:nvSpPr>
        <p:spPr bwMode="auto">
          <a:xfrm>
            <a:off x="64770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>
            <a:off x="68580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24" name="Line 24"/>
          <p:cNvSpPr>
            <a:spLocks noChangeShapeType="1"/>
          </p:cNvSpPr>
          <p:nvPr/>
        </p:nvSpPr>
        <p:spPr bwMode="auto">
          <a:xfrm>
            <a:off x="73152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>
            <a:off x="76962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>
            <a:off x="8153400" y="19415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27" name="Line 27"/>
          <p:cNvSpPr>
            <a:spLocks noChangeShapeType="1"/>
          </p:cNvSpPr>
          <p:nvPr/>
        </p:nvSpPr>
        <p:spPr bwMode="auto">
          <a:xfrm>
            <a:off x="5105400" y="19415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28" name="Line 28"/>
          <p:cNvSpPr>
            <a:spLocks noChangeShapeType="1"/>
          </p:cNvSpPr>
          <p:nvPr/>
        </p:nvSpPr>
        <p:spPr bwMode="auto">
          <a:xfrm>
            <a:off x="5105400" y="24749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29" name="Line 29"/>
          <p:cNvSpPr>
            <a:spLocks noChangeShapeType="1"/>
          </p:cNvSpPr>
          <p:nvPr/>
        </p:nvSpPr>
        <p:spPr bwMode="auto">
          <a:xfrm>
            <a:off x="5105400" y="19415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30" name="Line 30"/>
          <p:cNvSpPr>
            <a:spLocks noChangeShapeType="1"/>
          </p:cNvSpPr>
          <p:nvPr/>
        </p:nvSpPr>
        <p:spPr bwMode="auto">
          <a:xfrm>
            <a:off x="8534400" y="19415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31" name="Text Box 31"/>
          <p:cNvSpPr txBox="1">
            <a:spLocks noChangeArrowheads="1"/>
          </p:cNvSpPr>
          <p:nvPr/>
        </p:nvSpPr>
        <p:spPr bwMode="auto">
          <a:xfrm>
            <a:off x="8229600" y="15605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5632" name="Text Box 32"/>
          <p:cNvSpPr txBox="1">
            <a:spLocks noChangeArrowheads="1"/>
          </p:cNvSpPr>
          <p:nvPr/>
        </p:nvSpPr>
        <p:spPr bwMode="auto">
          <a:xfrm>
            <a:off x="5105400" y="15605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p i</a:t>
            </a:r>
          </a:p>
        </p:txBody>
      </p:sp>
      <p:sp>
        <p:nvSpPr>
          <p:cNvPr id="25633" name="Text Box 33"/>
          <p:cNvSpPr txBox="1">
            <a:spLocks noChangeArrowheads="1"/>
          </p:cNvSpPr>
          <p:nvPr/>
        </p:nvSpPr>
        <p:spPr bwMode="auto">
          <a:xfrm>
            <a:off x="5715000" y="15605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25634" name="Line 34"/>
          <p:cNvSpPr>
            <a:spLocks noChangeShapeType="1"/>
          </p:cNvSpPr>
          <p:nvPr/>
        </p:nvSpPr>
        <p:spPr bwMode="auto">
          <a:xfrm>
            <a:off x="1143000" y="3008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35" name="Line 35"/>
          <p:cNvSpPr>
            <a:spLocks noChangeShapeType="1"/>
          </p:cNvSpPr>
          <p:nvPr/>
        </p:nvSpPr>
        <p:spPr bwMode="auto">
          <a:xfrm>
            <a:off x="1600200" y="3008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36" name="Line 36"/>
          <p:cNvSpPr>
            <a:spLocks noChangeShapeType="1"/>
          </p:cNvSpPr>
          <p:nvPr/>
        </p:nvSpPr>
        <p:spPr bwMode="auto">
          <a:xfrm>
            <a:off x="1981200" y="3008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37" name="Line 37"/>
          <p:cNvSpPr>
            <a:spLocks noChangeShapeType="1"/>
          </p:cNvSpPr>
          <p:nvPr/>
        </p:nvSpPr>
        <p:spPr bwMode="auto">
          <a:xfrm>
            <a:off x="2362200" y="3008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38" name="Line 38"/>
          <p:cNvSpPr>
            <a:spLocks noChangeShapeType="1"/>
          </p:cNvSpPr>
          <p:nvPr/>
        </p:nvSpPr>
        <p:spPr bwMode="auto">
          <a:xfrm>
            <a:off x="2819400" y="3008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39" name="Line 39"/>
          <p:cNvSpPr>
            <a:spLocks noChangeShapeType="1"/>
          </p:cNvSpPr>
          <p:nvPr/>
        </p:nvSpPr>
        <p:spPr bwMode="auto">
          <a:xfrm>
            <a:off x="3200400" y="3008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40" name="Line 40"/>
          <p:cNvSpPr>
            <a:spLocks noChangeShapeType="1"/>
          </p:cNvSpPr>
          <p:nvPr/>
        </p:nvSpPr>
        <p:spPr bwMode="auto">
          <a:xfrm>
            <a:off x="3657600" y="3008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41" name="Line 41"/>
          <p:cNvSpPr>
            <a:spLocks noChangeShapeType="1"/>
          </p:cNvSpPr>
          <p:nvPr/>
        </p:nvSpPr>
        <p:spPr bwMode="auto">
          <a:xfrm>
            <a:off x="609600" y="30083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42" name="Line 42"/>
          <p:cNvSpPr>
            <a:spLocks noChangeShapeType="1"/>
          </p:cNvSpPr>
          <p:nvPr/>
        </p:nvSpPr>
        <p:spPr bwMode="auto">
          <a:xfrm>
            <a:off x="609600" y="35417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43" name="Line 43"/>
          <p:cNvSpPr>
            <a:spLocks noChangeShapeType="1"/>
          </p:cNvSpPr>
          <p:nvPr/>
        </p:nvSpPr>
        <p:spPr bwMode="auto">
          <a:xfrm>
            <a:off x="609600" y="3008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44" name="Line 44"/>
          <p:cNvSpPr>
            <a:spLocks noChangeShapeType="1"/>
          </p:cNvSpPr>
          <p:nvPr/>
        </p:nvSpPr>
        <p:spPr bwMode="auto">
          <a:xfrm>
            <a:off x="4038600" y="3008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45" name="Text Box 45"/>
          <p:cNvSpPr txBox="1">
            <a:spLocks noChangeArrowheads="1"/>
          </p:cNvSpPr>
          <p:nvPr/>
        </p:nvSpPr>
        <p:spPr bwMode="auto">
          <a:xfrm>
            <a:off x="3733800" y="26273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5646" name="Text Box 46"/>
          <p:cNvSpPr txBox="1">
            <a:spLocks noChangeArrowheads="1"/>
          </p:cNvSpPr>
          <p:nvPr/>
        </p:nvSpPr>
        <p:spPr bwMode="auto">
          <a:xfrm>
            <a:off x="609600" y="26273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p i</a:t>
            </a:r>
          </a:p>
        </p:txBody>
      </p:sp>
      <p:sp>
        <p:nvSpPr>
          <p:cNvPr id="25647" name="Text Box 47"/>
          <p:cNvSpPr txBox="1">
            <a:spLocks noChangeArrowheads="1"/>
          </p:cNvSpPr>
          <p:nvPr/>
        </p:nvSpPr>
        <p:spPr bwMode="auto">
          <a:xfrm>
            <a:off x="1600200" y="26273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16432" name="Text Box 48"/>
          <p:cNvSpPr txBox="1">
            <a:spLocks noChangeArrowheads="1"/>
          </p:cNvSpPr>
          <p:nvPr/>
        </p:nvSpPr>
        <p:spPr bwMode="auto">
          <a:xfrm>
            <a:off x="685800" y="3008313"/>
            <a:ext cx="3429000" cy="5191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2 8 7 1 3 5 6 </a:t>
            </a:r>
            <a:r>
              <a:rPr 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  <a:endParaRPr lang="en-US" sz="2800" b="1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5649" name="Rectangle 49"/>
          <p:cNvSpPr>
            <a:spLocks noChangeArrowheads="1"/>
          </p:cNvSpPr>
          <p:nvPr/>
        </p:nvSpPr>
        <p:spPr bwMode="auto">
          <a:xfrm>
            <a:off x="5638800" y="3008313"/>
            <a:ext cx="457200" cy="533400"/>
          </a:xfrm>
          <a:prstGeom prst="rect">
            <a:avLst/>
          </a:prstGeom>
          <a:solidFill>
            <a:srgbClr val="969696"/>
          </a:solidFill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5650" name="Line 50"/>
          <p:cNvSpPr>
            <a:spLocks noChangeShapeType="1"/>
          </p:cNvSpPr>
          <p:nvPr/>
        </p:nvSpPr>
        <p:spPr bwMode="auto">
          <a:xfrm>
            <a:off x="5638800" y="3008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51" name="Line 51"/>
          <p:cNvSpPr>
            <a:spLocks noChangeShapeType="1"/>
          </p:cNvSpPr>
          <p:nvPr/>
        </p:nvSpPr>
        <p:spPr bwMode="auto">
          <a:xfrm>
            <a:off x="6096000" y="3008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52" name="Line 52"/>
          <p:cNvSpPr>
            <a:spLocks noChangeShapeType="1"/>
          </p:cNvSpPr>
          <p:nvPr/>
        </p:nvSpPr>
        <p:spPr bwMode="auto">
          <a:xfrm>
            <a:off x="6477000" y="3008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53" name="Line 53"/>
          <p:cNvSpPr>
            <a:spLocks noChangeShapeType="1"/>
          </p:cNvSpPr>
          <p:nvPr/>
        </p:nvSpPr>
        <p:spPr bwMode="auto">
          <a:xfrm>
            <a:off x="6858000" y="3008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54" name="Line 54"/>
          <p:cNvSpPr>
            <a:spLocks noChangeShapeType="1"/>
          </p:cNvSpPr>
          <p:nvPr/>
        </p:nvSpPr>
        <p:spPr bwMode="auto">
          <a:xfrm>
            <a:off x="7315200" y="3008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55" name="Line 55"/>
          <p:cNvSpPr>
            <a:spLocks noChangeShapeType="1"/>
          </p:cNvSpPr>
          <p:nvPr/>
        </p:nvSpPr>
        <p:spPr bwMode="auto">
          <a:xfrm>
            <a:off x="7696200" y="3008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56" name="Line 56"/>
          <p:cNvSpPr>
            <a:spLocks noChangeShapeType="1"/>
          </p:cNvSpPr>
          <p:nvPr/>
        </p:nvSpPr>
        <p:spPr bwMode="auto">
          <a:xfrm>
            <a:off x="8153400" y="3008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57" name="Line 57"/>
          <p:cNvSpPr>
            <a:spLocks noChangeShapeType="1"/>
          </p:cNvSpPr>
          <p:nvPr/>
        </p:nvSpPr>
        <p:spPr bwMode="auto">
          <a:xfrm>
            <a:off x="5105400" y="30083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58" name="Line 58"/>
          <p:cNvSpPr>
            <a:spLocks noChangeShapeType="1"/>
          </p:cNvSpPr>
          <p:nvPr/>
        </p:nvSpPr>
        <p:spPr bwMode="auto">
          <a:xfrm>
            <a:off x="5105400" y="35417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59" name="Line 59"/>
          <p:cNvSpPr>
            <a:spLocks noChangeShapeType="1"/>
          </p:cNvSpPr>
          <p:nvPr/>
        </p:nvSpPr>
        <p:spPr bwMode="auto">
          <a:xfrm>
            <a:off x="5105400" y="3008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60" name="Line 60"/>
          <p:cNvSpPr>
            <a:spLocks noChangeShapeType="1"/>
          </p:cNvSpPr>
          <p:nvPr/>
        </p:nvSpPr>
        <p:spPr bwMode="auto">
          <a:xfrm>
            <a:off x="8534400" y="3008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61" name="Text Box 61"/>
          <p:cNvSpPr txBox="1">
            <a:spLocks noChangeArrowheads="1"/>
          </p:cNvSpPr>
          <p:nvPr/>
        </p:nvSpPr>
        <p:spPr bwMode="auto">
          <a:xfrm>
            <a:off x="8229600" y="26273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5662" name="Text Box 62"/>
          <p:cNvSpPr txBox="1">
            <a:spLocks noChangeArrowheads="1"/>
          </p:cNvSpPr>
          <p:nvPr/>
        </p:nvSpPr>
        <p:spPr bwMode="auto">
          <a:xfrm>
            <a:off x="5105400" y="26273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p i</a:t>
            </a:r>
          </a:p>
        </p:txBody>
      </p:sp>
      <p:sp>
        <p:nvSpPr>
          <p:cNvPr id="25663" name="Text Box 63"/>
          <p:cNvSpPr txBox="1">
            <a:spLocks noChangeArrowheads="1"/>
          </p:cNvSpPr>
          <p:nvPr/>
        </p:nvSpPr>
        <p:spPr bwMode="auto">
          <a:xfrm>
            <a:off x="6477000" y="26273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16448" name="Text Box 64"/>
          <p:cNvSpPr txBox="1">
            <a:spLocks noChangeArrowheads="1"/>
          </p:cNvSpPr>
          <p:nvPr/>
        </p:nvSpPr>
        <p:spPr bwMode="auto">
          <a:xfrm>
            <a:off x="5638800" y="30083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8</a:t>
            </a:r>
          </a:p>
        </p:txBody>
      </p:sp>
      <p:sp>
        <p:nvSpPr>
          <p:cNvPr id="16449" name="Text Box 65"/>
          <p:cNvSpPr txBox="1">
            <a:spLocks noChangeArrowheads="1"/>
          </p:cNvSpPr>
          <p:nvPr/>
        </p:nvSpPr>
        <p:spPr bwMode="auto">
          <a:xfrm>
            <a:off x="5105400" y="3022600"/>
            <a:ext cx="533400" cy="519113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450" name="Text Box 66"/>
          <p:cNvSpPr txBox="1">
            <a:spLocks noChangeArrowheads="1"/>
          </p:cNvSpPr>
          <p:nvPr/>
        </p:nvSpPr>
        <p:spPr bwMode="auto">
          <a:xfrm>
            <a:off x="6096000" y="3022600"/>
            <a:ext cx="3810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7</a:t>
            </a:r>
          </a:p>
        </p:txBody>
      </p:sp>
      <p:sp>
        <p:nvSpPr>
          <p:cNvPr id="16451" name="Text Box 67"/>
          <p:cNvSpPr txBox="1">
            <a:spLocks noChangeArrowheads="1"/>
          </p:cNvSpPr>
          <p:nvPr/>
        </p:nvSpPr>
        <p:spPr bwMode="auto">
          <a:xfrm>
            <a:off x="6477000" y="3008313"/>
            <a:ext cx="4572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16452" name="Text Box 68"/>
          <p:cNvSpPr txBox="1">
            <a:spLocks noChangeArrowheads="1"/>
          </p:cNvSpPr>
          <p:nvPr/>
        </p:nvSpPr>
        <p:spPr bwMode="auto">
          <a:xfrm>
            <a:off x="6858000" y="3008313"/>
            <a:ext cx="4572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16453" name="Text Box 69"/>
          <p:cNvSpPr txBox="1">
            <a:spLocks noChangeArrowheads="1"/>
          </p:cNvSpPr>
          <p:nvPr/>
        </p:nvSpPr>
        <p:spPr bwMode="auto">
          <a:xfrm>
            <a:off x="7315200" y="30083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5</a:t>
            </a:r>
          </a:p>
        </p:txBody>
      </p:sp>
      <p:sp>
        <p:nvSpPr>
          <p:cNvPr id="16454" name="Text Box 70"/>
          <p:cNvSpPr txBox="1">
            <a:spLocks noChangeArrowheads="1"/>
          </p:cNvSpPr>
          <p:nvPr/>
        </p:nvSpPr>
        <p:spPr bwMode="auto">
          <a:xfrm>
            <a:off x="7696200" y="30083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6</a:t>
            </a:r>
          </a:p>
        </p:txBody>
      </p:sp>
      <p:sp>
        <p:nvSpPr>
          <p:cNvPr id="16455" name="Text Box 71"/>
          <p:cNvSpPr txBox="1">
            <a:spLocks noChangeArrowheads="1"/>
          </p:cNvSpPr>
          <p:nvPr/>
        </p:nvSpPr>
        <p:spPr bwMode="auto">
          <a:xfrm>
            <a:off x="8153400" y="30083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</a:p>
        </p:txBody>
      </p:sp>
      <p:sp>
        <p:nvSpPr>
          <p:cNvPr id="25672" name="Line 72"/>
          <p:cNvSpPr>
            <a:spLocks noChangeShapeType="1"/>
          </p:cNvSpPr>
          <p:nvPr/>
        </p:nvSpPr>
        <p:spPr bwMode="auto">
          <a:xfrm>
            <a:off x="1600200" y="4151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73" name="Line 73"/>
          <p:cNvSpPr>
            <a:spLocks noChangeShapeType="1"/>
          </p:cNvSpPr>
          <p:nvPr/>
        </p:nvSpPr>
        <p:spPr bwMode="auto">
          <a:xfrm>
            <a:off x="1981200" y="4151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74" name="Line 74"/>
          <p:cNvSpPr>
            <a:spLocks noChangeShapeType="1"/>
          </p:cNvSpPr>
          <p:nvPr/>
        </p:nvSpPr>
        <p:spPr bwMode="auto">
          <a:xfrm>
            <a:off x="2362200" y="4151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75" name="Line 75"/>
          <p:cNvSpPr>
            <a:spLocks noChangeShapeType="1"/>
          </p:cNvSpPr>
          <p:nvPr/>
        </p:nvSpPr>
        <p:spPr bwMode="auto">
          <a:xfrm>
            <a:off x="2819400" y="4151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76" name="Line 76"/>
          <p:cNvSpPr>
            <a:spLocks noChangeShapeType="1"/>
          </p:cNvSpPr>
          <p:nvPr/>
        </p:nvSpPr>
        <p:spPr bwMode="auto">
          <a:xfrm>
            <a:off x="3200400" y="4151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77" name="Line 77"/>
          <p:cNvSpPr>
            <a:spLocks noChangeShapeType="1"/>
          </p:cNvSpPr>
          <p:nvPr/>
        </p:nvSpPr>
        <p:spPr bwMode="auto">
          <a:xfrm>
            <a:off x="3657600" y="4151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78" name="Line 78"/>
          <p:cNvSpPr>
            <a:spLocks noChangeShapeType="1"/>
          </p:cNvSpPr>
          <p:nvPr/>
        </p:nvSpPr>
        <p:spPr bwMode="auto">
          <a:xfrm>
            <a:off x="609600" y="41513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79" name="Line 79"/>
          <p:cNvSpPr>
            <a:spLocks noChangeShapeType="1"/>
          </p:cNvSpPr>
          <p:nvPr/>
        </p:nvSpPr>
        <p:spPr bwMode="auto">
          <a:xfrm>
            <a:off x="609600" y="46847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80" name="Line 80"/>
          <p:cNvSpPr>
            <a:spLocks noChangeShapeType="1"/>
          </p:cNvSpPr>
          <p:nvPr/>
        </p:nvSpPr>
        <p:spPr bwMode="auto">
          <a:xfrm>
            <a:off x="609600" y="4151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81" name="Line 81"/>
          <p:cNvSpPr>
            <a:spLocks noChangeShapeType="1"/>
          </p:cNvSpPr>
          <p:nvPr/>
        </p:nvSpPr>
        <p:spPr bwMode="auto">
          <a:xfrm>
            <a:off x="4038600" y="4151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82" name="Text Box 82"/>
          <p:cNvSpPr txBox="1">
            <a:spLocks noChangeArrowheads="1"/>
          </p:cNvSpPr>
          <p:nvPr/>
        </p:nvSpPr>
        <p:spPr bwMode="auto">
          <a:xfrm>
            <a:off x="3733800" y="37703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5683" name="Text Box 83"/>
          <p:cNvSpPr txBox="1">
            <a:spLocks noChangeArrowheads="1"/>
          </p:cNvSpPr>
          <p:nvPr/>
        </p:nvSpPr>
        <p:spPr bwMode="auto">
          <a:xfrm>
            <a:off x="609600" y="37703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25684" name="Text Box 84"/>
          <p:cNvSpPr txBox="1">
            <a:spLocks noChangeArrowheads="1"/>
          </p:cNvSpPr>
          <p:nvPr/>
        </p:nvSpPr>
        <p:spPr bwMode="auto">
          <a:xfrm>
            <a:off x="2438400" y="37703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16469" name="Text Box 85"/>
          <p:cNvSpPr txBox="1">
            <a:spLocks noChangeArrowheads="1"/>
          </p:cNvSpPr>
          <p:nvPr/>
        </p:nvSpPr>
        <p:spPr bwMode="auto">
          <a:xfrm>
            <a:off x="1143000" y="4151313"/>
            <a:ext cx="4572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16470" name="Text Box 86"/>
          <p:cNvSpPr txBox="1">
            <a:spLocks noChangeArrowheads="1"/>
          </p:cNvSpPr>
          <p:nvPr/>
        </p:nvSpPr>
        <p:spPr bwMode="auto">
          <a:xfrm>
            <a:off x="609600" y="4151313"/>
            <a:ext cx="5334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471" name="Text Box 87"/>
          <p:cNvSpPr txBox="1">
            <a:spLocks noChangeArrowheads="1"/>
          </p:cNvSpPr>
          <p:nvPr/>
        </p:nvSpPr>
        <p:spPr bwMode="auto">
          <a:xfrm>
            <a:off x="1600200" y="4165600"/>
            <a:ext cx="3810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7</a:t>
            </a:r>
          </a:p>
        </p:txBody>
      </p:sp>
      <p:sp>
        <p:nvSpPr>
          <p:cNvPr id="16472" name="Text Box 88"/>
          <p:cNvSpPr txBox="1">
            <a:spLocks noChangeArrowheads="1"/>
          </p:cNvSpPr>
          <p:nvPr/>
        </p:nvSpPr>
        <p:spPr bwMode="auto">
          <a:xfrm>
            <a:off x="1981200" y="4165600"/>
            <a:ext cx="3810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8</a:t>
            </a:r>
          </a:p>
        </p:txBody>
      </p:sp>
      <p:sp>
        <p:nvSpPr>
          <p:cNvPr id="16473" name="Text Box 89"/>
          <p:cNvSpPr txBox="1">
            <a:spLocks noChangeArrowheads="1"/>
          </p:cNvSpPr>
          <p:nvPr/>
        </p:nvSpPr>
        <p:spPr bwMode="auto">
          <a:xfrm>
            <a:off x="2362200" y="4151313"/>
            <a:ext cx="4572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16474" name="Text Box 90"/>
          <p:cNvSpPr txBox="1">
            <a:spLocks noChangeArrowheads="1"/>
          </p:cNvSpPr>
          <p:nvPr/>
        </p:nvSpPr>
        <p:spPr bwMode="auto">
          <a:xfrm>
            <a:off x="2819400" y="41513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5</a:t>
            </a:r>
          </a:p>
        </p:txBody>
      </p:sp>
      <p:sp>
        <p:nvSpPr>
          <p:cNvPr id="16475" name="Text Box 91"/>
          <p:cNvSpPr txBox="1">
            <a:spLocks noChangeArrowheads="1"/>
          </p:cNvSpPr>
          <p:nvPr/>
        </p:nvSpPr>
        <p:spPr bwMode="auto">
          <a:xfrm>
            <a:off x="3200400" y="41513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6</a:t>
            </a:r>
          </a:p>
        </p:txBody>
      </p:sp>
      <p:sp>
        <p:nvSpPr>
          <p:cNvPr id="16476" name="Text Box 92"/>
          <p:cNvSpPr txBox="1">
            <a:spLocks noChangeArrowheads="1"/>
          </p:cNvSpPr>
          <p:nvPr/>
        </p:nvSpPr>
        <p:spPr bwMode="auto">
          <a:xfrm>
            <a:off x="3657600" y="41513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</a:p>
        </p:txBody>
      </p:sp>
      <p:sp>
        <p:nvSpPr>
          <p:cNvPr id="25693" name="Line 93"/>
          <p:cNvSpPr>
            <a:spLocks noChangeShapeType="1"/>
          </p:cNvSpPr>
          <p:nvPr/>
        </p:nvSpPr>
        <p:spPr bwMode="auto">
          <a:xfrm>
            <a:off x="1600200" y="4151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94" name="Line 94"/>
          <p:cNvSpPr>
            <a:spLocks noChangeShapeType="1"/>
          </p:cNvSpPr>
          <p:nvPr/>
        </p:nvSpPr>
        <p:spPr bwMode="auto">
          <a:xfrm>
            <a:off x="2362200" y="4151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95" name="Text Box 95"/>
          <p:cNvSpPr txBox="1">
            <a:spLocks noChangeArrowheads="1"/>
          </p:cNvSpPr>
          <p:nvPr/>
        </p:nvSpPr>
        <p:spPr bwMode="auto">
          <a:xfrm>
            <a:off x="1143000" y="37703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5696" name="Line 96"/>
          <p:cNvSpPr>
            <a:spLocks noChangeShapeType="1"/>
          </p:cNvSpPr>
          <p:nvPr/>
        </p:nvSpPr>
        <p:spPr bwMode="auto">
          <a:xfrm>
            <a:off x="6477000" y="4151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97" name="Line 97"/>
          <p:cNvSpPr>
            <a:spLocks noChangeShapeType="1"/>
          </p:cNvSpPr>
          <p:nvPr/>
        </p:nvSpPr>
        <p:spPr bwMode="auto">
          <a:xfrm>
            <a:off x="6858000" y="4151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98" name="Line 98"/>
          <p:cNvSpPr>
            <a:spLocks noChangeShapeType="1"/>
          </p:cNvSpPr>
          <p:nvPr/>
        </p:nvSpPr>
        <p:spPr bwMode="auto">
          <a:xfrm>
            <a:off x="7315200" y="4151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699" name="Line 99"/>
          <p:cNvSpPr>
            <a:spLocks noChangeShapeType="1"/>
          </p:cNvSpPr>
          <p:nvPr/>
        </p:nvSpPr>
        <p:spPr bwMode="auto">
          <a:xfrm>
            <a:off x="7696200" y="4151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00" name="Line 100"/>
          <p:cNvSpPr>
            <a:spLocks noChangeShapeType="1"/>
          </p:cNvSpPr>
          <p:nvPr/>
        </p:nvSpPr>
        <p:spPr bwMode="auto">
          <a:xfrm>
            <a:off x="8153400" y="4151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01" name="Line 101"/>
          <p:cNvSpPr>
            <a:spLocks noChangeShapeType="1"/>
          </p:cNvSpPr>
          <p:nvPr/>
        </p:nvSpPr>
        <p:spPr bwMode="auto">
          <a:xfrm>
            <a:off x="5105400" y="41513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02" name="Line 102"/>
          <p:cNvSpPr>
            <a:spLocks noChangeShapeType="1"/>
          </p:cNvSpPr>
          <p:nvPr/>
        </p:nvSpPr>
        <p:spPr bwMode="auto">
          <a:xfrm>
            <a:off x="5105400" y="46847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03" name="Line 103"/>
          <p:cNvSpPr>
            <a:spLocks noChangeShapeType="1"/>
          </p:cNvSpPr>
          <p:nvPr/>
        </p:nvSpPr>
        <p:spPr bwMode="auto">
          <a:xfrm>
            <a:off x="5105400" y="4151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04" name="Line 104"/>
          <p:cNvSpPr>
            <a:spLocks noChangeShapeType="1"/>
          </p:cNvSpPr>
          <p:nvPr/>
        </p:nvSpPr>
        <p:spPr bwMode="auto">
          <a:xfrm>
            <a:off x="8534400" y="41513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05" name="Text Box 105"/>
          <p:cNvSpPr txBox="1">
            <a:spLocks noChangeArrowheads="1"/>
          </p:cNvSpPr>
          <p:nvPr/>
        </p:nvSpPr>
        <p:spPr bwMode="auto">
          <a:xfrm>
            <a:off x="8229600" y="37703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5706" name="Text Box 106"/>
          <p:cNvSpPr txBox="1">
            <a:spLocks noChangeArrowheads="1"/>
          </p:cNvSpPr>
          <p:nvPr/>
        </p:nvSpPr>
        <p:spPr bwMode="auto">
          <a:xfrm>
            <a:off x="5105400" y="37703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25707" name="Text Box 107"/>
          <p:cNvSpPr txBox="1">
            <a:spLocks noChangeArrowheads="1"/>
          </p:cNvSpPr>
          <p:nvPr/>
        </p:nvSpPr>
        <p:spPr bwMode="auto">
          <a:xfrm>
            <a:off x="7315200" y="37703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16492" name="Text Box 108"/>
          <p:cNvSpPr txBox="1">
            <a:spLocks noChangeArrowheads="1"/>
          </p:cNvSpPr>
          <p:nvPr/>
        </p:nvSpPr>
        <p:spPr bwMode="auto">
          <a:xfrm>
            <a:off x="5638800" y="41513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16493" name="Text Box 109"/>
          <p:cNvSpPr txBox="1">
            <a:spLocks noChangeArrowheads="1"/>
          </p:cNvSpPr>
          <p:nvPr/>
        </p:nvSpPr>
        <p:spPr bwMode="auto">
          <a:xfrm>
            <a:off x="5105400" y="4151313"/>
            <a:ext cx="5334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494" name="Text Box 110"/>
          <p:cNvSpPr txBox="1">
            <a:spLocks noChangeArrowheads="1"/>
          </p:cNvSpPr>
          <p:nvPr/>
        </p:nvSpPr>
        <p:spPr bwMode="auto">
          <a:xfrm>
            <a:off x="6096000" y="41513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16495" name="Text Box 111"/>
          <p:cNvSpPr txBox="1">
            <a:spLocks noChangeArrowheads="1"/>
          </p:cNvSpPr>
          <p:nvPr/>
        </p:nvSpPr>
        <p:spPr bwMode="auto">
          <a:xfrm>
            <a:off x="6477000" y="4165600"/>
            <a:ext cx="3810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8</a:t>
            </a:r>
          </a:p>
        </p:txBody>
      </p:sp>
      <p:sp>
        <p:nvSpPr>
          <p:cNvPr id="16496" name="Text Box 112"/>
          <p:cNvSpPr txBox="1">
            <a:spLocks noChangeArrowheads="1"/>
          </p:cNvSpPr>
          <p:nvPr/>
        </p:nvSpPr>
        <p:spPr bwMode="auto">
          <a:xfrm>
            <a:off x="6858000" y="4165600"/>
            <a:ext cx="4572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7</a:t>
            </a:r>
          </a:p>
        </p:txBody>
      </p:sp>
      <p:sp>
        <p:nvSpPr>
          <p:cNvPr id="16497" name="Text Box 113"/>
          <p:cNvSpPr txBox="1">
            <a:spLocks noChangeArrowheads="1"/>
          </p:cNvSpPr>
          <p:nvPr/>
        </p:nvSpPr>
        <p:spPr bwMode="auto">
          <a:xfrm>
            <a:off x="7315200" y="41513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5</a:t>
            </a:r>
          </a:p>
        </p:txBody>
      </p:sp>
      <p:sp>
        <p:nvSpPr>
          <p:cNvPr id="16498" name="Text Box 114"/>
          <p:cNvSpPr txBox="1">
            <a:spLocks noChangeArrowheads="1"/>
          </p:cNvSpPr>
          <p:nvPr/>
        </p:nvSpPr>
        <p:spPr bwMode="auto">
          <a:xfrm>
            <a:off x="7696200" y="41513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6</a:t>
            </a:r>
          </a:p>
        </p:txBody>
      </p:sp>
      <p:sp>
        <p:nvSpPr>
          <p:cNvPr id="16499" name="Text Box 115"/>
          <p:cNvSpPr txBox="1">
            <a:spLocks noChangeArrowheads="1"/>
          </p:cNvSpPr>
          <p:nvPr/>
        </p:nvSpPr>
        <p:spPr bwMode="auto">
          <a:xfrm>
            <a:off x="8153400" y="41513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</a:p>
        </p:txBody>
      </p:sp>
      <p:sp>
        <p:nvSpPr>
          <p:cNvPr id="25716" name="Line 116"/>
          <p:cNvSpPr>
            <a:spLocks noChangeShapeType="1"/>
          </p:cNvSpPr>
          <p:nvPr/>
        </p:nvSpPr>
        <p:spPr bwMode="auto">
          <a:xfrm>
            <a:off x="6477000" y="4151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17" name="Line 117"/>
          <p:cNvSpPr>
            <a:spLocks noChangeShapeType="1"/>
          </p:cNvSpPr>
          <p:nvPr/>
        </p:nvSpPr>
        <p:spPr bwMode="auto">
          <a:xfrm>
            <a:off x="7315200" y="41513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18" name="Text Box 118"/>
          <p:cNvSpPr txBox="1">
            <a:spLocks noChangeArrowheads="1"/>
          </p:cNvSpPr>
          <p:nvPr/>
        </p:nvSpPr>
        <p:spPr bwMode="auto">
          <a:xfrm>
            <a:off x="6096000" y="37703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5719" name="Line 119"/>
          <p:cNvSpPr>
            <a:spLocks noChangeShapeType="1"/>
          </p:cNvSpPr>
          <p:nvPr/>
        </p:nvSpPr>
        <p:spPr bwMode="auto">
          <a:xfrm>
            <a:off x="1981200" y="512762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20" name="Line 120"/>
          <p:cNvSpPr>
            <a:spLocks noChangeShapeType="1"/>
          </p:cNvSpPr>
          <p:nvPr/>
        </p:nvSpPr>
        <p:spPr bwMode="auto">
          <a:xfrm>
            <a:off x="2362200" y="512762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21" name="Line 121"/>
          <p:cNvSpPr>
            <a:spLocks noChangeShapeType="1"/>
          </p:cNvSpPr>
          <p:nvPr/>
        </p:nvSpPr>
        <p:spPr bwMode="auto">
          <a:xfrm>
            <a:off x="2819400" y="512762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22" name="Line 122"/>
          <p:cNvSpPr>
            <a:spLocks noChangeShapeType="1"/>
          </p:cNvSpPr>
          <p:nvPr/>
        </p:nvSpPr>
        <p:spPr bwMode="auto">
          <a:xfrm>
            <a:off x="3200400" y="512762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23" name="Line 123"/>
          <p:cNvSpPr>
            <a:spLocks noChangeShapeType="1"/>
          </p:cNvSpPr>
          <p:nvPr/>
        </p:nvSpPr>
        <p:spPr bwMode="auto">
          <a:xfrm>
            <a:off x="3657600" y="512762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24" name="Line 124"/>
          <p:cNvSpPr>
            <a:spLocks noChangeShapeType="1"/>
          </p:cNvSpPr>
          <p:nvPr/>
        </p:nvSpPr>
        <p:spPr bwMode="auto">
          <a:xfrm>
            <a:off x="609600" y="5127625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25" name="Line 125"/>
          <p:cNvSpPr>
            <a:spLocks noChangeShapeType="1"/>
          </p:cNvSpPr>
          <p:nvPr/>
        </p:nvSpPr>
        <p:spPr bwMode="auto">
          <a:xfrm>
            <a:off x="609600" y="5661025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26" name="Line 126"/>
          <p:cNvSpPr>
            <a:spLocks noChangeShapeType="1"/>
          </p:cNvSpPr>
          <p:nvPr/>
        </p:nvSpPr>
        <p:spPr bwMode="auto">
          <a:xfrm>
            <a:off x="609600" y="512762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27" name="Line 127"/>
          <p:cNvSpPr>
            <a:spLocks noChangeShapeType="1"/>
          </p:cNvSpPr>
          <p:nvPr/>
        </p:nvSpPr>
        <p:spPr bwMode="auto">
          <a:xfrm>
            <a:off x="4038600" y="512762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28" name="Text Box 128"/>
          <p:cNvSpPr txBox="1">
            <a:spLocks noChangeArrowheads="1"/>
          </p:cNvSpPr>
          <p:nvPr/>
        </p:nvSpPr>
        <p:spPr bwMode="auto">
          <a:xfrm>
            <a:off x="3733800" y="4746625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5729" name="Text Box 129"/>
          <p:cNvSpPr txBox="1">
            <a:spLocks noChangeArrowheads="1"/>
          </p:cNvSpPr>
          <p:nvPr/>
        </p:nvSpPr>
        <p:spPr bwMode="auto">
          <a:xfrm>
            <a:off x="609600" y="47466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25730" name="Text Box 130"/>
          <p:cNvSpPr txBox="1">
            <a:spLocks noChangeArrowheads="1"/>
          </p:cNvSpPr>
          <p:nvPr/>
        </p:nvSpPr>
        <p:spPr bwMode="auto">
          <a:xfrm>
            <a:off x="3276600" y="47609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16515" name="Text Box 131"/>
          <p:cNvSpPr txBox="1">
            <a:spLocks noChangeArrowheads="1"/>
          </p:cNvSpPr>
          <p:nvPr/>
        </p:nvSpPr>
        <p:spPr bwMode="auto">
          <a:xfrm>
            <a:off x="1143000" y="5127625"/>
            <a:ext cx="381000" cy="519113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16516" name="Text Box 132"/>
          <p:cNvSpPr txBox="1">
            <a:spLocks noChangeArrowheads="1"/>
          </p:cNvSpPr>
          <p:nvPr/>
        </p:nvSpPr>
        <p:spPr bwMode="auto">
          <a:xfrm>
            <a:off x="609600" y="5127625"/>
            <a:ext cx="533400" cy="519113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517" name="Text Box 133"/>
          <p:cNvSpPr txBox="1">
            <a:spLocks noChangeArrowheads="1"/>
          </p:cNvSpPr>
          <p:nvPr/>
        </p:nvSpPr>
        <p:spPr bwMode="auto">
          <a:xfrm>
            <a:off x="1600200" y="51419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16518" name="Text Box 134"/>
          <p:cNvSpPr txBox="1">
            <a:spLocks noChangeArrowheads="1"/>
          </p:cNvSpPr>
          <p:nvPr/>
        </p:nvSpPr>
        <p:spPr bwMode="auto">
          <a:xfrm>
            <a:off x="1981200" y="5141913"/>
            <a:ext cx="381000" cy="519112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8</a:t>
            </a:r>
          </a:p>
        </p:txBody>
      </p:sp>
      <p:sp>
        <p:nvSpPr>
          <p:cNvPr id="16519" name="Text Box 135"/>
          <p:cNvSpPr txBox="1">
            <a:spLocks noChangeArrowheads="1"/>
          </p:cNvSpPr>
          <p:nvPr/>
        </p:nvSpPr>
        <p:spPr bwMode="auto">
          <a:xfrm>
            <a:off x="2362200" y="5141913"/>
            <a:ext cx="457200" cy="519112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7</a:t>
            </a:r>
          </a:p>
        </p:txBody>
      </p:sp>
      <p:sp>
        <p:nvSpPr>
          <p:cNvPr id="16520" name="Text Box 136"/>
          <p:cNvSpPr txBox="1">
            <a:spLocks noChangeArrowheads="1"/>
          </p:cNvSpPr>
          <p:nvPr/>
        </p:nvSpPr>
        <p:spPr bwMode="auto">
          <a:xfrm>
            <a:off x="2819400" y="5141913"/>
            <a:ext cx="381000" cy="519112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5</a:t>
            </a:r>
          </a:p>
        </p:txBody>
      </p:sp>
      <p:sp>
        <p:nvSpPr>
          <p:cNvPr id="16521" name="Text Box 137"/>
          <p:cNvSpPr txBox="1">
            <a:spLocks noChangeArrowheads="1"/>
          </p:cNvSpPr>
          <p:nvPr/>
        </p:nvSpPr>
        <p:spPr bwMode="auto">
          <a:xfrm>
            <a:off x="3200400" y="5127625"/>
            <a:ext cx="381000" cy="519113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6</a:t>
            </a:r>
          </a:p>
        </p:txBody>
      </p:sp>
      <p:sp>
        <p:nvSpPr>
          <p:cNvPr id="16522" name="Text Box 138"/>
          <p:cNvSpPr txBox="1">
            <a:spLocks noChangeArrowheads="1"/>
          </p:cNvSpPr>
          <p:nvPr/>
        </p:nvSpPr>
        <p:spPr bwMode="auto">
          <a:xfrm>
            <a:off x="3657600" y="5127625"/>
            <a:ext cx="381000" cy="519113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</a:p>
        </p:txBody>
      </p:sp>
      <p:sp>
        <p:nvSpPr>
          <p:cNvPr id="25739" name="Line 139"/>
          <p:cNvSpPr>
            <a:spLocks noChangeShapeType="1"/>
          </p:cNvSpPr>
          <p:nvPr/>
        </p:nvSpPr>
        <p:spPr bwMode="auto">
          <a:xfrm>
            <a:off x="1981200" y="512762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40" name="Line 140"/>
          <p:cNvSpPr>
            <a:spLocks noChangeShapeType="1"/>
          </p:cNvSpPr>
          <p:nvPr/>
        </p:nvSpPr>
        <p:spPr bwMode="auto">
          <a:xfrm>
            <a:off x="3200400" y="51419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41" name="Text Box 141"/>
          <p:cNvSpPr txBox="1">
            <a:spLocks noChangeArrowheads="1"/>
          </p:cNvSpPr>
          <p:nvPr/>
        </p:nvSpPr>
        <p:spPr bwMode="auto">
          <a:xfrm>
            <a:off x="1600200" y="4746625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5742" name="Line 142"/>
          <p:cNvSpPr>
            <a:spLocks noChangeShapeType="1"/>
          </p:cNvSpPr>
          <p:nvPr/>
        </p:nvSpPr>
        <p:spPr bwMode="auto">
          <a:xfrm>
            <a:off x="6477000" y="51419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43" name="Line 143"/>
          <p:cNvSpPr>
            <a:spLocks noChangeShapeType="1"/>
          </p:cNvSpPr>
          <p:nvPr/>
        </p:nvSpPr>
        <p:spPr bwMode="auto">
          <a:xfrm>
            <a:off x="6858000" y="51419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44" name="Line 144"/>
          <p:cNvSpPr>
            <a:spLocks noChangeShapeType="1"/>
          </p:cNvSpPr>
          <p:nvPr/>
        </p:nvSpPr>
        <p:spPr bwMode="auto">
          <a:xfrm>
            <a:off x="7315200" y="51419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45" name="Line 145"/>
          <p:cNvSpPr>
            <a:spLocks noChangeShapeType="1"/>
          </p:cNvSpPr>
          <p:nvPr/>
        </p:nvSpPr>
        <p:spPr bwMode="auto">
          <a:xfrm>
            <a:off x="7696200" y="51419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46" name="Line 146"/>
          <p:cNvSpPr>
            <a:spLocks noChangeShapeType="1"/>
          </p:cNvSpPr>
          <p:nvPr/>
        </p:nvSpPr>
        <p:spPr bwMode="auto">
          <a:xfrm>
            <a:off x="8153400" y="51419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47" name="Line 147"/>
          <p:cNvSpPr>
            <a:spLocks noChangeShapeType="1"/>
          </p:cNvSpPr>
          <p:nvPr/>
        </p:nvSpPr>
        <p:spPr bwMode="auto">
          <a:xfrm>
            <a:off x="5105400" y="51419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48" name="Line 148"/>
          <p:cNvSpPr>
            <a:spLocks noChangeShapeType="1"/>
          </p:cNvSpPr>
          <p:nvPr/>
        </p:nvSpPr>
        <p:spPr bwMode="auto">
          <a:xfrm>
            <a:off x="5105400" y="56753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49" name="Line 149"/>
          <p:cNvSpPr>
            <a:spLocks noChangeShapeType="1"/>
          </p:cNvSpPr>
          <p:nvPr/>
        </p:nvSpPr>
        <p:spPr bwMode="auto">
          <a:xfrm>
            <a:off x="5105400" y="51419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50" name="Line 150"/>
          <p:cNvSpPr>
            <a:spLocks noChangeShapeType="1"/>
          </p:cNvSpPr>
          <p:nvPr/>
        </p:nvSpPr>
        <p:spPr bwMode="auto">
          <a:xfrm>
            <a:off x="8534400" y="51419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51" name="Text Box 151"/>
          <p:cNvSpPr txBox="1">
            <a:spLocks noChangeArrowheads="1"/>
          </p:cNvSpPr>
          <p:nvPr/>
        </p:nvSpPr>
        <p:spPr bwMode="auto">
          <a:xfrm>
            <a:off x="8229600" y="47609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5752" name="Text Box 152"/>
          <p:cNvSpPr txBox="1">
            <a:spLocks noChangeArrowheads="1"/>
          </p:cNvSpPr>
          <p:nvPr/>
        </p:nvSpPr>
        <p:spPr bwMode="auto">
          <a:xfrm>
            <a:off x="5105400" y="47609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16537" name="Text Box 153"/>
          <p:cNvSpPr txBox="1">
            <a:spLocks noChangeArrowheads="1"/>
          </p:cNvSpPr>
          <p:nvPr/>
        </p:nvSpPr>
        <p:spPr bwMode="auto">
          <a:xfrm>
            <a:off x="5638800" y="51419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16538" name="Text Box 154"/>
          <p:cNvSpPr txBox="1">
            <a:spLocks noChangeArrowheads="1"/>
          </p:cNvSpPr>
          <p:nvPr/>
        </p:nvSpPr>
        <p:spPr bwMode="auto">
          <a:xfrm>
            <a:off x="5105400" y="5141913"/>
            <a:ext cx="5334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539" name="Text Box 155"/>
          <p:cNvSpPr txBox="1">
            <a:spLocks noChangeArrowheads="1"/>
          </p:cNvSpPr>
          <p:nvPr/>
        </p:nvSpPr>
        <p:spPr bwMode="auto">
          <a:xfrm>
            <a:off x="6096000" y="5156200"/>
            <a:ext cx="381000" cy="519113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16540" name="Text Box 156"/>
          <p:cNvSpPr txBox="1">
            <a:spLocks noChangeArrowheads="1"/>
          </p:cNvSpPr>
          <p:nvPr/>
        </p:nvSpPr>
        <p:spPr bwMode="auto">
          <a:xfrm>
            <a:off x="6477000" y="5156200"/>
            <a:ext cx="3810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8</a:t>
            </a:r>
          </a:p>
        </p:txBody>
      </p:sp>
      <p:sp>
        <p:nvSpPr>
          <p:cNvPr id="16541" name="Text Box 157"/>
          <p:cNvSpPr txBox="1">
            <a:spLocks noChangeArrowheads="1"/>
          </p:cNvSpPr>
          <p:nvPr/>
        </p:nvSpPr>
        <p:spPr bwMode="auto">
          <a:xfrm>
            <a:off x="6858000" y="5156200"/>
            <a:ext cx="4572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7</a:t>
            </a:r>
          </a:p>
        </p:txBody>
      </p:sp>
      <p:sp>
        <p:nvSpPr>
          <p:cNvPr id="16542" name="Text Box 158"/>
          <p:cNvSpPr txBox="1">
            <a:spLocks noChangeArrowheads="1"/>
          </p:cNvSpPr>
          <p:nvPr/>
        </p:nvSpPr>
        <p:spPr bwMode="auto">
          <a:xfrm>
            <a:off x="7315200" y="5156200"/>
            <a:ext cx="3810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5</a:t>
            </a:r>
          </a:p>
        </p:txBody>
      </p:sp>
      <p:sp>
        <p:nvSpPr>
          <p:cNvPr id="16543" name="Text Box 159"/>
          <p:cNvSpPr txBox="1">
            <a:spLocks noChangeArrowheads="1"/>
          </p:cNvSpPr>
          <p:nvPr/>
        </p:nvSpPr>
        <p:spPr bwMode="auto">
          <a:xfrm>
            <a:off x="7696200" y="5156200"/>
            <a:ext cx="4572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6</a:t>
            </a:r>
          </a:p>
        </p:txBody>
      </p:sp>
      <p:sp>
        <p:nvSpPr>
          <p:cNvPr id="16544" name="Text Box 160"/>
          <p:cNvSpPr txBox="1">
            <a:spLocks noChangeArrowheads="1"/>
          </p:cNvSpPr>
          <p:nvPr/>
        </p:nvSpPr>
        <p:spPr bwMode="auto">
          <a:xfrm>
            <a:off x="8153400" y="51419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</a:p>
        </p:txBody>
      </p:sp>
      <p:sp>
        <p:nvSpPr>
          <p:cNvPr id="25761" name="Line 161"/>
          <p:cNvSpPr>
            <a:spLocks noChangeShapeType="1"/>
          </p:cNvSpPr>
          <p:nvPr/>
        </p:nvSpPr>
        <p:spPr bwMode="auto">
          <a:xfrm>
            <a:off x="6477000" y="51419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62" name="Text Box 162"/>
          <p:cNvSpPr txBox="1">
            <a:spLocks noChangeArrowheads="1"/>
          </p:cNvSpPr>
          <p:nvPr/>
        </p:nvSpPr>
        <p:spPr bwMode="auto">
          <a:xfrm>
            <a:off x="6096000" y="47609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5763" name="Line 163"/>
          <p:cNvSpPr>
            <a:spLocks noChangeShapeType="1"/>
          </p:cNvSpPr>
          <p:nvPr/>
        </p:nvSpPr>
        <p:spPr bwMode="auto">
          <a:xfrm>
            <a:off x="4343400" y="62087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64" name="Line 164"/>
          <p:cNvSpPr>
            <a:spLocks noChangeShapeType="1"/>
          </p:cNvSpPr>
          <p:nvPr/>
        </p:nvSpPr>
        <p:spPr bwMode="auto">
          <a:xfrm>
            <a:off x="4724400" y="62087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65" name="Line 165"/>
          <p:cNvSpPr>
            <a:spLocks noChangeShapeType="1"/>
          </p:cNvSpPr>
          <p:nvPr/>
        </p:nvSpPr>
        <p:spPr bwMode="auto">
          <a:xfrm>
            <a:off x="5181600" y="62087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66" name="Line 166"/>
          <p:cNvSpPr>
            <a:spLocks noChangeShapeType="1"/>
          </p:cNvSpPr>
          <p:nvPr/>
        </p:nvSpPr>
        <p:spPr bwMode="auto">
          <a:xfrm>
            <a:off x="5562600" y="62087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67" name="Line 167"/>
          <p:cNvSpPr>
            <a:spLocks noChangeShapeType="1"/>
          </p:cNvSpPr>
          <p:nvPr/>
        </p:nvSpPr>
        <p:spPr bwMode="auto">
          <a:xfrm>
            <a:off x="6019800" y="62087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68" name="Line 168"/>
          <p:cNvSpPr>
            <a:spLocks noChangeShapeType="1"/>
          </p:cNvSpPr>
          <p:nvPr/>
        </p:nvSpPr>
        <p:spPr bwMode="auto">
          <a:xfrm>
            <a:off x="2971800" y="62087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69" name="Line 169"/>
          <p:cNvSpPr>
            <a:spLocks noChangeShapeType="1"/>
          </p:cNvSpPr>
          <p:nvPr/>
        </p:nvSpPr>
        <p:spPr bwMode="auto">
          <a:xfrm>
            <a:off x="2971800" y="6742113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70" name="Line 170"/>
          <p:cNvSpPr>
            <a:spLocks noChangeShapeType="1"/>
          </p:cNvSpPr>
          <p:nvPr/>
        </p:nvSpPr>
        <p:spPr bwMode="auto">
          <a:xfrm>
            <a:off x="2971800" y="62087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71" name="Line 171"/>
          <p:cNvSpPr>
            <a:spLocks noChangeShapeType="1"/>
          </p:cNvSpPr>
          <p:nvPr/>
        </p:nvSpPr>
        <p:spPr bwMode="auto">
          <a:xfrm>
            <a:off x="6400800" y="62087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72" name="Text Box 172"/>
          <p:cNvSpPr txBox="1">
            <a:spLocks noChangeArrowheads="1"/>
          </p:cNvSpPr>
          <p:nvPr/>
        </p:nvSpPr>
        <p:spPr bwMode="auto">
          <a:xfrm>
            <a:off x="6096000" y="58277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5773" name="Text Box 173"/>
          <p:cNvSpPr txBox="1">
            <a:spLocks noChangeArrowheads="1"/>
          </p:cNvSpPr>
          <p:nvPr/>
        </p:nvSpPr>
        <p:spPr bwMode="auto">
          <a:xfrm>
            <a:off x="2971800" y="58277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16558" name="Text Box 174"/>
          <p:cNvSpPr txBox="1">
            <a:spLocks noChangeArrowheads="1"/>
          </p:cNvSpPr>
          <p:nvPr/>
        </p:nvSpPr>
        <p:spPr bwMode="auto">
          <a:xfrm>
            <a:off x="3505200" y="6208713"/>
            <a:ext cx="3810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16559" name="Text Box 175"/>
          <p:cNvSpPr txBox="1">
            <a:spLocks noChangeArrowheads="1"/>
          </p:cNvSpPr>
          <p:nvPr/>
        </p:nvSpPr>
        <p:spPr bwMode="auto">
          <a:xfrm>
            <a:off x="2971800" y="6208713"/>
            <a:ext cx="533400" cy="519112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560" name="Text Box 176"/>
          <p:cNvSpPr txBox="1">
            <a:spLocks noChangeArrowheads="1"/>
          </p:cNvSpPr>
          <p:nvPr/>
        </p:nvSpPr>
        <p:spPr bwMode="auto">
          <a:xfrm>
            <a:off x="3962400" y="6223000"/>
            <a:ext cx="381000" cy="519113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16561" name="Text Box 177"/>
          <p:cNvSpPr txBox="1">
            <a:spLocks noChangeArrowheads="1"/>
          </p:cNvSpPr>
          <p:nvPr/>
        </p:nvSpPr>
        <p:spPr bwMode="auto">
          <a:xfrm>
            <a:off x="4343400" y="6223000"/>
            <a:ext cx="381000" cy="519113"/>
          </a:xfrm>
          <a:prstGeom prst="rect">
            <a:avLst/>
          </a:prstGeom>
          <a:noFill/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</a:p>
        </p:txBody>
      </p:sp>
      <p:sp>
        <p:nvSpPr>
          <p:cNvPr id="16562" name="Text Box 178"/>
          <p:cNvSpPr txBox="1">
            <a:spLocks noChangeArrowheads="1"/>
          </p:cNvSpPr>
          <p:nvPr/>
        </p:nvSpPr>
        <p:spPr bwMode="auto">
          <a:xfrm>
            <a:off x="4724400" y="6223000"/>
            <a:ext cx="4572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7</a:t>
            </a:r>
          </a:p>
        </p:txBody>
      </p:sp>
      <p:sp>
        <p:nvSpPr>
          <p:cNvPr id="16563" name="Text Box 179"/>
          <p:cNvSpPr txBox="1">
            <a:spLocks noChangeArrowheads="1"/>
          </p:cNvSpPr>
          <p:nvPr/>
        </p:nvSpPr>
        <p:spPr bwMode="auto">
          <a:xfrm>
            <a:off x="5181600" y="6223000"/>
            <a:ext cx="3810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5</a:t>
            </a:r>
          </a:p>
        </p:txBody>
      </p:sp>
      <p:sp>
        <p:nvSpPr>
          <p:cNvPr id="16564" name="Text Box 180"/>
          <p:cNvSpPr txBox="1">
            <a:spLocks noChangeArrowheads="1"/>
          </p:cNvSpPr>
          <p:nvPr/>
        </p:nvSpPr>
        <p:spPr bwMode="auto">
          <a:xfrm>
            <a:off x="5562600" y="6223000"/>
            <a:ext cx="4572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6</a:t>
            </a:r>
          </a:p>
        </p:txBody>
      </p:sp>
      <p:sp>
        <p:nvSpPr>
          <p:cNvPr id="16565" name="Text Box 181"/>
          <p:cNvSpPr txBox="1">
            <a:spLocks noChangeArrowheads="1"/>
          </p:cNvSpPr>
          <p:nvPr/>
        </p:nvSpPr>
        <p:spPr bwMode="auto">
          <a:xfrm>
            <a:off x="6019800" y="6223000"/>
            <a:ext cx="381000" cy="519113"/>
          </a:xfrm>
          <a:prstGeom prst="rect">
            <a:avLst/>
          </a:prstGeom>
          <a:solidFill>
            <a:srgbClr val="969696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8</a:t>
            </a:r>
          </a:p>
        </p:txBody>
      </p:sp>
      <p:sp>
        <p:nvSpPr>
          <p:cNvPr id="25782" name="Line 182"/>
          <p:cNvSpPr>
            <a:spLocks noChangeShapeType="1"/>
          </p:cNvSpPr>
          <p:nvPr/>
        </p:nvSpPr>
        <p:spPr bwMode="auto">
          <a:xfrm>
            <a:off x="4343400" y="62087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83" name="Text Box 183"/>
          <p:cNvSpPr txBox="1">
            <a:spLocks noChangeArrowheads="1"/>
          </p:cNvSpPr>
          <p:nvPr/>
        </p:nvSpPr>
        <p:spPr bwMode="auto">
          <a:xfrm>
            <a:off x="3962400" y="5827713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000" b="0" i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5784" name="Line 184"/>
          <p:cNvSpPr>
            <a:spLocks noChangeShapeType="1"/>
          </p:cNvSpPr>
          <p:nvPr/>
        </p:nvSpPr>
        <p:spPr bwMode="auto">
          <a:xfrm>
            <a:off x="4724400" y="62087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785" name="Line 185"/>
          <p:cNvSpPr>
            <a:spLocks noChangeShapeType="1"/>
          </p:cNvSpPr>
          <p:nvPr/>
        </p:nvSpPr>
        <p:spPr bwMode="auto">
          <a:xfrm>
            <a:off x="6400800" y="6208713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570" name="Text Box 186"/>
          <p:cNvSpPr txBox="1">
            <a:spLocks noChangeArrowheads="1"/>
          </p:cNvSpPr>
          <p:nvPr/>
        </p:nvSpPr>
        <p:spPr bwMode="auto">
          <a:xfrm>
            <a:off x="5105400" y="1941513"/>
            <a:ext cx="5334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571" name="Text Box 187"/>
          <p:cNvSpPr txBox="1">
            <a:spLocks noChangeArrowheads="1"/>
          </p:cNvSpPr>
          <p:nvPr/>
        </p:nvSpPr>
        <p:spPr bwMode="auto">
          <a:xfrm>
            <a:off x="609600" y="3008313"/>
            <a:ext cx="5334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572" name="Text Box 188"/>
          <p:cNvSpPr txBox="1">
            <a:spLocks noChangeArrowheads="1"/>
          </p:cNvSpPr>
          <p:nvPr/>
        </p:nvSpPr>
        <p:spPr bwMode="auto">
          <a:xfrm>
            <a:off x="609600" y="4151313"/>
            <a:ext cx="5334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573" name="Text Box 189"/>
          <p:cNvSpPr txBox="1">
            <a:spLocks noChangeArrowheads="1"/>
          </p:cNvSpPr>
          <p:nvPr/>
        </p:nvSpPr>
        <p:spPr bwMode="auto">
          <a:xfrm>
            <a:off x="5105400" y="4151313"/>
            <a:ext cx="5334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574" name="Text Box 190"/>
          <p:cNvSpPr txBox="1">
            <a:spLocks noChangeArrowheads="1"/>
          </p:cNvSpPr>
          <p:nvPr/>
        </p:nvSpPr>
        <p:spPr bwMode="auto">
          <a:xfrm>
            <a:off x="609600" y="5141913"/>
            <a:ext cx="5334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575" name="Text Box 191"/>
          <p:cNvSpPr txBox="1">
            <a:spLocks noChangeArrowheads="1"/>
          </p:cNvSpPr>
          <p:nvPr/>
        </p:nvSpPr>
        <p:spPr bwMode="auto">
          <a:xfrm>
            <a:off x="5105400" y="5141913"/>
            <a:ext cx="5334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576" name="Text Box 192"/>
          <p:cNvSpPr txBox="1">
            <a:spLocks noChangeArrowheads="1"/>
          </p:cNvSpPr>
          <p:nvPr/>
        </p:nvSpPr>
        <p:spPr bwMode="auto">
          <a:xfrm>
            <a:off x="2971800" y="6208713"/>
            <a:ext cx="5334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16577" name="Text Box 193"/>
          <p:cNvSpPr txBox="1">
            <a:spLocks noChangeArrowheads="1"/>
          </p:cNvSpPr>
          <p:nvPr/>
        </p:nvSpPr>
        <p:spPr bwMode="auto">
          <a:xfrm>
            <a:off x="1143000" y="5141913"/>
            <a:ext cx="4572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16578" name="Text Box 194"/>
          <p:cNvSpPr txBox="1">
            <a:spLocks noChangeArrowheads="1"/>
          </p:cNvSpPr>
          <p:nvPr/>
        </p:nvSpPr>
        <p:spPr bwMode="auto">
          <a:xfrm>
            <a:off x="5562600" y="4151313"/>
            <a:ext cx="4572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16579" name="Text Box 195"/>
          <p:cNvSpPr txBox="1">
            <a:spLocks noChangeArrowheads="1"/>
          </p:cNvSpPr>
          <p:nvPr/>
        </p:nvSpPr>
        <p:spPr bwMode="auto">
          <a:xfrm>
            <a:off x="6019800" y="4151313"/>
            <a:ext cx="4572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16580" name="Text Box 196"/>
          <p:cNvSpPr txBox="1">
            <a:spLocks noChangeArrowheads="1"/>
          </p:cNvSpPr>
          <p:nvPr/>
        </p:nvSpPr>
        <p:spPr bwMode="auto">
          <a:xfrm>
            <a:off x="1524000" y="5141913"/>
            <a:ext cx="4572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16581" name="Text Box 197"/>
          <p:cNvSpPr txBox="1">
            <a:spLocks noChangeArrowheads="1"/>
          </p:cNvSpPr>
          <p:nvPr/>
        </p:nvSpPr>
        <p:spPr bwMode="auto">
          <a:xfrm>
            <a:off x="5562600" y="5141913"/>
            <a:ext cx="4572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16582" name="Text Box 198"/>
          <p:cNvSpPr txBox="1">
            <a:spLocks noChangeArrowheads="1"/>
          </p:cNvSpPr>
          <p:nvPr/>
        </p:nvSpPr>
        <p:spPr bwMode="auto">
          <a:xfrm>
            <a:off x="6019800" y="5141913"/>
            <a:ext cx="4572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  <p:sp>
        <p:nvSpPr>
          <p:cNvPr id="16583" name="Text Box 199"/>
          <p:cNvSpPr txBox="1">
            <a:spLocks noChangeArrowheads="1"/>
          </p:cNvSpPr>
          <p:nvPr/>
        </p:nvSpPr>
        <p:spPr bwMode="auto">
          <a:xfrm>
            <a:off x="3505200" y="6208713"/>
            <a:ext cx="4572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16584" name="Text Box 200"/>
          <p:cNvSpPr txBox="1">
            <a:spLocks noChangeArrowheads="1"/>
          </p:cNvSpPr>
          <p:nvPr/>
        </p:nvSpPr>
        <p:spPr bwMode="auto">
          <a:xfrm>
            <a:off x="3886200" y="6208713"/>
            <a:ext cx="457200" cy="519112"/>
          </a:xfrm>
          <a:prstGeom prst="rect">
            <a:avLst/>
          </a:prstGeom>
          <a:solidFill>
            <a:srgbClr val="FF0000"/>
          </a:solidFill>
          <a:ln w="12700" cap="rnd">
            <a:noFill/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Partition Example Explanation</a:t>
            </a:r>
            <a:endParaRPr lang="en-US" altLang="en-US" smtClean="0">
              <a:cs typeface="Times New Roman" panose="02020603050405020304" pitchFamily="18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>
                <a:solidFill>
                  <a:srgbClr val="FF3300"/>
                </a:solidFill>
              </a:rPr>
              <a:t>Red</a:t>
            </a:r>
            <a:r>
              <a:rPr lang="en-US" altLang="en-US" smtClean="0"/>
              <a:t> shaded elements are in the first partition with values  </a:t>
            </a:r>
            <a:r>
              <a:rPr lang="en-US" altLang="en-US" smtClean="0">
                <a:sym typeface="Symbol" panose="05050102010706020507" pitchFamily="18" charset="2"/>
              </a:rPr>
              <a:t> </a:t>
            </a:r>
            <a:r>
              <a:rPr lang="en-US" altLang="en-US" smtClean="0"/>
              <a:t> </a:t>
            </a:r>
            <a:r>
              <a:rPr lang="en-US" altLang="en-US" i="1" smtClean="0"/>
              <a:t>x</a:t>
            </a:r>
            <a:r>
              <a:rPr lang="en-US" altLang="en-US" smtClean="0"/>
              <a:t>			(pivot)</a:t>
            </a:r>
          </a:p>
          <a:p>
            <a:pPr>
              <a:lnSpc>
                <a:spcPct val="90000"/>
              </a:lnSpc>
            </a:pPr>
            <a:endParaRPr lang="en-US" altLang="en-US" smtClean="0"/>
          </a:p>
          <a:p>
            <a:pPr>
              <a:lnSpc>
                <a:spcPct val="90000"/>
              </a:lnSpc>
            </a:pPr>
            <a:r>
              <a:rPr lang="en-US" altLang="en-US" smtClean="0">
                <a:solidFill>
                  <a:srgbClr val="969696"/>
                </a:solidFill>
              </a:rPr>
              <a:t>Gray</a:t>
            </a:r>
            <a:r>
              <a:rPr lang="en-US" altLang="en-US" smtClean="0"/>
              <a:t> shaded elements are in the second partition with values </a:t>
            </a:r>
            <a:r>
              <a:rPr lang="en-US" altLang="en-US" smtClean="0">
                <a:sym typeface="Symbol" panose="05050102010706020507" pitchFamily="18" charset="2"/>
              </a:rPr>
              <a:t></a:t>
            </a:r>
            <a:r>
              <a:rPr lang="en-US" altLang="en-US" smtClean="0"/>
              <a:t> </a:t>
            </a:r>
            <a:r>
              <a:rPr lang="en-US" altLang="en-US" i="1" smtClean="0"/>
              <a:t>x</a:t>
            </a:r>
            <a:r>
              <a:rPr lang="en-US" altLang="en-US" smtClean="0"/>
              <a:t>		(pivot)</a:t>
            </a:r>
            <a:endParaRPr lang="en-US" altLang="en-US" i="1" smtClean="0"/>
          </a:p>
          <a:p>
            <a:pPr>
              <a:lnSpc>
                <a:spcPct val="90000"/>
              </a:lnSpc>
            </a:pPr>
            <a:endParaRPr lang="en-US" altLang="en-US" smtClean="0"/>
          </a:p>
          <a:p>
            <a:pPr>
              <a:lnSpc>
                <a:spcPct val="90000"/>
              </a:lnSpc>
            </a:pPr>
            <a:r>
              <a:rPr lang="en-US" altLang="en-US" smtClean="0"/>
              <a:t>The unshaded elements have no yet been put in one of the first two partitions</a:t>
            </a:r>
          </a:p>
          <a:p>
            <a:pPr>
              <a:lnSpc>
                <a:spcPct val="90000"/>
              </a:lnSpc>
            </a:pPr>
            <a:endParaRPr lang="en-US" altLang="en-US" smtClean="0"/>
          </a:p>
          <a:p>
            <a:pPr>
              <a:lnSpc>
                <a:spcPct val="90000"/>
              </a:lnSpc>
            </a:pPr>
            <a:r>
              <a:rPr lang="en-US" altLang="en-US" smtClean="0"/>
              <a:t>The final </a:t>
            </a:r>
            <a:r>
              <a:rPr lang="en-US" altLang="en-US" smtClean="0">
                <a:solidFill>
                  <a:srgbClr val="FF3300"/>
                </a:solidFill>
              </a:rPr>
              <a:t>white</a:t>
            </a:r>
            <a:r>
              <a:rPr lang="en-US" altLang="en-US" smtClean="0"/>
              <a:t> element is the pivot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Choice Of Pivot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0006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 smtClean="0"/>
              <a:t>Three ways to choose the pivot: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Pivot is </a:t>
            </a:r>
            <a:r>
              <a:rPr lang="en-US" altLang="en-US" sz="2400" smtClean="0">
                <a:solidFill>
                  <a:srgbClr val="FF3300"/>
                </a:solidFill>
              </a:rPr>
              <a:t>rightmost</a:t>
            </a:r>
            <a:r>
              <a:rPr lang="en-US" altLang="en-US" sz="2400" smtClean="0"/>
              <a:t> element in list that is to be sorted</a:t>
            </a:r>
          </a:p>
          <a:p>
            <a:pPr lvl="1"/>
            <a:r>
              <a:rPr lang="en-US" altLang="en-US" smtClean="0"/>
              <a:t>When sorting </a:t>
            </a:r>
            <a:r>
              <a:rPr lang="en-US" altLang="en-US" i="1" smtClean="0"/>
              <a:t>A</a:t>
            </a:r>
            <a:r>
              <a:rPr lang="en-US" altLang="en-US" smtClean="0"/>
              <a:t>[6:20], use </a:t>
            </a:r>
            <a:r>
              <a:rPr lang="en-US" altLang="en-US" i="1" smtClean="0"/>
              <a:t>A</a:t>
            </a:r>
            <a:r>
              <a:rPr lang="en-US" altLang="en-US" smtClean="0"/>
              <a:t>[20] as the pivot</a:t>
            </a:r>
          </a:p>
          <a:p>
            <a:pPr lvl="1"/>
            <a:r>
              <a:rPr lang="en-US" altLang="en-US" smtClean="0"/>
              <a:t>Textbook implementation does this</a:t>
            </a:r>
          </a:p>
          <a:p>
            <a:endParaRPr lang="en-US" altLang="en-US" sz="2400" smtClean="0"/>
          </a:p>
          <a:p>
            <a:r>
              <a:rPr lang="en-US" altLang="en-US" sz="2400" smtClean="0">
                <a:solidFill>
                  <a:srgbClr val="FF3300"/>
                </a:solidFill>
              </a:rPr>
              <a:t>Randomly</a:t>
            </a:r>
            <a:r>
              <a:rPr lang="en-US" altLang="en-US" sz="2400" smtClean="0"/>
              <a:t> select one of the elements to be sorted as the pivot</a:t>
            </a:r>
          </a:p>
          <a:p>
            <a:pPr lvl="1"/>
            <a:r>
              <a:rPr lang="en-US" altLang="en-US" smtClean="0"/>
              <a:t>When sorting </a:t>
            </a:r>
            <a:r>
              <a:rPr lang="en-US" altLang="en-US" i="1" smtClean="0"/>
              <a:t>A</a:t>
            </a:r>
            <a:r>
              <a:rPr lang="en-US" altLang="en-US" smtClean="0"/>
              <a:t>[6:20], generate a random number </a:t>
            </a:r>
            <a:r>
              <a:rPr lang="en-US" altLang="en-US" i="1" smtClean="0"/>
              <a:t>r</a:t>
            </a:r>
            <a:r>
              <a:rPr lang="en-US" altLang="en-US" smtClean="0"/>
              <a:t> in the range [6, 20]</a:t>
            </a:r>
          </a:p>
          <a:p>
            <a:pPr lvl="1"/>
            <a:r>
              <a:rPr lang="en-US" altLang="en-US" smtClean="0"/>
              <a:t>Use </a:t>
            </a:r>
            <a:r>
              <a:rPr lang="en-US" altLang="en-US" i="1" smtClean="0"/>
              <a:t>A</a:t>
            </a:r>
            <a:r>
              <a:rPr lang="en-US" altLang="en-US" smtClean="0"/>
              <a:t>[</a:t>
            </a:r>
            <a:r>
              <a:rPr lang="en-US" altLang="en-US" i="1" smtClean="0"/>
              <a:t>r</a:t>
            </a:r>
            <a:r>
              <a:rPr lang="en-US" altLang="en-US" smtClean="0"/>
              <a:t>] as the pivot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Choice Of Pivot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smtClean="0">
                <a:solidFill>
                  <a:srgbClr val="FF3300"/>
                </a:solidFill>
              </a:rPr>
              <a:t>Median-of-Three rule</a:t>
            </a:r>
            <a:r>
              <a:rPr lang="en-US" altLang="en-US" sz="2000" smtClean="0"/>
              <a:t> - from the leftmost, middle, and rightmost elements of the list to be sorted, select the one with median key as the pivot</a:t>
            </a:r>
          </a:p>
          <a:p>
            <a:pPr lvl="1"/>
            <a:r>
              <a:rPr lang="en-US" altLang="en-US" sz="2000" smtClean="0"/>
              <a:t>When sorting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[6:20], examine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[6],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[13] ((6+20)/2), and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[20]</a:t>
            </a:r>
          </a:p>
          <a:p>
            <a:pPr lvl="1"/>
            <a:r>
              <a:rPr lang="en-US" altLang="en-US" sz="2000" smtClean="0"/>
              <a:t>Select the element with median (i.e., middle) key</a:t>
            </a:r>
          </a:p>
          <a:p>
            <a:pPr lvl="1"/>
            <a:endParaRPr lang="en-US" altLang="en-US" sz="2000" smtClean="0"/>
          </a:p>
          <a:p>
            <a:pPr lvl="1"/>
            <a:r>
              <a:rPr lang="en-US" altLang="en-US" sz="2000" smtClean="0"/>
              <a:t>If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[6].key = 30,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[13].key = 2, and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[20].key = 10,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[20] becomes the pivot</a:t>
            </a:r>
          </a:p>
          <a:p>
            <a:pPr lvl="1"/>
            <a:endParaRPr lang="en-US" altLang="en-US" sz="2000" smtClean="0"/>
          </a:p>
          <a:p>
            <a:pPr lvl="1"/>
            <a:r>
              <a:rPr lang="en-US" altLang="en-US" sz="2000" smtClean="0"/>
              <a:t>If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[6].key = 3,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[13].key = 2, and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[20].key = 10,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[6] becomes the pivot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solidFill>
                  <a:srgbClr val="FF3300"/>
                </a:solidFill>
              </a:rPr>
              <a:t>Worst Case</a:t>
            </a:r>
            <a:r>
              <a:rPr lang="en-US" altLang="en-US" smtClean="0"/>
              <a:t> Partitioning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9000"/>
              </a:lnSpc>
            </a:pPr>
            <a:r>
              <a:rPr lang="en-US" altLang="en-US" sz="2000" smtClean="0"/>
              <a:t>The running time of quicksort depends on whether the </a:t>
            </a:r>
            <a:r>
              <a:rPr lang="en-US" altLang="en-US" sz="2000" smtClean="0">
                <a:solidFill>
                  <a:srgbClr val="FF3300"/>
                </a:solidFill>
              </a:rPr>
              <a:t>partitioning</a:t>
            </a:r>
            <a:r>
              <a:rPr lang="en-US" altLang="en-US" sz="2000" smtClean="0"/>
              <a:t> is </a:t>
            </a:r>
            <a:r>
              <a:rPr lang="en-US" altLang="en-US" sz="2000" smtClean="0">
                <a:solidFill>
                  <a:srgbClr val="FF3300"/>
                </a:solidFill>
              </a:rPr>
              <a:t>balanced or not.</a:t>
            </a:r>
          </a:p>
          <a:p>
            <a:pPr>
              <a:lnSpc>
                <a:spcPct val="79000"/>
              </a:lnSpc>
            </a:pPr>
            <a:endParaRPr lang="en-US" altLang="en-US" sz="2000" smtClean="0"/>
          </a:p>
          <a:p>
            <a:pPr>
              <a:lnSpc>
                <a:spcPct val="79000"/>
              </a:lnSpc>
            </a:pPr>
            <a:r>
              <a:rPr lang="en-US" altLang="en-US" sz="2000" smtClean="0">
                <a:sym typeface="Symbol" panose="05050102010706020507" pitchFamily="18" charset="2"/>
              </a:rPr>
              <a:t></a:t>
            </a:r>
            <a:r>
              <a:rPr lang="en-US" altLang="en-US" sz="2000" smtClean="0"/>
              <a:t>(</a:t>
            </a:r>
            <a:r>
              <a:rPr lang="en-US" altLang="en-US" sz="2000" i="1" smtClean="0"/>
              <a:t>n</a:t>
            </a:r>
            <a:r>
              <a:rPr lang="en-US" altLang="en-US" sz="2000" smtClean="0"/>
              <a:t>) time to partition an array of </a:t>
            </a:r>
            <a:r>
              <a:rPr lang="en-US" altLang="en-US" sz="2000" i="1" smtClean="0"/>
              <a:t>n</a:t>
            </a:r>
            <a:r>
              <a:rPr lang="en-US" altLang="en-US" sz="2000" smtClean="0"/>
              <a:t> elements</a:t>
            </a:r>
          </a:p>
          <a:p>
            <a:pPr>
              <a:lnSpc>
                <a:spcPct val="79000"/>
              </a:lnSpc>
            </a:pPr>
            <a:endParaRPr lang="en-US" altLang="en-US" sz="2000" smtClean="0"/>
          </a:p>
          <a:p>
            <a:pPr>
              <a:lnSpc>
                <a:spcPct val="79000"/>
              </a:lnSpc>
            </a:pPr>
            <a:r>
              <a:rPr lang="en-US" altLang="en-US" sz="2000" smtClean="0"/>
              <a:t>Let </a:t>
            </a:r>
            <a:r>
              <a:rPr lang="en-US" altLang="en-US" sz="2000" i="1" smtClean="0"/>
              <a:t>T</a:t>
            </a:r>
            <a:r>
              <a:rPr lang="en-US" altLang="en-US" sz="2000" smtClean="0"/>
              <a:t>(</a:t>
            </a:r>
            <a:r>
              <a:rPr lang="en-US" altLang="en-US" sz="2000" i="1" smtClean="0"/>
              <a:t>n</a:t>
            </a:r>
            <a:r>
              <a:rPr lang="en-US" altLang="en-US" sz="2000" smtClean="0"/>
              <a:t>) be the time needed to sort </a:t>
            </a:r>
            <a:r>
              <a:rPr lang="en-US" altLang="en-US" sz="2000" i="1" smtClean="0"/>
              <a:t>n</a:t>
            </a:r>
            <a:r>
              <a:rPr lang="en-US" altLang="en-US" sz="2000" smtClean="0"/>
              <a:t> elements</a:t>
            </a:r>
          </a:p>
          <a:p>
            <a:pPr>
              <a:lnSpc>
                <a:spcPct val="79000"/>
              </a:lnSpc>
            </a:pPr>
            <a:endParaRPr lang="en-US" altLang="en-US" sz="2000" smtClean="0"/>
          </a:p>
          <a:p>
            <a:pPr>
              <a:lnSpc>
                <a:spcPct val="79000"/>
              </a:lnSpc>
            </a:pPr>
            <a:r>
              <a:rPr lang="en-US" altLang="en-US" sz="2000" i="1" smtClean="0"/>
              <a:t>T</a:t>
            </a:r>
            <a:r>
              <a:rPr lang="en-US" altLang="en-US" sz="2000" smtClean="0"/>
              <a:t>(0) = </a:t>
            </a:r>
            <a:r>
              <a:rPr lang="en-US" altLang="en-US" sz="2000" i="1" smtClean="0"/>
              <a:t>T</a:t>
            </a:r>
            <a:r>
              <a:rPr lang="en-US" altLang="en-US" sz="2000" smtClean="0"/>
              <a:t>(1) = </a:t>
            </a:r>
            <a:r>
              <a:rPr lang="en-US" altLang="en-US" sz="2000" i="1" smtClean="0"/>
              <a:t>c</a:t>
            </a:r>
            <a:r>
              <a:rPr lang="en-US" altLang="en-US" sz="2000" smtClean="0"/>
              <a:t>, where </a:t>
            </a:r>
            <a:r>
              <a:rPr lang="en-US" altLang="en-US" sz="2000" i="1" smtClean="0"/>
              <a:t>c</a:t>
            </a:r>
            <a:r>
              <a:rPr lang="en-US" altLang="en-US" sz="2000" smtClean="0"/>
              <a:t> is a constant</a:t>
            </a:r>
          </a:p>
          <a:p>
            <a:pPr>
              <a:lnSpc>
                <a:spcPct val="79000"/>
              </a:lnSpc>
            </a:pPr>
            <a:endParaRPr lang="en-US" altLang="en-US" sz="2000" smtClean="0"/>
          </a:p>
          <a:p>
            <a:pPr>
              <a:lnSpc>
                <a:spcPct val="79000"/>
              </a:lnSpc>
            </a:pPr>
            <a:r>
              <a:rPr lang="en-US" altLang="en-US" sz="2000" smtClean="0"/>
              <a:t>When </a:t>
            </a:r>
            <a:r>
              <a:rPr lang="en-US" altLang="en-US" sz="2000" i="1" smtClean="0"/>
              <a:t>n</a:t>
            </a:r>
            <a:r>
              <a:rPr lang="en-US" altLang="en-US" sz="2000" smtClean="0"/>
              <a:t> &gt; 1, </a:t>
            </a:r>
          </a:p>
          <a:p>
            <a:pPr lvl="1">
              <a:lnSpc>
                <a:spcPct val="70000"/>
              </a:lnSpc>
            </a:pPr>
            <a:r>
              <a:rPr lang="en-US" altLang="en-US" sz="2000" i="1" smtClean="0"/>
              <a:t>T</a:t>
            </a:r>
            <a:r>
              <a:rPr lang="en-US" altLang="en-US" sz="2000" smtClean="0"/>
              <a:t>(</a:t>
            </a:r>
            <a:r>
              <a:rPr lang="en-US" altLang="en-US" sz="2000" i="1" smtClean="0"/>
              <a:t>n</a:t>
            </a:r>
            <a:r>
              <a:rPr lang="en-US" altLang="en-US" sz="2000" smtClean="0"/>
              <a:t>) = </a:t>
            </a:r>
            <a:r>
              <a:rPr lang="en-US" altLang="en-US" sz="2000" i="1" smtClean="0"/>
              <a:t>T</a:t>
            </a:r>
            <a:r>
              <a:rPr lang="en-US" altLang="en-US" sz="2000" smtClean="0"/>
              <a:t>(|left|) + </a:t>
            </a:r>
            <a:r>
              <a:rPr lang="en-US" altLang="en-US" sz="2000" i="1" smtClean="0"/>
              <a:t>T</a:t>
            </a:r>
            <a:r>
              <a:rPr lang="en-US" altLang="en-US" sz="2000" smtClean="0"/>
              <a:t>(|right|) + </a:t>
            </a:r>
            <a:r>
              <a:rPr lang="en-US" altLang="en-US" sz="2000" smtClean="0">
                <a:sym typeface="Symbol" panose="05050102010706020507" pitchFamily="18" charset="2"/>
              </a:rPr>
              <a:t></a:t>
            </a:r>
            <a:r>
              <a:rPr lang="en-US" altLang="en-US" sz="2000" smtClean="0"/>
              <a:t>(</a:t>
            </a:r>
            <a:r>
              <a:rPr lang="en-US" altLang="en-US" sz="2000" i="1" smtClean="0"/>
              <a:t>n</a:t>
            </a:r>
            <a:r>
              <a:rPr lang="en-US" altLang="en-US" sz="2000" smtClean="0"/>
              <a:t>)</a:t>
            </a:r>
          </a:p>
          <a:p>
            <a:pPr lvl="1">
              <a:lnSpc>
                <a:spcPct val="70000"/>
              </a:lnSpc>
            </a:pPr>
            <a:endParaRPr lang="en-US" altLang="en-US" sz="2000" smtClean="0"/>
          </a:p>
          <a:p>
            <a:pPr>
              <a:lnSpc>
                <a:spcPct val="79000"/>
              </a:lnSpc>
            </a:pPr>
            <a:r>
              <a:rPr lang="en-US" altLang="en-US" sz="2000" i="1" smtClean="0"/>
              <a:t>T</a:t>
            </a:r>
            <a:r>
              <a:rPr lang="en-US" altLang="en-US" sz="2000" smtClean="0"/>
              <a:t>(</a:t>
            </a:r>
            <a:r>
              <a:rPr lang="en-US" altLang="en-US" sz="2000" i="1" smtClean="0"/>
              <a:t>n</a:t>
            </a:r>
            <a:r>
              <a:rPr lang="en-US" altLang="en-US" sz="2000" smtClean="0"/>
              <a:t>) is maximum (</a:t>
            </a:r>
            <a:r>
              <a:rPr lang="en-US" altLang="en-US" sz="2000" smtClean="0">
                <a:solidFill>
                  <a:srgbClr val="FF3300"/>
                </a:solidFill>
              </a:rPr>
              <a:t>worst-case</a:t>
            </a:r>
            <a:r>
              <a:rPr lang="en-US" altLang="en-US" sz="2000" smtClean="0"/>
              <a:t>) when </a:t>
            </a:r>
            <a:r>
              <a:rPr lang="en-US" altLang="en-US" sz="2000" u="sng" smtClean="0"/>
              <a:t>either |left| = 0 or |right| = 0 following each partitioning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Worst Case Partitioning</a:t>
            </a:r>
          </a:p>
        </p:txBody>
      </p:sp>
      <p:pic>
        <p:nvPicPr>
          <p:cNvPr id="30723" name="Picture 3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1739900"/>
            <a:ext cx="8437562" cy="455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250950"/>
          </a:xfrm>
        </p:spPr>
        <p:txBody>
          <a:bodyPr/>
          <a:lstStyle/>
          <a:p>
            <a:r>
              <a:rPr lang="en-US" altLang="en-US" smtClean="0"/>
              <a:t>Worst Case Partitioning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7996238" cy="4525963"/>
          </a:xfrm>
        </p:spPr>
        <p:txBody>
          <a:bodyPr/>
          <a:lstStyle/>
          <a:p>
            <a:r>
              <a:rPr lang="en-US" altLang="en-US" smtClean="0"/>
              <a:t>Worst-Case Performance (</a:t>
            </a:r>
            <a:r>
              <a:rPr lang="en-US" altLang="en-US" smtClean="0">
                <a:solidFill>
                  <a:srgbClr val="FF3300"/>
                </a:solidFill>
              </a:rPr>
              <a:t>unbalanced</a:t>
            </a:r>
            <a:r>
              <a:rPr lang="en-US" altLang="en-US" smtClean="0"/>
              <a:t>):</a:t>
            </a:r>
          </a:p>
          <a:p>
            <a:pPr lvl="1"/>
            <a:r>
              <a:rPr lang="en-US" altLang="en-US" i="1" smtClean="0"/>
              <a:t>T</a:t>
            </a:r>
            <a:r>
              <a:rPr lang="en-US" altLang="en-US" smtClean="0"/>
              <a:t>(</a:t>
            </a:r>
            <a:r>
              <a:rPr lang="en-US" altLang="en-US" i="1" smtClean="0"/>
              <a:t>n</a:t>
            </a:r>
            <a:r>
              <a:rPr lang="en-US" altLang="en-US" smtClean="0"/>
              <a:t>) = </a:t>
            </a:r>
            <a:r>
              <a:rPr lang="en-US" altLang="en-US" i="1" smtClean="0"/>
              <a:t>T</a:t>
            </a:r>
            <a:r>
              <a:rPr lang="en-US" altLang="en-US" smtClean="0"/>
              <a:t>(0) + </a:t>
            </a:r>
            <a:r>
              <a:rPr lang="en-US" altLang="en-US" i="1" smtClean="0"/>
              <a:t>T</a:t>
            </a:r>
            <a:r>
              <a:rPr lang="en-US" altLang="en-US" smtClean="0"/>
              <a:t>(</a:t>
            </a:r>
            <a:r>
              <a:rPr lang="en-US" altLang="en-US" i="1" smtClean="0"/>
              <a:t>n</a:t>
            </a:r>
            <a:r>
              <a:rPr lang="en-US" altLang="en-US" smtClean="0"/>
              <a:t>-1) + </a:t>
            </a:r>
            <a:r>
              <a:rPr lang="en-US" altLang="en-US" smtClean="0">
                <a:solidFill>
                  <a:srgbClr val="A50021"/>
                </a:solidFill>
                <a:sym typeface="Symbol" panose="05050102010706020507" pitchFamily="18" charset="2"/>
              </a:rPr>
              <a:t></a:t>
            </a:r>
            <a:r>
              <a:rPr lang="en-US" altLang="en-US" smtClean="0">
                <a:solidFill>
                  <a:srgbClr val="A50021"/>
                </a:solidFill>
              </a:rPr>
              <a:t>(</a:t>
            </a:r>
            <a:r>
              <a:rPr lang="en-US" altLang="en-US" i="1" smtClean="0">
                <a:solidFill>
                  <a:srgbClr val="A50021"/>
                </a:solidFill>
              </a:rPr>
              <a:t>n</a:t>
            </a:r>
            <a:r>
              <a:rPr lang="en-US" altLang="en-US" smtClean="0">
                <a:solidFill>
                  <a:srgbClr val="A50021"/>
                </a:solidFill>
              </a:rPr>
              <a:t>)</a:t>
            </a:r>
            <a:r>
              <a:rPr lang="en-US" altLang="en-US" smtClean="0"/>
              <a:t> </a:t>
            </a:r>
          </a:p>
          <a:p>
            <a:pPr lvl="2"/>
            <a:r>
              <a:rPr lang="en-US" altLang="en-US" sz="2000" smtClean="0">
                <a:solidFill>
                  <a:srgbClr val="A50021"/>
                </a:solidFill>
                <a:sym typeface="Symbol" panose="05050102010706020507" pitchFamily="18" charset="2"/>
              </a:rPr>
              <a:t>partitioning takes </a:t>
            </a:r>
            <a:r>
              <a:rPr lang="en-US" altLang="en-US" sz="2000" smtClean="0">
                <a:solidFill>
                  <a:srgbClr val="A50021"/>
                </a:solidFill>
              </a:rPr>
              <a:t>(</a:t>
            </a:r>
            <a:r>
              <a:rPr lang="en-US" altLang="en-US" sz="2000" i="1" smtClean="0">
                <a:solidFill>
                  <a:srgbClr val="A50021"/>
                </a:solidFill>
              </a:rPr>
              <a:t>n</a:t>
            </a:r>
            <a:r>
              <a:rPr lang="en-US" altLang="en-US" sz="2000" smtClean="0">
                <a:solidFill>
                  <a:srgbClr val="A50021"/>
                </a:solidFill>
              </a:rPr>
              <a:t>)</a:t>
            </a:r>
          </a:p>
          <a:p>
            <a:pPr lvl="1">
              <a:buFontTx/>
              <a:buNone/>
            </a:pPr>
            <a:r>
              <a:rPr lang="en-US" altLang="en-US" smtClean="0"/>
              <a:t> = </a:t>
            </a:r>
            <a:r>
              <a:rPr lang="en-US" altLang="en-US" smtClean="0">
                <a:sym typeface="Symbol" panose="05050102010706020507" pitchFamily="18" charset="2"/>
              </a:rPr>
              <a:t></a:t>
            </a:r>
            <a:r>
              <a:rPr lang="en-US" altLang="en-US" smtClean="0"/>
              <a:t>(</a:t>
            </a:r>
            <a:r>
              <a:rPr lang="en-US" altLang="en-US" i="1" smtClean="0"/>
              <a:t>n</a:t>
            </a:r>
            <a:r>
              <a:rPr lang="en-US" altLang="en-US" baseline="30000" smtClean="0"/>
              <a:t>2</a:t>
            </a:r>
            <a:r>
              <a:rPr lang="en-US" altLang="en-US" smtClean="0"/>
              <a:t>)</a:t>
            </a:r>
          </a:p>
          <a:p>
            <a:pPr lvl="1"/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This occurs when </a:t>
            </a:r>
          </a:p>
          <a:p>
            <a:pPr lvl="1"/>
            <a:r>
              <a:rPr lang="en-US" altLang="en-US" smtClean="0"/>
              <a:t>the input is </a:t>
            </a:r>
            <a:r>
              <a:rPr lang="en-US" altLang="en-US" smtClean="0">
                <a:solidFill>
                  <a:srgbClr val="FF3300"/>
                </a:solidFill>
              </a:rPr>
              <a:t>completely sorted</a:t>
            </a:r>
          </a:p>
          <a:p>
            <a:r>
              <a:rPr lang="en-US" altLang="en-US" smtClean="0"/>
              <a:t>or when </a:t>
            </a:r>
          </a:p>
          <a:p>
            <a:pPr lvl="1"/>
            <a:r>
              <a:rPr lang="en-US" altLang="en-US" smtClean="0"/>
              <a:t>the pivot is always the </a:t>
            </a:r>
            <a:r>
              <a:rPr lang="en-US" altLang="en-US" smtClean="0">
                <a:solidFill>
                  <a:srgbClr val="FF3300"/>
                </a:solidFill>
              </a:rPr>
              <a:t>smallest (largest)</a:t>
            </a:r>
            <a:r>
              <a:rPr lang="en-US" altLang="en-US" smtClean="0"/>
              <a:t> element</a:t>
            </a:r>
          </a:p>
          <a:p>
            <a:endParaRPr lang="en-US" altLang="en-US" smtClean="0"/>
          </a:p>
        </p:txBody>
      </p:sp>
      <p:graphicFrame>
        <p:nvGraphicFramePr>
          <p:cNvPr id="31748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4724400" y="2895600"/>
          <a:ext cx="356393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3" imgW="2489200" imgH="431800" progId="Equation.3">
                  <p:embed/>
                </p:oleObj>
              </mc:Choice>
              <mc:Fallback>
                <p:oleObj name="Equation" r:id="rId3" imgW="24892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895600"/>
                        <a:ext cx="3563938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solidFill>
                  <a:srgbClr val="FF3300"/>
                </a:solidFill>
              </a:rPr>
              <a:t>Best Case</a:t>
            </a:r>
            <a:r>
              <a:rPr lang="en-US" altLang="en-US" smtClean="0"/>
              <a:t> Partition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smtClean="0"/>
              <a:t>When the partitioning procedure produces two regions of </a:t>
            </a:r>
            <a:r>
              <a:rPr lang="en-US" altLang="en-US" sz="2400" smtClean="0">
                <a:solidFill>
                  <a:srgbClr val="FF3300"/>
                </a:solidFill>
              </a:rPr>
              <a:t>size </a:t>
            </a:r>
            <a:r>
              <a:rPr lang="en-US" altLang="en-US" sz="2400" i="1" smtClean="0">
                <a:solidFill>
                  <a:srgbClr val="FF3300"/>
                </a:solidFill>
              </a:rPr>
              <a:t>n</a:t>
            </a:r>
            <a:r>
              <a:rPr lang="en-US" altLang="en-US" sz="2400" smtClean="0">
                <a:solidFill>
                  <a:srgbClr val="FF3300"/>
                </a:solidFill>
              </a:rPr>
              <a:t>/2</a:t>
            </a:r>
            <a:r>
              <a:rPr lang="en-US" altLang="en-US" sz="2400" smtClean="0"/>
              <a:t>, we get the a balanced partition with best case performance:</a:t>
            </a:r>
          </a:p>
          <a:p>
            <a:pPr lvl="1"/>
            <a:r>
              <a:rPr lang="en-US" altLang="en-US" i="1" smtClean="0"/>
              <a:t>T</a:t>
            </a:r>
            <a:r>
              <a:rPr lang="en-US" altLang="en-US" smtClean="0"/>
              <a:t>(</a:t>
            </a:r>
            <a:r>
              <a:rPr lang="en-US" altLang="en-US" i="1" smtClean="0"/>
              <a:t>n</a:t>
            </a:r>
            <a:r>
              <a:rPr lang="en-US" altLang="en-US" smtClean="0"/>
              <a:t>) = 2</a:t>
            </a:r>
            <a:r>
              <a:rPr lang="en-US" altLang="en-US" i="1" smtClean="0"/>
              <a:t>T</a:t>
            </a:r>
            <a:r>
              <a:rPr lang="en-US" altLang="en-US" smtClean="0"/>
              <a:t>(</a:t>
            </a:r>
            <a:r>
              <a:rPr lang="en-US" altLang="en-US" i="1" smtClean="0"/>
              <a:t>n</a:t>
            </a:r>
            <a:r>
              <a:rPr lang="en-US" altLang="en-US" smtClean="0"/>
              <a:t>/2) + </a:t>
            </a:r>
            <a:r>
              <a:rPr lang="en-US" altLang="en-US" smtClean="0">
                <a:sym typeface="Symbol" panose="05050102010706020507" pitchFamily="18" charset="2"/>
              </a:rPr>
              <a:t></a:t>
            </a:r>
            <a:r>
              <a:rPr lang="en-US" altLang="en-US" smtClean="0"/>
              <a:t>(</a:t>
            </a:r>
            <a:r>
              <a:rPr lang="en-US" altLang="en-US" i="1" smtClean="0"/>
              <a:t>n</a:t>
            </a:r>
            <a:r>
              <a:rPr lang="en-US" altLang="en-US" smtClean="0"/>
              <a:t>) = </a:t>
            </a:r>
            <a:r>
              <a:rPr lang="en-US" altLang="en-US" smtClean="0">
                <a:sym typeface="Symbol" panose="05050102010706020507" pitchFamily="18" charset="2"/>
              </a:rPr>
              <a:t></a:t>
            </a:r>
            <a:r>
              <a:rPr lang="en-US" altLang="en-US" smtClean="0"/>
              <a:t>(</a:t>
            </a:r>
            <a:r>
              <a:rPr lang="en-US" altLang="en-US" i="1" smtClean="0"/>
              <a:t>n</a:t>
            </a:r>
            <a:r>
              <a:rPr lang="en-US" altLang="en-US" smtClean="0"/>
              <a:t> lg </a:t>
            </a:r>
            <a:r>
              <a:rPr lang="en-US" altLang="en-US" i="1" smtClean="0"/>
              <a:t>n</a:t>
            </a:r>
            <a:r>
              <a:rPr lang="en-US" altLang="en-US" smtClean="0"/>
              <a:t>)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Average complexity is also </a:t>
            </a:r>
            <a:r>
              <a:rPr lang="en-US" altLang="en-US" sz="2400" smtClean="0">
                <a:sym typeface="Symbol" panose="05050102010706020507" pitchFamily="18" charset="2"/>
              </a:rPr>
              <a:t></a:t>
            </a:r>
            <a:r>
              <a:rPr lang="en-US" altLang="en-US" sz="2400" smtClean="0"/>
              <a:t>(</a:t>
            </a:r>
            <a:r>
              <a:rPr lang="en-US" altLang="en-US" sz="2400" i="1" smtClean="0"/>
              <a:t>n</a:t>
            </a:r>
            <a:r>
              <a:rPr lang="en-US" altLang="en-US" sz="2400" smtClean="0"/>
              <a:t> lg </a:t>
            </a:r>
            <a:r>
              <a:rPr lang="en-US" altLang="en-US" sz="2400" i="1" smtClean="0"/>
              <a:t>n</a:t>
            </a:r>
            <a:r>
              <a:rPr lang="en-US" altLang="en-US" sz="2400" smtClean="0"/>
              <a:t>)</a:t>
            </a:r>
          </a:p>
          <a:p>
            <a:endParaRPr lang="en-US" altLang="en-US" sz="2400" smtClean="0"/>
          </a:p>
          <a:p>
            <a:endParaRPr lang="en-US" altLang="en-US" sz="2400" smtClean="0"/>
          </a:p>
          <a:p>
            <a:endParaRPr lang="en-US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Best Case Partitioning</a:t>
            </a:r>
          </a:p>
        </p:txBody>
      </p:sp>
      <p:pic>
        <p:nvPicPr>
          <p:cNvPr id="33795" name="Picture 3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8" y="1600200"/>
            <a:ext cx="8672512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solidFill>
                  <a:srgbClr val="FF3300"/>
                </a:solidFill>
              </a:rPr>
              <a:t>Average Case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smtClean="0"/>
              <a:t>Assuming </a:t>
            </a:r>
            <a:r>
              <a:rPr lang="en-US" altLang="en-US" sz="2400" smtClean="0">
                <a:solidFill>
                  <a:srgbClr val="FF3300"/>
                </a:solidFill>
              </a:rPr>
              <a:t>random input</a:t>
            </a:r>
            <a:r>
              <a:rPr lang="en-US" altLang="en-US" sz="2400" smtClean="0"/>
              <a:t>, average-case running time is much closer to </a:t>
            </a:r>
            <a:r>
              <a:rPr lang="en-US" altLang="en-US" sz="2400" smtClean="0">
                <a:sym typeface="Symbol" panose="05050102010706020507" pitchFamily="18" charset="2"/>
              </a:rPr>
              <a:t></a:t>
            </a:r>
            <a:r>
              <a:rPr lang="en-US" altLang="en-US" sz="2400" smtClean="0"/>
              <a:t>(</a:t>
            </a:r>
            <a:r>
              <a:rPr lang="en-US" altLang="en-US" sz="2400" i="1" smtClean="0"/>
              <a:t>n</a:t>
            </a:r>
            <a:r>
              <a:rPr lang="en-US" altLang="en-US" sz="2400" smtClean="0"/>
              <a:t> lg </a:t>
            </a:r>
            <a:r>
              <a:rPr lang="en-US" altLang="en-US" sz="2400" i="1" smtClean="0"/>
              <a:t>n</a:t>
            </a:r>
            <a:r>
              <a:rPr lang="en-US" altLang="en-US" sz="2400" smtClean="0"/>
              <a:t>) than </a:t>
            </a:r>
            <a:r>
              <a:rPr lang="en-US" altLang="en-US" sz="2400" smtClean="0">
                <a:sym typeface="Symbol" panose="05050102010706020507" pitchFamily="18" charset="2"/>
              </a:rPr>
              <a:t></a:t>
            </a:r>
            <a:r>
              <a:rPr lang="en-US" altLang="en-US" sz="2400" smtClean="0"/>
              <a:t>(</a:t>
            </a:r>
            <a:r>
              <a:rPr lang="en-US" altLang="en-US" sz="2400" i="1" smtClean="0"/>
              <a:t>n</a:t>
            </a:r>
            <a:r>
              <a:rPr lang="en-US" altLang="en-US" sz="2400" baseline="30000" smtClean="0"/>
              <a:t>2</a:t>
            </a:r>
            <a:r>
              <a:rPr lang="en-US" altLang="en-US" sz="2400" smtClean="0"/>
              <a:t>)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First, a more intuitive explanation/example:</a:t>
            </a:r>
          </a:p>
          <a:p>
            <a:pPr lvl="1"/>
            <a:r>
              <a:rPr lang="en-US" altLang="en-US" smtClean="0"/>
              <a:t>Suppose that partition() always produces a </a:t>
            </a:r>
            <a:r>
              <a:rPr lang="en-US" altLang="en-US" smtClean="0">
                <a:solidFill>
                  <a:srgbClr val="FF3300"/>
                </a:solidFill>
              </a:rPr>
              <a:t>9-to-1 proportional split</a:t>
            </a:r>
            <a:r>
              <a:rPr lang="en-US" altLang="en-US" smtClean="0"/>
              <a:t>.  This looks quite unbalanced!</a:t>
            </a:r>
          </a:p>
          <a:p>
            <a:pPr lvl="1"/>
            <a:r>
              <a:rPr lang="en-US" altLang="en-US" smtClean="0"/>
              <a:t>The recurrence is thus:</a:t>
            </a:r>
          </a:p>
          <a:p>
            <a:pPr lvl="1">
              <a:buFontTx/>
              <a:buNone/>
            </a:pPr>
            <a:r>
              <a:rPr lang="en-US" altLang="en-US" smtClean="0"/>
              <a:t>	</a:t>
            </a:r>
            <a:r>
              <a:rPr lang="en-US" altLang="en-US" i="1" smtClean="0"/>
              <a:t>T</a:t>
            </a:r>
            <a:r>
              <a:rPr lang="en-US" altLang="en-US" smtClean="0"/>
              <a:t>(</a:t>
            </a:r>
            <a:r>
              <a:rPr lang="en-US" altLang="en-US" i="1" smtClean="0"/>
              <a:t>n</a:t>
            </a:r>
            <a:r>
              <a:rPr lang="en-US" altLang="en-US" smtClean="0"/>
              <a:t>) = </a:t>
            </a:r>
            <a:r>
              <a:rPr lang="en-US" altLang="en-US" i="1" smtClean="0"/>
              <a:t>T</a:t>
            </a:r>
            <a:r>
              <a:rPr lang="en-US" altLang="en-US" smtClean="0"/>
              <a:t>(9</a:t>
            </a:r>
            <a:r>
              <a:rPr lang="en-US" altLang="en-US" i="1" smtClean="0"/>
              <a:t>n</a:t>
            </a:r>
            <a:r>
              <a:rPr lang="en-US" altLang="en-US" smtClean="0"/>
              <a:t>/10) + T(</a:t>
            </a:r>
            <a:r>
              <a:rPr lang="en-US" altLang="en-US" i="1" smtClean="0"/>
              <a:t>n</a:t>
            </a:r>
            <a:r>
              <a:rPr lang="en-US" altLang="en-US" smtClean="0"/>
              <a:t>/10) + </a:t>
            </a:r>
            <a:r>
              <a:rPr lang="en-US" altLang="en-US" smtClean="0">
                <a:sym typeface="Symbol" panose="05050102010706020507" pitchFamily="18" charset="2"/>
              </a:rPr>
              <a:t>(</a:t>
            </a:r>
            <a:r>
              <a:rPr lang="en-US" altLang="en-US" i="1" smtClean="0"/>
              <a:t>n</a:t>
            </a:r>
            <a:r>
              <a:rPr lang="en-US" altLang="en-US" smtClean="0"/>
              <a:t>) = </a:t>
            </a:r>
            <a:r>
              <a:rPr lang="en-US" altLang="en-US" smtClean="0">
                <a:sym typeface="Symbol" panose="05050102010706020507" pitchFamily="18" charset="2"/>
              </a:rPr>
              <a:t></a:t>
            </a:r>
            <a:r>
              <a:rPr lang="en-US" altLang="en-US" smtClean="0"/>
              <a:t>(</a:t>
            </a:r>
            <a:r>
              <a:rPr lang="en-US" altLang="en-US" i="1" smtClean="0"/>
              <a:t>n</a:t>
            </a:r>
            <a:r>
              <a:rPr lang="en-US" altLang="en-US" baseline="30000" smtClean="0"/>
              <a:t> </a:t>
            </a:r>
            <a:r>
              <a:rPr lang="en-US" altLang="en-US" smtClean="0"/>
              <a:t>lg </a:t>
            </a:r>
            <a:r>
              <a:rPr lang="en-US" altLang="en-US" i="1" smtClean="0"/>
              <a:t>n</a:t>
            </a:r>
            <a:r>
              <a:rPr lang="en-US" altLang="en-US" smtClean="0"/>
              <a:t>)?</a:t>
            </a:r>
          </a:p>
          <a:p>
            <a:pPr lvl="1">
              <a:buFontTx/>
              <a:buNone/>
            </a:pPr>
            <a:endParaRPr lang="en-US" altLang="en-US" smtClean="0"/>
          </a:p>
          <a:p>
            <a:pPr lvl="1">
              <a:buFontTx/>
              <a:buNone/>
            </a:pPr>
            <a:r>
              <a:rPr lang="en-US" altLang="en-US" smtClean="0">
                <a:solidFill>
                  <a:srgbClr val="FF3300"/>
                </a:solidFill>
              </a:rPr>
              <a:t>[Using recursion tree method to solve]</a:t>
            </a:r>
            <a:endParaRPr lang="en-US" altLang="en-US" i="1" smtClean="0">
              <a:solidFill>
                <a:srgbClr val="FF3300"/>
              </a:solidFill>
            </a:endParaRPr>
          </a:p>
          <a:p>
            <a:pPr lvl="1">
              <a:buFontTx/>
              <a:buNone/>
            </a:pPr>
            <a:r>
              <a:rPr lang="en-US" altLang="en-US" smtClean="0"/>
              <a:t> 	</a:t>
            </a:r>
            <a:endParaRPr lang="en-US" altLang="en-US" smtClean="0">
              <a:solidFill>
                <a:srgbClr val="A5002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1143000"/>
          </a:xfrm>
        </p:spPr>
        <p:txBody>
          <a:bodyPr/>
          <a:lstStyle/>
          <a:p>
            <a:r>
              <a:rPr lang="en-US" altLang="en-US" smtClean="0"/>
              <a:t>Average Case</a:t>
            </a:r>
            <a:endParaRPr lang="da-DK" altLang="en-US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a-DK" altLang="en-US" smtClean="0"/>
          </a:p>
          <a:p>
            <a:endParaRPr lang="da-DK" altLang="en-US" smtClean="0"/>
          </a:p>
        </p:txBody>
      </p:sp>
      <p:graphicFrame>
        <p:nvGraphicFramePr>
          <p:cNvPr id="35844" name="Object 3"/>
          <p:cNvGraphicFramePr>
            <a:graphicFrameLocks noChangeAspect="1"/>
          </p:cNvGraphicFramePr>
          <p:nvPr/>
        </p:nvGraphicFramePr>
        <p:xfrm>
          <a:off x="1371600" y="1752600"/>
          <a:ext cx="6230938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6" name="Photo Editor Photo" r:id="rId3" imgW="9876190" imgH="6249272" progId="MSPhotoEd.3">
                  <p:embed/>
                </p:oleObj>
              </mc:Choice>
              <mc:Fallback>
                <p:oleObj name="Photo Editor Photo" r:id="rId3" imgW="9876190" imgH="6249272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52600"/>
                        <a:ext cx="6230938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84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1030288"/>
            <a:ext cx="732631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Average Case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229600" cy="5486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level of the tree has cost cn, until a boundary condition is reached at depth log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= Θ( lgn), and then the levels have cost at most cn. </a:t>
            </a:r>
          </a:p>
          <a:p>
            <a:pPr>
              <a:lnSpc>
                <a:spcPct val="80000"/>
              </a:lnSpc>
            </a:pP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recursion terminates at depth log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10/9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n= Θ(lg n).</a:t>
            </a:r>
          </a:p>
          <a:p>
            <a:pPr>
              <a:lnSpc>
                <a:spcPct val="80000"/>
              </a:lnSpc>
            </a:pP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average cost of quicksort is therefore Θ(n lg 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143001"/>
          </a:xfrm>
        </p:spPr>
        <p:txBody>
          <a:bodyPr/>
          <a:lstStyle/>
          <a:p>
            <a:r>
              <a:rPr lang="en-US" altLang="en-US" smtClean="0"/>
              <a:t>Average Case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25538"/>
            <a:ext cx="8074025" cy="5000625"/>
          </a:xfrm>
        </p:spPr>
        <p:txBody>
          <a:bodyPr/>
          <a:lstStyle/>
          <a:p>
            <a:r>
              <a:rPr lang="en-US" altLang="en-US" sz="2400" smtClean="0"/>
              <a:t>What happens if we </a:t>
            </a:r>
            <a:r>
              <a:rPr lang="en-US" altLang="en-US" sz="2400" smtClean="0">
                <a:solidFill>
                  <a:srgbClr val="FF3300"/>
                </a:solidFill>
              </a:rPr>
              <a:t>bad-split root node</a:t>
            </a:r>
            <a:r>
              <a:rPr lang="en-US" altLang="en-US" sz="2400" smtClean="0"/>
              <a:t>, then </a:t>
            </a:r>
            <a:r>
              <a:rPr lang="en-US" altLang="en-US" sz="2400" smtClean="0">
                <a:solidFill>
                  <a:srgbClr val="FF3300"/>
                </a:solidFill>
              </a:rPr>
              <a:t>good-split</a:t>
            </a:r>
            <a:r>
              <a:rPr lang="en-US" altLang="en-US" sz="2400" smtClean="0"/>
              <a:t> the resulting size (</a:t>
            </a:r>
            <a:r>
              <a:rPr lang="en-US" altLang="en-US" sz="2400" i="1" smtClean="0"/>
              <a:t>n</a:t>
            </a:r>
            <a:r>
              <a:rPr lang="en-US" altLang="en-US" sz="2400" smtClean="0"/>
              <a:t>-1) node?</a:t>
            </a:r>
          </a:p>
          <a:p>
            <a:pPr lvl="1"/>
            <a:r>
              <a:rPr lang="en-US" altLang="en-US" sz="2000" smtClean="0"/>
              <a:t>We end up with </a:t>
            </a:r>
            <a:r>
              <a:rPr lang="en-US" altLang="en-US" sz="2000" smtClean="0">
                <a:solidFill>
                  <a:srgbClr val="FF3300"/>
                </a:solidFill>
              </a:rPr>
              <a:t>three </a:t>
            </a:r>
            <a:r>
              <a:rPr lang="en-US" altLang="en-US" sz="2000" smtClean="0"/>
              <a:t>subarrays, size </a:t>
            </a:r>
          </a:p>
          <a:p>
            <a:pPr lvl="2"/>
            <a:r>
              <a:rPr lang="en-US" altLang="en-US" sz="2000" smtClean="0">
                <a:solidFill>
                  <a:srgbClr val="A50021"/>
                </a:solidFill>
              </a:rPr>
              <a:t>0, ((</a:t>
            </a:r>
            <a:r>
              <a:rPr lang="en-US" altLang="en-US" sz="2000" i="1" smtClean="0">
                <a:solidFill>
                  <a:srgbClr val="A50021"/>
                </a:solidFill>
              </a:rPr>
              <a:t>n</a:t>
            </a:r>
            <a:r>
              <a:rPr lang="en-US" altLang="en-US" sz="2000" smtClean="0">
                <a:solidFill>
                  <a:srgbClr val="A50021"/>
                </a:solidFill>
              </a:rPr>
              <a:t>-1)/2)-1, (</a:t>
            </a:r>
            <a:r>
              <a:rPr lang="en-US" altLang="en-US" sz="2000" i="1" smtClean="0">
                <a:solidFill>
                  <a:srgbClr val="A50021"/>
                </a:solidFill>
              </a:rPr>
              <a:t>n</a:t>
            </a:r>
            <a:r>
              <a:rPr lang="en-US" altLang="en-US" sz="2000" smtClean="0">
                <a:solidFill>
                  <a:srgbClr val="A50021"/>
                </a:solidFill>
              </a:rPr>
              <a:t>-1)/2</a:t>
            </a:r>
          </a:p>
          <a:p>
            <a:pPr lvl="1"/>
            <a:r>
              <a:rPr lang="en-US" altLang="en-US" sz="2000" smtClean="0"/>
              <a:t>Combined </a:t>
            </a:r>
            <a:r>
              <a:rPr lang="en-US" altLang="en-US" sz="2000" smtClean="0">
                <a:solidFill>
                  <a:srgbClr val="FF3300"/>
                </a:solidFill>
              </a:rPr>
              <a:t>cost of splits</a:t>
            </a:r>
            <a:r>
              <a:rPr lang="en-US" altLang="en-US" sz="2000" smtClean="0"/>
              <a:t> = </a:t>
            </a:r>
            <a:r>
              <a:rPr kumimoji="1" lang="en-US" altLang="en-US" sz="2000" smtClean="0">
                <a:sym typeface="Symbol" panose="05050102010706020507" pitchFamily="18" charset="2"/>
              </a:rPr>
              <a:t></a:t>
            </a:r>
            <a:r>
              <a:rPr lang="en-US" altLang="en-US" sz="2000" smtClean="0"/>
              <a:t>(</a:t>
            </a:r>
            <a:r>
              <a:rPr lang="en-US" altLang="en-US" sz="2000" i="1" smtClean="0"/>
              <a:t>n</a:t>
            </a:r>
            <a:r>
              <a:rPr lang="en-US" altLang="en-US" sz="2000" smtClean="0"/>
              <a:t>) + </a:t>
            </a:r>
            <a:r>
              <a:rPr kumimoji="1" lang="en-US" altLang="en-US" sz="2000" smtClean="0">
                <a:sym typeface="Symbol" panose="05050102010706020507" pitchFamily="18" charset="2"/>
              </a:rPr>
              <a:t></a:t>
            </a:r>
            <a:r>
              <a:rPr lang="en-US" altLang="en-US" sz="2000" smtClean="0"/>
              <a:t>(</a:t>
            </a:r>
            <a:r>
              <a:rPr lang="en-US" altLang="en-US" sz="2000" i="1" smtClean="0"/>
              <a:t>n-1</a:t>
            </a:r>
            <a:r>
              <a:rPr lang="en-US" altLang="en-US" sz="2000" smtClean="0"/>
              <a:t>) = </a:t>
            </a:r>
            <a:r>
              <a:rPr kumimoji="1" lang="en-US" altLang="en-US" sz="2000" smtClean="0">
                <a:sym typeface="Symbol" panose="05050102010706020507" pitchFamily="18" charset="2"/>
              </a:rPr>
              <a:t></a:t>
            </a:r>
            <a:r>
              <a:rPr lang="en-US" altLang="en-US" sz="2000" smtClean="0"/>
              <a:t>(</a:t>
            </a:r>
            <a:r>
              <a:rPr lang="en-US" altLang="en-US" sz="2000" i="1" smtClean="0"/>
              <a:t>n</a:t>
            </a:r>
            <a:r>
              <a:rPr lang="en-US" altLang="en-US" sz="2000" smtClean="0"/>
              <a:t>)   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1587500" y="5757863"/>
            <a:ext cx="2770188" cy="6159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7893" name="Oval 5"/>
          <p:cNvSpPr>
            <a:spLocks noChangeArrowheads="1"/>
          </p:cNvSpPr>
          <p:nvPr/>
        </p:nvSpPr>
        <p:spPr bwMode="auto">
          <a:xfrm rot="2170014">
            <a:off x="1579563" y="4037013"/>
            <a:ext cx="2009775" cy="1119187"/>
          </a:xfrm>
          <a:prstGeom prst="ellipse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1984375" y="3810000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400" b="0" i="1">
                <a:latin typeface="Times New Roman" panose="02020603050405020304" pitchFamily="18" charset="0"/>
              </a:rPr>
              <a:t>n</a:t>
            </a:r>
            <a:endParaRPr lang="en-GB" altLang="en-US" sz="2400" b="0" i="1">
              <a:latin typeface="Times New Roman" panose="02020603050405020304" pitchFamily="18" charset="0"/>
            </a:endParaRPr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1143000" y="4892675"/>
            <a:ext cx="325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0</a:t>
            </a:r>
            <a:endParaRPr lang="en-GB" altLang="en-US" sz="2400" b="0">
              <a:latin typeface="Times New Roman" panose="02020603050405020304" pitchFamily="18" charset="0"/>
            </a:endParaRPr>
          </a:p>
        </p:txBody>
      </p:sp>
      <p:cxnSp>
        <p:nvCxnSpPr>
          <p:cNvPr id="37896" name="AutoShape 8"/>
          <p:cNvCxnSpPr>
            <a:cxnSpLocks noChangeShapeType="1"/>
            <a:stCxn id="37894" idx="2"/>
            <a:endCxn id="37895" idx="0"/>
          </p:cNvCxnSpPr>
          <p:nvPr/>
        </p:nvCxnSpPr>
        <p:spPr bwMode="auto">
          <a:xfrm flipH="1">
            <a:off x="1306513" y="4302125"/>
            <a:ext cx="842962" cy="5921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2681288" y="4826000"/>
            <a:ext cx="677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400" b="0" i="1">
                <a:latin typeface="Times New Roman" panose="02020603050405020304" pitchFamily="18" charset="0"/>
              </a:rPr>
              <a:t>n</a:t>
            </a:r>
            <a:r>
              <a:rPr lang="en-US" altLang="en-US" sz="2400" b="0">
                <a:latin typeface="Times New Roman" panose="02020603050405020304" pitchFamily="18" charset="0"/>
              </a:rPr>
              <a:t>-1</a:t>
            </a:r>
            <a:endParaRPr lang="en-GB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1524000" y="5818188"/>
            <a:ext cx="152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((</a:t>
            </a:r>
            <a:r>
              <a:rPr lang="en-US" altLang="en-US" sz="2400" b="0" i="1">
                <a:latin typeface="Times New Roman" panose="02020603050405020304" pitchFamily="18" charset="0"/>
              </a:rPr>
              <a:t>n</a:t>
            </a:r>
            <a:r>
              <a:rPr lang="en-US" altLang="en-US" sz="2400" b="0">
                <a:latin typeface="Times New Roman" panose="02020603050405020304" pitchFamily="18" charset="0"/>
              </a:rPr>
              <a:t>-1)/2)-1</a:t>
            </a:r>
            <a:endParaRPr lang="en-GB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3033713" y="5810250"/>
            <a:ext cx="1303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(</a:t>
            </a:r>
            <a:r>
              <a:rPr lang="en-US" altLang="en-US" sz="2400" b="0" i="1">
                <a:latin typeface="Times New Roman" panose="02020603050405020304" pitchFamily="18" charset="0"/>
              </a:rPr>
              <a:t>n</a:t>
            </a:r>
            <a:r>
              <a:rPr lang="en-US" altLang="en-US" sz="2400" b="0">
                <a:latin typeface="Times New Roman" panose="02020603050405020304" pitchFamily="18" charset="0"/>
              </a:rPr>
              <a:t>-1)/2</a:t>
            </a:r>
            <a:endParaRPr lang="en-GB" altLang="en-US" sz="2400" b="0">
              <a:latin typeface="Times New Roman" panose="02020603050405020304" pitchFamily="18" charset="0"/>
            </a:endParaRPr>
          </a:p>
        </p:txBody>
      </p:sp>
      <p:cxnSp>
        <p:nvCxnSpPr>
          <p:cNvPr id="37900" name="AutoShape 12"/>
          <p:cNvCxnSpPr>
            <a:cxnSpLocks noChangeShapeType="1"/>
            <a:stCxn id="37894" idx="2"/>
            <a:endCxn id="37897" idx="0"/>
          </p:cNvCxnSpPr>
          <p:nvPr/>
        </p:nvCxnSpPr>
        <p:spPr bwMode="auto">
          <a:xfrm>
            <a:off x="2149475" y="4302125"/>
            <a:ext cx="869950" cy="5254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1" name="AutoShape 13"/>
          <p:cNvCxnSpPr>
            <a:cxnSpLocks noChangeShapeType="1"/>
            <a:stCxn id="37897" idx="2"/>
            <a:endCxn id="37898" idx="0"/>
          </p:cNvCxnSpPr>
          <p:nvPr/>
        </p:nvCxnSpPr>
        <p:spPr bwMode="auto">
          <a:xfrm flipH="1">
            <a:off x="2286000" y="5283200"/>
            <a:ext cx="735013" cy="5349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2" name="AutoShape 14"/>
          <p:cNvCxnSpPr>
            <a:cxnSpLocks noChangeShapeType="1"/>
            <a:stCxn id="37897" idx="2"/>
            <a:endCxn id="37899" idx="0"/>
          </p:cNvCxnSpPr>
          <p:nvPr/>
        </p:nvCxnSpPr>
        <p:spPr bwMode="auto">
          <a:xfrm>
            <a:off x="3019425" y="5318125"/>
            <a:ext cx="666750" cy="4921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7903" name="Object 2"/>
          <p:cNvGraphicFramePr>
            <a:graphicFrameLocks noChangeAspect="1"/>
          </p:cNvGraphicFramePr>
          <p:nvPr/>
        </p:nvGraphicFramePr>
        <p:xfrm>
          <a:off x="3770313" y="3835400"/>
          <a:ext cx="86201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7" name="Equation" r:id="rId3" imgW="393529" imgH="228501" progId="Equation.DSMT4">
                  <p:embed/>
                </p:oleObj>
              </mc:Choice>
              <mc:Fallback>
                <p:oleObj name="Equation" r:id="rId3" imgW="393529" imgH="22850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313" y="3835400"/>
                        <a:ext cx="862012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4" name="Line 16"/>
          <p:cNvSpPr>
            <a:spLocks noChangeShapeType="1"/>
          </p:cNvSpPr>
          <p:nvPr/>
        </p:nvSpPr>
        <p:spPr bwMode="auto">
          <a:xfrm>
            <a:off x="3062288" y="4124325"/>
            <a:ext cx="65246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37905" name="Group 17"/>
          <p:cNvGrpSpPr>
            <a:grpSpLocks/>
          </p:cNvGrpSpPr>
          <p:nvPr/>
        </p:nvGrpSpPr>
        <p:grpSpPr bwMode="auto">
          <a:xfrm>
            <a:off x="4953000" y="4419600"/>
            <a:ext cx="3365500" cy="1878013"/>
            <a:chOff x="2951" y="2768"/>
            <a:chExt cx="2120" cy="1183"/>
          </a:xfrm>
        </p:grpSpPr>
        <p:sp>
          <p:nvSpPr>
            <p:cNvPr id="37908" name="Rectangle 18"/>
            <p:cNvSpPr>
              <a:spLocks noChangeArrowheads="1"/>
            </p:cNvSpPr>
            <p:nvPr/>
          </p:nvSpPr>
          <p:spPr bwMode="auto">
            <a:xfrm>
              <a:off x="3043" y="3563"/>
              <a:ext cx="1745" cy="38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7909" name="Oval 19"/>
            <p:cNvSpPr>
              <a:spLocks noChangeArrowheads="1"/>
            </p:cNvSpPr>
            <p:nvPr/>
          </p:nvSpPr>
          <p:spPr bwMode="auto">
            <a:xfrm>
              <a:off x="3615" y="2800"/>
              <a:ext cx="512" cy="35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7910" name="Text Box 20"/>
            <p:cNvSpPr txBox="1">
              <a:spLocks noChangeArrowheads="1"/>
            </p:cNvSpPr>
            <p:nvPr/>
          </p:nvSpPr>
          <p:spPr bwMode="auto">
            <a:xfrm>
              <a:off x="2951" y="3592"/>
              <a:ext cx="9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(</a:t>
              </a:r>
              <a:r>
                <a:rPr lang="en-US" altLang="en-US" sz="2400" b="0" i="1">
                  <a:latin typeface="Times New Roman" panose="02020603050405020304" pitchFamily="18" charset="0"/>
                </a:rPr>
                <a:t>n</a:t>
              </a:r>
              <a:r>
                <a:rPr lang="en-US" altLang="en-US" sz="2400" b="0">
                  <a:latin typeface="Times New Roman" panose="02020603050405020304" pitchFamily="18" charset="0"/>
                </a:rPr>
                <a:t>-1)/2</a:t>
              </a:r>
              <a:endParaRPr lang="en-GB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7911" name="Text Box 21"/>
            <p:cNvSpPr txBox="1">
              <a:spLocks noChangeArrowheads="1"/>
            </p:cNvSpPr>
            <p:nvPr/>
          </p:nvSpPr>
          <p:spPr bwMode="auto">
            <a:xfrm>
              <a:off x="4033" y="3582"/>
              <a:ext cx="8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(</a:t>
              </a:r>
              <a:r>
                <a:rPr lang="en-US" altLang="en-US" sz="2400" b="0" i="1">
                  <a:latin typeface="Times New Roman" panose="02020603050405020304" pitchFamily="18" charset="0"/>
                </a:rPr>
                <a:t>n</a:t>
              </a:r>
              <a:r>
                <a:rPr lang="en-US" altLang="en-US" sz="2400" b="0">
                  <a:latin typeface="Times New Roman" panose="02020603050405020304" pitchFamily="18" charset="0"/>
                </a:rPr>
                <a:t>-1)/2</a:t>
              </a:r>
              <a:endParaRPr lang="en-GB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7912" name="Text Box 22"/>
            <p:cNvSpPr txBox="1">
              <a:spLocks noChangeArrowheads="1"/>
            </p:cNvSpPr>
            <p:nvPr/>
          </p:nvSpPr>
          <p:spPr bwMode="auto">
            <a:xfrm>
              <a:off x="3769" y="2808"/>
              <a:ext cx="2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400" b="0" i="1">
                  <a:latin typeface="Times New Roman" panose="02020603050405020304" pitchFamily="18" charset="0"/>
                </a:rPr>
                <a:t>n</a:t>
              </a:r>
              <a:endParaRPr lang="en-GB" altLang="en-US" sz="2400" b="0" i="1">
                <a:latin typeface="Times New Roman" panose="02020603050405020304" pitchFamily="18" charset="0"/>
              </a:endParaRPr>
            </a:p>
          </p:txBody>
        </p:sp>
        <p:cxnSp>
          <p:nvCxnSpPr>
            <p:cNvPr id="37913" name="AutoShape 23"/>
            <p:cNvCxnSpPr>
              <a:cxnSpLocks noChangeShapeType="1"/>
              <a:stCxn id="37912" idx="2"/>
              <a:endCxn id="37910" idx="0"/>
            </p:cNvCxnSpPr>
            <p:nvPr/>
          </p:nvCxnSpPr>
          <p:spPr bwMode="auto">
            <a:xfrm flipH="1">
              <a:off x="3445" y="3096"/>
              <a:ext cx="430" cy="49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14" name="AutoShape 24"/>
            <p:cNvCxnSpPr>
              <a:cxnSpLocks noChangeShapeType="1"/>
              <a:stCxn id="37912" idx="2"/>
              <a:endCxn id="37911" idx="0"/>
            </p:cNvCxnSpPr>
            <p:nvPr/>
          </p:nvCxnSpPr>
          <p:spPr bwMode="auto">
            <a:xfrm>
              <a:off x="3875" y="3096"/>
              <a:ext cx="579" cy="48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37915" name="Object 4"/>
            <p:cNvGraphicFramePr>
              <a:graphicFrameLocks noChangeAspect="1"/>
            </p:cNvGraphicFramePr>
            <p:nvPr/>
          </p:nvGraphicFramePr>
          <p:xfrm>
            <a:off x="4492" y="2768"/>
            <a:ext cx="57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18" name="Equation" r:id="rId5" imgW="393529" imgH="228501" progId="Equation.DSMT4">
                    <p:embed/>
                  </p:oleObj>
                </mc:Choice>
                <mc:Fallback>
                  <p:oleObj name="Equation" r:id="rId5" imgW="393529" imgH="228501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2" y="2768"/>
                          <a:ext cx="579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6" name="Line 26"/>
            <p:cNvSpPr>
              <a:spLocks noChangeShapeType="1"/>
            </p:cNvSpPr>
            <p:nvPr/>
          </p:nvSpPr>
          <p:spPr bwMode="auto">
            <a:xfrm>
              <a:off x="4168" y="2915"/>
              <a:ext cx="2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7906" name="Line 27"/>
          <p:cNvSpPr>
            <a:spLocks noChangeShapeType="1"/>
          </p:cNvSpPr>
          <p:nvPr/>
        </p:nvSpPr>
        <p:spPr bwMode="auto">
          <a:xfrm>
            <a:off x="3505200" y="5105400"/>
            <a:ext cx="450850" cy="1588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37907" name="Object 3"/>
          <p:cNvGraphicFramePr>
            <a:graphicFrameLocks noChangeAspect="1"/>
          </p:cNvGraphicFramePr>
          <p:nvPr>
            <p:ph sz="half" idx="2"/>
          </p:nvPr>
        </p:nvGraphicFramePr>
        <p:xfrm>
          <a:off x="3717925" y="4700588"/>
          <a:ext cx="124301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9" name="Equation" r:id="rId7" imgW="533169" imgH="203112" progId="Equation.3">
                  <p:embed/>
                </p:oleObj>
              </mc:Choice>
              <mc:Fallback>
                <p:oleObj name="Equation" r:id="rId7" imgW="533169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925" y="4700588"/>
                        <a:ext cx="124301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r>
              <a:rPr lang="da-DK" altLang="en-US" smtClean="0"/>
              <a:t>Intuition for the Average Case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79563"/>
            <a:ext cx="8074025" cy="712787"/>
          </a:xfrm>
        </p:spPr>
        <p:txBody>
          <a:bodyPr/>
          <a:lstStyle/>
          <a:p>
            <a:r>
              <a:rPr lang="da-DK" altLang="en-US" sz="2400" smtClean="0"/>
              <a:t>Suppose, we alternate </a:t>
            </a:r>
            <a:r>
              <a:rPr lang="da-DK" altLang="en-US" sz="2400" smtClean="0">
                <a:solidFill>
                  <a:srgbClr val="FF3300"/>
                </a:solidFill>
              </a:rPr>
              <a:t>lucky and unlucky</a:t>
            </a:r>
            <a:r>
              <a:rPr lang="da-DK" altLang="en-US" sz="2400" smtClean="0"/>
              <a:t> cases to get an </a:t>
            </a:r>
            <a:r>
              <a:rPr lang="da-DK" altLang="en-US" sz="2400" smtClean="0">
                <a:solidFill>
                  <a:srgbClr val="FF3300"/>
                </a:solidFill>
              </a:rPr>
              <a:t>average</a:t>
            </a:r>
            <a:r>
              <a:rPr lang="da-DK" altLang="en-US" sz="2400" smtClean="0"/>
              <a:t> behavior</a:t>
            </a:r>
          </a:p>
        </p:txBody>
      </p:sp>
      <p:graphicFrame>
        <p:nvGraphicFramePr>
          <p:cNvPr id="38916" name="Object 2"/>
          <p:cNvGraphicFramePr>
            <a:graphicFrameLocks noChangeAspect="1"/>
          </p:cNvGraphicFramePr>
          <p:nvPr/>
        </p:nvGraphicFramePr>
        <p:xfrm>
          <a:off x="2057400" y="2517775"/>
          <a:ext cx="4170363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8" name="Equation" r:id="rId4" imgW="2692400" imgH="1562100" progId="Equation.DSMT4">
                  <p:embed/>
                </p:oleObj>
              </mc:Choice>
              <mc:Fallback>
                <p:oleObj name="Equation" r:id="rId4" imgW="2692400" imgH="1562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517775"/>
                        <a:ext cx="4170363" cy="241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914400" y="4954588"/>
            <a:ext cx="80010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SzTx/>
              <a:buFontTx/>
              <a:buNone/>
            </a:pPr>
            <a:r>
              <a:rPr kumimoji="1" lang="en-US" altLang="en-US" sz="2400" b="0">
                <a:solidFill>
                  <a:srgbClr val="A50021"/>
                </a:solidFill>
                <a:latin typeface="Times New Roman" panose="02020603050405020304" pitchFamily="18" charset="0"/>
              </a:rPr>
              <a:t>The combination of good and bad splits would result in</a:t>
            </a:r>
            <a:r>
              <a:rPr kumimoji="1" lang="en-US" altLang="en-US" sz="2400" b="0" i="1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20000"/>
              </a:spcAft>
              <a:buSzTx/>
              <a:buFontTx/>
              <a:buNone/>
            </a:pPr>
            <a:r>
              <a:rPr kumimoji="1" lang="en-US" altLang="en-US" sz="2400" i="1">
                <a:solidFill>
                  <a:srgbClr val="FF33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en-US" sz="2400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en-US" sz="2400" i="1">
                <a:solidFill>
                  <a:srgbClr val="FF33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en-US" sz="2400">
                <a:solidFill>
                  <a:srgbClr val="FF3300"/>
                </a:solidFill>
                <a:latin typeface="Times New Roman" panose="02020603050405020304" pitchFamily="18" charset="0"/>
              </a:rPr>
              <a:t>) = </a:t>
            </a:r>
            <a:r>
              <a:rPr kumimoji="1" lang="en-US" altLang="en-US" sz="240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O </a:t>
            </a:r>
            <a:r>
              <a:rPr kumimoji="1" lang="en-US" altLang="en-US" sz="2400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en-US" sz="2400" i="1">
                <a:solidFill>
                  <a:srgbClr val="FF33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en-US" sz="2400">
                <a:solidFill>
                  <a:srgbClr val="FF3300"/>
                </a:solidFill>
                <a:latin typeface="Times New Roman" panose="02020603050405020304" pitchFamily="18" charset="0"/>
              </a:rPr>
              <a:t> lg </a:t>
            </a:r>
            <a:r>
              <a:rPr kumimoji="1" lang="en-US" altLang="en-US" sz="2400" i="1">
                <a:solidFill>
                  <a:srgbClr val="FF33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en-US" sz="240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en-US" sz="2400" b="0">
                <a:solidFill>
                  <a:srgbClr val="FF3300"/>
                </a:solidFill>
                <a:latin typeface="Times New Roman" panose="02020603050405020304" pitchFamily="18" charset="0"/>
              </a:rPr>
              <a:t>,</a:t>
            </a:r>
            <a:r>
              <a:rPr kumimoji="1" lang="en-US" altLang="en-US" sz="2400" b="0">
                <a:solidFill>
                  <a:srgbClr val="A50021"/>
                </a:solidFill>
                <a:latin typeface="Times New Roman" panose="02020603050405020304" pitchFamily="18" charset="0"/>
              </a:rPr>
              <a:t> but with slightly </a:t>
            </a:r>
            <a:r>
              <a:rPr kumimoji="1" lang="en-US" altLang="en-US" sz="2400">
                <a:latin typeface="Times New Roman" panose="02020603050405020304" pitchFamily="18" charset="0"/>
              </a:rPr>
              <a:t>larger constant</a:t>
            </a:r>
            <a:r>
              <a:rPr kumimoji="1" lang="en-US" altLang="en-US" sz="2400" b="0">
                <a:solidFill>
                  <a:srgbClr val="A50021"/>
                </a:solidFill>
                <a:latin typeface="Times New Roman" panose="02020603050405020304" pitchFamily="18" charset="0"/>
              </a:rPr>
              <a:t> hidden by the </a:t>
            </a:r>
            <a:r>
              <a:rPr kumimoji="1" lang="en-US" altLang="en-US" sz="2400" b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1" lang="en-US" altLang="en-US" sz="2400" b="0">
                <a:solidFill>
                  <a:srgbClr val="A50021"/>
                </a:solidFill>
                <a:latin typeface="Times New Roman" panose="02020603050405020304" pitchFamily="18" charset="0"/>
              </a:rPr>
              <a:t>-notation.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/>
          <a:lstStyle/>
          <a:p>
            <a:r>
              <a:rPr lang="en-US" altLang="en-US" smtClean="0"/>
              <a:t>Randomized Quicksort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9438" y="1347788"/>
            <a:ext cx="8183562" cy="4953000"/>
          </a:xfrm>
        </p:spPr>
        <p:txBody>
          <a:bodyPr/>
          <a:lstStyle/>
          <a:p>
            <a:r>
              <a:rPr lang="en-US" altLang="en-US" sz="2400" smtClean="0"/>
              <a:t>An algorithm is </a:t>
            </a:r>
            <a:r>
              <a:rPr lang="en-US" altLang="en-US" sz="2400" i="1" smtClean="0">
                <a:solidFill>
                  <a:schemeClr val="accent2"/>
                </a:solidFill>
              </a:rPr>
              <a:t>randomized</a:t>
            </a:r>
            <a:r>
              <a:rPr lang="en-US" altLang="en-US" sz="2400" smtClean="0">
                <a:solidFill>
                  <a:schemeClr val="accent2"/>
                </a:solidFill>
              </a:rPr>
              <a:t> </a:t>
            </a:r>
            <a:r>
              <a:rPr lang="en-US" altLang="en-US" sz="2400" smtClean="0"/>
              <a:t>if its behavior is determined not only by the input but also by values produced by a </a:t>
            </a:r>
            <a:r>
              <a:rPr lang="en-US" altLang="en-US" sz="2400" i="1" smtClean="0">
                <a:solidFill>
                  <a:srgbClr val="FF3300"/>
                </a:solidFill>
              </a:rPr>
              <a:t>random-number</a:t>
            </a:r>
            <a:r>
              <a:rPr lang="en-US" altLang="en-US" sz="2400" i="1" smtClean="0"/>
              <a:t> generator</a:t>
            </a:r>
            <a:r>
              <a:rPr lang="en-US" altLang="en-US" sz="2400" smtClean="0"/>
              <a:t>.</a:t>
            </a:r>
          </a:p>
          <a:p>
            <a:endParaRPr lang="en-US" altLang="en-US" sz="2400" smtClean="0"/>
          </a:p>
          <a:p>
            <a:r>
              <a:rPr lang="en-US" altLang="en-US" sz="2400" smtClean="0">
                <a:solidFill>
                  <a:srgbClr val="FF3300"/>
                </a:solidFill>
              </a:rPr>
              <a:t>Exchange</a:t>
            </a:r>
            <a:r>
              <a:rPr lang="en-US" altLang="en-US" sz="2400" smtClean="0"/>
              <a:t> </a:t>
            </a:r>
            <a:r>
              <a:rPr lang="en-US" altLang="en-US" sz="2400" i="1" smtClean="0"/>
              <a:t>A</a:t>
            </a:r>
            <a:r>
              <a:rPr lang="en-US" altLang="en-US" sz="2400" smtClean="0"/>
              <a:t>[</a:t>
            </a:r>
            <a:r>
              <a:rPr lang="en-US" altLang="en-US" sz="2400" i="1" smtClean="0"/>
              <a:t>r</a:t>
            </a:r>
            <a:r>
              <a:rPr lang="en-US" altLang="en-US" sz="2400" smtClean="0"/>
              <a:t>] with an element chosen at random from </a:t>
            </a:r>
            <a:r>
              <a:rPr lang="en-US" altLang="en-US" sz="2400" i="1" smtClean="0"/>
              <a:t>A</a:t>
            </a:r>
            <a:r>
              <a:rPr lang="en-US" altLang="en-US" sz="2400" smtClean="0"/>
              <a:t>[</a:t>
            </a:r>
            <a:r>
              <a:rPr lang="en-US" altLang="en-US" sz="2400" i="1" smtClean="0"/>
              <a:t>p…r</a:t>
            </a:r>
            <a:r>
              <a:rPr lang="en-US" altLang="en-US" sz="2400" smtClean="0"/>
              <a:t>] in Partition.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This ensures that the pivot element </a:t>
            </a:r>
            <a:r>
              <a:rPr lang="en-US" altLang="en-US" sz="2400" smtClean="0">
                <a:solidFill>
                  <a:srgbClr val="FF3300"/>
                </a:solidFill>
              </a:rPr>
              <a:t>is equally likely to be any of input</a:t>
            </a:r>
            <a:r>
              <a:rPr lang="en-US" altLang="en-US" sz="2400" smtClean="0"/>
              <a:t> elements.</a:t>
            </a:r>
          </a:p>
          <a:p>
            <a:pPr>
              <a:buFontTx/>
              <a:buNone/>
            </a:pPr>
            <a:endParaRPr lang="en-US" altLang="en-US" sz="2400" smtClean="0"/>
          </a:p>
          <a:p>
            <a:r>
              <a:rPr lang="en-US" altLang="en-US" sz="2400" smtClean="0"/>
              <a:t>We can sometimes add randomization to an algorithm in order to </a:t>
            </a:r>
            <a:r>
              <a:rPr lang="en-US" altLang="en-US" sz="2400" u="sng" smtClean="0">
                <a:solidFill>
                  <a:srgbClr val="FF3300"/>
                </a:solidFill>
              </a:rPr>
              <a:t>obtain good average-case</a:t>
            </a:r>
            <a:r>
              <a:rPr lang="en-US" altLang="en-US" sz="2400" smtClean="0"/>
              <a:t> performance over all inputs.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en-US" altLang="en-US" smtClean="0"/>
              <a:t>Randomized Quicksort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981075"/>
            <a:ext cx="7656512" cy="427513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000" u="sng" smtClean="0"/>
              <a:t>Randomized-Partition(</a:t>
            </a:r>
            <a:r>
              <a:rPr lang="en-US" altLang="en-US" sz="2000" i="1" u="sng" smtClean="0"/>
              <a:t>A, p, r</a:t>
            </a:r>
            <a:r>
              <a:rPr lang="en-US" altLang="en-US" sz="2000" u="sng" smtClean="0"/>
              <a:t>) </a:t>
            </a:r>
          </a:p>
          <a:p>
            <a:pPr>
              <a:buFontTx/>
              <a:buNone/>
            </a:pPr>
            <a:r>
              <a:rPr lang="en-US" altLang="en-US" sz="2000" smtClean="0"/>
              <a:t>1.</a:t>
            </a:r>
            <a:r>
              <a:rPr lang="en-US" altLang="en-US" sz="2000" i="1" smtClean="0"/>
              <a:t>  i </a:t>
            </a:r>
            <a:r>
              <a:rPr lang="en-US" altLang="en-US" sz="2000" smtClean="0">
                <a:sym typeface="Symbol" panose="05050102010706020507" pitchFamily="18" charset="2"/>
              </a:rPr>
              <a:t> </a:t>
            </a:r>
            <a:r>
              <a:rPr lang="en-US" altLang="en-US" sz="2000" i="1" smtClean="0"/>
              <a:t>Random</a:t>
            </a:r>
            <a:r>
              <a:rPr lang="en-US" altLang="en-US" sz="2000" smtClean="0"/>
              <a:t>(</a:t>
            </a:r>
            <a:r>
              <a:rPr lang="en-US" altLang="en-US" sz="2000" i="1" smtClean="0"/>
              <a:t>p</a:t>
            </a:r>
            <a:r>
              <a:rPr lang="en-US" altLang="en-US" sz="2000" smtClean="0"/>
              <a:t>,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)</a:t>
            </a:r>
            <a:r>
              <a:rPr lang="en-US" altLang="en-US" sz="2000" i="1" smtClean="0"/>
              <a:t> </a:t>
            </a:r>
          </a:p>
          <a:p>
            <a:pPr>
              <a:buFontTx/>
              <a:buNone/>
            </a:pPr>
            <a:r>
              <a:rPr lang="en-US" altLang="en-US" sz="2000" smtClean="0"/>
              <a:t>2.  exchange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] </a:t>
            </a:r>
            <a:r>
              <a:rPr lang="en-US" altLang="en-US" sz="2000" smtClean="0">
                <a:sym typeface="Symbol" panose="05050102010706020507" pitchFamily="18" charset="2"/>
              </a:rPr>
              <a:t>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</a:t>
            </a:r>
            <a:r>
              <a:rPr lang="en-US" altLang="en-US" sz="2000" smtClean="0"/>
              <a:t>] </a:t>
            </a:r>
          </a:p>
          <a:p>
            <a:pPr>
              <a:buFontTx/>
              <a:buNone/>
            </a:pPr>
            <a:r>
              <a:rPr lang="en-US" altLang="en-US" sz="2000" smtClean="0"/>
              <a:t>3.  return Partition(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, </a:t>
            </a:r>
            <a:r>
              <a:rPr lang="en-US" altLang="en-US" sz="2000" i="1" smtClean="0"/>
              <a:t>p</a:t>
            </a:r>
            <a:r>
              <a:rPr lang="en-US" altLang="en-US" sz="2000" smtClean="0"/>
              <a:t>,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)</a:t>
            </a:r>
          </a:p>
          <a:p>
            <a:pPr>
              <a:buFontTx/>
              <a:buNone/>
            </a:pPr>
            <a:endParaRPr lang="en-US" altLang="en-US" sz="2000" smtClean="0"/>
          </a:p>
          <a:p>
            <a:pPr>
              <a:buFontTx/>
              <a:buNone/>
            </a:pPr>
            <a:endParaRPr lang="en-US" altLang="en-US" sz="2000" smtClean="0"/>
          </a:p>
          <a:p>
            <a:pPr>
              <a:buFontTx/>
              <a:buNone/>
            </a:pPr>
            <a:r>
              <a:rPr lang="en-US" altLang="en-US" sz="2000" u="sng" smtClean="0"/>
              <a:t>Randomized-Quicksort(</a:t>
            </a:r>
            <a:r>
              <a:rPr lang="en-US" altLang="en-US" sz="2000" i="1" u="sng" smtClean="0"/>
              <a:t>A, p, r</a:t>
            </a:r>
            <a:r>
              <a:rPr lang="en-US" altLang="en-US" sz="2000" u="sng" smtClean="0"/>
              <a:t>)</a:t>
            </a:r>
          </a:p>
          <a:p>
            <a:pPr>
              <a:buFontTx/>
              <a:buNone/>
            </a:pPr>
            <a:r>
              <a:rPr lang="en-US" altLang="en-US" sz="2000" smtClean="0"/>
              <a:t>1.  if </a:t>
            </a:r>
            <a:r>
              <a:rPr lang="en-US" altLang="en-US" sz="2000" i="1" smtClean="0"/>
              <a:t>p</a:t>
            </a:r>
            <a:r>
              <a:rPr lang="en-US" altLang="en-US" sz="2000" smtClean="0"/>
              <a:t> &lt; </a:t>
            </a:r>
            <a:r>
              <a:rPr lang="en-US" altLang="en-US" sz="2000" i="1" smtClean="0"/>
              <a:t>r</a:t>
            </a:r>
            <a:endParaRPr lang="en-US" altLang="en-US" sz="2000" smtClean="0"/>
          </a:p>
          <a:p>
            <a:pPr>
              <a:buFontTx/>
              <a:buNone/>
            </a:pPr>
            <a:r>
              <a:rPr lang="en-US" altLang="en-US" sz="2000" smtClean="0"/>
              <a:t>2.     then </a:t>
            </a:r>
            <a:r>
              <a:rPr lang="en-US" altLang="en-US" sz="2000" i="1" smtClean="0"/>
              <a:t>q</a:t>
            </a:r>
            <a:r>
              <a:rPr lang="en-US" altLang="en-US" sz="2000" smtClean="0"/>
              <a:t> </a:t>
            </a:r>
            <a:r>
              <a:rPr lang="en-US" altLang="en-US" sz="2000" smtClean="0">
                <a:sym typeface="Symbol" panose="05050102010706020507" pitchFamily="18" charset="2"/>
              </a:rPr>
              <a:t> Randomized-</a:t>
            </a:r>
            <a:r>
              <a:rPr lang="en-US" altLang="en-US" sz="2000" smtClean="0"/>
              <a:t>Partition(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, </a:t>
            </a:r>
            <a:r>
              <a:rPr lang="en-US" altLang="en-US" sz="2000" i="1" smtClean="0"/>
              <a:t>p</a:t>
            </a:r>
            <a:r>
              <a:rPr lang="en-US" altLang="en-US" sz="2000" smtClean="0"/>
              <a:t>,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)</a:t>
            </a:r>
          </a:p>
          <a:p>
            <a:pPr>
              <a:buFontTx/>
              <a:buNone/>
            </a:pPr>
            <a:r>
              <a:rPr lang="en-US" altLang="en-US" sz="2000" smtClean="0"/>
              <a:t>3.               Randomized-Quicksort(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, </a:t>
            </a:r>
            <a:r>
              <a:rPr lang="en-US" altLang="en-US" sz="2000" i="1" smtClean="0"/>
              <a:t>p </a:t>
            </a:r>
            <a:r>
              <a:rPr lang="en-US" altLang="en-US" sz="2000" smtClean="0"/>
              <a:t>, </a:t>
            </a:r>
            <a:r>
              <a:rPr lang="en-US" altLang="en-US" sz="2000" i="1" smtClean="0"/>
              <a:t>q</a:t>
            </a:r>
            <a:r>
              <a:rPr lang="en-US" altLang="en-US" sz="2000" smtClean="0"/>
              <a:t>-1)</a:t>
            </a:r>
          </a:p>
          <a:p>
            <a:pPr>
              <a:buFontTx/>
              <a:buNone/>
            </a:pPr>
            <a:r>
              <a:rPr lang="en-US" altLang="en-US" sz="2000" smtClean="0"/>
              <a:t>4.               Randomized-Quicksort(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, </a:t>
            </a:r>
            <a:r>
              <a:rPr lang="en-US" altLang="en-US" sz="2000" i="1" smtClean="0"/>
              <a:t>q</a:t>
            </a:r>
            <a:r>
              <a:rPr lang="en-US" altLang="en-US" sz="2000" smtClean="0"/>
              <a:t>+1,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)</a:t>
            </a: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5705475" y="5422900"/>
            <a:ext cx="444500" cy="5207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>
              <a:solidFill>
                <a:srgbClr val="FF3300"/>
              </a:solidFill>
              <a:latin typeface="Monospac821 BT"/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5476875" y="6337300"/>
            <a:ext cx="992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b="0">
                <a:solidFill>
                  <a:schemeClr val="tx2"/>
                </a:solidFill>
                <a:latin typeface="Times New Roman" panose="02020603050405020304" pitchFamily="18" charset="0"/>
              </a:rPr>
              <a:t>pivot</a:t>
            </a: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2047875" y="5429250"/>
            <a:ext cx="68453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41991" name="Line 7"/>
          <p:cNvSpPr>
            <a:spLocks noChangeShapeType="1"/>
          </p:cNvSpPr>
          <p:nvPr/>
        </p:nvSpPr>
        <p:spPr bwMode="auto">
          <a:xfrm>
            <a:off x="24987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2" name="Line 8"/>
          <p:cNvSpPr>
            <a:spLocks noChangeShapeType="1"/>
          </p:cNvSpPr>
          <p:nvPr/>
        </p:nvSpPr>
        <p:spPr bwMode="auto">
          <a:xfrm>
            <a:off x="29559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3" name="Line 9"/>
          <p:cNvSpPr>
            <a:spLocks noChangeShapeType="1"/>
          </p:cNvSpPr>
          <p:nvPr/>
        </p:nvSpPr>
        <p:spPr bwMode="auto">
          <a:xfrm>
            <a:off x="34131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4" name="Line 10"/>
          <p:cNvSpPr>
            <a:spLocks noChangeShapeType="1"/>
          </p:cNvSpPr>
          <p:nvPr/>
        </p:nvSpPr>
        <p:spPr bwMode="auto">
          <a:xfrm>
            <a:off x="38703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5" name="Line 11"/>
          <p:cNvSpPr>
            <a:spLocks noChangeShapeType="1"/>
          </p:cNvSpPr>
          <p:nvPr/>
        </p:nvSpPr>
        <p:spPr bwMode="auto">
          <a:xfrm>
            <a:off x="43275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6" name="Line 12"/>
          <p:cNvSpPr>
            <a:spLocks noChangeShapeType="1"/>
          </p:cNvSpPr>
          <p:nvPr/>
        </p:nvSpPr>
        <p:spPr bwMode="auto">
          <a:xfrm>
            <a:off x="47847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7" name="Line 13"/>
          <p:cNvSpPr>
            <a:spLocks noChangeShapeType="1"/>
          </p:cNvSpPr>
          <p:nvPr/>
        </p:nvSpPr>
        <p:spPr bwMode="auto">
          <a:xfrm>
            <a:off x="52419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8" name="Line 14"/>
          <p:cNvSpPr>
            <a:spLocks noChangeShapeType="1"/>
          </p:cNvSpPr>
          <p:nvPr/>
        </p:nvSpPr>
        <p:spPr bwMode="auto">
          <a:xfrm>
            <a:off x="56991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9" name="Line 15"/>
          <p:cNvSpPr>
            <a:spLocks noChangeShapeType="1"/>
          </p:cNvSpPr>
          <p:nvPr/>
        </p:nvSpPr>
        <p:spPr bwMode="auto">
          <a:xfrm>
            <a:off x="61563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0" name="Line 16"/>
          <p:cNvSpPr>
            <a:spLocks noChangeShapeType="1"/>
          </p:cNvSpPr>
          <p:nvPr/>
        </p:nvSpPr>
        <p:spPr bwMode="auto">
          <a:xfrm>
            <a:off x="66135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1" name="Line 17"/>
          <p:cNvSpPr>
            <a:spLocks noChangeShapeType="1"/>
          </p:cNvSpPr>
          <p:nvPr/>
        </p:nvSpPr>
        <p:spPr bwMode="auto">
          <a:xfrm>
            <a:off x="70707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2" name="Line 18"/>
          <p:cNvSpPr>
            <a:spLocks noChangeShapeType="1"/>
          </p:cNvSpPr>
          <p:nvPr/>
        </p:nvSpPr>
        <p:spPr bwMode="auto">
          <a:xfrm>
            <a:off x="75279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3" name="Line 19"/>
          <p:cNvSpPr>
            <a:spLocks noChangeShapeType="1"/>
          </p:cNvSpPr>
          <p:nvPr/>
        </p:nvSpPr>
        <p:spPr bwMode="auto">
          <a:xfrm>
            <a:off x="79851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4" name="Line 20"/>
          <p:cNvSpPr>
            <a:spLocks noChangeShapeType="1"/>
          </p:cNvSpPr>
          <p:nvPr/>
        </p:nvSpPr>
        <p:spPr bwMode="auto">
          <a:xfrm>
            <a:off x="8442325" y="54229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5" name="Rectangle 21"/>
          <p:cNvSpPr>
            <a:spLocks noChangeArrowheads="1"/>
          </p:cNvSpPr>
          <p:nvPr/>
        </p:nvSpPr>
        <p:spPr bwMode="auto">
          <a:xfrm>
            <a:off x="2178050" y="54070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42006" name="Rectangle 22"/>
          <p:cNvSpPr>
            <a:spLocks noChangeArrowheads="1"/>
          </p:cNvSpPr>
          <p:nvPr/>
        </p:nvSpPr>
        <p:spPr bwMode="auto">
          <a:xfrm>
            <a:off x="8442325" y="5422900"/>
            <a:ext cx="444500" cy="520700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>
              <a:solidFill>
                <a:srgbClr val="FF3300"/>
              </a:solidFill>
              <a:latin typeface="Monospac821 BT"/>
            </a:endParaRPr>
          </a:p>
        </p:txBody>
      </p:sp>
      <p:sp>
        <p:nvSpPr>
          <p:cNvPr id="42007" name="Rectangle 23"/>
          <p:cNvSpPr>
            <a:spLocks noChangeArrowheads="1"/>
          </p:cNvSpPr>
          <p:nvPr/>
        </p:nvSpPr>
        <p:spPr bwMode="auto">
          <a:xfrm>
            <a:off x="7070725" y="450850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</a:rPr>
              <a:t>swap</a:t>
            </a:r>
          </a:p>
        </p:txBody>
      </p:sp>
      <p:sp>
        <p:nvSpPr>
          <p:cNvPr id="42008" name="Line 24"/>
          <p:cNvSpPr>
            <a:spLocks noChangeShapeType="1"/>
          </p:cNvSpPr>
          <p:nvPr/>
        </p:nvSpPr>
        <p:spPr bwMode="auto">
          <a:xfrm flipH="1">
            <a:off x="6003925" y="4889500"/>
            <a:ext cx="10668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9" name="Line 25"/>
          <p:cNvSpPr>
            <a:spLocks noChangeShapeType="1"/>
          </p:cNvSpPr>
          <p:nvPr/>
        </p:nvSpPr>
        <p:spPr bwMode="auto">
          <a:xfrm>
            <a:off x="7908925" y="4889500"/>
            <a:ext cx="7620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0" name="Line 26"/>
          <p:cNvSpPr>
            <a:spLocks noChangeShapeType="1"/>
          </p:cNvSpPr>
          <p:nvPr/>
        </p:nvSpPr>
        <p:spPr bwMode="auto">
          <a:xfrm flipV="1">
            <a:off x="5934075" y="6032500"/>
            <a:ext cx="1588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Review: Analyzing Quicksort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i="1" smtClean="0">
                <a:solidFill>
                  <a:schemeClr val="accent2"/>
                </a:solidFill>
              </a:rPr>
              <a:t>What will be the </a:t>
            </a:r>
            <a:r>
              <a:rPr lang="en-US" altLang="en-US" sz="2400" i="1" smtClean="0">
                <a:solidFill>
                  <a:srgbClr val="FF3300"/>
                </a:solidFill>
              </a:rPr>
              <a:t>worst case</a:t>
            </a:r>
            <a:r>
              <a:rPr lang="en-US" altLang="en-US" sz="2400" i="1" smtClean="0">
                <a:solidFill>
                  <a:schemeClr val="accent2"/>
                </a:solidFill>
              </a:rPr>
              <a:t> for the algorithm?</a:t>
            </a:r>
          </a:p>
          <a:p>
            <a:pPr lvl="1"/>
            <a:r>
              <a:rPr lang="en-US" altLang="en-US" smtClean="0">
                <a:solidFill>
                  <a:srgbClr val="A50021"/>
                </a:solidFill>
              </a:rPr>
              <a:t>Partition is always unbalanced</a:t>
            </a:r>
          </a:p>
          <a:p>
            <a:r>
              <a:rPr lang="en-US" altLang="en-US" sz="2400" i="1" smtClean="0">
                <a:solidFill>
                  <a:schemeClr val="accent2"/>
                </a:solidFill>
              </a:rPr>
              <a:t>What will be the </a:t>
            </a:r>
            <a:r>
              <a:rPr lang="en-US" altLang="en-US" sz="2400" i="1" smtClean="0">
                <a:solidFill>
                  <a:srgbClr val="FF3300"/>
                </a:solidFill>
              </a:rPr>
              <a:t>best case</a:t>
            </a:r>
            <a:r>
              <a:rPr lang="en-US" altLang="en-US" sz="2400" i="1" smtClean="0">
                <a:solidFill>
                  <a:schemeClr val="accent2"/>
                </a:solidFill>
              </a:rPr>
              <a:t> for the algorithm?</a:t>
            </a:r>
          </a:p>
          <a:p>
            <a:pPr lvl="1"/>
            <a:r>
              <a:rPr lang="en-US" altLang="en-US" smtClean="0">
                <a:solidFill>
                  <a:srgbClr val="A50021"/>
                </a:solidFill>
              </a:rPr>
              <a:t>Partition is balanced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381000" y="2286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4400" b="0">
                <a:solidFill>
                  <a:schemeClr val="tx2"/>
                </a:solidFill>
                <a:latin typeface="Times New Roman" panose="02020603050405020304" pitchFamily="18" charset="0"/>
              </a:rPr>
              <a:t>Summary: Quicksort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381000" y="1371600"/>
            <a:ext cx="8255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SzTx/>
            </a:pPr>
            <a:r>
              <a:rPr lang="en-US" altLang="en-US" sz="2400" b="0">
                <a:latin typeface="Times New Roman" panose="02020603050405020304" pitchFamily="18" charset="0"/>
              </a:rPr>
              <a:t>In worst-case, efficiency is </a:t>
            </a:r>
            <a:r>
              <a:rPr lang="en-US" altLang="en-US" sz="2400" b="0">
                <a:latin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sz="2400" b="0">
                <a:latin typeface="Times New Roman" panose="02020603050405020304" pitchFamily="18" charset="0"/>
              </a:rPr>
              <a:t>(n</a:t>
            </a:r>
            <a:r>
              <a:rPr lang="en-US" altLang="en-US" sz="2400" b="0" baseline="30000">
                <a:latin typeface="Times New Roman" panose="02020603050405020304" pitchFamily="18" charset="0"/>
              </a:rPr>
              <a:t>2</a:t>
            </a:r>
            <a:r>
              <a:rPr lang="en-US" altLang="en-US" sz="2400" b="0">
                <a:latin typeface="Times New Roman" panose="02020603050405020304" pitchFamily="18" charset="0"/>
              </a:rPr>
              <a:t>)</a:t>
            </a:r>
          </a:p>
          <a:p>
            <a:pPr lvl="1">
              <a:lnSpc>
                <a:spcPct val="90000"/>
              </a:lnSpc>
              <a:buSzTx/>
              <a:buFontTx/>
              <a:buChar char="–"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</a:rPr>
              <a:t>But easy to avoid the worst-case</a:t>
            </a:r>
          </a:p>
          <a:p>
            <a:pPr lvl="1">
              <a:lnSpc>
                <a:spcPct val="90000"/>
              </a:lnSpc>
              <a:buSzTx/>
              <a:buFontTx/>
              <a:buNone/>
            </a:pPr>
            <a:endParaRPr lang="en-US" altLang="en-US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SzTx/>
            </a:pPr>
            <a:r>
              <a:rPr lang="en-US" altLang="en-US" sz="2400" b="0">
                <a:latin typeface="Times New Roman" panose="02020603050405020304" pitchFamily="18" charset="0"/>
              </a:rPr>
              <a:t>On average, efficiency is </a:t>
            </a:r>
            <a:r>
              <a:rPr lang="en-US" altLang="en-US" sz="2400" b="0">
                <a:latin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sz="2400" b="0">
                <a:latin typeface="Times New Roman" panose="02020603050405020304" pitchFamily="18" charset="0"/>
              </a:rPr>
              <a:t>(n lg n)</a:t>
            </a:r>
          </a:p>
          <a:p>
            <a:pPr>
              <a:lnSpc>
                <a:spcPct val="90000"/>
              </a:lnSpc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SzTx/>
            </a:pPr>
            <a:r>
              <a:rPr lang="en-US" altLang="en-US" sz="2400" b="0">
                <a:latin typeface="Times New Roman" panose="02020603050405020304" pitchFamily="18" charset="0"/>
              </a:rPr>
              <a:t>Better space-complexity than mergesort.</a:t>
            </a:r>
          </a:p>
          <a:p>
            <a:pPr>
              <a:lnSpc>
                <a:spcPct val="90000"/>
              </a:lnSpc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SzTx/>
            </a:pPr>
            <a:r>
              <a:rPr lang="en-US" altLang="en-US" sz="2400" b="0">
                <a:latin typeface="Times New Roman" panose="02020603050405020304" pitchFamily="18" charset="0"/>
              </a:rPr>
              <a:t>In practice, runs fast and widely used</a:t>
            </a:r>
          </a:p>
          <a:p>
            <a:pPr>
              <a:lnSpc>
                <a:spcPct val="90000"/>
              </a:lnSpc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r>
              <a:rPr lang="en-US" altLang="en-US" smtClean="0">
                <a:latin typeface="Corbel" panose="020B0503020204020204" pitchFamily="34" charset="0"/>
              </a:rPr>
              <a:t>Linear Time Sorting</a:t>
            </a:r>
          </a:p>
        </p:txBody>
      </p:sp>
      <p:sp>
        <p:nvSpPr>
          <p:cNvPr id="4505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Corbel" panose="020B0503020204020204" pitchFamily="34" charset="0"/>
              </a:rPr>
              <a:t>Count Sort</a:t>
            </a:r>
          </a:p>
          <a:p>
            <a:pPr eaLnBrk="1" hangingPunct="1"/>
            <a:r>
              <a:rPr lang="en-US" altLang="en-US" smtClean="0">
                <a:latin typeface="Corbel" panose="020B0503020204020204" pitchFamily="34" charset="0"/>
              </a:rPr>
              <a:t>Radix Sort</a:t>
            </a:r>
          </a:p>
          <a:p>
            <a:pPr eaLnBrk="1" hangingPunct="1"/>
            <a:r>
              <a:rPr lang="en-US" altLang="en-US" smtClean="0">
                <a:latin typeface="Corbel" panose="020B0503020204020204" pitchFamily="34" charset="0"/>
              </a:rPr>
              <a:t>Bucket Sort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4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9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1295400" y="3429000"/>
            <a:ext cx="71628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When k = </a:t>
            </a:r>
            <a:r>
              <a:rPr lang="en-US" altLang="en-US" i="1">
                <a:latin typeface="Times New Roman" panose="02020603050405020304" pitchFamily="18" charset="0"/>
              </a:rPr>
              <a:t>O(n)</a:t>
            </a:r>
            <a:r>
              <a:rPr lang="en-US" altLang="en-US">
                <a:latin typeface="Times New Roman" panose="02020603050405020304" pitchFamily="18" charset="0"/>
              </a:rPr>
              <a:t> then the sort runs in </a:t>
            </a:r>
            <a:r>
              <a:rPr lang="en-US" altLang="en-US" i="1">
                <a:latin typeface="Times New Roman" panose="02020603050405020304" pitchFamily="18" charset="0"/>
              </a:rPr>
              <a:t>O(n)</a:t>
            </a:r>
            <a:r>
              <a:rPr lang="en-US" altLang="en-US">
                <a:latin typeface="Times New Roman" panose="02020603050405020304" pitchFamily="18" charset="0"/>
              </a:rPr>
              <a:t> time</a:t>
            </a:r>
            <a:endParaRPr lang="en-US" altLang="en-US" sz="12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Determine how many elements are less than an element 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Then place 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</a:rPr>
              <a:t> directly in its correct position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2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49155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6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50179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0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51203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4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8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2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54275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6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6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0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6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6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4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6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8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2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 idx="4294967295"/>
          </p:nvPr>
        </p:nvSpPr>
        <p:spPr/>
        <p:txBody>
          <a:bodyPr tIns="45720" bIns="45720"/>
          <a:lstStyle/>
          <a:p>
            <a:pPr eaLnBrk="1" hangingPunct="1"/>
            <a:endParaRPr lang="en-US" altLang="en-US" smtClean="0">
              <a:latin typeface="Corbel" panose="020B0503020204020204" pitchFamily="34" charset="0"/>
            </a:endParaRPr>
          </a:p>
        </p:txBody>
      </p:sp>
      <p:graphicFrame>
        <p:nvGraphicFramePr>
          <p:cNvPr id="59395" name="Object 3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6" name="Photo Editor Photo" r:id="rId3" imgW="6857143" imgH="5144218" progId="MSPhotoEd.3">
                  <p:embed/>
                </p:oleObj>
              </mc:Choice>
              <mc:Fallback>
                <p:oleObj name="Photo Editor Photo" r:id="rId3" imgW="6857143" imgH="5144218" progId="MSPhotoEd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sd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Office\Templates\plsd.pot</Template>
  <TotalTime>5362</TotalTime>
  <Pages>11</Pages>
  <Words>1789</Words>
  <Application>Microsoft Office PowerPoint</Application>
  <PresentationFormat>On-screen Show (4:3)</PresentationFormat>
  <Paragraphs>422</Paragraphs>
  <Slides>53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53</vt:i4>
      </vt:variant>
    </vt:vector>
  </HeadingPairs>
  <TitlesOfParts>
    <vt:vector size="67" baseType="lpstr">
      <vt:lpstr>Times New Roman</vt:lpstr>
      <vt:lpstr>Arial</vt:lpstr>
      <vt:lpstr>Wingdings 2</vt:lpstr>
      <vt:lpstr>Tahoma</vt:lpstr>
      <vt:lpstr>Arial Rounded MT Bold</vt:lpstr>
      <vt:lpstr>Symbol</vt:lpstr>
      <vt:lpstr>Courier New</vt:lpstr>
      <vt:lpstr>Monospac821 BT</vt:lpstr>
      <vt:lpstr>Corbel</vt:lpstr>
      <vt:lpstr>plsd</vt:lpstr>
      <vt:lpstr>Equation</vt:lpstr>
      <vt:lpstr>Microsoft Equation 3.0</vt:lpstr>
      <vt:lpstr>Microsoft Photo Editor 3.0 Photo</vt:lpstr>
      <vt:lpstr>MathType 4.0 Equation</vt:lpstr>
      <vt:lpstr>   Design and Analysis of Algorithms</vt:lpstr>
      <vt:lpstr>Sorting algorithms</vt:lpstr>
      <vt:lpstr>Merge Sort (Divide and Conquer)</vt:lpstr>
      <vt:lpstr>Example</vt:lpstr>
      <vt:lpstr>Example Cont’d</vt:lpstr>
      <vt:lpstr>Analysis of Merge Sort</vt:lpstr>
      <vt:lpstr>Visual Representation of the Recurrence for Merge Sort</vt:lpstr>
      <vt:lpstr>Time Complexity (Using Master Theorem)</vt:lpstr>
      <vt:lpstr>PowerPoint Presentation</vt:lpstr>
      <vt:lpstr>Quick Sort</vt:lpstr>
      <vt:lpstr>Quick Sort</vt:lpstr>
      <vt:lpstr>Quick Sort</vt:lpstr>
      <vt:lpstr>Quick Sort</vt:lpstr>
      <vt:lpstr>Quicksort</vt:lpstr>
      <vt:lpstr>Quicksort</vt:lpstr>
      <vt:lpstr>Quicksort</vt:lpstr>
      <vt:lpstr>Quicksort</vt:lpstr>
      <vt:lpstr>Quicksort Code</vt:lpstr>
      <vt:lpstr>Partition</vt:lpstr>
      <vt:lpstr>Partition Code</vt:lpstr>
      <vt:lpstr>Partition Example A = {2, 8, 7, 1, 3, 5, 6, 4}</vt:lpstr>
      <vt:lpstr>Partition Example Explanation</vt:lpstr>
      <vt:lpstr>Choice Of Pivot</vt:lpstr>
      <vt:lpstr>Choice Of Pivot</vt:lpstr>
      <vt:lpstr>Worst Case Partitioning</vt:lpstr>
      <vt:lpstr>Worst Case Partitioning</vt:lpstr>
      <vt:lpstr>Worst Case Partitioning</vt:lpstr>
      <vt:lpstr>Best Case Partition</vt:lpstr>
      <vt:lpstr>Best Case Partitioning</vt:lpstr>
      <vt:lpstr>Average Case</vt:lpstr>
      <vt:lpstr>Average Case</vt:lpstr>
      <vt:lpstr>Average Case</vt:lpstr>
      <vt:lpstr>Average Case</vt:lpstr>
      <vt:lpstr>Intuition for the Average Case</vt:lpstr>
      <vt:lpstr>Randomized Quicksort</vt:lpstr>
      <vt:lpstr>Randomized Quicksort</vt:lpstr>
      <vt:lpstr>Review: Analyzing Quicksort</vt:lpstr>
      <vt:lpstr>PowerPoint Presentation</vt:lpstr>
      <vt:lpstr>Linear Time Sorting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Lec Week-13</dc:subject>
  <dc:creator>Kashif Munir</dc:creator>
  <cp:lastModifiedBy>user1</cp:lastModifiedBy>
  <cp:revision>437</cp:revision>
  <cp:lastPrinted>1998-07-27T03:15:14Z</cp:lastPrinted>
  <dcterms:created xsi:type="dcterms:W3CDTF">1998-07-26T04:07:26Z</dcterms:created>
  <dcterms:modified xsi:type="dcterms:W3CDTF">2025-07-28T10:26:12Z</dcterms:modified>
</cp:coreProperties>
</file>