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256" r:id="rId2"/>
    <p:sldId id="386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411" r:id="rId12"/>
    <p:sldId id="412" r:id="rId13"/>
    <p:sldId id="413" r:id="rId14"/>
    <p:sldId id="414" r:id="rId15"/>
    <p:sldId id="415" r:id="rId16"/>
    <p:sldId id="416" r:id="rId17"/>
    <p:sldId id="417" r:id="rId18"/>
    <p:sldId id="418" r:id="rId19"/>
    <p:sldId id="419" r:id="rId20"/>
    <p:sldId id="420" r:id="rId21"/>
    <p:sldId id="421" r:id="rId22"/>
    <p:sldId id="424" r:id="rId23"/>
    <p:sldId id="425" r:id="rId24"/>
    <p:sldId id="426" r:id="rId25"/>
    <p:sldId id="429" r:id="rId26"/>
    <p:sldId id="430" r:id="rId27"/>
    <p:sldId id="431" r:id="rId28"/>
    <p:sldId id="432" r:id="rId29"/>
    <p:sldId id="433" r:id="rId30"/>
    <p:sldId id="434" r:id="rId31"/>
    <p:sldId id="435" r:id="rId32"/>
    <p:sldId id="436" r:id="rId33"/>
    <p:sldId id="437" r:id="rId34"/>
    <p:sldId id="438" r:id="rId35"/>
    <p:sldId id="439" r:id="rId36"/>
    <p:sldId id="440" r:id="rId37"/>
    <p:sldId id="441" r:id="rId38"/>
    <p:sldId id="442" r:id="rId39"/>
    <p:sldId id="443" r:id="rId40"/>
    <p:sldId id="444" r:id="rId41"/>
    <p:sldId id="445" r:id="rId42"/>
    <p:sldId id="446" r:id="rId43"/>
    <p:sldId id="447" r:id="rId44"/>
    <p:sldId id="448" r:id="rId45"/>
    <p:sldId id="449" r:id="rId46"/>
    <p:sldId id="450" r:id="rId47"/>
    <p:sldId id="451" r:id="rId48"/>
    <p:sldId id="452" r:id="rId49"/>
    <p:sldId id="453" r:id="rId50"/>
    <p:sldId id="454" r:id="rId51"/>
    <p:sldId id="455" r:id="rId52"/>
    <p:sldId id="456" r:id="rId53"/>
    <p:sldId id="461" r:id="rId54"/>
    <p:sldId id="463" r:id="rId55"/>
    <p:sldId id="467" r:id="rId56"/>
    <p:sldId id="468" r:id="rId57"/>
    <p:sldId id="469" r:id="rId58"/>
    <p:sldId id="470" r:id="rId59"/>
    <p:sldId id="472" r:id="rId60"/>
    <p:sldId id="473" r:id="rId61"/>
    <p:sldId id="474" r:id="rId62"/>
    <p:sldId id="475" r:id="rId63"/>
    <p:sldId id="476" r:id="rId64"/>
    <p:sldId id="477" r:id="rId65"/>
    <p:sldId id="478" r:id="rId66"/>
  </p:sldIdLst>
  <p:sldSz cx="9144000" cy="6858000" type="screen4x3"/>
  <p:notesSz cx="6661150" cy="9871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99"/>
    <a:srgbClr val="99FF99"/>
    <a:srgbClr val="99CCFF"/>
    <a:srgbClr val="FFFF00"/>
    <a:srgbClr val="063DE8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7" autoAdjust="0"/>
    <p:restoredTop sz="94660"/>
  </p:normalViewPr>
  <p:slideViewPr>
    <p:cSldViewPr>
      <p:cViewPr varScale="1">
        <p:scale>
          <a:sx n="73" d="100"/>
          <a:sy n="73" d="100"/>
        </p:scale>
        <p:origin x="1404" y="78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.xml"/><Relationship Id="rId2" Type="http://schemas.openxmlformats.org/officeDocument/2006/relationships/slide" Target="slides/slide4.xml"/><Relationship Id="rId1" Type="http://schemas.openxmlformats.org/officeDocument/2006/relationships/slide" Target="slides/slide3.xml"/><Relationship Id="rId6" Type="http://schemas.openxmlformats.org/officeDocument/2006/relationships/slide" Target="slides/slide23.xml"/><Relationship Id="rId5" Type="http://schemas.openxmlformats.org/officeDocument/2006/relationships/slide" Target="slides/slide20.xml"/><Relationship Id="rId4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7413" y="4689475"/>
            <a:ext cx="4886325" cy="4441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1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71538" y="746125"/>
            <a:ext cx="4919662" cy="3689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63600" y="739775"/>
            <a:ext cx="4935538" cy="3702050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63600" y="739775"/>
            <a:ext cx="4935538" cy="3702050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863600" y="739775"/>
            <a:ext cx="4935538" cy="3702050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42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9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3623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3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06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0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81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170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05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61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74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304800"/>
            <a:ext cx="7848600" cy="632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1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noFill/>
        </p:spPr>
        <p:txBody>
          <a:bodyPr/>
          <a:lstStyle/>
          <a:p>
            <a:pPr algn="ctr"/>
            <a:r>
              <a:rPr lang="en-US" altLang="en-US" sz="3600" smtClean="0"/>
              <a:t>Design and Analysis of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886200"/>
            <a:ext cx="7543800" cy="2362200"/>
          </a:xfrm>
          <a:noFill/>
        </p:spPr>
        <p:txBody>
          <a:bodyPr/>
          <a:lstStyle/>
          <a:p>
            <a:pPr marL="342900" indent="-342900">
              <a:lnSpc>
                <a:spcPct val="90000"/>
              </a:lnSpc>
            </a:pPr>
            <a:endParaRPr lang="en-US" altLang="en-US" smtClean="0"/>
          </a:p>
          <a:p>
            <a:pPr marL="342900" indent="-342900">
              <a:lnSpc>
                <a:spcPct val="90000"/>
              </a:lnSpc>
            </a:pPr>
            <a:r>
              <a:rPr lang="en-US" altLang="en-US" sz="1800" smtClean="0"/>
              <a:t>National University of Computer &amp; Emerging Sciences, Islamabad</a:t>
            </a:r>
          </a:p>
          <a:p>
            <a:pPr marL="342900" indent="-342900">
              <a:lnSpc>
                <a:spcPct val="90000"/>
              </a:lnSpc>
            </a:pPr>
            <a:endParaRPr lang="en-US" altLang="en-US" sz="1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0" y="2286000"/>
            <a:ext cx="6096000" cy="1447800"/>
          </a:xfrm>
        </p:spPr>
        <p:txBody>
          <a:bodyPr/>
          <a:lstStyle/>
          <a:p>
            <a:r>
              <a:rPr lang="en-US" altLang="en-US" sz="6000" smtClean="0"/>
              <a:t>Graphs</a:t>
            </a:r>
            <a:br>
              <a:rPr lang="en-US" altLang="en-US" sz="6000" smtClean="0"/>
            </a:br>
            <a:endParaRPr lang="en-US" altLang="en-US" sz="6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Graph Definitions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153400" cy="2389188"/>
          </a:xfrm>
        </p:spPr>
        <p:txBody>
          <a:bodyPr/>
          <a:lstStyle/>
          <a:p>
            <a:r>
              <a:rPr lang="en-US" altLang="en-US" sz="2400" smtClean="0"/>
              <a:t>A graph G is denoted by G = (V, E) where</a:t>
            </a:r>
          </a:p>
          <a:p>
            <a:pPr lvl="1"/>
            <a:r>
              <a:rPr lang="en-US" altLang="en-US" sz="2000" smtClean="0"/>
              <a:t>V is the set of </a:t>
            </a:r>
            <a:r>
              <a:rPr lang="en-US" altLang="en-US" sz="2000" i="1" smtClean="0"/>
              <a:t>vertices</a:t>
            </a:r>
            <a:r>
              <a:rPr lang="en-US" altLang="en-US" sz="2000" smtClean="0"/>
              <a:t> or nodes of the graph</a:t>
            </a:r>
          </a:p>
          <a:p>
            <a:pPr lvl="1"/>
            <a:r>
              <a:rPr lang="en-US" altLang="en-US" sz="2000" smtClean="0"/>
              <a:t>E is the set of </a:t>
            </a:r>
            <a:r>
              <a:rPr lang="en-US" altLang="en-US" sz="2000" i="1" smtClean="0"/>
              <a:t>edges</a:t>
            </a:r>
            <a:r>
              <a:rPr lang="en-US" altLang="en-US" sz="2000" smtClean="0"/>
              <a:t> or arcs connecting the vertices in V</a:t>
            </a:r>
          </a:p>
          <a:p>
            <a:r>
              <a:rPr lang="en-US" altLang="en-US" sz="2400" smtClean="0"/>
              <a:t>Each edge E is denoted as a pair (</a:t>
            </a:r>
            <a:r>
              <a:rPr lang="en-US" altLang="en-US" sz="2400" i="1" smtClean="0"/>
              <a:t>v,w</a:t>
            </a:r>
            <a:r>
              <a:rPr lang="en-US" altLang="en-US" sz="2400" smtClean="0"/>
              <a:t>) where </a:t>
            </a:r>
            <a:r>
              <a:rPr lang="en-US" altLang="en-US" sz="2400" i="1" smtClean="0"/>
              <a:t>v</a:t>
            </a:r>
            <a:r>
              <a:rPr lang="en-US" altLang="en-US" sz="2400" smtClean="0"/>
              <a:t>,</a:t>
            </a:r>
            <a:r>
              <a:rPr lang="en-US" altLang="en-US" sz="2400" i="1" smtClean="0"/>
              <a:t>w</a:t>
            </a:r>
            <a:r>
              <a:rPr lang="en-US" altLang="en-US" sz="2400" smtClean="0"/>
              <a:t> </a:t>
            </a:r>
            <a:r>
              <a:rPr lang="en-US" altLang="en-US" sz="2400" smtClean="0">
                <a:latin typeface="Symbol" panose="05050102010706020507" pitchFamily="18" charset="2"/>
              </a:rPr>
              <a:t>e </a:t>
            </a:r>
            <a:r>
              <a:rPr lang="en-US" altLang="en-US" sz="2400" smtClean="0"/>
              <a:t>V</a:t>
            </a:r>
          </a:p>
          <a:p>
            <a:pPr>
              <a:buFontTx/>
              <a:buNone/>
            </a:pPr>
            <a:r>
              <a:rPr lang="en-US" altLang="en-US" sz="2400" smtClean="0"/>
              <a:t>	For example in the graph below</a:t>
            </a:r>
          </a:p>
        </p:txBody>
      </p:sp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914400" y="3429000"/>
            <a:ext cx="2438400" cy="2514600"/>
            <a:chOff x="1680" y="2208"/>
            <a:chExt cx="1536" cy="1584"/>
          </a:xfrm>
        </p:grpSpPr>
        <p:grpSp>
          <p:nvGrpSpPr>
            <p:cNvPr id="5126" name="Group 5"/>
            <p:cNvGrpSpPr>
              <a:grpSpLocks/>
            </p:cNvGrpSpPr>
            <p:nvPr/>
          </p:nvGrpSpPr>
          <p:grpSpPr bwMode="auto">
            <a:xfrm>
              <a:off x="1728" y="2496"/>
              <a:ext cx="240" cy="240"/>
              <a:chOff x="1584" y="2208"/>
              <a:chExt cx="240" cy="240"/>
            </a:xfrm>
          </p:grpSpPr>
          <p:sp>
            <p:nvSpPr>
              <p:cNvPr id="5147" name="Oval 6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48" name="Text Box 7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5127" name="Group 8"/>
            <p:cNvGrpSpPr>
              <a:grpSpLocks/>
            </p:cNvGrpSpPr>
            <p:nvPr/>
          </p:nvGrpSpPr>
          <p:grpSpPr bwMode="auto">
            <a:xfrm>
              <a:off x="2352" y="2208"/>
              <a:ext cx="240" cy="240"/>
              <a:chOff x="1584" y="2208"/>
              <a:chExt cx="240" cy="240"/>
            </a:xfrm>
          </p:grpSpPr>
          <p:sp>
            <p:nvSpPr>
              <p:cNvPr id="5145" name="Oval 9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46" name="Text Box 10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5128" name="Group 11"/>
            <p:cNvGrpSpPr>
              <a:grpSpLocks/>
            </p:cNvGrpSpPr>
            <p:nvPr/>
          </p:nvGrpSpPr>
          <p:grpSpPr bwMode="auto">
            <a:xfrm>
              <a:off x="2400" y="3552"/>
              <a:ext cx="240" cy="240"/>
              <a:chOff x="1584" y="2208"/>
              <a:chExt cx="240" cy="240"/>
            </a:xfrm>
          </p:grpSpPr>
          <p:sp>
            <p:nvSpPr>
              <p:cNvPr id="5143" name="Oval 12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44" name="Text Box 13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  <p:grpSp>
          <p:nvGrpSpPr>
            <p:cNvPr id="5129" name="Group 14"/>
            <p:cNvGrpSpPr>
              <a:grpSpLocks/>
            </p:cNvGrpSpPr>
            <p:nvPr/>
          </p:nvGrpSpPr>
          <p:grpSpPr bwMode="auto">
            <a:xfrm>
              <a:off x="1680" y="3168"/>
              <a:ext cx="240" cy="240"/>
              <a:chOff x="1584" y="2208"/>
              <a:chExt cx="240" cy="240"/>
            </a:xfrm>
          </p:grpSpPr>
          <p:sp>
            <p:nvSpPr>
              <p:cNvPr id="5141" name="Oval 15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42" name="Text Box 16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5130" name="Group 17"/>
            <p:cNvGrpSpPr>
              <a:grpSpLocks/>
            </p:cNvGrpSpPr>
            <p:nvPr/>
          </p:nvGrpSpPr>
          <p:grpSpPr bwMode="auto">
            <a:xfrm>
              <a:off x="2976" y="3168"/>
              <a:ext cx="240" cy="240"/>
              <a:chOff x="1584" y="2208"/>
              <a:chExt cx="240" cy="240"/>
            </a:xfrm>
          </p:grpSpPr>
          <p:sp>
            <p:nvSpPr>
              <p:cNvPr id="5139" name="Oval 18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40" name="Text Box 19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grpSp>
          <p:nvGrpSpPr>
            <p:cNvPr id="5131" name="Group 20"/>
            <p:cNvGrpSpPr>
              <a:grpSpLocks/>
            </p:cNvGrpSpPr>
            <p:nvPr/>
          </p:nvGrpSpPr>
          <p:grpSpPr bwMode="auto">
            <a:xfrm>
              <a:off x="2976" y="2544"/>
              <a:ext cx="240" cy="240"/>
              <a:chOff x="1584" y="2208"/>
              <a:chExt cx="240" cy="240"/>
            </a:xfrm>
          </p:grpSpPr>
          <p:sp>
            <p:nvSpPr>
              <p:cNvPr id="5137" name="Oval 21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8" name="Text Box 22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5132" name="Line 23"/>
            <p:cNvSpPr>
              <a:spLocks noChangeShapeType="1"/>
            </p:cNvSpPr>
            <p:nvPr/>
          </p:nvSpPr>
          <p:spPr bwMode="auto">
            <a:xfrm flipV="1">
              <a:off x="1920" y="2352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33" name="Line 24"/>
            <p:cNvSpPr>
              <a:spLocks noChangeShapeType="1"/>
            </p:cNvSpPr>
            <p:nvPr/>
          </p:nvSpPr>
          <p:spPr bwMode="auto">
            <a:xfrm>
              <a:off x="2496" y="2448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34" name="Line 25"/>
            <p:cNvSpPr>
              <a:spLocks noChangeShapeType="1"/>
            </p:cNvSpPr>
            <p:nvPr/>
          </p:nvSpPr>
          <p:spPr bwMode="auto">
            <a:xfrm>
              <a:off x="1920" y="326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35" name="Line 26"/>
            <p:cNvSpPr>
              <a:spLocks noChangeShapeType="1"/>
            </p:cNvSpPr>
            <p:nvPr/>
          </p:nvSpPr>
          <p:spPr bwMode="auto">
            <a:xfrm>
              <a:off x="1872" y="3408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36" name="Line 27"/>
            <p:cNvSpPr>
              <a:spLocks noChangeShapeType="1"/>
            </p:cNvSpPr>
            <p:nvPr/>
          </p:nvSpPr>
          <p:spPr bwMode="auto">
            <a:xfrm flipV="1">
              <a:off x="1872" y="2736"/>
              <a:ext cx="110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125" name="Rectangle 28"/>
          <p:cNvSpPr>
            <a:spLocks noChangeArrowheads="1"/>
          </p:cNvSpPr>
          <p:nvPr/>
        </p:nvSpPr>
        <p:spPr bwMode="auto">
          <a:xfrm>
            <a:off x="4495800" y="3657600"/>
            <a:ext cx="4191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V = {1, 2, 3, 4, 5, 6}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E = {(1, 2) (2, 5) (3, 6) (4, 6) (5, 6)}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This is an example of an </a:t>
            </a:r>
            <a:r>
              <a:rPr lang="en-US" altLang="en-US" sz="2400" i="1"/>
              <a:t>unordered</a:t>
            </a:r>
            <a:r>
              <a:rPr lang="en-US" altLang="en-US" sz="2400"/>
              <a:t> or </a:t>
            </a:r>
            <a:r>
              <a:rPr lang="en-US" altLang="en-US" sz="2400" i="1"/>
              <a:t>undirected </a:t>
            </a:r>
            <a:r>
              <a:rPr lang="en-US" altLang="en-US" sz="2400"/>
              <a:t>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Graph Definitions (contd.)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10600" cy="1143000"/>
          </a:xfrm>
        </p:spPr>
        <p:txBody>
          <a:bodyPr/>
          <a:lstStyle/>
          <a:p>
            <a:r>
              <a:rPr lang="en-US" altLang="en-US" smtClean="0"/>
              <a:t>If the pair of vertices is ordered then the graph is a </a:t>
            </a:r>
            <a:r>
              <a:rPr lang="en-US" altLang="en-US" i="1" smtClean="0"/>
              <a:t>directed</a:t>
            </a:r>
            <a:r>
              <a:rPr lang="en-US" altLang="en-US" smtClean="0"/>
              <a:t> graph or a </a:t>
            </a:r>
            <a:r>
              <a:rPr lang="en-US" altLang="en-US" i="1" smtClean="0"/>
              <a:t>di-graph</a:t>
            </a:r>
          </a:p>
        </p:txBody>
      </p:sp>
      <p:grpSp>
        <p:nvGrpSpPr>
          <p:cNvPr id="6148" name="Group 4"/>
          <p:cNvGrpSpPr>
            <a:grpSpLocks/>
          </p:cNvGrpSpPr>
          <p:nvPr/>
        </p:nvGrpSpPr>
        <p:grpSpPr bwMode="auto">
          <a:xfrm>
            <a:off x="914400" y="2057400"/>
            <a:ext cx="2438400" cy="2514600"/>
            <a:chOff x="528" y="1536"/>
            <a:chExt cx="1536" cy="1584"/>
          </a:xfrm>
        </p:grpSpPr>
        <p:grpSp>
          <p:nvGrpSpPr>
            <p:cNvPr id="6151" name="Group 5"/>
            <p:cNvGrpSpPr>
              <a:grpSpLocks/>
            </p:cNvGrpSpPr>
            <p:nvPr/>
          </p:nvGrpSpPr>
          <p:grpSpPr bwMode="auto">
            <a:xfrm>
              <a:off x="576" y="1824"/>
              <a:ext cx="240" cy="240"/>
              <a:chOff x="1584" y="2208"/>
              <a:chExt cx="240" cy="240"/>
            </a:xfrm>
          </p:grpSpPr>
          <p:sp>
            <p:nvSpPr>
              <p:cNvPr id="6172" name="Oval 6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73" name="Text Box 7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6152" name="Group 8"/>
            <p:cNvGrpSpPr>
              <a:grpSpLocks/>
            </p:cNvGrpSpPr>
            <p:nvPr/>
          </p:nvGrpSpPr>
          <p:grpSpPr bwMode="auto">
            <a:xfrm>
              <a:off x="1200" y="1536"/>
              <a:ext cx="240" cy="240"/>
              <a:chOff x="1584" y="2208"/>
              <a:chExt cx="240" cy="240"/>
            </a:xfrm>
          </p:grpSpPr>
          <p:sp>
            <p:nvSpPr>
              <p:cNvPr id="6170" name="Oval 9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71" name="Text Box 10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6153" name="Group 11"/>
            <p:cNvGrpSpPr>
              <a:grpSpLocks/>
            </p:cNvGrpSpPr>
            <p:nvPr/>
          </p:nvGrpSpPr>
          <p:grpSpPr bwMode="auto">
            <a:xfrm>
              <a:off x="1248" y="2880"/>
              <a:ext cx="240" cy="240"/>
              <a:chOff x="1584" y="2208"/>
              <a:chExt cx="240" cy="240"/>
            </a:xfrm>
          </p:grpSpPr>
          <p:sp>
            <p:nvSpPr>
              <p:cNvPr id="6168" name="Oval 12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69" name="Text Box 13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  <p:grpSp>
          <p:nvGrpSpPr>
            <p:cNvPr id="6154" name="Group 14"/>
            <p:cNvGrpSpPr>
              <a:grpSpLocks/>
            </p:cNvGrpSpPr>
            <p:nvPr/>
          </p:nvGrpSpPr>
          <p:grpSpPr bwMode="auto">
            <a:xfrm>
              <a:off x="528" y="2496"/>
              <a:ext cx="240" cy="240"/>
              <a:chOff x="1584" y="2208"/>
              <a:chExt cx="240" cy="240"/>
            </a:xfrm>
          </p:grpSpPr>
          <p:sp>
            <p:nvSpPr>
              <p:cNvPr id="6166" name="Oval 15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67" name="Text Box 16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6155" name="Group 17"/>
            <p:cNvGrpSpPr>
              <a:grpSpLocks/>
            </p:cNvGrpSpPr>
            <p:nvPr/>
          </p:nvGrpSpPr>
          <p:grpSpPr bwMode="auto">
            <a:xfrm>
              <a:off x="1824" y="2496"/>
              <a:ext cx="240" cy="240"/>
              <a:chOff x="1584" y="2208"/>
              <a:chExt cx="240" cy="240"/>
            </a:xfrm>
          </p:grpSpPr>
          <p:sp>
            <p:nvSpPr>
              <p:cNvPr id="6164" name="Oval 18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65" name="Text Box 19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grpSp>
          <p:nvGrpSpPr>
            <p:cNvPr id="6156" name="Group 20"/>
            <p:cNvGrpSpPr>
              <a:grpSpLocks/>
            </p:cNvGrpSpPr>
            <p:nvPr/>
          </p:nvGrpSpPr>
          <p:grpSpPr bwMode="auto">
            <a:xfrm>
              <a:off x="1824" y="1872"/>
              <a:ext cx="240" cy="240"/>
              <a:chOff x="1584" y="2208"/>
              <a:chExt cx="240" cy="240"/>
            </a:xfrm>
          </p:grpSpPr>
          <p:sp>
            <p:nvSpPr>
              <p:cNvPr id="6162" name="Oval 21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63" name="Text Box 22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6157" name="Line 23"/>
            <p:cNvSpPr>
              <a:spLocks noChangeShapeType="1"/>
            </p:cNvSpPr>
            <p:nvPr/>
          </p:nvSpPr>
          <p:spPr bwMode="auto">
            <a:xfrm flipV="1">
              <a:off x="816" y="172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58" name="Line 24"/>
            <p:cNvSpPr>
              <a:spLocks noChangeShapeType="1"/>
            </p:cNvSpPr>
            <p:nvPr/>
          </p:nvSpPr>
          <p:spPr bwMode="auto">
            <a:xfrm>
              <a:off x="1344" y="1824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59" name="Line 25"/>
            <p:cNvSpPr>
              <a:spLocks noChangeShapeType="1"/>
            </p:cNvSpPr>
            <p:nvPr/>
          </p:nvSpPr>
          <p:spPr bwMode="auto">
            <a:xfrm flipV="1">
              <a:off x="768" y="2064"/>
              <a:ext cx="105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0" name="Line 26"/>
            <p:cNvSpPr>
              <a:spLocks noChangeShapeType="1"/>
            </p:cNvSpPr>
            <p:nvPr/>
          </p:nvSpPr>
          <p:spPr bwMode="auto">
            <a:xfrm>
              <a:off x="768" y="264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1" name="Line 27"/>
            <p:cNvSpPr>
              <a:spLocks noChangeShapeType="1"/>
            </p:cNvSpPr>
            <p:nvPr/>
          </p:nvSpPr>
          <p:spPr bwMode="auto">
            <a:xfrm flipH="1" flipV="1">
              <a:off x="720" y="2688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149" name="Rectangle 28"/>
          <p:cNvSpPr>
            <a:spLocks noChangeArrowheads="1"/>
          </p:cNvSpPr>
          <p:nvPr/>
        </p:nvSpPr>
        <p:spPr bwMode="auto">
          <a:xfrm>
            <a:off x="4114800" y="2438400"/>
            <a:ext cx="4191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Here,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V = {1, 2, 3, 4, 5, 6}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E = {(1, 2) (2, 5) (5, 6) (6, 3) (6, 4)}</a:t>
            </a:r>
          </a:p>
        </p:txBody>
      </p:sp>
      <p:sp>
        <p:nvSpPr>
          <p:cNvPr id="6150" name="Rectangle 29"/>
          <p:cNvSpPr>
            <a:spLocks noChangeArrowheads="1"/>
          </p:cNvSpPr>
          <p:nvPr/>
        </p:nvSpPr>
        <p:spPr bwMode="auto">
          <a:xfrm>
            <a:off x="152400" y="4495800"/>
            <a:ext cx="8991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Vertex </a:t>
            </a:r>
            <a:r>
              <a:rPr lang="en-US" altLang="en-US" i="1"/>
              <a:t>v</a:t>
            </a:r>
            <a:r>
              <a:rPr lang="en-US" altLang="en-US"/>
              <a:t> is </a:t>
            </a:r>
            <a:r>
              <a:rPr lang="en-US" altLang="en-US" i="1"/>
              <a:t>adjacent</a:t>
            </a:r>
            <a:r>
              <a:rPr lang="en-US" altLang="en-US"/>
              <a:t> to </a:t>
            </a:r>
            <a:r>
              <a:rPr lang="en-US" altLang="en-US" i="1"/>
              <a:t>w</a:t>
            </a:r>
            <a:r>
              <a:rPr lang="en-US" altLang="en-US"/>
              <a:t> iff (</a:t>
            </a:r>
            <a:r>
              <a:rPr lang="en-US" altLang="en-US" i="1"/>
              <a:t>v,w</a:t>
            </a:r>
            <a:r>
              <a:rPr lang="en-US" altLang="en-US"/>
              <a:t>) </a:t>
            </a:r>
            <a:r>
              <a:rPr lang="en-US" altLang="en-US">
                <a:latin typeface="Symbol" panose="05050102010706020507" pitchFamily="18" charset="2"/>
              </a:rPr>
              <a:t>e</a:t>
            </a:r>
            <a:r>
              <a:rPr lang="en-US" altLang="en-US"/>
              <a:t> E</a:t>
            </a:r>
          </a:p>
          <a:p>
            <a:r>
              <a:rPr lang="en-US" altLang="en-US"/>
              <a:t>Sometimes an edge has another component called a </a:t>
            </a:r>
            <a:r>
              <a:rPr lang="en-US" altLang="en-US" i="1"/>
              <a:t>weight</a:t>
            </a:r>
            <a:r>
              <a:rPr lang="en-US" altLang="en-US"/>
              <a:t> or </a:t>
            </a:r>
            <a:r>
              <a:rPr lang="en-US" altLang="en-US" i="1"/>
              <a:t>cost</a:t>
            </a:r>
            <a:r>
              <a:rPr lang="en-US" altLang="en-US"/>
              <a:t>. If the weight is absent it is assumed to be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Graph Definitions: Path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610600" cy="4724400"/>
          </a:xfrm>
        </p:spPr>
        <p:txBody>
          <a:bodyPr/>
          <a:lstStyle/>
          <a:p>
            <a:r>
              <a:rPr lang="en-US" altLang="en-US" smtClean="0"/>
              <a:t>A </a:t>
            </a:r>
            <a:r>
              <a:rPr lang="en-US" altLang="en-US" i="1" smtClean="0"/>
              <a:t>path</a:t>
            </a:r>
            <a:r>
              <a:rPr lang="en-US" altLang="en-US" smtClean="0"/>
              <a:t> is a sequence of vertices w</a:t>
            </a:r>
            <a:r>
              <a:rPr lang="en-US" altLang="en-US" baseline="-25000" smtClean="0"/>
              <a:t>1</a:t>
            </a:r>
            <a:r>
              <a:rPr lang="en-US" altLang="en-US" smtClean="0"/>
              <a:t>, w</a:t>
            </a:r>
            <a:r>
              <a:rPr lang="en-US" altLang="en-US" baseline="-25000" smtClean="0"/>
              <a:t>2</a:t>
            </a:r>
            <a:r>
              <a:rPr lang="en-US" altLang="en-US" smtClean="0"/>
              <a:t>, w</a:t>
            </a:r>
            <a:r>
              <a:rPr lang="en-US" altLang="en-US" baseline="-25000" smtClean="0"/>
              <a:t>3</a:t>
            </a:r>
            <a:r>
              <a:rPr lang="en-US" altLang="en-US" smtClean="0"/>
              <a:t>, ....w</a:t>
            </a:r>
            <a:r>
              <a:rPr lang="en-US" altLang="en-US" baseline="-25000" smtClean="0"/>
              <a:t>n </a:t>
            </a:r>
            <a:r>
              <a:rPr lang="en-US" altLang="en-US" smtClean="0"/>
              <a:t>such that (w</a:t>
            </a:r>
            <a:r>
              <a:rPr lang="en-US" altLang="en-US" baseline="-25000" smtClean="0"/>
              <a:t>i</a:t>
            </a:r>
            <a:r>
              <a:rPr lang="en-US" altLang="en-US" smtClean="0"/>
              <a:t>, w</a:t>
            </a:r>
            <a:r>
              <a:rPr lang="en-US" altLang="en-US" baseline="-25000" smtClean="0"/>
              <a:t>i+1</a:t>
            </a:r>
            <a:r>
              <a:rPr lang="en-US" altLang="en-US" smtClean="0"/>
              <a:t>) </a:t>
            </a:r>
            <a:r>
              <a:rPr lang="en-US" altLang="en-US" smtClean="0">
                <a:latin typeface="Symbol" panose="05050102010706020507" pitchFamily="18" charset="2"/>
              </a:rPr>
              <a:t>e</a:t>
            </a:r>
            <a:r>
              <a:rPr lang="en-US" altLang="en-US" smtClean="0"/>
              <a:t> E</a:t>
            </a:r>
          </a:p>
          <a:p>
            <a:r>
              <a:rPr lang="en-US" altLang="en-US" i="1" smtClean="0"/>
              <a:t>Length</a:t>
            </a:r>
            <a:r>
              <a:rPr lang="en-US" altLang="en-US" smtClean="0"/>
              <a:t> of a path = # edges in the path</a:t>
            </a:r>
          </a:p>
          <a:p>
            <a:r>
              <a:rPr lang="en-US" altLang="en-US" smtClean="0"/>
              <a:t>A </a:t>
            </a:r>
            <a:r>
              <a:rPr lang="en-US" altLang="en-US" i="1" smtClean="0"/>
              <a:t>loop</a:t>
            </a:r>
            <a:r>
              <a:rPr lang="en-US" altLang="en-US" smtClean="0"/>
              <a:t> is an edge from a vertex onto itself. It is denoted by (v, v)</a:t>
            </a:r>
          </a:p>
          <a:p>
            <a:r>
              <a:rPr lang="en-US" altLang="en-US" smtClean="0"/>
              <a:t>A </a:t>
            </a:r>
            <a:r>
              <a:rPr lang="en-US" altLang="en-US" i="1" smtClean="0"/>
              <a:t>simple path</a:t>
            </a:r>
            <a:r>
              <a:rPr lang="en-US" altLang="en-US" smtClean="0"/>
              <a:t> is a path where no vertices are repeated along the path</a:t>
            </a:r>
          </a:p>
          <a:p>
            <a:r>
              <a:rPr lang="en-US" altLang="en-US" smtClean="0"/>
              <a:t>A </a:t>
            </a:r>
            <a:r>
              <a:rPr lang="en-US" altLang="en-US" i="1" smtClean="0"/>
              <a:t>cycle</a:t>
            </a:r>
            <a:r>
              <a:rPr lang="en-US" altLang="en-US" smtClean="0"/>
              <a:t> is a path with at least one edge such that the first and last vertices are the same, i.e. w</a:t>
            </a:r>
            <a:r>
              <a:rPr lang="en-US" altLang="en-US" baseline="-25000" smtClean="0"/>
              <a:t>1 </a:t>
            </a:r>
            <a:r>
              <a:rPr lang="en-US" altLang="en-US" smtClean="0"/>
              <a:t>= w</a:t>
            </a:r>
            <a:r>
              <a:rPr lang="en-US" altLang="en-US" baseline="-25000" smtClean="0"/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Graph Definitions: Connectedness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10600" cy="3048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A graph is said to be </a:t>
            </a:r>
            <a:r>
              <a:rPr lang="en-US" altLang="en-US" i="1" smtClean="0"/>
              <a:t>connected</a:t>
            </a:r>
            <a:r>
              <a:rPr lang="en-US" altLang="en-US" smtClean="0"/>
              <a:t> if there is a path from every vertex to every other vertex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A connected graph is </a:t>
            </a:r>
            <a:r>
              <a:rPr lang="en-US" altLang="en-US" i="1" smtClean="0"/>
              <a:t>strongly connected</a:t>
            </a:r>
            <a:r>
              <a:rPr lang="en-US" altLang="en-US" smtClean="0"/>
              <a:t> if it is a connected graph as well as a directed graph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A connected graph is </a:t>
            </a:r>
            <a:r>
              <a:rPr lang="en-US" altLang="en-US" i="1" smtClean="0"/>
              <a:t>weakly connected</a:t>
            </a:r>
            <a:r>
              <a:rPr lang="en-US" altLang="en-US" smtClean="0"/>
              <a:t>  if it is 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a directed graph that is not strongly connected, but,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the underlying undirected graph is connected</a:t>
            </a:r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533400" y="4114800"/>
            <a:ext cx="2438400" cy="2514600"/>
            <a:chOff x="528" y="1536"/>
            <a:chExt cx="1536" cy="1584"/>
          </a:xfrm>
        </p:grpSpPr>
        <p:grpSp>
          <p:nvGrpSpPr>
            <p:cNvPr id="8221" name="Group 5"/>
            <p:cNvGrpSpPr>
              <a:grpSpLocks/>
            </p:cNvGrpSpPr>
            <p:nvPr/>
          </p:nvGrpSpPr>
          <p:grpSpPr bwMode="auto">
            <a:xfrm>
              <a:off x="576" y="1824"/>
              <a:ext cx="240" cy="240"/>
              <a:chOff x="1584" y="2208"/>
              <a:chExt cx="240" cy="240"/>
            </a:xfrm>
          </p:grpSpPr>
          <p:sp>
            <p:nvSpPr>
              <p:cNvPr id="8242" name="Oval 6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43" name="Text Box 7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8222" name="Group 8"/>
            <p:cNvGrpSpPr>
              <a:grpSpLocks/>
            </p:cNvGrpSpPr>
            <p:nvPr/>
          </p:nvGrpSpPr>
          <p:grpSpPr bwMode="auto">
            <a:xfrm>
              <a:off x="1200" y="1536"/>
              <a:ext cx="240" cy="240"/>
              <a:chOff x="1584" y="2208"/>
              <a:chExt cx="240" cy="240"/>
            </a:xfrm>
          </p:grpSpPr>
          <p:sp>
            <p:nvSpPr>
              <p:cNvPr id="8240" name="Oval 9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41" name="Text Box 10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8223" name="Group 11"/>
            <p:cNvGrpSpPr>
              <a:grpSpLocks/>
            </p:cNvGrpSpPr>
            <p:nvPr/>
          </p:nvGrpSpPr>
          <p:grpSpPr bwMode="auto">
            <a:xfrm>
              <a:off x="1248" y="2880"/>
              <a:ext cx="240" cy="240"/>
              <a:chOff x="1584" y="2208"/>
              <a:chExt cx="240" cy="240"/>
            </a:xfrm>
          </p:grpSpPr>
          <p:sp>
            <p:nvSpPr>
              <p:cNvPr id="8238" name="Oval 12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9" name="Text Box 13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  <p:grpSp>
          <p:nvGrpSpPr>
            <p:cNvPr id="8224" name="Group 14"/>
            <p:cNvGrpSpPr>
              <a:grpSpLocks/>
            </p:cNvGrpSpPr>
            <p:nvPr/>
          </p:nvGrpSpPr>
          <p:grpSpPr bwMode="auto">
            <a:xfrm>
              <a:off x="528" y="2496"/>
              <a:ext cx="240" cy="240"/>
              <a:chOff x="1584" y="2208"/>
              <a:chExt cx="240" cy="240"/>
            </a:xfrm>
          </p:grpSpPr>
          <p:sp>
            <p:nvSpPr>
              <p:cNvPr id="8236" name="Oval 15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7" name="Text Box 16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8225" name="Group 17"/>
            <p:cNvGrpSpPr>
              <a:grpSpLocks/>
            </p:cNvGrpSpPr>
            <p:nvPr/>
          </p:nvGrpSpPr>
          <p:grpSpPr bwMode="auto">
            <a:xfrm>
              <a:off x="1824" y="2496"/>
              <a:ext cx="240" cy="240"/>
              <a:chOff x="1584" y="2208"/>
              <a:chExt cx="240" cy="240"/>
            </a:xfrm>
          </p:grpSpPr>
          <p:sp>
            <p:nvSpPr>
              <p:cNvPr id="8234" name="Oval 18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5" name="Text Box 19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grpSp>
          <p:nvGrpSpPr>
            <p:cNvPr id="8226" name="Group 20"/>
            <p:cNvGrpSpPr>
              <a:grpSpLocks/>
            </p:cNvGrpSpPr>
            <p:nvPr/>
          </p:nvGrpSpPr>
          <p:grpSpPr bwMode="auto">
            <a:xfrm>
              <a:off x="1824" y="1872"/>
              <a:ext cx="240" cy="240"/>
              <a:chOff x="1584" y="2208"/>
              <a:chExt cx="240" cy="240"/>
            </a:xfrm>
          </p:grpSpPr>
          <p:sp>
            <p:nvSpPr>
              <p:cNvPr id="8232" name="Oval 21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33" name="Text Box 22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8227" name="Line 23"/>
            <p:cNvSpPr>
              <a:spLocks noChangeShapeType="1"/>
            </p:cNvSpPr>
            <p:nvPr/>
          </p:nvSpPr>
          <p:spPr bwMode="auto">
            <a:xfrm flipV="1">
              <a:off x="816" y="172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28" name="Line 24"/>
            <p:cNvSpPr>
              <a:spLocks noChangeShapeType="1"/>
            </p:cNvSpPr>
            <p:nvPr/>
          </p:nvSpPr>
          <p:spPr bwMode="auto">
            <a:xfrm>
              <a:off x="1344" y="1824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29" name="Line 25"/>
            <p:cNvSpPr>
              <a:spLocks noChangeShapeType="1"/>
            </p:cNvSpPr>
            <p:nvPr/>
          </p:nvSpPr>
          <p:spPr bwMode="auto">
            <a:xfrm flipV="1">
              <a:off x="768" y="2064"/>
              <a:ext cx="105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30" name="Line 26"/>
            <p:cNvSpPr>
              <a:spLocks noChangeShapeType="1"/>
            </p:cNvSpPr>
            <p:nvPr/>
          </p:nvSpPr>
          <p:spPr bwMode="auto">
            <a:xfrm>
              <a:off x="768" y="264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31" name="Line 27"/>
            <p:cNvSpPr>
              <a:spLocks noChangeShapeType="1"/>
            </p:cNvSpPr>
            <p:nvPr/>
          </p:nvSpPr>
          <p:spPr bwMode="auto">
            <a:xfrm flipH="1" flipV="1">
              <a:off x="720" y="2688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97" name="Group 29"/>
          <p:cNvGrpSpPr>
            <a:grpSpLocks/>
          </p:cNvGrpSpPr>
          <p:nvPr/>
        </p:nvGrpSpPr>
        <p:grpSpPr bwMode="auto">
          <a:xfrm>
            <a:off x="6172200" y="4572000"/>
            <a:ext cx="381000" cy="381000"/>
            <a:chOff x="1584" y="2208"/>
            <a:chExt cx="240" cy="240"/>
          </a:xfrm>
        </p:grpSpPr>
        <p:sp>
          <p:nvSpPr>
            <p:cNvPr id="8219" name="Oval 30"/>
            <p:cNvSpPr>
              <a:spLocks noChangeArrowheads="1"/>
            </p:cNvSpPr>
            <p:nvPr/>
          </p:nvSpPr>
          <p:spPr bwMode="auto">
            <a:xfrm>
              <a:off x="1584" y="2208"/>
              <a:ext cx="240" cy="2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220" name="Text Box 31"/>
            <p:cNvSpPr txBox="1">
              <a:spLocks noChangeArrowheads="1"/>
            </p:cNvSpPr>
            <p:nvPr/>
          </p:nvSpPr>
          <p:spPr bwMode="auto">
            <a:xfrm>
              <a:off x="1632" y="2208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8198" name="Group 32"/>
          <p:cNvGrpSpPr>
            <a:grpSpLocks/>
          </p:cNvGrpSpPr>
          <p:nvPr/>
        </p:nvGrpSpPr>
        <p:grpSpPr bwMode="auto">
          <a:xfrm>
            <a:off x="7162800" y="4114800"/>
            <a:ext cx="381000" cy="381000"/>
            <a:chOff x="1584" y="2208"/>
            <a:chExt cx="240" cy="240"/>
          </a:xfrm>
        </p:grpSpPr>
        <p:sp>
          <p:nvSpPr>
            <p:cNvPr id="8217" name="Oval 33"/>
            <p:cNvSpPr>
              <a:spLocks noChangeArrowheads="1"/>
            </p:cNvSpPr>
            <p:nvPr/>
          </p:nvSpPr>
          <p:spPr bwMode="auto">
            <a:xfrm>
              <a:off x="1584" y="2208"/>
              <a:ext cx="240" cy="2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218" name="Text Box 34"/>
            <p:cNvSpPr txBox="1">
              <a:spLocks noChangeArrowheads="1"/>
            </p:cNvSpPr>
            <p:nvPr/>
          </p:nvSpPr>
          <p:spPr bwMode="auto">
            <a:xfrm>
              <a:off x="1632" y="2208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8199" name="Group 35"/>
          <p:cNvGrpSpPr>
            <a:grpSpLocks/>
          </p:cNvGrpSpPr>
          <p:nvPr/>
        </p:nvGrpSpPr>
        <p:grpSpPr bwMode="auto">
          <a:xfrm>
            <a:off x="7239000" y="6248400"/>
            <a:ext cx="381000" cy="381000"/>
            <a:chOff x="1584" y="2208"/>
            <a:chExt cx="240" cy="240"/>
          </a:xfrm>
        </p:grpSpPr>
        <p:sp>
          <p:nvSpPr>
            <p:cNvPr id="8215" name="Oval 36"/>
            <p:cNvSpPr>
              <a:spLocks noChangeArrowheads="1"/>
            </p:cNvSpPr>
            <p:nvPr/>
          </p:nvSpPr>
          <p:spPr bwMode="auto">
            <a:xfrm>
              <a:off x="1584" y="2208"/>
              <a:ext cx="240" cy="2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216" name="Text Box 37"/>
            <p:cNvSpPr txBox="1">
              <a:spLocks noChangeArrowheads="1"/>
            </p:cNvSpPr>
            <p:nvPr/>
          </p:nvSpPr>
          <p:spPr bwMode="auto">
            <a:xfrm>
              <a:off x="1632" y="2208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8200" name="Group 38"/>
          <p:cNvGrpSpPr>
            <a:grpSpLocks/>
          </p:cNvGrpSpPr>
          <p:nvPr/>
        </p:nvGrpSpPr>
        <p:grpSpPr bwMode="auto">
          <a:xfrm>
            <a:off x="6096000" y="5638800"/>
            <a:ext cx="381000" cy="381000"/>
            <a:chOff x="1584" y="2208"/>
            <a:chExt cx="240" cy="240"/>
          </a:xfrm>
        </p:grpSpPr>
        <p:sp>
          <p:nvSpPr>
            <p:cNvPr id="8213" name="Oval 39"/>
            <p:cNvSpPr>
              <a:spLocks noChangeArrowheads="1"/>
            </p:cNvSpPr>
            <p:nvPr/>
          </p:nvSpPr>
          <p:spPr bwMode="auto">
            <a:xfrm>
              <a:off x="1584" y="2208"/>
              <a:ext cx="240" cy="2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214" name="Text Box 40"/>
            <p:cNvSpPr txBox="1">
              <a:spLocks noChangeArrowheads="1"/>
            </p:cNvSpPr>
            <p:nvPr/>
          </p:nvSpPr>
          <p:spPr bwMode="auto">
            <a:xfrm>
              <a:off x="1632" y="2208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6</a:t>
              </a:r>
            </a:p>
          </p:txBody>
        </p:sp>
      </p:grpSp>
      <p:grpSp>
        <p:nvGrpSpPr>
          <p:cNvPr id="8201" name="Group 41"/>
          <p:cNvGrpSpPr>
            <a:grpSpLocks/>
          </p:cNvGrpSpPr>
          <p:nvPr/>
        </p:nvGrpSpPr>
        <p:grpSpPr bwMode="auto">
          <a:xfrm>
            <a:off x="8153400" y="5638800"/>
            <a:ext cx="381000" cy="381000"/>
            <a:chOff x="1584" y="2208"/>
            <a:chExt cx="240" cy="240"/>
          </a:xfrm>
        </p:grpSpPr>
        <p:sp>
          <p:nvSpPr>
            <p:cNvPr id="8211" name="Oval 42"/>
            <p:cNvSpPr>
              <a:spLocks noChangeArrowheads="1"/>
            </p:cNvSpPr>
            <p:nvPr/>
          </p:nvSpPr>
          <p:spPr bwMode="auto">
            <a:xfrm>
              <a:off x="1584" y="2208"/>
              <a:ext cx="240" cy="2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212" name="Text Box 43"/>
            <p:cNvSpPr txBox="1">
              <a:spLocks noChangeArrowheads="1"/>
            </p:cNvSpPr>
            <p:nvPr/>
          </p:nvSpPr>
          <p:spPr bwMode="auto">
            <a:xfrm>
              <a:off x="1632" y="2208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8202" name="Group 44"/>
          <p:cNvGrpSpPr>
            <a:grpSpLocks/>
          </p:cNvGrpSpPr>
          <p:nvPr/>
        </p:nvGrpSpPr>
        <p:grpSpPr bwMode="auto">
          <a:xfrm>
            <a:off x="8153400" y="4648200"/>
            <a:ext cx="381000" cy="381000"/>
            <a:chOff x="1584" y="2208"/>
            <a:chExt cx="240" cy="240"/>
          </a:xfrm>
        </p:grpSpPr>
        <p:sp>
          <p:nvSpPr>
            <p:cNvPr id="8209" name="Oval 45"/>
            <p:cNvSpPr>
              <a:spLocks noChangeArrowheads="1"/>
            </p:cNvSpPr>
            <p:nvPr/>
          </p:nvSpPr>
          <p:spPr bwMode="auto">
            <a:xfrm>
              <a:off x="1584" y="2208"/>
              <a:ext cx="240" cy="2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8210" name="Text Box 46"/>
            <p:cNvSpPr txBox="1">
              <a:spLocks noChangeArrowheads="1"/>
            </p:cNvSpPr>
            <p:nvPr/>
          </p:nvSpPr>
          <p:spPr bwMode="auto">
            <a:xfrm>
              <a:off x="1632" y="2208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8203" name="Line 47"/>
          <p:cNvSpPr>
            <a:spLocks noChangeShapeType="1"/>
          </p:cNvSpPr>
          <p:nvPr/>
        </p:nvSpPr>
        <p:spPr bwMode="auto">
          <a:xfrm flipV="1">
            <a:off x="6553200" y="4419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4" name="Line 48"/>
          <p:cNvSpPr>
            <a:spLocks noChangeShapeType="1"/>
          </p:cNvSpPr>
          <p:nvPr/>
        </p:nvSpPr>
        <p:spPr bwMode="auto">
          <a:xfrm>
            <a:off x="7391400" y="4572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5" name="Line 49"/>
          <p:cNvSpPr>
            <a:spLocks noChangeShapeType="1"/>
          </p:cNvSpPr>
          <p:nvPr/>
        </p:nvSpPr>
        <p:spPr bwMode="auto">
          <a:xfrm flipV="1">
            <a:off x="6477000" y="4953000"/>
            <a:ext cx="1676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6" name="Line 50"/>
          <p:cNvSpPr>
            <a:spLocks noChangeShapeType="1"/>
          </p:cNvSpPr>
          <p:nvPr/>
        </p:nvSpPr>
        <p:spPr bwMode="auto">
          <a:xfrm>
            <a:off x="6477000" y="58674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7" name="Line 51"/>
          <p:cNvSpPr>
            <a:spLocks noChangeShapeType="1"/>
          </p:cNvSpPr>
          <p:nvPr/>
        </p:nvSpPr>
        <p:spPr bwMode="auto">
          <a:xfrm flipH="1" flipV="1">
            <a:off x="6400800" y="59436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08" name="Text Box 52"/>
          <p:cNvSpPr txBox="1">
            <a:spLocks noChangeArrowheads="1"/>
          </p:cNvSpPr>
          <p:nvPr/>
        </p:nvSpPr>
        <p:spPr bwMode="auto">
          <a:xfrm>
            <a:off x="3505200" y="5029200"/>
            <a:ext cx="224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Strong or Weak?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Applications of Graphs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106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Driving Map 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Edge = Road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Vertex = Intersection 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Edge weight = Time required to cover the road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Airline Traffic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Vertex = Cities serviced by the airline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Edge = Flight exists between two cities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Edge weight = Flight time or flight cost or both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Computer networks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Vertex = Server nodes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Edge = Data link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Edge weight = Connection speed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CAD/VLSI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Representing Graphs: Adjacency Matrix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Adjacency Matrix 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Two dimensional matrix of size n x n where n is the number of vertices in the graph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a[i, j] = 0 if there is no edge between vertices i and j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a[i, j] = 1 if there is an edge between vertices i and j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Undirected graphs have both a[i, j] and a[j, i] = 1 if there is an edge between vertices i and j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a[i. j] = weight for weighted graphs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Space requirement is </a:t>
            </a:r>
            <a:r>
              <a:rPr lang="en-US" altLang="en-US" smtClean="0">
                <a:latin typeface="Symbol" panose="05050102010706020507" pitchFamily="18" charset="2"/>
              </a:rPr>
              <a:t>O</a:t>
            </a:r>
            <a:r>
              <a:rPr lang="en-US" altLang="en-US" smtClean="0"/>
              <a:t>(N</a:t>
            </a:r>
            <a:r>
              <a:rPr lang="en-US" altLang="en-US" baseline="30000" smtClean="0"/>
              <a:t>2</a:t>
            </a:r>
            <a:r>
              <a:rPr lang="en-US" altLang="en-US" smtClean="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mtClean="0"/>
              <a:t>Problem: The array is very sparsely populated. For example if a directed graph has 4 vertices and 3 edges, the adjacency matrix has 16 cells only 3 of which are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Representing Graphs: Adjacency List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4953000"/>
          </a:xfrm>
        </p:spPr>
        <p:txBody>
          <a:bodyPr/>
          <a:lstStyle/>
          <a:p>
            <a:r>
              <a:rPr lang="en-US" altLang="en-US" smtClean="0"/>
              <a:t>Adjacency List</a:t>
            </a:r>
          </a:p>
          <a:p>
            <a:pPr lvl="1"/>
            <a:r>
              <a:rPr lang="en-US" altLang="en-US" smtClean="0"/>
              <a:t>Array of lists</a:t>
            </a:r>
          </a:p>
          <a:p>
            <a:pPr lvl="1"/>
            <a:r>
              <a:rPr lang="en-US" altLang="en-US" smtClean="0"/>
              <a:t>Each vertex has an array entry</a:t>
            </a:r>
          </a:p>
          <a:p>
            <a:pPr lvl="1"/>
            <a:r>
              <a:rPr lang="en-US" altLang="en-US" smtClean="0"/>
              <a:t>A vertex w is inserted in the list for vertex v if there is an outgoing edge from v to w</a:t>
            </a:r>
          </a:p>
          <a:p>
            <a:pPr lvl="1"/>
            <a:r>
              <a:rPr lang="en-US" altLang="en-US" smtClean="0"/>
              <a:t>Space requirement = </a:t>
            </a:r>
            <a:r>
              <a:rPr lang="en-US" altLang="en-US" smtClean="0">
                <a:latin typeface="Symbol" panose="05050102010706020507" pitchFamily="18" charset="2"/>
              </a:rPr>
              <a:t>O</a:t>
            </a:r>
            <a:r>
              <a:rPr lang="en-US" altLang="en-US" smtClean="0"/>
              <a:t>(E+V)</a:t>
            </a:r>
          </a:p>
          <a:p>
            <a:pPr lvl="1"/>
            <a:r>
              <a:rPr lang="en-US" altLang="en-US" smtClean="0"/>
              <a:t>Sometimes, a hash-table of  lists is used to implement the adjacency list when the vertices are identified by a name (string) instead of an integer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Adjacency List Example</a:t>
            </a:r>
          </a:p>
        </p:txBody>
      </p:sp>
      <p:grpSp>
        <p:nvGrpSpPr>
          <p:cNvPr id="12291" name="Group 3"/>
          <p:cNvGrpSpPr>
            <a:grpSpLocks/>
          </p:cNvGrpSpPr>
          <p:nvPr/>
        </p:nvGrpSpPr>
        <p:grpSpPr bwMode="auto">
          <a:xfrm>
            <a:off x="914400" y="1295400"/>
            <a:ext cx="2438400" cy="2514600"/>
            <a:chOff x="528" y="1536"/>
            <a:chExt cx="1536" cy="1584"/>
          </a:xfrm>
        </p:grpSpPr>
        <p:grpSp>
          <p:nvGrpSpPr>
            <p:cNvPr id="12336" name="Group 4"/>
            <p:cNvGrpSpPr>
              <a:grpSpLocks/>
            </p:cNvGrpSpPr>
            <p:nvPr/>
          </p:nvGrpSpPr>
          <p:grpSpPr bwMode="auto">
            <a:xfrm>
              <a:off x="576" y="1824"/>
              <a:ext cx="240" cy="240"/>
              <a:chOff x="1584" y="2208"/>
              <a:chExt cx="240" cy="240"/>
            </a:xfrm>
          </p:grpSpPr>
          <p:sp>
            <p:nvSpPr>
              <p:cNvPr id="12357" name="Oval 5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58" name="Text Box 6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2337" name="Group 7"/>
            <p:cNvGrpSpPr>
              <a:grpSpLocks/>
            </p:cNvGrpSpPr>
            <p:nvPr/>
          </p:nvGrpSpPr>
          <p:grpSpPr bwMode="auto">
            <a:xfrm>
              <a:off x="1200" y="1536"/>
              <a:ext cx="240" cy="240"/>
              <a:chOff x="1584" y="2208"/>
              <a:chExt cx="240" cy="240"/>
            </a:xfrm>
          </p:grpSpPr>
          <p:sp>
            <p:nvSpPr>
              <p:cNvPr id="12355" name="Oval 8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56" name="Text Box 9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12338" name="Group 10"/>
            <p:cNvGrpSpPr>
              <a:grpSpLocks/>
            </p:cNvGrpSpPr>
            <p:nvPr/>
          </p:nvGrpSpPr>
          <p:grpSpPr bwMode="auto">
            <a:xfrm>
              <a:off x="1248" y="2880"/>
              <a:ext cx="240" cy="240"/>
              <a:chOff x="1584" y="2208"/>
              <a:chExt cx="240" cy="240"/>
            </a:xfrm>
          </p:grpSpPr>
          <p:sp>
            <p:nvSpPr>
              <p:cNvPr id="12353" name="Oval 11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54" name="Text Box 12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  <p:grpSp>
          <p:nvGrpSpPr>
            <p:cNvPr id="12339" name="Group 13"/>
            <p:cNvGrpSpPr>
              <a:grpSpLocks/>
            </p:cNvGrpSpPr>
            <p:nvPr/>
          </p:nvGrpSpPr>
          <p:grpSpPr bwMode="auto">
            <a:xfrm>
              <a:off x="528" y="2496"/>
              <a:ext cx="240" cy="240"/>
              <a:chOff x="1584" y="2208"/>
              <a:chExt cx="240" cy="240"/>
            </a:xfrm>
          </p:grpSpPr>
          <p:sp>
            <p:nvSpPr>
              <p:cNvPr id="12351" name="Oval 14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52" name="Text Box 15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12340" name="Group 16"/>
            <p:cNvGrpSpPr>
              <a:grpSpLocks/>
            </p:cNvGrpSpPr>
            <p:nvPr/>
          </p:nvGrpSpPr>
          <p:grpSpPr bwMode="auto">
            <a:xfrm>
              <a:off x="1824" y="2496"/>
              <a:ext cx="240" cy="240"/>
              <a:chOff x="1584" y="2208"/>
              <a:chExt cx="240" cy="240"/>
            </a:xfrm>
          </p:grpSpPr>
          <p:sp>
            <p:nvSpPr>
              <p:cNvPr id="12349" name="Oval 17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50" name="Text Box 18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grpSp>
          <p:nvGrpSpPr>
            <p:cNvPr id="12341" name="Group 19"/>
            <p:cNvGrpSpPr>
              <a:grpSpLocks/>
            </p:cNvGrpSpPr>
            <p:nvPr/>
          </p:nvGrpSpPr>
          <p:grpSpPr bwMode="auto">
            <a:xfrm>
              <a:off x="1824" y="1872"/>
              <a:ext cx="240" cy="240"/>
              <a:chOff x="1584" y="2208"/>
              <a:chExt cx="240" cy="240"/>
            </a:xfrm>
          </p:grpSpPr>
          <p:sp>
            <p:nvSpPr>
              <p:cNvPr id="12347" name="Oval 20"/>
              <p:cNvSpPr>
                <a:spLocks noChangeArrowheads="1"/>
              </p:cNvSpPr>
              <p:nvPr/>
            </p:nvSpPr>
            <p:spPr bwMode="auto">
              <a:xfrm>
                <a:off x="1584" y="2208"/>
                <a:ext cx="240" cy="24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48" name="Text Box 21"/>
              <p:cNvSpPr txBox="1">
                <a:spLocks noChangeArrowheads="1"/>
              </p:cNvSpPr>
              <p:nvPr/>
            </p:nvSpPr>
            <p:spPr bwMode="auto">
              <a:xfrm>
                <a:off x="1632" y="2208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sp>
          <p:nvSpPr>
            <p:cNvPr id="12342" name="Line 22"/>
            <p:cNvSpPr>
              <a:spLocks noChangeShapeType="1"/>
            </p:cNvSpPr>
            <p:nvPr/>
          </p:nvSpPr>
          <p:spPr bwMode="auto">
            <a:xfrm flipV="1">
              <a:off x="816" y="172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43" name="Line 23"/>
            <p:cNvSpPr>
              <a:spLocks noChangeShapeType="1"/>
            </p:cNvSpPr>
            <p:nvPr/>
          </p:nvSpPr>
          <p:spPr bwMode="auto">
            <a:xfrm>
              <a:off x="1344" y="1824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44" name="Line 24"/>
            <p:cNvSpPr>
              <a:spLocks noChangeShapeType="1"/>
            </p:cNvSpPr>
            <p:nvPr/>
          </p:nvSpPr>
          <p:spPr bwMode="auto">
            <a:xfrm flipV="1">
              <a:off x="768" y="2064"/>
              <a:ext cx="105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45" name="Line 25"/>
            <p:cNvSpPr>
              <a:spLocks noChangeShapeType="1"/>
            </p:cNvSpPr>
            <p:nvPr/>
          </p:nvSpPr>
          <p:spPr bwMode="auto">
            <a:xfrm>
              <a:off x="768" y="264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46" name="Line 26"/>
            <p:cNvSpPr>
              <a:spLocks noChangeShapeType="1"/>
            </p:cNvSpPr>
            <p:nvPr/>
          </p:nvSpPr>
          <p:spPr bwMode="auto">
            <a:xfrm flipH="1" flipV="1">
              <a:off x="720" y="2688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292" name="Group 27"/>
          <p:cNvGrpSpPr>
            <a:grpSpLocks/>
          </p:cNvGrpSpPr>
          <p:nvPr/>
        </p:nvGrpSpPr>
        <p:grpSpPr bwMode="auto">
          <a:xfrm>
            <a:off x="4495800" y="1447800"/>
            <a:ext cx="4038600" cy="2590800"/>
            <a:chOff x="2688" y="720"/>
            <a:chExt cx="2544" cy="1632"/>
          </a:xfrm>
        </p:grpSpPr>
        <p:sp>
          <p:nvSpPr>
            <p:cNvPr id="12296" name="Text Box 28"/>
            <p:cNvSpPr txBox="1">
              <a:spLocks noChangeArrowheads="1"/>
            </p:cNvSpPr>
            <p:nvPr/>
          </p:nvSpPr>
          <p:spPr bwMode="auto">
            <a:xfrm>
              <a:off x="2688" y="768"/>
              <a:ext cx="720" cy="15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1</a:t>
              </a:r>
            </a:p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2</a:t>
              </a:r>
            </a:p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3</a:t>
              </a:r>
            </a:p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4</a:t>
              </a:r>
            </a:p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5</a:t>
              </a:r>
            </a:p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2297" name="Text Box 29"/>
            <p:cNvSpPr txBox="1">
              <a:spLocks noChangeArrowheads="1"/>
            </p:cNvSpPr>
            <p:nvPr/>
          </p:nvSpPr>
          <p:spPr bwMode="auto">
            <a:xfrm>
              <a:off x="3648" y="720"/>
              <a:ext cx="624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2298" name="Text Box 30"/>
            <p:cNvSpPr txBox="1">
              <a:spLocks noChangeArrowheads="1"/>
            </p:cNvSpPr>
            <p:nvPr/>
          </p:nvSpPr>
          <p:spPr bwMode="auto">
            <a:xfrm>
              <a:off x="3648" y="1056"/>
              <a:ext cx="624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2299" name="Text Box 31"/>
            <p:cNvSpPr txBox="1">
              <a:spLocks noChangeArrowheads="1"/>
            </p:cNvSpPr>
            <p:nvPr/>
          </p:nvSpPr>
          <p:spPr bwMode="auto">
            <a:xfrm>
              <a:off x="3696" y="1776"/>
              <a:ext cx="624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2300" name="Text Box 32"/>
            <p:cNvSpPr txBox="1">
              <a:spLocks noChangeArrowheads="1"/>
            </p:cNvSpPr>
            <p:nvPr/>
          </p:nvSpPr>
          <p:spPr bwMode="auto">
            <a:xfrm>
              <a:off x="4464" y="2112"/>
              <a:ext cx="624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2301" name="Text Box 33"/>
            <p:cNvSpPr txBox="1">
              <a:spLocks noChangeArrowheads="1"/>
            </p:cNvSpPr>
            <p:nvPr/>
          </p:nvSpPr>
          <p:spPr bwMode="auto">
            <a:xfrm>
              <a:off x="3696" y="2112"/>
              <a:ext cx="624" cy="23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en-US" altLang="en-US" sz="1800" b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302" name="Line 34"/>
            <p:cNvSpPr>
              <a:spLocks noChangeShapeType="1"/>
            </p:cNvSpPr>
            <p:nvPr/>
          </p:nvSpPr>
          <p:spPr bwMode="auto">
            <a:xfrm>
              <a:off x="2688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3" name="Line 35"/>
            <p:cNvSpPr>
              <a:spLocks noChangeShapeType="1"/>
            </p:cNvSpPr>
            <p:nvPr/>
          </p:nvSpPr>
          <p:spPr bwMode="auto">
            <a:xfrm>
              <a:off x="2688" y="12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4" name="Line 36"/>
            <p:cNvSpPr>
              <a:spLocks noChangeShapeType="1"/>
            </p:cNvSpPr>
            <p:nvPr/>
          </p:nvSpPr>
          <p:spPr bwMode="auto">
            <a:xfrm>
              <a:off x="2688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5" name="Line 37"/>
            <p:cNvSpPr>
              <a:spLocks noChangeShapeType="1"/>
            </p:cNvSpPr>
            <p:nvPr/>
          </p:nvSpPr>
          <p:spPr bwMode="auto">
            <a:xfrm>
              <a:off x="2688" y="206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6" name="Line 38"/>
            <p:cNvSpPr>
              <a:spLocks noChangeShapeType="1"/>
            </p:cNvSpPr>
            <p:nvPr/>
          </p:nvSpPr>
          <p:spPr bwMode="auto">
            <a:xfrm>
              <a:off x="2688" y="153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7" name="Line 39"/>
            <p:cNvSpPr>
              <a:spLocks noChangeShapeType="1"/>
            </p:cNvSpPr>
            <p:nvPr/>
          </p:nvSpPr>
          <p:spPr bwMode="auto">
            <a:xfrm>
              <a:off x="3408" y="8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8" name="Line 40"/>
            <p:cNvSpPr>
              <a:spLocks noChangeShapeType="1"/>
            </p:cNvSpPr>
            <p:nvPr/>
          </p:nvSpPr>
          <p:spPr bwMode="auto">
            <a:xfrm>
              <a:off x="3408" y="11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9" name="Line 41"/>
            <p:cNvSpPr>
              <a:spLocks noChangeShapeType="1"/>
            </p:cNvSpPr>
            <p:nvPr/>
          </p:nvSpPr>
          <p:spPr bwMode="auto">
            <a:xfrm>
              <a:off x="3408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10" name="Line 42"/>
            <p:cNvSpPr>
              <a:spLocks noChangeShapeType="1"/>
            </p:cNvSpPr>
            <p:nvPr/>
          </p:nvSpPr>
          <p:spPr bwMode="auto">
            <a:xfrm>
              <a:off x="3408" y="22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11" name="Line 43"/>
            <p:cNvSpPr>
              <a:spLocks noChangeShapeType="1"/>
            </p:cNvSpPr>
            <p:nvPr/>
          </p:nvSpPr>
          <p:spPr bwMode="auto">
            <a:xfrm>
              <a:off x="4320" y="220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2312" name="Group 44"/>
            <p:cNvGrpSpPr>
              <a:grpSpLocks/>
            </p:cNvGrpSpPr>
            <p:nvPr/>
          </p:nvGrpSpPr>
          <p:grpSpPr bwMode="auto">
            <a:xfrm>
              <a:off x="4272" y="816"/>
              <a:ext cx="144" cy="144"/>
              <a:chOff x="4464" y="768"/>
              <a:chExt cx="336" cy="192"/>
            </a:xfrm>
          </p:grpSpPr>
          <p:sp>
            <p:nvSpPr>
              <p:cNvPr id="12333" name="Arc 45"/>
              <p:cNvSpPr>
                <a:spLocks/>
              </p:cNvSpPr>
              <p:nvPr/>
            </p:nvSpPr>
            <p:spPr bwMode="auto">
              <a:xfrm>
                <a:off x="4464" y="768"/>
                <a:ext cx="192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34" name="Line 46"/>
              <p:cNvSpPr>
                <a:spLocks noChangeShapeType="1"/>
              </p:cNvSpPr>
              <p:nvPr/>
            </p:nvSpPr>
            <p:spPr bwMode="auto">
              <a:xfrm>
                <a:off x="4560" y="8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35" name="Line 47"/>
              <p:cNvSpPr>
                <a:spLocks noChangeShapeType="1"/>
              </p:cNvSpPr>
              <p:nvPr/>
            </p:nvSpPr>
            <p:spPr bwMode="auto">
              <a:xfrm>
                <a:off x="4608" y="9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313" name="Group 48"/>
            <p:cNvGrpSpPr>
              <a:grpSpLocks/>
            </p:cNvGrpSpPr>
            <p:nvPr/>
          </p:nvGrpSpPr>
          <p:grpSpPr bwMode="auto">
            <a:xfrm>
              <a:off x="4272" y="1104"/>
              <a:ext cx="144" cy="144"/>
              <a:chOff x="4464" y="768"/>
              <a:chExt cx="336" cy="192"/>
            </a:xfrm>
          </p:grpSpPr>
          <p:sp>
            <p:nvSpPr>
              <p:cNvPr id="12330" name="Arc 49"/>
              <p:cNvSpPr>
                <a:spLocks/>
              </p:cNvSpPr>
              <p:nvPr/>
            </p:nvSpPr>
            <p:spPr bwMode="auto">
              <a:xfrm>
                <a:off x="4464" y="768"/>
                <a:ext cx="192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31" name="Line 50"/>
              <p:cNvSpPr>
                <a:spLocks noChangeShapeType="1"/>
              </p:cNvSpPr>
              <p:nvPr/>
            </p:nvSpPr>
            <p:spPr bwMode="auto">
              <a:xfrm>
                <a:off x="4560" y="8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32" name="Line 51"/>
              <p:cNvSpPr>
                <a:spLocks noChangeShapeType="1"/>
              </p:cNvSpPr>
              <p:nvPr/>
            </p:nvSpPr>
            <p:spPr bwMode="auto">
              <a:xfrm>
                <a:off x="4608" y="9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314" name="Group 52"/>
            <p:cNvGrpSpPr>
              <a:grpSpLocks/>
            </p:cNvGrpSpPr>
            <p:nvPr/>
          </p:nvGrpSpPr>
          <p:grpSpPr bwMode="auto">
            <a:xfrm>
              <a:off x="3408" y="1392"/>
              <a:ext cx="144" cy="144"/>
              <a:chOff x="4464" y="768"/>
              <a:chExt cx="336" cy="192"/>
            </a:xfrm>
          </p:grpSpPr>
          <p:sp>
            <p:nvSpPr>
              <p:cNvPr id="12327" name="Arc 53"/>
              <p:cNvSpPr>
                <a:spLocks/>
              </p:cNvSpPr>
              <p:nvPr/>
            </p:nvSpPr>
            <p:spPr bwMode="auto">
              <a:xfrm>
                <a:off x="4464" y="768"/>
                <a:ext cx="192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28" name="Line 54"/>
              <p:cNvSpPr>
                <a:spLocks noChangeShapeType="1"/>
              </p:cNvSpPr>
              <p:nvPr/>
            </p:nvSpPr>
            <p:spPr bwMode="auto">
              <a:xfrm>
                <a:off x="4560" y="8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29" name="Line 55"/>
              <p:cNvSpPr>
                <a:spLocks noChangeShapeType="1"/>
              </p:cNvSpPr>
              <p:nvPr/>
            </p:nvSpPr>
            <p:spPr bwMode="auto">
              <a:xfrm>
                <a:off x="4608" y="9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315" name="Group 56"/>
            <p:cNvGrpSpPr>
              <a:grpSpLocks/>
            </p:cNvGrpSpPr>
            <p:nvPr/>
          </p:nvGrpSpPr>
          <p:grpSpPr bwMode="auto">
            <a:xfrm>
              <a:off x="3408" y="1632"/>
              <a:ext cx="144" cy="144"/>
              <a:chOff x="4464" y="768"/>
              <a:chExt cx="336" cy="192"/>
            </a:xfrm>
          </p:grpSpPr>
          <p:sp>
            <p:nvSpPr>
              <p:cNvPr id="12324" name="Arc 57"/>
              <p:cNvSpPr>
                <a:spLocks/>
              </p:cNvSpPr>
              <p:nvPr/>
            </p:nvSpPr>
            <p:spPr bwMode="auto">
              <a:xfrm>
                <a:off x="4464" y="768"/>
                <a:ext cx="192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25" name="Line 58"/>
              <p:cNvSpPr>
                <a:spLocks noChangeShapeType="1"/>
              </p:cNvSpPr>
              <p:nvPr/>
            </p:nvSpPr>
            <p:spPr bwMode="auto">
              <a:xfrm>
                <a:off x="4560" y="8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26" name="Line 59"/>
              <p:cNvSpPr>
                <a:spLocks noChangeShapeType="1"/>
              </p:cNvSpPr>
              <p:nvPr/>
            </p:nvSpPr>
            <p:spPr bwMode="auto">
              <a:xfrm>
                <a:off x="4608" y="9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316" name="Group 60"/>
            <p:cNvGrpSpPr>
              <a:grpSpLocks/>
            </p:cNvGrpSpPr>
            <p:nvPr/>
          </p:nvGrpSpPr>
          <p:grpSpPr bwMode="auto">
            <a:xfrm>
              <a:off x="4320" y="1872"/>
              <a:ext cx="144" cy="144"/>
              <a:chOff x="4464" y="768"/>
              <a:chExt cx="336" cy="192"/>
            </a:xfrm>
          </p:grpSpPr>
          <p:sp>
            <p:nvSpPr>
              <p:cNvPr id="12321" name="Arc 61"/>
              <p:cNvSpPr>
                <a:spLocks/>
              </p:cNvSpPr>
              <p:nvPr/>
            </p:nvSpPr>
            <p:spPr bwMode="auto">
              <a:xfrm>
                <a:off x="4464" y="768"/>
                <a:ext cx="192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22" name="Line 62"/>
              <p:cNvSpPr>
                <a:spLocks noChangeShapeType="1"/>
              </p:cNvSpPr>
              <p:nvPr/>
            </p:nvSpPr>
            <p:spPr bwMode="auto">
              <a:xfrm>
                <a:off x="4560" y="8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23" name="Line 63"/>
              <p:cNvSpPr>
                <a:spLocks noChangeShapeType="1"/>
              </p:cNvSpPr>
              <p:nvPr/>
            </p:nvSpPr>
            <p:spPr bwMode="auto">
              <a:xfrm>
                <a:off x="4608" y="9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2317" name="Group 64"/>
            <p:cNvGrpSpPr>
              <a:grpSpLocks/>
            </p:cNvGrpSpPr>
            <p:nvPr/>
          </p:nvGrpSpPr>
          <p:grpSpPr bwMode="auto">
            <a:xfrm>
              <a:off x="5088" y="2208"/>
              <a:ext cx="144" cy="144"/>
              <a:chOff x="4464" y="768"/>
              <a:chExt cx="336" cy="192"/>
            </a:xfrm>
          </p:grpSpPr>
          <p:sp>
            <p:nvSpPr>
              <p:cNvPr id="12318" name="Arc 65"/>
              <p:cNvSpPr>
                <a:spLocks/>
              </p:cNvSpPr>
              <p:nvPr/>
            </p:nvSpPr>
            <p:spPr bwMode="auto">
              <a:xfrm>
                <a:off x="4464" y="768"/>
                <a:ext cx="192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19" name="Line 66"/>
              <p:cNvSpPr>
                <a:spLocks noChangeShapeType="1"/>
              </p:cNvSpPr>
              <p:nvPr/>
            </p:nvSpPr>
            <p:spPr bwMode="auto">
              <a:xfrm>
                <a:off x="4560" y="8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320" name="Line 67"/>
              <p:cNvSpPr>
                <a:spLocks noChangeShapeType="1"/>
              </p:cNvSpPr>
              <p:nvPr/>
            </p:nvSpPr>
            <p:spPr bwMode="auto">
              <a:xfrm>
                <a:off x="4608" y="9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2293" name="Text Box 68"/>
          <p:cNvSpPr txBox="1">
            <a:spLocks noChangeArrowheads="1"/>
          </p:cNvSpPr>
          <p:nvPr/>
        </p:nvSpPr>
        <p:spPr bwMode="auto">
          <a:xfrm>
            <a:off x="1584325" y="4460875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Graph</a:t>
            </a:r>
          </a:p>
        </p:txBody>
      </p:sp>
      <p:sp>
        <p:nvSpPr>
          <p:cNvPr id="12294" name="Text Box 69"/>
          <p:cNvSpPr txBox="1">
            <a:spLocks noChangeArrowheads="1"/>
          </p:cNvSpPr>
          <p:nvPr/>
        </p:nvSpPr>
        <p:spPr bwMode="auto">
          <a:xfrm>
            <a:off x="5029200" y="4495800"/>
            <a:ext cx="203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Adjacency List</a:t>
            </a:r>
          </a:p>
        </p:txBody>
      </p:sp>
      <p:sp>
        <p:nvSpPr>
          <p:cNvPr id="12295" name="Rectangle 70"/>
          <p:cNvSpPr>
            <a:spLocks noGrp="1" noChangeArrowheads="1"/>
          </p:cNvSpPr>
          <p:nvPr>
            <p:ph type="body" idx="1"/>
          </p:nvPr>
        </p:nvSpPr>
        <p:spPr>
          <a:xfrm>
            <a:off x="304800" y="5181600"/>
            <a:ext cx="8610600" cy="11430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smtClean="0"/>
              <a:t>An adjacency list for a weighted graph should contain two elements in the list nodes – one element for the vertex and the second element for the weight of that edge</a:t>
            </a:r>
            <a:endParaRPr lang="en-US" altLang="en-US" sz="2400" i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2286000"/>
            <a:ext cx="7543800" cy="1447800"/>
          </a:xfrm>
        </p:spPr>
        <p:txBody>
          <a:bodyPr/>
          <a:lstStyle/>
          <a:p>
            <a:r>
              <a:rPr lang="en-US" altLang="en-US" sz="6000" smtClean="0"/>
              <a:t>Graph Traversals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001000" cy="1371600"/>
          </a:xfrm>
        </p:spPr>
        <p:txBody>
          <a:bodyPr/>
          <a:lstStyle/>
          <a:p>
            <a:r>
              <a:rPr lang="en-US" altLang="en-US" smtClean="0"/>
              <a:t>Breadth First Search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534400" cy="5410200"/>
          </a:xfrm>
        </p:spPr>
        <p:txBody>
          <a:bodyPr/>
          <a:lstStyle/>
          <a:p>
            <a:pPr marL="609600" indent="-609600"/>
            <a:r>
              <a:rPr lang="en-US" altLang="en-US" sz="2000" smtClean="0"/>
              <a:t>Un-weighted graph – every edge has weight = 1</a:t>
            </a:r>
          </a:p>
          <a:p>
            <a:pPr marL="609600" indent="-609600"/>
            <a:r>
              <a:rPr lang="en-US" altLang="en-US" sz="2000" smtClean="0"/>
              <a:t>Algorithm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 sz="2000" smtClean="0"/>
              <a:t>Initialization: </a:t>
            </a:r>
          </a:p>
          <a:p>
            <a:pPr marL="1752600" lvl="3" indent="-381000"/>
            <a:r>
              <a:rPr lang="en-US" altLang="en-US" sz="2000" smtClean="0"/>
              <a:t>Additional data structure used: queue of vertices</a:t>
            </a:r>
          </a:p>
          <a:p>
            <a:pPr marL="1752600" lvl="3" indent="-381000"/>
            <a:r>
              <a:rPr lang="en-US" altLang="en-US" sz="2000" smtClean="0"/>
              <a:t>Maintain a table that has the following entries for every vertex:</a:t>
            </a:r>
          </a:p>
          <a:p>
            <a:pPr marL="2209800" lvl="4" indent="-381000"/>
            <a:r>
              <a:rPr lang="en-US" altLang="en-US" smtClean="0">
                <a:latin typeface="Times New Roman" panose="02020603050405020304" pitchFamily="18" charset="0"/>
              </a:rPr>
              <a:t>boolean known;</a:t>
            </a:r>
          </a:p>
          <a:p>
            <a:pPr marL="2209800" lvl="4" indent="-381000"/>
            <a:r>
              <a:rPr lang="en-US" altLang="en-US" smtClean="0">
                <a:latin typeface="Times New Roman" panose="02020603050405020304" pitchFamily="18" charset="0"/>
              </a:rPr>
              <a:t>int dist_from_s (d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v</a:t>
            </a:r>
            <a:r>
              <a:rPr lang="en-US" altLang="en-US" smtClean="0">
                <a:latin typeface="Times New Roman" panose="02020603050405020304" pitchFamily="18" charset="0"/>
              </a:rPr>
              <a:t>)</a:t>
            </a:r>
          </a:p>
          <a:p>
            <a:pPr marL="1752600" lvl="3" indent="-381000"/>
            <a:r>
              <a:rPr lang="en-US" altLang="en-US" sz="2000" smtClean="0"/>
              <a:t>Mark all vertices as “unknown”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 sz="2000" smtClean="0"/>
              <a:t>Set the variable cur_dist = 1. 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 sz="2000" smtClean="0"/>
              <a:t>q.enqueue(s);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 sz="2000" smtClean="0"/>
              <a:t>Set the path length from start vertex ‘s’ to itself = 0. </a:t>
            </a:r>
          </a:p>
          <a:p>
            <a:pPr marL="1371600" lvl="2" indent="-457200">
              <a:buFontTx/>
              <a:buAutoNum type="arabicPeriod"/>
            </a:pPr>
            <a:r>
              <a:rPr lang="en-US" altLang="en-US" sz="2000" smtClean="0"/>
              <a:t>current vertex = q.dequeue();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65200" y="366713"/>
            <a:ext cx="7142163" cy="623887"/>
          </a:xfrm>
        </p:spPr>
        <p:txBody>
          <a:bodyPr/>
          <a:lstStyle/>
          <a:p>
            <a:r>
              <a:rPr lang="en-US" altLang="en-US" smtClean="0"/>
              <a:t>Breadth First Algorithm (contd.)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534400" cy="5181600"/>
          </a:xfrm>
        </p:spPr>
        <p:txBody>
          <a:bodyPr/>
          <a:lstStyle/>
          <a:p>
            <a:pPr marL="1371600" lvl="2" indent="-457200">
              <a:buFontTx/>
              <a:buAutoNum type="arabicPeriod" startAt="6"/>
            </a:pPr>
            <a:r>
              <a:rPr lang="en-US" altLang="en-US" smtClean="0"/>
              <a:t>Do the following steps:</a:t>
            </a:r>
          </a:p>
          <a:p>
            <a:pPr marL="1752600" lvl="3" indent="-381000">
              <a:buFontTx/>
              <a:buAutoNum type="arabicPeriod"/>
            </a:pPr>
            <a:r>
              <a:rPr lang="en-US" altLang="en-US" sz="2000" smtClean="0"/>
              <a:t>Find all vertices that are at a distance 1 from the current vertex (using the adjacency list entry for the current vertex) and marked “unknown”in the table.</a:t>
            </a:r>
          </a:p>
          <a:p>
            <a:pPr marL="1752600" lvl="3" indent="-381000">
              <a:buFontTx/>
              <a:buAutoNum type="arabicPeriod"/>
            </a:pPr>
            <a:r>
              <a:rPr lang="en-US" altLang="en-US" sz="2000" smtClean="0"/>
              <a:t>For every vertex found in 6.1, set : dist_from_s = cur_dist</a:t>
            </a:r>
          </a:p>
          <a:p>
            <a:pPr marL="1752600" lvl="3" indent="-381000">
              <a:buFontTx/>
              <a:buAutoNum type="arabicPeriod"/>
            </a:pPr>
            <a:r>
              <a:rPr lang="en-US" altLang="en-US" sz="2000" smtClean="0"/>
              <a:t>Mark the vertex as “known”</a:t>
            </a:r>
          </a:p>
          <a:p>
            <a:pPr marL="1752600" lvl="3" indent="-381000">
              <a:buFontTx/>
              <a:buAutoNum type="arabicPeriod"/>
            </a:pPr>
            <a:r>
              <a:rPr lang="en-US" altLang="en-US" sz="2000" smtClean="0"/>
              <a:t>Enqueue the vertex in the queue</a:t>
            </a:r>
          </a:p>
          <a:p>
            <a:pPr marL="1371600" lvl="2" indent="-457200">
              <a:buFontTx/>
              <a:buAutoNum type="arabicPeriod" startAt="6"/>
            </a:pPr>
            <a:r>
              <a:rPr lang="en-US" altLang="en-US" smtClean="0"/>
              <a:t>Set cur_dist = cur_dist+1</a:t>
            </a:r>
          </a:p>
          <a:p>
            <a:pPr marL="1371600" lvl="2" indent="-457200">
              <a:buFontTx/>
              <a:buAutoNum type="arabicPeriod" startAt="6"/>
            </a:pPr>
            <a:r>
              <a:rPr lang="en-US" altLang="en-US" smtClean="0"/>
              <a:t>Repeat steps 5-7 until the queue is empty</a:t>
            </a:r>
          </a:p>
          <a:p>
            <a:pPr marL="609600" indent="-609600">
              <a:buFontTx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6638" y="366713"/>
            <a:ext cx="7142162" cy="561975"/>
          </a:xfrm>
        </p:spPr>
        <p:txBody>
          <a:bodyPr/>
          <a:lstStyle/>
          <a:p>
            <a:r>
              <a:rPr lang="en-US" altLang="en-US" smtClean="0"/>
              <a:t>Breadth First Search Example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3962400"/>
            <a:ext cx="3962400" cy="2438400"/>
          </a:xfrm>
        </p:spPr>
        <p:txBody>
          <a:bodyPr/>
          <a:lstStyle/>
          <a:p>
            <a:r>
              <a:rPr lang="en-US" altLang="en-US" sz="2400" smtClean="0"/>
              <a:t>Initial values in table are shown alongside</a:t>
            </a:r>
          </a:p>
          <a:p>
            <a:r>
              <a:rPr lang="en-US" altLang="en-US" sz="2400" smtClean="0"/>
              <a:t>Queue (called q) is empty initially, q = </a:t>
            </a:r>
            <a:r>
              <a:rPr lang="en-US" altLang="en-US" sz="2400" smtClean="0">
                <a:latin typeface="Symbol" panose="05050102010706020507" pitchFamily="18" charset="2"/>
              </a:rPr>
              <a:t>F</a:t>
            </a:r>
          </a:p>
        </p:txBody>
      </p:sp>
      <p:graphicFrame>
        <p:nvGraphicFramePr>
          <p:cNvPr id="920580" name="Group 4"/>
          <p:cNvGraphicFramePr>
            <a:graphicFrameLocks noGrp="1"/>
          </p:cNvGraphicFramePr>
          <p:nvPr/>
        </p:nvGraphicFramePr>
        <p:xfrm>
          <a:off x="4800600" y="1447800"/>
          <a:ext cx="3313113" cy="4572000"/>
        </p:xfrm>
        <a:graphic>
          <a:graphicData uri="http://schemas.openxmlformats.org/drawingml/2006/table">
            <a:tbl>
              <a:tblPr/>
              <a:tblGrid>
                <a:gridCol w="110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Vertex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known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3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6426" name="Group 43"/>
          <p:cNvGrpSpPr>
            <a:grpSpLocks/>
          </p:cNvGrpSpPr>
          <p:nvPr/>
        </p:nvGrpSpPr>
        <p:grpSpPr bwMode="auto">
          <a:xfrm>
            <a:off x="1066800" y="1219200"/>
            <a:ext cx="533400" cy="644525"/>
            <a:chOff x="3504" y="2090"/>
            <a:chExt cx="336" cy="406"/>
          </a:xfrm>
        </p:grpSpPr>
        <p:sp>
          <p:nvSpPr>
            <p:cNvPr id="16462" name="Oval 44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63" name="Text Box 45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64" name="Text Box 46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1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427" name="Group 47"/>
          <p:cNvGrpSpPr>
            <a:grpSpLocks/>
          </p:cNvGrpSpPr>
          <p:nvPr/>
        </p:nvGrpSpPr>
        <p:grpSpPr bwMode="auto">
          <a:xfrm>
            <a:off x="381000" y="2209800"/>
            <a:ext cx="533400" cy="644525"/>
            <a:chOff x="3504" y="2090"/>
            <a:chExt cx="336" cy="406"/>
          </a:xfrm>
        </p:grpSpPr>
        <p:sp>
          <p:nvSpPr>
            <p:cNvPr id="16459" name="Oval 48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60" name="Text Box 49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61" name="Text Box 50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3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428" name="Group 51"/>
          <p:cNvGrpSpPr>
            <a:grpSpLocks/>
          </p:cNvGrpSpPr>
          <p:nvPr/>
        </p:nvGrpSpPr>
        <p:grpSpPr bwMode="auto">
          <a:xfrm>
            <a:off x="2667000" y="1219200"/>
            <a:ext cx="533400" cy="644525"/>
            <a:chOff x="3504" y="2090"/>
            <a:chExt cx="336" cy="406"/>
          </a:xfrm>
        </p:grpSpPr>
        <p:sp>
          <p:nvSpPr>
            <p:cNvPr id="16456" name="Oval 52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57" name="Text Box 53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58" name="Text Box 54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2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429" name="Group 55"/>
          <p:cNvGrpSpPr>
            <a:grpSpLocks/>
          </p:cNvGrpSpPr>
          <p:nvPr/>
        </p:nvGrpSpPr>
        <p:grpSpPr bwMode="auto">
          <a:xfrm>
            <a:off x="1219200" y="3048000"/>
            <a:ext cx="533400" cy="644525"/>
            <a:chOff x="3504" y="2090"/>
            <a:chExt cx="336" cy="406"/>
          </a:xfrm>
        </p:grpSpPr>
        <p:sp>
          <p:nvSpPr>
            <p:cNvPr id="16453" name="Oval 56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54" name="Text Box 57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55" name="Text Box 58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6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430" name="Group 59"/>
          <p:cNvGrpSpPr>
            <a:grpSpLocks/>
          </p:cNvGrpSpPr>
          <p:nvPr/>
        </p:nvGrpSpPr>
        <p:grpSpPr bwMode="auto">
          <a:xfrm>
            <a:off x="1905000" y="2133600"/>
            <a:ext cx="533400" cy="644525"/>
            <a:chOff x="3504" y="2090"/>
            <a:chExt cx="336" cy="406"/>
          </a:xfrm>
        </p:grpSpPr>
        <p:sp>
          <p:nvSpPr>
            <p:cNvPr id="16450" name="Oval 60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51" name="Text Box 61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52" name="Text Box 62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4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431" name="Group 63"/>
          <p:cNvGrpSpPr>
            <a:grpSpLocks/>
          </p:cNvGrpSpPr>
          <p:nvPr/>
        </p:nvGrpSpPr>
        <p:grpSpPr bwMode="auto">
          <a:xfrm>
            <a:off x="3581400" y="2209800"/>
            <a:ext cx="533400" cy="644525"/>
            <a:chOff x="3504" y="2090"/>
            <a:chExt cx="336" cy="406"/>
          </a:xfrm>
        </p:grpSpPr>
        <p:sp>
          <p:nvSpPr>
            <p:cNvPr id="16447" name="Oval 64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48" name="Text Box 65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49" name="Text Box 66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5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432" name="Group 67"/>
          <p:cNvGrpSpPr>
            <a:grpSpLocks/>
          </p:cNvGrpSpPr>
          <p:nvPr/>
        </p:nvGrpSpPr>
        <p:grpSpPr bwMode="auto">
          <a:xfrm>
            <a:off x="2743200" y="3048000"/>
            <a:ext cx="533400" cy="644525"/>
            <a:chOff x="3504" y="2090"/>
            <a:chExt cx="336" cy="406"/>
          </a:xfrm>
        </p:grpSpPr>
        <p:sp>
          <p:nvSpPr>
            <p:cNvPr id="16444" name="Oval 68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45" name="Text Box 69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6446" name="Text Box 70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7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433" name="Line 71"/>
          <p:cNvSpPr>
            <a:spLocks noChangeShapeType="1"/>
          </p:cNvSpPr>
          <p:nvPr/>
        </p:nvSpPr>
        <p:spPr bwMode="auto">
          <a:xfrm>
            <a:off x="1600200" y="1600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34" name="Line 72"/>
          <p:cNvSpPr>
            <a:spLocks noChangeShapeType="1"/>
          </p:cNvSpPr>
          <p:nvPr/>
        </p:nvSpPr>
        <p:spPr bwMode="auto">
          <a:xfrm>
            <a:off x="3200400" y="17526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35" name="Line 73"/>
          <p:cNvSpPr>
            <a:spLocks noChangeShapeType="1"/>
          </p:cNvSpPr>
          <p:nvPr/>
        </p:nvSpPr>
        <p:spPr bwMode="auto">
          <a:xfrm>
            <a:off x="1524000" y="1828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36" name="Line 74"/>
          <p:cNvSpPr>
            <a:spLocks noChangeShapeType="1"/>
          </p:cNvSpPr>
          <p:nvPr/>
        </p:nvSpPr>
        <p:spPr bwMode="auto">
          <a:xfrm flipH="1">
            <a:off x="2362200" y="1828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37" name="Line 76"/>
          <p:cNvSpPr>
            <a:spLocks noChangeShapeType="1"/>
          </p:cNvSpPr>
          <p:nvPr/>
        </p:nvSpPr>
        <p:spPr bwMode="auto">
          <a:xfrm flipH="1">
            <a:off x="914400" y="2514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38" name="Line 77"/>
          <p:cNvSpPr>
            <a:spLocks noChangeShapeType="1"/>
          </p:cNvSpPr>
          <p:nvPr/>
        </p:nvSpPr>
        <p:spPr bwMode="auto">
          <a:xfrm>
            <a:off x="2438400" y="2514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39" name="Line 78"/>
          <p:cNvSpPr>
            <a:spLocks noChangeShapeType="1"/>
          </p:cNvSpPr>
          <p:nvPr/>
        </p:nvSpPr>
        <p:spPr bwMode="auto">
          <a:xfrm>
            <a:off x="762000" y="2819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40" name="Line 79"/>
          <p:cNvSpPr>
            <a:spLocks noChangeShapeType="1"/>
          </p:cNvSpPr>
          <p:nvPr/>
        </p:nvSpPr>
        <p:spPr bwMode="auto">
          <a:xfrm flipH="1">
            <a:off x="1600200" y="2743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41" name="Line 81"/>
          <p:cNvSpPr>
            <a:spLocks noChangeShapeType="1"/>
          </p:cNvSpPr>
          <p:nvPr/>
        </p:nvSpPr>
        <p:spPr bwMode="auto">
          <a:xfrm>
            <a:off x="2362200" y="26670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42" name="Line 82"/>
          <p:cNvSpPr>
            <a:spLocks noChangeShapeType="1"/>
          </p:cNvSpPr>
          <p:nvPr/>
        </p:nvSpPr>
        <p:spPr bwMode="auto">
          <a:xfrm flipH="1">
            <a:off x="3276600" y="2819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443" name="Text Box 83"/>
          <p:cNvSpPr txBox="1">
            <a:spLocks noChangeArrowheads="1"/>
          </p:cNvSpPr>
          <p:nvPr/>
        </p:nvSpPr>
        <p:spPr bwMode="auto">
          <a:xfrm>
            <a:off x="304800" y="838200"/>
            <a:ext cx="881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s = 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685800"/>
          </a:xfrm>
        </p:spPr>
        <p:txBody>
          <a:bodyPr/>
          <a:lstStyle/>
          <a:p>
            <a:r>
              <a:rPr lang="en-US" altLang="en-US" smtClean="0"/>
              <a:t>Breadth First Search Example (contd.)</a:t>
            </a:r>
          </a:p>
        </p:txBody>
      </p:sp>
      <p:graphicFrame>
        <p:nvGraphicFramePr>
          <p:cNvPr id="921603" name="Group 3"/>
          <p:cNvGraphicFramePr>
            <a:graphicFrameLocks noGrp="1"/>
          </p:cNvGraphicFramePr>
          <p:nvPr/>
        </p:nvGraphicFramePr>
        <p:xfrm>
          <a:off x="609600" y="1066800"/>
          <a:ext cx="3313113" cy="3886200"/>
        </p:xfrm>
        <a:graphic>
          <a:graphicData uri="http://schemas.openxmlformats.org/drawingml/2006/table">
            <a:tbl>
              <a:tblPr/>
              <a:tblGrid>
                <a:gridCol w="110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Vertex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known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3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21641" name="Group 41"/>
          <p:cNvGraphicFramePr>
            <a:graphicFrameLocks noGrp="1"/>
          </p:cNvGraphicFramePr>
          <p:nvPr/>
        </p:nvGraphicFramePr>
        <p:xfrm>
          <a:off x="4876800" y="1066800"/>
          <a:ext cx="3313113" cy="3886200"/>
        </p:xfrm>
        <a:graphic>
          <a:graphicData uri="http://schemas.openxmlformats.org/drawingml/2006/table">
            <a:tbl>
              <a:tblPr/>
              <a:tblGrid>
                <a:gridCol w="110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Vertex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known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3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</a:t>
                      </a:r>
                      <a:endParaRPr kumimoji="0" lang="en-US" sz="20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487" name="Text Box 79"/>
          <p:cNvSpPr txBox="1">
            <a:spLocks noChangeArrowheads="1"/>
          </p:cNvSpPr>
          <p:nvPr/>
        </p:nvSpPr>
        <p:spPr bwMode="auto">
          <a:xfrm>
            <a:off x="762000" y="5029200"/>
            <a:ext cx="31400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</a:pPr>
            <a:r>
              <a:rPr lang="en-US" altLang="en-US" sz="2400" b="0">
                <a:latin typeface="Times New Roman" panose="02020603050405020304" pitchFamily="18" charset="0"/>
              </a:rPr>
              <a:t> q contains 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2 </a:t>
            </a:r>
            <a:r>
              <a:rPr lang="en-US" altLang="en-US" sz="2400" b="0">
                <a:latin typeface="Times New Roman" panose="02020603050405020304" pitchFamily="18" charset="0"/>
              </a:rPr>
              <a:t>,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latin typeface="Times New Roman" panose="02020603050405020304" pitchFamily="18" charset="0"/>
              </a:rPr>
              <a:t>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4</a:t>
            </a:r>
          </a:p>
          <a:p>
            <a:pPr eaLnBrk="1" hangingPunct="1">
              <a:spcBef>
                <a:spcPct val="0"/>
              </a:spcBef>
              <a:buSzTx/>
            </a:pPr>
            <a:r>
              <a:rPr lang="en-US" altLang="en-US" sz="2400" b="0" baseline="-25000">
                <a:latin typeface="Times New Roman" panose="02020603050405020304" pitchFamily="18" charset="0"/>
              </a:rPr>
              <a:t>  </a:t>
            </a:r>
            <a:r>
              <a:rPr lang="en-US" altLang="en-US" sz="2400" b="0" baseline="30000">
                <a:latin typeface="Times New Roman" panose="02020603050405020304" pitchFamily="18" charset="0"/>
              </a:rPr>
              <a:t>* </a:t>
            </a:r>
            <a:r>
              <a:rPr lang="en-US" altLang="en-US" sz="2400" b="0">
                <a:latin typeface="Times New Roman" panose="02020603050405020304" pitchFamily="18" charset="0"/>
              </a:rPr>
              <a:t>marks current vertex </a:t>
            </a:r>
          </a:p>
        </p:txBody>
      </p:sp>
      <p:sp>
        <p:nvSpPr>
          <p:cNvPr id="17488" name="Text Box 80"/>
          <p:cNvSpPr txBox="1">
            <a:spLocks noChangeArrowheads="1"/>
          </p:cNvSpPr>
          <p:nvPr/>
        </p:nvSpPr>
        <p:spPr bwMode="auto">
          <a:xfrm>
            <a:off x="4343400" y="5029200"/>
            <a:ext cx="4800600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</a:pPr>
            <a:r>
              <a:rPr lang="en-US" altLang="en-US" sz="2400" b="0">
                <a:latin typeface="Times New Roman" panose="02020603050405020304" pitchFamily="18" charset="0"/>
              </a:rPr>
              <a:t> 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4 </a:t>
            </a:r>
            <a:r>
              <a:rPr lang="en-US" altLang="en-US" sz="2400" b="0">
                <a:latin typeface="Times New Roman" panose="02020603050405020304" pitchFamily="18" charset="0"/>
              </a:rPr>
              <a:t>does not get inserted into q via 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2 </a:t>
            </a:r>
            <a:r>
              <a:rPr lang="en-US" altLang="en-US" sz="2400" b="0">
                <a:latin typeface="Times New Roman" panose="02020603050405020304" pitchFamily="18" charset="0"/>
              </a:rPr>
              <a:t>because it has already been marked as “known”. Its </a:t>
            </a:r>
            <a:r>
              <a:rPr lang="en-US" altLang="en-US" sz="2700" b="0">
                <a:latin typeface="Times New Roman" panose="02020603050405020304" pitchFamily="18" charset="0"/>
              </a:rPr>
              <a:t>d</a:t>
            </a:r>
            <a:r>
              <a:rPr lang="en-US" altLang="en-US" sz="2700" b="0" baseline="-25000">
                <a:latin typeface="Times New Roman" panose="02020603050405020304" pitchFamily="18" charset="0"/>
              </a:rPr>
              <a:t>v</a:t>
            </a:r>
            <a:r>
              <a:rPr lang="en-US" altLang="en-US" sz="2400" b="0">
                <a:latin typeface="Times New Roman" panose="02020603050405020304" pitchFamily="18" charset="0"/>
              </a:rPr>
              <a:t> entry also remains unchanged.  q contains 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4 </a:t>
            </a:r>
            <a:r>
              <a:rPr lang="en-US" altLang="en-US" sz="2400" b="0">
                <a:latin typeface="Times New Roman" panose="02020603050405020304" pitchFamily="18" charset="0"/>
              </a:rPr>
              <a:t>,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latin typeface="Times New Roman" panose="02020603050405020304" pitchFamily="18" charset="0"/>
              </a:rPr>
              <a:t>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5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2626" name="Group 2"/>
          <p:cNvGraphicFramePr>
            <a:graphicFrameLocks noGrp="1"/>
          </p:cNvGraphicFramePr>
          <p:nvPr/>
        </p:nvGraphicFramePr>
        <p:xfrm>
          <a:off x="2514600" y="1066800"/>
          <a:ext cx="3313113" cy="3886200"/>
        </p:xfrm>
        <a:graphic>
          <a:graphicData uri="http://schemas.openxmlformats.org/drawingml/2006/table">
            <a:tbl>
              <a:tblPr/>
              <a:tblGrid>
                <a:gridCol w="1103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Vertex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known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3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 </a:t>
                      </a:r>
                      <a:r>
                        <a:rPr kumimoji="0" lang="en-US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472" name="Rectangle 40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685800"/>
          </a:xfrm>
          <a:noFill/>
        </p:spPr>
        <p:txBody>
          <a:bodyPr/>
          <a:lstStyle/>
          <a:p>
            <a:r>
              <a:rPr lang="en-US" altLang="en-US" smtClean="0"/>
              <a:t>Breadth First Search Example (contd.)</a:t>
            </a:r>
          </a:p>
        </p:txBody>
      </p:sp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457200" y="5105400"/>
            <a:ext cx="8458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</a:pPr>
            <a:r>
              <a:rPr lang="en-US" altLang="en-US" sz="2400" b="0">
                <a:latin typeface="Times New Roman" panose="02020603050405020304" pitchFamily="18" charset="0"/>
              </a:rPr>
              <a:t> q contains 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5 </a:t>
            </a:r>
            <a:r>
              <a:rPr lang="en-US" altLang="en-US" sz="2400" b="0">
                <a:latin typeface="Times New Roman" panose="02020603050405020304" pitchFamily="18" charset="0"/>
              </a:rPr>
              <a:t>,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latin typeface="Times New Roman" panose="02020603050405020304" pitchFamily="18" charset="0"/>
              </a:rPr>
              <a:t>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3</a:t>
            </a:r>
            <a:r>
              <a:rPr lang="en-US" altLang="en-US" sz="2400" b="0">
                <a:latin typeface="Times New Roman" panose="02020603050405020304" pitchFamily="18" charset="0"/>
              </a:rPr>
              <a:t> ,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latin typeface="Times New Roman" panose="02020603050405020304" pitchFamily="18" charset="0"/>
              </a:rPr>
              <a:t>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6 </a:t>
            </a:r>
            <a:r>
              <a:rPr lang="en-US" altLang="en-US" sz="2400" b="0">
                <a:latin typeface="Times New Roman" panose="02020603050405020304" pitchFamily="18" charset="0"/>
              </a:rPr>
              <a:t>,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latin typeface="Times New Roman" panose="02020603050405020304" pitchFamily="18" charset="0"/>
              </a:rPr>
              <a:t>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7</a:t>
            </a:r>
          </a:p>
          <a:p>
            <a:pPr eaLnBrk="1" hangingPunct="1">
              <a:spcBef>
                <a:spcPct val="0"/>
              </a:spcBef>
              <a:buSzTx/>
            </a:pPr>
            <a:r>
              <a:rPr lang="en-US" altLang="en-US" sz="2400" b="0" baseline="-25000"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latin typeface="Times New Roman" panose="02020603050405020304" pitchFamily="18" charset="0"/>
              </a:rPr>
              <a:t>The algorithm has four more passes during which 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5 </a:t>
            </a:r>
            <a:r>
              <a:rPr lang="en-US" altLang="en-US" sz="2400" b="0">
                <a:latin typeface="Times New Roman" panose="02020603050405020304" pitchFamily="18" charset="0"/>
              </a:rPr>
              <a:t>,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latin typeface="Times New Roman" panose="02020603050405020304" pitchFamily="18" charset="0"/>
              </a:rPr>
              <a:t>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3</a:t>
            </a:r>
            <a:r>
              <a:rPr lang="en-US" altLang="en-US" sz="2400" b="0">
                <a:latin typeface="Times New Roman" panose="02020603050405020304" pitchFamily="18" charset="0"/>
              </a:rPr>
              <a:t> ,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latin typeface="Times New Roman" panose="02020603050405020304" pitchFamily="18" charset="0"/>
              </a:rPr>
              <a:t>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6 </a:t>
            </a:r>
            <a:r>
              <a:rPr lang="en-US" altLang="en-US" sz="2400" b="0">
                <a:latin typeface="Times New Roman" panose="02020603050405020304" pitchFamily="18" charset="0"/>
              </a:rPr>
              <a:t>,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 </a:t>
            </a:r>
            <a:r>
              <a:rPr lang="en-US" altLang="en-US" sz="2400" b="0">
                <a:latin typeface="Times New Roman" panose="02020603050405020304" pitchFamily="18" charset="0"/>
              </a:rPr>
              <a:t>v</a:t>
            </a:r>
            <a:r>
              <a:rPr lang="en-US" altLang="en-US" sz="2400" b="0" baseline="-25000">
                <a:latin typeface="Times New Roman" panose="02020603050405020304" pitchFamily="18" charset="0"/>
              </a:rPr>
              <a:t>7 </a:t>
            </a:r>
            <a:r>
              <a:rPr lang="en-US" altLang="en-US" sz="2400" b="0">
                <a:latin typeface="Times New Roman" panose="02020603050405020304" pitchFamily="18" charset="0"/>
              </a:rPr>
              <a:t>each become the current vertex. The table does not change for any of these passes because all the vertices are already “known”</a:t>
            </a:r>
            <a:endParaRPr lang="en-US" altLang="en-US" sz="2400" b="0" baseline="-25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Depth First Search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Tx/>
              <a:buNone/>
            </a:pPr>
            <a:r>
              <a:rPr lang="en-US" altLang="en-US" smtClean="0"/>
              <a:t>Algorithm</a:t>
            </a:r>
          </a:p>
          <a:p>
            <a:pPr marL="533400" indent="-533400">
              <a:buFontTx/>
              <a:buAutoNum type="arabicPeriod"/>
            </a:pPr>
            <a:r>
              <a:rPr lang="en-US" altLang="en-US" smtClean="0"/>
              <a:t>Begin at start vertex</a:t>
            </a:r>
          </a:p>
          <a:p>
            <a:pPr marL="533400" indent="-533400">
              <a:buFontTx/>
              <a:buAutoNum type="arabicPeriod"/>
            </a:pPr>
            <a:r>
              <a:rPr lang="en-US" altLang="en-US" smtClean="0"/>
              <a:t>Mark the vertex being visited as the current vertex.</a:t>
            </a:r>
          </a:p>
          <a:p>
            <a:pPr marL="533400" indent="-533400">
              <a:buFontTx/>
              <a:buAutoNum type="arabicPeriod"/>
            </a:pPr>
            <a:r>
              <a:rPr lang="en-US" altLang="en-US" smtClean="0"/>
              <a:t>Output the current vertex id.</a:t>
            </a:r>
          </a:p>
          <a:p>
            <a:pPr marL="533400" indent="-533400">
              <a:buFontTx/>
              <a:buAutoNum type="arabicPeriod"/>
            </a:pPr>
            <a:r>
              <a:rPr lang="en-US" altLang="en-US" smtClean="0"/>
              <a:t>For each vertex in the adjacency list of the current vertex recursively call step 2.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Depth First Search (contd.)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763000" cy="52578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/>
              <a:t>Pseudo-code algorithm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class Vertex{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private: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	int id;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	boolean known;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... // public methods etc.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};</a:t>
            </a:r>
            <a:endParaRPr lang="en-US" altLang="en-US" sz="2400" smtClean="0"/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void depthFirstSearch(Vertex v){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v.known = true;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cout &lt;&lt; v.id;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for each w in adjacency list of v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	 if (w.known == false) 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      depthFirstSearch(w);</a:t>
            </a:r>
          </a:p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en-US" sz="2400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Depth First Search Example</a:t>
            </a:r>
          </a:p>
        </p:txBody>
      </p:sp>
      <p:graphicFrame>
        <p:nvGraphicFramePr>
          <p:cNvPr id="930900" name="Group 84"/>
          <p:cNvGraphicFramePr>
            <a:graphicFrameLocks noGrp="1"/>
          </p:cNvGraphicFramePr>
          <p:nvPr/>
        </p:nvGraphicFramePr>
        <p:xfrm>
          <a:off x="4267200" y="1066800"/>
          <a:ext cx="4419600" cy="5230813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9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Recursive Call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Called from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Vertex id output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4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dfs(s) = 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some method (could be main)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dfs(v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1545" name="Group 42"/>
          <p:cNvGrpSpPr>
            <a:grpSpLocks/>
          </p:cNvGrpSpPr>
          <p:nvPr/>
        </p:nvGrpSpPr>
        <p:grpSpPr bwMode="auto">
          <a:xfrm>
            <a:off x="1066800" y="1219200"/>
            <a:ext cx="533400" cy="644525"/>
            <a:chOff x="3504" y="2090"/>
            <a:chExt cx="336" cy="406"/>
          </a:xfrm>
        </p:grpSpPr>
        <p:sp>
          <p:nvSpPr>
            <p:cNvPr id="21581" name="Oval 43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82" name="Text Box 44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83" name="Text Box 45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1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46" name="Group 46"/>
          <p:cNvGrpSpPr>
            <a:grpSpLocks/>
          </p:cNvGrpSpPr>
          <p:nvPr/>
        </p:nvGrpSpPr>
        <p:grpSpPr bwMode="auto">
          <a:xfrm>
            <a:off x="381000" y="2209800"/>
            <a:ext cx="533400" cy="644525"/>
            <a:chOff x="3504" y="2090"/>
            <a:chExt cx="336" cy="406"/>
          </a:xfrm>
        </p:grpSpPr>
        <p:sp>
          <p:nvSpPr>
            <p:cNvPr id="21578" name="Oval 47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79" name="Text Box 48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80" name="Text Box 49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3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47" name="Group 50"/>
          <p:cNvGrpSpPr>
            <a:grpSpLocks/>
          </p:cNvGrpSpPr>
          <p:nvPr/>
        </p:nvGrpSpPr>
        <p:grpSpPr bwMode="auto">
          <a:xfrm>
            <a:off x="2667000" y="1219200"/>
            <a:ext cx="533400" cy="644525"/>
            <a:chOff x="3504" y="2090"/>
            <a:chExt cx="336" cy="406"/>
          </a:xfrm>
        </p:grpSpPr>
        <p:sp>
          <p:nvSpPr>
            <p:cNvPr id="21575" name="Oval 51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76" name="Text Box 52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77" name="Text Box 53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2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48" name="Group 54"/>
          <p:cNvGrpSpPr>
            <a:grpSpLocks/>
          </p:cNvGrpSpPr>
          <p:nvPr/>
        </p:nvGrpSpPr>
        <p:grpSpPr bwMode="auto">
          <a:xfrm>
            <a:off x="1219200" y="3048000"/>
            <a:ext cx="533400" cy="644525"/>
            <a:chOff x="3504" y="2090"/>
            <a:chExt cx="336" cy="406"/>
          </a:xfrm>
        </p:grpSpPr>
        <p:sp>
          <p:nvSpPr>
            <p:cNvPr id="21572" name="Oval 55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73" name="Text Box 56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74" name="Text Box 57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6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49" name="Group 58"/>
          <p:cNvGrpSpPr>
            <a:grpSpLocks/>
          </p:cNvGrpSpPr>
          <p:nvPr/>
        </p:nvGrpSpPr>
        <p:grpSpPr bwMode="auto">
          <a:xfrm>
            <a:off x="1905000" y="2133600"/>
            <a:ext cx="533400" cy="644525"/>
            <a:chOff x="3504" y="2090"/>
            <a:chExt cx="336" cy="406"/>
          </a:xfrm>
        </p:grpSpPr>
        <p:sp>
          <p:nvSpPr>
            <p:cNvPr id="21569" name="Oval 59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70" name="Text Box 60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71" name="Text Box 61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4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50" name="Group 62"/>
          <p:cNvGrpSpPr>
            <a:grpSpLocks/>
          </p:cNvGrpSpPr>
          <p:nvPr/>
        </p:nvGrpSpPr>
        <p:grpSpPr bwMode="auto">
          <a:xfrm>
            <a:off x="3581400" y="2209800"/>
            <a:ext cx="533400" cy="644525"/>
            <a:chOff x="3504" y="2090"/>
            <a:chExt cx="336" cy="406"/>
          </a:xfrm>
        </p:grpSpPr>
        <p:sp>
          <p:nvSpPr>
            <p:cNvPr id="21566" name="Oval 63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67" name="Text Box 64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68" name="Text Box 65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5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51" name="Group 66"/>
          <p:cNvGrpSpPr>
            <a:grpSpLocks/>
          </p:cNvGrpSpPr>
          <p:nvPr/>
        </p:nvGrpSpPr>
        <p:grpSpPr bwMode="auto">
          <a:xfrm>
            <a:off x="2743200" y="3048000"/>
            <a:ext cx="533400" cy="644525"/>
            <a:chOff x="3504" y="2090"/>
            <a:chExt cx="336" cy="406"/>
          </a:xfrm>
        </p:grpSpPr>
        <p:sp>
          <p:nvSpPr>
            <p:cNvPr id="21563" name="Oval 67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64" name="Text Box 68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1565" name="Text Box 69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7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21552" name="Line 70"/>
          <p:cNvSpPr>
            <a:spLocks noChangeShapeType="1"/>
          </p:cNvSpPr>
          <p:nvPr/>
        </p:nvSpPr>
        <p:spPr bwMode="auto">
          <a:xfrm>
            <a:off x="1600200" y="1600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53" name="Line 71"/>
          <p:cNvSpPr>
            <a:spLocks noChangeShapeType="1"/>
          </p:cNvSpPr>
          <p:nvPr/>
        </p:nvSpPr>
        <p:spPr bwMode="auto">
          <a:xfrm>
            <a:off x="3200400" y="17526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54" name="Line 72"/>
          <p:cNvSpPr>
            <a:spLocks noChangeShapeType="1"/>
          </p:cNvSpPr>
          <p:nvPr/>
        </p:nvSpPr>
        <p:spPr bwMode="auto">
          <a:xfrm>
            <a:off x="1524000" y="1828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55" name="Line 73"/>
          <p:cNvSpPr>
            <a:spLocks noChangeShapeType="1"/>
          </p:cNvSpPr>
          <p:nvPr/>
        </p:nvSpPr>
        <p:spPr bwMode="auto">
          <a:xfrm flipH="1">
            <a:off x="2362200" y="1828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56" name="Line 75"/>
          <p:cNvSpPr>
            <a:spLocks noChangeShapeType="1"/>
          </p:cNvSpPr>
          <p:nvPr/>
        </p:nvSpPr>
        <p:spPr bwMode="auto">
          <a:xfrm flipH="1">
            <a:off x="914400" y="2514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57" name="Line 76"/>
          <p:cNvSpPr>
            <a:spLocks noChangeShapeType="1"/>
          </p:cNvSpPr>
          <p:nvPr/>
        </p:nvSpPr>
        <p:spPr bwMode="auto">
          <a:xfrm>
            <a:off x="2438400" y="2514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58" name="Line 77"/>
          <p:cNvSpPr>
            <a:spLocks noChangeShapeType="1"/>
          </p:cNvSpPr>
          <p:nvPr/>
        </p:nvSpPr>
        <p:spPr bwMode="auto">
          <a:xfrm>
            <a:off x="762000" y="2819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59" name="Line 78"/>
          <p:cNvSpPr>
            <a:spLocks noChangeShapeType="1"/>
          </p:cNvSpPr>
          <p:nvPr/>
        </p:nvSpPr>
        <p:spPr bwMode="auto">
          <a:xfrm flipH="1">
            <a:off x="1600200" y="2743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60" name="Line 80"/>
          <p:cNvSpPr>
            <a:spLocks noChangeShapeType="1"/>
          </p:cNvSpPr>
          <p:nvPr/>
        </p:nvSpPr>
        <p:spPr bwMode="auto">
          <a:xfrm>
            <a:off x="2362200" y="2743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61" name="Line 81"/>
          <p:cNvSpPr>
            <a:spLocks noChangeShapeType="1"/>
          </p:cNvSpPr>
          <p:nvPr/>
        </p:nvSpPr>
        <p:spPr bwMode="auto">
          <a:xfrm flipH="1">
            <a:off x="3276600" y="2819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562" name="Text Box 82"/>
          <p:cNvSpPr txBox="1">
            <a:spLocks noChangeArrowheads="1"/>
          </p:cNvSpPr>
          <p:nvPr/>
        </p:nvSpPr>
        <p:spPr bwMode="auto">
          <a:xfrm>
            <a:off x="533400" y="4038600"/>
            <a:ext cx="35972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Compare the output of dfs algorithm to the output of the bfs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Depth First Search (contd.)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848600" cy="1287463"/>
          </a:xfrm>
        </p:spPr>
        <p:txBody>
          <a:bodyPr/>
          <a:lstStyle/>
          <a:p>
            <a:r>
              <a:rPr lang="en-US" altLang="en-US" smtClean="0"/>
              <a:t>If graph is disconnected we have to repeat the dfs algorithm for each connected sub-graph</a:t>
            </a:r>
          </a:p>
        </p:txBody>
      </p:sp>
      <p:grpSp>
        <p:nvGrpSpPr>
          <p:cNvPr id="22532" name="Group 4"/>
          <p:cNvGrpSpPr>
            <a:grpSpLocks/>
          </p:cNvGrpSpPr>
          <p:nvPr/>
        </p:nvGrpSpPr>
        <p:grpSpPr bwMode="auto">
          <a:xfrm>
            <a:off x="2133600" y="2286000"/>
            <a:ext cx="1524000" cy="1828800"/>
            <a:chOff x="624" y="1584"/>
            <a:chExt cx="960" cy="1152"/>
          </a:xfrm>
        </p:grpSpPr>
        <p:grpSp>
          <p:nvGrpSpPr>
            <p:cNvPr id="22554" name="Group 5"/>
            <p:cNvGrpSpPr>
              <a:grpSpLocks/>
            </p:cNvGrpSpPr>
            <p:nvPr/>
          </p:nvGrpSpPr>
          <p:grpSpPr bwMode="auto">
            <a:xfrm>
              <a:off x="672" y="1584"/>
              <a:ext cx="288" cy="288"/>
              <a:chOff x="672" y="1584"/>
              <a:chExt cx="288" cy="288"/>
            </a:xfrm>
          </p:grpSpPr>
          <p:sp>
            <p:nvSpPr>
              <p:cNvPr id="22568" name="Oval 6"/>
              <p:cNvSpPr>
                <a:spLocks noChangeArrowheads="1"/>
              </p:cNvSpPr>
              <p:nvPr/>
            </p:nvSpPr>
            <p:spPr bwMode="auto">
              <a:xfrm>
                <a:off x="672" y="158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9" name="Text Box 7"/>
              <p:cNvSpPr txBox="1">
                <a:spLocks noChangeArrowheads="1"/>
              </p:cNvSpPr>
              <p:nvPr/>
            </p:nvSpPr>
            <p:spPr bwMode="auto">
              <a:xfrm>
                <a:off x="720" y="158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800" b="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22555" name="Group 8"/>
            <p:cNvGrpSpPr>
              <a:grpSpLocks/>
            </p:cNvGrpSpPr>
            <p:nvPr/>
          </p:nvGrpSpPr>
          <p:grpSpPr bwMode="auto">
            <a:xfrm>
              <a:off x="1296" y="1824"/>
              <a:ext cx="288" cy="288"/>
              <a:chOff x="672" y="1584"/>
              <a:chExt cx="288" cy="288"/>
            </a:xfrm>
          </p:grpSpPr>
          <p:sp>
            <p:nvSpPr>
              <p:cNvPr id="22566" name="Oval 9"/>
              <p:cNvSpPr>
                <a:spLocks noChangeArrowheads="1"/>
              </p:cNvSpPr>
              <p:nvPr/>
            </p:nvSpPr>
            <p:spPr bwMode="auto">
              <a:xfrm>
                <a:off x="672" y="158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7" name="Text Box 10"/>
              <p:cNvSpPr txBox="1">
                <a:spLocks noChangeArrowheads="1"/>
              </p:cNvSpPr>
              <p:nvPr/>
            </p:nvSpPr>
            <p:spPr bwMode="auto">
              <a:xfrm>
                <a:off x="720" y="158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800" b="0" baseline="-25000"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  <p:grpSp>
          <p:nvGrpSpPr>
            <p:cNvPr id="22556" name="Group 11"/>
            <p:cNvGrpSpPr>
              <a:grpSpLocks/>
            </p:cNvGrpSpPr>
            <p:nvPr/>
          </p:nvGrpSpPr>
          <p:grpSpPr bwMode="auto">
            <a:xfrm>
              <a:off x="624" y="2160"/>
              <a:ext cx="288" cy="288"/>
              <a:chOff x="672" y="1584"/>
              <a:chExt cx="288" cy="288"/>
            </a:xfrm>
          </p:grpSpPr>
          <p:sp>
            <p:nvSpPr>
              <p:cNvPr id="22564" name="Oval 12"/>
              <p:cNvSpPr>
                <a:spLocks noChangeArrowheads="1"/>
              </p:cNvSpPr>
              <p:nvPr/>
            </p:nvSpPr>
            <p:spPr bwMode="auto">
              <a:xfrm>
                <a:off x="672" y="158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5" name="Text Box 13"/>
              <p:cNvSpPr txBox="1">
                <a:spLocks noChangeArrowheads="1"/>
              </p:cNvSpPr>
              <p:nvPr/>
            </p:nvSpPr>
            <p:spPr bwMode="auto">
              <a:xfrm>
                <a:off x="720" y="158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800" b="0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22557" name="Group 14"/>
            <p:cNvGrpSpPr>
              <a:grpSpLocks/>
            </p:cNvGrpSpPr>
            <p:nvPr/>
          </p:nvGrpSpPr>
          <p:grpSpPr bwMode="auto">
            <a:xfrm>
              <a:off x="960" y="2448"/>
              <a:ext cx="288" cy="288"/>
              <a:chOff x="672" y="1584"/>
              <a:chExt cx="288" cy="288"/>
            </a:xfrm>
          </p:grpSpPr>
          <p:sp>
            <p:nvSpPr>
              <p:cNvPr id="22562" name="Oval 15"/>
              <p:cNvSpPr>
                <a:spLocks noChangeArrowheads="1"/>
              </p:cNvSpPr>
              <p:nvPr/>
            </p:nvSpPr>
            <p:spPr bwMode="auto">
              <a:xfrm>
                <a:off x="672" y="158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3" name="Text Box 16"/>
              <p:cNvSpPr txBox="1">
                <a:spLocks noChangeArrowheads="1"/>
              </p:cNvSpPr>
              <p:nvPr/>
            </p:nvSpPr>
            <p:spPr bwMode="auto">
              <a:xfrm>
                <a:off x="720" y="158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800" b="0" baseline="-25000">
                    <a:latin typeface="Times New Roman" panose="02020603050405020304" pitchFamily="18" charset="0"/>
                  </a:rPr>
                  <a:t>4</a:t>
                </a:r>
              </a:p>
            </p:txBody>
          </p:sp>
        </p:grpSp>
        <p:sp>
          <p:nvSpPr>
            <p:cNvPr id="22558" name="Line 17"/>
            <p:cNvSpPr>
              <a:spLocks noChangeShapeType="1"/>
            </p:cNvSpPr>
            <p:nvPr/>
          </p:nvSpPr>
          <p:spPr bwMode="auto">
            <a:xfrm>
              <a:off x="768" y="187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9" name="Line 18"/>
            <p:cNvSpPr>
              <a:spLocks noChangeShapeType="1"/>
            </p:cNvSpPr>
            <p:nvPr/>
          </p:nvSpPr>
          <p:spPr bwMode="auto">
            <a:xfrm flipV="1">
              <a:off x="912" y="2064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0" name="Line 19"/>
            <p:cNvSpPr>
              <a:spLocks noChangeShapeType="1"/>
            </p:cNvSpPr>
            <p:nvPr/>
          </p:nvSpPr>
          <p:spPr bwMode="auto">
            <a:xfrm flipH="1">
              <a:off x="1200" y="21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1" name="Line 20"/>
            <p:cNvSpPr>
              <a:spLocks noChangeShapeType="1"/>
            </p:cNvSpPr>
            <p:nvPr/>
          </p:nvSpPr>
          <p:spPr bwMode="auto">
            <a:xfrm>
              <a:off x="864" y="240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2533" name="Group 21"/>
          <p:cNvGrpSpPr>
            <a:grpSpLocks/>
          </p:cNvGrpSpPr>
          <p:nvPr/>
        </p:nvGrpSpPr>
        <p:grpSpPr bwMode="auto">
          <a:xfrm>
            <a:off x="3733800" y="2667000"/>
            <a:ext cx="1143000" cy="1219200"/>
            <a:chOff x="1728" y="1872"/>
            <a:chExt cx="720" cy="768"/>
          </a:xfrm>
        </p:grpSpPr>
        <p:grpSp>
          <p:nvGrpSpPr>
            <p:cNvPr id="22547" name="Group 22"/>
            <p:cNvGrpSpPr>
              <a:grpSpLocks/>
            </p:cNvGrpSpPr>
            <p:nvPr/>
          </p:nvGrpSpPr>
          <p:grpSpPr bwMode="auto">
            <a:xfrm>
              <a:off x="1728" y="2352"/>
              <a:ext cx="288" cy="288"/>
              <a:chOff x="672" y="1584"/>
              <a:chExt cx="288" cy="288"/>
            </a:xfrm>
          </p:grpSpPr>
          <p:sp>
            <p:nvSpPr>
              <p:cNvPr id="22552" name="Oval 23"/>
              <p:cNvSpPr>
                <a:spLocks noChangeArrowheads="1"/>
              </p:cNvSpPr>
              <p:nvPr/>
            </p:nvSpPr>
            <p:spPr bwMode="auto">
              <a:xfrm>
                <a:off x="672" y="158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3" name="Text Box 24"/>
              <p:cNvSpPr txBox="1">
                <a:spLocks noChangeArrowheads="1"/>
              </p:cNvSpPr>
              <p:nvPr/>
            </p:nvSpPr>
            <p:spPr bwMode="auto">
              <a:xfrm>
                <a:off x="720" y="158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800" b="0" baseline="-25000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22548" name="Group 25"/>
            <p:cNvGrpSpPr>
              <a:grpSpLocks/>
            </p:cNvGrpSpPr>
            <p:nvPr/>
          </p:nvGrpSpPr>
          <p:grpSpPr bwMode="auto">
            <a:xfrm>
              <a:off x="2160" y="1872"/>
              <a:ext cx="288" cy="288"/>
              <a:chOff x="672" y="1584"/>
              <a:chExt cx="288" cy="288"/>
            </a:xfrm>
          </p:grpSpPr>
          <p:sp>
            <p:nvSpPr>
              <p:cNvPr id="22550" name="Oval 26"/>
              <p:cNvSpPr>
                <a:spLocks noChangeArrowheads="1"/>
              </p:cNvSpPr>
              <p:nvPr/>
            </p:nvSpPr>
            <p:spPr bwMode="auto">
              <a:xfrm>
                <a:off x="672" y="158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1" name="Text Box 27"/>
              <p:cNvSpPr txBox="1">
                <a:spLocks noChangeArrowheads="1"/>
              </p:cNvSpPr>
              <p:nvPr/>
            </p:nvSpPr>
            <p:spPr bwMode="auto">
              <a:xfrm>
                <a:off x="720" y="158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800" b="0" baseline="-25000">
                    <a:latin typeface="Times New Roman" panose="02020603050405020304" pitchFamily="18" charset="0"/>
                  </a:rPr>
                  <a:t>7</a:t>
                </a:r>
              </a:p>
            </p:txBody>
          </p:sp>
        </p:grpSp>
        <p:sp>
          <p:nvSpPr>
            <p:cNvPr id="22549" name="Line 28"/>
            <p:cNvSpPr>
              <a:spLocks noChangeShapeType="1"/>
            </p:cNvSpPr>
            <p:nvPr/>
          </p:nvSpPr>
          <p:spPr bwMode="auto">
            <a:xfrm flipV="1">
              <a:off x="1968" y="211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2534" name="Group 29"/>
          <p:cNvGrpSpPr>
            <a:grpSpLocks/>
          </p:cNvGrpSpPr>
          <p:nvPr/>
        </p:nvGrpSpPr>
        <p:grpSpPr bwMode="auto">
          <a:xfrm>
            <a:off x="5638800" y="2514600"/>
            <a:ext cx="1371600" cy="1295400"/>
            <a:chOff x="2928" y="1776"/>
            <a:chExt cx="864" cy="816"/>
          </a:xfrm>
        </p:grpSpPr>
        <p:grpSp>
          <p:nvGrpSpPr>
            <p:cNvPr id="22536" name="Group 30"/>
            <p:cNvGrpSpPr>
              <a:grpSpLocks/>
            </p:cNvGrpSpPr>
            <p:nvPr/>
          </p:nvGrpSpPr>
          <p:grpSpPr bwMode="auto">
            <a:xfrm>
              <a:off x="3504" y="1776"/>
              <a:ext cx="288" cy="288"/>
              <a:chOff x="672" y="1584"/>
              <a:chExt cx="288" cy="288"/>
            </a:xfrm>
          </p:grpSpPr>
          <p:sp>
            <p:nvSpPr>
              <p:cNvPr id="22545" name="Oval 31"/>
              <p:cNvSpPr>
                <a:spLocks noChangeArrowheads="1"/>
              </p:cNvSpPr>
              <p:nvPr/>
            </p:nvSpPr>
            <p:spPr bwMode="auto">
              <a:xfrm>
                <a:off x="672" y="158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6" name="Text Box 32"/>
              <p:cNvSpPr txBox="1">
                <a:spLocks noChangeArrowheads="1"/>
              </p:cNvSpPr>
              <p:nvPr/>
            </p:nvSpPr>
            <p:spPr bwMode="auto">
              <a:xfrm>
                <a:off x="720" y="158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800" b="0" baseline="-25000"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  <p:grpSp>
          <p:nvGrpSpPr>
            <p:cNvPr id="22537" name="Group 33"/>
            <p:cNvGrpSpPr>
              <a:grpSpLocks/>
            </p:cNvGrpSpPr>
            <p:nvPr/>
          </p:nvGrpSpPr>
          <p:grpSpPr bwMode="auto">
            <a:xfrm>
              <a:off x="2928" y="2064"/>
              <a:ext cx="288" cy="288"/>
              <a:chOff x="672" y="1584"/>
              <a:chExt cx="288" cy="288"/>
            </a:xfrm>
          </p:grpSpPr>
          <p:sp>
            <p:nvSpPr>
              <p:cNvPr id="22543" name="Oval 34"/>
              <p:cNvSpPr>
                <a:spLocks noChangeArrowheads="1"/>
              </p:cNvSpPr>
              <p:nvPr/>
            </p:nvSpPr>
            <p:spPr bwMode="auto">
              <a:xfrm>
                <a:off x="672" y="158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4" name="Text Box 35"/>
              <p:cNvSpPr txBox="1">
                <a:spLocks noChangeArrowheads="1"/>
              </p:cNvSpPr>
              <p:nvPr/>
            </p:nvSpPr>
            <p:spPr bwMode="auto">
              <a:xfrm>
                <a:off x="720" y="1584"/>
                <a:ext cx="2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800" b="0" baseline="-25000">
                    <a:latin typeface="Times New Roman" panose="02020603050405020304" pitchFamily="18" charset="0"/>
                  </a:rPr>
                  <a:t>9</a:t>
                </a:r>
              </a:p>
            </p:txBody>
          </p:sp>
        </p:grpSp>
        <p:grpSp>
          <p:nvGrpSpPr>
            <p:cNvPr id="22538" name="Group 36"/>
            <p:cNvGrpSpPr>
              <a:grpSpLocks/>
            </p:cNvGrpSpPr>
            <p:nvPr/>
          </p:nvGrpSpPr>
          <p:grpSpPr bwMode="auto">
            <a:xfrm>
              <a:off x="3456" y="2304"/>
              <a:ext cx="288" cy="288"/>
              <a:chOff x="3456" y="2304"/>
              <a:chExt cx="288" cy="288"/>
            </a:xfrm>
          </p:grpSpPr>
          <p:sp>
            <p:nvSpPr>
              <p:cNvPr id="22541" name="Oval 37"/>
              <p:cNvSpPr>
                <a:spLocks noChangeArrowheads="1"/>
              </p:cNvSpPr>
              <p:nvPr/>
            </p:nvSpPr>
            <p:spPr bwMode="auto">
              <a:xfrm>
                <a:off x="3456" y="230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2" name="Text Box 38"/>
              <p:cNvSpPr txBox="1">
                <a:spLocks noChangeArrowheads="1"/>
              </p:cNvSpPr>
              <p:nvPr/>
            </p:nvSpPr>
            <p:spPr bwMode="auto">
              <a:xfrm>
                <a:off x="3456" y="2304"/>
                <a:ext cx="2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800" b="0">
                    <a:latin typeface="Times New Roman" panose="02020603050405020304" pitchFamily="18" charset="0"/>
                  </a:rPr>
                  <a:t>v</a:t>
                </a:r>
                <a:r>
                  <a:rPr lang="en-US" altLang="en-US" sz="1800" b="0" baseline="-25000">
                    <a:latin typeface="Times New Roman" panose="02020603050405020304" pitchFamily="18" charset="0"/>
                  </a:rPr>
                  <a:t>10</a:t>
                </a:r>
              </a:p>
            </p:txBody>
          </p:sp>
        </p:grpSp>
        <p:sp>
          <p:nvSpPr>
            <p:cNvPr id="22539" name="Line 39"/>
            <p:cNvSpPr>
              <a:spLocks noChangeShapeType="1"/>
            </p:cNvSpPr>
            <p:nvPr/>
          </p:nvSpPr>
          <p:spPr bwMode="auto">
            <a:xfrm flipV="1">
              <a:off x="3216" y="1968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0" name="Line 40"/>
            <p:cNvSpPr>
              <a:spLocks noChangeShapeType="1"/>
            </p:cNvSpPr>
            <p:nvPr/>
          </p:nvSpPr>
          <p:spPr bwMode="auto">
            <a:xfrm>
              <a:off x="3216" y="2304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535" name="Rectangle 41"/>
          <p:cNvSpPr>
            <a:spLocks noChangeArrowheads="1"/>
          </p:cNvSpPr>
          <p:nvPr/>
        </p:nvSpPr>
        <p:spPr bwMode="auto">
          <a:xfrm>
            <a:off x="457200" y="4495800"/>
            <a:ext cx="84582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The order in which each connected sub-graphs is selected does not matter. We can select one of the sub-graph in the above example for dfs at random.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Depth First Spanning Tree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848600" cy="1543050"/>
          </a:xfrm>
        </p:spPr>
        <p:txBody>
          <a:bodyPr/>
          <a:lstStyle/>
          <a:p>
            <a:r>
              <a:rPr lang="en-US" altLang="en-US" sz="2400" smtClean="0"/>
              <a:t>The edges of the graph that are traversed while doing the depth first search comprise the depth first spanning tree. These edges are called </a:t>
            </a:r>
            <a:r>
              <a:rPr lang="en-US" altLang="en-US" sz="2400" b="0" i="1" smtClean="0"/>
              <a:t>forward edges</a:t>
            </a:r>
            <a:r>
              <a:rPr lang="en-US" altLang="en-US" sz="2400" smtClean="0"/>
              <a:t> in the DF spanning tree</a:t>
            </a:r>
          </a:p>
        </p:txBody>
      </p:sp>
      <p:grpSp>
        <p:nvGrpSpPr>
          <p:cNvPr id="23556" name="Group 5"/>
          <p:cNvGrpSpPr>
            <a:grpSpLocks/>
          </p:cNvGrpSpPr>
          <p:nvPr/>
        </p:nvGrpSpPr>
        <p:grpSpPr bwMode="auto">
          <a:xfrm>
            <a:off x="1219200" y="2743200"/>
            <a:ext cx="533400" cy="644525"/>
            <a:chOff x="3504" y="2090"/>
            <a:chExt cx="336" cy="406"/>
          </a:xfrm>
        </p:grpSpPr>
        <p:sp>
          <p:nvSpPr>
            <p:cNvPr id="23627" name="Oval 6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28" name="Text Box 7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29" name="Text Box 8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1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7" name="Group 9"/>
          <p:cNvGrpSpPr>
            <a:grpSpLocks/>
          </p:cNvGrpSpPr>
          <p:nvPr/>
        </p:nvGrpSpPr>
        <p:grpSpPr bwMode="auto">
          <a:xfrm>
            <a:off x="533400" y="3733800"/>
            <a:ext cx="533400" cy="644525"/>
            <a:chOff x="3504" y="2090"/>
            <a:chExt cx="336" cy="406"/>
          </a:xfrm>
        </p:grpSpPr>
        <p:sp>
          <p:nvSpPr>
            <p:cNvPr id="23624" name="Oval 10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25" name="Text Box 11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26" name="Text Box 12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3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8" name="Group 13"/>
          <p:cNvGrpSpPr>
            <a:grpSpLocks/>
          </p:cNvGrpSpPr>
          <p:nvPr/>
        </p:nvGrpSpPr>
        <p:grpSpPr bwMode="auto">
          <a:xfrm>
            <a:off x="2819400" y="2743200"/>
            <a:ext cx="533400" cy="644525"/>
            <a:chOff x="3504" y="2090"/>
            <a:chExt cx="336" cy="406"/>
          </a:xfrm>
        </p:grpSpPr>
        <p:sp>
          <p:nvSpPr>
            <p:cNvPr id="23621" name="Oval 14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22" name="Text Box 15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23" name="Text Box 16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2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59" name="Group 17"/>
          <p:cNvGrpSpPr>
            <a:grpSpLocks/>
          </p:cNvGrpSpPr>
          <p:nvPr/>
        </p:nvGrpSpPr>
        <p:grpSpPr bwMode="auto">
          <a:xfrm>
            <a:off x="1371600" y="4572000"/>
            <a:ext cx="533400" cy="644525"/>
            <a:chOff x="3504" y="2090"/>
            <a:chExt cx="336" cy="406"/>
          </a:xfrm>
        </p:grpSpPr>
        <p:sp>
          <p:nvSpPr>
            <p:cNvPr id="23618" name="Oval 18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19" name="Text Box 19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20" name="Text Box 20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6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60" name="Group 21"/>
          <p:cNvGrpSpPr>
            <a:grpSpLocks/>
          </p:cNvGrpSpPr>
          <p:nvPr/>
        </p:nvGrpSpPr>
        <p:grpSpPr bwMode="auto">
          <a:xfrm>
            <a:off x="2057400" y="3657600"/>
            <a:ext cx="533400" cy="644525"/>
            <a:chOff x="3504" y="2090"/>
            <a:chExt cx="336" cy="406"/>
          </a:xfrm>
        </p:grpSpPr>
        <p:sp>
          <p:nvSpPr>
            <p:cNvPr id="23615" name="Oval 22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16" name="Text Box 23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17" name="Text Box 24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4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61" name="Group 25"/>
          <p:cNvGrpSpPr>
            <a:grpSpLocks/>
          </p:cNvGrpSpPr>
          <p:nvPr/>
        </p:nvGrpSpPr>
        <p:grpSpPr bwMode="auto">
          <a:xfrm>
            <a:off x="3733800" y="3733800"/>
            <a:ext cx="533400" cy="644525"/>
            <a:chOff x="3504" y="2090"/>
            <a:chExt cx="336" cy="406"/>
          </a:xfrm>
        </p:grpSpPr>
        <p:sp>
          <p:nvSpPr>
            <p:cNvPr id="23612" name="Oval 26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13" name="Text Box 27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14" name="Text Box 28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5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62" name="Group 29"/>
          <p:cNvGrpSpPr>
            <a:grpSpLocks/>
          </p:cNvGrpSpPr>
          <p:nvPr/>
        </p:nvGrpSpPr>
        <p:grpSpPr bwMode="auto">
          <a:xfrm>
            <a:off x="2895600" y="4572000"/>
            <a:ext cx="533400" cy="644525"/>
            <a:chOff x="3504" y="2090"/>
            <a:chExt cx="336" cy="406"/>
          </a:xfrm>
        </p:grpSpPr>
        <p:sp>
          <p:nvSpPr>
            <p:cNvPr id="23609" name="Oval 30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10" name="Text Box 31"/>
            <p:cNvSpPr txBox="1">
              <a:spLocks noChangeArrowheads="1"/>
            </p:cNvSpPr>
            <p:nvPr/>
          </p:nvSpPr>
          <p:spPr bwMode="auto">
            <a:xfrm>
              <a:off x="3542" y="209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11" name="Text Box 32"/>
            <p:cNvSpPr txBox="1">
              <a:spLocks noChangeArrowheads="1"/>
            </p:cNvSpPr>
            <p:nvPr/>
          </p:nvSpPr>
          <p:spPr bwMode="auto">
            <a:xfrm>
              <a:off x="3504" y="2160"/>
              <a:ext cx="3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7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563" name="Line 33"/>
          <p:cNvSpPr>
            <a:spLocks noChangeShapeType="1"/>
          </p:cNvSpPr>
          <p:nvPr/>
        </p:nvSpPr>
        <p:spPr bwMode="auto">
          <a:xfrm>
            <a:off x="1752600" y="3124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4" name="Line 34"/>
          <p:cNvSpPr>
            <a:spLocks noChangeShapeType="1"/>
          </p:cNvSpPr>
          <p:nvPr/>
        </p:nvSpPr>
        <p:spPr bwMode="auto">
          <a:xfrm>
            <a:off x="3352800" y="32766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5" name="Line 35"/>
          <p:cNvSpPr>
            <a:spLocks noChangeShapeType="1"/>
          </p:cNvSpPr>
          <p:nvPr/>
        </p:nvSpPr>
        <p:spPr bwMode="auto">
          <a:xfrm>
            <a:off x="1676400" y="3352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6" name="Line 36"/>
          <p:cNvSpPr>
            <a:spLocks noChangeShapeType="1"/>
          </p:cNvSpPr>
          <p:nvPr/>
        </p:nvSpPr>
        <p:spPr bwMode="auto">
          <a:xfrm flipH="1">
            <a:off x="2514600" y="33528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7" name="Line 38"/>
          <p:cNvSpPr>
            <a:spLocks noChangeShapeType="1"/>
          </p:cNvSpPr>
          <p:nvPr/>
        </p:nvSpPr>
        <p:spPr bwMode="auto">
          <a:xfrm flipH="1">
            <a:off x="1066800" y="4038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8" name="Line 39"/>
          <p:cNvSpPr>
            <a:spLocks noChangeShapeType="1"/>
          </p:cNvSpPr>
          <p:nvPr/>
        </p:nvSpPr>
        <p:spPr bwMode="auto">
          <a:xfrm>
            <a:off x="2590800" y="4038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9" name="Line 40"/>
          <p:cNvSpPr>
            <a:spLocks noChangeShapeType="1"/>
          </p:cNvSpPr>
          <p:nvPr/>
        </p:nvSpPr>
        <p:spPr bwMode="auto">
          <a:xfrm>
            <a:off x="914400" y="4343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0" name="Line 41"/>
          <p:cNvSpPr>
            <a:spLocks noChangeShapeType="1"/>
          </p:cNvSpPr>
          <p:nvPr/>
        </p:nvSpPr>
        <p:spPr bwMode="auto">
          <a:xfrm flipH="1">
            <a:off x="1752600" y="42672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1" name="Line 43"/>
          <p:cNvSpPr>
            <a:spLocks noChangeShapeType="1"/>
          </p:cNvSpPr>
          <p:nvPr/>
        </p:nvSpPr>
        <p:spPr bwMode="auto">
          <a:xfrm>
            <a:off x="2514600" y="41910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2" name="Line 44"/>
          <p:cNvSpPr>
            <a:spLocks noChangeShapeType="1"/>
          </p:cNvSpPr>
          <p:nvPr/>
        </p:nvSpPr>
        <p:spPr bwMode="auto">
          <a:xfrm flipH="1">
            <a:off x="3429000" y="43434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23573" name="Group 46"/>
          <p:cNvGrpSpPr>
            <a:grpSpLocks/>
          </p:cNvGrpSpPr>
          <p:nvPr/>
        </p:nvGrpSpPr>
        <p:grpSpPr bwMode="auto">
          <a:xfrm>
            <a:off x="5395913" y="2819400"/>
            <a:ext cx="522287" cy="623888"/>
            <a:chOff x="3504" y="2090"/>
            <a:chExt cx="336" cy="406"/>
          </a:xfrm>
        </p:grpSpPr>
        <p:sp>
          <p:nvSpPr>
            <p:cNvPr id="23606" name="Oval 47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07" name="Text Box 48"/>
            <p:cNvSpPr txBox="1">
              <a:spLocks noChangeArrowheads="1"/>
            </p:cNvSpPr>
            <p:nvPr/>
          </p:nvSpPr>
          <p:spPr bwMode="auto">
            <a:xfrm>
              <a:off x="3541" y="2090"/>
              <a:ext cx="118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08" name="Text Box 49"/>
            <p:cNvSpPr txBox="1">
              <a:spLocks noChangeArrowheads="1"/>
            </p:cNvSpPr>
            <p:nvPr/>
          </p:nvSpPr>
          <p:spPr bwMode="auto">
            <a:xfrm>
              <a:off x="3504" y="2160"/>
              <a:ext cx="331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1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74" name="Group 50"/>
          <p:cNvGrpSpPr>
            <a:grpSpLocks/>
          </p:cNvGrpSpPr>
          <p:nvPr/>
        </p:nvGrpSpPr>
        <p:grpSpPr bwMode="auto">
          <a:xfrm>
            <a:off x="4724400" y="3779838"/>
            <a:ext cx="522288" cy="623887"/>
            <a:chOff x="3504" y="2090"/>
            <a:chExt cx="336" cy="406"/>
          </a:xfrm>
        </p:grpSpPr>
        <p:sp>
          <p:nvSpPr>
            <p:cNvPr id="23603" name="Oval 51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04" name="Text Box 52"/>
            <p:cNvSpPr txBox="1">
              <a:spLocks noChangeArrowheads="1"/>
            </p:cNvSpPr>
            <p:nvPr/>
          </p:nvSpPr>
          <p:spPr bwMode="auto">
            <a:xfrm>
              <a:off x="3541" y="2090"/>
              <a:ext cx="118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05" name="Text Box 53"/>
            <p:cNvSpPr txBox="1">
              <a:spLocks noChangeArrowheads="1"/>
            </p:cNvSpPr>
            <p:nvPr/>
          </p:nvSpPr>
          <p:spPr bwMode="auto">
            <a:xfrm>
              <a:off x="3504" y="2160"/>
              <a:ext cx="33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3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75" name="Group 54"/>
          <p:cNvGrpSpPr>
            <a:grpSpLocks/>
          </p:cNvGrpSpPr>
          <p:nvPr/>
        </p:nvGrpSpPr>
        <p:grpSpPr bwMode="auto">
          <a:xfrm>
            <a:off x="6964363" y="2819400"/>
            <a:ext cx="522287" cy="623888"/>
            <a:chOff x="3504" y="2090"/>
            <a:chExt cx="336" cy="406"/>
          </a:xfrm>
        </p:grpSpPr>
        <p:sp>
          <p:nvSpPr>
            <p:cNvPr id="23600" name="Oval 55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01" name="Text Box 56"/>
            <p:cNvSpPr txBox="1">
              <a:spLocks noChangeArrowheads="1"/>
            </p:cNvSpPr>
            <p:nvPr/>
          </p:nvSpPr>
          <p:spPr bwMode="auto">
            <a:xfrm>
              <a:off x="3541" y="2090"/>
              <a:ext cx="119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602" name="Text Box 57"/>
            <p:cNvSpPr txBox="1">
              <a:spLocks noChangeArrowheads="1"/>
            </p:cNvSpPr>
            <p:nvPr/>
          </p:nvSpPr>
          <p:spPr bwMode="auto">
            <a:xfrm>
              <a:off x="3504" y="2160"/>
              <a:ext cx="331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2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76" name="Group 58"/>
          <p:cNvGrpSpPr>
            <a:grpSpLocks/>
          </p:cNvGrpSpPr>
          <p:nvPr/>
        </p:nvGrpSpPr>
        <p:grpSpPr bwMode="auto">
          <a:xfrm>
            <a:off x="5545138" y="4592638"/>
            <a:ext cx="522287" cy="623887"/>
            <a:chOff x="3504" y="2091"/>
            <a:chExt cx="336" cy="405"/>
          </a:xfrm>
        </p:grpSpPr>
        <p:sp>
          <p:nvSpPr>
            <p:cNvPr id="23597" name="Oval 59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598" name="Text Box 60"/>
            <p:cNvSpPr txBox="1">
              <a:spLocks noChangeArrowheads="1"/>
            </p:cNvSpPr>
            <p:nvPr/>
          </p:nvSpPr>
          <p:spPr bwMode="auto">
            <a:xfrm>
              <a:off x="3541" y="2091"/>
              <a:ext cx="118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599" name="Text Box 61"/>
            <p:cNvSpPr txBox="1">
              <a:spLocks noChangeArrowheads="1"/>
            </p:cNvSpPr>
            <p:nvPr/>
          </p:nvSpPr>
          <p:spPr bwMode="auto">
            <a:xfrm>
              <a:off x="3504" y="2161"/>
              <a:ext cx="331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6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77" name="Group 62"/>
          <p:cNvGrpSpPr>
            <a:grpSpLocks/>
          </p:cNvGrpSpPr>
          <p:nvPr/>
        </p:nvGrpSpPr>
        <p:grpSpPr bwMode="auto">
          <a:xfrm>
            <a:off x="6216650" y="3705225"/>
            <a:ext cx="523875" cy="625475"/>
            <a:chOff x="3504" y="2090"/>
            <a:chExt cx="336" cy="406"/>
          </a:xfrm>
        </p:grpSpPr>
        <p:sp>
          <p:nvSpPr>
            <p:cNvPr id="23594" name="Oval 63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595" name="Text Box 64"/>
            <p:cNvSpPr txBox="1">
              <a:spLocks noChangeArrowheads="1"/>
            </p:cNvSpPr>
            <p:nvPr/>
          </p:nvSpPr>
          <p:spPr bwMode="auto">
            <a:xfrm>
              <a:off x="3540" y="2090"/>
              <a:ext cx="119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596" name="Text Box 65"/>
            <p:cNvSpPr txBox="1">
              <a:spLocks noChangeArrowheads="1"/>
            </p:cNvSpPr>
            <p:nvPr/>
          </p:nvSpPr>
          <p:spPr bwMode="auto">
            <a:xfrm>
              <a:off x="3504" y="2160"/>
              <a:ext cx="330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4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78" name="Group 66"/>
          <p:cNvGrpSpPr>
            <a:grpSpLocks/>
          </p:cNvGrpSpPr>
          <p:nvPr/>
        </p:nvGrpSpPr>
        <p:grpSpPr bwMode="auto">
          <a:xfrm>
            <a:off x="7859713" y="3779838"/>
            <a:ext cx="522287" cy="623887"/>
            <a:chOff x="3504" y="2090"/>
            <a:chExt cx="336" cy="406"/>
          </a:xfrm>
        </p:grpSpPr>
        <p:sp>
          <p:nvSpPr>
            <p:cNvPr id="23591" name="Oval 67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592" name="Text Box 68"/>
            <p:cNvSpPr txBox="1">
              <a:spLocks noChangeArrowheads="1"/>
            </p:cNvSpPr>
            <p:nvPr/>
          </p:nvSpPr>
          <p:spPr bwMode="auto">
            <a:xfrm>
              <a:off x="3541" y="2090"/>
              <a:ext cx="118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593" name="Text Box 69"/>
            <p:cNvSpPr txBox="1">
              <a:spLocks noChangeArrowheads="1"/>
            </p:cNvSpPr>
            <p:nvPr/>
          </p:nvSpPr>
          <p:spPr bwMode="auto">
            <a:xfrm>
              <a:off x="3504" y="2160"/>
              <a:ext cx="33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5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3579" name="Group 70"/>
          <p:cNvGrpSpPr>
            <a:grpSpLocks/>
          </p:cNvGrpSpPr>
          <p:nvPr/>
        </p:nvGrpSpPr>
        <p:grpSpPr bwMode="auto">
          <a:xfrm>
            <a:off x="7038975" y="4592638"/>
            <a:ext cx="522288" cy="623887"/>
            <a:chOff x="3504" y="2091"/>
            <a:chExt cx="336" cy="405"/>
          </a:xfrm>
        </p:grpSpPr>
        <p:sp>
          <p:nvSpPr>
            <p:cNvPr id="23588" name="Oval 71"/>
            <p:cNvSpPr>
              <a:spLocks noChangeArrowheads="1"/>
            </p:cNvSpPr>
            <p:nvPr/>
          </p:nvSpPr>
          <p:spPr bwMode="auto">
            <a:xfrm>
              <a:off x="3504" y="216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589" name="Text Box 72"/>
            <p:cNvSpPr txBox="1">
              <a:spLocks noChangeArrowheads="1"/>
            </p:cNvSpPr>
            <p:nvPr/>
          </p:nvSpPr>
          <p:spPr bwMode="auto">
            <a:xfrm>
              <a:off x="3541" y="2091"/>
              <a:ext cx="119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23590" name="Text Box 73"/>
            <p:cNvSpPr txBox="1">
              <a:spLocks noChangeArrowheads="1"/>
            </p:cNvSpPr>
            <p:nvPr/>
          </p:nvSpPr>
          <p:spPr bwMode="auto">
            <a:xfrm>
              <a:off x="3504" y="2161"/>
              <a:ext cx="331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 v</a:t>
              </a:r>
              <a:r>
                <a:rPr lang="en-US" altLang="en-US" sz="2400" b="0" baseline="-25000">
                  <a:latin typeface="Times New Roman" panose="02020603050405020304" pitchFamily="18" charset="0"/>
                </a:rPr>
                <a:t>7</a:t>
              </a: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580" name="Line 74"/>
          <p:cNvSpPr>
            <a:spLocks noChangeShapeType="1"/>
          </p:cNvSpPr>
          <p:nvPr/>
        </p:nvSpPr>
        <p:spPr bwMode="auto">
          <a:xfrm>
            <a:off x="5918200" y="3189288"/>
            <a:ext cx="1046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1" name="Line 75"/>
          <p:cNvSpPr>
            <a:spLocks noChangeShapeType="1"/>
          </p:cNvSpPr>
          <p:nvPr/>
        </p:nvSpPr>
        <p:spPr bwMode="auto">
          <a:xfrm flipH="1">
            <a:off x="6665913" y="3409950"/>
            <a:ext cx="447675" cy="442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2" name="Line 76"/>
          <p:cNvSpPr>
            <a:spLocks noChangeShapeType="1"/>
          </p:cNvSpPr>
          <p:nvPr/>
        </p:nvSpPr>
        <p:spPr bwMode="auto">
          <a:xfrm flipH="1">
            <a:off x="5246688" y="4075113"/>
            <a:ext cx="969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3" name="Line 77"/>
          <p:cNvSpPr>
            <a:spLocks noChangeShapeType="1"/>
          </p:cNvSpPr>
          <p:nvPr/>
        </p:nvSpPr>
        <p:spPr bwMode="auto">
          <a:xfrm>
            <a:off x="6740525" y="4075113"/>
            <a:ext cx="1119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4" name="Line 78"/>
          <p:cNvSpPr>
            <a:spLocks noChangeShapeType="1"/>
          </p:cNvSpPr>
          <p:nvPr/>
        </p:nvSpPr>
        <p:spPr bwMode="auto">
          <a:xfrm>
            <a:off x="5097463" y="4370388"/>
            <a:ext cx="522287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5" name="Text Box 80"/>
          <p:cNvSpPr txBox="1">
            <a:spLocks noChangeArrowheads="1"/>
          </p:cNvSpPr>
          <p:nvPr/>
        </p:nvSpPr>
        <p:spPr bwMode="auto">
          <a:xfrm>
            <a:off x="1752600" y="5715000"/>
            <a:ext cx="174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Input  Graph</a:t>
            </a:r>
          </a:p>
        </p:txBody>
      </p:sp>
      <p:sp>
        <p:nvSpPr>
          <p:cNvPr id="23586" name="Text Box 81"/>
          <p:cNvSpPr txBox="1">
            <a:spLocks noChangeArrowheads="1"/>
          </p:cNvSpPr>
          <p:nvPr/>
        </p:nvSpPr>
        <p:spPr bwMode="auto">
          <a:xfrm>
            <a:off x="5029200" y="5305425"/>
            <a:ext cx="37496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DF Spanning Tree with forward edges. We have used the adjacency list used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in dfs algo in previous slide</a:t>
            </a:r>
          </a:p>
        </p:txBody>
      </p:sp>
      <p:sp>
        <p:nvSpPr>
          <p:cNvPr id="23587" name="Line 82"/>
          <p:cNvSpPr>
            <a:spLocks noChangeShapeType="1"/>
          </p:cNvSpPr>
          <p:nvPr/>
        </p:nvSpPr>
        <p:spPr bwMode="auto">
          <a:xfrm flipH="1">
            <a:off x="7543800" y="4343400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 smtClean="0"/>
              <a:t>Minimum Spanning Tree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19213"/>
            <a:ext cx="7924800" cy="53101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smtClean="0"/>
              <a:t>Problem: Find the tree formed from graph edges that connects all the vertices of G at lowest total cost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A minimum spanning tree exists only if G is connected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For simplicity, we will assume that the graph we are given to determine the minimum spanning tree  is connected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Applied mostly to undirected graphs</a:t>
            </a:r>
          </a:p>
          <a:p>
            <a:pPr>
              <a:lnSpc>
                <a:spcPct val="90000"/>
              </a:lnSpc>
            </a:pPr>
            <a:r>
              <a:rPr lang="en-US" altLang="en-US" sz="2400" smtClean="0"/>
              <a:t>More difficult to implement for directed graphs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153400" cy="1143000"/>
          </a:xfrm>
        </p:spPr>
        <p:txBody>
          <a:bodyPr/>
          <a:lstStyle/>
          <a:p>
            <a:r>
              <a:rPr lang="en-US" altLang="en-US" smtClean="0"/>
              <a:t>Minimum Spanning Tree Example</a:t>
            </a:r>
          </a:p>
        </p:txBody>
      </p:sp>
      <p:grpSp>
        <p:nvGrpSpPr>
          <p:cNvPr id="25603" name="Group 3"/>
          <p:cNvGrpSpPr>
            <a:grpSpLocks/>
          </p:cNvGrpSpPr>
          <p:nvPr/>
        </p:nvGrpSpPr>
        <p:grpSpPr bwMode="auto">
          <a:xfrm>
            <a:off x="304800" y="1627188"/>
            <a:ext cx="3733800" cy="2598737"/>
            <a:chOff x="192" y="1025"/>
            <a:chExt cx="2352" cy="1637"/>
          </a:xfrm>
        </p:grpSpPr>
        <p:grpSp>
          <p:nvGrpSpPr>
            <p:cNvPr id="25648" name="Group 4"/>
            <p:cNvGrpSpPr>
              <a:grpSpLocks/>
            </p:cNvGrpSpPr>
            <p:nvPr/>
          </p:nvGrpSpPr>
          <p:grpSpPr bwMode="auto">
            <a:xfrm>
              <a:off x="624" y="1104"/>
              <a:ext cx="336" cy="406"/>
              <a:chOff x="3504" y="2090"/>
              <a:chExt cx="336" cy="406"/>
            </a:xfrm>
          </p:grpSpPr>
          <p:sp>
            <p:nvSpPr>
              <p:cNvPr id="25697" name="Oval 5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98" name="Text Box 6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99" name="Text Box 7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1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49" name="Group 8"/>
            <p:cNvGrpSpPr>
              <a:grpSpLocks/>
            </p:cNvGrpSpPr>
            <p:nvPr/>
          </p:nvGrpSpPr>
          <p:grpSpPr bwMode="auto">
            <a:xfrm>
              <a:off x="192" y="1728"/>
              <a:ext cx="336" cy="406"/>
              <a:chOff x="3504" y="2090"/>
              <a:chExt cx="336" cy="406"/>
            </a:xfrm>
          </p:grpSpPr>
          <p:sp>
            <p:nvSpPr>
              <p:cNvPr id="25694" name="Oval 9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95" name="Text Box 10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96" name="Text Box 11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3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50" name="Group 12"/>
            <p:cNvGrpSpPr>
              <a:grpSpLocks/>
            </p:cNvGrpSpPr>
            <p:nvPr/>
          </p:nvGrpSpPr>
          <p:grpSpPr bwMode="auto">
            <a:xfrm>
              <a:off x="1632" y="1104"/>
              <a:ext cx="336" cy="406"/>
              <a:chOff x="3504" y="2090"/>
              <a:chExt cx="336" cy="406"/>
            </a:xfrm>
          </p:grpSpPr>
          <p:sp>
            <p:nvSpPr>
              <p:cNvPr id="25691" name="Oval 13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92" name="Text Box 14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93" name="Text Box 15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2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51" name="Group 16"/>
            <p:cNvGrpSpPr>
              <a:grpSpLocks/>
            </p:cNvGrpSpPr>
            <p:nvPr/>
          </p:nvGrpSpPr>
          <p:grpSpPr bwMode="auto">
            <a:xfrm>
              <a:off x="720" y="2256"/>
              <a:ext cx="336" cy="406"/>
              <a:chOff x="3504" y="2090"/>
              <a:chExt cx="336" cy="406"/>
            </a:xfrm>
          </p:grpSpPr>
          <p:sp>
            <p:nvSpPr>
              <p:cNvPr id="25688" name="Oval 17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89" name="Text Box 18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90" name="Text Box 19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6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52" name="Group 20"/>
            <p:cNvGrpSpPr>
              <a:grpSpLocks/>
            </p:cNvGrpSpPr>
            <p:nvPr/>
          </p:nvGrpSpPr>
          <p:grpSpPr bwMode="auto">
            <a:xfrm>
              <a:off x="1152" y="1680"/>
              <a:ext cx="336" cy="406"/>
              <a:chOff x="3504" y="2090"/>
              <a:chExt cx="336" cy="406"/>
            </a:xfrm>
          </p:grpSpPr>
          <p:sp>
            <p:nvSpPr>
              <p:cNvPr id="25685" name="Oval 21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86" name="Text Box 22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87" name="Text Box 23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4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53" name="Group 24"/>
            <p:cNvGrpSpPr>
              <a:grpSpLocks/>
            </p:cNvGrpSpPr>
            <p:nvPr/>
          </p:nvGrpSpPr>
          <p:grpSpPr bwMode="auto">
            <a:xfrm>
              <a:off x="2208" y="1728"/>
              <a:ext cx="336" cy="406"/>
              <a:chOff x="3504" y="2090"/>
              <a:chExt cx="336" cy="406"/>
            </a:xfrm>
          </p:grpSpPr>
          <p:sp>
            <p:nvSpPr>
              <p:cNvPr id="25682" name="Oval 25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83" name="Text Box 26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84" name="Text Box 27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5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54" name="Group 28"/>
            <p:cNvGrpSpPr>
              <a:grpSpLocks/>
            </p:cNvGrpSpPr>
            <p:nvPr/>
          </p:nvGrpSpPr>
          <p:grpSpPr bwMode="auto">
            <a:xfrm>
              <a:off x="1680" y="2256"/>
              <a:ext cx="336" cy="406"/>
              <a:chOff x="3504" y="2090"/>
              <a:chExt cx="336" cy="406"/>
            </a:xfrm>
          </p:grpSpPr>
          <p:sp>
            <p:nvSpPr>
              <p:cNvPr id="25679" name="Oval 29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80" name="Text Box 30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81" name="Text Box 31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7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55" name="Line 32"/>
            <p:cNvSpPr>
              <a:spLocks noChangeShapeType="1"/>
            </p:cNvSpPr>
            <p:nvPr/>
          </p:nvSpPr>
          <p:spPr bwMode="auto">
            <a:xfrm>
              <a:off x="960" y="1344"/>
              <a:ext cx="67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56" name="Line 33"/>
            <p:cNvSpPr>
              <a:spLocks noChangeShapeType="1"/>
            </p:cNvSpPr>
            <p:nvPr/>
          </p:nvSpPr>
          <p:spPr bwMode="auto">
            <a:xfrm>
              <a:off x="1968" y="1440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57" name="Line 34"/>
            <p:cNvSpPr>
              <a:spLocks noChangeShapeType="1"/>
            </p:cNvSpPr>
            <p:nvPr/>
          </p:nvSpPr>
          <p:spPr bwMode="auto">
            <a:xfrm>
              <a:off x="912" y="1488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58" name="Line 35"/>
            <p:cNvSpPr>
              <a:spLocks noChangeShapeType="1"/>
            </p:cNvSpPr>
            <p:nvPr/>
          </p:nvSpPr>
          <p:spPr bwMode="auto">
            <a:xfrm flipH="1">
              <a:off x="1440" y="1488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59" name="Line 36"/>
            <p:cNvSpPr>
              <a:spLocks noChangeShapeType="1"/>
            </p:cNvSpPr>
            <p:nvPr/>
          </p:nvSpPr>
          <p:spPr bwMode="auto">
            <a:xfrm>
              <a:off x="1488" y="1920"/>
              <a:ext cx="7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0" name="Line 37"/>
            <p:cNvSpPr>
              <a:spLocks noChangeShapeType="1"/>
            </p:cNvSpPr>
            <p:nvPr/>
          </p:nvSpPr>
          <p:spPr bwMode="auto">
            <a:xfrm flipH="1">
              <a:off x="2016" y="211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1" name="Line 38"/>
            <p:cNvSpPr>
              <a:spLocks noChangeShapeType="1"/>
            </p:cNvSpPr>
            <p:nvPr/>
          </p:nvSpPr>
          <p:spPr bwMode="auto">
            <a:xfrm flipH="1">
              <a:off x="432" y="148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2" name="Line 39"/>
            <p:cNvSpPr>
              <a:spLocks noChangeShapeType="1"/>
            </p:cNvSpPr>
            <p:nvPr/>
          </p:nvSpPr>
          <p:spPr bwMode="auto">
            <a:xfrm>
              <a:off x="480" y="211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3" name="Line 40"/>
            <p:cNvSpPr>
              <a:spLocks noChangeShapeType="1"/>
            </p:cNvSpPr>
            <p:nvPr/>
          </p:nvSpPr>
          <p:spPr bwMode="auto">
            <a:xfrm flipH="1">
              <a:off x="1008" y="2064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4" name="Line 41"/>
            <p:cNvSpPr>
              <a:spLocks noChangeShapeType="1"/>
            </p:cNvSpPr>
            <p:nvPr/>
          </p:nvSpPr>
          <p:spPr bwMode="auto">
            <a:xfrm>
              <a:off x="1440" y="2064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5" name="Line 42"/>
            <p:cNvSpPr>
              <a:spLocks noChangeShapeType="1"/>
            </p:cNvSpPr>
            <p:nvPr/>
          </p:nvSpPr>
          <p:spPr bwMode="auto">
            <a:xfrm>
              <a:off x="1056" y="2544"/>
              <a:ext cx="62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6" name="Line 43"/>
            <p:cNvSpPr>
              <a:spLocks noChangeShapeType="1"/>
            </p:cNvSpPr>
            <p:nvPr/>
          </p:nvSpPr>
          <p:spPr bwMode="auto">
            <a:xfrm>
              <a:off x="528" y="1920"/>
              <a:ext cx="62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7" name="Text Box 44"/>
            <p:cNvSpPr txBox="1">
              <a:spLocks noChangeArrowheads="1"/>
            </p:cNvSpPr>
            <p:nvPr/>
          </p:nvSpPr>
          <p:spPr bwMode="auto">
            <a:xfrm>
              <a:off x="1200" y="102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668" name="Text Box 45"/>
            <p:cNvSpPr txBox="1">
              <a:spLocks noChangeArrowheads="1"/>
            </p:cNvSpPr>
            <p:nvPr/>
          </p:nvSpPr>
          <p:spPr bwMode="auto">
            <a:xfrm>
              <a:off x="384" y="139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5669" name="Text Box 46"/>
            <p:cNvSpPr txBox="1">
              <a:spLocks noChangeArrowheads="1"/>
            </p:cNvSpPr>
            <p:nvPr/>
          </p:nvSpPr>
          <p:spPr bwMode="auto">
            <a:xfrm>
              <a:off x="1008" y="139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70" name="Text Box 47"/>
            <p:cNvSpPr txBox="1">
              <a:spLocks noChangeArrowheads="1"/>
            </p:cNvSpPr>
            <p:nvPr/>
          </p:nvSpPr>
          <p:spPr bwMode="auto">
            <a:xfrm>
              <a:off x="1440" y="139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5671" name="Text Box 48"/>
            <p:cNvSpPr txBox="1">
              <a:spLocks noChangeArrowheads="1"/>
            </p:cNvSpPr>
            <p:nvPr/>
          </p:nvSpPr>
          <p:spPr bwMode="auto">
            <a:xfrm>
              <a:off x="2064" y="134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5672" name="Text Box 49"/>
            <p:cNvSpPr txBox="1">
              <a:spLocks noChangeArrowheads="1"/>
            </p:cNvSpPr>
            <p:nvPr/>
          </p:nvSpPr>
          <p:spPr bwMode="auto">
            <a:xfrm>
              <a:off x="528" y="196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5673" name="Text Box 50"/>
            <p:cNvSpPr txBox="1">
              <a:spLocks noChangeArrowheads="1"/>
            </p:cNvSpPr>
            <p:nvPr/>
          </p:nvSpPr>
          <p:spPr bwMode="auto">
            <a:xfrm>
              <a:off x="912" y="196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5674" name="Text Box 51"/>
            <p:cNvSpPr txBox="1">
              <a:spLocks noChangeArrowheads="1"/>
            </p:cNvSpPr>
            <p:nvPr/>
          </p:nvSpPr>
          <p:spPr bwMode="auto">
            <a:xfrm>
              <a:off x="1536" y="196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5675" name="Text Box 52"/>
            <p:cNvSpPr txBox="1">
              <a:spLocks noChangeArrowheads="1"/>
            </p:cNvSpPr>
            <p:nvPr/>
          </p:nvSpPr>
          <p:spPr bwMode="auto">
            <a:xfrm>
              <a:off x="1968" y="20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5676" name="Text Box 53"/>
            <p:cNvSpPr txBox="1">
              <a:spLocks noChangeArrowheads="1"/>
            </p:cNvSpPr>
            <p:nvPr/>
          </p:nvSpPr>
          <p:spPr bwMode="auto">
            <a:xfrm>
              <a:off x="1248" y="225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77" name="Text Box 54"/>
            <p:cNvSpPr txBox="1">
              <a:spLocks noChangeArrowheads="1"/>
            </p:cNvSpPr>
            <p:nvPr/>
          </p:nvSpPr>
          <p:spPr bwMode="auto">
            <a:xfrm>
              <a:off x="720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678" name="Text Box 55"/>
            <p:cNvSpPr txBox="1">
              <a:spLocks noChangeArrowheads="1"/>
            </p:cNvSpPr>
            <p:nvPr/>
          </p:nvSpPr>
          <p:spPr bwMode="auto">
            <a:xfrm>
              <a:off x="1728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7</a:t>
              </a:r>
            </a:p>
          </p:txBody>
        </p:sp>
      </p:grpSp>
      <p:grpSp>
        <p:nvGrpSpPr>
          <p:cNvPr id="25604" name="Group 56"/>
          <p:cNvGrpSpPr>
            <a:grpSpLocks/>
          </p:cNvGrpSpPr>
          <p:nvPr/>
        </p:nvGrpSpPr>
        <p:grpSpPr bwMode="auto">
          <a:xfrm>
            <a:off x="4876800" y="1600200"/>
            <a:ext cx="3733800" cy="2598738"/>
            <a:chOff x="3072" y="1152"/>
            <a:chExt cx="2352" cy="1637"/>
          </a:xfrm>
        </p:grpSpPr>
        <p:grpSp>
          <p:nvGrpSpPr>
            <p:cNvPr id="25608" name="Group 57"/>
            <p:cNvGrpSpPr>
              <a:grpSpLocks/>
            </p:cNvGrpSpPr>
            <p:nvPr/>
          </p:nvGrpSpPr>
          <p:grpSpPr bwMode="auto">
            <a:xfrm>
              <a:off x="3504" y="1231"/>
              <a:ext cx="336" cy="406"/>
              <a:chOff x="3504" y="2090"/>
              <a:chExt cx="336" cy="406"/>
            </a:xfrm>
          </p:grpSpPr>
          <p:sp>
            <p:nvSpPr>
              <p:cNvPr id="25645" name="Oval 58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6" name="Text Box 59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7" name="Text Box 60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1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09" name="Group 61"/>
            <p:cNvGrpSpPr>
              <a:grpSpLocks/>
            </p:cNvGrpSpPr>
            <p:nvPr/>
          </p:nvGrpSpPr>
          <p:grpSpPr bwMode="auto">
            <a:xfrm>
              <a:off x="3072" y="1855"/>
              <a:ext cx="336" cy="406"/>
              <a:chOff x="3504" y="2090"/>
              <a:chExt cx="336" cy="406"/>
            </a:xfrm>
          </p:grpSpPr>
          <p:sp>
            <p:nvSpPr>
              <p:cNvPr id="25642" name="Oval 62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3" name="Text Box 63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4" name="Text Box 64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3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10" name="Group 65"/>
            <p:cNvGrpSpPr>
              <a:grpSpLocks/>
            </p:cNvGrpSpPr>
            <p:nvPr/>
          </p:nvGrpSpPr>
          <p:grpSpPr bwMode="auto">
            <a:xfrm>
              <a:off x="4512" y="1231"/>
              <a:ext cx="336" cy="406"/>
              <a:chOff x="3504" y="2090"/>
              <a:chExt cx="336" cy="406"/>
            </a:xfrm>
          </p:grpSpPr>
          <p:sp>
            <p:nvSpPr>
              <p:cNvPr id="25639" name="Oval 66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0" name="Text Box 67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1" name="Text Box 68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2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11" name="Group 69"/>
            <p:cNvGrpSpPr>
              <a:grpSpLocks/>
            </p:cNvGrpSpPr>
            <p:nvPr/>
          </p:nvGrpSpPr>
          <p:grpSpPr bwMode="auto">
            <a:xfrm>
              <a:off x="3600" y="2383"/>
              <a:ext cx="336" cy="406"/>
              <a:chOff x="3504" y="2090"/>
              <a:chExt cx="336" cy="406"/>
            </a:xfrm>
          </p:grpSpPr>
          <p:sp>
            <p:nvSpPr>
              <p:cNvPr id="25636" name="Oval 70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7" name="Text Box 71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8" name="Text Box 72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6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12" name="Group 73"/>
            <p:cNvGrpSpPr>
              <a:grpSpLocks/>
            </p:cNvGrpSpPr>
            <p:nvPr/>
          </p:nvGrpSpPr>
          <p:grpSpPr bwMode="auto">
            <a:xfrm>
              <a:off x="4032" y="1807"/>
              <a:ext cx="336" cy="406"/>
              <a:chOff x="3504" y="2090"/>
              <a:chExt cx="336" cy="406"/>
            </a:xfrm>
          </p:grpSpPr>
          <p:sp>
            <p:nvSpPr>
              <p:cNvPr id="25633" name="Oval 74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4" name="Text Box 75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5" name="Text Box 76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4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13" name="Group 77"/>
            <p:cNvGrpSpPr>
              <a:grpSpLocks/>
            </p:cNvGrpSpPr>
            <p:nvPr/>
          </p:nvGrpSpPr>
          <p:grpSpPr bwMode="auto">
            <a:xfrm>
              <a:off x="5088" y="1855"/>
              <a:ext cx="336" cy="406"/>
              <a:chOff x="3504" y="2090"/>
              <a:chExt cx="336" cy="406"/>
            </a:xfrm>
          </p:grpSpPr>
          <p:sp>
            <p:nvSpPr>
              <p:cNvPr id="25630" name="Oval 78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1" name="Text Box 79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32" name="Text Box 80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5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14" name="Group 81"/>
            <p:cNvGrpSpPr>
              <a:grpSpLocks/>
            </p:cNvGrpSpPr>
            <p:nvPr/>
          </p:nvGrpSpPr>
          <p:grpSpPr bwMode="auto">
            <a:xfrm>
              <a:off x="4560" y="2383"/>
              <a:ext cx="336" cy="406"/>
              <a:chOff x="3504" y="2090"/>
              <a:chExt cx="336" cy="406"/>
            </a:xfrm>
          </p:grpSpPr>
          <p:sp>
            <p:nvSpPr>
              <p:cNvPr id="25627" name="Oval 82"/>
              <p:cNvSpPr>
                <a:spLocks noChangeArrowheads="1"/>
              </p:cNvSpPr>
              <p:nvPr/>
            </p:nvSpPr>
            <p:spPr bwMode="auto">
              <a:xfrm>
                <a:off x="3504" y="2160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8" name="Text Box 83"/>
              <p:cNvSpPr txBox="1">
                <a:spLocks noChangeArrowheads="1"/>
              </p:cNvSpPr>
              <p:nvPr/>
            </p:nvSpPr>
            <p:spPr bwMode="auto">
              <a:xfrm>
                <a:off x="3542" y="2090"/>
                <a:ext cx="11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9" name="Text Box 84"/>
              <p:cNvSpPr txBox="1">
                <a:spLocks noChangeArrowheads="1"/>
              </p:cNvSpPr>
              <p:nvPr/>
            </p:nvSpPr>
            <p:spPr bwMode="auto">
              <a:xfrm>
                <a:off x="3504" y="216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buSzTx/>
                  <a:buFontTx/>
                  <a:buNone/>
                </a:pPr>
                <a:r>
                  <a:rPr lang="en-US" altLang="en-US" sz="2400" b="0">
                    <a:latin typeface="Times New Roman" panose="02020603050405020304" pitchFamily="18" charset="0"/>
                  </a:rPr>
                  <a:t> v</a:t>
                </a:r>
                <a:r>
                  <a:rPr lang="en-US" altLang="en-US" sz="2400" b="0" baseline="-25000">
                    <a:latin typeface="Times New Roman" panose="02020603050405020304" pitchFamily="18" charset="0"/>
                  </a:rPr>
                  <a:t>7</a:t>
                </a: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15" name="Line 85"/>
            <p:cNvSpPr>
              <a:spLocks noChangeShapeType="1"/>
            </p:cNvSpPr>
            <p:nvPr/>
          </p:nvSpPr>
          <p:spPr bwMode="auto">
            <a:xfrm>
              <a:off x="3792" y="1615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6" name="Line 86"/>
            <p:cNvSpPr>
              <a:spLocks noChangeShapeType="1"/>
            </p:cNvSpPr>
            <p:nvPr/>
          </p:nvSpPr>
          <p:spPr bwMode="auto">
            <a:xfrm flipH="1">
              <a:off x="4896" y="2239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7" name="Line 87"/>
            <p:cNvSpPr>
              <a:spLocks noChangeShapeType="1"/>
            </p:cNvSpPr>
            <p:nvPr/>
          </p:nvSpPr>
          <p:spPr bwMode="auto">
            <a:xfrm>
              <a:off x="4320" y="2191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8" name="Line 88"/>
            <p:cNvSpPr>
              <a:spLocks noChangeShapeType="1"/>
            </p:cNvSpPr>
            <p:nvPr/>
          </p:nvSpPr>
          <p:spPr bwMode="auto">
            <a:xfrm>
              <a:off x="3936" y="2671"/>
              <a:ext cx="62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9" name="Text Box 89"/>
            <p:cNvSpPr txBox="1">
              <a:spLocks noChangeArrowheads="1"/>
            </p:cNvSpPr>
            <p:nvPr/>
          </p:nvSpPr>
          <p:spPr bwMode="auto">
            <a:xfrm>
              <a:off x="4080" y="115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620" name="Text Box 90"/>
            <p:cNvSpPr txBox="1">
              <a:spLocks noChangeArrowheads="1"/>
            </p:cNvSpPr>
            <p:nvPr/>
          </p:nvSpPr>
          <p:spPr bwMode="auto">
            <a:xfrm>
              <a:off x="3888" y="151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21" name="Text Box 91"/>
            <p:cNvSpPr txBox="1">
              <a:spLocks noChangeArrowheads="1"/>
            </p:cNvSpPr>
            <p:nvPr/>
          </p:nvSpPr>
          <p:spPr bwMode="auto">
            <a:xfrm>
              <a:off x="4416" y="209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5622" name="Text Box 92"/>
            <p:cNvSpPr txBox="1">
              <a:spLocks noChangeArrowheads="1"/>
            </p:cNvSpPr>
            <p:nvPr/>
          </p:nvSpPr>
          <p:spPr bwMode="auto">
            <a:xfrm>
              <a:off x="4848" y="214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5623" name="Text Box 93"/>
            <p:cNvSpPr txBox="1">
              <a:spLocks noChangeArrowheads="1"/>
            </p:cNvSpPr>
            <p:nvPr/>
          </p:nvSpPr>
          <p:spPr bwMode="auto">
            <a:xfrm>
              <a:off x="4128" y="238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24" name="Text Box 94"/>
            <p:cNvSpPr txBox="1">
              <a:spLocks noChangeArrowheads="1"/>
            </p:cNvSpPr>
            <p:nvPr/>
          </p:nvSpPr>
          <p:spPr bwMode="auto">
            <a:xfrm>
              <a:off x="3600" y="175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b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625" name="Line 95"/>
            <p:cNvSpPr>
              <a:spLocks noChangeShapeType="1"/>
            </p:cNvSpPr>
            <p:nvPr/>
          </p:nvSpPr>
          <p:spPr bwMode="auto">
            <a:xfrm>
              <a:off x="3840" y="144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26" name="Line 96"/>
            <p:cNvSpPr>
              <a:spLocks noChangeShapeType="1"/>
            </p:cNvSpPr>
            <p:nvPr/>
          </p:nvSpPr>
          <p:spPr bwMode="auto">
            <a:xfrm>
              <a:off x="3408" y="206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5605" name="Text Box 97"/>
          <p:cNvSpPr txBox="1">
            <a:spLocks noChangeArrowheads="1"/>
          </p:cNvSpPr>
          <p:nvPr/>
        </p:nvSpPr>
        <p:spPr bwMode="auto">
          <a:xfrm>
            <a:off x="974725" y="4537075"/>
            <a:ext cx="237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Undirected Graph</a:t>
            </a:r>
          </a:p>
        </p:txBody>
      </p:sp>
      <p:sp>
        <p:nvSpPr>
          <p:cNvPr id="25606" name="Text Box 98"/>
          <p:cNvSpPr txBox="1">
            <a:spLocks noChangeArrowheads="1"/>
          </p:cNvSpPr>
          <p:nvPr/>
        </p:nvSpPr>
        <p:spPr bwMode="auto">
          <a:xfrm>
            <a:off x="5334000" y="4495800"/>
            <a:ext cx="3262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Minimum Spanning Tree</a:t>
            </a:r>
          </a:p>
        </p:txBody>
      </p:sp>
      <p:sp>
        <p:nvSpPr>
          <p:cNvPr id="25607" name="Rectangle 99"/>
          <p:cNvSpPr>
            <a:spLocks noGrp="1" noChangeArrowheads="1"/>
          </p:cNvSpPr>
          <p:nvPr>
            <p:ph type="body" idx="1"/>
          </p:nvPr>
        </p:nvSpPr>
        <p:spPr>
          <a:xfrm>
            <a:off x="685800" y="5310188"/>
            <a:ext cx="7848600" cy="1319212"/>
          </a:xfrm>
          <a:noFill/>
        </p:spPr>
        <p:txBody>
          <a:bodyPr/>
          <a:lstStyle/>
          <a:p>
            <a:r>
              <a:rPr lang="en-US" altLang="en-US" smtClean="0"/>
              <a:t>A graph with n vertices has a minimum spanning tree with n - 1 edges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altLang="en-US" smtClean="0"/>
              <a:t>Minimum Spanning Tree (contd.)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Minimum: Yields the least sum of edges</a:t>
            </a:r>
          </a:p>
          <a:p>
            <a:r>
              <a:rPr lang="en-US" altLang="en-US" smtClean="0"/>
              <a:t>Spanning: Covers all vertices in the graph</a:t>
            </a:r>
          </a:p>
          <a:p>
            <a:r>
              <a:rPr lang="en-US" altLang="en-US" smtClean="0"/>
              <a:t>Tree: Acyclic (has no cycles)</a:t>
            </a:r>
          </a:p>
          <a:p>
            <a:r>
              <a:rPr lang="en-US" altLang="en-US" smtClean="0"/>
              <a:t>Greedy algorithms work for finding the minimum spanning tree of a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Minimum Spanning Tree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Problem: given a connected, undirected, weighted graph, find a </a:t>
            </a:r>
            <a:r>
              <a:rPr lang="en-US" altLang="en-US" i="1" smtClean="0">
                <a:solidFill>
                  <a:schemeClr val="tx2"/>
                </a:solidFill>
                <a:sym typeface="Symbol" panose="05050102010706020507" pitchFamily="18" charset="2"/>
              </a:rPr>
              <a:t>spanning tree</a:t>
            </a:r>
            <a:r>
              <a:rPr lang="en-US" altLang="en-US" smtClean="0">
                <a:sym typeface="Symbol" panose="05050102010706020507" pitchFamily="18" charset="2"/>
              </a:rPr>
              <a:t> using edges that minimize the total weight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1600200" y="3810000"/>
            <a:ext cx="533400" cy="533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4648200" y="3810000"/>
            <a:ext cx="533400" cy="533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315200" y="3810000"/>
            <a:ext cx="533400" cy="533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1600200" y="5410200"/>
            <a:ext cx="533400" cy="533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4648200" y="5410200"/>
            <a:ext cx="533400" cy="533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315200" y="5410200"/>
            <a:ext cx="533400" cy="533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3124200" y="6096000"/>
            <a:ext cx="533400" cy="533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3124200" y="3124200"/>
            <a:ext cx="533400" cy="5334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cxnSp>
        <p:nvCxnSpPr>
          <p:cNvPr id="27660" name="AutoShape 12"/>
          <p:cNvCxnSpPr>
            <a:cxnSpLocks noChangeShapeType="1"/>
            <a:stCxn id="27659" idx="5"/>
            <a:endCxn id="27653" idx="1"/>
          </p:cNvCxnSpPr>
          <p:nvPr/>
        </p:nvCxnSpPr>
        <p:spPr bwMode="auto">
          <a:xfrm>
            <a:off x="3579813" y="35988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3"/>
          <p:cNvCxnSpPr>
            <a:cxnSpLocks noChangeShapeType="1"/>
            <a:stCxn id="27659" idx="3"/>
            <a:endCxn id="27652" idx="7"/>
          </p:cNvCxnSpPr>
          <p:nvPr/>
        </p:nvCxnSpPr>
        <p:spPr bwMode="auto">
          <a:xfrm flipH="1">
            <a:off x="2055813" y="35988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4"/>
          <p:cNvCxnSpPr>
            <a:cxnSpLocks noChangeShapeType="1"/>
            <a:stCxn id="27652" idx="6"/>
            <a:endCxn id="27653" idx="2"/>
          </p:cNvCxnSpPr>
          <p:nvPr/>
        </p:nvCxnSpPr>
        <p:spPr bwMode="auto">
          <a:xfrm>
            <a:off x="2152650" y="4076700"/>
            <a:ext cx="24765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5"/>
          <p:cNvCxnSpPr>
            <a:cxnSpLocks noChangeShapeType="1"/>
            <a:stCxn id="27655" idx="0"/>
            <a:endCxn id="27652" idx="4"/>
          </p:cNvCxnSpPr>
          <p:nvPr/>
        </p:nvCxnSpPr>
        <p:spPr bwMode="auto">
          <a:xfrm flipV="1">
            <a:off x="1866900" y="4362450"/>
            <a:ext cx="0" cy="1028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4" name="AutoShape 16"/>
          <p:cNvCxnSpPr>
            <a:cxnSpLocks noChangeShapeType="1"/>
            <a:stCxn id="27655" idx="5"/>
            <a:endCxn id="27658" idx="1"/>
          </p:cNvCxnSpPr>
          <p:nvPr/>
        </p:nvCxnSpPr>
        <p:spPr bwMode="auto">
          <a:xfrm>
            <a:off x="2055813" y="58848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5" name="AutoShape 17"/>
          <p:cNvCxnSpPr>
            <a:cxnSpLocks noChangeShapeType="1"/>
            <a:stCxn id="27658" idx="7"/>
            <a:endCxn id="27656" idx="3"/>
          </p:cNvCxnSpPr>
          <p:nvPr/>
        </p:nvCxnSpPr>
        <p:spPr bwMode="auto">
          <a:xfrm flipV="1">
            <a:off x="3579813" y="58848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6" name="AutoShape 18"/>
          <p:cNvCxnSpPr>
            <a:cxnSpLocks noChangeShapeType="1"/>
            <a:stCxn id="27656" idx="0"/>
            <a:endCxn id="27653" idx="4"/>
          </p:cNvCxnSpPr>
          <p:nvPr/>
        </p:nvCxnSpPr>
        <p:spPr bwMode="auto">
          <a:xfrm flipV="1">
            <a:off x="4914900" y="4362450"/>
            <a:ext cx="0" cy="1028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7" name="AutoShape 19"/>
          <p:cNvCxnSpPr>
            <a:cxnSpLocks noChangeShapeType="1"/>
            <a:stCxn id="27653" idx="6"/>
            <a:endCxn id="27654" idx="2"/>
          </p:cNvCxnSpPr>
          <p:nvPr/>
        </p:nvCxnSpPr>
        <p:spPr bwMode="auto">
          <a:xfrm>
            <a:off x="5200650" y="4076700"/>
            <a:ext cx="20955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8" name="AutoShape 20"/>
          <p:cNvCxnSpPr>
            <a:cxnSpLocks noChangeShapeType="1"/>
            <a:stCxn id="27656" idx="6"/>
            <a:endCxn id="27657" idx="2"/>
          </p:cNvCxnSpPr>
          <p:nvPr/>
        </p:nvCxnSpPr>
        <p:spPr bwMode="auto">
          <a:xfrm>
            <a:off x="5200650" y="5676900"/>
            <a:ext cx="20955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9" name="AutoShape 21"/>
          <p:cNvCxnSpPr>
            <a:cxnSpLocks noChangeShapeType="1"/>
            <a:stCxn id="27658" idx="0"/>
            <a:endCxn id="27652" idx="5"/>
          </p:cNvCxnSpPr>
          <p:nvPr/>
        </p:nvCxnSpPr>
        <p:spPr bwMode="auto">
          <a:xfrm rot="5400000" flipH="1">
            <a:off x="1827213" y="4513263"/>
            <a:ext cx="1792287" cy="1335087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1466850" y="45862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7671" name="Text Box 23"/>
          <p:cNvSpPr txBox="1">
            <a:spLocks noChangeArrowheads="1"/>
          </p:cNvSpPr>
          <p:nvPr/>
        </p:nvSpPr>
        <p:spPr bwMode="auto">
          <a:xfrm>
            <a:off x="2762250" y="48768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2438400" y="5943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673" name="Text Box 25"/>
          <p:cNvSpPr txBox="1">
            <a:spLocks noChangeArrowheads="1"/>
          </p:cNvSpPr>
          <p:nvPr/>
        </p:nvSpPr>
        <p:spPr bwMode="auto">
          <a:xfrm>
            <a:off x="2438400" y="3352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7674" name="Text Box 26"/>
          <p:cNvSpPr txBox="1">
            <a:spLocks noChangeArrowheads="1"/>
          </p:cNvSpPr>
          <p:nvPr/>
        </p:nvSpPr>
        <p:spPr bwMode="auto">
          <a:xfrm>
            <a:off x="4108450" y="3352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675" name="Text Box 27"/>
          <p:cNvSpPr txBox="1">
            <a:spLocks noChangeArrowheads="1"/>
          </p:cNvSpPr>
          <p:nvPr/>
        </p:nvSpPr>
        <p:spPr bwMode="auto">
          <a:xfrm>
            <a:off x="3200400" y="37242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676" name="Text Box 28"/>
          <p:cNvSpPr txBox="1">
            <a:spLocks noChangeArrowheads="1"/>
          </p:cNvSpPr>
          <p:nvPr/>
        </p:nvSpPr>
        <p:spPr bwMode="auto">
          <a:xfrm>
            <a:off x="4946650" y="46323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677" name="Text Box 29"/>
          <p:cNvSpPr txBox="1">
            <a:spLocks noChangeArrowheads="1"/>
          </p:cNvSpPr>
          <p:nvPr/>
        </p:nvSpPr>
        <p:spPr bwMode="auto">
          <a:xfrm>
            <a:off x="6089650" y="3733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7678" name="Text Box 30"/>
          <p:cNvSpPr txBox="1">
            <a:spLocks noChangeArrowheads="1"/>
          </p:cNvSpPr>
          <p:nvPr/>
        </p:nvSpPr>
        <p:spPr bwMode="auto">
          <a:xfrm>
            <a:off x="6032500" y="53181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7679" name="Text Box 31"/>
          <p:cNvSpPr txBox="1">
            <a:spLocks noChangeArrowheads="1"/>
          </p:cNvSpPr>
          <p:nvPr/>
        </p:nvSpPr>
        <p:spPr bwMode="auto">
          <a:xfrm>
            <a:off x="4025900" y="5969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Minimum Spanning Tree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i="1" smtClean="0">
                <a:solidFill>
                  <a:schemeClr val="accent1"/>
                </a:solidFill>
                <a:sym typeface="Symbol" panose="05050102010706020507" pitchFamily="18" charset="2"/>
              </a:rPr>
              <a:t>Which edges form the minimum spanning tree (MST) of the following graph?</a:t>
            </a: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1600200" y="38100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4648200" y="38100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7315200" y="38100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1600200" y="5410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4648200" y="5410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8681" name="Oval 9"/>
          <p:cNvSpPr>
            <a:spLocks noChangeArrowheads="1"/>
          </p:cNvSpPr>
          <p:nvPr/>
        </p:nvSpPr>
        <p:spPr bwMode="auto">
          <a:xfrm>
            <a:off x="7315200" y="5410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3124200" y="60960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8683" name="Oval 11"/>
          <p:cNvSpPr>
            <a:spLocks noChangeArrowheads="1"/>
          </p:cNvSpPr>
          <p:nvPr/>
        </p:nvSpPr>
        <p:spPr bwMode="auto">
          <a:xfrm>
            <a:off x="3124200" y="3124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28684" name="AutoShape 12"/>
          <p:cNvCxnSpPr>
            <a:cxnSpLocks noChangeShapeType="1"/>
            <a:stCxn id="28683" idx="5"/>
            <a:endCxn id="28677" idx="1"/>
          </p:cNvCxnSpPr>
          <p:nvPr/>
        </p:nvCxnSpPr>
        <p:spPr bwMode="auto">
          <a:xfrm>
            <a:off x="3579813" y="35988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5" name="AutoShape 13"/>
          <p:cNvCxnSpPr>
            <a:cxnSpLocks noChangeShapeType="1"/>
            <a:stCxn id="28683" idx="3"/>
            <a:endCxn id="28676" idx="7"/>
          </p:cNvCxnSpPr>
          <p:nvPr/>
        </p:nvCxnSpPr>
        <p:spPr bwMode="auto">
          <a:xfrm flipH="1">
            <a:off x="2055813" y="35988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6" name="AutoShape 14"/>
          <p:cNvCxnSpPr>
            <a:cxnSpLocks noChangeShapeType="1"/>
            <a:stCxn id="28676" idx="6"/>
            <a:endCxn id="28677" idx="2"/>
          </p:cNvCxnSpPr>
          <p:nvPr/>
        </p:nvCxnSpPr>
        <p:spPr bwMode="auto">
          <a:xfrm>
            <a:off x="2152650" y="4076700"/>
            <a:ext cx="24765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7" name="AutoShape 15"/>
          <p:cNvCxnSpPr>
            <a:cxnSpLocks noChangeShapeType="1"/>
            <a:stCxn id="28679" idx="0"/>
            <a:endCxn id="28676" idx="4"/>
          </p:cNvCxnSpPr>
          <p:nvPr/>
        </p:nvCxnSpPr>
        <p:spPr bwMode="auto">
          <a:xfrm flipV="1">
            <a:off x="1866900" y="4362450"/>
            <a:ext cx="0" cy="1028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AutoShape 16"/>
          <p:cNvCxnSpPr>
            <a:cxnSpLocks noChangeShapeType="1"/>
            <a:stCxn id="28679" idx="5"/>
            <a:endCxn id="28682" idx="1"/>
          </p:cNvCxnSpPr>
          <p:nvPr/>
        </p:nvCxnSpPr>
        <p:spPr bwMode="auto">
          <a:xfrm>
            <a:off x="2055813" y="58848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9" name="AutoShape 17"/>
          <p:cNvCxnSpPr>
            <a:cxnSpLocks noChangeShapeType="1"/>
            <a:stCxn id="28682" idx="7"/>
            <a:endCxn id="28680" idx="3"/>
          </p:cNvCxnSpPr>
          <p:nvPr/>
        </p:nvCxnSpPr>
        <p:spPr bwMode="auto">
          <a:xfrm flipV="1">
            <a:off x="3579813" y="58848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18"/>
          <p:cNvCxnSpPr>
            <a:cxnSpLocks noChangeShapeType="1"/>
            <a:stCxn id="28680" idx="0"/>
            <a:endCxn id="28677" idx="4"/>
          </p:cNvCxnSpPr>
          <p:nvPr/>
        </p:nvCxnSpPr>
        <p:spPr bwMode="auto">
          <a:xfrm flipV="1">
            <a:off x="4914900" y="4362450"/>
            <a:ext cx="0" cy="1028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19"/>
          <p:cNvCxnSpPr>
            <a:cxnSpLocks noChangeShapeType="1"/>
            <a:stCxn id="28677" idx="6"/>
            <a:endCxn id="28678" idx="2"/>
          </p:cNvCxnSpPr>
          <p:nvPr/>
        </p:nvCxnSpPr>
        <p:spPr bwMode="auto">
          <a:xfrm>
            <a:off x="5200650" y="4076700"/>
            <a:ext cx="20955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0"/>
          <p:cNvCxnSpPr>
            <a:cxnSpLocks noChangeShapeType="1"/>
            <a:stCxn id="28680" idx="6"/>
            <a:endCxn id="28681" idx="2"/>
          </p:cNvCxnSpPr>
          <p:nvPr/>
        </p:nvCxnSpPr>
        <p:spPr bwMode="auto">
          <a:xfrm>
            <a:off x="5200650" y="5676900"/>
            <a:ext cx="20955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3" name="AutoShape 21"/>
          <p:cNvCxnSpPr>
            <a:cxnSpLocks noChangeShapeType="1"/>
            <a:stCxn id="28682" idx="0"/>
            <a:endCxn id="28676" idx="5"/>
          </p:cNvCxnSpPr>
          <p:nvPr/>
        </p:nvCxnSpPr>
        <p:spPr bwMode="auto">
          <a:xfrm rot="5400000" flipH="1">
            <a:off x="1827213" y="4513263"/>
            <a:ext cx="1792287" cy="1335087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1466850" y="45862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8695" name="Text Box 23"/>
          <p:cNvSpPr txBox="1">
            <a:spLocks noChangeArrowheads="1"/>
          </p:cNvSpPr>
          <p:nvPr/>
        </p:nvSpPr>
        <p:spPr bwMode="auto">
          <a:xfrm>
            <a:off x="2762250" y="48768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2438400" y="5943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697" name="Text Box 25"/>
          <p:cNvSpPr txBox="1">
            <a:spLocks noChangeArrowheads="1"/>
          </p:cNvSpPr>
          <p:nvPr/>
        </p:nvSpPr>
        <p:spPr bwMode="auto">
          <a:xfrm>
            <a:off x="2438400" y="3352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4108450" y="3352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>
            <a:off x="3200400" y="37242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4946650" y="46323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701" name="Text Box 29"/>
          <p:cNvSpPr txBox="1">
            <a:spLocks noChangeArrowheads="1"/>
          </p:cNvSpPr>
          <p:nvPr/>
        </p:nvSpPr>
        <p:spPr bwMode="auto">
          <a:xfrm>
            <a:off x="6089650" y="3733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8702" name="Text Box 30"/>
          <p:cNvSpPr txBox="1">
            <a:spLocks noChangeArrowheads="1"/>
          </p:cNvSpPr>
          <p:nvPr/>
        </p:nvSpPr>
        <p:spPr bwMode="auto">
          <a:xfrm>
            <a:off x="6032500" y="53181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8703" name="Text Box 31"/>
          <p:cNvSpPr txBox="1">
            <a:spLocks noChangeArrowheads="1"/>
          </p:cNvSpPr>
          <p:nvPr/>
        </p:nvSpPr>
        <p:spPr bwMode="auto">
          <a:xfrm>
            <a:off x="4025900" y="5969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Minimum Spanning Tree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>
                <a:sym typeface="Symbol" panose="05050102010706020507" pitchFamily="18" charset="2"/>
              </a:rPr>
              <a:t>Answer:</a:t>
            </a: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1600200" y="38100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29701" name="Oval 5"/>
          <p:cNvSpPr>
            <a:spLocks noChangeArrowheads="1"/>
          </p:cNvSpPr>
          <p:nvPr/>
        </p:nvSpPr>
        <p:spPr bwMode="auto">
          <a:xfrm>
            <a:off x="4648200" y="38100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7315200" y="38100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9703" name="Oval 7"/>
          <p:cNvSpPr>
            <a:spLocks noChangeArrowheads="1"/>
          </p:cNvSpPr>
          <p:nvPr/>
        </p:nvSpPr>
        <p:spPr bwMode="auto">
          <a:xfrm>
            <a:off x="1600200" y="5410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9704" name="Oval 8"/>
          <p:cNvSpPr>
            <a:spLocks noChangeArrowheads="1"/>
          </p:cNvSpPr>
          <p:nvPr/>
        </p:nvSpPr>
        <p:spPr bwMode="auto">
          <a:xfrm>
            <a:off x="4648200" y="5410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9705" name="Oval 9"/>
          <p:cNvSpPr>
            <a:spLocks noChangeArrowheads="1"/>
          </p:cNvSpPr>
          <p:nvPr/>
        </p:nvSpPr>
        <p:spPr bwMode="auto">
          <a:xfrm>
            <a:off x="7315200" y="5410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9706" name="Oval 10"/>
          <p:cNvSpPr>
            <a:spLocks noChangeArrowheads="1"/>
          </p:cNvSpPr>
          <p:nvPr/>
        </p:nvSpPr>
        <p:spPr bwMode="auto">
          <a:xfrm>
            <a:off x="3124200" y="60960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9707" name="Oval 11"/>
          <p:cNvSpPr>
            <a:spLocks noChangeArrowheads="1"/>
          </p:cNvSpPr>
          <p:nvPr/>
        </p:nvSpPr>
        <p:spPr bwMode="auto">
          <a:xfrm>
            <a:off x="3124200" y="3124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29708" name="AutoShape 12"/>
          <p:cNvCxnSpPr>
            <a:cxnSpLocks noChangeShapeType="1"/>
            <a:stCxn id="29707" idx="5"/>
            <a:endCxn id="29701" idx="1"/>
          </p:cNvCxnSpPr>
          <p:nvPr/>
        </p:nvCxnSpPr>
        <p:spPr bwMode="auto">
          <a:xfrm>
            <a:off x="3579813" y="3598863"/>
            <a:ext cx="1146175" cy="269875"/>
          </a:xfrm>
          <a:prstGeom prst="straightConnector1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AutoShape 13"/>
          <p:cNvCxnSpPr>
            <a:cxnSpLocks noChangeShapeType="1"/>
            <a:stCxn id="29707" idx="3"/>
            <a:endCxn id="29700" idx="7"/>
          </p:cNvCxnSpPr>
          <p:nvPr/>
        </p:nvCxnSpPr>
        <p:spPr bwMode="auto">
          <a:xfrm flipH="1">
            <a:off x="2055813" y="35988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0" name="AutoShape 14"/>
          <p:cNvCxnSpPr>
            <a:cxnSpLocks noChangeShapeType="1"/>
            <a:stCxn id="29700" idx="6"/>
            <a:endCxn id="29701" idx="2"/>
          </p:cNvCxnSpPr>
          <p:nvPr/>
        </p:nvCxnSpPr>
        <p:spPr bwMode="auto">
          <a:xfrm>
            <a:off x="2152650" y="4076700"/>
            <a:ext cx="2476500" cy="0"/>
          </a:xfrm>
          <a:prstGeom prst="straightConnector1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1" name="AutoShape 15"/>
          <p:cNvCxnSpPr>
            <a:cxnSpLocks noChangeShapeType="1"/>
            <a:stCxn id="29703" idx="0"/>
            <a:endCxn id="29700" idx="4"/>
          </p:cNvCxnSpPr>
          <p:nvPr/>
        </p:nvCxnSpPr>
        <p:spPr bwMode="auto">
          <a:xfrm flipV="1">
            <a:off x="1866900" y="4362450"/>
            <a:ext cx="0" cy="1028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AutoShape 16"/>
          <p:cNvCxnSpPr>
            <a:cxnSpLocks noChangeShapeType="1"/>
            <a:stCxn id="29703" idx="5"/>
            <a:endCxn id="29706" idx="1"/>
          </p:cNvCxnSpPr>
          <p:nvPr/>
        </p:nvCxnSpPr>
        <p:spPr bwMode="auto">
          <a:xfrm>
            <a:off x="2055813" y="5884863"/>
            <a:ext cx="1146175" cy="269875"/>
          </a:xfrm>
          <a:prstGeom prst="straightConnector1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3" name="AutoShape 17"/>
          <p:cNvCxnSpPr>
            <a:cxnSpLocks noChangeShapeType="1"/>
            <a:stCxn id="29706" idx="7"/>
            <a:endCxn id="29704" idx="3"/>
          </p:cNvCxnSpPr>
          <p:nvPr/>
        </p:nvCxnSpPr>
        <p:spPr bwMode="auto">
          <a:xfrm flipV="1">
            <a:off x="3579813" y="5884863"/>
            <a:ext cx="1146175" cy="269875"/>
          </a:xfrm>
          <a:prstGeom prst="straightConnector1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4" name="AutoShape 18"/>
          <p:cNvCxnSpPr>
            <a:cxnSpLocks noChangeShapeType="1"/>
            <a:stCxn id="29704" idx="0"/>
            <a:endCxn id="29701" idx="4"/>
          </p:cNvCxnSpPr>
          <p:nvPr/>
        </p:nvCxnSpPr>
        <p:spPr bwMode="auto">
          <a:xfrm flipV="1">
            <a:off x="4914900" y="4362450"/>
            <a:ext cx="0" cy="1028700"/>
          </a:xfrm>
          <a:prstGeom prst="straightConnector1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5" name="AutoShape 19"/>
          <p:cNvCxnSpPr>
            <a:cxnSpLocks noChangeShapeType="1"/>
            <a:stCxn id="29701" idx="6"/>
            <a:endCxn id="29702" idx="2"/>
          </p:cNvCxnSpPr>
          <p:nvPr/>
        </p:nvCxnSpPr>
        <p:spPr bwMode="auto">
          <a:xfrm>
            <a:off x="5200650" y="4076700"/>
            <a:ext cx="2095500" cy="0"/>
          </a:xfrm>
          <a:prstGeom prst="straightConnector1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6" name="AutoShape 20"/>
          <p:cNvCxnSpPr>
            <a:cxnSpLocks noChangeShapeType="1"/>
            <a:stCxn id="29704" idx="6"/>
            <a:endCxn id="29705" idx="2"/>
          </p:cNvCxnSpPr>
          <p:nvPr/>
        </p:nvCxnSpPr>
        <p:spPr bwMode="auto">
          <a:xfrm>
            <a:off x="5200650" y="5676900"/>
            <a:ext cx="2095500" cy="0"/>
          </a:xfrm>
          <a:prstGeom prst="straightConnector1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7" name="AutoShape 21"/>
          <p:cNvCxnSpPr>
            <a:cxnSpLocks noChangeShapeType="1"/>
            <a:stCxn id="29706" idx="0"/>
            <a:endCxn id="29700" idx="5"/>
          </p:cNvCxnSpPr>
          <p:nvPr/>
        </p:nvCxnSpPr>
        <p:spPr bwMode="auto">
          <a:xfrm rot="5400000" flipH="1">
            <a:off x="1827213" y="4513263"/>
            <a:ext cx="1792287" cy="1335087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1466850" y="45862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2762250" y="48768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9720" name="Text Box 24"/>
          <p:cNvSpPr txBox="1">
            <a:spLocks noChangeArrowheads="1"/>
          </p:cNvSpPr>
          <p:nvPr/>
        </p:nvSpPr>
        <p:spPr bwMode="auto">
          <a:xfrm>
            <a:off x="2438400" y="5943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2438400" y="3352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9722" name="Text Box 26"/>
          <p:cNvSpPr txBox="1">
            <a:spLocks noChangeArrowheads="1"/>
          </p:cNvSpPr>
          <p:nvPr/>
        </p:nvSpPr>
        <p:spPr bwMode="auto">
          <a:xfrm>
            <a:off x="4108450" y="3352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23" name="Text Box 27"/>
          <p:cNvSpPr txBox="1">
            <a:spLocks noChangeArrowheads="1"/>
          </p:cNvSpPr>
          <p:nvPr/>
        </p:nvSpPr>
        <p:spPr bwMode="auto">
          <a:xfrm>
            <a:off x="3200400" y="37242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>
            <a:off x="4946650" y="46323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6089650" y="3733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9726" name="Text Box 30"/>
          <p:cNvSpPr txBox="1">
            <a:spLocks noChangeArrowheads="1"/>
          </p:cNvSpPr>
          <p:nvPr/>
        </p:nvSpPr>
        <p:spPr bwMode="auto">
          <a:xfrm>
            <a:off x="6032500" y="53181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9727" name="Text Box 31"/>
          <p:cNvSpPr txBox="1">
            <a:spLocks noChangeArrowheads="1"/>
          </p:cNvSpPr>
          <p:nvPr/>
        </p:nvSpPr>
        <p:spPr bwMode="auto">
          <a:xfrm>
            <a:off x="4025900" y="5969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  <a:p>
            <a:pPr>
              <a:buFontTx/>
              <a:buNone/>
            </a:pPr>
            <a:endParaRPr lang="en-US" altLang="en-US" sz="1800" b="0" smtClean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6934200" cy="5486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4195763" y="15589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6380163" y="15589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8289925" y="15589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1751" name="Oval 7"/>
          <p:cNvSpPr>
            <a:spLocks noChangeArrowheads="1"/>
          </p:cNvSpPr>
          <p:nvPr/>
        </p:nvSpPr>
        <p:spPr bwMode="auto">
          <a:xfrm>
            <a:off x="4195763" y="2705100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6380163" y="2705100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1753" name="Oval 9"/>
          <p:cNvSpPr>
            <a:spLocks noChangeArrowheads="1"/>
          </p:cNvSpPr>
          <p:nvPr/>
        </p:nvSpPr>
        <p:spPr bwMode="auto">
          <a:xfrm>
            <a:off x="8289925" y="27051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1754" name="Oval 10"/>
          <p:cNvSpPr>
            <a:spLocks noChangeArrowheads="1"/>
          </p:cNvSpPr>
          <p:nvPr/>
        </p:nvSpPr>
        <p:spPr bwMode="auto">
          <a:xfrm>
            <a:off x="5287963" y="3195638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1755" name="Oval 11"/>
          <p:cNvSpPr>
            <a:spLocks noChangeArrowheads="1"/>
          </p:cNvSpPr>
          <p:nvPr/>
        </p:nvSpPr>
        <p:spPr bwMode="auto">
          <a:xfrm>
            <a:off x="5287963" y="10668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b="0">
              <a:latin typeface="Times New Roman" panose="02020603050405020304" pitchFamily="18" charset="0"/>
            </a:endParaRPr>
          </a:p>
        </p:txBody>
      </p:sp>
      <p:cxnSp>
        <p:nvCxnSpPr>
          <p:cNvPr id="31756" name="AutoShape 12"/>
          <p:cNvCxnSpPr>
            <a:cxnSpLocks noChangeShapeType="1"/>
            <a:stCxn id="31755" idx="5"/>
            <a:endCxn id="31749" idx="1"/>
          </p:cNvCxnSpPr>
          <p:nvPr/>
        </p:nvCxnSpPr>
        <p:spPr bwMode="auto">
          <a:xfrm>
            <a:off x="5613400" y="14065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7" name="AutoShape 13"/>
          <p:cNvCxnSpPr>
            <a:cxnSpLocks noChangeShapeType="1"/>
            <a:stCxn id="31755" idx="3"/>
            <a:endCxn id="31748" idx="7"/>
          </p:cNvCxnSpPr>
          <p:nvPr/>
        </p:nvCxnSpPr>
        <p:spPr bwMode="auto">
          <a:xfrm flipH="1">
            <a:off x="4522788" y="14065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8" name="AutoShape 14"/>
          <p:cNvCxnSpPr>
            <a:cxnSpLocks noChangeShapeType="1"/>
            <a:stCxn id="31748" idx="6"/>
            <a:endCxn id="31749" idx="2"/>
          </p:cNvCxnSpPr>
          <p:nvPr/>
        </p:nvCxnSpPr>
        <p:spPr bwMode="auto">
          <a:xfrm>
            <a:off x="4591050" y="17494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9" name="AutoShape 15"/>
          <p:cNvCxnSpPr>
            <a:cxnSpLocks noChangeShapeType="1"/>
            <a:stCxn id="31751" idx="0"/>
            <a:endCxn id="31748" idx="4"/>
          </p:cNvCxnSpPr>
          <p:nvPr/>
        </p:nvCxnSpPr>
        <p:spPr bwMode="auto">
          <a:xfrm flipV="1">
            <a:off x="4386263" y="19542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0" name="AutoShape 16"/>
          <p:cNvCxnSpPr>
            <a:cxnSpLocks noChangeShapeType="1"/>
            <a:stCxn id="31751" idx="5"/>
            <a:endCxn id="31754" idx="1"/>
          </p:cNvCxnSpPr>
          <p:nvPr/>
        </p:nvCxnSpPr>
        <p:spPr bwMode="auto">
          <a:xfrm>
            <a:off x="4522788" y="30448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1" name="AutoShape 17"/>
          <p:cNvCxnSpPr>
            <a:cxnSpLocks noChangeShapeType="1"/>
            <a:stCxn id="31754" idx="7"/>
            <a:endCxn id="31752" idx="3"/>
          </p:cNvCxnSpPr>
          <p:nvPr/>
        </p:nvCxnSpPr>
        <p:spPr bwMode="auto">
          <a:xfrm flipV="1">
            <a:off x="5613400" y="30448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2" name="AutoShape 18"/>
          <p:cNvCxnSpPr>
            <a:cxnSpLocks noChangeShapeType="1"/>
            <a:stCxn id="31752" idx="0"/>
            <a:endCxn id="31749" idx="4"/>
          </p:cNvCxnSpPr>
          <p:nvPr/>
        </p:nvCxnSpPr>
        <p:spPr bwMode="auto">
          <a:xfrm flipV="1">
            <a:off x="6570663" y="19542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3" name="AutoShape 19"/>
          <p:cNvCxnSpPr>
            <a:cxnSpLocks noChangeShapeType="1"/>
            <a:stCxn id="31749" idx="6"/>
            <a:endCxn id="31750" idx="2"/>
          </p:cNvCxnSpPr>
          <p:nvPr/>
        </p:nvCxnSpPr>
        <p:spPr bwMode="auto">
          <a:xfrm>
            <a:off x="6775450" y="17494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4" name="AutoShape 20"/>
          <p:cNvCxnSpPr>
            <a:cxnSpLocks noChangeShapeType="1"/>
            <a:stCxn id="31752" idx="6"/>
            <a:endCxn id="31753" idx="2"/>
          </p:cNvCxnSpPr>
          <p:nvPr/>
        </p:nvCxnSpPr>
        <p:spPr bwMode="auto">
          <a:xfrm>
            <a:off x="6775450" y="28956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5" name="AutoShape 21"/>
          <p:cNvCxnSpPr>
            <a:cxnSpLocks noChangeShapeType="1"/>
            <a:stCxn id="31754" idx="0"/>
            <a:endCxn id="31748" idx="5"/>
          </p:cNvCxnSpPr>
          <p:nvPr/>
        </p:nvCxnSpPr>
        <p:spPr bwMode="auto">
          <a:xfrm rot="5400000" flipH="1">
            <a:off x="4358482" y="20629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6" name="Text Box 22"/>
          <p:cNvSpPr txBox="1">
            <a:spLocks noChangeArrowheads="1"/>
          </p:cNvSpPr>
          <p:nvPr/>
        </p:nvSpPr>
        <p:spPr bwMode="auto">
          <a:xfrm>
            <a:off x="3962400" y="21383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1767" name="Text Box 23"/>
          <p:cNvSpPr txBox="1">
            <a:spLocks noChangeArrowheads="1"/>
          </p:cNvSpPr>
          <p:nvPr/>
        </p:nvSpPr>
        <p:spPr bwMode="auto">
          <a:xfrm>
            <a:off x="4979988" y="22860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1768" name="Text Box 24"/>
          <p:cNvSpPr txBox="1">
            <a:spLocks noChangeArrowheads="1"/>
          </p:cNvSpPr>
          <p:nvPr/>
        </p:nvSpPr>
        <p:spPr bwMode="auto">
          <a:xfrm>
            <a:off x="4759325" y="31099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769" name="Text Box 25"/>
          <p:cNvSpPr txBox="1">
            <a:spLocks noChangeArrowheads="1"/>
          </p:cNvSpPr>
          <p:nvPr/>
        </p:nvSpPr>
        <p:spPr bwMode="auto">
          <a:xfrm>
            <a:off x="4759325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1770" name="Text Box 26"/>
          <p:cNvSpPr txBox="1">
            <a:spLocks noChangeArrowheads="1"/>
          </p:cNvSpPr>
          <p:nvPr/>
        </p:nvSpPr>
        <p:spPr bwMode="auto">
          <a:xfrm>
            <a:off x="5956300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1771" name="Text Box 27"/>
          <p:cNvSpPr txBox="1">
            <a:spLocks noChangeArrowheads="1"/>
          </p:cNvSpPr>
          <p:nvPr/>
        </p:nvSpPr>
        <p:spPr bwMode="auto">
          <a:xfrm>
            <a:off x="5305425" y="1447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1772" name="Text Box 28"/>
          <p:cNvSpPr txBox="1">
            <a:spLocks noChangeArrowheads="1"/>
          </p:cNvSpPr>
          <p:nvPr/>
        </p:nvSpPr>
        <p:spPr bwMode="auto">
          <a:xfrm>
            <a:off x="6556375" y="21717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73" name="Text Box 29"/>
          <p:cNvSpPr txBox="1">
            <a:spLocks noChangeArrowheads="1"/>
          </p:cNvSpPr>
          <p:nvPr/>
        </p:nvSpPr>
        <p:spPr bwMode="auto">
          <a:xfrm>
            <a:off x="7375525" y="1371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1774" name="Text Box 30"/>
          <p:cNvSpPr txBox="1">
            <a:spLocks noChangeArrowheads="1"/>
          </p:cNvSpPr>
          <p:nvPr/>
        </p:nvSpPr>
        <p:spPr bwMode="auto">
          <a:xfrm>
            <a:off x="7321550" y="25066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1775" name="Text Box 31"/>
          <p:cNvSpPr txBox="1">
            <a:spLocks noChangeArrowheads="1"/>
          </p:cNvSpPr>
          <p:nvPr/>
        </p:nvSpPr>
        <p:spPr bwMode="auto">
          <a:xfrm>
            <a:off x="5895975" y="31289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1776" name="Text Box 32"/>
          <p:cNvSpPr txBox="1">
            <a:spLocks noChangeArrowheads="1"/>
          </p:cNvSpPr>
          <p:nvPr/>
        </p:nvSpPr>
        <p:spPr bwMode="auto">
          <a:xfrm>
            <a:off x="5037138" y="3595688"/>
            <a:ext cx="2589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solidFill>
                  <a:schemeClr val="accent1"/>
                </a:solidFill>
                <a:latin typeface="Times New Roman" panose="02020603050405020304" pitchFamily="18" charset="0"/>
              </a:rPr>
              <a:t>Run on example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4195763" y="16351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6380163" y="16351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8289925" y="16351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4195763" y="2781300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6380163" y="2781300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8289925" y="27813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5287963" y="3271838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2779" name="Oval 11"/>
          <p:cNvSpPr>
            <a:spLocks noChangeArrowheads="1"/>
          </p:cNvSpPr>
          <p:nvPr/>
        </p:nvSpPr>
        <p:spPr bwMode="auto">
          <a:xfrm>
            <a:off x="5287963" y="11430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2780" name="AutoShape 12"/>
          <p:cNvCxnSpPr>
            <a:cxnSpLocks noChangeShapeType="1"/>
            <a:stCxn id="32779" idx="5"/>
            <a:endCxn id="32773" idx="1"/>
          </p:cNvCxnSpPr>
          <p:nvPr/>
        </p:nvCxnSpPr>
        <p:spPr bwMode="auto">
          <a:xfrm>
            <a:off x="5613400" y="14827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1" name="AutoShape 13"/>
          <p:cNvCxnSpPr>
            <a:cxnSpLocks noChangeShapeType="1"/>
            <a:stCxn id="32779" idx="3"/>
            <a:endCxn id="32772" idx="7"/>
          </p:cNvCxnSpPr>
          <p:nvPr/>
        </p:nvCxnSpPr>
        <p:spPr bwMode="auto">
          <a:xfrm flipH="1">
            <a:off x="4522788" y="14827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2" name="AutoShape 14"/>
          <p:cNvCxnSpPr>
            <a:cxnSpLocks noChangeShapeType="1"/>
            <a:stCxn id="32772" idx="6"/>
            <a:endCxn id="32773" idx="2"/>
          </p:cNvCxnSpPr>
          <p:nvPr/>
        </p:nvCxnSpPr>
        <p:spPr bwMode="auto">
          <a:xfrm>
            <a:off x="4591050" y="18256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3" name="AutoShape 15"/>
          <p:cNvCxnSpPr>
            <a:cxnSpLocks noChangeShapeType="1"/>
            <a:stCxn id="32775" idx="0"/>
            <a:endCxn id="32772" idx="4"/>
          </p:cNvCxnSpPr>
          <p:nvPr/>
        </p:nvCxnSpPr>
        <p:spPr bwMode="auto">
          <a:xfrm flipV="1">
            <a:off x="4386263" y="20304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4" name="AutoShape 16"/>
          <p:cNvCxnSpPr>
            <a:cxnSpLocks noChangeShapeType="1"/>
            <a:stCxn id="32775" idx="5"/>
            <a:endCxn id="32778" idx="1"/>
          </p:cNvCxnSpPr>
          <p:nvPr/>
        </p:nvCxnSpPr>
        <p:spPr bwMode="auto">
          <a:xfrm>
            <a:off x="4522788" y="31210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5" name="AutoShape 17"/>
          <p:cNvCxnSpPr>
            <a:cxnSpLocks noChangeShapeType="1"/>
            <a:stCxn id="32778" idx="7"/>
            <a:endCxn id="32776" idx="3"/>
          </p:cNvCxnSpPr>
          <p:nvPr/>
        </p:nvCxnSpPr>
        <p:spPr bwMode="auto">
          <a:xfrm flipV="1">
            <a:off x="5613400" y="31210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6" name="AutoShape 18"/>
          <p:cNvCxnSpPr>
            <a:cxnSpLocks noChangeShapeType="1"/>
            <a:stCxn id="32776" idx="0"/>
            <a:endCxn id="32773" idx="4"/>
          </p:cNvCxnSpPr>
          <p:nvPr/>
        </p:nvCxnSpPr>
        <p:spPr bwMode="auto">
          <a:xfrm flipV="1">
            <a:off x="6570663" y="20304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7" name="AutoShape 19"/>
          <p:cNvCxnSpPr>
            <a:cxnSpLocks noChangeShapeType="1"/>
            <a:stCxn id="32773" idx="6"/>
            <a:endCxn id="32774" idx="2"/>
          </p:cNvCxnSpPr>
          <p:nvPr/>
        </p:nvCxnSpPr>
        <p:spPr bwMode="auto">
          <a:xfrm>
            <a:off x="6775450" y="18256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8" name="AutoShape 20"/>
          <p:cNvCxnSpPr>
            <a:cxnSpLocks noChangeShapeType="1"/>
            <a:stCxn id="32776" idx="6"/>
            <a:endCxn id="32777" idx="2"/>
          </p:cNvCxnSpPr>
          <p:nvPr/>
        </p:nvCxnSpPr>
        <p:spPr bwMode="auto">
          <a:xfrm>
            <a:off x="6775450" y="29718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9" name="AutoShape 21"/>
          <p:cNvCxnSpPr>
            <a:cxnSpLocks noChangeShapeType="1"/>
            <a:stCxn id="32778" idx="0"/>
            <a:endCxn id="32772" idx="5"/>
          </p:cNvCxnSpPr>
          <p:nvPr/>
        </p:nvCxnSpPr>
        <p:spPr bwMode="auto">
          <a:xfrm rot="5400000" flipH="1">
            <a:off x="4358482" y="21391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90" name="Text Box 22"/>
          <p:cNvSpPr txBox="1">
            <a:spLocks noChangeArrowheads="1"/>
          </p:cNvSpPr>
          <p:nvPr/>
        </p:nvSpPr>
        <p:spPr bwMode="auto">
          <a:xfrm>
            <a:off x="3962400" y="25955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2791" name="Text Box 23"/>
          <p:cNvSpPr txBox="1">
            <a:spLocks noChangeArrowheads="1"/>
          </p:cNvSpPr>
          <p:nvPr/>
        </p:nvSpPr>
        <p:spPr bwMode="auto">
          <a:xfrm>
            <a:off x="4979988" y="23622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2792" name="Text Box 24"/>
          <p:cNvSpPr txBox="1">
            <a:spLocks noChangeArrowheads="1"/>
          </p:cNvSpPr>
          <p:nvPr/>
        </p:nvSpPr>
        <p:spPr bwMode="auto">
          <a:xfrm>
            <a:off x="4759325" y="31861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4759325" y="1219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2794" name="Text Box 26"/>
          <p:cNvSpPr txBox="1">
            <a:spLocks noChangeArrowheads="1"/>
          </p:cNvSpPr>
          <p:nvPr/>
        </p:nvSpPr>
        <p:spPr bwMode="auto">
          <a:xfrm>
            <a:off x="5956300" y="1219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2795" name="Text Box 27"/>
          <p:cNvSpPr txBox="1">
            <a:spLocks noChangeArrowheads="1"/>
          </p:cNvSpPr>
          <p:nvPr/>
        </p:nvSpPr>
        <p:spPr bwMode="auto">
          <a:xfrm>
            <a:off x="5305425" y="1524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2796" name="Text Box 28"/>
          <p:cNvSpPr txBox="1">
            <a:spLocks noChangeArrowheads="1"/>
          </p:cNvSpPr>
          <p:nvPr/>
        </p:nvSpPr>
        <p:spPr bwMode="auto">
          <a:xfrm>
            <a:off x="6556375" y="2247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797" name="Text Box 29"/>
          <p:cNvSpPr txBox="1">
            <a:spLocks noChangeArrowheads="1"/>
          </p:cNvSpPr>
          <p:nvPr/>
        </p:nvSpPr>
        <p:spPr bwMode="auto">
          <a:xfrm>
            <a:off x="7375525" y="1447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2798" name="Text Box 30"/>
          <p:cNvSpPr txBox="1">
            <a:spLocks noChangeArrowheads="1"/>
          </p:cNvSpPr>
          <p:nvPr/>
        </p:nvSpPr>
        <p:spPr bwMode="auto">
          <a:xfrm>
            <a:off x="7321550" y="25828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2799" name="Text Box 31"/>
          <p:cNvSpPr txBox="1">
            <a:spLocks noChangeArrowheads="1"/>
          </p:cNvSpPr>
          <p:nvPr/>
        </p:nvSpPr>
        <p:spPr bwMode="auto">
          <a:xfrm>
            <a:off x="5895975" y="32051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2800" name="Text Box 32"/>
          <p:cNvSpPr txBox="1">
            <a:spLocks noChangeArrowheads="1"/>
          </p:cNvSpPr>
          <p:nvPr/>
        </p:nvSpPr>
        <p:spPr bwMode="auto">
          <a:xfrm>
            <a:off x="5037138" y="3671888"/>
            <a:ext cx="2589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solidFill>
                  <a:schemeClr val="accent1"/>
                </a:solidFill>
                <a:latin typeface="Times New Roman" panose="02020603050405020304" pitchFamily="18" charset="0"/>
              </a:rPr>
              <a:t>Run on example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4438650" y="14065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6623050" y="14065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8532813" y="14065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4438650" y="25527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6623050" y="2552700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3801" name="Oval 9"/>
          <p:cNvSpPr>
            <a:spLocks noChangeArrowheads="1"/>
          </p:cNvSpPr>
          <p:nvPr/>
        </p:nvSpPr>
        <p:spPr bwMode="auto">
          <a:xfrm>
            <a:off x="8532813" y="2552700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3802" name="Oval 10"/>
          <p:cNvSpPr>
            <a:spLocks noChangeArrowheads="1"/>
          </p:cNvSpPr>
          <p:nvPr/>
        </p:nvSpPr>
        <p:spPr bwMode="auto">
          <a:xfrm>
            <a:off x="5530850" y="3043238"/>
            <a:ext cx="382588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3803" name="Oval 11"/>
          <p:cNvSpPr>
            <a:spLocks noChangeArrowheads="1"/>
          </p:cNvSpPr>
          <p:nvPr/>
        </p:nvSpPr>
        <p:spPr bwMode="auto">
          <a:xfrm>
            <a:off x="5530850" y="914400"/>
            <a:ext cx="382588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3804" name="AutoShape 12"/>
          <p:cNvCxnSpPr>
            <a:cxnSpLocks noChangeShapeType="1"/>
            <a:stCxn id="33803" idx="5"/>
            <a:endCxn id="33797" idx="1"/>
          </p:cNvCxnSpPr>
          <p:nvPr/>
        </p:nvCxnSpPr>
        <p:spPr bwMode="auto">
          <a:xfrm>
            <a:off x="5856288" y="12541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5" name="AutoShape 13"/>
          <p:cNvCxnSpPr>
            <a:cxnSpLocks noChangeShapeType="1"/>
            <a:stCxn id="33803" idx="3"/>
            <a:endCxn id="33796" idx="7"/>
          </p:cNvCxnSpPr>
          <p:nvPr/>
        </p:nvCxnSpPr>
        <p:spPr bwMode="auto">
          <a:xfrm flipH="1">
            <a:off x="4765675" y="1254125"/>
            <a:ext cx="820738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6" name="AutoShape 14"/>
          <p:cNvCxnSpPr>
            <a:cxnSpLocks noChangeShapeType="1"/>
            <a:stCxn id="33796" idx="6"/>
            <a:endCxn id="33797" idx="2"/>
          </p:cNvCxnSpPr>
          <p:nvPr/>
        </p:nvCxnSpPr>
        <p:spPr bwMode="auto">
          <a:xfrm>
            <a:off x="4833938" y="15970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7" name="AutoShape 15"/>
          <p:cNvCxnSpPr>
            <a:cxnSpLocks noChangeShapeType="1"/>
            <a:stCxn id="33799" idx="0"/>
            <a:endCxn id="33796" idx="4"/>
          </p:cNvCxnSpPr>
          <p:nvPr/>
        </p:nvCxnSpPr>
        <p:spPr bwMode="auto">
          <a:xfrm flipV="1">
            <a:off x="4629150" y="18018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8" name="AutoShape 16"/>
          <p:cNvCxnSpPr>
            <a:cxnSpLocks noChangeShapeType="1"/>
            <a:stCxn id="33799" idx="5"/>
            <a:endCxn id="33802" idx="1"/>
          </p:cNvCxnSpPr>
          <p:nvPr/>
        </p:nvCxnSpPr>
        <p:spPr bwMode="auto">
          <a:xfrm>
            <a:off x="4765675" y="2892425"/>
            <a:ext cx="820738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9" name="AutoShape 17"/>
          <p:cNvCxnSpPr>
            <a:cxnSpLocks noChangeShapeType="1"/>
            <a:stCxn id="33802" idx="7"/>
            <a:endCxn id="33800" idx="3"/>
          </p:cNvCxnSpPr>
          <p:nvPr/>
        </p:nvCxnSpPr>
        <p:spPr bwMode="auto">
          <a:xfrm flipV="1">
            <a:off x="5856288" y="28924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0" name="AutoShape 18"/>
          <p:cNvCxnSpPr>
            <a:cxnSpLocks noChangeShapeType="1"/>
            <a:stCxn id="33800" idx="0"/>
            <a:endCxn id="33797" idx="4"/>
          </p:cNvCxnSpPr>
          <p:nvPr/>
        </p:nvCxnSpPr>
        <p:spPr bwMode="auto">
          <a:xfrm flipV="1">
            <a:off x="6813550" y="18018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1" name="AutoShape 19"/>
          <p:cNvCxnSpPr>
            <a:cxnSpLocks noChangeShapeType="1"/>
            <a:stCxn id="33797" idx="6"/>
            <a:endCxn id="33798" idx="2"/>
          </p:cNvCxnSpPr>
          <p:nvPr/>
        </p:nvCxnSpPr>
        <p:spPr bwMode="auto">
          <a:xfrm>
            <a:off x="7018338" y="15970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2" name="AutoShape 20"/>
          <p:cNvCxnSpPr>
            <a:cxnSpLocks noChangeShapeType="1"/>
            <a:stCxn id="33800" idx="6"/>
            <a:endCxn id="33801" idx="2"/>
          </p:cNvCxnSpPr>
          <p:nvPr/>
        </p:nvCxnSpPr>
        <p:spPr bwMode="auto">
          <a:xfrm>
            <a:off x="7018338" y="27432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3" name="AutoShape 21"/>
          <p:cNvCxnSpPr>
            <a:cxnSpLocks noChangeShapeType="1"/>
            <a:stCxn id="33802" idx="0"/>
            <a:endCxn id="33796" idx="5"/>
          </p:cNvCxnSpPr>
          <p:nvPr/>
        </p:nvCxnSpPr>
        <p:spPr bwMode="auto">
          <a:xfrm rot="5400000" flipH="1">
            <a:off x="4601369" y="19105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4205288" y="19859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3815" name="Text Box 23"/>
          <p:cNvSpPr txBox="1">
            <a:spLocks noChangeArrowheads="1"/>
          </p:cNvSpPr>
          <p:nvPr/>
        </p:nvSpPr>
        <p:spPr bwMode="auto">
          <a:xfrm>
            <a:off x="5222875" y="21336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3816" name="Text Box 24"/>
          <p:cNvSpPr txBox="1">
            <a:spLocks noChangeArrowheads="1"/>
          </p:cNvSpPr>
          <p:nvPr/>
        </p:nvSpPr>
        <p:spPr bwMode="auto">
          <a:xfrm>
            <a:off x="5002213" y="2957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3817" name="Text Box 25"/>
          <p:cNvSpPr txBox="1">
            <a:spLocks noChangeArrowheads="1"/>
          </p:cNvSpPr>
          <p:nvPr/>
        </p:nvSpPr>
        <p:spPr bwMode="auto">
          <a:xfrm>
            <a:off x="5002213" y="990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6199188" y="990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819" name="Text Box 27"/>
          <p:cNvSpPr txBox="1">
            <a:spLocks noChangeArrowheads="1"/>
          </p:cNvSpPr>
          <p:nvPr/>
        </p:nvSpPr>
        <p:spPr bwMode="auto">
          <a:xfrm>
            <a:off x="5548313" y="1295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3820" name="Text Box 28"/>
          <p:cNvSpPr txBox="1">
            <a:spLocks noChangeArrowheads="1"/>
          </p:cNvSpPr>
          <p:nvPr/>
        </p:nvSpPr>
        <p:spPr bwMode="auto">
          <a:xfrm>
            <a:off x="6799263" y="20193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3821" name="Text Box 29"/>
          <p:cNvSpPr txBox="1">
            <a:spLocks noChangeArrowheads="1"/>
          </p:cNvSpPr>
          <p:nvPr/>
        </p:nvSpPr>
        <p:spPr bwMode="auto">
          <a:xfrm>
            <a:off x="7618413" y="1219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3822" name="Text Box 30"/>
          <p:cNvSpPr txBox="1">
            <a:spLocks noChangeArrowheads="1"/>
          </p:cNvSpPr>
          <p:nvPr/>
        </p:nvSpPr>
        <p:spPr bwMode="auto">
          <a:xfrm>
            <a:off x="7564438" y="23542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3823" name="Text Box 31"/>
          <p:cNvSpPr txBox="1">
            <a:spLocks noChangeArrowheads="1"/>
          </p:cNvSpPr>
          <p:nvPr/>
        </p:nvSpPr>
        <p:spPr bwMode="auto">
          <a:xfrm>
            <a:off x="6138863" y="29765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3824" name="Text Box 32"/>
          <p:cNvSpPr txBox="1">
            <a:spLocks noChangeArrowheads="1"/>
          </p:cNvSpPr>
          <p:nvPr/>
        </p:nvSpPr>
        <p:spPr bwMode="auto">
          <a:xfrm>
            <a:off x="5464175" y="3443288"/>
            <a:ext cx="2225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solidFill>
                  <a:schemeClr val="accent1"/>
                </a:solidFill>
                <a:latin typeface="Times New Roman" panose="02020603050405020304" pitchFamily="18" charset="0"/>
              </a:rPr>
              <a:t>Pick a start vertex r</a:t>
            </a:r>
          </a:p>
        </p:txBody>
      </p:sp>
      <p:sp>
        <p:nvSpPr>
          <p:cNvPr id="33825" name="Text Box 33"/>
          <p:cNvSpPr txBox="1">
            <a:spLocks noChangeArrowheads="1"/>
          </p:cNvSpPr>
          <p:nvPr/>
        </p:nvSpPr>
        <p:spPr bwMode="auto">
          <a:xfrm>
            <a:off x="3748088" y="254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r</a:t>
            </a:r>
          </a:p>
        </p:txBody>
      </p:sp>
      <p:cxnSp>
        <p:nvCxnSpPr>
          <p:cNvPr id="33826" name="AutoShape 34"/>
          <p:cNvCxnSpPr>
            <a:cxnSpLocks noChangeShapeType="1"/>
            <a:stCxn id="33825" idx="3"/>
            <a:endCxn id="33799" idx="2"/>
          </p:cNvCxnSpPr>
          <p:nvPr/>
        </p:nvCxnSpPr>
        <p:spPr bwMode="auto">
          <a:xfrm flipV="1">
            <a:off x="4084638" y="2743200"/>
            <a:ext cx="334962" cy="4763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4287838" y="1300163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6472238" y="130016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8382000" y="130016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4287838" y="2446338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4824" name="Oval 8"/>
          <p:cNvSpPr>
            <a:spLocks noChangeArrowheads="1"/>
          </p:cNvSpPr>
          <p:nvPr/>
        </p:nvSpPr>
        <p:spPr bwMode="auto">
          <a:xfrm>
            <a:off x="6472238" y="24463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25" name="Oval 9"/>
          <p:cNvSpPr>
            <a:spLocks noChangeArrowheads="1"/>
          </p:cNvSpPr>
          <p:nvPr/>
        </p:nvSpPr>
        <p:spPr bwMode="auto">
          <a:xfrm>
            <a:off x="8382000" y="24463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26" name="Oval 10"/>
          <p:cNvSpPr>
            <a:spLocks noChangeArrowheads="1"/>
          </p:cNvSpPr>
          <p:nvPr/>
        </p:nvSpPr>
        <p:spPr bwMode="auto">
          <a:xfrm>
            <a:off x="5380038" y="2936875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4827" name="Oval 11"/>
          <p:cNvSpPr>
            <a:spLocks noChangeArrowheads="1"/>
          </p:cNvSpPr>
          <p:nvPr/>
        </p:nvSpPr>
        <p:spPr bwMode="auto">
          <a:xfrm>
            <a:off x="5380038" y="808038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4828" name="AutoShape 12"/>
          <p:cNvCxnSpPr>
            <a:cxnSpLocks noChangeShapeType="1"/>
            <a:stCxn id="34827" idx="5"/>
            <a:endCxn id="34821" idx="1"/>
          </p:cNvCxnSpPr>
          <p:nvPr/>
        </p:nvCxnSpPr>
        <p:spPr bwMode="auto">
          <a:xfrm>
            <a:off x="5705475" y="1147763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9" name="AutoShape 13"/>
          <p:cNvCxnSpPr>
            <a:cxnSpLocks noChangeShapeType="1"/>
            <a:stCxn id="34827" idx="3"/>
            <a:endCxn id="34820" idx="7"/>
          </p:cNvCxnSpPr>
          <p:nvPr/>
        </p:nvCxnSpPr>
        <p:spPr bwMode="auto">
          <a:xfrm flipH="1">
            <a:off x="4614863" y="1147763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0" name="AutoShape 14"/>
          <p:cNvCxnSpPr>
            <a:cxnSpLocks noChangeShapeType="1"/>
            <a:stCxn id="34820" idx="6"/>
            <a:endCxn id="34821" idx="2"/>
          </p:cNvCxnSpPr>
          <p:nvPr/>
        </p:nvCxnSpPr>
        <p:spPr bwMode="auto">
          <a:xfrm>
            <a:off x="4683125" y="1490663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1" name="AutoShape 15"/>
          <p:cNvCxnSpPr>
            <a:cxnSpLocks noChangeShapeType="1"/>
            <a:stCxn id="34823" idx="0"/>
            <a:endCxn id="34820" idx="4"/>
          </p:cNvCxnSpPr>
          <p:nvPr/>
        </p:nvCxnSpPr>
        <p:spPr bwMode="auto">
          <a:xfrm flipV="1">
            <a:off x="4478338" y="1695450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2" name="AutoShape 16"/>
          <p:cNvCxnSpPr>
            <a:cxnSpLocks noChangeShapeType="1"/>
            <a:stCxn id="34823" idx="5"/>
            <a:endCxn id="34826" idx="1"/>
          </p:cNvCxnSpPr>
          <p:nvPr/>
        </p:nvCxnSpPr>
        <p:spPr bwMode="auto">
          <a:xfrm>
            <a:off x="4614863" y="2786063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3" name="AutoShape 17"/>
          <p:cNvCxnSpPr>
            <a:cxnSpLocks noChangeShapeType="1"/>
            <a:stCxn id="34826" idx="7"/>
            <a:endCxn id="34824" idx="3"/>
          </p:cNvCxnSpPr>
          <p:nvPr/>
        </p:nvCxnSpPr>
        <p:spPr bwMode="auto">
          <a:xfrm flipV="1">
            <a:off x="5705475" y="2786063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4" name="AutoShape 18"/>
          <p:cNvCxnSpPr>
            <a:cxnSpLocks noChangeShapeType="1"/>
            <a:stCxn id="34824" idx="0"/>
            <a:endCxn id="34821" idx="4"/>
          </p:cNvCxnSpPr>
          <p:nvPr/>
        </p:nvCxnSpPr>
        <p:spPr bwMode="auto">
          <a:xfrm flipV="1">
            <a:off x="6662738" y="1695450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5" name="AutoShape 19"/>
          <p:cNvCxnSpPr>
            <a:cxnSpLocks noChangeShapeType="1"/>
            <a:stCxn id="34821" idx="6"/>
            <a:endCxn id="34822" idx="2"/>
          </p:cNvCxnSpPr>
          <p:nvPr/>
        </p:nvCxnSpPr>
        <p:spPr bwMode="auto">
          <a:xfrm>
            <a:off x="6867525" y="149066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6" name="AutoShape 20"/>
          <p:cNvCxnSpPr>
            <a:cxnSpLocks noChangeShapeType="1"/>
            <a:stCxn id="34824" idx="6"/>
            <a:endCxn id="34825" idx="2"/>
          </p:cNvCxnSpPr>
          <p:nvPr/>
        </p:nvCxnSpPr>
        <p:spPr bwMode="auto">
          <a:xfrm>
            <a:off x="6867525" y="26368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7" name="AutoShape 21"/>
          <p:cNvCxnSpPr>
            <a:cxnSpLocks noChangeShapeType="1"/>
            <a:stCxn id="34826" idx="0"/>
            <a:endCxn id="34820" idx="5"/>
          </p:cNvCxnSpPr>
          <p:nvPr/>
        </p:nvCxnSpPr>
        <p:spPr bwMode="auto">
          <a:xfrm rot="5400000" flipH="1">
            <a:off x="4450557" y="1804194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8" name="Text Box 22"/>
          <p:cNvSpPr txBox="1">
            <a:spLocks noChangeArrowheads="1"/>
          </p:cNvSpPr>
          <p:nvPr/>
        </p:nvSpPr>
        <p:spPr bwMode="auto">
          <a:xfrm>
            <a:off x="4054475" y="18796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4839" name="Text Box 23"/>
          <p:cNvSpPr txBox="1">
            <a:spLocks noChangeArrowheads="1"/>
          </p:cNvSpPr>
          <p:nvPr/>
        </p:nvSpPr>
        <p:spPr bwMode="auto">
          <a:xfrm>
            <a:off x="5072063" y="20272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4840" name="Text Box 24"/>
          <p:cNvSpPr txBox="1">
            <a:spLocks noChangeArrowheads="1"/>
          </p:cNvSpPr>
          <p:nvPr/>
        </p:nvSpPr>
        <p:spPr bwMode="auto">
          <a:xfrm>
            <a:off x="4851400" y="28511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4841" name="Text Box 25"/>
          <p:cNvSpPr txBox="1">
            <a:spLocks noChangeArrowheads="1"/>
          </p:cNvSpPr>
          <p:nvPr/>
        </p:nvSpPr>
        <p:spPr bwMode="auto">
          <a:xfrm>
            <a:off x="4851400" y="884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4842" name="Text Box 26"/>
          <p:cNvSpPr txBox="1">
            <a:spLocks noChangeArrowheads="1"/>
          </p:cNvSpPr>
          <p:nvPr/>
        </p:nvSpPr>
        <p:spPr bwMode="auto">
          <a:xfrm>
            <a:off x="6048375" y="884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4843" name="Text Box 27"/>
          <p:cNvSpPr txBox="1">
            <a:spLocks noChangeArrowheads="1"/>
          </p:cNvSpPr>
          <p:nvPr/>
        </p:nvSpPr>
        <p:spPr bwMode="auto">
          <a:xfrm>
            <a:off x="5397500" y="11890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4844" name="Text Box 28"/>
          <p:cNvSpPr txBox="1">
            <a:spLocks noChangeArrowheads="1"/>
          </p:cNvSpPr>
          <p:nvPr/>
        </p:nvSpPr>
        <p:spPr bwMode="auto">
          <a:xfrm>
            <a:off x="6648450" y="19129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4845" name="Text Box 29"/>
          <p:cNvSpPr txBox="1">
            <a:spLocks noChangeArrowheads="1"/>
          </p:cNvSpPr>
          <p:nvPr/>
        </p:nvSpPr>
        <p:spPr bwMode="auto">
          <a:xfrm>
            <a:off x="7467600" y="1112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4846" name="Text Box 30"/>
          <p:cNvSpPr txBox="1">
            <a:spLocks noChangeArrowheads="1"/>
          </p:cNvSpPr>
          <p:nvPr/>
        </p:nvSpPr>
        <p:spPr bwMode="auto">
          <a:xfrm>
            <a:off x="7413625" y="22479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4847" name="Text Box 31"/>
          <p:cNvSpPr txBox="1">
            <a:spLocks noChangeArrowheads="1"/>
          </p:cNvSpPr>
          <p:nvPr/>
        </p:nvSpPr>
        <p:spPr bwMode="auto">
          <a:xfrm>
            <a:off x="5988050" y="287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4848" name="Text Box 32"/>
          <p:cNvSpPr txBox="1">
            <a:spLocks noChangeArrowheads="1"/>
          </p:cNvSpPr>
          <p:nvPr/>
        </p:nvSpPr>
        <p:spPr bwMode="auto">
          <a:xfrm>
            <a:off x="4565650" y="3336925"/>
            <a:ext cx="4524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solidFill>
                  <a:schemeClr val="tx2"/>
                </a:solidFill>
                <a:latin typeface="Times New Roman" panose="02020603050405020304" pitchFamily="18" charset="0"/>
              </a:rPr>
              <a:t>Black vertices have been removed from Q</a:t>
            </a:r>
          </a:p>
        </p:txBody>
      </p:sp>
      <p:sp>
        <p:nvSpPr>
          <p:cNvPr id="34849" name="Text Box 33"/>
          <p:cNvSpPr txBox="1">
            <a:spLocks noChangeArrowheads="1"/>
          </p:cNvSpPr>
          <p:nvPr/>
        </p:nvSpPr>
        <p:spPr bwMode="auto">
          <a:xfrm>
            <a:off x="3597275" y="244316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34850" name="AutoShape 34"/>
          <p:cNvCxnSpPr>
            <a:cxnSpLocks noChangeShapeType="1"/>
            <a:stCxn id="34849" idx="3"/>
            <a:endCxn id="34823" idx="2"/>
          </p:cNvCxnSpPr>
          <p:nvPr/>
        </p:nvCxnSpPr>
        <p:spPr bwMode="auto">
          <a:xfrm flipV="1">
            <a:off x="3933825" y="2636838"/>
            <a:ext cx="334963" cy="4762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4333875" y="130016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6518275" y="130016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8428038" y="1300163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4333875" y="2446338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5848" name="Oval 8"/>
          <p:cNvSpPr>
            <a:spLocks noChangeArrowheads="1"/>
          </p:cNvSpPr>
          <p:nvPr/>
        </p:nvSpPr>
        <p:spPr bwMode="auto">
          <a:xfrm>
            <a:off x="6518275" y="24463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5849" name="Oval 9"/>
          <p:cNvSpPr>
            <a:spLocks noChangeArrowheads="1"/>
          </p:cNvSpPr>
          <p:nvPr/>
        </p:nvSpPr>
        <p:spPr bwMode="auto">
          <a:xfrm>
            <a:off x="8428038" y="24463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5850" name="Oval 10"/>
          <p:cNvSpPr>
            <a:spLocks noChangeArrowheads="1"/>
          </p:cNvSpPr>
          <p:nvPr/>
        </p:nvSpPr>
        <p:spPr bwMode="auto">
          <a:xfrm>
            <a:off x="5426075" y="2936875"/>
            <a:ext cx="382588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5851" name="Oval 11"/>
          <p:cNvSpPr>
            <a:spLocks noChangeArrowheads="1"/>
          </p:cNvSpPr>
          <p:nvPr/>
        </p:nvSpPr>
        <p:spPr bwMode="auto">
          <a:xfrm>
            <a:off x="5426075" y="808038"/>
            <a:ext cx="382588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5852" name="AutoShape 12"/>
          <p:cNvCxnSpPr>
            <a:cxnSpLocks noChangeShapeType="1"/>
            <a:stCxn id="35851" idx="5"/>
            <a:endCxn id="35845" idx="1"/>
          </p:cNvCxnSpPr>
          <p:nvPr/>
        </p:nvCxnSpPr>
        <p:spPr bwMode="auto">
          <a:xfrm>
            <a:off x="5751513" y="1147763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3" name="AutoShape 13"/>
          <p:cNvCxnSpPr>
            <a:cxnSpLocks noChangeShapeType="1"/>
            <a:stCxn id="35851" idx="3"/>
            <a:endCxn id="35844" idx="7"/>
          </p:cNvCxnSpPr>
          <p:nvPr/>
        </p:nvCxnSpPr>
        <p:spPr bwMode="auto">
          <a:xfrm flipH="1">
            <a:off x="4660900" y="1147763"/>
            <a:ext cx="820738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AutoShape 14"/>
          <p:cNvCxnSpPr>
            <a:cxnSpLocks noChangeShapeType="1"/>
            <a:stCxn id="35844" idx="6"/>
            <a:endCxn id="35845" idx="2"/>
          </p:cNvCxnSpPr>
          <p:nvPr/>
        </p:nvCxnSpPr>
        <p:spPr bwMode="auto">
          <a:xfrm>
            <a:off x="4729163" y="1490663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5" name="AutoShape 15"/>
          <p:cNvCxnSpPr>
            <a:cxnSpLocks noChangeShapeType="1"/>
            <a:stCxn id="35847" idx="0"/>
            <a:endCxn id="35844" idx="4"/>
          </p:cNvCxnSpPr>
          <p:nvPr/>
        </p:nvCxnSpPr>
        <p:spPr bwMode="auto">
          <a:xfrm flipV="1">
            <a:off x="4524375" y="1695450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6" name="AutoShape 16"/>
          <p:cNvCxnSpPr>
            <a:cxnSpLocks noChangeShapeType="1"/>
            <a:stCxn id="35847" idx="5"/>
            <a:endCxn id="35850" idx="1"/>
          </p:cNvCxnSpPr>
          <p:nvPr/>
        </p:nvCxnSpPr>
        <p:spPr bwMode="auto">
          <a:xfrm>
            <a:off x="4660900" y="2786063"/>
            <a:ext cx="820738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7" name="AutoShape 17"/>
          <p:cNvCxnSpPr>
            <a:cxnSpLocks noChangeShapeType="1"/>
            <a:stCxn id="35850" idx="7"/>
            <a:endCxn id="35848" idx="3"/>
          </p:cNvCxnSpPr>
          <p:nvPr/>
        </p:nvCxnSpPr>
        <p:spPr bwMode="auto">
          <a:xfrm flipV="1">
            <a:off x="5751513" y="2786063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8" name="AutoShape 18"/>
          <p:cNvCxnSpPr>
            <a:cxnSpLocks noChangeShapeType="1"/>
            <a:stCxn id="35848" idx="0"/>
            <a:endCxn id="35845" idx="4"/>
          </p:cNvCxnSpPr>
          <p:nvPr/>
        </p:nvCxnSpPr>
        <p:spPr bwMode="auto">
          <a:xfrm flipV="1">
            <a:off x="6708775" y="1695450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AutoShape 19"/>
          <p:cNvCxnSpPr>
            <a:cxnSpLocks noChangeShapeType="1"/>
            <a:stCxn id="35845" idx="6"/>
            <a:endCxn id="35846" idx="2"/>
          </p:cNvCxnSpPr>
          <p:nvPr/>
        </p:nvCxnSpPr>
        <p:spPr bwMode="auto">
          <a:xfrm>
            <a:off x="6913563" y="149066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0" name="AutoShape 20"/>
          <p:cNvCxnSpPr>
            <a:cxnSpLocks noChangeShapeType="1"/>
            <a:stCxn id="35848" idx="6"/>
            <a:endCxn id="35849" idx="2"/>
          </p:cNvCxnSpPr>
          <p:nvPr/>
        </p:nvCxnSpPr>
        <p:spPr bwMode="auto">
          <a:xfrm>
            <a:off x="6913563" y="26368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1" name="AutoShape 21"/>
          <p:cNvCxnSpPr>
            <a:cxnSpLocks noChangeShapeType="1"/>
            <a:stCxn id="35850" idx="0"/>
            <a:endCxn id="35844" idx="5"/>
          </p:cNvCxnSpPr>
          <p:nvPr/>
        </p:nvCxnSpPr>
        <p:spPr bwMode="auto">
          <a:xfrm rot="5400000" flipH="1">
            <a:off x="4496594" y="1804194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4100513" y="18796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5863" name="Text Box 23"/>
          <p:cNvSpPr txBox="1">
            <a:spLocks noChangeArrowheads="1"/>
          </p:cNvSpPr>
          <p:nvPr/>
        </p:nvSpPr>
        <p:spPr bwMode="auto">
          <a:xfrm>
            <a:off x="5118100" y="20272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5864" name="Text Box 24"/>
          <p:cNvSpPr txBox="1">
            <a:spLocks noChangeArrowheads="1"/>
          </p:cNvSpPr>
          <p:nvPr/>
        </p:nvSpPr>
        <p:spPr bwMode="auto">
          <a:xfrm>
            <a:off x="4897438" y="28511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5865" name="Text Box 25"/>
          <p:cNvSpPr txBox="1">
            <a:spLocks noChangeArrowheads="1"/>
          </p:cNvSpPr>
          <p:nvPr/>
        </p:nvSpPr>
        <p:spPr bwMode="auto">
          <a:xfrm>
            <a:off x="4897438" y="884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6094413" y="8842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867" name="Text Box 27"/>
          <p:cNvSpPr txBox="1">
            <a:spLocks noChangeArrowheads="1"/>
          </p:cNvSpPr>
          <p:nvPr/>
        </p:nvSpPr>
        <p:spPr bwMode="auto">
          <a:xfrm>
            <a:off x="5443538" y="11890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6694488" y="19129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869" name="Text Box 29"/>
          <p:cNvSpPr txBox="1">
            <a:spLocks noChangeArrowheads="1"/>
          </p:cNvSpPr>
          <p:nvPr/>
        </p:nvSpPr>
        <p:spPr bwMode="auto">
          <a:xfrm>
            <a:off x="7513638" y="1112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5870" name="Text Box 30"/>
          <p:cNvSpPr txBox="1">
            <a:spLocks noChangeArrowheads="1"/>
          </p:cNvSpPr>
          <p:nvPr/>
        </p:nvSpPr>
        <p:spPr bwMode="auto">
          <a:xfrm>
            <a:off x="7459663" y="22479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5871" name="Text Box 31"/>
          <p:cNvSpPr txBox="1">
            <a:spLocks noChangeArrowheads="1"/>
          </p:cNvSpPr>
          <p:nvPr/>
        </p:nvSpPr>
        <p:spPr bwMode="auto">
          <a:xfrm>
            <a:off x="6034088" y="287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5872" name="Text Box 32"/>
          <p:cNvSpPr txBox="1">
            <a:spLocks noChangeArrowheads="1"/>
          </p:cNvSpPr>
          <p:nvPr/>
        </p:nvSpPr>
        <p:spPr bwMode="auto">
          <a:xfrm>
            <a:off x="4822825" y="3336925"/>
            <a:ext cx="411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 i="1">
                <a:solidFill>
                  <a:schemeClr val="tx2"/>
                </a:solidFill>
                <a:latin typeface="Times New Roman" panose="02020603050405020304" pitchFamily="18" charset="0"/>
              </a:rPr>
              <a:t>Black arrows indicate parent pointers</a:t>
            </a:r>
          </a:p>
        </p:txBody>
      </p:sp>
      <p:sp>
        <p:nvSpPr>
          <p:cNvPr id="35873" name="Text Box 33"/>
          <p:cNvSpPr txBox="1">
            <a:spLocks noChangeArrowheads="1"/>
          </p:cNvSpPr>
          <p:nvPr/>
        </p:nvSpPr>
        <p:spPr bwMode="auto">
          <a:xfrm>
            <a:off x="3643313" y="244316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35874" name="AutoShape 34"/>
          <p:cNvCxnSpPr>
            <a:cxnSpLocks noChangeShapeType="1"/>
            <a:stCxn id="35873" idx="3"/>
            <a:endCxn id="35847" idx="2"/>
          </p:cNvCxnSpPr>
          <p:nvPr/>
        </p:nvCxnSpPr>
        <p:spPr bwMode="auto">
          <a:xfrm flipV="1">
            <a:off x="3979863" y="2636838"/>
            <a:ext cx="334962" cy="4762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4438650" y="12541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14</a:t>
            </a:r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6623050" y="12541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8532813" y="12541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4438650" y="2400300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6872" name="Oval 8"/>
          <p:cNvSpPr>
            <a:spLocks noChangeArrowheads="1"/>
          </p:cNvSpPr>
          <p:nvPr/>
        </p:nvSpPr>
        <p:spPr bwMode="auto">
          <a:xfrm>
            <a:off x="6623050" y="2400300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6873" name="Oval 9"/>
          <p:cNvSpPr>
            <a:spLocks noChangeArrowheads="1"/>
          </p:cNvSpPr>
          <p:nvPr/>
        </p:nvSpPr>
        <p:spPr bwMode="auto">
          <a:xfrm>
            <a:off x="8532813" y="2400300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6874" name="Oval 10"/>
          <p:cNvSpPr>
            <a:spLocks noChangeArrowheads="1"/>
          </p:cNvSpPr>
          <p:nvPr/>
        </p:nvSpPr>
        <p:spPr bwMode="auto">
          <a:xfrm>
            <a:off x="5530850" y="2890838"/>
            <a:ext cx="382588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6875" name="Oval 11"/>
          <p:cNvSpPr>
            <a:spLocks noChangeArrowheads="1"/>
          </p:cNvSpPr>
          <p:nvPr/>
        </p:nvSpPr>
        <p:spPr bwMode="auto">
          <a:xfrm>
            <a:off x="5530850" y="762000"/>
            <a:ext cx="382588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6876" name="AutoShape 12"/>
          <p:cNvCxnSpPr>
            <a:cxnSpLocks noChangeShapeType="1"/>
            <a:stCxn id="36875" idx="5"/>
            <a:endCxn id="36869" idx="1"/>
          </p:cNvCxnSpPr>
          <p:nvPr/>
        </p:nvCxnSpPr>
        <p:spPr bwMode="auto">
          <a:xfrm>
            <a:off x="5856288" y="11017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7" name="AutoShape 13"/>
          <p:cNvCxnSpPr>
            <a:cxnSpLocks noChangeShapeType="1"/>
            <a:stCxn id="36875" idx="3"/>
            <a:endCxn id="36868" idx="7"/>
          </p:cNvCxnSpPr>
          <p:nvPr/>
        </p:nvCxnSpPr>
        <p:spPr bwMode="auto">
          <a:xfrm flipH="1">
            <a:off x="4765675" y="1101725"/>
            <a:ext cx="820738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8" name="AutoShape 14"/>
          <p:cNvCxnSpPr>
            <a:cxnSpLocks noChangeShapeType="1"/>
            <a:stCxn id="36868" idx="6"/>
            <a:endCxn id="36869" idx="2"/>
          </p:cNvCxnSpPr>
          <p:nvPr/>
        </p:nvCxnSpPr>
        <p:spPr bwMode="auto">
          <a:xfrm>
            <a:off x="4833938" y="14446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9" name="AutoShape 15"/>
          <p:cNvCxnSpPr>
            <a:cxnSpLocks noChangeShapeType="1"/>
            <a:stCxn id="36871" idx="0"/>
            <a:endCxn id="36868" idx="4"/>
          </p:cNvCxnSpPr>
          <p:nvPr/>
        </p:nvCxnSpPr>
        <p:spPr bwMode="auto">
          <a:xfrm flipV="1">
            <a:off x="4629150" y="16494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0" name="AutoShape 16"/>
          <p:cNvCxnSpPr>
            <a:cxnSpLocks noChangeShapeType="1"/>
            <a:stCxn id="36871" idx="5"/>
            <a:endCxn id="36874" idx="1"/>
          </p:cNvCxnSpPr>
          <p:nvPr/>
        </p:nvCxnSpPr>
        <p:spPr bwMode="auto">
          <a:xfrm>
            <a:off x="4765675" y="2740025"/>
            <a:ext cx="820738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1" name="AutoShape 17"/>
          <p:cNvCxnSpPr>
            <a:cxnSpLocks noChangeShapeType="1"/>
            <a:stCxn id="36874" idx="7"/>
            <a:endCxn id="36872" idx="3"/>
          </p:cNvCxnSpPr>
          <p:nvPr/>
        </p:nvCxnSpPr>
        <p:spPr bwMode="auto">
          <a:xfrm flipV="1">
            <a:off x="5856288" y="27400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2" name="AutoShape 18"/>
          <p:cNvCxnSpPr>
            <a:cxnSpLocks noChangeShapeType="1"/>
            <a:stCxn id="36872" idx="0"/>
            <a:endCxn id="36869" idx="4"/>
          </p:cNvCxnSpPr>
          <p:nvPr/>
        </p:nvCxnSpPr>
        <p:spPr bwMode="auto">
          <a:xfrm flipV="1">
            <a:off x="6813550" y="16494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3" name="AutoShape 19"/>
          <p:cNvCxnSpPr>
            <a:cxnSpLocks noChangeShapeType="1"/>
            <a:stCxn id="36869" idx="6"/>
            <a:endCxn id="36870" idx="2"/>
          </p:cNvCxnSpPr>
          <p:nvPr/>
        </p:nvCxnSpPr>
        <p:spPr bwMode="auto">
          <a:xfrm>
            <a:off x="7018338" y="14446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4" name="AutoShape 20"/>
          <p:cNvCxnSpPr>
            <a:cxnSpLocks noChangeShapeType="1"/>
            <a:stCxn id="36872" idx="6"/>
            <a:endCxn id="36873" idx="2"/>
          </p:cNvCxnSpPr>
          <p:nvPr/>
        </p:nvCxnSpPr>
        <p:spPr bwMode="auto">
          <a:xfrm>
            <a:off x="7018338" y="25908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5" name="AutoShape 21"/>
          <p:cNvCxnSpPr>
            <a:cxnSpLocks noChangeShapeType="1"/>
            <a:stCxn id="36874" idx="0"/>
            <a:endCxn id="36868" idx="5"/>
          </p:cNvCxnSpPr>
          <p:nvPr/>
        </p:nvCxnSpPr>
        <p:spPr bwMode="auto">
          <a:xfrm rot="5400000" flipH="1">
            <a:off x="4601369" y="17581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6" name="Text Box 22"/>
          <p:cNvSpPr txBox="1">
            <a:spLocks noChangeArrowheads="1"/>
          </p:cNvSpPr>
          <p:nvPr/>
        </p:nvSpPr>
        <p:spPr bwMode="auto">
          <a:xfrm>
            <a:off x="4205288" y="18335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6887" name="Text Box 23"/>
          <p:cNvSpPr txBox="1">
            <a:spLocks noChangeArrowheads="1"/>
          </p:cNvSpPr>
          <p:nvPr/>
        </p:nvSpPr>
        <p:spPr bwMode="auto">
          <a:xfrm>
            <a:off x="5222875" y="19812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6888" name="Text Box 24"/>
          <p:cNvSpPr txBox="1">
            <a:spLocks noChangeArrowheads="1"/>
          </p:cNvSpPr>
          <p:nvPr/>
        </p:nvSpPr>
        <p:spPr bwMode="auto">
          <a:xfrm>
            <a:off x="5002213" y="28051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6889" name="Text Box 25"/>
          <p:cNvSpPr txBox="1">
            <a:spLocks noChangeArrowheads="1"/>
          </p:cNvSpPr>
          <p:nvPr/>
        </p:nvSpPr>
        <p:spPr bwMode="auto">
          <a:xfrm>
            <a:off x="5002213" y="838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6890" name="Text Box 26"/>
          <p:cNvSpPr txBox="1">
            <a:spLocks noChangeArrowheads="1"/>
          </p:cNvSpPr>
          <p:nvPr/>
        </p:nvSpPr>
        <p:spPr bwMode="auto">
          <a:xfrm>
            <a:off x="6199188" y="838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6891" name="Text Box 27"/>
          <p:cNvSpPr txBox="1">
            <a:spLocks noChangeArrowheads="1"/>
          </p:cNvSpPr>
          <p:nvPr/>
        </p:nvSpPr>
        <p:spPr bwMode="auto">
          <a:xfrm>
            <a:off x="5548313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6892" name="Text Box 28"/>
          <p:cNvSpPr txBox="1">
            <a:spLocks noChangeArrowheads="1"/>
          </p:cNvSpPr>
          <p:nvPr/>
        </p:nvSpPr>
        <p:spPr bwMode="auto">
          <a:xfrm>
            <a:off x="6799263" y="1866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893" name="Text Box 29"/>
          <p:cNvSpPr txBox="1">
            <a:spLocks noChangeArrowheads="1"/>
          </p:cNvSpPr>
          <p:nvPr/>
        </p:nvSpPr>
        <p:spPr bwMode="auto">
          <a:xfrm>
            <a:off x="7618413" y="1066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6894" name="Text Box 30"/>
          <p:cNvSpPr txBox="1">
            <a:spLocks noChangeArrowheads="1"/>
          </p:cNvSpPr>
          <p:nvPr/>
        </p:nvSpPr>
        <p:spPr bwMode="auto">
          <a:xfrm>
            <a:off x="7564438" y="22018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6895" name="Text Box 31"/>
          <p:cNvSpPr txBox="1">
            <a:spLocks noChangeArrowheads="1"/>
          </p:cNvSpPr>
          <p:nvPr/>
        </p:nvSpPr>
        <p:spPr bwMode="auto">
          <a:xfrm>
            <a:off x="6138863" y="28241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6896" name="Text Box 32"/>
          <p:cNvSpPr txBox="1">
            <a:spLocks noChangeArrowheads="1"/>
          </p:cNvSpPr>
          <p:nvPr/>
        </p:nvSpPr>
        <p:spPr bwMode="auto">
          <a:xfrm>
            <a:off x="3748088" y="23971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36897" name="AutoShape 33"/>
          <p:cNvCxnSpPr>
            <a:cxnSpLocks noChangeShapeType="1"/>
            <a:stCxn id="36896" idx="3"/>
            <a:endCxn id="36871" idx="2"/>
          </p:cNvCxnSpPr>
          <p:nvPr/>
        </p:nvCxnSpPr>
        <p:spPr bwMode="auto">
          <a:xfrm flipV="1">
            <a:off x="4084638" y="2590800"/>
            <a:ext cx="334962" cy="4763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4195763" y="14065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14</a:t>
            </a:r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6380163" y="14065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8289925" y="14065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4195763" y="25527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7896" name="Oval 8"/>
          <p:cNvSpPr>
            <a:spLocks noChangeArrowheads="1"/>
          </p:cNvSpPr>
          <p:nvPr/>
        </p:nvSpPr>
        <p:spPr bwMode="auto">
          <a:xfrm>
            <a:off x="6380163" y="2552700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7897" name="Oval 9"/>
          <p:cNvSpPr>
            <a:spLocks noChangeArrowheads="1"/>
          </p:cNvSpPr>
          <p:nvPr/>
        </p:nvSpPr>
        <p:spPr bwMode="auto">
          <a:xfrm>
            <a:off x="8289925" y="25527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7898" name="Oval 10"/>
          <p:cNvSpPr>
            <a:spLocks noChangeArrowheads="1"/>
          </p:cNvSpPr>
          <p:nvPr/>
        </p:nvSpPr>
        <p:spPr bwMode="auto">
          <a:xfrm>
            <a:off x="5287963" y="30432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7899" name="Oval 11"/>
          <p:cNvSpPr>
            <a:spLocks noChangeArrowheads="1"/>
          </p:cNvSpPr>
          <p:nvPr/>
        </p:nvSpPr>
        <p:spPr bwMode="auto">
          <a:xfrm>
            <a:off x="5287963" y="9144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7900" name="AutoShape 12"/>
          <p:cNvCxnSpPr>
            <a:cxnSpLocks noChangeShapeType="1"/>
            <a:stCxn id="37899" idx="5"/>
            <a:endCxn id="37893" idx="1"/>
          </p:cNvCxnSpPr>
          <p:nvPr/>
        </p:nvCxnSpPr>
        <p:spPr bwMode="auto">
          <a:xfrm>
            <a:off x="5613400" y="12541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1" name="AutoShape 13"/>
          <p:cNvCxnSpPr>
            <a:cxnSpLocks noChangeShapeType="1"/>
            <a:stCxn id="37899" idx="3"/>
            <a:endCxn id="37892" idx="7"/>
          </p:cNvCxnSpPr>
          <p:nvPr/>
        </p:nvCxnSpPr>
        <p:spPr bwMode="auto">
          <a:xfrm flipH="1">
            <a:off x="4522788" y="12541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2" name="AutoShape 14"/>
          <p:cNvCxnSpPr>
            <a:cxnSpLocks noChangeShapeType="1"/>
            <a:stCxn id="37892" idx="6"/>
            <a:endCxn id="37893" idx="2"/>
          </p:cNvCxnSpPr>
          <p:nvPr/>
        </p:nvCxnSpPr>
        <p:spPr bwMode="auto">
          <a:xfrm>
            <a:off x="4591050" y="15970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3" name="AutoShape 15"/>
          <p:cNvCxnSpPr>
            <a:cxnSpLocks noChangeShapeType="1"/>
            <a:stCxn id="37895" idx="0"/>
            <a:endCxn id="37892" idx="4"/>
          </p:cNvCxnSpPr>
          <p:nvPr/>
        </p:nvCxnSpPr>
        <p:spPr bwMode="auto">
          <a:xfrm flipV="1">
            <a:off x="4386263" y="18018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4" name="AutoShape 16"/>
          <p:cNvCxnSpPr>
            <a:cxnSpLocks noChangeShapeType="1"/>
            <a:stCxn id="37895" idx="5"/>
            <a:endCxn id="37898" idx="1"/>
          </p:cNvCxnSpPr>
          <p:nvPr/>
        </p:nvCxnSpPr>
        <p:spPr bwMode="auto">
          <a:xfrm>
            <a:off x="4522788" y="28924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5" name="AutoShape 17"/>
          <p:cNvCxnSpPr>
            <a:cxnSpLocks noChangeShapeType="1"/>
            <a:stCxn id="37898" idx="7"/>
            <a:endCxn id="37896" idx="3"/>
          </p:cNvCxnSpPr>
          <p:nvPr/>
        </p:nvCxnSpPr>
        <p:spPr bwMode="auto">
          <a:xfrm flipV="1">
            <a:off x="5613400" y="28924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6" name="AutoShape 18"/>
          <p:cNvCxnSpPr>
            <a:cxnSpLocks noChangeShapeType="1"/>
            <a:stCxn id="37896" idx="0"/>
            <a:endCxn id="37893" idx="4"/>
          </p:cNvCxnSpPr>
          <p:nvPr/>
        </p:nvCxnSpPr>
        <p:spPr bwMode="auto">
          <a:xfrm flipV="1">
            <a:off x="6570663" y="18018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7" name="AutoShape 19"/>
          <p:cNvCxnSpPr>
            <a:cxnSpLocks noChangeShapeType="1"/>
            <a:stCxn id="37893" idx="6"/>
            <a:endCxn id="37894" idx="2"/>
          </p:cNvCxnSpPr>
          <p:nvPr/>
        </p:nvCxnSpPr>
        <p:spPr bwMode="auto">
          <a:xfrm>
            <a:off x="6775450" y="15970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8" name="AutoShape 20"/>
          <p:cNvCxnSpPr>
            <a:cxnSpLocks noChangeShapeType="1"/>
            <a:stCxn id="37896" idx="6"/>
            <a:endCxn id="37897" idx="2"/>
          </p:cNvCxnSpPr>
          <p:nvPr/>
        </p:nvCxnSpPr>
        <p:spPr bwMode="auto">
          <a:xfrm>
            <a:off x="6775450" y="27432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9" name="AutoShape 21"/>
          <p:cNvCxnSpPr>
            <a:cxnSpLocks noChangeShapeType="1"/>
            <a:stCxn id="37898" idx="0"/>
            <a:endCxn id="37892" idx="5"/>
          </p:cNvCxnSpPr>
          <p:nvPr/>
        </p:nvCxnSpPr>
        <p:spPr bwMode="auto">
          <a:xfrm rot="5400000" flipH="1">
            <a:off x="4358482" y="19105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0" name="Text Box 22"/>
          <p:cNvSpPr txBox="1">
            <a:spLocks noChangeArrowheads="1"/>
          </p:cNvSpPr>
          <p:nvPr/>
        </p:nvSpPr>
        <p:spPr bwMode="auto">
          <a:xfrm>
            <a:off x="3962400" y="19859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7911" name="Text Box 23"/>
          <p:cNvSpPr txBox="1">
            <a:spLocks noChangeArrowheads="1"/>
          </p:cNvSpPr>
          <p:nvPr/>
        </p:nvSpPr>
        <p:spPr bwMode="auto">
          <a:xfrm>
            <a:off x="4979988" y="21336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7912" name="Text Box 24"/>
          <p:cNvSpPr txBox="1">
            <a:spLocks noChangeArrowheads="1"/>
          </p:cNvSpPr>
          <p:nvPr/>
        </p:nvSpPr>
        <p:spPr bwMode="auto">
          <a:xfrm>
            <a:off x="4759325" y="2957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7913" name="Text Box 25"/>
          <p:cNvSpPr txBox="1">
            <a:spLocks noChangeArrowheads="1"/>
          </p:cNvSpPr>
          <p:nvPr/>
        </p:nvSpPr>
        <p:spPr bwMode="auto">
          <a:xfrm>
            <a:off x="4759325" y="990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914" name="Text Box 26"/>
          <p:cNvSpPr txBox="1">
            <a:spLocks noChangeArrowheads="1"/>
          </p:cNvSpPr>
          <p:nvPr/>
        </p:nvSpPr>
        <p:spPr bwMode="auto">
          <a:xfrm>
            <a:off x="5956300" y="990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7915" name="Text Box 27"/>
          <p:cNvSpPr txBox="1">
            <a:spLocks noChangeArrowheads="1"/>
          </p:cNvSpPr>
          <p:nvPr/>
        </p:nvSpPr>
        <p:spPr bwMode="auto">
          <a:xfrm>
            <a:off x="5305425" y="1295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7916" name="Text Box 28"/>
          <p:cNvSpPr txBox="1">
            <a:spLocks noChangeArrowheads="1"/>
          </p:cNvSpPr>
          <p:nvPr/>
        </p:nvSpPr>
        <p:spPr bwMode="auto">
          <a:xfrm>
            <a:off x="6556375" y="20193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7917" name="Text Box 29"/>
          <p:cNvSpPr txBox="1">
            <a:spLocks noChangeArrowheads="1"/>
          </p:cNvSpPr>
          <p:nvPr/>
        </p:nvSpPr>
        <p:spPr bwMode="auto">
          <a:xfrm>
            <a:off x="7375525" y="1219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7918" name="Text Box 30"/>
          <p:cNvSpPr txBox="1">
            <a:spLocks noChangeArrowheads="1"/>
          </p:cNvSpPr>
          <p:nvPr/>
        </p:nvSpPr>
        <p:spPr bwMode="auto">
          <a:xfrm>
            <a:off x="7321550" y="23542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7919" name="Text Box 31"/>
          <p:cNvSpPr txBox="1">
            <a:spLocks noChangeArrowheads="1"/>
          </p:cNvSpPr>
          <p:nvPr/>
        </p:nvSpPr>
        <p:spPr bwMode="auto">
          <a:xfrm>
            <a:off x="5895975" y="29765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7920" name="Text Box 32"/>
          <p:cNvSpPr txBox="1">
            <a:spLocks noChangeArrowheads="1"/>
          </p:cNvSpPr>
          <p:nvPr/>
        </p:nvSpPr>
        <p:spPr bwMode="auto">
          <a:xfrm>
            <a:off x="4692650" y="31591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37921" name="AutoShape 33"/>
          <p:cNvCxnSpPr>
            <a:cxnSpLocks noChangeShapeType="1"/>
            <a:stCxn id="37920" idx="3"/>
            <a:endCxn id="37898" idx="2"/>
          </p:cNvCxnSpPr>
          <p:nvPr/>
        </p:nvCxnSpPr>
        <p:spPr bwMode="auto">
          <a:xfrm flipV="1">
            <a:off x="5029200" y="3235325"/>
            <a:ext cx="239713" cy="122238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38916" name="Oval 4"/>
          <p:cNvSpPr>
            <a:spLocks noChangeArrowheads="1"/>
          </p:cNvSpPr>
          <p:nvPr/>
        </p:nvSpPr>
        <p:spPr bwMode="auto">
          <a:xfrm>
            <a:off x="4195763" y="14065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14</a:t>
            </a:r>
          </a:p>
        </p:txBody>
      </p:sp>
      <p:sp>
        <p:nvSpPr>
          <p:cNvPr id="38917" name="Oval 5"/>
          <p:cNvSpPr>
            <a:spLocks noChangeArrowheads="1"/>
          </p:cNvSpPr>
          <p:nvPr/>
        </p:nvSpPr>
        <p:spPr bwMode="auto">
          <a:xfrm>
            <a:off x="6380163" y="14065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8918" name="Oval 6"/>
          <p:cNvSpPr>
            <a:spLocks noChangeArrowheads="1"/>
          </p:cNvSpPr>
          <p:nvPr/>
        </p:nvSpPr>
        <p:spPr bwMode="auto">
          <a:xfrm>
            <a:off x="8289925" y="14065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8919" name="Oval 7"/>
          <p:cNvSpPr>
            <a:spLocks noChangeArrowheads="1"/>
          </p:cNvSpPr>
          <p:nvPr/>
        </p:nvSpPr>
        <p:spPr bwMode="auto">
          <a:xfrm>
            <a:off x="4195763" y="25527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8920" name="Oval 8"/>
          <p:cNvSpPr>
            <a:spLocks noChangeArrowheads="1"/>
          </p:cNvSpPr>
          <p:nvPr/>
        </p:nvSpPr>
        <p:spPr bwMode="auto">
          <a:xfrm>
            <a:off x="6380163" y="2552700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38921" name="Oval 9"/>
          <p:cNvSpPr>
            <a:spLocks noChangeArrowheads="1"/>
          </p:cNvSpPr>
          <p:nvPr/>
        </p:nvSpPr>
        <p:spPr bwMode="auto">
          <a:xfrm>
            <a:off x="8289925" y="25527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8922" name="Oval 10"/>
          <p:cNvSpPr>
            <a:spLocks noChangeArrowheads="1"/>
          </p:cNvSpPr>
          <p:nvPr/>
        </p:nvSpPr>
        <p:spPr bwMode="auto">
          <a:xfrm>
            <a:off x="5287963" y="30432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8923" name="Oval 11"/>
          <p:cNvSpPr>
            <a:spLocks noChangeArrowheads="1"/>
          </p:cNvSpPr>
          <p:nvPr/>
        </p:nvSpPr>
        <p:spPr bwMode="auto">
          <a:xfrm>
            <a:off x="5287963" y="9144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8924" name="AutoShape 12"/>
          <p:cNvCxnSpPr>
            <a:cxnSpLocks noChangeShapeType="1"/>
            <a:stCxn id="38923" idx="5"/>
            <a:endCxn id="38917" idx="1"/>
          </p:cNvCxnSpPr>
          <p:nvPr/>
        </p:nvCxnSpPr>
        <p:spPr bwMode="auto">
          <a:xfrm>
            <a:off x="5613400" y="12541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5" name="AutoShape 13"/>
          <p:cNvCxnSpPr>
            <a:cxnSpLocks noChangeShapeType="1"/>
            <a:stCxn id="38923" idx="3"/>
            <a:endCxn id="38916" idx="7"/>
          </p:cNvCxnSpPr>
          <p:nvPr/>
        </p:nvCxnSpPr>
        <p:spPr bwMode="auto">
          <a:xfrm flipH="1">
            <a:off x="4522788" y="12541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6" name="AutoShape 14"/>
          <p:cNvCxnSpPr>
            <a:cxnSpLocks noChangeShapeType="1"/>
            <a:stCxn id="38916" idx="6"/>
            <a:endCxn id="38917" idx="2"/>
          </p:cNvCxnSpPr>
          <p:nvPr/>
        </p:nvCxnSpPr>
        <p:spPr bwMode="auto">
          <a:xfrm>
            <a:off x="4591050" y="15970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7" name="AutoShape 15"/>
          <p:cNvCxnSpPr>
            <a:cxnSpLocks noChangeShapeType="1"/>
            <a:stCxn id="38919" idx="0"/>
            <a:endCxn id="38916" idx="4"/>
          </p:cNvCxnSpPr>
          <p:nvPr/>
        </p:nvCxnSpPr>
        <p:spPr bwMode="auto">
          <a:xfrm flipV="1">
            <a:off x="4386263" y="18018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8" name="AutoShape 16"/>
          <p:cNvCxnSpPr>
            <a:cxnSpLocks noChangeShapeType="1"/>
            <a:stCxn id="38919" idx="5"/>
            <a:endCxn id="38922" idx="1"/>
          </p:cNvCxnSpPr>
          <p:nvPr/>
        </p:nvCxnSpPr>
        <p:spPr bwMode="auto">
          <a:xfrm>
            <a:off x="4522788" y="28924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17"/>
          <p:cNvCxnSpPr>
            <a:cxnSpLocks noChangeShapeType="1"/>
            <a:stCxn id="38922" idx="7"/>
            <a:endCxn id="38920" idx="3"/>
          </p:cNvCxnSpPr>
          <p:nvPr/>
        </p:nvCxnSpPr>
        <p:spPr bwMode="auto">
          <a:xfrm flipV="1">
            <a:off x="5613400" y="28924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0" name="AutoShape 18"/>
          <p:cNvCxnSpPr>
            <a:cxnSpLocks noChangeShapeType="1"/>
            <a:stCxn id="38920" idx="0"/>
            <a:endCxn id="38917" idx="4"/>
          </p:cNvCxnSpPr>
          <p:nvPr/>
        </p:nvCxnSpPr>
        <p:spPr bwMode="auto">
          <a:xfrm flipV="1">
            <a:off x="6570663" y="18018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1" name="AutoShape 19"/>
          <p:cNvCxnSpPr>
            <a:cxnSpLocks noChangeShapeType="1"/>
            <a:stCxn id="38917" idx="6"/>
            <a:endCxn id="38918" idx="2"/>
          </p:cNvCxnSpPr>
          <p:nvPr/>
        </p:nvCxnSpPr>
        <p:spPr bwMode="auto">
          <a:xfrm>
            <a:off x="6775450" y="15970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2" name="AutoShape 20"/>
          <p:cNvCxnSpPr>
            <a:cxnSpLocks noChangeShapeType="1"/>
            <a:stCxn id="38920" idx="6"/>
            <a:endCxn id="38921" idx="2"/>
          </p:cNvCxnSpPr>
          <p:nvPr/>
        </p:nvCxnSpPr>
        <p:spPr bwMode="auto">
          <a:xfrm>
            <a:off x="6775450" y="27432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3" name="AutoShape 21"/>
          <p:cNvCxnSpPr>
            <a:cxnSpLocks noChangeShapeType="1"/>
            <a:stCxn id="38922" idx="0"/>
            <a:endCxn id="38916" idx="5"/>
          </p:cNvCxnSpPr>
          <p:nvPr/>
        </p:nvCxnSpPr>
        <p:spPr bwMode="auto">
          <a:xfrm rot="5400000" flipH="1">
            <a:off x="4358482" y="19105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4" name="Text Box 22"/>
          <p:cNvSpPr txBox="1">
            <a:spLocks noChangeArrowheads="1"/>
          </p:cNvSpPr>
          <p:nvPr/>
        </p:nvSpPr>
        <p:spPr bwMode="auto">
          <a:xfrm>
            <a:off x="3962400" y="19859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4979988" y="21336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8936" name="Text Box 24"/>
          <p:cNvSpPr txBox="1">
            <a:spLocks noChangeArrowheads="1"/>
          </p:cNvSpPr>
          <p:nvPr/>
        </p:nvSpPr>
        <p:spPr bwMode="auto">
          <a:xfrm>
            <a:off x="4759325" y="2957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8937" name="Text Box 25"/>
          <p:cNvSpPr txBox="1">
            <a:spLocks noChangeArrowheads="1"/>
          </p:cNvSpPr>
          <p:nvPr/>
        </p:nvSpPr>
        <p:spPr bwMode="auto">
          <a:xfrm>
            <a:off x="4759325" y="990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8938" name="Text Box 26"/>
          <p:cNvSpPr txBox="1">
            <a:spLocks noChangeArrowheads="1"/>
          </p:cNvSpPr>
          <p:nvPr/>
        </p:nvSpPr>
        <p:spPr bwMode="auto">
          <a:xfrm>
            <a:off x="5956300" y="990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8939" name="Text Box 27"/>
          <p:cNvSpPr txBox="1">
            <a:spLocks noChangeArrowheads="1"/>
          </p:cNvSpPr>
          <p:nvPr/>
        </p:nvSpPr>
        <p:spPr bwMode="auto">
          <a:xfrm>
            <a:off x="5305425" y="1295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8940" name="Text Box 28"/>
          <p:cNvSpPr txBox="1">
            <a:spLocks noChangeArrowheads="1"/>
          </p:cNvSpPr>
          <p:nvPr/>
        </p:nvSpPr>
        <p:spPr bwMode="auto">
          <a:xfrm>
            <a:off x="6556375" y="20193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941" name="Text Box 29"/>
          <p:cNvSpPr txBox="1">
            <a:spLocks noChangeArrowheads="1"/>
          </p:cNvSpPr>
          <p:nvPr/>
        </p:nvSpPr>
        <p:spPr bwMode="auto">
          <a:xfrm>
            <a:off x="7375525" y="1219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8942" name="Text Box 30"/>
          <p:cNvSpPr txBox="1">
            <a:spLocks noChangeArrowheads="1"/>
          </p:cNvSpPr>
          <p:nvPr/>
        </p:nvSpPr>
        <p:spPr bwMode="auto">
          <a:xfrm>
            <a:off x="7321550" y="23542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8943" name="Text Box 31"/>
          <p:cNvSpPr txBox="1">
            <a:spLocks noChangeArrowheads="1"/>
          </p:cNvSpPr>
          <p:nvPr/>
        </p:nvSpPr>
        <p:spPr bwMode="auto">
          <a:xfrm>
            <a:off x="5895975" y="29765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8944" name="Text Box 32"/>
          <p:cNvSpPr txBox="1">
            <a:spLocks noChangeArrowheads="1"/>
          </p:cNvSpPr>
          <p:nvPr/>
        </p:nvSpPr>
        <p:spPr bwMode="auto">
          <a:xfrm>
            <a:off x="4692650" y="31591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38945" name="AutoShape 33"/>
          <p:cNvCxnSpPr>
            <a:cxnSpLocks noChangeShapeType="1"/>
            <a:stCxn id="38944" idx="3"/>
            <a:endCxn id="38922" idx="2"/>
          </p:cNvCxnSpPr>
          <p:nvPr/>
        </p:nvCxnSpPr>
        <p:spPr bwMode="auto">
          <a:xfrm flipV="1">
            <a:off x="5029200" y="3235325"/>
            <a:ext cx="239713" cy="122238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39940" name="Oval 4"/>
          <p:cNvSpPr>
            <a:spLocks noChangeArrowheads="1"/>
          </p:cNvSpPr>
          <p:nvPr/>
        </p:nvSpPr>
        <p:spPr bwMode="auto">
          <a:xfrm>
            <a:off x="4195763" y="13303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6380163" y="13303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9942" name="Oval 6"/>
          <p:cNvSpPr>
            <a:spLocks noChangeArrowheads="1"/>
          </p:cNvSpPr>
          <p:nvPr/>
        </p:nvSpPr>
        <p:spPr bwMode="auto">
          <a:xfrm>
            <a:off x="8289925" y="13303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9943" name="Oval 7"/>
          <p:cNvSpPr>
            <a:spLocks noChangeArrowheads="1"/>
          </p:cNvSpPr>
          <p:nvPr/>
        </p:nvSpPr>
        <p:spPr bwMode="auto">
          <a:xfrm>
            <a:off x="4195763" y="24765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39944" name="Oval 8"/>
          <p:cNvSpPr>
            <a:spLocks noChangeArrowheads="1"/>
          </p:cNvSpPr>
          <p:nvPr/>
        </p:nvSpPr>
        <p:spPr bwMode="auto">
          <a:xfrm>
            <a:off x="6380163" y="2476500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39945" name="Oval 9"/>
          <p:cNvSpPr>
            <a:spLocks noChangeArrowheads="1"/>
          </p:cNvSpPr>
          <p:nvPr/>
        </p:nvSpPr>
        <p:spPr bwMode="auto">
          <a:xfrm>
            <a:off x="8289925" y="24765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9946" name="Oval 10"/>
          <p:cNvSpPr>
            <a:spLocks noChangeArrowheads="1"/>
          </p:cNvSpPr>
          <p:nvPr/>
        </p:nvSpPr>
        <p:spPr bwMode="auto">
          <a:xfrm>
            <a:off x="5287963" y="29670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9947" name="Oval 11"/>
          <p:cNvSpPr>
            <a:spLocks noChangeArrowheads="1"/>
          </p:cNvSpPr>
          <p:nvPr/>
        </p:nvSpPr>
        <p:spPr bwMode="auto">
          <a:xfrm>
            <a:off x="5287963" y="8382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39948" name="AutoShape 12"/>
          <p:cNvCxnSpPr>
            <a:cxnSpLocks noChangeShapeType="1"/>
            <a:stCxn id="39947" idx="5"/>
            <a:endCxn id="39941" idx="1"/>
          </p:cNvCxnSpPr>
          <p:nvPr/>
        </p:nvCxnSpPr>
        <p:spPr bwMode="auto">
          <a:xfrm>
            <a:off x="5613400" y="11779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9" name="AutoShape 13"/>
          <p:cNvCxnSpPr>
            <a:cxnSpLocks noChangeShapeType="1"/>
            <a:stCxn id="39947" idx="3"/>
            <a:endCxn id="39940" idx="7"/>
          </p:cNvCxnSpPr>
          <p:nvPr/>
        </p:nvCxnSpPr>
        <p:spPr bwMode="auto">
          <a:xfrm flipH="1">
            <a:off x="4522788" y="11779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0" name="AutoShape 14"/>
          <p:cNvCxnSpPr>
            <a:cxnSpLocks noChangeShapeType="1"/>
            <a:stCxn id="39940" idx="6"/>
            <a:endCxn id="39941" idx="2"/>
          </p:cNvCxnSpPr>
          <p:nvPr/>
        </p:nvCxnSpPr>
        <p:spPr bwMode="auto">
          <a:xfrm>
            <a:off x="4591050" y="15208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1" name="AutoShape 15"/>
          <p:cNvCxnSpPr>
            <a:cxnSpLocks noChangeShapeType="1"/>
            <a:stCxn id="39943" idx="0"/>
            <a:endCxn id="39940" idx="4"/>
          </p:cNvCxnSpPr>
          <p:nvPr/>
        </p:nvCxnSpPr>
        <p:spPr bwMode="auto">
          <a:xfrm flipV="1">
            <a:off x="4386263" y="17256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AutoShape 16"/>
          <p:cNvCxnSpPr>
            <a:cxnSpLocks noChangeShapeType="1"/>
            <a:stCxn id="39943" idx="5"/>
            <a:endCxn id="39946" idx="1"/>
          </p:cNvCxnSpPr>
          <p:nvPr/>
        </p:nvCxnSpPr>
        <p:spPr bwMode="auto">
          <a:xfrm>
            <a:off x="4522788" y="28162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AutoShape 17"/>
          <p:cNvCxnSpPr>
            <a:cxnSpLocks noChangeShapeType="1"/>
            <a:stCxn id="39946" idx="7"/>
            <a:endCxn id="39944" idx="3"/>
          </p:cNvCxnSpPr>
          <p:nvPr/>
        </p:nvCxnSpPr>
        <p:spPr bwMode="auto">
          <a:xfrm flipV="1">
            <a:off x="5613400" y="28162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4" name="AutoShape 18"/>
          <p:cNvCxnSpPr>
            <a:cxnSpLocks noChangeShapeType="1"/>
            <a:stCxn id="39944" idx="0"/>
            <a:endCxn id="39941" idx="4"/>
          </p:cNvCxnSpPr>
          <p:nvPr/>
        </p:nvCxnSpPr>
        <p:spPr bwMode="auto">
          <a:xfrm flipV="1">
            <a:off x="6570663" y="17256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5" name="AutoShape 19"/>
          <p:cNvCxnSpPr>
            <a:cxnSpLocks noChangeShapeType="1"/>
            <a:stCxn id="39941" idx="6"/>
            <a:endCxn id="39942" idx="2"/>
          </p:cNvCxnSpPr>
          <p:nvPr/>
        </p:nvCxnSpPr>
        <p:spPr bwMode="auto">
          <a:xfrm>
            <a:off x="6775450" y="15208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6" name="AutoShape 20"/>
          <p:cNvCxnSpPr>
            <a:cxnSpLocks noChangeShapeType="1"/>
            <a:stCxn id="39944" idx="6"/>
            <a:endCxn id="39945" idx="2"/>
          </p:cNvCxnSpPr>
          <p:nvPr/>
        </p:nvCxnSpPr>
        <p:spPr bwMode="auto">
          <a:xfrm>
            <a:off x="6775450" y="26670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7" name="AutoShape 21"/>
          <p:cNvCxnSpPr>
            <a:cxnSpLocks noChangeShapeType="1"/>
            <a:stCxn id="39946" idx="0"/>
            <a:endCxn id="39940" idx="5"/>
          </p:cNvCxnSpPr>
          <p:nvPr/>
        </p:nvCxnSpPr>
        <p:spPr bwMode="auto">
          <a:xfrm rot="5400000" flipH="1">
            <a:off x="4358482" y="18343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8" name="Text Box 22"/>
          <p:cNvSpPr txBox="1">
            <a:spLocks noChangeArrowheads="1"/>
          </p:cNvSpPr>
          <p:nvPr/>
        </p:nvSpPr>
        <p:spPr bwMode="auto">
          <a:xfrm>
            <a:off x="3962400" y="19097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39959" name="Text Box 23"/>
          <p:cNvSpPr txBox="1">
            <a:spLocks noChangeArrowheads="1"/>
          </p:cNvSpPr>
          <p:nvPr/>
        </p:nvSpPr>
        <p:spPr bwMode="auto">
          <a:xfrm>
            <a:off x="4979988" y="20574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39960" name="Text Box 24"/>
          <p:cNvSpPr txBox="1">
            <a:spLocks noChangeArrowheads="1"/>
          </p:cNvSpPr>
          <p:nvPr/>
        </p:nvSpPr>
        <p:spPr bwMode="auto">
          <a:xfrm>
            <a:off x="4759325" y="2881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961" name="Text Box 25"/>
          <p:cNvSpPr txBox="1">
            <a:spLocks noChangeArrowheads="1"/>
          </p:cNvSpPr>
          <p:nvPr/>
        </p:nvSpPr>
        <p:spPr bwMode="auto">
          <a:xfrm>
            <a:off x="4759325" y="914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9962" name="Text Box 26"/>
          <p:cNvSpPr txBox="1">
            <a:spLocks noChangeArrowheads="1"/>
          </p:cNvSpPr>
          <p:nvPr/>
        </p:nvSpPr>
        <p:spPr bwMode="auto">
          <a:xfrm>
            <a:off x="5956300" y="914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9963" name="Text Box 27"/>
          <p:cNvSpPr txBox="1">
            <a:spLocks noChangeArrowheads="1"/>
          </p:cNvSpPr>
          <p:nvPr/>
        </p:nvSpPr>
        <p:spPr bwMode="auto">
          <a:xfrm>
            <a:off x="5305425" y="1219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39964" name="Text Box 28"/>
          <p:cNvSpPr txBox="1">
            <a:spLocks noChangeArrowheads="1"/>
          </p:cNvSpPr>
          <p:nvPr/>
        </p:nvSpPr>
        <p:spPr bwMode="auto">
          <a:xfrm>
            <a:off x="6556375" y="1943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9965" name="Text Box 29"/>
          <p:cNvSpPr txBox="1">
            <a:spLocks noChangeArrowheads="1"/>
          </p:cNvSpPr>
          <p:nvPr/>
        </p:nvSpPr>
        <p:spPr bwMode="auto">
          <a:xfrm>
            <a:off x="7375525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9966" name="Text Box 30"/>
          <p:cNvSpPr txBox="1">
            <a:spLocks noChangeArrowheads="1"/>
          </p:cNvSpPr>
          <p:nvPr/>
        </p:nvSpPr>
        <p:spPr bwMode="auto">
          <a:xfrm>
            <a:off x="7321550" y="22780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9967" name="Text Box 31"/>
          <p:cNvSpPr txBox="1">
            <a:spLocks noChangeArrowheads="1"/>
          </p:cNvSpPr>
          <p:nvPr/>
        </p:nvSpPr>
        <p:spPr bwMode="auto">
          <a:xfrm>
            <a:off x="5895975" y="29003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9968" name="Text Box 32"/>
          <p:cNvSpPr txBox="1">
            <a:spLocks noChangeArrowheads="1"/>
          </p:cNvSpPr>
          <p:nvPr/>
        </p:nvSpPr>
        <p:spPr bwMode="auto">
          <a:xfrm>
            <a:off x="4692650" y="30829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39969" name="AutoShape 33"/>
          <p:cNvCxnSpPr>
            <a:cxnSpLocks noChangeShapeType="1"/>
            <a:stCxn id="39968" idx="3"/>
            <a:endCxn id="39946" idx="2"/>
          </p:cNvCxnSpPr>
          <p:nvPr/>
        </p:nvCxnSpPr>
        <p:spPr bwMode="auto">
          <a:xfrm flipV="1">
            <a:off x="5029200" y="3159125"/>
            <a:ext cx="239713" cy="122238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40964" name="Oval 4"/>
          <p:cNvSpPr>
            <a:spLocks noChangeArrowheads="1"/>
          </p:cNvSpPr>
          <p:nvPr/>
        </p:nvSpPr>
        <p:spPr bwMode="auto">
          <a:xfrm>
            <a:off x="4195763" y="15589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6380163" y="15589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8289925" y="15589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4195763" y="27051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6380163" y="27051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0969" name="Oval 9"/>
          <p:cNvSpPr>
            <a:spLocks noChangeArrowheads="1"/>
          </p:cNvSpPr>
          <p:nvPr/>
        </p:nvSpPr>
        <p:spPr bwMode="auto">
          <a:xfrm>
            <a:off x="8289925" y="27051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0970" name="Oval 10"/>
          <p:cNvSpPr>
            <a:spLocks noChangeArrowheads="1"/>
          </p:cNvSpPr>
          <p:nvPr/>
        </p:nvSpPr>
        <p:spPr bwMode="auto">
          <a:xfrm>
            <a:off x="5287963" y="31956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0971" name="Oval 11"/>
          <p:cNvSpPr>
            <a:spLocks noChangeArrowheads="1"/>
          </p:cNvSpPr>
          <p:nvPr/>
        </p:nvSpPr>
        <p:spPr bwMode="auto">
          <a:xfrm>
            <a:off x="5287963" y="10668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40972" name="AutoShape 12"/>
          <p:cNvCxnSpPr>
            <a:cxnSpLocks noChangeShapeType="1"/>
            <a:stCxn id="40971" idx="5"/>
            <a:endCxn id="40965" idx="1"/>
          </p:cNvCxnSpPr>
          <p:nvPr/>
        </p:nvCxnSpPr>
        <p:spPr bwMode="auto">
          <a:xfrm>
            <a:off x="5613400" y="14065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3" name="AutoShape 13"/>
          <p:cNvCxnSpPr>
            <a:cxnSpLocks noChangeShapeType="1"/>
            <a:stCxn id="40971" idx="3"/>
            <a:endCxn id="40964" idx="7"/>
          </p:cNvCxnSpPr>
          <p:nvPr/>
        </p:nvCxnSpPr>
        <p:spPr bwMode="auto">
          <a:xfrm flipH="1">
            <a:off x="4522788" y="14065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4" name="AutoShape 14"/>
          <p:cNvCxnSpPr>
            <a:cxnSpLocks noChangeShapeType="1"/>
            <a:stCxn id="40964" idx="6"/>
            <a:endCxn id="40965" idx="2"/>
          </p:cNvCxnSpPr>
          <p:nvPr/>
        </p:nvCxnSpPr>
        <p:spPr bwMode="auto">
          <a:xfrm>
            <a:off x="4591050" y="17494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5" name="AutoShape 15"/>
          <p:cNvCxnSpPr>
            <a:cxnSpLocks noChangeShapeType="1"/>
            <a:stCxn id="40967" idx="0"/>
            <a:endCxn id="40964" idx="4"/>
          </p:cNvCxnSpPr>
          <p:nvPr/>
        </p:nvCxnSpPr>
        <p:spPr bwMode="auto">
          <a:xfrm flipV="1">
            <a:off x="4386263" y="19542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6" name="AutoShape 16"/>
          <p:cNvCxnSpPr>
            <a:cxnSpLocks noChangeShapeType="1"/>
            <a:stCxn id="40967" idx="5"/>
            <a:endCxn id="40970" idx="1"/>
          </p:cNvCxnSpPr>
          <p:nvPr/>
        </p:nvCxnSpPr>
        <p:spPr bwMode="auto">
          <a:xfrm>
            <a:off x="4522788" y="30448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7" name="AutoShape 17"/>
          <p:cNvCxnSpPr>
            <a:cxnSpLocks noChangeShapeType="1"/>
            <a:stCxn id="40970" idx="7"/>
            <a:endCxn id="40968" idx="3"/>
          </p:cNvCxnSpPr>
          <p:nvPr/>
        </p:nvCxnSpPr>
        <p:spPr bwMode="auto">
          <a:xfrm flipV="1">
            <a:off x="5613400" y="30448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8" name="AutoShape 18"/>
          <p:cNvCxnSpPr>
            <a:cxnSpLocks noChangeShapeType="1"/>
            <a:stCxn id="40968" idx="0"/>
            <a:endCxn id="40965" idx="4"/>
          </p:cNvCxnSpPr>
          <p:nvPr/>
        </p:nvCxnSpPr>
        <p:spPr bwMode="auto">
          <a:xfrm flipV="1">
            <a:off x="6570663" y="19542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9" name="AutoShape 19"/>
          <p:cNvCxnSpPr>
            <a:cxnSpLocks noChangeShapeType="1"/>
            <a:stCxn id="40965" idx="6"/>
            <a:endCxn id="40966" idx="2"/>
          </p:cNvCxnSpPr>
          <p:nvPr/>
        </p:nvCxnSpPr>
        <p:spPr bwMode="auto">
          <a:xfrm>
            <a:off x="6775450" y="17494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0" name="AutoShape 20"/>
          <p:cNvCxnSpPr>
            <a:cxnSpLocks noChangeShapeType="1"/>
            <a:stCxn id="40968" idx="6"/>
            <a:endCxn id="40969" idx="2"/>
          </p:cNvCxnSpPr>
          <p:nvPr/>
        </p:nvCxnSpPr>
        <p:spPr bwMode="auto">
          <a:xfrm>
            <a:off x="6775450" y="28956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1" name="AutoShape 21"/>
          <p:cNvCxnSpPr>
            <a:cxnSpLocks noChangeShapeType="1"/>
            <a:stCxn id="40970" idx="0"/>
            <a:endCxn id="40964" idx="5"/>
          </p:cNvCxnSpPr>
          <p:nvPr/>
        </p:nvCxnSpPr>
        <p:spPr bwMode="auto">
          <a:xfrm rot="5400000" flipH="1">
            <a:off x="4358482" y="20629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82" name="Text Box 22"/>
          <p:cNvSpPr txBox="1">
            <a:spLocks noChangeArrowheads="1"/>
          </p:cNvSpPr>
          <p:nvPr/>
        </p:nvSpPr>
        <p:spPr bwMode="auto">
          <a:xfrm>
            <a:off x="3962400" y="21383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0983" name="Text Box 23"/>
          <p:cNvSpPr txBox="1">
            <a:spLocks noChangeArrowheads="1"/>
          </p:cNvSpPr>
          <p:nvPr/>
        </p:nvSpPr>
        <p:spPr bwMode="auto">
          <a:xfrm>
            <a:off x="4979988" y="22860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0984" name="Text Box 24"/>
          <p:cNvSpPr txBox="1">
            <a:spLocks noChangeArrowheads="1"/>
          </p:cNvSpPr>
          <p:nvPr/>
        </p:nvSpPr>
        <p:spPr bwMode="auto">
          <a:xfrm>
            <a:off x="4759325" y="31099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985" name="Text Box 25"/>
          <p:cNvSpPr txBox="1">
            <a:spLocks noChangeArrowheads="1"/>
          </p:cNvSpPr>
          <p:nvPr/>
        </p:nvSpPr>
        <p:spPr bwMode="auto">
          <a:xfrm>
            <a:off x="4759325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5956300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auto">
          <a:xfrm>
            <a:off x="5305425" y="1447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988" name="Text Box 28"/>
          <p:cNvSpPr txBox="1">
            <a:spLocks noChangeArrowheads="1"/>
          </p:cNvSpPr>
          <p:nvPr/>
        </p:nvSpPr>
        <p:spPr bwMode="auto">
          <a:xfrm>
            <a:off x="6556375" y="21717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7375525" y="1371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auto">
          <a:xfrm>
            <a:off x="7321550" y="25066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0991" name="Text Box 31"/>
          <p:cNvSpPr txBox="1">
            <a:spLocks noChangeArrowheads="1"/>
          </p:cNvSpPr>
          <p:nvPr/>
        </p:nvSpPr>
        <p:spPr bwMode="auto">
          <a:xfrm>
            <a:off x="5895975" y="31289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0992" name="Text Box 32"/>
          <p:cNvSpPr txBox="1">
            <a:spLocks noChangeArrowheads="1"/>
          </p:cNvSpPr>
          <p:nvPr/>
        </p:nvSpPr>
        <p:spPr bwMode="auto">
          <a:xfrm>
            <a:off x="6553200" y="33528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40993" name="AutoShape 33"/>
          <p:cNvCxnSpPr>
            <a:cxnSpLocks noChangeShapeType="1"/>
            <a:stCxn id="40992" idx="0"/>
            <a:endCxn id="40968" idx="4"/>
          </p:cNvCxnSpPr>
          <p:nvPr/>
        </p:nvCxnSpPr>
        <p:spPr bwMode="auto">
          <a:xfrm flipH="1" flipV="1">
            <a:off x="6570663" y="3105150"/>
            <a:ext cx="150812" cy="24765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4195763" y="14827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41989" name="Oval 5"/>
          <p:cNvSpPr>
            <a:spLocks noChangeArrowheads="1"/>
          </p:cNvSpPr>
          <p:nvPr/>
        </p:nvSpPr>
        <p:spPr bwMode="auto">
          <a:xfrm>
            <a:off x="6380163" y="14827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8289925" y="14827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1991" name="Oval 7"/>
          <p:cNvSpPr>
            <a:spLocks noChangeArrowheads="1"/>
          </p:cNvSpPr>
          <p:nvPr/>
        </p:nvSpPr>
        <p:spPr bwMode="auto">
          <a:xfrm>
            <a:off x="4195763" y="26289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1992" name="Oval 8"/>
          <p:cNvSpPr>
            <a:spLocks noChangeArrowheads="1"/>
          </p:cNvSpPr>
          <p:nvPr/>
        </p:nvSpPr>
        <p:spPr bwMode="auto">
          <a:xfrm>
            <a:off x="6380163" y="26289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1993" name="Oval 9"/>
          <p:cNvSpPr>
            <a:spLocks noChangeArrowheads="1"/>
          </p:cNvSpPr>
          <p:nvPr/>
        </p:nvSpPr>
        <p:spPr bwMode="auto">
          <a:xfrm>
            <a:off x="8289925" y="26289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1994" name="Oval 10"/>
          <p:cNvSpPr>
            <a:spLocks noChangeArrowheads="1"/>
          </p:cNvSpPr>
          <p:nvPr/>
        </p:nvSpPr>
        <p:spPr bwMode="auto">
          <a:xfrm>
            <a:off x="5287963" y="31194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1995" name="Oval 11"/>
          <p:cNvSpPr>
            <a:spLocks noChangeArrowheads="1"/>
          </p:cNvSpPr>
          <p:nvPr/>
        </p:nvSpPr>
        <p:spPr bwMode="auto">
          <a:xfrm>
            <a:off x="5287963" y="9906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41996" name="AutoShape 12"/>
          <p:cNvCxnSpPr>
            <a:cxnSpLocks noChangeShapeType="1"/>
            <a:stCxn id="41995" idx="5"/>
            <a:endCxn id="41989" idx="1"/>
          </p:cNvCxnSpPr>
          <p:nvPr/>
        </p:nvCxnSpPr>
        <p:spPr bwMode="auto">
          <a:xfrm>
            <a:off x="5613400" y="13303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7" name="AutoShape 13"/>
          <p:cNvCxnSpPr>
            <a:cxnSpLocks noChangeShapeType="1"/>
            <a:stCxn id="41995" idx="3"/>
            <a:endCxn id="41988" idx="7"/>
          </p:cNvCxnSpPr>
          <p:nvPr/>
        </p:nvCxnSpPr>
        <p:spPr bwMode="auto">
          <a:xfrm flipH="1">
            <a:off x="4522788" y="13303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8" name="AutoShape 14"/>
          <p:cNvCxnSpPr>
            <a:cxnSpLocks noChangeShapeType="1"/>
            <a:stCxn id="41988" idx="6"/>
            <a:endCxn id="41989" idx="2"/>
          </p:cNvCxnSpPr>
          <p:nvPr/>
        </p:nvCxnSpPr>
        <p:spPr bwMode="auto">
          <a:xfrm>
            <a:off x="4591050" y="16732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9" name="AutoShape 15"/>
          <p:cNvCxnSpPr>
            <a:cxnSpLocks noChangeShapeType="1"/>
            <a:stCxn id="41991" idx="0"/>
            <a:endCxn id="41988" idx="4"/>
          </p:cNvCxnSpPr>
          <p:nvPr/>
        </p:nvCxnSpPr>
        <p:spPr bwMode="auto">
          <a:xfrm flipV="1">
            <a:off x="4386263" y="18780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0" name="AutoShape 16"/>
          <p:cNvCxnSpPr>
            <a:cxnSpLocks noChangeShapeType="1"/>
            <a:stCxn id="41991" idx="5"/>
            <a:endCxn id="41994" idx="1"/>
          </p:cNvCxnSpPr>
          <p:nvPr/>
        </p:nvCxnSpPr>
        <p:spPr bwMode="auto">
          <a:xfrm>
            <a:off x="4522788" y="29686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1" name="AutoShape 17"/>
          <p:cNvCxnSpPr>
            <a:cxnSpLocks noChangeShapeType="1"/>
            <a:stCxn id="41994" idx="7"/>
            <a:endCxn id="41992" idx="3"/>
          </p:cNvCxnSpPr>
          <p:nvPr/>
        </p:nvCxnSpPr>
        <p:spPr bwMode="auto">
          <a:xfrm flipV="1">
            <a:off x="5613400" y="29686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2" name="AutoShape 18"/>
          <p:cNvCxnSpPr>
            <a:cxnSpLocks noChangeShapeType="1"/>
            <a:stCxn id="41992" idx="0"/>
            <a:endCxn id="41989" idx="4"/>
          </p:cNvCxnSpPr>
          <p:nvPr/>
        </p:nvCxnSpPr>
        <p:spPr bwMode="auto">
          <a:xfrm flipV="1">
            <a:off x="6570663" y="18780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3" name="AutoShape 19"/>
          <p:cNvCxnSpPr>
            <a:cxnSpLocks noChangeShapeType="1"/>
            <a:stCxn id="41989" idx="6"/>
            <a:endCxn id="41990" idx="2"/>
          </p:cNvCxnSpPr>
          <p:nvPr/>
        </p:nvCxnSpPr>
        <p:spPr bwMode="auto">
          <a:xfrm>
            <a:off x="6775450" y="16732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4" name="AutoShape 20"/>
          <p:cNvCxnSpPr>
            <a:cxnSpLocks noChangeShapeType="1"/>
            <a:stCxn id="41992" idx="6"/>
            <a:endCxn id="41993" idx="2"/>
          </p:cNvCxnSpPr>
          <p:nvPr/>
        </p:nvCxnSpPr>
        <p:spPr bwMode="auto">
          <a:xfrm>
            <a:off x="6775450" y="28194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5" name="AutoShape 21"/>
          <p:cNvCxnSpPr>
            <a:cxnSpLocks noChangeShapeType="1"/>
            <a:stCxn id="41994" idx="0"/>
            <a:endCxn id="41988" idx="5"/>
          </p:cNvCxnSpPr>
          <p:nvPr/>
        </p:nvCxnSpPr>
        <p:spPr bwMode="auto">
          <a:xfrm rot="5400000" flipH="1">
            <a:off x="4358482" y="19867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6" name="Text Box 22"/>
          <p:cNvSpPr txBox="1">
            <a:spLocks noChangeArrowheads="1"/>
          </p:cNvSpPr>
          <p:nvPr/>
        </p:nvSpPr>
        <p:spPr bwMode="auto">
          <a:xfrm>
            <a:off x="3962400" y="20621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2007" name="Text Box 23"/>
          <p:cNvSpPr txBox="1">
            <a:spLocks noChangeArrowheads="1"/>
          </p:cNvSpPr>
          <p:nvPr/>
        </p:nvSpPr>
        <p:spPr bwMode="auto">
          <a:xfrm>
            <a:off x="4979988" y="22098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2008" name="Text Box 24"/>
          <p:cNvSpPr txBox="1">
            <a:spLocks noChangeArrowheads="1"/>
          </p:cNvSpPr>
          <p:nvPr/>
        </p:nvSpPr>
        <p:spPr bwMode="auto">
          <a:xfrm>
            <a:off x="4759325" y="3033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2009" name="Text Box 25"/>
          <p:cNvSpPr txBox="1">
            <a:spLocks noChangeArrowheads="1"/>
          </p:cNvSpPr>
          <p:nvPr/>
        </p:nvSpPr>
        <p:spPr bwMode="auto">
          <a:xfrm>
            <a:off x="4759325" y="1066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2010" name="Text Box 26"/>
          <p:cNvSpPr txBox="1">
            <a:spLocks noChangeArrowheads="1"/>
          </p:cNvSpPr>
          <p:nvPr/>
        </p:nvSpPr>
        <p:spPr bwMode="auto">
          <a:xfrm>
            <a:off x="5956300" y="1066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2011" name="Text Box 27"/>
          <p:cNvSpPr txBox="1">
            <a:spLocks noChangeArrowheads="1"/>
          </p:cNvSpPr>
          <p:nvPr/>
        </p:nvSpPr>
        <p:spPr bwMode="auto">
          <a:xfrm>
            <a:off x="5305425" y="1371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2012" name="Text Box 28"/>
          <p:cNvSpPr txBox="1">
            <a:spLocks noChangeArrowheads="1"/>
          </p:cNvSpPr>
          <p:nvPr/>
        </p:nvSpPr>
        <p:spPr bwMode="auto">
          <a:xfrm>
            <a:off x="6556375" y="20955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2013" name="Text Box 29"/>
          <p:cNvSpPr txBox="1">
            <a:spLocks noChangeArrowheads="1"/>
          </p:cNvSpPr>
          <p:nvPr/>
        </p:nvSpPr>
        <p:spPr bwMode="auto">
          <a:xfrm>
            <a:off x="7375525" y="1295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2014" name="Text Box 30"/>
          <p:cNvSpPr txBox="1">
            <a:spLocks noChangeArrowheads="1"/>
          </p:cNvSpPr>
          <p:nvPr/>
        </p:nvSpPr>
        <p:spPr bwMode="auto">
          <a:xfrm>
            <a:off x="7321550" y="24304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2015" name="Text Box 31"/>
          <p:cNvSpPr txBox="1">
            <a:spLocks noChangeArrowheads="1"/>
          </p:cNvSpPr>
          <p:nvPr/>
        </p:nvSpPr>
        <p:spPr bwMode="auto">
          <a:xfrm>
            <a:off x="5895975" y="30527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2016" name="Text Box 32"/>
          <p:cNvSpPr txBox="1">
            <a:spLocks noChangeArrowheads="1"/>
          </p:cNvSpPr>
          <p:nvPr/>
        </p:nvSpPr>
        <p:spPr bwMode="auto">
          <a:xfrm>
            <a:off x="6553200" y="32766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42017" name="AutoShape 33"/>
          <p:cNvCxnSpPr>
            <a:cxnSpLocks noChangeShapeType="1"/>
            <a:stCxn id="42016" idx="0"/>
            <a:endCxn id="41992" idx="4"/>
          </p:cNvCxnSpPr>
          <p:nvPr/>
        </p:nvCxnSpPr>
        <p:spPr bwMode="auto">
          <a:xfrm flipH="1" flipV="1">
            <a:off x="6570663" y="3028950"/>
            <a:ext cx="150812" cy="24765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43012" name="Oval 4"/>
          <p:cNvSpPr>
            <a:spLocks noChangeArrowheads="1"/>
          </p:cNvSpPr>
          <p:nvPr/>
        </p:nvSpPr>
        <p:spPr bwMode="auto">
          <a:xfrm>
            <a:off x="4195763" y="15589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43013" name="Oval 5"/>
          <p:cNvSpPr>
            <a:spLocks noChangeArrowheads="1"/>
          </p:cNvSpPr>
          <p:nvPr/>
        </p:nvSpPr>
        <p:spPr bwMode="auto">
          <a:xfrm>
            <a:off x="6380163" y="1558925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3014" name="Oval 6"/>
          <p:cNvSpPr>
            <a:spLocks noChangeArrowheads="1"/>
          </p:cNvSpPr>
          <p:nvPr/>
        </p:nvSpPr>
        <p:spPr bwMode="auto">
          <a:xfrm>
            <a:off x="8289925" y="15589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4195763" y="27051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3016" name="Oval 8"/>
          <p:cNvSpPr>
            <a:spLocks noChangeArrowheads="1"/>
          </p:cNvSpPr>
          <p:nvPr/>
        </p:nvSpPr>
        <p:spPr bwMode="auto">
          <a:xfrm>
            <a:off x="6380163" y="27051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3017" name="Oval 9"/>
          <p:cNvSpPr>
            <a:spLocks noChangeArrowheads="1"/>
          </p:cNvSpPr>
          <p:nvPr/>
        </p:nvSpPr>
        <p:spPr bwMode="auto">
          <a:xfrm>
            <a:off x="8289925" y="27051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43018" name="Oval 10"/>
          <p:cNvSpPr>
            <a:spLocks noChangeArrowheads="1"/>
          </p:cNvSpPr>
          <p:nvPr/>
        </p:nvSpPr>
        <p:spPr bwMode="auto">
          <a:xfrm>
            <a:off x="5287963" y="31956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3019" name="Oval 11"/>
          <p:cNvSpPr>
            <a:spLocks noChangeArrowheads="1"/>
          </p:cNvSpPr>
          <p:nvPr/>
        </p:nvSpPr>
        <p:spPr bwMode="auto">
          <a:xfrm>
            <a:off x="5287963" y="10668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43020" name="AutoShape 12"/>
          <p:cNvCxnSpPr>
            <a:cxnSpLocks noChangeShapeType="1"/>
            <a:stCxn id="43019" idx="5"/>
            <a:endCxn id="43013" idx="1"/>
          </p:cNvCxnSpPr>
          <p:nvPr/>
        </p:nvCxnSpPr>
        <p:spPr bwMode="auto">
          <a:xfrm>
            <a:off x="5613400" y="14065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1" name="AutoShape 13"/>
          <p:cNvCxnSpPr>
            <a:cxnSpLocks noChangeShapeType="1"/>
            <a:stCxn id="43019" idx="3"/>
            <a:endCxn id="43012" idx="7"/>
          </p:cNvCxnSpPr>
          <p:nvPr/>
        </p:nvCxnSpPr>
        <p:spPr bwMode="auto">
          <a:xfrm flipH="1">
            <a:off x="4522788" y="14065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2" name="AutoShape 14"/>
          <p:cNvCxnSpPr>
            <a:cxnSpLocks noChangeShapeType="1"/>
            <a:stCxn id="43012" idx="6"/>
            <a:endCxn id="43013" idx="2"/>
          </p:cNvCxnSpPr>
          <p:nvPr/>
        </p:nvCxnSpPr>
        <p:spPr bwMode="auto">
          <a:xfrm>
            <a:off x="4591050" y="17494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3" name="AutoShape 15"/>
          <p:cNvCxnSpPr>
            <a:cxnSpLocks noChangeShapeType="1"/>
            <a:stCxn id="43015" idx="0"/>
            <a:endCxn id="43012" idx="4"/>
          </p:cNvCxnSpPr>
          <p:nvPr/>
        </p:nvCxnSpPr>
        <p:spPr bwMode="auto">
          <a:xfrm flipV="1">
            <a:off x="4386263" y="19542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4" name="AutoShape 16"/>
          <p:cNvCxnSpPr>
            <a:cxnSpLocks noChangeShapeType="1"/>
            <a:stCxn id="43015" idx="5"/>
            <a:endCxn id="43018" idx="1"/>
          </p:cNvCxnSpPr>
          <p:nvPr/>
        </p:nvCxnSpPr>
        <p:spPr bwMode="auto">
          <a:xfrm>
            <a:off x="4522788" y="30448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5" name="AutoShape 17"/>
          <p:cNvCxnSpPr>
            <a:cxnSpLocks noChangeShapeType="1"/>
            <a:stCxn id="43018" idx="7"/>
            <a:endCxn id="43016" idx="3"/>
          </p:cNvCxnSpPr>
          <p:nvPr/>
        </p:nvCxnSpPr>
        <p:spPr bwMode="auto">
          <a:xfrm flipV="1">
            <a:off x="5613400" y="30448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6" name="AutoShape 18"/>
          <p:cNvCxnSpPr>
            <a:cxnSpLocks noChangeShapeType="1"/>
            <a:stCxn id="43016" idx="0"/>
            <a:endCxn id="43013" idx="4"/>
          </p:cNvCxnSpPr>
          <p:nvPr/>
        </p:nvCxnSpPr>
        <p:spPr bwMode="auto">
          <a:xfrm flipV="1">
            <a:off x="6570663" y="19542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7" name="AutoShape 19"/>
          <p:cNvCxnSpPr>
            <a:cxnSpLocks noChangeShapeType="1"/>
            <a:stCxn id="43013" idx="6"/>
            <a:endCxn id="43014" idx="2"/>
          </p:cNvCxnSpPr>
          <p:nvPr/>
        </p:nvCxnSpPr>
        <p:spPr bwMode="auto">
          <a:xfrm>
            <a:off x="6775450" y="17494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8" name="AutoShape 20"/>
          <p:cNvCxnSpPr>
            <a:cxnSpLocks noChangeShapeType="1"/>
            <a:stCxn id="43016" idx="6"/>
            <a:endCxn id="43017" idx="2"/>
          </p:cNvCxnSpPr>
          <p:nvPr/>
        </p:nvCxnSpPr>
        <p:spPr bwMode="auto">
          <a:xfrm>
            <a:off x="6775450" y="28956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9" name="AutoShape 21"/>
          <p:cNvCxnSpPr>
            <a:cxnSpLocks noChangeShapeType="1"/>
            <a:stCxn id="43018" idx="0"/>
            <a:endCxn id="43012" idx="5"/>
          </p:cNvCxnSpPr>
          <p:nvPr/>
        </p:nvCxnSpPr>
        <p:spPr bwMode="auto">
          <a:xfrm rot="5400000" flipH="1">
            <a:off x="4358482" y="20629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30" name="Text Box 22"/>
          <p:cNvSpPr txBox="1">
            <a:spLocks noChangeArrowheads="1"/>
          </p:cNvSpPr>
          <p:nvPr/>
        </p:nvSpPr>
        <p:spPr bwMode="auto">
          <a:xfrm>
            <a:off x="3962400" y="21383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3031" name="Text Box 23"/>
          <p:cNvSpPr txBox="1">
            <a:spLocks noChangeArrowheads="1"/>
          </p:cNvSpPr>
          <p:nvPr/>
        </p:nvSpPr>
        <p:spPr bwMode="auto">
          <a:xfrm>
            <a:off x="4979988" y="22860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3032" name="Text Box 24"/>
          <p:cNvSpPr txBox="1">
            <a:spLocks noChangeArrowheads="1"/>
          </p:cNvSpPr>
          <p:nvPr/>
        </p:nvSpPr>
        <p:spPr bwMode="auto">
          <a:xfrm>
            <a:off x="4759325" y="31099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3033" name="Text Box 25"/>
          <p:cNvSpPr txBox="1">
            <a:spLocks noChangeArrowheads="1"/>
          </p:cNvSpPr>
          <p:nvPr/>
        </p:nvSpPr>
        <p:spPr bwMode="auto">
          <a:xfrm>
            <a:off x="4759325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3034" name="Text Box 26"/>
          <p:cNvSpPr txBox="1">
            <a:spLocks noChangeArrowheads="1"/>
          </p:cNvSpPr>
          <p:nvPr/>
        </p:nvSpPr>
        <p:spPr bwMode="auto">
          <a:xfrm>
            <a:off x="5956300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3035" name="Text Box 27"/>
          <p:cNvSpPr txBox="1">
            <a:spLocks noChangeArrowheads="1"/>
          </p:cNvSpPr>
          <p:nvPr/>
        </p:nvSpPr>
        <p:spPr bwMode="auto">
          <a:xfrm>
            <a:off x="5305425" y="1447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3036" name="Text Box 28"/>
          <p:cNvSpPr txBox="1">
            <a:spLocks noChangeArrowheads="1"/>
          </p:cNvSpPr>
          <p:nvPr/>
        </p:nvSpPr>
        <p:spPr bwMode="auto">
          <a:xfrm>
            <a:off x="6556375" y="21717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3037" name="Text Box 29"/>
          <p:cNvSpPr txBox="1">
            <a:spLocks noChangeArrowheads="1"/>
          </p:cNvSpPr>
          <p:nvPr/>
        </p:nvSpPr>
        <p:spPr bwMode="auto">
          <a:xfrm>
            <a:off x="7375525" y="1371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3038" name="Text Box 30"/>
          <p:cNvSpPr txBox="1">
            <a:spLocks noChangeArrowheads="1"/>
          </p:cNvSpPr>
          <p:nvPr/>
        </p:nvSpPr>
        <p:spPr bwMode="auto">
          <a:xfrm>
            <a:off x="7321550" y="25066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3039" name="Text Box 31"/>
          <p:cNvSpPr txBox="1">
            <a:spLocks noChangeArrowheads="1"/>
          </p:cNvSpPr>
          <p:nvPr/>
        </p:nvSpPr>
        <p:spPr bwMode="auto">
          <a:xfrm>
            <a:off x="5895975" y="31289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3040" name="Text Box 32"/>
          <p:cNvSpPr txBox="1">
            <a:spLocks noChangeArrowheads="1"/>
          </p:cNvSpPr>
          <p:nvPr/>
        </p:nvSpPr>
        <p:spPr bwMode="auto">
          <a:xfrm>
            <a:off x="6553200" y="33528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43041" name="AutoShape 33"/>
          <p:cNvCxnSpPr>
            <a:cxnSpLocks noChangeShapeType="1"/>
            <a:stCxn id="43040" idx="0"/>
            <a:endCxn id="43016" idx="4"/>
          </p:cNvCxnSpPr>
          <p:nvPr/>
        </p:nvCxnSpPr>
        <p:spPr bwMode="auto">
          <a:xfrm flipH="1" flipV="1">
            <a:off x="6570663" y="3105150"/>
            <a:ext cx="150812" cy="24765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4195763" y="14827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6380163" y="148272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8289925" y="14827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4195763" y="26289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6380163" y="26289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4041" name="Oval 9"/>
          <p:cNvSpPr>
            <a:spLocks noChangeArrowheads="1"/>
          </p:cNvSpPr>
          <p:nvPr/>
        </p:nvSpPr>
        <p:spPr bwMode="auto">
          <a:xfrm>
            <a:off x="8289925" y="26289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44042" name="Oval 10"/>
          <p:cNvSpPr>
            <a:spLocks noChangeArrowheads="1"/>
          </p:cNvSpPr>
          <p:nvPr/>
        </p:nvSpPr>
        <p:spPr bwMode="auto">
          <a:xfrm>
            <a:off x="5287963" y="31194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4043" name="Oval 11"/>
          <p:cNvSpPr>
            <a:spLocks noChangeArrowheads="1"/>
          </p:cNvSpPr>
          <p:nvPr/>
        </p:nvSpPr>
        <p:spPr bwMode="auto">
          <a:xfrm>
            <a:off x="5287963" y="9906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44044" name="AutoShape 12"/>
          <p:cNvCxnSpPr>
            <a:cxnSpLocks noChangeShapeType="1"/>
            <a:stCxn id="44043" idx="5"/>
            <a:endCxn id="44037" idx="1"/>
          </p:cNvCxnSpPr>
          <p:nvPr/>
        </p:nvCxnSpPr>
        <p:spPr bwMode="auto">
          <a:xfrm>
            <a:off x="5613400" y="1330325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5" name="AutoShape 13"/>
          <p:cNvCxnSpPr>
            <a:cxnSpLocks noChangeShapeType="1"/>
            <a:stCxn id="44043" idx="3"/>
            <a:endCxn id="44036" idx="7"/>
          </p:cNvCxnSpPr>
          <p:nvPr/>
        </p:nvCxnSpPr>
        <p:spPr bwMode="auto">
          <a:xfrm flipH="1">
            <a:off x="4522788" y="13303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6" name="AutoShape 14"/>
          <p:cNvCxnSpPr>
            <a:cxnSpLocks noChangeShapeType="1"/>
            <a:stCxn id="44036" idx="6"/>
            <a:endCxn id="44037" idx="2"/>
          </p:cNvCxnSpPr>
          <p:nvPr/>
        </p:nvCxnSpPr>
        <p:spPr bwMode="auto">
          <a:xfrm>
            <a:off x="4591050" y="16732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7" name="AutoShape 15"/>
          <p:cNvCxnSpPr>
            <a:cxnSpLocks noChangeShapeType="1"/>
            <a:stCxn id="44039" idx="0"/>
            <a:endCxn id="44036" idx="4"/>
          </p:cNvCxnSpPr>
          <p:nvPr/>
        </p:nvCxnSpPr>
        <p:spPr bwMode="auto">
          <a:xfrm flipV="1">
            <a:off x="4386263" y="18780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8" name="AutoShape 16"/>
          <p:cNvCxnSpPr>
            <a:cxnSpLocks noChangeShapeType="1"/>
            <a:stCxn id="44039" idx="5"/>
            <a:endCxn id="44042" idx="1"/>
          </p:cNvCxnSpPr>
          <p:nvPr/>
        </p:nvCxnSpPr>
        <p:spPr bwMode="auto">
          <a:xfrm>
            <a:off x="4522788" y="29686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AutoShape 17"/>
          <p:cNvCxnSpPr>
            <a:cxnSpLocks noChangeShapeType="1"/>
            <a:stCxn id="44042" idx="7"/>
            <a:endCxn id="44040" idx="3"/>
          </p:cNvCxnSpPr>
          <p:nvPr/>
        </p:nvCxnSpPr>
        <p:spPr bwMode="auto">
          <a:xfrm flipV="1">
            <a:off x="5613400" y="29686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0" name="AutoShape 18"/>
          <p:cNvCxnSpPr>
            <a:cxnSpLocks noChangeShapeType="1"/>
            <a:stCxn id="44040" idx="0"/>
            <a:endCxn id="44037" idx="4"/>
          </p:cNvCxnSpPr>
          <p:nvPr/>
        </p:nvCxnSpPr>
        <p:spPr bwMode="auto">
          <a:xfrm flipV="1">
            <a:off x="6570663" y="18780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1" name="AutoShape 19"/>
          <p:cNvCxnSpPr>
            <a:cxnSpLocks noChangeShapeType="1"/>
            <a:stCxn id="44037" idx="6"/>
            <a:endCxn id="44038" idx="2"/>
          </p:cNvCxnSpPr>
          <p:nvPr/>
        </p:nvCxnSpPr>
        <p:spPr bwMode="auto">
          <a:xfrm>
            <a:off x="6775450" y="16732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2" name="AutoShape 20"/>
          <p:cNvCxnSpPr>
            <a:cxnSpLocks noChangeShapeType="1"/>
            <a:stCxn id="44040" idx="6"/>
            <a:endCxn id="44041" idx="2"/>
          </p:cNvCxnSpPr>
          <p:nvPr/>
        </p:nvCxnSpPr>
        <p:spPr bwMode="auto">
          <a:xfrm>
            <a:off x="6775450" y="28194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3" name="AutoShape 21"/>
          <p:cNvCxnSpPr>
            <a:cxnSpLocks noChangeShapeType="1"/>
            <a:stCxn id="44042" idx="0"/>
            <a:endCxn id="44036" idx="5"/>
          </p:cNvCxnSpPr>
          <p:nvPr/>
        </p:nvCxnSpPr>
        <p:spPr bwMode="auto">
          <a:xfrm rot="5400000" flipH="1">
            <a:off x="4358482" y="19867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54" name="Text Box 22"/>
          <p:cNvSpPr txBox="1">
            <a:spLocks noChangeArrowheads="1"/>
          </p:cNvSpPr>
          <p:nvPr/>
        </p:nvSpPr>
        <p:spPr bwMode="auto">
          <a:xfrm>
            <a:off x="3962400" y="20621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4055" name="Text Box 23"/>
          <p:cNvSpPr txBox="1">
            <a:spLocks noChangeArrowheads="1"/>
          </p:cNvSpPr>
          <p:nvPr/>
        </p:nvSpPr>
        <p:spPr bwMode="auto">
          <a:xfrm>
            <a:off x="4979988" y="22098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4056" name="Text Box 24"/>
          <p:cNvSpPr txBox="1">
            <a:spLocks noChangeArrowheads="1"/>
          </p:cNvSpPr>
          <p:nvPr/>
        </p:nvSpPr>
        <p:spPr bwMode="auto">
          <a:xfrm>
            <a:off x="4759325" y="3033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4057" name="Text Box 25"/>
          <p:cNvSpPr txBox="1">
            <a:spLocks noChangeArrowheads="1"/>
          </p:cNvSpPr>
          <p:nvPr/>
        </p:nvSpPr>
        <p:spPr bwMode="auto">
          <a:xfrm>
            <a:off x="4759325" y="1066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4058" name="Text Box 26"/>
          <p:cNvSpPr txBox="1">
            <a:spLocks noChangeArrowheads="1"/>
          </p:cNvSpPr>
          <p:nvPr/>
        </p:nvSpPr>
        <p:spPr bwMode="auto">
          <a:xfrm>
            <a:off x="5956300" y="1066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4059" name="Text Box 27"/>
          <p:cNvSpPr txBox="1">
            <a:spLocks noChangeArrowheads="1"/>
          </p:cNvSpPr>
          <p:nvPr/>
        </p:nvSpPr>
        <p:spPr bwMode="auto">
          <a:xfrm>
            <a:off x="5305425" y="1371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4060" name="Text Box 28"/>
          <p:cNvSpPr txBox="1">
            <a:spLocks noChangeArrowheads="1"/>
          </p:cNvSpPr>
          <p:nvPr/>
        </p:nvSpPr>
        <p:spPr bwMode="auto">
          <a:xfrm>
            <a:off x="6556375" y="20955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4061" name="Text Box 29"/>
          <p:cNvSpPr txBox="1">
            <a:spLocks noChangeArrowheads="1"/>
          </p:cNvSpPr>
          <p:nvPr/>
        </p:nvSpPr>
        <p:spPr bwMode="auto">
          <a:xfrm>
            <a:off x="7375525" y="1295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4062" name="Text Box 30"/>
          <p:cNvSpPr txBox="1">
            <a:spLocks noChangeArrowheads="1"/>
          </p:cNvSpPr>
          <p:nvPr/>
        </p:nvSpPr>
        <p:spPr bwMode="auto">
          <a:xfrm>
            <a:off x="7321550" y="24304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4063" name="Text Box 31"/>
          <p:cNvSpPr txBox="1">
            <a:spLocks noChangeArrowheads="1"/>
          </p:cNvSpPr>
          <p:nvPr/>
        </p:nvSpPr>
        <p:spPr bwMode="auto">
          <a:xfrm>
            <a:off x="5895975" y="30527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4064" name="Text Box 32"/>
          <p:cNvSpPr txBox="1">
            <a:spLocks noChangeArrowheads="1"/>
          </p:cNvSpPr>
          <p:nvPr/>
        </p:nvSpPr>
        <p:spPr bwMode="auto">
          <a:xfrm>
            <a:off x="6934200" y="9144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44065" name="AutoShape 33"/>
          <p:cNvCxnSpPr>
            <a:cxnSpLocks noChangeShapeType="1"/>
            <a:stCxn id="44064" idx="1"/>
            <a:endCxn id="44037" idx="0"/>
          </p:cNvCxnSpPr>
          <p:nvPr/>
        </p:nvCxnSpPr>
        <p:spPr bwMode="auto">
          <a:xfrm flipH="1">
            <a:off x="6570663" y="1112838"/>
            <a:ext cx="363537" cy="3508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4195763" y="14065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45061" name="Oval 5"/>
          <p:cNvSpPr>
            <a:spLocks noChangeArrowheads="1"/>
          </p:cNvSpPr>
          <p:nvPr/>
        </p:nvSpPr>
        <p:spPr bwMode="auto">
          <a:xfrm>
            <a:off x="6380163" y="140652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5062" name="Oval 6"/>
          <p:cNvSpPr>
            <a:spLocks noChangeArrowheads="1"/>
          </p:cNvSpPr>
          <p:nvPr/>
        </p:nvSpPr>
        <p:spPr bwMode="auto">
          <a:xfrm>
            <a:off x="8289925" y="14065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5063" name="Oval 7"/>
          <p:cNvSpPr>
            <a:spLocks noChangeArrowheads="1"/>
          </p:cNvSpPr>
          <p:nvPr/>
        </p:nvSpPr>
        <p:spPr bwMode="auto">
          <a:xfrm>
            <a:off x="4195763" y="25527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5064" name="Oval 8"/>
          <p:cNvSpPr>
            <a:spLocks noChangeArrowheads="1"/>
          </p:cNvSpPr>
          <p:nvPr/>
        </p:nvSpPr>
        <p:spPr bwMode="auto">
          <a:xfrm>
            <a:off x="6380163" y="25527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5065" name="Oval 9"/>
          <p:cNvSpPr>
            <a:spLocks noChangeArrowheads="1"/>
          </p:cNvSpPr>
          <p:nvPr/>
        </p:nvSpPr>
        <p:spPr bwMode="auto">
          <a:xfrm>
            <a:off x="8289925" y="25527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45066" name="Oval 10"/>
          <p:cNvSpPr>
            <a:spLocks noChangeArrowheads="1"/>
          </p:cNvSpPr>
          <p:nvPr/>
        </p:nvSpPr>
        <p:spPr bwMode="auto">
          <a:xfrm>
            <a:off x="5287963" y="30432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5067" name="Oval 11"/>
          <p:cNvSpPr>
            <a:spLocks noChangeArrowheads="1"/>
          </p:cNvSpPr>
          <p:nvPr/>
        </p:nvSpPr>
        <p:spPr bwMode="auto">
          <a:xfrm>
            <a:off x="5287963" y="9144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45068" name="AutoShape 12"/>
          <p:cNvCxnSpPr>
            <a:cxnSpLocks noChangeShapeType="1"/>
            <a:stCxn id="45067" idx="5"/>
            <a:endCxn id="45061" idx="1"/>
          </p:cNvCxnSpPr>
          <p:nvPr/>
        </p:nvCxnSpPr>
        <p:spPr bwMode="auto">
          <a:xfrm>
            <a:off x="5613400" y="12541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9" name="AutoShape 13"/>
          <p:cNvCxnSpPr>
            <a:cxnSpLocks noChangeShapeType="1"/>
            <a:stCxn id="45067" idx="3"/>
            <a:endCxn id="45060" idx="7"/>
          </p:cNvCxnSpPr>
          <p:nvPr/>
        </p:nvCxnSpPr>
        <p:spPr bwMode="auto">
          <a:xfrm flipH="1">
            <a:off x="4522788" y="12541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0" name="AutoShape 14"/>
          <p:cNvCxnSpPr>
            <a:cxnSpLocks noChangeShapeType="1"/>
            <a:stCxn id="45060" idx="6"/>
            <a:endCxn id="45061" idx="2"/>
          </p:cNvCxnSpPr>
          <p:nvPr/>
        </p:nvCxnSpPr>
        <p:spPr bwMode="auto">
          <a:xfrm>
            <a:off x="4591050" y="1597025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1" name="AutoShape 15"/>
          <p:cNvCxnSpPr>
            <a:cxnSpLocks noChangeShapeType="1"/>
            <a:stCxn id="45063" idx="0"/>
            <a:endCxn id="45060" idx="4"/>
          </p:cNvCxnSpPr>
          <p:nvPr/>
        </p:nvCxnSpPr>
        <p:spPr bwMode="auto">
          <a:xfrm flipV="1">
            <a:off x="4386263" y="18018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2" name="AutoShape 16"/>
          <p:cNvCxnSpPr>
            <a:cxnSpLocks noChangeShapeType="1"/>
            <a:stCxn id="45063" idx="5"/>
            <a:endCxn id="45066" idx="1"/>
          </p:cNvCxnSpPr>
          <p:nvPr/>
        </p:nvCxnSpPr>
        <p:spPr bwMode="auto">
          <a:xfrm>
            <a:off x="4522788" y="28924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AutoShape 17"/>
          <p:cNvCxnSpPr>
            <a:cxnSpLocks noChangeShapeType="1"/>
            <a:stCxn id="45066" idx="7"/>
            <a:endCxn id="45064" idx="3"/>
          </p:cNvCxnSpPr>
          <p:nvPr/>
        </p:nvCxnSpPr>
        <p:spPr bwMode="auto">
          <a:xfrm flipV="1">
            <a:off x="5613400" y="28924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4" name="AutoShape 18"/>
          <p:cNvCxnSpPr>
            <a:cxnSpLocks noChangeShapeType="1"/>
            <a:stCxn id="45064" idx="0"/>
            <a:endCxn id="45061" idx="4"/>
          </p:cNvCxnSpPr>
          <p:nvPr/>
        </p:nvCxnSpPr>
        <p:spPr bwMode="auto">
          <a:xfrm flipV="1">
            <a:off x="6570663" y="18018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5" name="AutoShape 19"/>
          <p:cNvCxnSpPr>
            <a:cxnSpLocks noChangeShapeType="1"/>
            <a:stCxn id="45061" idx="6"/>
            <a:endCxn id="45062" idx="2"/>
          </p:cNvCxnSpPr>
          <p:nvPr/>
        </p:nvCxnSpPr>
        <p:spPr bwMode="auto">
          <a:xfrm>
            <a:off x="6775450" y="15970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6" name="AutoShape 20"/>
          <p:cNvCxnSpPr>
            <a:cxnSpLocks noChangeShapeType="1"/>
            <a:stCxn id="45064" idx="6"/>
            <a:endCxn id="45065" idx="2"/>
          </p:cNvCxnSpPr>
          <p:nvPr/>
        </p:nvCxnSpPr>
        <p:spPr bwMode="auto">
          <a:xfrm>
            <a:off x="6775450" y="27432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7" name="AutoShape 21"/>
          <p:cNvCxnSpPr>
            <a:cxnSpLocks noChangeShapeType="1"/>
            <a:stCxn id="45066" idx="0"/>
            <a:endCxn id="45060" idx="5"/>
          </p:cNvCxnSpPr>
          <p:nvPr/>
        </p:nvCxnSpPr>
        <p:spPr bwMode="auto">
          <a:xfrm rot="5400000" flipH="1">
            <a:off x="4358482" y="19105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78" name="Text Box 22"/>
          <p:cNvSpPr txBox="1">
            <a:spLocks noChangeArrowheads="1"/>
          </p:cNvSpPr>
          <p:nvPr/>
        </p:nvSpPr>
        <p:spPr bwMode="auto">
          <a:xfrm>
            <a:off x="3962400" y="19859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5079" name="Text Box 23"/>
          <p:cNvSpPr txBox="1">
            <a:spLocks noChangeArrowheads="1"/>
          </p:cNvSpPr>
          <p:nvPr/>
        </p:nvSpPr>
        <p:spPr bwMode="auto">
          <a:xfrm>
            <a:off x="4979988" y="21336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5080" name="Text Box 24"/>
          <p:cNvSpPr txBox="1">
            <a:spLocks noChangeArrowheads="1"/>
          </p:cNvSpPr>
          <p:nvPr/>
        </p:nvSpPr>
        <p:spPr bwMode="auto">
          <a:xfrm>
            <a:off x="4759325" y="2957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5081" name="Text Box 25"/>
          <p:cNvSpPr txBox="1">
            <a:spLocks noChangeArrowheads="1"/>
          </p:cNvSpPr>
          <p:nvPr/>
        </p:nvSpPr>
        <p:spPr bwMode="auto">
          <a:xfrm>
            <a:off x="4759325" y="990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5082" name="Text Box 26"/>
          <p:cNvSpPr txBox="1">
            <a:spLocks noChangeArrowheads="1"/>
          </p:cNvSpPr>
          <p:nvPr/>
        </p:nvSpPr>
        <p:spPr bwMode="auto">
          <a:xfrm>
            <a:off x="5956300" y="990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5083" name="Text Box 27"/>
          <p:cNvSpPr txBox="1">
            <a:spLocks noChangeArrowheads="1"/>
          </p:cNvSpPr>
          <p:nvPr/>
        </p:nvSpPr>
        <p:spPr bwMode="auto">
          <a:xfrm>
            <a:off x="5305425" y="1295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5084" name="Text Box 28"/>
          <p:cNvSpPr txBox="1">
            <a:spLocks noChangeArrowheads="1"/>
          </p:cNvSpPr>
          <p:nvPr/>
        </p:nvSpPr>
        <p:spPr bwMode="auto">
          <a:xfrm>
            <a:off x="6556375" y="20193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5085" name="Text Box 29"/>
          <p:cNvSpPr txBox="1">
            <a:spLocks noChangeArrowheads="1"/>
          </p:cNvSpPr>
          <p:nvPr/>
        </p:nvSpPr>
        <p:spPr bwMode="auto">
          <a:xfrm>
            <a:off x="7375525" y="1219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5086" name="Text Box 30"/>
          <p:cNvSpPr txBox="1">
            <a:spLocks noChangeArrowheads="1"/>
          </p:cNvSpPr>
          <p:nvPr/>
        </p:nvSpPr>
        <p:spPr bwMode="auto">
          <a:xfrm>
            <a:off x="7321550" y="23542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5087" name="Text Box 31"/>
          <p:cNvSpPr txBox="1">
            <a:spLocks noChangeArrowheads="1"/>
          </p:cNvSpPr>
          <p:nvPr/>
        </p:nvSpPr>
        <p:spPr bwMode="auto">
          <a:xfrm>
            <a:off x="5895975" y="29765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5088" name="Text Box 32"/>
          <p:cNvSpPr txBox="1">
            <a:spLocks noChangeArrowheads="1"/>
          </p:cNvSpPr>
          <p:nvPr/>
        </p:nvSpPr>
        <p:spPr bwMode="auto">
          <a:xfrm>
            <a:off x="6934200" y="838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45089" name="AutoShape 33"/>
          <p:cNvCxnSpPr>
            <a:cxnSpLocks noChangeShapeType="1"/>
            <a:stCxn id="45088" idx="1"/>
            <a:endCxn id="45061" idx="0"/>
          </p:cNvCxnSpPr>
          <p:nvPr/>
        </p:nvCxnSpPr>
        <p:spPr bwMode="auto">
          <a:xfrm flipH="1">
            <a:off x="6570663" y="1036638"/>
            <a:ext cx="363537" cy="3508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46084" name="Oval 4"/>
          <p:cNvSpPr>
            <a:spLocks noChangeArrowheads="1"/>
          </p:cNvSpPr>
          <p:nvPr/>
        </p:nvSpPr>
        <p:spPr bwMode="auto">
          <a:xfrm>
            <a:off x="4195763" y="15589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46085" name="Oval 5"/>
          <p:cNvSpPr>
            <a:spLocks noChangeArrowheads="1"/>
          </p:cNvSpPr>
          <p:nvPr/>
        </p:nvSpPr>
        <p:spPr bwMode="auto">
          <a:xfrm>
            <a:off x="6380163" y="155892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6086" name="Oval 6"/>
          <p:cNvSpPr>
            <a:spLocks noChangeArrowheads="1"/>
          </p:cNvSpPr>
          <p:nvPr/>
        </p:nvSpPr>
        <p:spPr bwMode="auto">
          <a:xfrm>
            <a:off x="8289925" y="15589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46087" name="Oval 7"/>
          <p:cNvSpPr>
            <a:spLocks noChangeArrowheads="1"/>
          </p:cNvSpPr>
          <p:nvPr/>
        </p:nvSpPr>
        <p:spPr bwMode="auto">
          <a:xfrm>
            <a:off x="4195763" y="27051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6088" name="Oval 8"/>
          <p:cNvSpPr>
            <a:spLocks noChangeArrowheads="1"/>
          </p:cNvSpPr>
          <p:nvPr/>
        </p:nvSpPr>
        <p:spPr bwMode="auto">
          <a:xfrm>
            <a:off x="6380163" y="27051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8289925" y="27051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5287963" y="31956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6091" name="Oval 11"/>
          <p:cNvSpPr>
            <a:spLocks noChangeArrowheads="1"/>
          </p:cNvSpPr>
          <p:nvPr/>
        </p:nvSpPr>
        <p:spPr bwMode="auto">
          <a:xfrm>
            <a:off x="5287963" y="10668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46092" name="AutoShape 12"/>
          <p:cNvCxnSpPr>
            <a:cxnSpLocks noChangeShapeType="1"/>
            <a:stCxn id="46091" idx="5"/>
            <a:endCxn id="46085" idx="1"/>
          </p:cNvCxnSpPr>
          <p:nvPr/>
        </p:nvCxnSpPr>
        <p:spPr bwMode="auto">
          <a:xfrm>
            <a:off x="5613400" y="14065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3" name="AutoShape 13"/>
          <p:cNvCxnSpPr>
            <a:cxnSpLocks noChangeShapeType="1"/>
            <a:stCxn id="46091" idx="3"/>
            <a:endCxn id="46084" idx="7"/>
          </p:cNvCxnSpPr>
          <p:nvPr/>
        </p:nvCxnSpPr>
        <p:spPr bwMode="auto">
          <a:xfrm flipH="1">
            <a:off x="4522788" y="14065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4" name="AutoShape 14"/>
          <p:cNvCxnSpPr>
            <a:cxnSpLocks noChangeShapeType="1"/>
            <a:stCxn id="46084" idx="6"/>
            <a:endCxn id="46085" idx="2"/>
          </p:cNvCxnSpPr>
          <p:nvPr/>
        </p:nvCxnSpPr>
        <p:spPr bwMode="auto">
          <a:xfrm>
            <a:off x="4591050" y="1749425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5" name="AutoShape 15"/>
          <p:cNvCxnSpPr>
            <a:cxnSpLocks noChangeShapeType="1"/>
            <a:stCxn id="46087" idx="0"/>
            <a:endCxn id="46084" idx="4"/>
          </p:cNvCxnSpPr>
          <p:nvPr/>
        </p:nvCxnSpPr>
        <p:spPr bwMode="auto">
          <a:xfrm flipV="1">
            <a:off x="4386263" y="19542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6" name="AutoShape 16"/>
          <p:cNvCxnSpPr>
            <a:cxnSpLocks noChangeShapeType="1"/>
            <a:stCxn id="46087" idx="5"/>
            <a:endCxn id="46090" idx="1"/>
          </p:cNvCxnSpPr>
          <p:nvPr/>
        </p:nvCxnSpPr>
        <p:spPr bwMode="auto">
          <a:xfrm>
            <a:off x="4522788" y="30448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7" name="AutoShape 17"/>
          <p:cNvCxnSpPr>
            <a:cxnSpLocks noChangeShapeType="1"/>
            <a:stCxn id="46090" idx="7"/>
            <a:endCxn id="46088" idx="3"/>
          </p:cNvCxnSpPr>
          <p:nvPr/>
        </p:nvCxnSpPr>
        <p:spPr bwMode="auto">
          <a:xfrm flipV="1">
            <a:off x="5613400" y="30448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8" name="AutoShape 18"/>
          <p:cNvCxnSpPr>
            <a:cxnSpLocks noChangeShapeType="1"/>
            <a:stCxn id="46088" idx="0"/>
            <a:endCxn id="46085" idx="4"/>
          </p:cNvCxnSpPr>
          <p:nvPr/>
        </p:nvCxnSpPr>
        <p:spPr bwMode="auto">
          <a:xfrm flipV="1">
            <a:off x="6570663" y="19542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9" name="AutoShape 19"/>
          <p:cNvCxnSpPr>
            <a:cxnSpLocks noChangeShapeType="1"/>
            <a:stCxn id="46085" idx="6"/>
            <a:endCxn id="46086" idx="2"/>
          </p:cNvCxnSpPr>
          <p:nvPr/>
        </p:nvCxnSpPr>
        <p:spPr bwMode="auto">
          <a:xfrm>
            <a:off x="6775450" y="1749425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0" name="AutoShape 20"/>
          <p:cNvCxnSpPr>
            <a:cxnSpLocks noChangeShapeType="1"/>
            <a:stCxn id="46088" idx="6"/>
            <a:endCxn id="46089" idx="2"/>
          </p:cNvCxnSpPr>
          <p:nvPr/>
        </p:nvCxnSpPr>
        <p:spPr bwMode="auto">
          <a:xfrm>
            <a:off x="6775450" y="28956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1" name="AutoShape 21"/>
          <p:cNvCxnSpPr>
            <a:cxnSpLocks noChangeShapeType="1"/>
            <a:stCxn id="46090" idx="0"/>
            <a:endCxn id="46084" idx="5"/>
          </p:cNvCxnSpPr>
          <p:nvPr/>
        </p:nvCxnSpPr>
        <p:spPr bwMode="auto">
          <a:xfrm rot="5400000" flipH="1">
            <a:off x="4358482" y="20629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102" name="Text Box 22"/>
          <p:cNvSpPr txBox="1">
            <a:spLocks noChangeArrowheads="1"/>
          </p:cNvSpPr>
          <p:nvPr/>
        </p:nvSpPr>
        <p:spPr bwMode="auto">
          <a:xfrm>
            <a:off x="3962400" y="21383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6103" name="Text Box 23"/>
          <p:cNvSpPr txBox="1">
            <a:spLocks noChangeArrowheads="1"/>
          </p:cNvSpPr>
          <p:nvPr/>
        </p:nvSpPr>
        <p:spPr bwMode="auto">
          <a:xfrm>
            <a:off x="4979988" y="22860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6104" name="Text Box 24"/>
          <p:cNvSpPr txBox="1">
            <a:spLocks noChangeArrowheads="1"/>
          </p:cNvSpPr>
          <p:nvPr/>
        </p:nvSpPr>
        <p:spPr bwMode="auto">
          <a:xfrm>
            <a:off x="4759325" y="31099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6105" name="Text Box 25"/>
          <p:cNvSpPr txBox="1">
            <a:spLocks noChangeArrowheads="1"/>
          </p:cNvSpPr>
          <p:nvPr/>
        </p:nvSpPr>
        <p:spPr bwMode="auto">
          <a:xfrm>
            <a:off x="4759325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6106" name="Text Box 26"/>
          <p:cNvSpPr txBox="1">
            <a:spLocks noChangeArrowheads="1"/>
          </p:cNvSpPr>
          <p:nvPr/>
        </p:nvSpPr>
        <p:spPr bwMode="auto">
          <a:xfrm>
            <a:off x="5956300" y="1143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6107" name="Text Box 27"/>
          <p:cNvSpPr txBox="1">
            <a:spLocks noChangeArrowheads="1"/>
          </p:cNvSpPr>
          <p:nvPr/>
        </p:nvSpPr>
        <p:spPr bwMode="auto">
          <a:xfrm>
            <a:off x="5305425" y="1447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6108" name="Text Box 28"/>
          <p:cNvSpPr txBox="1">
            <a:spLocks noChangeArrowheads="1"/>
          </p:cNvSpPr>
          <p:nvPr/>
        </p:nvSpPr>
        <p:spPr bwMode="auto">
          <a:xfrm>
            <a:off x="6556375" y="21717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6109" name="Text Box 29"/>
          <p:cNvSpPr txBox="1">
            <a:spLocks noChangeArrowheads="1"/>
          </p:cNvSpPr>
          <p:nvPr/>
        </p:nvSpPr>
        <p:spPr bwMode="auto">
          <a:xfrm>
            <a:off x="7375525" y="1371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6110" name="Text Box 30"/>
          <p:cNvSpPr txBox="1">
            <a:spLocks noChangeArrowheads="1"/>
          </p:cNvSpPr>
          <p:nvPr/>
        </p:nvSpPr>
        <p:spPr bwMode="auto">
          <a:xfrm>
            <a:off x="7321550" y="25066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6111" name="Text Box 31"/>
          <p:cNvSpPr txBox="1">
            <a:spLocks noChangeArrowheads="1"/>
          </p:cNvSpPr>
          <p:nvPr/>
        </p:nvSpPr>
        <p:spPr bwMode="auto">
          <a:xfrm>
            <a:off x="5895975" y="31289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6112" name="Text Box 32"/>
          <p:cNvSpPr txBox="1">
            <a:spLocks noChangeArrowheads="1"/>
          </p:cNvSpPr>
          <p:nvPr/>
        </p:nvSpPr>
        <p:spPr bwMode="auto">
          <a:xfrm>
            <a:off x="6934200" y="9906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46113" name="AutoShape 33"/>
          <p:cNvCxnSpPr>
            <a:cxnSpLocks noChangeShapeType="1"/>
            <a:stCxn id="46112" idx="1"/>
            <a:endCxn id="46085" idx="0"/>
          </p:cNvCxnSpPr>
          <p:nvPr/>
        </p:nvCxnSpPr>
        <p:spPr bwMode="auto">
          <a:xfrm flipH="1">
            <a:off x="6570663" y="1189038"/>
            <a:ext cx="363537" cy="3508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4195763" y="20161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6380163" y="201612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7110" name="Oval 6"/>
          <p:cNvSpPr>
            <a:spLocks noChangeArrowheads="1"/>
          </p:cNvSpPr>
          <p:nvPr/>
        </p:nvSpPr>
        <p:spPr bwMode="auto">
          <a:xfrm>
            <a:off x="8289925" y="20161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4195763" y="31623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7112" name="Oval 8"/>
          <p:cNvSpPr>
            <a:spLocks noChangeArrowheads="1"/>
          </p:cNvSpPr>
          <p:nvPr/>
        </p:nvSpPr>
        <p:spPr bwMode="auto">
          <a:xfrm>
            <a:off x="6380163" y="31623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8289925" y="31623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47114" name="Oval 10"/>
          <p:cNvSpPr>
            <a:spLocks noChangeArrowheads="1"/>
          </p:cNvSpPr>
          <p:nvPr/>
        </p:nvSpPr>
        <p:spPr bwMode="auto">
          <a:xfrm>
            <a:off x="5287963" y="36528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7115" name="Oval 11"/>
          <p:cNvSpPr>
            <a:spLocks noChangeArrowheads="1"/>
          </p:cNvSpPr>
          <p:nvPr/>
        </p:nvSpPr>
        <p:spPr bwMode="auto">
          <a:xfrm>
            <a:off x="5287963" y="152400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47116" name="AutoShape 12"/>
          <p:cNvCxnSpPr>
            <a:cxnSpLocks noChangeShapeType="1"/>
            <a:stCxn id="47115" idx="5"/>
            <a:endCxn id="47109" idx="1"/>
          </p:cNvCxnSpPr>
          <p:nvPr/>
        </p:nvCxnSpPr>
        <p:spPr bwMode="auto">
          <a:xfrm>
            <a:off x="5613400" y="18637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AutoShape 13"/>
          <p:cNvCxnSpPr>
            <a:cxnSpLocks noChangeShapeType="1"/>
            <a:stCxn id="47115" idx="3"/>
            <a:endCxn id="47108" idx="7"/>
          </p:cNvCxnSpPr>
          <p:nvPr/>
        </p:nvCxnSpPr>
        <p:spPr bwMode="auto">
          <a:xfrm flipH="1">
            <a:off x="4522788" y="18637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AutoShape 14"/>
          <p:cNvCxnSpPr>
            <a:cxnSpLocks noChangeShapeType="1"/>
            <a:stCxn id="47108" idx="6"/>
            <a:endCxn id="47109" idx="2"/>
          </p:cNvCxnSpPr>
          <p:nvPr/>
        </p:nvCxnSpPr>
        <p:spPr bwMode="auto">
          <a:xfrm>
            <a:off x="4591050" y="2206625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AutoShape 15"/>
          <p:cNvCxnSpPr>
            <a:cxnSpLocks noChangeShapeType="1"/>
            <a:stCxn id="47111" idx="0"/>
            <a:endCxn id="47108" idx="4"/>
          </p:cNvCxnSpPr>
          <p:nvPr/>
        </p:nvCxnSpPr>
        <p:spPr bwMode="auto">
          <a:xfrm flipV="1">
            <a:off x="43862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AutoShape 16"/>
          <p:cNvCxnSpPr>
            <a:cxnSpLocks noChangeShapeType="1"/>
            <a:stCxn id="47111" idx="5"/>
            <a:endCxn id="47114" idx="1"/>
          </p:cNvCxnSpPr>
          <p:nvPr/>
        </p:nvCxnSpPr>
        <p:spPr bwMode="auto">
          <a:xfrm>
            <a:off x="4522788" y="35020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AutoShape 17"/>
          <p:cNvCxnSpPr>
            <a:cxnSpLocks noChangeShapeType="1"/>
            <a:stCxn id="47114" idx="7"/>
            <a:endCxn id="47112" idx="3"/>
          </p:cNvCxnSpPr>
          <p:nvPr/>
        </p:nvCxnSpPr>
        <p:spPr bwMode="auto">
          <a:xfrm flipV="1">
            <a:off x="5613400" y="35020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AutoShape 18"/>
          <p:cNvCxnSpPr>
            <a:cxnSpLocks noChangeShapeType="1"/>
            <a:stCxn id="47112" idx="0"/>
            <a:endCxn id="47109" idx="4"/>
          </p:cNvCxnSpPr>
          <p:nvPr/>
        </p:nvCxnSpPr>
        <p:spPr bwMode="auto">
          <a:xfrm flipV="1">
            <a:off x="65706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AutoShape 19"/>
          <p:cNvCxnSpPr>
            <a:cxnSpLocks noChangeShapeType="1"/>
            <a:stCxn id="47109" idx="6"/>
            <a:endCxn id="47110" idx="2"/>
          </p:cNvCxnSpPr>
          <p:nvPr/>
        </p:nvCxnSpPr>
        <p:spPr bwMode="auto">
          <a:xfrm>
            <a:off x="6775450" y="220662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AutoShape 20"/>
          <p:cNvCxnSpPr>
            <a:cxnSpLocks noChangeShapeType="1"/>
            <a:stCxn id="47112" idx="6"/>
            <a:endCxn id="47113" idx="2"/>
          </p:cNvCxnSpPr>
          <p:nvPr/>
        </p:nvCxnSpPr>
        <p:spPr bwMode="auto">
          <a:xfrm>
            <a:off x="6775450" y="33528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5" name="AutoShape 21"/>
          <p:cNvCxnSpPr>
            <a:cxnSpLocks noChangeShapeType="1"/>
            <a:stCxn id="47114" idx="0"/>
            <a:endCxn id="47108" idx="5"/>
          </p:cNvCxnSpPr>
          <p:nvPr/>
        </p:nvCxnSpPr>
        <p:spPr bwMode="auto">
          <a:xfrm rot="5400000" flipH="1">
            <a:off x="4358482" y="25201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6" name="Text Box 22"/>
          <p:cNvSpPr txBox="1">
            <a:spLocks noChangeArrowheads="1"/>
          </p:cNvSpPr>
          <p:nvPr/>
        </p:nvSpPr>
        <p:spPr bwMode="auto">
          <a:xfrm>
            <a:off x="3962400" y="25955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7127" name="Text Box 23"/>
          <p:cNvSpPr txBox="1">
            <a:spLocks noChangeArrowheads="1"/>
          </p:cNvSpPr>
          <p:nvPr/>
        </p:nvSpPr>
        <p:spPr bwMode="auto">
          <a:xfrm>
            <a:off x="4979988" y="27432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7128" name="Text Box 24"/>
          <p:cNvSpPr txBox="1">
            <a:spLocks noChangeArrowheads="1"/>
          </p:cNvSpPr>
          <p:nvPr/>
        </p:nvSpPr>
        <p:spPr bwMode="auto">
          <a:xfrm>
            <a:off x="4759325" y="35671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/>
        </p:nvSpPr>
        <p:spPr bwMode="auto">
          <a:xfrm>
            <a:off x="4759325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5956300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5305425" y="1905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7132" name="Text Box 28"/>
          <p:cNvSpPr txBox="1">
            <a:spLocks noChangeArrowheads="1"/>
          </p:cNvSpPr>
          <p:nvPr/>
        </p:nvSpPr>
        <p:spPr bwMode="auto">
          <a:xfrm>
            <a:off x="6556375" y="2628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7133" name="Text Box 29"/>
          <p:cNvSpPr txBox="1">
            <a:spLocks noChangeArrowheads="1"/>
          </p:cNvSpPr>
          <p:nvPr/>
        </p:nvSpPr>
        <p:spPr bwMode="auto">
          <a:xfrm>
            <a:off x="7375525" y="1828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7134" name="Text Box 30"/>
          <p:cNvSpPr txBox="1">
            <a:spLocks noChangeArrowheads="1"/>
          </p:cNvSpPr>
          <p:nvPr/>
        </p:nvSpPr>
        <p:spPr bwMode="auto">
          <a:xfrm>
            <a:off x="7321550" y="29638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7135" name="Text Box 31"/>
          <p:cNvSpPr txBox="1">
            <a:spLocks noChangeArrowheads="1"/>
          </p:cNvSpPr>
          <p:nvPr/>
        </p:nvSpPr>
        <p:spPr bwMode="auto">
          <a:xfrm>
            <a:off x="5895975" y="35861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7136" name="Text Box 32"/>
          <p:cNvSpPr txBox="1">
            <a:spLocks noChangeArrowheads="1"/>
          </p:cNvSpPr>
          <p:nvPr/>
        </p:nvSpPr>
        <p:spPr bwMode="auto">
          <a:xfrm>
            <a:off x="6934200" y="14478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47137" name="AutoShape 33"/>
          <p:cNvCxnSpPr>
            <a:cxnSpLocks noChangeShapeType="1"/>
            <a:stCxn id="47136" idx="1"/>
            <a:endCxn id="47109" idx="0"/>
          </p:cNvCxnSpPr>
          <p:nvPr/>
        </p:nvCxnSpPr>
        <p:spPr bwMode="auto">
          <a:xfrm flipH="1">
            <a:off x="6570663" y="1646238"/>
            <a:ext cx="363537" cy="3508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4195763" y="2016125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48133" name="Oval 5"/>
          <p:cNvSpPr>
            <a:spLocks noChangeArrowheads="1"/>
          </p:cNvSpPr>
          <p:nvPr/>
        </p:nvSpPr>
        <p:spPr bwMode="auto">
          <a:xfrm>
            <a:off x="6380163" y="201612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8134" name="Oval 6"/>
          <p:cNvSpPr>
            <a:spLocks noChangeArrowheads="1"/>
          </p:cNvSpPr>
          <p:nvPr/>
        </p:nvSpPr>
        <p:spPr bwMode="auto">
          <a:xfrm>
            <a:off x="8289925" y="20161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48135" name="Oval 7"/>
          <p:cNvSpPr>
            <a:spLocks noChangeArrowheads="1"/>
          </p:cNvSpPr>
          <p:nvPr/>
        </p:nvSpPr>
        <p:spPr bwMode="auto">
          <a:xfrm>
            <a:off x="4195763" y="31623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8136" name="Oval 8"/>
          <p:cNvSpPr>
            <a:spLocks noChangeArrowheads="1"/>
          </p:cNvSpPr>
          <p:nvPr/>
        </p:nvSpPr>
        <p:spPr bwMode="auto">
          <a:xfrm>
            <a:off x="6380163" y="31623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8137" name="Oval 9"/>
          <p:cNvSpPr>
            <a:spLocks noChangeArrowheads="1"/>
          </p:cNvSpPr>
          <p:nvPr/>
        </p:nvSpPr>
        <p:spPr bwMode="auto">
          <a:xfrm>
            <a:off x="8289925" y="31623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48138" name="Oval 10"/>
          <p:cNvSpPr>
            <a:spLocks noChangeArrowheads="1"/>
          </p:cNvSpPr>
          <p:nvPr/>
        </p:nvSpPr>
        <p:spPr bwMode="auto">
          <a:xfrm>
            <a:off x="5287963" y="36528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8139" name="Oval 11"/>
          <p:cNvSpPr>
            <a:spLocks noChangeArrowheads="1"/>
          </p:cNvSpPr>
          <p:nvPr/>
        </p:nvSpPr>
        <p:spPr bwMode="auto">
          <a:xfrm>
            <a:off x="5287963" y="152400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48140" name="AutoShape 12"/>
          <p:cNvCxnSpPr>
            <a:cxnSpLocks noChangeShapeType="1"/>
            <a:stCxn id="48139" idx="5"/>
            <a:endCxn id="48133" idx="1"/>
          </p:cNvCxnSpPr>
          <p:nvPr/>
        </p:nvCxnSpPr>
        <p:spPr bwMode="auto">
          <a:xfrm>
            <a:off x="5613400" y="18637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1" name="AutoShape 13"/>
          <p:cNvCxnSpPr>
            <a:cxnSpLocks noChangeShapeType="1"/>
            <a:stCxn id="48139" idx="3"/>
            <a:endCxn id="48132" idx="7"/>
          </p:cNvCxnSpPr>
          <p:nvPr/>
        </p:nvCxnSpPr>
        <p:spPr bwMode="auto">
          <a:xfrm flipH="1">
            <a:off x="4522788" y="18637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2" name="AutoShape 14"/>
          <p:cNvCxnSpPr>
            <a:cxnSpLocks noChangeShapeType="1"/>
            <a:stCxn id="48132" idx="6"/>
            <a:endCxn id="48133" idx="2"/>
          </p:cNvCxnSpPr>
          <p:nvPr/>
        </p:nvCxnSpPr>
        <p:spPr bwMode="auto">
          <a:xfrm>
            <a:off x="4591050" y="2206625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3" name="AutoShape 15"/>
          <p:cNvCxnSpPr>
            <a:cxnSpLocks noChangeShapeType="1"/>
            <a:stCxn id="48135" idx="0"/>
            <a:endCxn id="48132" idx="4"/>
          </p:cNvCxnSpPr>
          <p:nvPr/>
        </p:nvCxnSpPr>
        <p:spPr bwMode="auto">
          <a:xfrm flipV="1">
            <a:off x="43862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4" name="AutoShape 16"/>
          <p:cNvCxnSpPr>
            <a:cxnSpLocks noChangeShapeType="1"/>
            <a:stCxn id="48135" idx="5"/>
            <a:endCxn id="48138" idx="1"/>
          </p:cNvCxnSpPr>
          <p:nvPr/>
        </p:nvCxnSpPr>
        <p:spPr bwMode="auto">
          <a:xfrm>
            <a:off x="4522788" y="35020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5" name="AutoShape 17"/>
          <p:cNvCxnSpPr>
            <a:cxnSpLocks noChangeShapeType="1"/>
            <a:stCxn id="48138" idx="7"/>
            <a:endCxn id="48136" idx="3"/>
          </p:cNvCxnSpPr>
          <p:nvPr/>
        </p:nvCxnSpPr>
        <p:spPr bwMode="auto">
          <a:xfrm flipV="1">
            <a:off x="5613400" y="35020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6" name="AutoShape 18"/>
          <p:cNvCxnSpPr>
            <a:cxnSpLocks noChangeShapeType="1"/>
            <a:stCxn id="48136" idx="0"/>
            <a:endCxn id="48133" idx="4"/>
          </p:cNvCxnSpPr>
          <p:nvPr/>
        </p:nvCxnSpPr>
        <p:spPr bwMode="auto">
          <a:xfrm flipV="1">
            <a:off x="65706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7" name="AutoShape 19"/>
          <p:cNvCxnSpPr>
            <a:cxnSpLocks noChangeShapeType="1"/>
            <a:stCxn id="48133" idx="6"/>
            <a:endCxn id="48134" idx="2"/>
          </p:cNvCxnSpPr>
          <p:nvPr/>
        </p:nvCxnSpPr>
        <p:spPr bwMode="auto">
          <a:xfrm>
            <a:off x="6775450" y="220662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8" name="AutoShape 20"/>
          <p:cNvCxnSpPr>
            <a:cxnSpLocks noChangeShapeType="1"/>
            <a:stCxn id="48136" idx="6"/>
            <a:endCxn id="48137" idx="2"/>
          </p:cNvCxnSpPr>
          <p:nvPr/>
        </p:nvCxnSpPr>
        <p:spPr bwMode="auto">
          <a:xfrm>
            <a:off x="6775450" y="33528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9" name="AutoShape 21"/>
          <p:cNvCxnSpPr>
            <a:cxnSpLocks noChangeShapeType="1"/>
            <a:stCxn id="48138" idx="0"/>
            <a:endCxn id="48132" idx="5"/>
          </p:cNvCxnSpPr>
          <p:nvPr/>
        </p:nvCxnSpPr>
        <p:spPr bwMode="auto">
          <a:xfrm rot="5400000" flipH="1">
            <a:off x="4358482" y="25201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50" name="Text Box 22"/>
          <p:cNvSpPr txBox="1">
            <a:spLocks noChangeArrowheads="1"/>
          </p:cNvSpPr>
          <p:nvPr/>
        </p:nvSpPr>
        <p:spPr bwMode="auto">
          <a:xfrm>
            <a:off x="3962400" y="25955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8151" name="Text Box 23"/>
          <p:cNvSpPr txBox="1">
            <a:spLocks noChangeArrowheads="1"/>
          </p:cNvSpPr>
          <p:nvPr/>
        </p:nvSpPr>
        <p:spPr bwMode="auto">
          <a:xfrm>
            <a:off x="4979988" y="27432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8152" name="Text Box 24"/>
          <p:cNvSpPr txBox="1">
            <a:spLocks noChangeArrowheads="1"/>
          </p:cNvSpPr>
          <p:nvPr/>
        </p:nvSpPr>
        <p:spPr bwMode="auto">
          <a:xfrm>
            <a:off x="4759325" y="35671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8153" name="Text Box 25"/>
          <p:cNvSpPr txBox="1">
            <a:spLocks noChangeArrowheads="1"/>
          </p:cNvSpPr>
          <p:nvPr/>
        </p:nvSpPr>
        <p:spPr bwMode="auto">
          <a:xfrm>
            <a:off x="4759325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8154" name="Text Box 26"/>
          <p:cNvSpPr txBox="1">
            <a:spLocks noChangeArrowheads="1"/>
          </p:cNvSpPr>
          <p:nvPr/>
        </p:nvSpPr>
        <p:spPr bwMode="auto">
          <a:xfrm>
            <a:off x="5956300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8155" name="Text Box 27"/>
          <p:cNvSpPr txBox="1">
            <a:spLocks noChangeArrowheads="1"/>
          </p:cNvSpPr>
          <p:nvPr/>
        </p:nvSpPr>
        <p:spPr bwMode="auto">
          <a:xfrm>
            <a:off x="5305425" y="1905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8156" name="Text Box 28"/>
          <p:cNvSpPr txBox="1">
            <a:spLocks noChangeArrowheads="1"/>
          </p:cNvSpPr>
          <p:nvPr/>
        </p:nvSpPr>
        <p:spPr bwMode="auto">
          <a:xfrm>
            <a:off x="6556375" y="2628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8157" name="Text Box 29"/>
          <p:cNvSpPr txBox="1">
            <a:spLocks noChangeArrowheads="1"/>
          </p:cNvSpPr>
          <p:nvPr/>
        </p:nvSpPr>
        <p:spPr bwMode="auto">
          <a:xfrm>
            <a:off x="7375525" y="1828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8158" name="Text Box 30"/>
          <p:cNvSpPr txBox="1">
            <a:spLocks noChangeArrowheads="1"/>
          </p:cNvSpPr>
          <p:nvPr/>
        </p:nvSpPr>
        <p:spPr bwMode="auto">
          <a:xfrm>
            <a:off x="7321550" y="29638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8159" name="Text Box 31"/>
          <p:cNvSpPr txBox="1">
            <a:spLocks noChangeArrowheads="1"/>
          </p:cNvSpPr>
          <p:nvPr/>
        </p:nvSpPr>
        <p:spPr bwMode="auto">
          <a:xfrm>
            <a:off x="5895975" y="35861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8160" name="Text Box 32"/>
          <p:cNvSpPr txBox="1">
            <a:spLocks noChangeArrowheads="1"/>
          </p:cNvSpPr>
          <p:nvPr/>
        </p:nvSpPr>
        <p:spPr bwMode="auto">
          <a:xfrm>
            <a:off x="6172200" y="12954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48161" name="AutoShape 33"/>
          <p:cNvCxnSpPr>
            <a:cxnSpLocks noChangeShapeType="1"/>
            <a:stCxn id="48160" idx="1"/>
            <a:endCxn id="48139" idx="7"/>
          </p:cNvCxnSpPr>
          <p:nvPr/>
        </p:nvCxnSpPr>
        <p:spPr bwMode="auto">
          <a:xfrm flipH="1">
            <a:off x="5614988" y="1493838"/>
            <a:ext cx="557212" cy="66675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49156" name="Oval 4"/>
          <p:cNvSpPr>
            <a:spLocks noChangeArrowheads="1"/>
          </p:cNvSpPr>
          <p:nvPr/>
        </p:nvSpPr>
        <p:spPr bwMode="auto">
          <a:xfrm>
            <a:off x="4195763" y="2016125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49157" name="Oval 5"/>
          <p:cNvSpPr>
            <a:spLocks noChangeArrowheads="1"/>
          </p:cNvSpPr>
          <p:nvPr/>
        </p:nvSpPr>
        <p:spPr bwMode="auto">
          <a:xfrm>
            <a:off x="6380163" y="201612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auto">
          <a:xfrm>
            <a:off x="8289925" y="201612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auto">
          <a:xfrm>
            <a:off x="4195763" y="31623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auto">
          <a:xfrm>
            <a:off x="6380163" y="31623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49161" name="Oval 9"/>
          <p:cNvSpPr>
            <a:spLocks noChangeArrowheads="1"/>
          </p:cNvSpPr>
          <p:nvPr/>
        </p:nvSpPr>
        <p:spPr bwMode="auto">
          <a:xfrm>
            <a:off x="8289925" y="31623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49162" name="Oval 10"/>
          <p:cNvSpPr>
            <a:spLocks noChangeArrowheads="1"/>
          </p:cNvSpPr>
          <p:nvPr/>
        </p:nvSpPr>
        <p:spPr bwMode="auto">
          <a:xfrm>
            <a:off x="5287963" y="36528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49163" name="Oval 11"/>
          <p:cNvSpPr>
            <a:spLocks noChangeArrowheads="1"/>
          </p:cNvSpPr>
          <p:nvPr/>
        </p:nvSpPr>
        <p:spPr bwMode="auto">
          <a:xfrm>
            <a:off x="5287963" y="152400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49164" name="AutoShape 12"/>
          <p:cNvCxnSpPr>
            <a:cxnSpLocks noChangeShapeType="1"/>
            <a:stCxn id="49163" idx="5"/>
            <a:endCxn id="49157" idx="1"/>
          </p:cNvCxnSpPr>
          <p:nvPr/>
        </p:nvCxnSpPr>
        <p:spPr bwMode="auto">
          <a:xfrm>
            <a:off x="5613400" y="18637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5" name="AutoShape 13"/>
          <p:cNvCxnSpPr>
            <a:cxnSpLocks noChangeShapeType="1"/>
            <a:stCxn id="49163" idx="3"/>
            <a:endCxn id="49156" idx="7"/>
          </p:cNvCxnSpPr>
          <p:nvPr/>
        </p:nvCxnSpPr>
        <p:spPr bwMode="auto">
          <a:xfrm flipH="1">
            <a:off x="4522788" y="18637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6" name="AutoShape 14"/>
          <p:cNvCxnSpPr>
            <a:cxnSpLocks noChangeShapeType="1"/>
            <a:stCxn id="49156" idx="6"/>
            <a:endCxn id="49157" idx="2"/>
          </p:cNvCxnSpPr>
          <p:nvPr/>
        </p:nvCxnSpPr>
        <p:spPr bwMode="auto">
          <a:xfrm>
            <a:off x="4591050" y="2206625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7" name="AutoShape 15"/>
          <p:cNvCxnSpPr>
            <a:cxnSpLocks noChangeShapeType="1"/>
            <a:stCxn id="49159" idx="0"/>
            <a:endCxn id="49156" idx="4"/>
          </p:cNvCxnSpPr>
          <p:nvPr/>
        </p:nvCxnSpPr>
        <p:spPr bwMode="auto">
          <a:xfrm flipV="1">
            <a:off x="43862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8" name="AutoShape 16"/>
          <p:cNvCxnSpPr>
            <a:cxnSpLocks noChangeShapeType="1"/>
            <a:stCxn id="49159" idx="5"/>
            <a:endCxn id="49162" idx="1"/>
          </p:cNvCxnSpPr>
          <p:nvPr/>
        </p:nvCxnSpPr>
        <p:spPr bwMode="auto">
          <a:xfrm>
            <a:off x="4522788" y="35020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9" name="AutoShape 17"/>
          <p:cNvCxnSpPr>
            <a:cxnSpLocks noChangeShapeType="1"/>
            <a:stCxn id="49162" idx="7"/>
            <a:endCxn id="49160" idx="3"/>
          </p:cNvCxnSpPr>
          <p:nvPr/>
        </p:nvCxnSpPr>
        <p:spPr bwMode="auto">
          <a:xfrm flipV="1">
            <a:off x="5613400" y="35020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0" name="AutoShape 18"/>
          <p:cNvCxnSpPr>
            <a:cxnSpLocks noChangeShapeType="1"/>
            <a:stCxn id="49160" idx="0"/>
            <a:endCxn id="49157" idx="4"/>
          </p:cNvCxnSpPr>
          <p:nvPr/>
        </p:nvCxnSpPr>
        <p:spPr bwMode="auto">
          <a:xfrm flipV="1">
            <a:off x="65706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1" name="AutoShape 19"/>
          <p:cNvCxnSpPr>
            <a:cxnSpLocks noChangeShapeType="1"/>
            <a:stCxn id="49157" idx="6"/>
            <a:endCxn id="49158" idx="2"/>
          </p:cNvCxnSpPr>
          <p:nvPr/>
        </p:nvCxnSpPr>
        <p:spPr bwMode="auto">
          <a:xfrm>
            <a:off x="6775450" y="220662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2" name="AutoShape 20"/>
          <p:cNvCxnSpPr>
            <a:cxnSpLocks noChangeShapeType="1"/>
            <a:stCxn id="49160" idx="6"/>
            <a:endCxn id="49161" idx="2"/>
          </p:cNvCxnSpPr>
          <p:nvPr/>
        </p:nvCxnSpPr>
        <p:spPr bwMode="auto">
          <a:xfrm>
            <a:off x="6775450" y="33528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3" name="AutoShape 21"/>
          <p:cNvCxnSpPr>
            <a:cxnSpLocks noChangeShapeType="1"/>
            <a:stCxn id="49162" idx="0"/>
            <a:endCxn id="49156" idx="5"/>
          </p:cNvCxnSpPr>
          <p:nvPr/>
        </p:nvCxnSpPr>
        <p:spPr bwMode="auto">
          <a:xfrm rot="5400000" flipH="1">
            <a:off x="4358482" y="25201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74" name="Text Box 22"/>
          <p:cNvSpPr txBox="1">
            <a:spLocks noChangeArrowheads="1"/>
          </p:cNvSpPr>
          <p:nvPr/>
        </p:nvSpPr>
        <p:spPr bwMode="auto">
          <a:xfrm>
            <a:off x="3962400" y="25955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9175" name="Text Box 23"/>
          <p:cNvSpPr txBox="1">
            <a:spLocks noChangeArrowheads="1"/>
          </p:cNvSpPr>
          <p:nvPr/>
        </p:nvSpPr>
        <p:spPr bwMode="auto">
          <a:xfrm>
            <a:off x="4979988" y="27432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9176" name="Text Box 24"/>
          <p:cNvSpPr txBox="1">
            <a:spLocks noChangeArrowheads="1"/>
          </p:cNvSpPr>
          <p:nvPr/>
        </p:nvSpPr>
        <p:spPr bwMode="auto">
          <a:xfrm>
            <a:off x="4759325" y="35671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9177" name="Text Box 25"/>
          <p:cNvSpPr txBox="1">
            <a:spLocks noChangeArrowheads="1"/>
          </p:cNvSpPr>
          <p:nvPr/>
        </p:nvSpPr>
        <p:spPr bwMode="auto">
          <a:xfrm>
            <a:off x="4759325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9178" name="Text Box 26"/>
          <p:cNvSpPr txBox="1">
            <a:spLocks noChangeArrowheads="1"/>
          </p:cNvSpPr>
          <p:nvPr/>
        </p:nvSpPr>
        <p:spPr bwMode="auto">
          <a:xfrm>
            <a:off x="5956300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9179" name="Text Box 27"/>
          <p:cNvSpPr txBox="1">
            <a:spLocks noChangeArrowheads="1"/>
          </p:cNvSpPr>
          <p:nvPr/>
        </p:nvSpPr>
        <p:spPr bwMode="auto">
          <a:xfrm>
            <a:off x="5305425" y="1905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9180" name="Text Box 28"/>
          <p:cNvSpPr txBox="1">
            <a:spLocks noChangeArrowheads="1"/>
          </p:cNvSpPr>
          <p:nvPr/>
        </p:nvSpPr>
        <p:spPr bwMode="auto">
          <a:xfrm>
            <a:off x="6556375" y="2628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7375525" y="1828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7321550" y="29638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9183" name="Text Box 31"/>
          <p:cNvSpPr txBox="1">
            <a:spLocks noChangeArrowheads="1"/>
          </p:cNvSpPr>
          <p:nvPr/>
        </p:nvSpPr>
        <p:spPr bwMode="auto">
          <a:xfrm>
            <a:off x="5895975" y="35861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9184" name="Text Box 32"/>
          <p:cNvSpPr txBox="1">
            <a:spLocks noChangeArrowheads="1"/>
          </p:cNvSpPr>
          <p:nvPr/>
        </p:nvSpPr>
        <p:spPr bwMode="auto">
          <a:xfrm>
            <a:off x="4038600" y="14478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49185" name="AutoShape 33"/>
          <p:cNvCxnSpPr>
            <a:cxnSpLocks noChangeShapeType="1"/>
            <a:stCxn id="49184" idx="2"/>
            <a:endCxn id="49156" idx="0"/>
          </p:cNvCxnSpPr>
          <p:nvPr/>
        </p:nvCxnSpPr>
        <p:spPr bwMode="auto">
          <a:xfrm>
            <a:off x="4206875" y="1844675"/>
            <a:ext cx="180975" cy="15240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50180" name="Oval 4"/>
          <p:cNvSpPr>
            <a:spLocks noChangeArrowheads="1"/>
          </p:cNvSpPr>
          <p:nvPr/>
        </p:nvSpPr>
        <p:spPr bwMode="auto">
          <a:xfrm>
            <a:off x="4195763" y="2016125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0181" name="Oval 5"/>
          <p:cNvSpPr>
            <a:spLocks noChangeArrowheads="1"/>
          </p:cNvSpPr>
          <p:nvPr/>
        </p:nvSpPr>
        <p:spPr bwMode="auto">
          <a:xfrm>
            <a:off x="6380163" y="201612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0182" name="Oval 6"/>
          <p:cNvSpPr>
            <a:spLocks noChangeArrowheads="1"/>
          </p:cNvSpPr>
          <p:nvPr/>
        </p:nvSpPr>
        <p:spPr bwMode="auto">
          <a:xfrm>
            <a:off x="8289925" y="2016125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0183" name="Oval 7"/>
          <p:cNvSpPr>
            <a:spLocks noChangeArrowheads="1"/>
          </p:cNvSpPr>
          <p:nvPr/>
        </p:nvSpPr>
        <p:spPr bwMode="auto">
          <a:xfrm>
            <a:off x="4195763" y="31623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50184" name="Oval 8"/>
          <p:cNvSpPr>
            <a:spLocks noChangeArrowheads="1"/>
          </p:cNvSpPr>
          <p:nvPr/>
        </p:nvSpPr>
        <p:spPr bwMode="auto">
          <a:xfrm>
            <a:off x="6380163" y="31623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8289925" y="31623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50186" name="Oval 10"/>
          <p:cNvSpPr>
            <a:spLocks noChangeArrowheads="1"/>
          </p:cNvSpPr>
          <p:nvPr/>
        </p:nvSpPr>
        <p:spPr bwMode="auto">
          <a:xfrm>
            <a:off x="5287963" y="36528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0187" name="Oval 11"/>
          <p:cNvSpPr>
            <a:spLocks noChangeArrowheads="1"/>
          </p:cNvSpPr>
          <p:nvPr/>
        </p:nvSpPr>
        <p:spPr bwMode="auto">
          <a:xfrm>
            <a:off x="5287963" y="152400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50188" name="AutoShape 12"/>
          <p:cNvCxnSpPr>
            <a:cxnSpLocks noChangeShapeType="1"/>
            <a:stCxn id="50187" idx="5"/>
            <a:endCxn id="50181" idx="1"/>
          </p:cNvCxnSpPr>
          <p:nvPr/>
        </p:nvCxnSpPr>
        <p:spPr bwMode="auto">
          <a:xfrm>
            <a:off x="5613400" y="18637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89" name="AutoShape 13"/>
          <p:cNvCxnSpPr>
            <a:cxnSpLocks noChangeShapeType="1"/>
            <a:stCxn id="50187" idx="3"/>
            <a:endCxn id="50180" idx="7"/>
          </p:cNvCxnSpPr>
          <p:nvPr/>
        </p:nvCxnSpPr>
        <p:spPr bwMode="auto">
          <a:xfrm flipH="1">
            <a:off x="4522788" y="18637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0" name="AutoShape 14"/>
          <p:cNvCxnSpPr>
            <a:cxnSpLocks noChangeShapeType="1"/>
            <a:stCxn id="50180" idx="6"/>
            <a:endCxn id="50181" idx="2"/>
          </p:cNvCxnSpPr>
          <p:nvPr/>
        </p:nvCxnSpPr>
        <p:spPr bwMode="auto">
          <a:xfrm>
            <a:off x="4591050" y="2206625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1" name="AutoShape 15"/>
          <p:cNvCxnSpPr>
            <a:cxnSpLocks noChangeShapeType="1"/>
            <a:stCxn id="50183" idx="0"/>
            <a:endCxn id="50180" idx="4"/>
          </p:cNvCxnSpPr>
          <p:nvPr/>
        </p:nvCxnSpPr>
        <p:spPr bwMode="auto">
          <a:xfrm flipV="1">
            <a:off x="43862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2" name="AutoShape 16"/>
          <p:cNvCxnSpPr>
            <a:cxnSpLocks noChangeShapeType="1"/>
            <a:stCxn id="50183" idx="5"/>
            <a:endCxn id="50186" idx="1"/>
          </p:cNvCxnSpPr>
          <p:nvPr/>
        </p:nvCxnSpPr>
        <p:spPr bwMode="auto">
          <a:xfrm>
            <a:off x="4522788" y="35020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3" name="AutoShape 17"/>
          <p:cNvCxnSpPr>
            <a:cxnSpLocks noChangeShapeType="1"/>
            <a:stCxn id="50186" idx="7"/>
            <a:endCxn id="50184" idx="3"/>
          </p:cNvCxnSpPr>
          <p:nvPr/>
        </p:nvCxnSpPr>
        <p:spPr bwMode="auto">
          <a:xfrm flipV="1">
            <a:off x="5613400" y="35020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4" name="AutoShape 18"/>
          <p:cNvCxnSpPr>
            <a:cxnSpLocks noChangeShapeType="1"/>
            <a:stCxn id="50184" idx="0"/>
            <a:endCxn id="50181" idx="4"/>
          </p:cNvCxnSpPr>
          <p:nvPr/>
        </p:nvCxnSpPr>
        <p:spPr bwMode="auto">
          <a:xfrm flipV="1">
            <a:off x="65706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5" name="AutoShape 19"/>
          <p:cNvCxnSpPr>
            <a:cxnSpLocks noChangeShapeType="1"/>
            <a:stCxn id="50181" idx="6"/>
            <a:endCxn id="50182" idx="2"/>
          </p:cNvCxnSpPr>
          <p:nvPr/>
        </p:nvCxnSpPr>
        <p:spPr bwMode="auto">
          <a:xfrm>
            <a:off x="6775450" y="220662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6" name="AutoShape 20"/>
          <p:cNvCxnSpPr>
            <a:cxnSpLocks noChangeShapeType="1"/>
            <a:stCxn id="50184" idx="6"/>
            <a:endCxn id="50185" idx="2"/>
          </p:cNvCxnSpPr>
          <p:nvPr/>
        </p:nvCxnSpPr>
        <p:spPr bwMode="auto">
          <a:xfrm>
            <a:off x="6775450" y="33528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7" name="AutoShape 21"/>
          <p:cNvCxnSpPr>
            <a:cxnSpLocks noChangeShapeType="1"/>
            <a:stCxn id="50186" idx="0"/>
            <a:endCxn id="50180" idx="5"/>
          </p:cNvCxnSpPr>
          <p:nvPr/>
        </p:nvCxnSpPr>
        <p:spPr bwMode="auto">
          <a:xfrm rot="5400000" flipH="1">
            <a:off x="4358482" y="25201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98" name="Text Box 22"/>
          <p:cNvSpPr txBox="1">
            <a:spLocks noChangeArrowheads="1"/>
          </p:cNvSpPr>
          <p:nvPr/>
        </p:nvSpPr>
        <p:spPr bwMode="auto">
          <a:xfrm>
            <a:off x="3962400" y="25955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0199" name="Text Box 23"/>
          <p:cNvSpPr txBox="1">
            <a:spLocks noChangeArrowheads="1"/>
          </p:cNvSpPr>
          <p:nvPr/>
        </p:nvSpPr>
        <p:spPr bwMode="auto">
          <a:xfrm>
            <a:off x="4979988" y="27432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0200" name="Text Box 24"/>
          <p:cNvSpPr txBox="1">
            <a:spLocks noChangeArrowheads="1"/>
          </p:cNvSpPr>
          <p:nvPr/>
        </p:nvSpPr>
        <p:spPr bwMode="auto">
          <a:xfrm>
            <a:off x="4759325" y="35671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0201" name="Text Box 25"/>
          <p:cNvSpPr txBox="1">
            <a:spLocks noChangeArrowheads="1"/>
          </p:cNvSpPr>
          <p:nvPr/>
        </p:nvSpPr>
        <p:spPr bwMode="auto">
          <a:xfrm>
            <a:off x="4759325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0202" name="Text Box 26"/>
          <p:cNvSpPr txBox="1">
            <a:spLocks noChangeArrowheads="1"/>
          </p:cNvSpPr>
          <p:nvPr/>
        </p:nvSpPr>
        <p:spPr bwMode="auto">
          <a:xfrm>
            <a:off x="5956300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0203" name="Text Box 27"/>
          <p:cNvSpPr txBox="1">
            <a:spLocks noChangeArrowheads="1"/>
          </p:cNvSpPr>
          <p:nvPr/>
        </p:nvSpPr>
        <p:spPr bwMode="auto">
          <a:xfrm>
            <a:off x="5305425" y="1905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0204" name="Text Box 28"/>
          <p:cNvSpPr txBox="1">
            <a:spLocks noChangeArrowheads="1"/>
          </p:cNvSpPr>
          <p:nvPr/>
        </p:nvSpPr>
        <p:spPr bwMode="auto">
          <a:xfrm>
            <a:off x="6556375" y="2628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0205" name="Text Box 29"/>
          <p:cNvSpPr txBox="1">
            <a:spLocks noChangeArrowheads="1"/>
          </p:cNvSpPr>
          <p:nvPr/>
        </p:nvSpPr>
        <p:spPr bwMode="auto">
          <a:xfrm>
            <a:off x="7375525" y="1828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0206" name="Text Box 30"/>
          <p:cNvSpPr txBox="1">
            <a:spLocks noChangeArrowheads="1"/>
          </p:cNvSpPr>
          <p:nvPr/>
        </p:nvSpPr>
        <p:spPr bwMode="auto">
          <a:xfrm>
            <a:off x="7321550" y="29638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0207" name="Text Box 31"/>
          <p:cNvSpPr txBox="1">
            <a:spLocks noChangeArrowheads="1"/>
          </p:cNvSpPr>
          <p:nvPr/>
        </p:nvSpPr>
        <p:spPr bwMode="auto">
          <a:xfrm>
            <a:off x="5895975" y="35861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0208" name="Text Box 32"/>
          <p:cNvSpPr txBox="1">
            <a:spLocks noChangeArrowheads="1"/>
          </p:cNvSpPr>
          <p:nvPr/>
        </p:nvSpPr>
        <p:spPr bwMode="auto">
          <a:xfrm>
            <a:off x="8229600" y="13716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50209" name="AutoShape 33"/>
          <p:cNvCxnSpPr>
            <a:cxnSpLocks noChangeShapeType="1"/>
            <a:stCxn id="50208" idx="2"/>
            <a:endCxn id="50182" idx="0"/>
          </p:cNvCxnSpPr>
          <p:nvPr/>
        </p:nvCxnSpPr>
        <p:spPr bwMode="auto">
          <a:xfrm>
            <a:off x="8397875" y="1768475"/>
            <a:ext cx="84138" cy="22860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Prim’s Algorithm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51204" name="Oval 4"/>
          <p:cNvSpPr>
            <a:spLocks noChangeArrowheads="1"/>
          </p:cNvSpPr>
          <p:nvPr/>
        </p:nvSpPr>
        <p:spPr bwMode="auto">
          <a:xfrm>
            <a:off x="4195763" y="2016125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51205" name="Oval 5"/>
          <p:cNvSpPr>
            <a:spLocks noChangeArrowheads="1"/>
          </p:cNvSpPr>
          <p:nvPr/>
        </p:nvSpPr>
        <p:spPr bwMode="auto">
          <a:xfrm>
            <a:off x="6380163" y="201612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1206" name="Oval 6"/>
          <p:cNvSpPr>
            <a:spLocks noChangeArrowheads="1"/>
          </p:cNvSpPr>
          <p:nvPr/>
        </p:nvSpPr>
        <p:spPr bwMode="auto">
          <a:xfrm>
            <a:off x="8289925" y="2016125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51207" name="Oval 7"/>
          <p:cNvSpPr>
            <a:spLocks noChangeArrowheads="1"/>
          </p:cNvSpPr>
          <p:nvPr/>
        </p:nvSpPr>
        <p:spPr bwMode="auto">
          <a:xfrm>
            <a:off x="4195763" y="31623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51208" name="Oval 8"/>
          <p:cNvSpPr>
            <a:spLocks noChangeArrowheads="1"/>
          </p:cNvSpPr>
          <p:nvPr/>
        </p:nvSpPr>
        <p:spPr bwMode="auto">
          <a:xfrm>
            <a:off x="6380163" y="31623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51209" name="Oval 9"/>
          <p:cNvSpPr>
            <a:spLocks noChangeArrowheads="1"/>
          </p:cNvSpPr>
          <p:nvPr/>
        </p:nvSpPr>
        <p:spPr bwMode="auto">
          <a:xfrm>
            <a:off x="8289925" y="3162300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51210" name="Oval 10"/>
          <p:cNvSpPr>
            <a:spLocks noChangeArrowheads="1"/>
          </p:cNvSpPr>
          <p:nvPr/>
        </p:nvSpPr>
        <p:spPr bwMode="auto">
          <a:xfrm>
            <a:off x="5287963" y="365283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51211" name="Oval 11"/>
          <p:cNvSpPr>
            <a:spLocks noChangeArrowheads="1"/>
          </p:cNvSpPr>
          <p:nvPr/>
        </p:nvSpPr>
        <p:spPr bwMode="auto">
          <a:xfrm>
            <a:off x="5287963" y="152400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51212" name="AutoShape 12"/>
          <p:cNvCxnSpPr>
            <a:cxnSpLocks noChangeShapeType="1"/>
            <a:stCxn id="51211" idx="5"/>
            <a:endCxn id="51205" idx="1"/>
          </p:cNvCxnSpPr>
          <p:nvPr/>
        </p:nvCxnSpPr>
        <p:spPr bwMode="auto">
          <a:xfrm>
            <a:off x="5613400" y="18637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3" name="AutoShape 13"/>
          <p:cNvCxnSpPr>
            <a:cxnSpLocks noChangeShapeType="1"/>
            <a:stCxn id="51211" idx="3"/>
            <a:endCxn id="51204" idx="7"/>
          </p:cNvCxnSpPr>
          <p:nvPr/>
        </p:nvCxnSpPr>
        <p:spPr bwMode="auto">
          <a:xfrm flipH="1">
            <a:off x="4522788" y="186372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4" name="AutoShape 14"/>
          <p:cNvCxnSpPr>
            <a:cxnSpLocks noChangeShapeType="1"/>
            <a:stCxn id="51204" idx="6"/>
            <a:endCxn id="51205" idx="2"/>
          </p:cNvCxnSpPr>
          <p:nvPr/>
        </p:nvCxnSpPr>
        <p:spPr bwMode="auto">
          <a:xfrm>
            <a:off x="4591050" y="2206625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5" name="AutoShape 15"/>
          <p:cNvCxnSpPr>
            <a:cxnSpLocks noChangeShapeType="1"/>
            <a:stCxn id="51207" idx="0"/>
            <a:endCxn id="51204" idx="4"/>
          </p:cNvCxnSpPr>
          <p:nvPr/>
        </p:nvCxnSpPr>
        <p:spPr bwMode="auto">
          <a:xfrm flipV="1">
            <a:off x="43862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6" name="AutoShape 16"/>
          <p:cNvCxnSpPr>
            <a:cxnSpLocks noChangeShapeType="1"/>
            <a:stCxn id="51207" idx="5"/>
            <a:endCxn id="51210" idx="1"/>
          </p:cNvCxnSpPr>
          <p:nvPr/>
        </p:nvCxnSpPr>
        <p:spPr bwMode="auto">
          <a:xfrm>
            <a:off x="4522788" y="350202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7" name="AutoShape 17"/>
          <p:cNvCxnSpPr>
            <a:cxnSpLocks noChangeShapeType="1"/>
            <a:stCxn id="51210" idx="7"/>
            <a:endCxn id="51208" idx="3"/>
          </p:cNvCxnSpPr>
          <p:nvPr/>
        </p:nvCxnSpPr>
        <p:spPr bwMode="auto">
          <a:xfrm flipV="1">
            <a:off x="5613400" y="350202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8" name="AutoShape 18"/>
          <p:cNvCxnSpPr>
            <a:cxnSpLocks noChangeShapeType="1"/>
            <a:stCxn id="51208" idx="0"/>
            <a:endCxn id="51205" idx="4"/>
          </p:cNvCxnSpPr>
          <p:nvPr/>
        </p:nvCxnSpPr>
        <p:spPr bwMode="auto">
          <a:xfrm flipV="1">
            <a:off x="6570663" y="241141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9" name="AutoShape 19"/>
          <p:cNvCxnSpPr>
            <a:cxnSpLocks noChangeShapeType="1"/>
            <a:stCxn id="51205" idx="6"/>
            <a:endCxn id="51206" idx="2"/>
          </p:cNvCxnSpPr>
          <p:nvPr/>
        </p:nvCxnSpPr>
        <p:spPr bwMode="auto">
          <a:xfrm>
            <a:off x="6775450" y="220662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0" name="AutoShape 20"/>
          <p:cNvCxnSpPr>
            <a:cxnSpLocks noChangeShapeType="1"/>
            <a:stCxn id="51208" idx="6"/>
            <a:endCxn id="51209" idx="2"/>
          </p:cNvCxnSpPr>
          <p:nvPr/>
        </p:nvCxnSpPr>
        <p:spPr bwMode="auto">
          <a:xfrm>
            <a:off x="6775450" y="33528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1" name="AutoShape 21"/>
          <p:cNvCxnSpPr>
            <a:cxnSpLocks noChangeShapeType="1"/>
            <a:stCxn id="51210" idx="0"/>
            <a:endCxn id="51204" idx="5"/>
          </p:cNvCxnSpPr>
          <p:nvPr/>
        </p:nvCxnSpPr>
        <p:spPr bwMode="auto">
          <a:xfrm rot="5400000" flipH="1">
            <a:off x="4358482" y="252015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22" name="Text Box 22"/>
          <p:cNvSpPr txBox="1">
            <a:spLocks noChangeArrowheads="1"/>
          </p:cNvSpPr>
          <p:nvPr/>
        </p:nvSpPr>
        <p:spPr bwMode="auto">
          <a:xfrm>
            <a:off x="3962400" y="25955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1223" name="Text Box 23"/>
          <p:cNvSpPr txBox="1">
            <a:spLocks noChangeArrowheads="1"/>
          </p:cNvSpPr>
          <p:nvPr/>
        </p:nvSpPr>
        <p:spPr bwMode="auto">
          <a:xfrm>
            <a:off x="4979988" y="27432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1224" name="Text Box 24"/>
          <p:cNvSpPr txBox="1">
            <a:spLocks noChangeArrowheads="1"/>
          </p:cNvSpPr>
          <p:nvPr/>
        </p:nvSpPr>
        <p:spPr bwMode="auto">
          <a:xfrm>
            <a:off x="4759325" y="35671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1225" name="Text Box 25"/>
          <p:cNvSpPr txBox="1">
            <a:spLocks noChangeArrowheads="1"/>
          </p:cNvSpPr>
          <p:nvPr/>
        </p:nvSpPr>
        <p:spPr bwMode="auto">
          <a:xfrm>
            <a:off x="4759325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1226" name="Text Box 26"/>
          <p:cNvSpPr txBox="1">
            <a:spLocks noChangeArrowheads="1"/>
          </p:cNvSpPr>
          <p:nvPr/>
        </p:nvSpPr>
        <p:spPr bwMode="auto">
          <a:xfrm>
            <a:off x="5956300" y="16002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1227" name="Text Box 27"/>
          <p:cNvSpPr txBox="1">
            <a:spLocks noChangeArrowheads="1"/>
          </p:cNvSpPr>
          <p:nvPr/>
        </p:nvSpPr>
        <p:spPr bwMode="auto">
          <a:xfrm>
            <a:off x="5305425" y="1905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228" name="Text Box 28"/>
          <p:cNvSpPr txBox="1">
            <a:spLocks noChangeArrowheads="1"/>
          </p:cNvSpPr>
          <p:nvPr/>
        </p:nvSpPr>
        <p:spPr bwMode="auto">
          <a:xfrm>
            <a:off x="6556375" y="2628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229" name="Text Box 29"/>
          <p:cNvSpPr txBox="1">
            <a:spLocks noChangeArrowheads="1"/>
          </p:cNvSpPr>
          <p:nvPr/>
        </p:nvSpPr>
        <p:spPr bwMode="auto">
          <a:xfrm>
            <a:off x="7375525" y="1828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230" name="Text Box 30"/>
          <p:cNvSpPr txBox="1">
            <a:spLocks noChangeArrowheads="1"/>
          </p:cNvSpPr>
          <p:nvPr/>
        </p:nvSpPr>
        <p:spPr bwMode="auto">
          <a:xfrm>
            <a:off x="7321550" y="29638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1231" name="Text Box 31"/>
          <p:cNvSpPr txBox="1">
            <a:spLocks noChangeArrowheads="1"/>
          </p:cNvSpPr>
          <p:nvPr/>
        </p:nvSpPr>
        <p:spPr bwMode="auto">
          <a:xfrm>
            <a:off x="5895975" y="35861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1232" name="Text Box 32"/>
          <p:cNvSpPr txBox="1">
            <a:spLocks noChangeArrowheads="1"/>
          </p:cNvSpPr>
          <p:nvPr/>
        </p:nvSpPr>
        <p:spPr bwMode="auto">
          <a:xfrm>
            <a:off x="8229600" y="25908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51233" name="AutoShape 33"/>
          <p:cNvCxnSpPr>
            <a:cxnSpLocks noChangeShapeType="1"/>
            <a:stCxn id="51232" idx="2"/>
            <a:endCxn id="51209" idx="0"/>
          </p:cNvCxnSpPr>
          <p:nvPr/>
        </p:nvCxnSpPr>
        <p:spPr bwMode="auto">
          <a:xfrm>
            <a:off x="8397875" y="2987675"/>
            <a:ext cx="84138" cy="155575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Review: Prim’s Algorithm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  <a:p>
            <a:pPr>
              <a:buFontTx/>
              <a:buNone/>
            </a:pPr>
            <a:endParaRPr lang="en-US" altLang="en-US" sz="1800" b="0" smtClean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3598863" y="2286000"/>
            <a:ext cx="5545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i="1">
                <a:solidFill>
                  <a:schemeClr val="accent1"/>
                </a:solidFill>
                <a:latin typeface="Times New Roman" panose="02020603050405020304" pitchFamily="18" charset="0"/>
              </a:rPr>
              <a:t>What is the hidden cost in this code?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Review: Prim’s Algorithm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solidFill>
                  <a:schemeClr val="tx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    DecreaseKey(v, w(u,v));</a:t>
            </a:r>
          </a:p>
          <a:p>
            <a:pPr>
              <a:buFontTx/>
              <a:buNone/>
            </a:pPr>
            <a:endParaRPr lang="en-US" altLang="en-US" sz="1800" b="0" smtClean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3581400" y="2635250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i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Review: Prim’s Algorithm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DecreaseKey(v, w(u,v));</a:t>
            </a:r>
          </a:p>
          <a:p>
            <a:pPr>
              <a:buFontTx/>
              <a:buNone/>
            </a:pPr>
            <a:endParaRPr lang="en-US" altLang="en-US" sz="1800" b="0" smtClean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3581400" y="2133600"/>
            <a:ext cx="53911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i="1">
                <a:solidFill>
                  <a:schemeClr val="accent1"/>
                </a:solidFill>
                <a:latin typeface="Times New Roman" panose="02020603050405020304" pitchFamily="18" charset="0"/>
              </a:rPr>
              <a:t>How often is ExtractMin() called?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i="1">
                <a:solidFill>
                  <a:schemeClr val="accent1"/>
                </a:solidFill>
                <a:latin typeface="Times New Roman" panose="02020603050405020304" pitchFamily="18" charset="0"/>
              </a:rPr>
              <a:t>How often is DecreaseKey() called?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Review: Prim’s Algorithm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MST-Prim(G, w, r)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Q = V[G];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</a:rPr>
              <a:t>    for each </a:t>
            </a:r>
            <a:r>
              <a:rPr lang="en-US" altLang="en-US" sz="1800" b="0" i="1" smtClean="0">
                <a:latin typeface="Courier New" panose="02070309020205020404" pitchFamily="49" charset="0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800" b="0" smtClean="0">
                <a:latin typeface="Courier New" panose="02070309020205020404" pitchFamily="49" charset="0"/>
              </a:rPr>
              <a:t> 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800" b="0" i="1" smtClean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>
              <a:buFontTx/>
              <a:buNone/>
            </a:pPr>
            <a:r>
              <a:rPr lang="en-US" altLang="en-US" sz="18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  <a:p>
            <a:pPr>
              <a:buFontTx/>
              <a:buNone/>
            </a:pPr>
            <a:endParaRPr lang="en-US" altLang="en-US" sz="1800" b="0" smtClean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3962400" y="1447800"/>
            <a:ext cx="47561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i="1">
                <a:solidFill>
                  <a:schemeClr val="accent1"/>
                </a:solidFill>
                <a:latin typeface="Times New Roman" panose="02020603050405020304" pitchFamily="18" charset="0"/>
              </a:rPr>
              <a:t>What will be the running time?</a:t>
            </a:r>
            <a:br>
              <a:rPr lang="en-US" altLang="en-US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</a:rPr>
              <a:t>Depends on queue</a:t>
            </a:r>
            <a:br>
              <a:rPr lang="en-US" altLang="en-US">
                <a:latin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</a:rPr>
              <a:t>  binary heap: O(E log V)</a:t>
            </a:r>
            <a:br>
              <a:rPr lang="en-US" altLang="en-US">
                <a:latin typeface="Times New Roman" panose="02020603050405020304" pitchFamily="18" charset="0"/>
              </a:rPr>
            </a:b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smtClean="0"/>
              <a:t>Measuring Efficiency of Graph Algorithms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Efficiency = Time complexity = (roughly) how many steps are needed as a function of N (number of vertices) and E (number of edges)</a:t>
            </a:r>
          </a:p>
          <a:p>
            <a:r>
              <a:rPr lang="en-US" altLang="en-US" smtClean="0">
                <a:solidFill>
                  <a:srgbClr val="FF0000"/>
                </a:solidFill>
              </a:rPr>
              <a:t>For any graph, 0 </a:t>
            </a:r>
            <a:r>
              <a:rPr lang="en-US" altLang="en-US" smtClean="0">
                <a:solidFill>
                  <a:srgbClr val="FF0000"/>
                </a:solidFill>
                <a:sym typeface="Symbol" panose="05050102010706020507" pitchFamily="18" charset="2"/>
              </a:rPr>
              <a:t> E  N(N-1)/2 = O(N</a:t>
            </a:r>
            <a:r>
              <a:rPr lang="en-US" altLang="en-US" baseline="30000" smtClean="0">
                <a:solidFill>
                  <a:srgbClr val="FF0000"/>
                </a:solidFill>
                <a:sym typeface="Symbol" panose="05050102010706020507" pitchFamily="18" charset="2"/>
              </a:rPr>
              <a:t>2</a:t>
            </a:r>
            <a:r>
              <a:rPr lang="en-US" altLang="en-US" smtClean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en-US" baseline="30000" smtClean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altLang="en-US" smtClean="0">
                <a:solidFill>
                  <a:srgbClr val="0000FF"/>
                </a:solidFill>
                <a:sym typeface="Symbol" panose="05050102010706020507" pitchFamily="18" charset="2"/>
              </a:rPr>
              <a:t>For any </a:t>
            </a:r>
            <a:r>
              <a:rPr lang="en-US" altLang="en-US" i="1" smtClean="0">
                <a:solidFill>
                  <a:srgbClr val="0000FF"/>
                </a:solidFill>
                <a:sym typeface="Symbol" panose="05050102010706020507" pitchFamily="18" charset="2"/>
              </a:rPr>
              <a:t>connected</a:t>
            </a:r>
            <a:r>
              <a:rPr lang="en-US" altLang="en-US" smtClean="0">
                <a:solidFill>
                  <a:srgbClr val="0000FF"/>
                </a:solidFill>
                <a:sym typeface="Symbol" panose="05050102010706020507" pitchFamily="18" charset="2"/>
              </a:rPr>
              <a:t> graph, </a:t>
            </a:r>
            <a:r>
              <a:rPr lang="en-US" altLang="en-US" smtClean="0">
                <a:solidFill>
                  <a:srgbClr val="0000FF"/>
                </a:solidFill>
              </a:rPr>
              <a:t>N-1 </a:t>
            </a:r>
            <a:r>
              <a:rPr lang="en-US" altLang="en-US" smtClean="0">
                <a:solidFill>
                  <a:srgbClr val="0000FF"/>
                </a:solidFill>
                <a:sym typeface="Symbol" panose="05050102010706020507" pitchFamily="18" charset="2"/>
              </a:rPr>
              <a:t> E  N(N-1)/2 , </a:t>
            </a:r>
            <a:r>
              <a:rPr lang="en-US" altLang="en-US" smtClean="0">
                <a:solidFill>
                  <a:srgbClr val="0000FF"/>
                </a:solidFill>
              </a:rPr>
              <a:t>O(N) </a:t>
            </a:r>
            <a:r>
              <a:rPr lang="en-US" altLang="en-US" smtClean="0">
                <a:solidFill>
                  <a:srgbClr val="0000FF"/>
                </a:solidFill>
                <a:sym typeface="Symbol" panose="05050102010706020507" pitchFamily="18" charset="2"/>
              </a:rPr>
              <a:t> E  O(N</a:t>
            </a:r>
            <a:r>
              <a:rPr lang="en-US" altLang="en-US" baseline="30000" smtClean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en-US" smtClean="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743200"/>
            <a:ext cx="7315200" cy="1752600"/>
          </a:xfrm>
        </p:spPr>
        <p:txBody>
          <a:bodyPr/>
          <a:lstStyle/>
          <a:p>
            <a:r>
              <a:rPr lang="en-US" altLang="en-US" smtClean="0"/>
              <a:t>Shortest Path Problem in Graphs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Variants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kumimoji="1" lang="en-US" altLang="zh-TW" b="0" smtClean="0">
                <a:ea typeface="新細明體" pitchFamily="18" charset="-120"/>
              </a:rPr>
              <a:t>Assume that the graph is connected. The shortest path problem has several different forms:</a:t>
            </a:r>
          </a:p>
          <a:p>
            <a:pPr>
              <a:lnSpc>
                <a:spcPct val="90000"/>
              </a:lnSpc>
            </a:pPr>
            <a:r>
              <a:rPr kumimoji="1" lang="en-US" altLang="zh-TW" b="0" smtClean="0">
                <a:ea typeface="新細明體" pitchFamily="18" charset="-120"/>
              </a:rPr>
              <a:t>Given two nodes A and B, find the shortest path in the weighted graph from A to B.</a:t>
            </a:r>
          </a:p>
          <a:p>
            <a:pPr>
              <a:lnSpc>
                <a:spcPct val="90000"/>
              </a:lnSpc>
            </a:pPr>
            <a:r>
              <a:rPr kumimoji="1" lang="en-US" altLang="zh-TW" b="0" smtClean="0">
                <a:ea typeface="新細明體" pitchFamily="18" charset="-120"/>
              </a:rPr>
              <a:t>Given a node A, find the shortest path from A to every other node in the graph. (</a:t>
            </a:r>
            <a:r>
              <a:rPr kumimoji="1" lang="en-US" altLang="zh-TW" smtClean="0">
                <a:ea typeface="新細明體" pitchFamily="18" charset="-120"/>
              </a:rPr>
              <a:t>single-source shortest path problem</a:t>
            </a:r>
            <a:r>
              <a:rPr kumimoji="1" lang="en-US" altLang="zh-TW" b="0" smtClean="0">
                <a:ea typeface="新細明體" pitchFamily="18" charset="-120"/>
              </a:rPr>
              <a:t>)</a:t>
            </a:r>
          </a:p>
          <a:p>
            <a:pPr>
              <a:lnSpc>
                <a:spcPct val="90000"/>
              </a:lnSpc>
            </a:pPr>
            <a:r>
              <a:rPr kumimoji="1" lang="en-US" altLang="zh-TW" b="0" smtClean="0">
                <a:ea typeface="新細明體" pitchFamily="18" charset="-120"/>
              </a:rPr>
              <a:t>Find the shortest path between every pair of nodes in the graph. (</a:t>
            </a:r>
            <a:r>
              <a:rPr kumimoji="1" lang="en-US" altLang="zh-TW" smtClean="0">
                <a:ea typeface="新細明體" pitchFamily="18" charset="-120"/>
              </a:rPr>
              <a:t>all-pair shortest path problem</a:t>
            </a:r>
            <a:r>
              <a:rPr kumimoji="1" lang="en-US" altLang="zh-TW" b="0" smtClean="0">
                <a:ea typeface="新細明體" pitchFamily="18" charset="-120"/>
              </a:rPr>
              <a:t>)</a:t>
            </a:r>
          </a:p>
          <a:p>
            <a:pPr>
              <a:lnSpc>
                <a:spcPct val="90000"/>
              </a:lnSpc>
            </a:pPr>
            <a:endParaRPr lang="en-US" altLang="en-US" sz="3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Single-Source Shortest Path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Problem: given a weighted graph G, find the minimum-weight path from a given source vertex s to another vertex v</a:t>
            </a:r>
          </a:p>
          <a:p>
            <a:pPr lvl="1"/>
            <a:r>
              <a:rPr lang="en-US" altLang="en-US" smtClean="0"/>
              <a:t>“Shortest-path” = minimum weight </a:t>
            </a:r>
          </a:p>
          <a:p>
            <a:pPr lvl="1"/>
            <a:r>
              <a:rPr lang="en-US" altLang="en-US" smtClean="0"/>
              <a:t>Weight of path </a:t>
            </a:r>
            <a:r>
              <a:rPr lang="en-US" altLang="en-US" smtClean="0">
                <a:sym typeface="Symbol" panose="05050102010706020507" pitchFamily="18" charset="2"/>
              </a:rPr>
              <a:t>is sum of edges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Dijkstra’s Algorithm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4343400"/>
          </a:xfrm>
        </p:spPr>
        <p:txBody>
          <a:bodyPr/>
          <a:lstStyle/>
          <a:p>
            <a:endParaRPr lang="en-US" altLang="en-US" sz="1200" smtClean="0"/>
          </a:p>
          <a:p>
            <a:r>
              <a:rPr lang="en-US" altLang="en-US" smtClean="0"/>
              <a:t>Similar to breadth-first search</a:t>
            </a:r>
          </a:p>
          <a:p>
            <a:pPr lvl="1"/>
            <a:r>
              <a:rPr lang="en-US" altLang="en-US" smtClean="0"/>
              <a:t>Grow a tree gradually, advancing from vertices taken from a queue</a:t>
            </a:r>
          </a:p>
          <a:p>
            <a:pPr lvl="1"/>
            <a:endParaRPr lang="en-US" altLang="en-US" sz="1200" smtClean="0"/>
          </a:p>
          <a:p>
            <a:r>
              <a:rPr lang="en-US" altLang="en-US" smtClean="0">
                <a:solidFill>
                  <a:schemeClr val="tx2"/>
                </a:solidFill>
              </a:rPr>
              <a:t>Also similar to Prim’s algorithm for MST</a:t>
            </a:r>
          </a:p>
          <a:p>
            <a:pPr lvl="1"/>
            <a:r>
              <a:rPr lang="en-US" altLang="en-US" smtClean="0">
                <a:solidFill>
                  <a:schemeClr val="tx2"/>
                </a:solidFill>
              </a:rPr>
              <a:t>Use a priority queue keyed on d[v]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609600" y="147638"/>
            <a:ext cx="4921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3600" i="1">
                <a:solidFill>
                  <a:srgbClr val="063DE8"/>
                </a:solidFill>
                <a:latin typeface="Times New Roman" panose="02020603050405020304" pitchFamily="18" charset="0"/>
              </a:rPr>
              <a:t>Dijkstra’s Algorithm</a:t>
            </a:r>
            <a:endParaRPr lang="en-US" altLang="zh-TW" sz="3600" i="1">
              <a:solidFill>
                <a:srgbClr val="063DE8"/>
              </a:solidFill>
              <a:latin typeface="Times New Roman" panose="02020603050405020304" pitchFamily="18" charset="0"/>
              <a:ea typeface="新細明體" pitchFamily="18" charset="-120"/>
            </a:endParaRPr>
          </a:p>
        </p:txBody>
      </p:sp>
      <p:sp>
        <p:nvSpPr>
          <p:cNvPr id="61443" name="Text Box 6"/>
          <p:cNvSpPr txBox="1">
            <a:spLocks noChangeArrowheads="1"/>
          </p:cNvSpPr>
          <p:nvPr/>
        </p:nvSpPr>
        <p:spPr bwMode="auto">
          <a:xfrm>
            <a:off x="533400" y="1752600"/>
            <a:ext cx="77882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en-US" altLang="zh-TW" sz="2400">
                <a:latin typeface="Times New Roman" panose="02020603050405020304" pitchFamily="18" charset="0"/>
                <a:ea typeface="新細明體" pitchFamily="18" charset="-120"/>
              </a:rPr>
              <a:t>The idea is to visit the nodes in order of their closeness to </a:t>
            </a:r>
            <a:r>
              <a:rPr kumimoji="1" lang="en-US" altLang="zh-TW" sz="2400" i="1">
                <a:latin typeface="Times New Roman" panose="02020603050405020304" pitchFamily="18" charset="0"/>
                <a:ea typeface="新細明體" pitchFamily="18" charset="-120"/>
              </a:rPr>
              <a:t>A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; visit A first, then visit the closest node to A, then the next closest node to A, and so on.</a:t>
            </a:r>
          </a:p>
        </p:txBody>
      </p:sp>
      <p:sp>
        <p:nvSpPr>
          <p:cNvPr id="61444" name="Text Box 7"/>
          <p:cNvSpPr txBox="1">
            <a:spLocks noChangeArrowheads="1"/>
          </p:cNvSpPr>
          <p:nvPr/>
        </p:nvSpPr>
        <p:spPr bwMode="auto">
          <a:xfrm>
            <a:off x="762000" y="3276600"/>
            <a:ext cx="77882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The closest node to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A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, say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X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, must be adjacent to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A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 and the next closest node, say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Y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, must be either adjacent to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A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 or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X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. The third closest node to A must be either adjacent to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A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 or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X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 or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Y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, and so on. (Otherwise, this node is closer to </a:t>
            </a:r>
            <a:r>
              <a:rPr kumimoji="1" lang="en-US" altLang="zh-TW" sz="2400" b="0" i="1">
                <a:latin typeface="Times New Roman" panose="02020603050405020304" pitchFamily="18" charset="0"/>
                <a:ea typeface="新細明體" pitchFamily="18" charset="-120"/>
              </a:rPr>
              <a:t>A</a:t>
            </a:r>
            <a:r>
              <a:rPr kumimoji="1" lang="en-US" altLang="zh-TW" sz="2400" b="0">
                <a:latin typeface="Times New Roman" panose="02020603050405020304" pitchFamily="18" charset="0"/>
                <a:ea typeface="新細明體" pitchFamily="18" charset="-120"/>
              </a:rPr>
              <a:t> than the third closest node.)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Dijkstra’s Algorithm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</a:rPr>
              <a:t>Dijkstra(G)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</a:rPr>
              <a:t>   for each v </a:t>
            </a: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V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d[v] = ;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d[s] = 0; S = ; Q = V;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while (Q  )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u = ExtractMin(Q);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S = S </a:t>
            </a:r>
            <a:r>
              <a:rPr lang="en-US" altLang="en-US" sz="2000" b="0" smtClean="0">
                <a:latin typeface="Microsoft Sans Serif" panose="020B0604020202020204" pitchFamily="34" charset="0"/>
                <a:sym typeface="Math B"/>
              </a:rPr>
              <a:t>U</a:t>
            </a:r>
            <a:r>
              <a:rPr lang="en-US" altLang="en-US" sz="2000" b="0" smtClean="0">
                <a:latin typeface="Courier New" panose="02070309020205020404" pitchFamily="49" charset="0"/>
                <a:sym typeface="Math B"/>
              </a:rPr>
              <a:t> {u};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for each v  u-&gt;Adj[]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if (d[v] &gt; d[u]+w(u,v))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d[v] = d[u]+w(u,v);</a:t>
            </a:r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6172200" y="4038600"/>
            <a:ext cx="2298700" cy="914400"/>
            <a:chOff x="4176" y="3168"/>
            <a:chExt cx="1448" cy="576"/>
          </a:xfrm>
        </p:grpSpPr>
        <p:sp>
          <p:nvSpPr>
            <p:cNvPr id="62472" name="AutoShape 5"/>
            <p:cNvSpPr>
              <a:spLocks/>
            </p:cNvSpPr>
            <p:nvPr/>
          </p:nvSpPr>
          <p:spPr bwMode="auto">
            <a:xfrm>
              <a:off x="4176" y="3168"/>
              <a:ext cx="96" cy="576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62473" name="Text Box 6"/>
            <p:cNvSpPr txBox="1">
              <a:spLocks noChangeArrowheads="1"/>
            </p:cNvSpPr>
            <p:nvPr/>
          </p:nvSpPr>
          <p:spPr bwMode="auto">
            <a:xfrm>
              <a:off x="4358" y="3226"/>
              <a:ext cx="1266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i="1">
                  <a:solidFill>
                    <a:schemeClr val="accent1"/>
                  </a:solidFill>
                  <a:latin typeface="Courier New" panose="02070309020205020404" pitchFamily="49" charset="0"/>
                </a:rPr>
                <a:t>Relaxation</a:t>
              </a:r>
              <a:br>
                <a:rPr lang="en-US" altLang="en-US" sz="2400" i="1">
                  <a:solidFill>
                    <a:schemeClr val="accent1"/>
                  </a:solidFill>
                  <a:latin typeface="Courier New" panose="02070309020205020404" pitchFamily="49" charset="0"/>
                </a:rPr>
              </a:br>
              <a:r>
                <a:rPr lang="en-US" altLang="en-US" sz="2400" i="1">
                  <a:solidFill>
                    <a:schemeClr val="accent1"/>
                  </a:solidFill>
                  <a:latin typeface="Courier New" panose="02070309020205020404" pitchFamily="49" charset="0"/>
                </a:rPr>
                <a:t>Step</a:t>
              </a:r>
            </a:p>
          </p:txBody>
        </p:sp>
      </p:grpSp>
      <p:grpSp>
        <p:nvGrpSpPr>
          <p:cNvPr id="62469" name="Group 7"/>
          <p:cNvGrpSpPr>
            <a:grpSpLocks/>
          </p:cNvGrpSpPr>
          <p:nvPr/>
        </p:nvGrpSpPr>
        <p:grpSpPr bwMode="auto">
          <a:xfrm>
            <a:off x="152400" y="4800600"/>
            <a:ext cx="3841750" cy="1006475"/>
            <a:chOff x="172" y="3408"/>
            <a:chExt cx="2420" cy="634"/>
          </a:xfrm>
        </p:grpSpPr>
        <p:sp>
          <p:nvSpPr>
            <p:cNvPr id="62470" name="Text Box 8"/>
            <p:cNvSpPr txBox="1">
              <a:spLocks noChangeArrowheads="1"/>
            </p:cNvSpPr>
            <p:nvPr/>
          </p:nvSpPr>
          <p:spPr bwMode="auto">
            <a:xfrm>
              <a:off x="172" y="3408"/>
              <a:ext cx="2420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 i="1">
                  <a:solidFill>
                    <a:schemeClr val="tx2"/>
                  </a:solidFill>
                  <a:latin typeface="Courier New" panose="02070309020205020404" pitchFamily="49" charset="0"/>
                </a:rPr>
                <a:t>Note: this</a:t>
              </a:r>
              <a:br>
                <a:rPr lang="en-US" altLang="en-US" sz="2000" i="1">
                  <a:solidFill>
                    <a:schemeClr val="tx2"/>
                  </a:solidFill>
                  <a:latin typeface="Courier New" panose="02070309020205020404" pitchFamily="49" charset="0"/>
                </a:rPr>
              </a:br>
              <a:r>
                <a:rPr lang="en-US" altLang="en-US" sz="2000" i="1">
                  <a:solidFill>
                    <a:schemeClr val="tx2"/>
                  </a:solidFill>
                  <a:latin typeface="Courier New" panose="02070309020205020404" pitchFamily="49" charset="0"/>
                </a:rPr>
                <a:t>is really a </a:t>
              </a:r>
              <a:br>
                <a:rPr lang="en-US" altLang="en-US" sz="2000" i="1">
                  <a:solidFill>
                    <a:schemeClr val="tx2"/>
                  </a:solidFill>
                  <a:latin typeface="Courier New" panose="02070309020205020404" pitchFamily="49" charset="0"/>
                </a:rPr>
              </a:br>
              <a:r>
                <a:rPr lang="en-US" altLang="en-US" sz="2000" i="1">
                  <a:solidFill>
                    <a:schemeClr val="tx2"/>
                  </a:solidFill>
                  <a:latin typeface="Courier New" panose="02070309020205020404" pitchFamily="49" charset="0"/>
                </a:rPr>
                <a:t>call to Q-&gt;DecreaseKey()</a:t>
              </a:r>
            </a:p>
          </p:txBody>
        </p:sp>
        <p:sp>
          <p:nvSpPr>
            <p:cNvPr id="62471" name="Line 9"/>
            <p:cNvSpPr>
              <a:spLocks noChangeShapeType="1"/>
            </p:cNvSpPr>
            <p:nvPr/>
          </p:nvSpPr>
          <p:spPr bwMode="auto">
            <a:xfrm flipV="1">
              <a:off x="1392" y="3600"/>
              <a:ext cx="288" cy="4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Dijkstra’s Algorithm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</a:rPr>
              <a:t>Dijkstra(G)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</a:rPr>
              <a:t>   for each v </a:t>
            </a: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V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d[v] = ;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d[s] = 0; S = ; Q = V;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while (Q  )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u = ExtractMin(Q);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S = S </a:t>
            </a:r>
            <a:r>
              <a:rPr lang="en-US" altLang="en-US" sz="2000" b="0" smtClean="0">
                <a:latin typeface="Microsoft Sans Serif" panose="020B0604020202020204" pitchFamily="34" charset="0"/>
                <a:sym typeface="Math B"/>
              </a:rPr>
              <a:t>U</a:t>
            </a:r>
            <a:r>
              <a:rPr lang="en-US" altLang="en-US" sz="2000" b="0" smtClean="0">
                <a:latin typeface="Courier New" panose="02070309020205020404" pitchFamily="49" charset="0"/>
                <a:sym typeface="Math B"/>
              </a:rPr>
              <a:t> {u};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for each v  u-&gt;Adj[]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if (d[v] &gt; d[u]+w(u,v))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d[v] = d[u]+w(u,v);</a:t>
            </a: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5029200" y="1828800"/>
            <a:ext cx="3835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  <a:t>How many times is </a:t>
            </a:r>
            <a:b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</a:br>
            <a: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  <a:t>ExtractMin() called?</a:t>
            </a: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5029200" y="3216275"/>
            <a:ext cx="4017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  <a:t>How many times is </a:t>
            </a:r>
            <a:b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</a:br>
            <a: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  <a:t>DecreaseKey() called?</a:t>
            </a: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381000" y="5867400"/>
            <a:ext cx="6756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  <a:t>What will be the total running time?</a:t>
            </a:r>
            <a:b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</a:br>
            <a:endParaRPr lang="en-US" altLang="en-US" sz="2400" i="1">
              <a:solidFill>
                <a:schemeClr val="accent1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Dijkstra’s Algorithm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</a:rPr>
              <a:t>Dijkstra(G)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</a:rPr>
              <a:t>   for each v </a:t>
            </a: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 V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d[v] = ;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d[s] = 0; S = ; Q = V;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while (Q  )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u = ExtractMin(Q);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S = S </a:t>
            </a:r>
            <a:r>
              <a:rPr lang="en-US" altLang="en-US" sz="2000" b="0" smtClean="0">
                <a:latin typeface="Microsoft Sans Serif" panose="020B0604020202020204" pitchFamily="34" charset="0"/>
                <a:sym typeface="Math B"/>
              </a:rPr>
              <a:t>U</a:t>
            </a:r>
            <a:r>
              <a:rPr lang="en-US" altLang="en-US" sz="2000" b="0" smtClean="0">
                <a:latin typeface="Courier New" panose="02070309020205020404" pitchFamily="49" charset="0"/>
                <a:sym typeface="Math B"/>
              </a:rPr>
              <a:t> {u};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for each v  u-&gt;Adj[]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if (d[v] &gt; d[u]+w(u,v))</a:t>
            </a:r>
          </a:p>
          <a:p>
            <a:pPr>
              <a:buFontTx/>
              <a:buNone/>
            </a:pPr>
            <a:r>
              <a:rPr lang="en-US" altLang="en-US" sz="2000" b="0" smtClean="0">
                <a:latin typeface="Courier New" panose="02070309020205020404" pitchFamily="49" charset="0"/>
                <a:sym typeface="Symbol" panose="05050102010706020507" pitchFamily="18" charset="2"/>
              </a:rPr>
              <a:t>            d[v] = d[u]+w(u,v);</a:t>
            </a:r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5029200" y="1828800"/>
            <a:ext cx="3835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  <a:t>How many times is </a:t>
            </a:r>
            <a:b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</a:br>
            <a: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  <a:t>ExtractMin() called?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5029200" y="2971800"/>
            <a:ext cx="4017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  <a:t>How many times is </a:t>
            </a:r>
            <a:b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</a:br>
            <a:r>
              <a:rPr lang="en-US" altLang="en-US" sz="2400" i="1">
                <a:solidFill>
                  <a:schemeClr val="accent1"/>
                </a:solidFill>
                <a:latin typeface="Courier New" panose="02070309020205020404" pitchFamily="49" charset="0"/>
              </a:rPr>
              <a:t>DecreaseKey() called?</a:t>
            </a:r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381000" y="5867400"/>
            <a:ext cx="6938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</a:rPr>
              <a:t>A: O(E log V) using binary heap for Q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 i="1">
              <a:solidFill>
                <a:schemeClr val="tx2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smtClean="0"/>
              <a:t>Step by Step operation of Dijkstra algorithm </a:t>
            </a:r>
          </a:p>
        </p:txBody>
      </p:sp>
      <p:sp>
        <p:nvSpPr>
          <p:cNvPr id="68611" name="Rectangle 6"/>
          <p:cNvSpPr>
            <a:spLocks noChangeArrowheads="1"/>
          </p:cNvSpPr>
          <p:nvPr/>
        </p:nvSpPr>
        <p:spPr bwMode="auto">
          <a:xfrm>
            <a:off x="1905000" y="1066800"/>
            <a:ext cx="64770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Step1.</a:t>
            </a:r>
            <a:r>
              <a:rPr lang="en-US" altLang="en-US" sz="1400" b="0">
                <a:latin typeface="Times New Roman" panose="02020603050405020304" pitchFamily="18" charset="0"/>
              </a:rPr>
              <a:t> Given initial graph G=(V, E). All nodes have infinite cost except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 b="0">
                <a:latin typeface="Times New Roman" panose="02020603050405020304" pitchFamily="18" charset="0"/>
              </a:rPr>
              <a:t>the source node, s,  which has 0 cost.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0">
                <a:latin typeface="Times New Roman" panose="02020603050405020304" pitchFamily="18" charset="0"/>
              </a:rPr>
              <a:t>                                                    </a:t>
            </a:r>
          </a:p>
        </p:txBody>
      </p:sp>
      <p:pic>
        <p:nvPicPr>
          <p:cNvPr id="68612" name="Picture 7" descr="dij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00200"/>
            <a:ext cx="24384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3" name="Rectangle 8"/>
          <p:cNvSpPr>
            <a:spLocks noChangeArrowheads="1"/>
          </p:cNvSpPr>
          <p:nvPr/>
        </p:nvSpPr>
        <p:spPr bwMode="auto">
          <a:xfrm>
            <a:off x="1371600" y="3552825"/>
            <a:ext cx="73152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Step 2.</a:t>
            </a:r>
            <a:r>
              <a:rPr lang="en-US" altLang="en-US" sz="1400" b="0">
                <a:latin typeface="Times New Roman" panose="02020603050405020304" pitchFamily="18" charset="0"/>
              </a:rPr>
              <a:t> First we choose the node, which is closest to the source node, s.  We initialize d[s] to 0.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 b="0">
                <a:latin typeface="Times New Roman" panose="02020603050405020304" pitchFamily="18" charset="0"/>
              </a:rPr>
              <a:t>Add it to S. Relax all nodes adjacent to source, s. Update predecessor (see red arrow in diagram below) for all nodes updated.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400" b="0">
                <a:latin typeface="Times New Roman" panose="02020603050405020304" pitchFamily="18" charset="0"/>
              </a:rPr>
              <a:t>                                                     </a:t>
            </a:r>
          </a:p>
        </p:txBody>
      </p:sp>
      <p:pic>
        <p:nvPicPr>
          <p:cNvPr id="68614" name="Picture 9" descr="dij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648200"/>
            <a:ext cx="2362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/>
          <p:cNvSpPr>
            <a:spLocks noChangeArrowheads="1"/>
          </p:cNvSpPr>
          <p:nvPr/>
        </p:nvSpPr>
        <p:spPr bwMode="auto">
          <a:xfrm>
            <a:off x="685800" y="715963"/>
            <a:ext cx="70104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Step 3.</a:t>
            </a:r>
            <a:r>
              <a:rPr lang="en-US" altLang="en-US" sz="1400" b="0">
                <a:latin typeface="Times New Roman" panose="02020603050405020304" pitchFamily="18" charset="0"/>
              </a:rPr>
              <a:t> Choose the closest node, x. Relax all nodes adjacent to node x. Update predecessors for nodes u, v and y (again notice red arrows in diagram below).                                              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pic>
        <p:nvPicPr>
          <p:cNvPr id="69635" name="Picture 5" descr="dij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24000"/>
            <a:ext cx="25908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6"/>
          <p:cNvSpPr>
            <a:spLocks noChangeArrowheads="1"/>
          </p:cNvSpPr>
          <p:nvPr/>
        </p:nvSpPr>
        <p:spPr bwMode="auto">
          <a:xfrm>
            <a:off x="838200" y="3657600"/>
            <a:ext cx="8001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Step 4.</a:t>
            </a:r>
            <a:r>
              <a:rPr lang="en-US" altLang="en-US" sz="1400" b="0">
                <a:latin typeface="Times New Roman" panose="02020603050405020304" pitchFamily="18" charset="0"/>
              </a:rPr>
              <a:t> Now, node y is the closest node, so add it to S. Relax node v and adjust its predecessor (red arrows remember!).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pic>
        <p:nvPicPr>
          <p:cNvPr id="69637" name="Picture 7" descr="dij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343400"/>
            <a:ext cx="2209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4"/>
          <p:cNvSpPr>
            <a:spLocks noChangeArrowheads="1"/>
          </p:cNvSpPr>
          <p:nvPr/>
        </p:nvSpPr>
        <p:spPr bwMode="auto">
          <a:xfrm>
            <a:off x="762000" y="457200"/>
            <a:ext cx="6794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Step 5.</a:t>
            </a:r>
            <a:r>
              <a:rPr lang="en-US" altLang="en-US" sz="1400" b="0">
                <a:latin typeface="Times New Roman" panose="02020603050405020304" pitchFamily="18" charset="0"/>
              </a:rPr>
              <a:t> Now we have node u that is closest. Choose this node and adjust its neighbor node v.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pic>
        <p:nvPicPr>
          <p:cNvPr id="70659" name="Picture 5" descr="dij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990600"/>
            <a:ext cx="2590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0" name="Rectangle 6"/>
          <p:cNvSpPr>
            <a:spLocks noChangeArrowheads="1"/>
          </p:cNvSpPr>
          <p:nvPr/>
        </p:nvSpPr>
        <p:spPr bwMode="auto">
          <a:xfrm>
            <a:off x="228600" y="3352800"/>
            <a:ext cx="84470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Step 6.</a:t>
            </a:r>
            <a:r>
              <a:rPr lang="en-US" altLang="en-US" sz="1400" b="0">
                <a:latin typeface="Times New Roman" panose="02020603050405020304" pitchFamily="18" charset="0"/>
              </a:rPr>
              <a:t> Finally, add node v. The predecessor list now defines the shortest path from each node to the source node, s.</a:t>
            </a:r>
          </a:p>
        </p:txBody>
      </p:sp>
      <p:pic>
        <p:nvPicPr>
          <p:cNvPr id="70661" name="Picture 8" descr="dij6"/>
          <p:cNvPicPr>
            <a:picLocks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0400" y="4038600"/>
            <a:ext cx="2362200" cy="19812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Analysis of Dijkstra Algorithm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smtClean="0"/>
              <a:t>Q as a linear array</a:t>
            </a:r>
            <a:br>
              <a:rPr lang="en-US" altLang="en-US" sz="2000" smtClean="0"/>
            </a:br>
            <a:r>
              <a:rPr lang="en-US" altLang="en-US" sz="2000" b="0" smtClean="0"/>
              <a:t>EXTRACT_MIN takes O(V) time and there are |V| such operations. Therefore, a total time for EXTRACT_MIN in while-loop is O(V</a:t>
            </a:r>
            <a:r>
              <a:rPr lang="en-US" altLang="en-US" sz="2000" b="0" baseline="30000" smtClean="0"/>
              <a:t>2</a:t>
            </a:r>
            <a:r>
              <a:rPr lang="en-US" altLang="en-US" sz="2000" b="0" smtClean="0"/>
              <a:t>). Since the total number of edges in all the adjacency list is |E|. Therefore for-loop iterates |E| times with each iteration taking O(1) time. Hence, the running time of the algorithm with array implementation is O(V</a:t>
            </a:r>
            <a:r>
              <a:rPr lang="en-US" altLang="en-US" sz="2000" b="0" baseline="30000" smtClean="0"/>
              <a:t>2</a:t>
            </a:r>
            <a:r>
              <a:rPr lang="en-US" altLang="en-US" sz="2000" b="0" smtClean="0"/>
              <a:t> + E) = O(V</a:t>
            </a:r>
            <a:r>
              <a:rPr lang="en-US" altLang="en-US" sz="2000" b="0" baseline="30000" smtClean="0"/>
              <a:t>2</a:t>
            </a:r>
            <a:r>
              <a:rPr lang="en-US" altLang="en-US" sz="2000" b="0" smtClean="0"/>
              <a:t>).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smtClean="0"/>
              <a:t>Q as a binary heap ( If G is sparse)</a:t>
            </a:r>
            <a:br>
              <a:rPr lang="en-US" altLang="en-US" sz="2000" smtClean="0"/>
            </a:br>
            <a:r>
              <a:rPr lang="en-US" altLang="en-US" sz="2000" b="0" smtClean="0"/>
              <a:t>In this case, EXTRACT_MIN operations takes O(log V) time and there are |V| such operations.</a:t>
            </a:r>
            <a:br>
              <a:rPr lang="en-US" altLang="en-US" sz="2000" b="0" smtClean="0"/>
            </a:br>
            <a:r>
              <a:rPr lang="en-US" altLang="en-US" sz="2000" b="0" smtClean="0"/>
              <a:t>The binary heap can be build in O(V) time.</a:t>
            </a:r>
            <a:br>
              <a:rPr lang="en-US" altLang="en-US" sz="2000" b="0" smtClean="0"/>
            </a:br>
            <a:r>
              <a:rPr lang="en-US" altLang="en-US" sz="2000" b="0" smtClean="0"/>
              <a:t>Operation DECREASE (in the RELAX) takes O(log V) time and there are at most such operations.</a:t>
            </a:r>
            <a:br>
              <a:rPr lang="en-US" altLang="en-US" sz="2000" b="0" smtClean="0"/>
            </a:br>
            <a:r>
              <a:rPr lang="en-US" altLang="en-US" sz="2000" b="0" smtClean="0"/>
              <a:t>Hence, the running time of the algorithm with binary heap provided given graph is sparse is O((V + E) log V). Note that this time becomes O(E logV) if all vertices in the graph is reachable from the source vertices.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5288</TotalTime>
  <Pages>11</Pages>
  <Words>4933</Words>
  <Application>Microsoft Office PowerPoint</Application>
  <PresentationFormat>On-screen Show (4:3)</PresentationFormat>
  <Paragraphs>1211</Paragraphs>
  <Slides>65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Times New Roman</vt:lpstr>
      <vt:lpstr>Arial</vt:lpstr>
      <vt:lpstr>Symbol</vt:lpstr>
      <vt:lpstr>Courier New</vt:lpstr>
      <vt:lpstr>新細明體</vt:lpstr>
      <vt:lpstr>Microsoft Sans Serif</vt:lpstr>
      <vt:lpstr>Math B</vt:lpstr>
      <vt:lpstr>plsd</vt:lpstr>
      <vt:lpstr>Design and Analysis of Algorithms</vt:lpstr>
      <vt:lpstr>Graphs </vt:lpstr>
      <vt:lpstr>Graph Definitions</vt:lpstr>
      <vt:lpstr>Graph Definitions (contd.)</vt:lpstr>
      <vt:lpstr>Graph Definitions: Path</vt:lpstr>
      <vt:lpstr>Graph Definitions: Connectedness</vt:lpstr>
      <vt:lpstr>Applications of Graphs</vt:lpstr>
      <vt:lpstr>Representing Graphs: Adjacency Matrix </vt:lpstr>
      <vt:lpstr>Representing Graphs: Adjacency List </vt:lpstr>
      <vt:lpstr>Adjacency List Example</vt:lpstr>
      <vt:lpstr>Graph Traversals</vt:lpstr>
      <vt:lpstr>Breadth First Search</vt:lpstr>
      <vt:lpstr>Breadth First Algorithm (contd.)</vt:lpstr>
      <vt:lpstr>Breadth First Search Example </vt:lpstr>
      <vt:lpstr>Breadth First Search Example (contd.)</vt:lpstr>
      <vt:lpstr>Breadth First Search Example (contd.)</vt:lpstr>
      <vt:lpstr>Depth First Search</vt:lpstr>
      <vt:lpstr>Depth First Search (contd.)</vt:lpstr>
      <vt:lpstr>Depth First Search Example</vt:lpstr>
      <vt:lpstr>Depth First Search (contd.)</vt:lpstr>
      <vt:lpstr>Depth First Spanning Tree</vt:lpstr>
      <vt:lpstr>Minimum Spanning Tree</vt:lpstr>
      <vt:lpstr>Minimum Spanning Tree Example</vt:lpstr>
      <vt:lpstr>Minimum Spanning Tree (contd.)</vt:lpstr>
      <vt:lpstr>Minimum Spanning Tree</vt:lpstr>
      <vt:lpstr>Minimum Spanning Tree</vt:lpstr>
      <vt:lpstr>Minimum Spanning Tree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Review: Prim’s Algorithm</vt:lpstr>
      <vt:lpstr>Review: Prim’s Algorithm</vt:lpstr>
      <vt:lpstr>Review: Prim’s Algorithm</vt:lpstr>
      <vt:lpstr>Review: Prim’s Algorithm</vt:lpstr>
      <vt:lpstr>Measuring Efficiency of Graph Algorithms</vt:lpstr>
      <vt:lpstr>PowerPoint Presentation</vt:lpstr>
      <vt:lpstr>Variants</vt:lpstr>
      <vt:lpstr>Single-Source Shortest Path</vt:lpstr>
      <vt:lpstr>Dijkstra’s Algorithm</vt:lpstr>
      <vt:lpstr>PowerPoint Presentation</vt:lpstr>
      <vt:lpstr>Dijkstra’s Algorithm</vt:lpstr>
      <vt:lpstr>Dijkstra’s Algorithm</vt:lpstr>
      <vt:lpstr>Dijkstra’s Algorithm</vt:lpstr>
      <vt:lpstr>Step by Step operation of Dijkstra algorithm </vt:lpstr>
      <vt:lpstr>PowerPoint Presentation</vt:lpstr>
      <vt:lpstr>PowerPoint Presentation</vt:lpstr>
      <vt:lpstr>Analysis of Dijkstra Algorithm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Week-14</dc:subject>
  <dc:creator>Kashif Munir</dc:creator>
  <cp:keywords/>
  <cp:lastModifiedBy>user1</cp:lastModifiedBy>
  <cp:revision>416</cp:revision>
  <cp:lastPrinted>1998-07-27T03:15:14Z</cp:lastPrinted>
  <dcterms:created xsi:type="dcterms:W3CDTF">1998-07-26T04:07:26Z</dcterms:created>
  <dcterms:modified xsi:type="dcterms:W3CDTF">2025-07-28T10:25:58Z</dcterms:modified>
</cp:coreProperties>
</file>