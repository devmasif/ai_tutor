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100"/>
  </p:notesMasterIdLst>
  <p:handoutMasterIdLst>
    <p:handoutMasterId r:id="rId101"/>
  </p:handoutMasterIdLst>
  <p:sldIdLst>
    <p:sldId id="282" r:id="rId2"/>
    <p:sldId id="396" r:id="rId3"/>
    <p:sldId id="327" r:id="rId4"/>
    <p:sldId id="328" r:id="rId5"/>
    <p:sldId id="329" r:id="rId6"/>
    <p:sldId id="330" r:id="rId7"/>
    <p:sldId id="331" r:id="rId8"/>
    <p:sldId id="332" r:id="rId9"/>
    <p:sldId id="333" r:id="rId10"/>
    <p:sldId id="334" r:id="rId11"/>
    <p:sldId id="335" r:id="rId12"/>
    <p:sldId id="336" r:id="rId13"/>
    <p:sldId id="337" r:id="rId14"/>
    <p:sldId id="338" r:id="rId15"/>
    <p:sldId id="397" r:id="rId16"/>
    <p:sldId id="339" r:id="rId17"/>
    <p:sldId id="340" r:id="rId18"/>
    <p:sldId id="341" r:id="rId19"/>
    <p:sldId id="342" r:id="rId20"/>
    <p:sldId id="398" r:id="rId21"/>
    <p:sldId id="343" r:id="rId22"/>
    <p:sldId id="344" r:id="rId23"/>
    <p:sldId id="345" r:id="rId24"/>
    <p:sldId id="346" r:id="rId25"/>
    <p:sldId id="347" r:id="rId26"/>
    <p:sldId id="348" r:id="rId27"/>
    <p:sldId id="349" r:id="rId28"/>
    <p:sldId id="350" r:id="rId29"/>
    <p:sldId id="351" r:id="rId30"/>
    <p:sldId id="352" r:id="rId31"/>
    <p:sldId id="353" r:id="rId32"/>
    <p:sldId id="354" r:id="rId33"/>
    <p:sldId id="355" r:id="rId34"/>
    <p:sldId id="356" r:id="rId35"/>
    <p:sldId id="357" r:id="rId36"/>
    <p:sldId id="358" r:id="rId37"/>
    <p:sldId id="399" r:id="rId38"/>
    <p:sldId id="359" r:id="rId39"/>
    <p:sldId id="360" r:id="rId40"/>
    <p:sldId id="361" r:id="rId41"/>
    <p:sldId id="362" r:id="rId42"/>
    <p:sldId id="363" r:id="rId43"/>
    <p:sldId id="364" r:id="rId44"/>
    <p:sldId id="401" r:id="rId45"/>
    <p:sldId id="365" r:id="rId46"/>
    <p:sldId id="402" r:id="rId47"/>
    <p:sldId id="545" r:id="rId48"/>
    <p:sldId id="546" r:id="rId49"/>
    <p:sldId id="548" r:id="rId50"/>
    <p:sldId id="517" r:id="rId51"/>
    <p:sldId id="544" r:id="rId52"/>
    <p:sldId id="518" r:id="rId53"/>
    <p:sldId id="519" r:id="rId54"/>
    <p:sldId id="520" r:id="rId55"/>
    <p:sldId id="521" r:id="rId56"/>
    <p:sldId id="522" r:id="rId57"/>
    <p:sldId id="523" r:id="rId58"/>
    <p:sldId id="524" r:id="rId59"/>
    <p:sldId id="529" r:id="rId60"/>
    <p:sldId id="530" r:id="rId61"/>
    <p:sldId id="532" r:id="rId62"/>
    <p:sldId id="533" r:id="rId63"/>
    <p:sldId id="534" r:id="rId64"/>
    <p:sldId id="535" r:id="rId65"/>
    <p:sldId id="536" r:id="rId66"/>
    <p:sldId id="537" r:id="rId67"/>
    <p:sldId id="538" r:id="rId68"/>
    <p:sldId id="539" r:id="rId69"/>
    <p:sldId id="541" r:id="rId70"/>
    <p:sldId id="528" r:id="rId71"/>
    <p:sldId id="369" r:id="rId72"/>
    <p:sldId id="370" r:id="rId73"/>
    <p:sldId id="371" r:id="rId74"/>
    <p:sldId id="372" r:id="rId75"/>
    <p:sldId id="373" r:id="rId76"/>
    <p:sldId id="374" r:id="rId77"/>
    <p:sldId id="375" r:id="rId78"/>
    <p:sldId id="376" r:id="rId79"/>
    <p:sldId id="377" r:id="rId80"/>
    <p:sldId id="378" r:id="rId81"/>
    <p:sldId id="379" r:id="rId82"/>
    <p:sldId id="380" r:id="rId83"/>
    <p:sldId id="381" r:id="rId84"/>
    <p:sldId id="382" r:id="rId85"/>
    <p:sldId id="383" r:id="rId86"/>
    <p:sldId id="384" r:id="rId87"/>
    <p:sldId id="385" r:id="rId88"/>
    <p:sldId id="386" r:id="rId89"/>
    <p:sldId id="387" r:id="rId90"/>
    <p:sldId id="388" r:id="rId91"/>
    <p:sldId id="389" r:id="rId92"/>
    <p:sldId id="390" r:id="rId93"/>
    <p:sldId id="391" r:id="rId94"/>
    <p:sldId id="392" r:id="rId95"/>
    <p:sldId id="393" r:id="rId96"/>
    <p:sldId id="394" r:id="rId97"/>
    <p:sldId id="395" r:id="rId98"/>
    <p:sldId id="400" r:id="rId99"/>
  </p:sldIdLst>
  <p:sldSz cx="9144000" cy="6858000" type="letter"/>
  <p:notesSz cx="6858000" cy="9144000"/>
  <p:defaultTextStyle>
    <a:defPPr>
      <a:defRPr lang="en-CA"/>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52"/>
    <p:restoredTop sz="76909" autoAdjust="0"/>
  </p:normalViewPr>
  <p:slideViewPr>
    <p:cSldViewPr snapToObjects="1">
      <p:cViewPr varScale="1">
        <p:scale>
          <a:sx n="56" d="100"/>
          <a:sy n="56" d="100"/>
        </p:scale>
        <p:origin x="1812" y="78"/>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100" d="100"/>
          <a:sy n="100" d="100"/>
        </p:scale>
        <p:origin x="-780" y="21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E95DA1BE-682B-254C-880F-62CA7F803FD2}"/>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0419" name="Rectangle 3">
            <a:extLst>
              <a:ext uri="{FF2B5EF4-FFF2-40B4-BE49-F238E27FC236}">
                <a16:creationId xmlns:a16="http://schemas.microsoft.com/office/drawing/2014/main" id="{E63EB545-614A-7545-BC9D-46B6DAA51B6C}"/>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ahoma" panose="020B0604030504040204" pitchFamily="34" charset="0"/>
              </a:defRPr>
            </a:lvl1pPr>
          </a:lstStyle>
          <a:p>
            <a:pPr>
              <a:defRPr/>
            </a:pPr>
            <a:endParaRPr lang="en-CA" altLang="en-US"/>
          </a:p>
        </p:txBody>
      </p:sp>
      <p:sp>
        <p:nvSpPr>
          <p:cNvPr id="60420" name="Rectangle 4">
            <a:extLst>
              <a:ext uri="{FF2B5EF4-FFF2-40B4-BE49-F238E27FC236}">
                <a16:creationId xmlns:a16="http://schemas.microsoft.com/office/drawing/2014/main" id="{715523D3-0DB6-4446-808E-3C3DCFAB0B0D}"/>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0421" name="Rectangle 5">
            <a:extLst>
              <a:ext uri="{FF2B5EF4-FFF2-40B4-BE49-F238E27FC236}">
                <a16:creationId xmlns:a16="http://schemas.microsoft.com/office/drawing/2014/main" id="{3747CC23-E81D-3546-9865-23D83814A4A5}"/>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2EFDB384-7584-417F-82D7-467260FA1EC5}"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0E9B891-5AEB-3F47-BB17-5B2914CA554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1443" name="Rectangle 3">
            <a:extLst>
              <a:ext uri="{FF2B5EF4-FFF2-40B4-BE49-F238E27FC236}">
                <a16:creationId xmlns:a16="http://schemas.microsoft.com/office/drawing/2014/main" id="{A4CDD746-47A6-7149-994A-8C9D341FBB8F}"/>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ahoma" panose="020B0604030504040204" pitchFamily="34" charset="0"/>
              </a:defRPr>
            </a:lvl1pPr>
          </a:lstStyle>
          <a:p>
            <a:pPr>
              <a:defRPr/>
            </a:pPr>
            <a:endParaRPr lang="en-CA" altLang="en-US"/>
          </a:p>
        </p:txBody>
      </p:sp>
      <p:sp>
        <p:nvSpPr>
          <p:cNvPr id="4100"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45" name="Rectangle 5">
            <a:extLst>
              <a:ext uri="{FF2B5EF4-FFF2-40B4-BE49-F238E27FC236}">
                <a16:creationId xmlns:a16="http://schemas.microsoft.com/office/drawing/2014/main" id="{57E8A6F2-1AD9-C542-84A1-2CAC701C5EBF}"/>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61446" name="Rectangle 6">
            <a:extLst>
              <a:ext uri="{FF2B5EF4-FFF2-40B4-BE49-F238E27FC236}">
                <a16:creationId xmlns:a16="http://schemas.microsoft.com/office/drawing/2014/main" id="{15733316-B1D1-204B-9A42-0C5EAE6A6210}"/>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1447" name="Rectangle 7">
            <a:extLst>
              <a:ext uri="{FF2B5EF4-FFF2-40B4-BE49-F238E27FC236}">
                <a16:creationId xmlns:a16="http://schemas.microsoft.com/office/drawing/2014/main" id="{3D7C6513-D520-1A44-83DA-154C7C6AE106}"/>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E94F6767-2AFC-4414-A2D8-F924E8D5467E}"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4DAB944-3945-4E2B-AB40-AED0540872A6}" type="slidenum">
              <a:rPr lang="en-CA" altLang="en-US" sz="1200" smtClean="0">
                <a:latin typeface="Tahoma" panose="020B0604030504040204" pitchFamily="34" charset="0"/>
              </a:rPr>
              <a:pPr/>
              <a:t>1</a:t>
            </a:fld>
            <a:endParaRPr lang="en-CA" altLang="en-US" sz="1200" smtClean="0">
              <a:latin typeface="Tahoma" panose="020B0604030504040204" pitchFamily="34" charset="0"/>
            </a:endParaRPr>
          </a:p>
        </p:txBody>
      </p:sp>
      <p:sp>
        <p:nvSpPr>
          <p:cNvPr id="7171" name="Rectangle 2"/>
          <p:cNvSpPr>
            <a:spLocks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008A8E1-D910-4822-98AA-1B186C4BA416}" type="slidenum">
              <a:rPr lang="en-CA" altLang="en-US" sz="1200" smtClean="0">
                <a:latin typeface="Tahoma" panose="020B0604030504040204" pitchFamily="34" charset="0"/>
              </a:rPr>
              <a:pPr/>
              <a:t>2</a:t>
            </a:fld>
            <a:endParaRPr lang="en-CA" altLang="en-US" sz="1200" smtClean="0">
              <a:latin typeface="Tahoma" panose="020B0604030504040204" pitchFamily="34" charset="0"/>
            </a:endParaRPr>
          </a:p>
        </p:txBody>
      </p:sp>
      <p:sp>
        <p:nvSpPr>
          <p:cNvPr id="9219" name="Rectangle 2"/>
          <p:cNvSpPr>
            <a:spLocks noChangeArrowheads="1" noTextEdit="1"/>
          </p:cNvSpPr>
          <p:nvPr>
            <p:ph type="sldImg"/>
          </p:nvPr>
        </p:nvSpPr>
        <p:spPr>
          <a:ln/>
        </p:spPr>
      </p:sp>
      <p:sp>
        <p:nvSpPr>
          <p:cNvPr id="922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5EEBE28-77F0-4386-8AAB-E723FE6386AE}" type="slidenum">
              <a:rPr lang="en-CA" altLang="en-US" sz="1200" smtClean="0">
                <a:latin typeface="Tahoma" panose="020B0604030504040204" pitchFamily="34" charset="0"/>
              </a:rPr>
              <a:pPr/>
              <a:t>3</a:t>
            </a:fld>
            <a:endParaRPr lang="en-CA" altLang="en-US" sz="1200" smtClean="0">
              <a:latin typeface="Tahoma" panose="020B0604030504040204" pitchFamily="34" charset="0"/>
            </a:endParaRPr>
          </a:p>
        </p:txBody>
      </p:sp>
      <p:sp>
        <p:nvSpPr>
          <p:cNvPr id="11267" name="Rectangle 2"/>
          <p:cNvSpPr>
            <a:spLocks noChangeArrowheads="1" noTextEdit="1"/>
          </p:cNvSpPr>
          <p:nvPr>
            <p:ph type="sldImg"/>
          </p:nvPr>
        </p:nvSpPr>
        <p:spPr>
          <a:ln/>
        </p:spPr>
      </p:sp>
      <p:sp>
        <p:nvSpPr>
          <p:cNvPr id="1126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F44BB3B-380D-4CF7-A475-EE92CE7FEE9F}" type="slidenum">
              <a:rPr lang="en-CA" altLang="en-US" sz="1200" smtClean="0">
                <a:latin typeface="Tahoma" panose="020B0604030504040204" pitchFamily="34" charset="0"/>
              </a:rPr>
              <a:pPr/>
              <a:t>4</a:t>
            </a:fld>
            <a:endParaRPr lang="en-CA" altLang="en-US" sz="1200" smtClean="0">
              <a:latin typeface="Tahoma" panose="020B0604030504040204" pitchFamily="34" charset="0"/>
            </a:endParaRPr>
          </a:p>
        </p:txBody>
      </p:sp>
      <p:sp>
        <p:nvSpPr>
          <p:cNvPr id="13315" name="Rectangle 2"/>
          <p:cNvSpPr>
            <a:spLocks noChangeArrowheads="1" noTextEdit="1"/>
          </p:cNvSpPr>
          <p:nvPr>
            <p:ph type="sldImg"/>
          </p:nvPr>
        </p:nvSpPr>
        <p:spPr>
          <a:ln/>
        </p:spPr>
      </p:sp>
      <p:sp>
        <p:nvSpPr>
          <p:cNvPr id="1331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F95DD18-F02D-4985-97FA-AFDD5727B5DA}" type="slidenum">
              <a:rPr lang="en-CA" altLang="en-US" sz="1200" smtClean="0">
                <a:latin typeface="Tahoma" panose="020B0604030504040204" pitchFamily="34" charset="0"/>
              </a:rPr>
              <a:pPr/>
              <a:t>5</a:t>
            </a:fld>
            <a:endParaRPr lang="en-CA" altLang="en-US" sz="1200" smtClean="0">
              <a:latin typeface="Tahoma" panose="020B0604030504040204" pitchFamily="34" charset="0"/>
            </a:endParaRPr>
          </a:p>
        </p:txBody>
      </p:sp>
      <p:sp>
        <p:nvSpPr>
          <p:cNvPr id="15363" name="Rectangle 2"/>
          <p:cNvSpPr>
            <a:spLocks noChangeArrowheads="1" noTextEdit="1"/>
          </p:cNvSpPr>
          <p:nvPr>
            <p:ph type="sldImg"/>
          </p:nvPr>
        </p:nvSpPr>
        <p:spPr>
          <a:ln/>
        </p:spPr>
      </p:sp>
      <p:sp>
        <p:nvSpPr>
          <p:cNvPr id="1536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C574855-B14E-4F9B-9DF0-975CE64C8914}" type="slidenum">
              <a:rPr lang="en-CA" altLang="en-US" sz="1200" smtClean="0">
                <a:latin typeface="Tahoma" panose="020B0604030504040204" pitchFamily="34" charset="0"/>
              </a:rPr>
              <a:pPr/>
              <a:t>6</a:t>
            </a:fld>
            <a:endParaRPr lang="en-CA" altLang="en-US" sz="1200" smtClean="0">
              <a:latin typeface="Tahoma" panose="020B0604030504040204" pitchFamily="34" charset="0"/>
            </a:endParaRPr>
          </a:p>
        </p:txBody>
      </p:sp>
      <p:sp>
        <p:nvSpPr>
          <p:cNvPr id="17411" name="Rectangle 2"/>
          <p:cNvSpPr>
            <a:spLocks noChangeArrowheads="1" noTextEdit="1"/>
          </p:cNvSpPr>
          <p:nvPr>
            <p:ph type="sldImg"/>
          </p:nvPr>
        </p:nvSpPr>
        <p:spPr>
          <a:ln/>
        </p:spPr>
      </p:sp>
      <p:sp>
        <p:nvSpPr>
          <p:cNvPr id="1741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23BEC98-3285-43A3-9016-72AB5D6E17C9}" type="slidenum">
              <a:rPr lang="en-CA" altLang="en-US" sz="1200" smtClean="0">
                <a:latin typeface="Tahoma" panose="020B0604030504040204" pitchFamily="34" charset="0"/>
              </a:rPr>
              <a:pPr/>
              <a:t>7</a:t>
            </a:fld>
            <a:endParaRPr lang="en-CA" altLang="en-US" sz="1200" smtClean="0">
              <a:latin typeface="Tahoma" panose="020B0604030504040204" pitchFamily="34" charset="0"/>
            </a:endParaRPr>
          </a:p>
        </p:txBody>
      </p:sp>
      <p:sp>
        <p:nvSpPr>
          <p:cNvPr id="19459" name="Rectangle 2"/>
          <p:cNvSpPr>
            <a:spLocks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7C924B9-40B1-400C-A007-E1FE09EDD1B6}" type="slidenum">
              <a:rPr lang="en-CA" altLang="en-US" sz="1200" smtClean="0">
                <a:latin typeface="Tahoma" panose="020B0604030504040204" pitchFamily="34" charset="0"/>
              </a:rPr>
              <a:pPr/>
              <a:t>8</a:t>
            </a:fld>
            <a:endParaRPr lang="en-CA" altLang="en-US" sz="1200" smtClean="0">
              <a:latin typeface="Tahoma" panose="020B0604030504040204" pitchFamily="34" charset="0"/>
            </a:endParaRPr>
          </a:p>
        </p:txBody>
      </p:sp>
      <p:sp>
        <p:nvSpPr>
          <p:cNvPr id="21507" name="Rectangle 2"/>
          <p:cNvSpPr>
            <a:spLocks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4744E89-D895-4149-A46A-EBFA27DD2C1A}" type="slidenum">
              <a:rPr lang="en-CA" altLang="en-US" sz="1200" smtClean="0">
                <a:latin typeface="Tahoma" panose="020B0604030504040204" pitchFamily="34" charset="0"/>
              </a:rPr>
              <a:pPr/>
              <a:t>9</a:t>
            </a:fld>
            <a:endParaRPr lang="en-CA" altLang="en-US" sz="1200" smtClean="0">
              <a:latin typeface="Tahoma" panose="020B0604030504040204" pitchFamily="34" charset="0"/>
            </a:endParaRPr>
          </a:p>
        </p:txBody>
      </p:sp>
      <p:sp>
        <p:nvSpPr>
          <p:cNvPr id="23555" name="Rectangle 2"/>
          <p:cNvSpPr>
            <a:spLocks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B17155D-317D-4CFF-B514-66B2F922FF6A}" type="slidenum">
              <a:rPr lang="en-CA" altLang="en-US" sz="1200" smtClean="0">
                <a:latin typeface="Tahoma" panose="020B0604030504040204" pitchFamily="34" charset="0"/>
              </a:rPr>
              <a:pPr/>
              <a:t>10</a:t>
            </a:fld>
            <a:endParaRPr lang="en-CA" altLang="en-US" sz="1200" smtClean="0">
              <a:latin typeface="Tahoma" panose="020B0604030504040204" pitchFamily="34" charset="0"/>
            </a:endParaRPr>
          </a:p>
        </p:txBody>
      </p:sp>
      <p:sp>
        <p:nvSpPr>
          <p:cNvPr id="25603" name="Rectangle 2"/>
          <p:cNvSpPr>
            <a:spLocks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BF78F5A-8180-47D1-9FF2-234B778A340C}" type="slidenum">
              <a:rPr lang="en-CA" altLang="en-US" sz="1200" smtClean="0">
                <a:latin typeface="Tahoma" panose="020B0604030504040204" pitchFamily="34" charset="0"/>
              </a:rPr>
              <a:pPr/>
              <a:t>11</a:t>
            </a:fld>
            <a:endParaRPr lang="en-CA" altLang="en-US" sz="1200" smtClean="0">
              <a:latin typeface="Tahoma" panose="020B0604030504040204" pitchFamily="34" charset="0"/>
            </a:endParaRPr>
          </a:p>
        </p:txBody>
      </p:sp>
      <p:sp>
        <p:nvSpPr>
          <p:cNvPr id="27651" name="Rectangle 2"/>
          <p:cNvSpPr>
            <a:spLocks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2A0BC1D-BB83-4AAA-8AF6-F1411D6F4EBC}" type="slidenum">
              <a:rPr lang="en-CA" altLang="en-US" sz="1200" smtClean="0">
                <a:latin typeface="Tahoma" panose="020B0604030504040204" pitchFamily="34" charset="0"/>
              </a:rPr>
              <a:pPr/>
              <a:t>12</a:t>
            </a:fld>
            <a:endParaRPr lang="en-CA" altLang="en-US" sz="1200" smtClean="0">
              <a:latin typeface="Tahoma" panose="020B0604030504040204" pitchFamily="34" charset="0"/>
            </a:endParaRPr>
          </a:p>
        </p:txBody>
      </p:sp>
      <p:sp>
        <p:nvSpPr>
          <p:cNvPr id="29699" name="Rectangle 2"/>
          <p:cNvSpPr>
            <a:spLocks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9DBB58A-A38D-44F4-A113-C924603DD199}" type="slidenum">
              <a:rPr lang="en-CA" altLang="en-US" sz="1200" smtClean="0">
                <a:latin typeface="Tahoma" panose="020B0604030504040204" pitchFamily="34" charset="0"/>
              </a:rPr>
              <a:pPr/>
              <a:t>13</a:t>
            </a:fld>
            <a:endParaRPr lang="en-CA" altLang="en-US" sz="1200" smtClean="0">
              <a:latin typeface="Tahoma" panose="020B0604030504040204" pitchFamily="34" charset="0"/>
            </a:endParaRPr>
          </a:p>
        </p:txBody>
      </p:sp>
      <p:sp>
        <p:nvSpPr>
          <p:cNvPr id="31747" name="Rectangle 2"/>
          <p:cNvSpPr>
            <a:spLocks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E1A4C33-A4A1-483C-9DD8-AF2B86760123}" type="slidenum">
              <a:rPr lang="en-CA" altLang="en-US" sz="1200" smtClean="0">
                <a:latin typeface="Tahoma" panose="020B0604030504040204" pitchFamily="34" charset="0"/>
              </a:rPr>
              <a:pPr/>
              <a:t>14</a:t>
            </a:fld>
            <a:endParaRPr lang="en-CA" altLang="en-US" sz="1200" smtClean="0">
              <a:latin typeface="Tahoma" panose="020B0604030504040204" pitchFamily="34" charset="0"/>
            </a:endParaRPr>
          </a:p>
        </p:txBody>
      </p:sp>
      <p:sp>
        <p:nvSpPr>
          <p:cNvPr id="33795" name="Rectangle 2"/>
          <p:cNvSpPr>
            <a:spLocks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F599A51-6163-4DB0-9A90-2F5D5CDE7B75}" type="slidenum">
              <a:rPr lang="en-CA" altLang="en-US" sz="1200" smtClean="0">
                <a:latin typeface="Tahoma" panose="020B0604030504040204" pitchFamily="34" charset="0"/>
              </a:rPr>
              <a:pPr/>
              <a:t>15</a:t>
            </a:fld>
            <a:endParaRPr lang="en-CA" altLang="en-US" sz="1200" smtClean="0">
              <a:latin typeface="Tahoma" panose="020B0604030504040204" pitchFamily="34" charset="0"/>
            </a:endParaRPr>
          </a:p>
        </p:txBody>
      </p:sp>
      <p:sp>
        <p:nvSpPr>
          <p:cNvPr id="35843" name="Rectangle 2"/>
          <p:cNvSpPr>
            <a:spLocks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A91A113-C5D5-4CC8-9F70-B518A7365C6A}" type="slidenum">
              <a:rPr lang="en-CA" altLang="en-US" sz="1200" smtClean="0">
                <a:latin typeface="Tahoma" panose="020B0604030504040204" pitchFamily="34" charset="0"/>
              </a:rPr>
              <a:pPr/>
              <a:t>16</a:t>
            </a:fld>
            <a:endParaRPr lang="en-CA" altLang="en-US" sz="1200" smtClean="0">
              <a:latin typeface="Tahoma" panose="020B0604030504040204" pitchFamily="34" charset="0"/>
            </a:endParaRPr>
          </a:p>
        </p:txBody>
      </p:sp>
      <p:sp>
        <p:nvSpPr>
          <p:cNvPr id="37891" name="Rectangle 2"/>
          <p:cNvSpPr>
            <a:spLocks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324D4BB-3EC8-4250-9B99-3ED9501BA821}" type="slidenum">
              <a:rPr lang="en-CA" altLang="en-US" sz="1200" smtClean="0">
                <a:latin typeface="Tahoma" panose="020B0604030504040204" pitchFamily="34" charset="0"/>
              </a:rPr>
              <a:pPr/>
              <a:t>17</a:t>
            </a:fld>
            <a:endParaRPr lang="en-CA" altLang="en-US" sz="1200" smtClean="0">
              <a:latin typeface="Tahoma" panose="020B0604030504040204" pitchFamily="34" charset="0"/>
            </a:endParaRPr>
          </a:p>
        </p:txBody>
      </p:sp>
      <p:sp>
        <p:nvSpPr>
          <p:cNvPr id="39939" name="Rectangle 2"/>
          <p:cNvSpPr>
            <a:spLocks noChangeArrowheads="1" noTextEdit="1"/>
          </p:cNvSpPr>
          <p:nvPr>
            <p:ph type="sldImg"/>
          </p:nvPr>
        </p:nvSpPr>
        <p:spPr>
          <a:ln/>
        </p:spPr>
      </p:sp>
      <p:sp>
        <p:nvSpPr>
          <p:cNvPr id="3994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F705E7D-3C39-41DC-A5E7-AF5796E2ABEF}" type="slidenum">
              <a:rPr lang="en-CA" altLang="en-US" sz="1200" smtClean="0">
                <a:latin typeface="Tahoma" panose="020B0604030504040204" pitchFamily="34" charset="0"/>
              </a:rPr>
              <a:pPr/>
              <a:t>18</a:t>
            </a:fld>
            <a:endParaRPr lang="en-CA" altLang="en-US" sz="1200" smtClean="0">
              <a:latin typeface="Tahoma" panose="020B0604030504040204" pitchFamily="34" charset="0"/>
            </a:endParaRPr>
          </a:p>
        </p:txBody>
      </p:sp>
      <p:sp>
        <p:nvSpPr>
          <p:cNvPr id="41987" name="Rectangle 2"/>
          <p:cNvSpPr>
            <a:spLocks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C453F61-85D6-4338-B94E-FC01F23DCBC3}" type="slidenum">
              <a:rPr lang="en-CA" altLang="en-US" sz="1200" smtClean="0">
                <a:latin typeface="Tahoma" panose="020B0604030504040204" pitchFamily="34" charset="0"/>
              </a:rPr>
              <a:pPr/>
              <a:t>19</a:t>
            </a:fld>
            <a:endParaRPr lang="en-CA" altLang="en-US" sz="1200" smtClean="0">
              <a:latin typeface="Tahoma" panose="020B0604030504040204" pitchFamily="34" charset="0"/>
            </a:endParaRPr>
          </a:p>
        </p:txBody>
      </p:sp>
      <p:sp>
        <p:nvSpPr>
          <p:cNvPr id="44035" name="Rectangle 2"/>
          <p:cNvSpPr>
            <a:spLocks noChangeArrowheads="1" noTextEdit="1"/>
          </p:cNvSpPr>
          <p:nvPr>
            <p:ph type="sldImg"/>
          </p:nvPr>
        </p:nvSpPr>
        <p:spPr>
          <a:ln/>
        </p:spPr>
      </p:sp>
      <p:sp>
        <p:nvSpPr>
          <p:cNvPr id="4403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FB026E1-788A-4B81-B410-1598D422963E}" type="slidenum">
              <a:rPr lang="en-CA" altLang="en-US" sz="1200" smtClean="0">
                <a:latin typeface="Tahoma" panose="020B0604030504040204" pitchFamily="34" charset="0"/>
              </a:rPr>
              <a:pPr/>
              <a:t>20</a:t>
            </a:fld>
            <a:endParaRPr lang="en-CA" altLang="en-US" sz="1200" smtClean="0">
              <a:latin typeface="Tahoma" panose="020B0604030504040204" pitchFamily="34" charset="0"/>
            </a:endParaRPr>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4C45348-4827-45D9-80D2-63A44A6A165E}" type="slidenum">
              <a:rPr lang="en-CA" altLang="en-US" sz="1200" smtClean="0">
                <a:latin typeface="Tahoma" panose="020B0604030504040204" pitchFamily="34" charset="0"/>
              </a:rPr>
              <a:pPr/>
              <a:t>21</a:t>
            </a:fld>
            <a:endParaRPr lang="en-CA" altLang="en-US" sz="1200" smtClean="0">
              <a:latin typeface="Tahoma" panose="020B0604030504040204" pitchFamily="34" charset="0"/>
            </a:endParaRPr>
          </a:p>
        </p:txBody>
      </p:sp>
      <p:sp>
        <p:nvSpPr>
          <p:cNvPr id="48131" name="Rectangle 2"/>
          <p:cNvSpPr>
            <a:spLocks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3DCE06E-633B-415E-89BC-F7918E2FB467}" type="slidenum">
              <a:rPr lang="en-CA" altLang="en-US" sz="1200" smtClean="0">
                <a:latin typeface="Tahoma" panose="020B0604030504040204" pitchFamily="34" charset="0"/>
              </a:rPr>
              <a:pPr/>
              <a:t>22</a:t>
            </a:fld>
            <a:endParaRPr lang="en-CA" altLang="en-US" sz="1200" smtClean="0">
              <a:latin typeface="Tahoma" panose="020B0604030504040204" pitchFamily="34" charset="0"/>
            </a:endParaRPr>
          </a:p>
        </p:txBody>
      </p:sp>
      <p:sp>
        <p:nvSpPr>
          <p:cNvPr id="50179" name="Rectangle 2"/>
          <p:cNvSpPr>
            <a:spLocks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1C84F05-5063-4CCC-AD49-0433A53969A8}" type="slidenum">
              <a:rPr lang="en-CA" altLang="en-US" sz="1200" smtClean="0">
                <a:latin typeface="Tahoma" panose="020B0604030504040204" pitchFamily="34" charset="0"/>
              </a:rPr>
              <a:pPr/>
              <a:t>23</a:t>
            </a:fld>
            <a:endParaRPr lang="en-CA" altLang="en-US" sz="1200" smtClean="0">
              <a:latin typeface="Tahoma" panose="020B0604030504040204" pitchFamily="34" charset="0"/>
            </a:endParaRPr>
          </a:p>
        </p:txBody>
      </p:sp>
      <p:sp>
        <p:nvSpPr>
          <p:cNvPr id="52227" name="Rectangle 2"/>
          <p:cNvSpPr>
            <a:spLocks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4BA9553-CC18-42A9-AE81-715439E4E58C}" type="slidenum">
              <a:rPr lang="en-CA" altLang="en-US" sz="1200" smtClean="0">
                <a:latin typeface="Tahoma" panose="020B0604030504040204" pitchFamily="34" charset="0"/>
              </a:rPr>
              <a:pPr/>
              <a:t>24</a:t>
            </a:fld>
            <a:endParaRPr lang="en-CA" altLang="en-US" sz="1200" smtClean="0">
              <a:latin typeface="Tahoma" panose="020B0604030504040204" pitchFamily="34" charset="0"/>
            </a:endParaRPr>
          </a:p>
        </p:txBody>
      </p:sp>
      <p:sp>
        <p:nvSpPr>
          <p:cNvPr id="54275" name="Rectangle 2"/>
          <p:cNvSpPr>
            <a:spLocks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FC31DA9-DFB3-4C33-97C1-4616BB164E2B}" type="slidenum">
              <a:rPr lang="en-CA" altLang="en-US" sz="1200" smtClean="0">
                <a:latin typeface="Tahoma" panose="020B0604030504040204" pitchFamily="34" charset="0"/>
              </a:rPr>
              <a:pPr/>
              <a:t>25</a:t>
            </a:fld>
            <a:endParaRPr lang="en-CA" altLang="en-US" sz="1200" smtClean="0">
              <a:latin typeface="Tahoma" panose="020B0604030504040204" pitchFamily="34" charset="0"/>
            </a:endParaRPr>
          </a:p>
        </p:txBody>
      </p:sp>
      <p:sp>
        <p:nvSpPr>
          <p:cNvPr id="56323" name="Rectangle 2"/>
          <p:cNvSpPr>
            <a:spLocks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649F2F4-CF16-484F-9BD8-DE556335CFAE}" type="slidenum">
              <a:rPr lang="en-CA" altLang="en-US" sz="1200" smtClean="0">
                <a:latin typeface="Tahoma" panose="020B0604030504040204" pitchFamily="34" charset="0"/>
              </a:rPr>
              <a:pPr/>
              <a:t>26</a:t>
            </a:fld>
            <a:endParaRPr lang="en-CA" altLang="en-US" sz="1200" smtClean="0">
              <a:latin typeface="Tahoma" panose="020B0604030504040204" pitchFamily="34" charset="0"/>
            </a:endParaRPr>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F106900-CD92-4F8E-9D9C-16531152959A}" type="slidenum">
              <a:rPr lang="en-CA" altLang="en-US" sz="1200" smtClean="0">
                <a:latin typeface="Tahoma" panose="020B0604030504040204" pitchFamily="34" charset="0"/>
              </a:rPr>
              <a:pPr/>
              <a:t>27</a:t>
            </a:fld>
            <a:endParaRPr lang="en-CA" altLang="en-US" sz="1200" smtClean="0">
              <a:latin typeface="Tahoma" panose="020B0604030504040204" pitchFamily="34" charset="0"/>
            </a:endParaRPr>
          </a:p>
        </p:txBody>
      </p:sp>
      <p:sp>
        <p:nvSpPr>
          <p:cNvPr id="60419" name="Rectangle 2"/>
          <p:cNvSpPr>
            <a:spLocks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127F6D3-07FF-463A-BF53-C6ACA13833D9}" type="slidenum">
              <a:rPr lang="en-CA" altLang="en-US" sz="1200" smtClean="0">
                <a:latin typeface="Tahoma" panose="020B0604030504040204" pitchFamily="34" charset="0"/>
              </a:rPr>
              <a:pPr/>
              <a:t>28</a:t>
            </a:fld>
            <a:endParaRPr lang="en-CA" altLang="en-US" sz="1200" smtClean="0">
              <a:latin typeface="Tahoma" panose="020B0604030504040204" pitchFamily="34" charset="0"/>
            </a:endParaRPr>
          </a:p>
        </p:txBody>
      </p:sp>
      <p:sp>
        <p:nvSpPr>
          <p:cNvPr id="62467" name="Rectangle 2"/>
          <p:cNvSpPr>
            <a:spLocks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FB8D073-3533-4EDE-8B8A-FB4E35DC712F}" type="slidenum">
              <a:rPr lang="en-CA" altLang="en-US" sz="1200" smtClean="0">
                <a:latin typeface="Tahoma" panose="020B0604030504040204" pitchFamily="34" charset="0"/>
              </a:rPr>
              <a:pPr/>
              <a:t>29</a:t>
            </a:fld>
            <a:endParaRPr lang="en-CA" altLang="en-US" sz="1200" smtClean="0">
              <a:latin typeface="Tahoma" panose="020B0604030504040204" pitchFamily="34" charset="0"/>
            </a:endParaRPr>
          </a:p>
        </p:txBody>
      </p:sp>
      <p:sp>
        <p:nvSpPr>
          <p:cNvPr id="64515" name="Rectangle 2"/>
          <p:cNvSpPr>
            <a:spLocks noChangeArrowheads="1" noTextEdit="1"/>
          </p:cNvSpPr>
          <p:nvPr>
            <p:ph type="sldImg"/>
          </p:nvPr>
        </p:nvSpPr>
        <p:spPr>
          <a:ln/>
        </p:spPr>
      </p:sp>
      <p:sp>
        <p:nvSpPr>
          <p:cNvPr id="6451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CAE37A7-7B70-4653-ABE8-40968EE95397}" type="slidenum">
              <a:rPr lang="en-CA" altLang="en-US" sz="1200" smtClean="0">
                <a:latin typeface="Tahoma" panose="020B0604030504040204" pitchFamily="34" charset="0"/>
              </a:rPr>
              <a:pPr/>
              <a:t>30</a:t>
            </a:fld>
            <a:endParaRPr lang="en-CA" altLang="en-US" sz="1200" smtClean="0">
              <a:latin typeface="Tahoma" panose="020B0604030504040204" pitchFamily="34" charset="0"/>
            </a:endParaRPr>
          </a:p>
        </p:txBody>
      </p:sp>
      <p:sp>
        <p:nvSpPr>
          <p:cNvPr id="66563" name="Rectangle 2"/>
          <p:cNvSpPr>
            <a:spLocks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1024303-6ABD-47D8-AFCE-BD3508CE364D}" type="slidenum">
              <a:rPr lang="en-CA" altLang="en-US" sz="1200" smtClean="0">
                <a:latin typeface="Tahoma" panose="020B0604030504040204" pitchFamily="34" charset="0"/>
              </a:rPr>
              <a:pPr/>
              <a:t>31</a:t>
            </a:fld>
            <a:endParaRPr lang="en-CA" altLang="en-US" sz="1200" smtClean="0">
              <a:latin typeface="Tahoma" panose="020B0604030504040204" pitchFamily="34" charset="0"/>
            </a:endParaRPr>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4D1B74E-DA4E-4C76-A78B-C548A01A1FC8}" type="slidenum">
              <a:rPr lang="en-CA" altLang="en-US" sz="1200" smtClean="0">
                <a:latin typeface="Tahoma" panose="020B0604030504040204" pitchFamily="34" charset="0"/>
              </a:rPr>
              <a:pPr/>
              <a:t>32</a:t>
            </a:fld>
            <a:endParaRPr lang="en-CA" altLang="en-US" sz="1200" smtClean="0">
              <a:latin typeface="Tahoma" panose="020B0604030504040204" pitchFamily="34" charset="0"/>
            </a:endParaRPr>
          </a:p>
        </p:txBody>
      </p:sp>
      <p:sp>
        <p:nvSpPr>
          <p:cNvPr id="70659" name="Rectangle 2"/>
          <p:cNvSpPr>
            <a:spLocks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69A6636-BAA9-407E-A030-E33D31EA5ACA}" type="slidenum">
              <a:rPr lang="en-CA" altLang="en-US" sz="1200" smtClean="0">
                <a:latin typeface="Tahoma" panose="020B0604030504040204" pitchFamily="34" charset="0"/>
              </a:rPr>
              <a:pPr/>
              <a:t>33</a:t>
            </a:fld>
            <a:endParaRPr lang="en-CA" altLang="en-US" sz="1200" smtClean="0">
              <a:latin typeface="Tahoma" panose="020B0604030504040204" pitchFamily="34" charset="0"/>
            </a:endParaRPr>
          </a:p>
        </p:txBody>
      </p:sp>
      <p:sp>
        <p:nvSpPr>
          <p:cNvPr id="72707" name="Rectangle 2"/>
          <p:cNvSpPr>
            <a:spLocks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32D5B17-E849-4153-8E3D-11FD9DBF4191}" type="slidenum">
              <a:rPr lang="en-CA" altLang="en-US" sz="1200" smtClean="0">
                <a:latin typeface="Tahoma" panose="020B0604030504040204" pitchFamily="34" charset="0"/>
              </a:rPr>
              <a:pPr/>
              <a:t>34</a:t>
            </a:fld>
            <a:endParaRPr lang="en-CA" altLang="en-US" sz="1200" smtClean="0">
              <a:latin typeface="Tahoma" panose="020B0604030504040204" pitchFamily="34" charset="0"/>
            </a:endParaRPr>
          </a:p>
        </p:txBody>
      </p:sp>
      <p:sp>
        <p:nvSpPr>
          <p:cNvPr id="74755" name="Rectangle 2"/>
          <p:cNvSpPr>
            <a:spLocks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pPr eaLnBrk="1" hangingPunct="1"/>
            <a:r>
              <a:rPr lang="en-US" altLang="en-US" smtClean="0"/>
              <a:t>A correlated SQL subquery is just a subquery that is executed many times—once for each record (row) returned by the outer (main) query. In other words, the outer query returns a table with multiple rows; the inner query then runs once for each of those rows. If your outer query returns 10 rows, then the inner query will run 10 times. And if your outer query returns 100 rows, the inner query will run 100 times.</a:t>
            </a:r>
          </a:p>
          <a:p>
            <a:pPr eaLnBrk="1" hangingPunct="1"/>
            <a:r>
              <a:rPr lang="en-US" altLang="en-US" b="1" smtClean="0"/>
              <a:t>SELECT</a:t>
            </a:r>
            <a:r>
              <a:rPr lang="en-US" altLang="en-US" smtClean="0"/>
              <a:t> employee_number, name </a:t>
            </a:r>
            <a:r>
              <a:rPr lang="en-US" altLang="en-US" b="1" smtClean="0"/>
              <a:t>FROM</a:t>
            </a:r>
            <a:r>
              <a:rPr lang="en-US" altLang="en-US" smtClean="0"/>
              <a:t> employees emp </a:t>
            </a:r>
            <a:r>
              <a:rPr lang="en-US" altLang="en-US" b="1" smtClean="0"/>
              <a:t>WHERE</a:t>
            </a:r>
            <a:r>
              <a:rPr lang="en-US" altLang="en-US" smtClean="0"/>
              <a:t> salary &gt; ( </a:t>
            </a:r>
            <a:r>
              <a:rPr lang="en-US" altLang="en-US" b="1" smtClean="0"/>
              <a:t>SELECT</a:t>
            </a:r>
            <a:r>
              <a:rPr lang="en-US" altLang="en-US" smtClean="0"/>
              <a:t> </a:t>
            </a:r>
            <a:r>
              <a:rPr lang="en-US" altLang="en-US" b="1" smtClean="0"/>
              <a:t>AVG</a:t>
            </a:r>
            <a:r>
              <a:rPr lang="en-US" altLang="en-US" smtClean="0"/>
              <a:t>(salary) </a:t>
            </a:r>
            <a:r>
              <a:rPr lang="en-US" altLang="en-US" b="1" smtClean="0"/>
              <a:t>FROM</a:t>
            </a:r>
            <a:r>
              <a:rPr lang="en-US" altLang="en-US" smtClean="0"/>
              <a:t> employees </a:t>
            </a:r>
            <a:r>
              <a:rPr lang="en-US" altLang="en-US" b="1" smtClean="0"/>
              <a:t>WHERE</a:t>
            </a:r>
            <a:r>
              <a:rPr lang="en-US" altLang="en-US" smtClean="0"/>
              <a:t> department = emp.department);</a:t>
            </a:r>
          </a:p>
          <a:p>
            <a:pPr eaLnBrk="1" hangingPunct="1"/>
            <a:r>
              <a:rPr lang="en-US" altLang="en-US" b="1" smtClean="0"/>
              <a:t>SELECT</a:t>
            </a:r>
            <a:r>
              <a:rPr lang="en-US" altLang="en-US" smtClean="0"/>
              <a:t> SSN,Fname,LName </a:t>
            </a:r>
            <a:r>
              <a:rPr lang="en-US" altLang="en-US" b="1" smtClean="0"/>
              <a:t>FROM</a:t>
            </a:r>
            <a:r>
              <a:rPr lang="en-US" altLang="en-US" smtClean="0"/>
              <a:t> Employee emp </a:t>
            </a:r>
            <a:r>
              <a:rPr lang="en-US" altLang="en-US" b="1" smtClean="0"/>
              <a:t>WHERE</a:t>
            </a:r>
            <a:r>
              <a:rPr lang="en-US" altLang="en-US" smtClean="0"/>
              <a:t> salary &gt; ( </a:t>
            </a:r>
            <a:r>
              <a:rPr lang="en-US" altLang="en-US" b="1" smtClean="0"/>
              <a:t>SELECT</a:t>
            </a:r>
            <a:r>
              <a:rPr lang="en-US" altLang="en-US" smtClean="0"/>
              <a:t> </a:t>
            </a:r>
            <a:r>
              <a:rPr lang="en-US" altLang="en-US" b="1" smtClean="0"/>
              <a:t>AVG</a:t>
            </a:r>
            <a:r>
              <a:rPr lang="en-US" altLang="en-US" smtClean="0"/>
              <a:t>(salary) </a:t>
            </a:r>
            <a:r>
              <a:rPr lang="en-US" altLang="en-US" b="1" smtClean="0"/>
              <a:t>FROM</a:t>
            </a:r>
            <a:r>
              <a:rPr lang="en-US" altLang="en-US" smtClean="0"/>
              <a:t> employee </a:t>
            </a:r>
            <a:r>
              <a:rPr lang="en-US" altLang="en-US" b="1" smtClean="0"/>
              <a:t>WHERE</a:t>
            </a:r>
            <a:r>
              <a:rPr lang="en-US" altLang="en-US" smtClean="0"/>
              <a:t> Dno = emp.Dno</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37AE198-1B49-4CAE-B943-6E8F454B7215}" type="slidenum">
              <a:rPr lang="en-CA" altLang="en-US" sz="1200" smtClean="0">
                <a:latin typeface="Tahoma" panose="020B0604030504040204" pitchFamily="34" charset="0"/>
              </a:rPr>
              <a:pPr/>
              <a:t>35</a:t>
            </a:fld>
            <a:endParaRPr lang="en-CA" altLang="en-US" sz="1200" smtClean="0">
              <a:latin typeface="Tahoma" panose="020B0604030504040204" pitchFamily="34" charset="0"/>
            </a:endParaRPr>
          </a:p>
        </p:txBody>
      </p:sp>
      <p:sp>
        <p:nvSpPr>
          <p:cNvPr id="76803" name="Rectangle 2"/>
          <p:cNvSpPr>
            <a:spLocks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r>
              <a:rPr lang="en-US" altLang="en-US" b="1" smtClean="0"/>
              <a:t>SELECT</a:t>
            </a:r>
            <a:r>
              <a:rPr lang="en-US" altLang="en-US" smtClean="0"/>
              <a:t> employee_number, name </a:t>
            </a:r>
            <a:r>
              <a:rPr lang="en-US" altLang="en-US" b="1" smtClean="0"/>
              <a:t>FROM</a:t>
            </a:r>
            <a:r>
              <a:rPr lang="en-US" altLang="en-US" smtClean="0"/>
              <a:t> employees emp </a:t>
            </a:r>
            <a:r>
              <a:rPr lang="en-US" altLang="en-US" b="1" smtClean="0"/>
              <a:t>WHERE</a:t>
            </a:r>
            <a:r>
              <a:rPr lang="en-US" altLang="en-US" smtClean="0"/>
              <a:t> salary &gt; ( </a:t>
            </a:r>
            <a:r>
              <a:rPr lang="en-US" altLang="en-US" b="1" smtClean="0"/>
              <a:t>SELECT</a:t>
            </a:r>
            <a:r>
              <a:rPr lang="en-US" altLang="en-US" smtClean="0"/>
              <a:t> </a:t>
            </a:r>
            <a:r>
              <a:rPr lang="en-US" altLang="en-US" b="1" smtClean="0"/>
              <a:t>AVG</a:t>
            </a:r>
            <a:r>
              <a:rPr lang="en-US" altLang="en-US" smtClean="0"/>
              <a:t>(salary) </a:t>
            </a:r>
            <a:r>
              <a:rPr lang="en-US" altLang="en-US" b="1" smtClean="0"/>
              <a:t>FROM</a:t>
            </a:r>
            <a:r>
              <a:rPr lang="en-US" altLang="en-US" smtClean="0"/>
              <a:t> employees </a:t>
            </a:r>
            <a:r>
              <a:rPr lang="en-US" altLang="en-US" b="1" smtClean="0"/>
              <a:t>WHERE</a:t>
            </a:r>
            <a:r>
              <a:rPr lang="en-US" altLang="en-US" smtClean="0"/>
              <a:t> department = emp.department);</a:t>
            </a:r>
          </a:p>
          <a:p>
            <a:pPr eaLnBrk="1" hangingPunct="1"/>
            <a:endParaRPr lang="en-US" altLang="en-US" smtClean="0"/>
          </a:p>
          <a:p>
            <a:pPr eaLnBrk="1" hangingPunct="1"/>
            <a:r>
              <a:rPr lang="en-US" altLang="en-US" b="1" smtClean="0"/>
              <a:t>SELECT</a:t>
            </a:r>
            <a:r>
              <a:rPr lang="en-US" altLang="en-US" smtClean="0"/>
              <a:t> SSN,Fname,LName </a:t>
            </a:r>
            <a:r>
              <a:rPr lang="en-US" altLang="en-US" b="1" smtClean="0"/>
              <a:t>FROM</a:t>
            </a:r>
            <a:r>
              <a:rPr lang="en-US" altLang="en-US" smtClean="0"/>
              <a:t> Employee emp </a:t>
            </a:r>
            <a:r>
              <a:rPr lang="en-US" altLang="en-US" b="1" smtClean="0"/>
              <a:t>WHERE</a:t>
            </a:r>
            <a:r>
              <a:rPr lang="en-US" altLang="en-US" smtClean="0"/>
              <a:t> salary &gt; ( </a:t>
            </a:r>
            <a:r>
              <a:rPr lang="en-US" altLang="en-US" b="1" smtClean="0"/>
              <a:t>SELECT</a:t>
            </a:r>
            <a:r>
              <a:rPr lang="en-US" altLang="en-US" smtClean="0"/>
              <a:t> </a:t>
            </a:r>
            <a:r>
              <a:rPr lang="en-US" altLang="en-US" b="1" smtClean="0"/>
              <a:t>AVG</a:t>
            </a:r>
            <a:r>
              <a:rPr lang="en-US" altLang="en-US" smtClean="0"/>
              <a:t>(salary) </a:t>
            </a:r>
            <a:r>
              <a:rPr lang="en-US" altLang="en-US" b="1" smtClean="0"/>
              <a:t>FROM</a:t>
            </a:r>
            <a:r>
              <a:rPr lang="en-US" altLang="en-US" smtClean="0"/>
              <a:t> employee </a:t>
            </a:r>
            <a:r>
              <a:rPr lang="en-US" altLang="en-US" b="1" smtClean="0"/>
              <a:t>WHERE</a:t>
            </a:r>
            <a:r>
              <a:rPr lang="en-US" altLang="en-US" smtClean="0"/>
              <a:t> Dno = emp.Dno);</a:t>
            </a:r>
          </a:p>
          <a:p>
            <a:pPr eaLnBrk="1" hangingPunct="1"/>
            <a:endParaRPr lang="en-US" alt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C3DCBC2-E454-4E5B-A9EF-02646E16B362}" type="slidenum">
              <a:rPr lang="en-CA" altLang="en-US" sz="1200" smtClean="0">
                <a:latin typeface="Tahoma" panose="020B0604030504040204" pitchFamily="34" charset="0"/>
              </a:rPr>
              <a:pPr/>
              <a:t>36</a:t>
            </a:fld>
            <a:endParaRPr lang="en-CA" altLang="en-US" sz="1200" smtClean="0">
              <a:latin typeface="Tahoma" panose="020B0604030504040204" pitchFamily="34" charset="0"/>
            </a:endParaRPr>
          </a:p>
        </p:txBody>
      </p:sp>
      <p:sp>
        <p:nvSpPr>
          <p:cNvPr id="78851" name="Rectangle 2"/>
          <p:cNvSpPr>
            <a:spLocks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6D6F4AD-A03B-47F0-B853-76A1675C1696}" type="slidenum">
              <a:rPr lang="en-CA" altLang="en-US" sz="1200" smtClean="0">
                <a:latin typeface="Tahoma" panose="020B0604030504040204" pitchFamily="34" charset="0"/>
              </a:rPr>
              <a:pPr/>
              <a:t>37</a:t>
            </a:fld>
            <a:endParaRPr lang="en-CA" altLang="en-US" sz="1200" smtClean="0">
              <a:latin typeface="Tahoma" panose="020B0604030504040204" pitchFamily="34" charset="0"/>
            </a:endParaRPr>
          </a:p>
        </p:txBody>
      </p:sp>
      <p:sp>
        <p:nvSpPr>
          <p:cNvPr id="80899" name="Rectangle 2"/>
          <p:cNvSpPr>
            <a:spLocks noChangeArrowheads="1" noTextEdit="1"/>
          </p:cNvSpPr>
          <p:nvPr>
            <p:ph type="sldImg"/>
          </p:nvPr>
        </p:nvSpPr>
        <p:spPr>
          <a:ln/>
        </p:spPr>
      </p:sp>
      <p:sp>
        <p:nvSpPr>
          <p:cNvPr id="8090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E2C0647-64E0-4D85-8880-B5AE660B0C42}" type="slidenum">
              <a:rPr lang="en-CA" altLang="en-US" sz="1200" smtClean="0">
                <a:latin typeface="Tahoma" panose="020B0604030504040204" pitchFamily="34" charset="0"/>
              </a:rPr>
              <a:pPr/>
              <a:t>38</a:t>
            </a:fld>
            <a:endParaRPr lang="en-CA" altLang="en-US" sz="1200" smtClean="0">
              <a:latin typeface="Tahoma" panose="020B0604030504040204" pitchFamily="34" charset="0"/>
            </a:endParaRPr>
          </a:p>
        </p:txBody>
      </p:sp>
      <p:sp>
        <p:nvSpPr>
          <p:cNvPr id="82947" name="Rectangle 2"/>
          <p:cNvSpPr>
            <a:spLocks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2D91D58-D061-4B7F-9396-F4DB9CEDE0FF}" type="slidenum">
              <a:rPr lang="en-CA" altLang="en-US" sz="1200" smtClean="0">
                <a:latin typeface="Tahoma" panose="020B0604030504040204" pitchFamily="34" charset="0"/>
              </a:rPr>
              <a:pPr/>
              <a:t>39</a:t>
            </a:fld>
            <a:endParaRPr lang="en-CA" altLang="en-US" sz="1200" smtClean="0">
              <a:latin typeface="Tahoma" panose="020B0604030504040204" pitchFamily="34" charset="0"/>
            </a:endParaRPr>
          </a:p>
        </p:txBody>
      </p:sp>
      <p:sp>
        <p:nvSpPr>
          <p:cNvPr id="84995" name="Rectangle 2"/>
          <p:cNvSpPr>
            <a:spLocks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289C582-58B6-4D42-89BA-591D1FD2A871}" type="slidenum">
              <a:rPr lang="en-CA" altLang="en-US" sz="1200" smtClean="0">
                <a:latin typeface="Tahoma" panose="020B0604030504040204" pitchFamily="34" charset="0"/>
              </a:rPr>
              <a:pPr/>
              <a:t>40</a:t>
            </a:fld>
            <a:endParaRPr lang="en-CA" altLang="en-US" sz="1200" smtClean="0">
              <a:latin typeface="Tahoma" panose="020B0604030504040204" pitchFamily="34" charset="0"/>
            </a:endParaRPr>
          </a:p>
        </p:txBody>
      </p:sp>
      <p:sp>
        <p:nvSpPr>
          <p:cNvPr id="87043" name="Rectangle 2"/>
          <p:cNvSpPr>
            <a:spLocks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B39F8BB-C9DD-41A5-905E-6C10D4E62D18}" type="slidenum">
              <a:rPr lang="en-CA" altLang="en-US" sz="1200" smtClean="0">
                <a:latin typeface="Tahoma" panose="020B0604030504040204" pitchFamily="34" charset="0"/>
              </a:rPr>
              <a:pPr/>
              <a:t>41</a:t>
            </a:fld>
            <a:endParaRPr lang="en-CA" altLang="en-US" sz="1200" smtClean="0">
              <a:latin typeface="Tahoma" panose="020B0604030504040204" pitchFamily="34" charset="0"/>
            </a:endParaRPr>
          </a:p>
        </p:txBody>
      </p:sp>
      <p:sp>
        <p:nvSpPr>
          <p:cNvPr id="89091" name="Rectangle 2"/>
          <p:cNvSpPr>
            <a:spLocks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25E8B8F-050B-490E-AA30-595D2942DB6E}" type="slidenum">
              <a:rPr lang="en-CA" altLang="en-US" sz="1200" smtClean="0">
                <a:latin typeface="Tahoma" panose="020B0604030504040204" pitchFamily="34" charset="0"/>
              </a:rPr>
              <a:pPr/>
              <a:t>42</a:t>
            </a:fld>
            <a:endParaRPr lang="en-CA" altLang="en-US" sz="1200" smtClean="0">
              <a:latin typeface="Tahoma" panose="020B0604030504040204" pitchFamily="34" charset="0"/>
            </a:endParaRPr>
          </a:p>
        </p:txBody>
      </p:sp>
      <p:sp>
        <p:nvSpPr>
          <p:cNvPr id="91139" name="Rectangle 2"/>
          <p:cNvSpPr>
            <a:spLocks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21873A7-CDB1-4DB9-A37B-8FA2FBD183EE}" type="slidenum">
              <a:rPr lang="en-CA" altLang="en-US" sz="1200" smtClean="0">
                <a:latin typeface="Tahoma" panose="020B0604030504040204" pitchFamily="34" charset="0"/>
              </a:rPr>
              <a:pPr/>
              <a:t>43</a:t>
            </a:fld>
            <a:endParaRPr lang="en-CA" altLang="en-US" sz="1200" smtClean="0">
              <a:latin typeface="Tahoma" panose="020B0604030504040204" pitchFamily="34" charset="0"/>
            </a:endParaRPr>
          </a:p>
        </p:txBody>
      </p:sp>
      <p:sp>
        <p:nvSpPr>
          <p:cNvPr id="93187" name="Rectangle 2"/>
          <p:cNvSpPr>
            <a:spLocks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799E4FA-513B-4642-8CEE-F35A0E699183}" type="slidenum">
              <a:rPr lang="en-CA" altLang="en-US" sz="1200" smtClean="0">
                <a:latin typeface="Tahoma" panose="020B0604030504040204" pitchFamily="34" charset="0"/>
              </a:rPr>
              <a:pPr/>
              <a:t>45</a:t>
            </a:fld>
            <a:endParaRPr lang="en-CA" altLang="en-US" sz="1200" smtClean="0">
              <a:latin typeface="Tahoma" panose="020B0604030504040204" pitchFamily="34" charset="0"/>
            </a:endParaRPr>
          </a:p>
        </p:txBody>
      </p:sp>
      <p:sp>
        <p:nvSpPr>
          <p:cNvPr id="96259" name="Rectangle 2"/>
          <p:cNvSpPr>
            <a:spLocks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0A5930B-183D-485D-94D9-EFE435144C1E}" type="slidenum">
              <a:rPr lang="en-US" altLang="en-US" smtClean="0"/>
              <a:pPr>
                <a:spcBef>
                  <a:spcPct val="0"/>
                </a:spcBef>
              </a:pPr>
              <a:t>52</a:t>
            </a:fld>
            <a:endParaRPr lang="en-US" altLang="en-US" smtClean="0"/>
          </a:p>
        </p:txBody>
      </p:sp>
      <p:sp>
        <p:nvSpPr>
          <p:cNvPr id="104451" name="Rectangle 2"/>
          <p:cNvSpPr>
            <a:spLocks noChangeArrowheads="1"/>
          </p:cNvSpPr>
          <p:nvPr/>
        </p:nvSpPr>
        <p:spPr bwMode="auto">
          <a:xfrm>
            <a:off x="3868738" y="0"/>
            <a:ext cx="30019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September 98</a:t>
            </a:r>
          </a:p>
        </p:txBody>
      </p:sp>
      <p:sp>
        <p:nvSpPr>
          <p:cNvPr id="104452" name="Rectangle 3"/>
          <p:cNvSpPr>
            <a:spLocks noChangeArrowheads="1"/>
          </p:cNvSpPr>
          <p:nvPr/>
        </p:nvSpPr>
        <p:spPr bwMode="auto">
          <a:xfrm>
            <a:off x="3868738" y="8664575"/>
            <a:ext cx="30019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nchor="b"/>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84</a:t>
            </a:r>
          </a:p>
        </p:txBody>
      </p:sp>
      <p:sp>
        <p:nvSpPr>
          <p:cNvPr id="104453" name="Rectangle 4"/>
          <p:cNvSpPr>
            <a:spLocks noChangeArrowheads="1"/>
          </p:cNvSpPr>
          <p:nvPr/>
        </p:nvSpPr>
        <p:spPr bwMode="auto">
          <a:xfrm>
            <a:off x="0" y="8664575"/>
            <a:ext cx="30003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742" tIns="45871" rIns="91742" bIns="45871" anchor="ct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1800"/>
          </a:p>
        </p:txBody>
      </p:sp>
      <p:sp>
        <p:nvSpPr>
          <p:cNvPr id="104454" name="Rectangle 5"/>
          <p:cNvSpPr>
            <a:spLocks noChangeArrowheads="1"/>
          </p:cNvSpPr>
          <p:nvPr/>
        </p:nvSpPr>
        <p:spPr bwMode="auto">
          <a:xfrm>
            <a:off x="0" y="0"/>
            <a:ext cx="30003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n-US" altLang="en-US" sz="1200" b="1">
                <a:latin typeface="Times New Roman" panose="02020603050405020304" pitchFamily="18" charset="0"/>
              </a:rPr>
              <a:t>Chapter Name</a:t>
            </a:r>
          </a:p>
        </p:txBody>
      </p:sp>
      <p:sp>
        <p:nvSpPr>
          <p:cNvPr id="104455" name="Rectangle 6"/>
          <p:cNvSpPr>
            <a:spLocks noChangeArrowheads="1" noTextEdit="1"/>
          </p:cNvSpPr>
          <p:nvPr>
            <p:ph type="sldImg"/>
          </p:nvPr>
        </p:nvSpPr>
        <p:spPr>
          <a:xfrm>
            <a:off x="1150938" y="692150"/>
            <a:ext cx="4554537" cy="3416300"/>
          </a:xfrm>
          <a:ln w="12700" cap="flat"/>
        </p:spPr>
      </p:sp>
      <p:sp>
        <p:nvSpPr>
          <p:cNvPr id="104456" name="Rectangle 7"/>
          <p:cNvSpPr>
            <a:spLocks noGrp="1" noChangeArrowheads="1"/>
          </p:cNvSpPr>
          <p:nvPr>
            <p:ph type="body" idx="1"/>
          </p:nvPr>
        </p:nvSpPr>
        <p:spPr>
          <a:xfrm>
            <a:off x="947738" y="4332288"/>
            <a:ext cx="4975225" cy="411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8" tIns="44445" rIns="90478" bIns="44445"/>
          <a:lstStyle/>
          <a:p>
            <a:pPr defTabSz="763588" eaLnBrk="1" hangingPunct="1"/>
            <a:endParaRPr lang="en-US" alt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BD5273B-6ACA-4736-82B0-BDFD688A0B1E}" type="slidenum">
              <a:rPr lang="en-US" altLang="en-US" smtClean="0"/>
              <a:pPr>
                <a:spcBef>
                  <a:spcPct val="0"/>
                </a:spcBef>
              </a:pPr>
              <a:t>53</a:t>
            </a:fld>
            <a:endParaRPr lang="en-US" altLang="en-US" smtClean="0"/>
          </a:p>
        </p:txBody>
      </p:sp>
      <p:sp>
        <p:nvSpPr>
          <p:cNvPr id="106499" name="Rectangle 2"/>
          <p:cNvSpPr>
            <a:spLocks noChangeArrowheads="1"/>
          </p:cNvSpPr>
          <p:nvPr/>
        </p:nvSpPr>
        <p:spPr bwMode="auto">
          <a:xfrm>
            <a:off x="3868738" y="0"/>
            <a:ext cx="30019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September 98</a:t>
            </a:r>
          </a:p>
        </p:txBody>
      </p:sp>
      <p:sp>
        <p:nvSpPr>
          <p:cNvPr id="106500" name="Rectangle 3"/>
          <p:cNvSpPr>
            <a:spLocks noChangeArrowheads="1"/>
          </p:cNvSpPr>
          <p:nvPr/>
        </p:nvSpPr>
        <p:spPr bwMode="auto">
          <a:xfrm>
            <a:off x="3868738" y="8664575"/>
            <a:ext cx="30019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nchor="b"/>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94</a:t>
            </a:r>
          </a:p>
        </p:txBody>
      </p:sp>
      <p:sp>
        <p:nvSpPr>
          <p:cNvPr id="106501" name="Rectangle 4"/>
          <p:cNvSpPr>
            <a:spLocks noChangeArrowheads="1"/>
          </p:cNvSpPr>
          <p:nvPr/>
        </p:nvSpPr>
        <p:spPr bwMode="auto">
          <a:xfrm>
            <a:off x="0" y="8664575"/>
            <a:ext cx="30003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742" tIns="45871" rIns="91742" bIns="45871" anchor="ct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1800"/>
          </a:p>
        </p:txBody>
      </p:sp>
      <p:sp>
        <p:nvSpPr>
          <p:cNvPr id="106502" name="Rectangle 5"/>
          <p:cNvSpPr>
            <a:spLocks noChangeArrowheads="1"/>
          </p:cNvSpPr>
          <p:nvPr/>
        </p:nvSpPr>
        <p:spPr bwMode="auto">
          <a:xfrm>
            <a:off x="0" y="0"/>
            <a:ext cx="30003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n-US" altLang="en-US" sz="1200" b="1">
                <a:latin typeface="Times New Roman" panose="02020603050405020304" pitchFamily="18" charset="0"/>
              </a:rPr>
              <a:t>Chapter Name</a:t>
            </a:r>
          </a:p>
        </p:txBody>
      </p:sp>
      <p:sp>
        <p:nvSpPr>
          <p:cNvPr id="106503" name="Rectangle 6"/>
          <p:cNvSpPr>
            <a:spLocks noChangeArrowheads="1" noTextEdit="1"/>
          </p:cNvSpPr>
          <p:nvPr>
            <p:ph type="sldImg"/>
          </p:nvPr>
        </p:nvSpPr>
        <p:spPr>
          <a:xfrm>
            <a:off x="1150938" y="692150"/>
            <a:ext cx="4554537" cy="3416300"/>
          </a:xfrm>
          <a:ln w="12700" cap="flat"/>
        </p:spPr>
      </p:sp>
      <p:sp>
        <p:nvSpPr>
          <p:cNvPr id="106504" name="Rectangle 7"/>
          <p:cNvSpPr>
            <a:spLocks noGrp="1" noChangeArrowheads="1"/>
          </p:cNvSpPr>
          <p:nvPr>
            <p:ph type="body" idx="1"/>
          </p:nvPr>
        </p:nvSpPr>
        <p:spPr>
          <a:xfrm>
            <a:off x="947738" y="4332288"/>
            <a:ext cx="4975225" cy="411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8" tIns="44445" rIns="90478" bIns="44445"/>
          <a:lstStyle/>
          <a:p>
            <a:pPr defTabSz="763588" eaLnBrk="1" hangingPunct="1"/>
            <a:endParaRPr lang="en-US" alt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ChangeArrowheads="1" noTextEdit="1"/>
          </p:cNvSpPr>
          <p:nvPr>
            <p:ph type="sldImg"/>
          </p:nvPr>
        </p:nvSpPr>
        <p:spPr>
          <a:ln/>
        </p:spPr>
      </p:sp>
      <p:sp>
        <p:nvSpPr>
          <p:cNvPr id="10957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https://softwareengineering.stackexchange.com/questions/78225/using-join-keyword-or-not</a:t>
            </a:r>
          </a:p>
        </p:txBody>
      </p:sp>
      <p:sp>
        <p:nvSpPr>
          <p:cNvPr id="10957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092B52D-C83E-45E7-945B-B4AE304DB99E}" type="slidenum">
              <a:rPr lang="en-US" altLang="en-US" sz="1200" smtClean="0"/>
              <a:pPr/>
              <a:t>55</a:t>
            </a:fld>
            <a:endParaRPr lang="en-US" altLang="en-US" sz="120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ChangeArrowheads="1" noTextEdit="1"/>
          </p:cNvSpPr>
          <p:nvPr>
            <p:ph type="sldImg"/>
          </p:nvPr>
        </p:nvSpPr>
        <p:spPr>
          <a:ln/>
        </p:spPr>
      </p:sp>
      <p:sp>
        <p:nvSpPr>
          <p:cNvPr id="11161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https://www.dotnettricks.com/learn/sqlserver/difference-between-inner-join-and-equi-join-and-natural-join</a:t>
            </a:r>
          </a:p>
        </p:txBody>
      </p:sp>
      <p:sp>
        <p:nvSpPr>
          <p:cNvPr id="11162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A8D7D98-52AA-4472-8261-1CA29F82DA45}" type="slidenum">
              <a:rPr lang="en-US" altLang="en-US" sz="1200" smtClean="0"/>
              <a:pPr/>
              <a:t>56</a:t>
            </a:fld>
            <a:endParaRPr lang="en-US" altLang="en-US" sz="120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ChangeArrowheads="1" noTextEdit="1"/>
          </p:cNvSpPr>
          <p:nvPr>
            <p:ph type="sldImg"/>
          </p:nvPr>
        </p:nvSpPr>
        <p:spPr>
          <a:ln/>
        </p:spPr>
      </p:sp>
      <p:sp>
        <p:nvSpPr>
          <p:cNvPr id="11469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https://www.geeksforgeeks.org/difference-between-natural-join-and-inner-join-in-sql/</a:t>
            </a:r>
          </a:p>
        </p:txBody>
      </p:sp>
      <p:sp>
        <p:nvSpPr>
          <p:cNvPr id="11469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4D943EA-2CF7-4E6F-8526-A37DD5A39360}" type="slidenum">
              <a:rPr lang="en-US" altLang="en-US" sz="1200" smtClean="0"/>
              <a:pPr/>
              <a:t>58</a:t>
            </a:fld>
            <a:endParaRPr lang="en-US" altLang="en-US" sz="120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ChangeArrowheads="1" noTextEdit="1"/>
          </p:cNvSpPr>
          <p:nvPr>
            <p:ph type="sldImg"/>
          </p:nvPr>
        </p:nvSpPr>
        <p:spPr>
          <a:ln/>
        </p:spPr>
      </p:sp>
      <p:sp>
        <p:nvSpPr>
          <p:cNvPr id="11673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https://stackoverflow.com/questions/14127306/relational-algebra-cartesian-product-vs-natural-join</a:t>
            </a:r>
          </a:p>
        </p:txBody>
      </p:sp>
      <p:sp>
        <p:nvSpPr>
          <p:cNvPr id="11674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D7E7BB6-CBBB-47CF-ADFF-0B91D8E23B41}" type="slidenum">
              <a:rPr lang="en-US" altLang="en-US" sz="1200" smtClean="0"/>
              <a:pPr/>
              <a:t>59</a:t>
            </a:fld>
            <a:endParaRPr lang="en-US" altLang="en-US" sz="120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A3889AB-3547-4748-9C1A-1ADFEBE0FE63}" type="slidenum">
              <a:rPr lang="en-US" altLang="en-US" smtClean="0"/>
              <a:pPr>
                <a:spcBef>
                  <a:spcPct val="0"/>
                </a:spcBef>
              </a:pPr>
              <a:t>60</a:t>
            </a:fld>
            <a:endParaRPr lang="en-US" altLang="en-US" smtClean="0"/>
          </a:p>
        </p:txBody>
      </p:sp>
      <p:sp>
        <p:nvSpPr>
          <p:cNvPr id="118787" name="Rectangle 2"/>
          <p:cNvSpPr>
            <a:spLocks noChangeArrowheads="1"/>
          </p:cNvSpPr>
          <p:nvPr/>
        </p:nvSpPr>
        <p:spPr bwMode="auto">
          <a:xfrm>
            <a:off x="3868738" y="0"/>
            <a:ext cx="30019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September 98</a:t>
            </a:r>
          </a:p>
        </p:txBody>
      </p:sp>
      <p:sp>
        <p:nvSpPr>
          <p:cNvPr id="118788" name="Rectangle 3"/>
          <p:cNvSpPr>
            <a:spLocks noChangeArrowheads="1"/>
          </p:cNvSpPr>
          <p:nvPr/>
        </p:nvSpPr>
        <p:spPr bwMode="auto">
          <a:xfrm>
            <a:off x="3868738" y="8664575"/>
            <a:ext cx="30019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nchor="b"/>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97</a:t>
            </a:r>
          </a:p>
        </p:txBody>
      </p:sp>
      <p:sp>
        <p:nvSpPr>
          <p:cNvPr id="118789" name="Rectangle 4"/>
          <p:cNvSpPr>
            <a:spLocks noChangeArrowheads="1"/>
          </p:cNvSpPr>
          <p:nvPr/>
        </p:nvSpPr>
        <p:spPr bwMode="auto">
          <a:xfrm>
            <a:off x="0" y="8664575"/>
            <a:ext cx="30003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742" tIns="45871" rIns="91742" bIns="45871" anchor="ct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1800"/>
          </a:p>
        </p:txBody>
      </p:sp>
      <p:sp>
        <p:nvSpPr>
          <p:cNvPr id="118790" name="Rectangle 5"/>
          <p:cNvSpPr>
            <a:spLocks noChangeArrowheads="1"/>
          </p:cNvSpPr>
          <p:nvPr/>
        </p:nvSpPr>
        <p:spPr bwMode="auto">
          <a:xfrm>
            <a:off x="0" y="0"/>
            <a:ext cx="30003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n-US" altLang="en-US" sz="1200" b="1">
                <a:latin typeface="Times New Roman" panose="02020603050405020304" pitchFamily="18" charset="0"/>
              </a:rPr>
              <a:t>Chapter Name</a:t>
            </a:r>
          </a:p>
        </p:txBody>
      </p:sp>
      <p:sp>
        <p:nvSpPr>
          <p:cNvPr id="118791" name="Rectangle 6"/>
          <p:cNvSpPr>
            <a:spLocks noChangeArrowheads="1" noTextEdit="1"/>
          </p:cNvSpPr>
          <p:nvPr>
            <p:ph type="sldImg"/>
          </p:nvPr>
        </p:nvSpPr>
        <p:spPr>
          <a:xfrm>
            <a:off x="1150938" y="692150"/>
            <a:ext cx="4554537" cy="3416300"/>
          </a:xfrm>
          <a:ln w="12700" cap="flat"/>
        </p:spPr>
      </p:sp>
      <p:sp>
        <p:nvSpPr>
          <p:cNvPr id="118792" name="Rectangle 7"/>
          <p:cNvSpPr>
            <a:spLocks noGrp="1" noChangeArrowheads="1"/>
          </p:cNvSpPr>
          <p:nvPr>
            <p:ph type="body" idx="1"/>
          </p:nvPr>
        </p:nvSpPr>
        <p:spPr>
          <a:xfrm>
            <a:off x="947738" y="4332288"/>
            <a:ext cx="4975225" cy="411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8" tIns="44445" rIns="90478" bIns="44445"/>
          <a:lstStyle/>
          <a:p>
            <a:pPr defTabSz="763588" eaLnBrk="1" hangingPunct="1"/>
            <a:endParaRPr lang="en-US" alt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6FF1CCD-1D87-4C48-93DD-F6C85AC1A48E}" type="slidenum">
              <a:rPr lang="en-US" altLang="en-US" smtClean="0"/>
              <a:pPr>
                <a:spcBef>
                  <a:spcPct val="0"/>
                </a:spcBef>
              </a:pPr>
              <a:t>62</a:t>
            </a:fld>
            <a:endParaRPr lang="en-US" altLang="en-US" smtClean="0"/>
          </a:p>
        </p:txBody>
      </p:sp>
      <p:sp>
        <p:nvSpPr>
          <p:cNvPr id="121859" name="Rectangle 2"/>
          <p:cNvSpPr>
            <a:spLocks noChangeArrowheads="1"/>
          </p:cNvSpPr>
          <p:nvPr/>
        </p:nvSpPr>
        <p:spPr bwMode="auto">
          <a:xfrm>
            <a:off x="3868738" y="0"/>
            <a:ext cx="30019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September 98</a:t>
            </a:r>
          </a:p>
        </p:txBody>
      </p:sp>
      <p:sp>
        <p:nvSpPr>
          <p:cNvPr id="121860" name="Rectangle 3"/>
          <p:cNvSpPr>
            <a:spLocks noChangeArrowheads="1"/>
          </p:cNvSpPr>
          <p:nvPr/>
        </p:nvSpPr>
        <p:spPr bwMode="auto">
          <a:xfrm>
            <a:off x="3868738" y="8664575"/>
            <a:ext cx="30019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nchor="b"/>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99</a:t>
            </a:r>
          </a:p>
        </p:txBody>
      </p:sp>
      <p:sp>
        <p:nvSpPr>
          <p:cNvPr id="121861" name="Rectangle 4"/>
          <p:cNvSpPr>
            <a:spLocks noChangeArrowheads="1"/>
          </p:cNvSpPr>
          <p:nvPr/>
        </p:nvSpPr>
        <p:spPr bwMode="auto">
          <a:xfrm>
            <a:off x="0" y="8664575"/>
            <a:ext cx="30003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742" tIns="45871" rIns="91742" bIns="45871" anchor="ct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1800"/>
          </a:p>
        </p:txBody>
      </p:sp>
      <p:sp>
        <p:nvSpPr>
          <p:cNvPr id="121862" name="Rectangle 5"/>
          <p:cNvSpPr>
            <a:spLocks noChangeArrowheads="1"/>
          </p:cNvSpPr>
          <p:nvPr/>
        </p:nvSpPr>
        <p:spPr bwMode="auto">
          <a:xfrm>
            <a:off x="0" y="0"/>
            <a:ext cx="30003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n-US" altLang="en-US" sz="1200" b="1">
                <a:latin typeface="Times New Roman" panose="02020603050405020304" pitchFamily="18" charset="0"/>
              </a:rPr>
              <a:t>Chapter Name</a:t>
            </a:r>
          </a:p>
        </p:txBody>
      </p:sp>
      <p:sp>
        <p:nvSpPr>
          <p:cNvPr id="121863" name="Rectangle 6"/>
          <p:cNvSpPr>
            <a:spLocks noChangeArrowheads="1" noTextEdit="1"/>
          </p:cNvSpPr>
          <p:nvPr>
            <p:ph type="sldImg"/>
          </p:nvPr>
        </p:nvSpPr>
        <p:spPr>
          <a:xfrm>
            <a:off x="1150938" y="692150"/>
            <a:ext cx="4554537" cy="3416300"/>
          </a:xfrm>
          <a:ln w="12700" cap="flat"/>
        </p:spPr>
      </p:sp>
      <p:sp>
        <p:nvSpPr>
          <p:cNvPr id="121864" name="Rectangle 7"/>
          <p:cNvSpPr>
            <a:spLocks noGrp="1" noChangeArrowheads="1"/>
          </p:cNvSpPr>
          <p:nvPr>
            <p:ph type="body" idx="1"/>
          </p:nvPr>
        </p:nvSpPr>
        <p:spPr>
          <a:xfrm>
            <a:off x="947738" y="4332288"/>
            <a:ext cx="4975225" cy="411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8" tIns="44445" rIns="90478" bIns="44445"/>
          <a:lstStyle/>
          <a:p>
            <a:pPr defTabSz="763588" eaLnBrk="1" hangingPunct="1"/>
            <a:endParaRPr lang="en-US" alt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ChangeArrowheads="1" noTextEdit="1"/>
          </p:cNvSpPr>
          <p:nvPr>
            <p:ph type="sldImg"/>
          </p:nvPr>
        </p:nvSpPr>
        <p:spPr>
          <a:ln/>
        </p:spPr>
      </p:sp>
      <p:sp>
        <p:nvSpPr>
          <p:cNvPr id="12390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https://www.techonthenet.com/oracle/joins.php</a:t>
            </a:r>
          </a:p>
        </p:txBody>
      </p:sp>
      <p:sp>
        <p:nvSpPr>
          <p:cNvPr id="12390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C1F34F0-EFF5-4E1A-B4B5-FCC4498E7F23}" type="slidenum">
              <a:rPr lang="en-US" altLang="en-US" sz="1200" smtClean="0"/>
              <a:pPr/>
              <a:t>63</a:t>
            </a:fld>
            <a:endParaRPr lang="en-US" altLang="en-US" sz="120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3C25E61-91E7-4EAF-AD17-7A81685E3C2B}" type="slidenum">
              <a:rPr lang="en-US" altLang="en-US" smtClean="0"/>
              <a:pPr>
                <a:spcBef>
                  <a:spcPct val="0"/>
                </a:spcBef>
              </a:pPr>
              <a:t>69</a:t>
            </a:fld>
            <a:endParaRPr lang="en-US" altLang="en-US" smtClean="0"/>
          </a:p>
        </p:txBody>
      </p:sp>
      <p:sp>
        <p:nvSpPr>
          <p:cNvPr id="131075" name="Rectangle 2"/>
          <p:cNvSpPr>
            <a:spLocks noChangeArrowheads="1"/>
          </p:cNvSpPr>
          <p:nvPr/>
        </p:nvSpPr>
        <p:spPr bwMode="auto">
          <a:xfrm>
            <a:off x="3868738" y="0"/>
            <a:ext cx="30019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September 98</a:t>
            </a:r>
          </a:p>
        </p:txBody>
      </p:sp>
      <p:sp>
        <p:nvSpPr>
          <p:cNvPr id="131076" name="Rectangle 3"/>
          <p:cNvSpPr>
            <a:spLocks noChangeArrowheads="1"/>
          </p:cNvSpPr>
          <p:nvPr/>
        </p:nvSpPr>
        <p:spPr bwMode="auto">
          <a:xfrm>
            <a:off x="3868738" y="8664575"/>
            <a:ext cx="30019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nchor="b"/>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r>
              <a:rPr lang="en-US" altLang="en-US" sz="1200" b="1">
                <a:latin typeface="Times New Roman" panose="02020603050405020304" pitchFamily="18" charset="0"/>
              </a:rPr>
              <a:t>101</a:t>
            </a:r>
          </a:p>
        </p:txBody>
      </p:sp>
      <p:sp>
        <p:nvSpPr>
          <p:cNvPr id="131077" name="Rectangle 4"/>
          <p:cNvSpPr>
            <a:spLocks noChangeArrowheads="1"/>
          </p:cNvSpPr>
          <p:nvPr/>
        </p:nvSpPr>
        <p:spPr bwMode="auto">
          <a:xfrm>
            <a:off x="0" y="8664575"/>
            <a:ext cx="300037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742" tIns="45871" rIns="91742" bIns="45871" anchor="ctr"/>
          <a:lstStyle>
            <a:lvl1pPr>
              <a:spcBef>
                <a:spcPct val="30000"/>
              </a:spcBef>
              <a:defRPr>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1800"/>
          </a:p>
        </p:txBody>
      </p:sp>
      <p:sp>
        <p:nvSpPr>
          <p:cNvPr id="131078" name="Rectangle 5"/>
          <p:cNvSpPr>
            <a:spLocks noChangeArrowheads="1"/>
          </p:cNvSpPr>
          <p:nvPr/>
        </p:nvSpPr>
        <p:spPr bwMode="auto">
          <a:xfrm>
            <a:off x="0" y="0"/>
            <a:ext cx="30003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8" tIns="44445" rIns="90478" bIns="44445"/>
          <a:lstStyle>
            <a:lvl1pPr defTabSz="912813">
              <a:spcBef>
                <a:spcPct val="30000"/>
              </a:spcBef>
              <a:defRPr>
                <a:solidFill>
                  <a:schemeClr val="tx1"/>
                </a:solidFill>
                <a:latin typeface="Arial" panose="020B0604020202020204" pitchFamily="34" charset="0"/>
              </a:defRPr>
            </a:lvl1pPr>
            <a:lvl2pPr marL="742950" indent="-285750" defTabSz="912813">
              <a:spcBef>
                <a:spcPct val="30000"/>
              </a:spcBef>
              <a:defRPr sz="1600">
                <a:solidFill>
                  <a:schemeClr val="tx1"/>
                </a:solidFill>
                <a:latin typeface="Arial" panose="020B0604020202020204" pitchFamily="34" charset="0"/>
              </a:defRPr>
            </a:lvl2pPr>
            <a:lvl3pPr marL="1143000" indent="-228600" defTabSz="912813">
              <a:spcBef>
                <a:spcPct val="30000"/>
              </a:spcBef>
              <a:defRPr sz="1200">
                <a:solidFill>
                  <a:schemeClr val="tx1"/>
                </a:solidFill>
                <a:latin typeface="Arial" panose="020B0604020202020204" pitchFamily="34" charset="0"/>
              </a:defRPr>
            </a:lvl3pPr>
            <a:lvl4pPr marL="1600200" indent="-228600" defTabSz="912813">
              <a:spcBef>
                <a:spcPct val="30000"/>
              </a:spcBef>
              <a:defRPr sz="1200">
                <a:solidFill>
                  <a:schemeClr val="tx1"/>
                </a:solidFill>
                <a:latin typeface="Arial" panose="020B0604020202020204" pitchFamily="34" charset="0"/>
              </a:defRPr>
            </a:lvl4pPr>
            <a:lvl5pPr marL="2057400" indent="-228600" defTabSz="912813">
              <a:spcBef>
                <a:spcPct val="30000"/>
              </a:spcBef>
              <a:defRPr sz="1200">
                <a:solidFill>
                  <a:schemeClr val="tx1"/>
                </a:solidFill>
                <a:latin typeface="Arial" panose="020B0604020202020204" pitchFamily="34" charset="0"/>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n-US" altLang="en-US" sz="1200" b="1">
                <a:latin typeface="Times New Roman" panose="02020603050405020304" pitchFamily="18" charset="0"/>
              </a:rPr>
              <a:t>Chapter Name</a:t>
            </a:r>
          </a:p>
        </p:txBody>
      </p:sp>
      <p:sp>
        <p:nvSpPr>
          <p:cNvPr id="131079" name="Rectangle 6"/>
          <p:cNvSpPr>
            <a:spLocks noChangeArrowheads="1" noTextEdit="1"/>
          </p:cNvSpPr>
          <p:nvPr>
            <p:ph type="sldImg"/>
          </p:nvPr>
        </p:nvSpPr>
        <p:spPr>
          <a:xfrm>
            <a:off x="1150938" y="692150"/>
            <a:ext cx="4554537" cy="3416300"/>
          </a:xfrm>
          <a:ln w="12700" cap="flat"/>
        </p:spPr>
      </p:sp>
      <p:sp>
        <p:nvSpPr>
          <p:cNvPr id="131080" name="Rectangle 7"/>
          <p:cNvSpPr>
            <a:spLocks noGrp="1" noChangeArrowheads="1"/>
          </p:cNvSpPr>
          <p:nvPr>
            <p:ph type="body" idx="1"/>
          </p:nvPr>
        </p:nvSpPr>
        <p:spPr>
          <a:xfrm>
            <a:off x="947738" y="4332288"/>
            <a:ext cx="4975225" cy="411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8" tIns="44445" rIns="90478" bIns="44445"/>
          <a:lstStyle/>
          <a:p>
            <a:pPr defTabSz="763588" eaLnBrk="1" hangingPunct="1"/>
            <a:endParaRPr lang="en-US" alt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BE76F21-8FD1-47E4-93F8-B8C688112558}" type="slidenum">
              <a:rPr lang="en-CA" altLang="en-US" sz="1200" smtClean="0">
                <a:latin typeface="Tahoma" panose="020B0604030504040204" pitchFamily="34" charset="0"/>
              </a:rPr>
              <a:pPr/>
              <a:t>71</a:t>
            </a:fld>
            <a:endParaRPr lang="en-CA" altLang="en-US" sz="1200" smtClean="0">
              <a:latin typeface="Tahoma" panose="020B0604030504040204" pitchFamily="34" charset="0"/>
            </a:endParaRPr>
          </a:p>
        </p:txBody>
      </p:sp>
      <p:sp>
        <p:nvSpPr>
          <p:cNvPr id="134147" name="Rectangle 2"/>
          <p:cNvSpPr>
            <a:spLocks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6A2735E-A88F-4566-B9BF-E6495EED093F}" type="slidenum">
              <a:rPr lang="en-CA" altLang="en-US" sz="1200" smtClean="0">
                <a:latin typeface="Tahoma" panose="020B0604030504040204" pitchFamily="34" charset="0"/>
              </a:rPr>
              <a:pPr/>
              <a:t>72</a:t>
            </a:fld>
            <a:endParaRPr lang="en-CA" altLang="en-US" sz="1200" smtClean="0">
              <a:latin typeface="Tahoma" panose="020B0604030504040204" pitchFamily="34" charset="0"/>
            </a:endParaRPr>
          </a:p>
        </p:txBody>
      </p:sp>
      <p:sp>
        <p:nvSpPr>
          <p:cNvPr id="136195" name="Rectangle 2"/>
          <p:cNvSpPr>
            <a:spLocks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66FCF06-8A90-4427-B166-DF5982D7F841}" type="slidenum">
              <a:rPr lang="en-CA" altLang="en-US" sz="1200" smtClean="0">
                <a:latin typeface="Tahoma" panose="020B0604030504040204" pitchFamily="34" charset="0"/>
              </a:rPr>
              <a:pPr/>
              <a:t>73</a:t>
            </a:fld>
            <a:endParaRPr lang="en-CA" altLang="en-US" sz="1200" smtClean="0">
              <a:latin typeface="Tahoma" panose="020B0604030504040204" pitchFamily="34" charset="0"/>
            </a:endParaRPr>
          </a:p>
        </p:txBody>
      </p:sp>
      <p:sp>
        <p:nvSpPr>
          <p:cNvPr id="138243" name="Rectangle 2"/>
          <p:cNvSpPr>
            <a:spLocks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0C76BE7-C8D6-43CB-99EB-AA23D981E2DC}" type="slidenum">
              <a:rPr lang="en-CA" altLang="en-US" sz="1200" smtClean="0">
                <a:latin typeface="Tahoma" panose="020B0604030504040204" pitchFamily="34" charset="0"/>
              </a:rPr>
              <a:pPr/>
              <a:t>74</a:t>
            </a:fld>
            <a:endParaRPr lang="en-CA" altLang="en-US" sz="1200" smtClean="0">
              <a:latin typeface="Tahoma" panose="020B0604030504040204" pitchFamily="34" charset="0"/>
            </a:endParaRPr>
          </a:p>
        </p:txBody>
      </p:sp>
      <p:sp>
        <p:nvSpPr>
          <p:cNvPr id="140291" name="Rectangle 2"/>
          <p:cNvSpPr>
            <a:spLocks noChangeArrowheads="1" noTextEdit="1"/>
          </p:cNvSpPr>
          <p:nvPr>
            <p:ph type="sldImg"/>
          </p:nvPr>
        </p:nvSpPr>
        <p:spPr>
          <a:ln/>
        </p:spPr>
      </p:sp>
      <p:sp>
        <p:nvSpPr>
          <p:cNvPr id="14029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AA2A44A-4E40-46DA-96B6-735D772F5A0F}" type="slidenum">
              <a:rPr lang="en-CA" altLang="en-US" sz="1200" smtClean="0">
                <a:latin typeface="Tahoma" panose="020B0604030504040204" pitchFamily="34" charset="0"/>
              </a:rPr>
              <a:pPr/>
              <a:t>75</a:t>
            </a:fld>
            <a:endParaRPr lang="en-CA" altLang="en-US" sz="1200" smtClean="0">
              <a:latin typeface="Tahoma" panose="020B0604030504040204" pitchFamily="34" charset="0"/>
            </a:endParaRPr>
          </a:p>
        </p:txBody>
      </p:sp>
      <p:sp>
        <p:nvSpPr>
          <p:cNvPr id="142339" name="Rectangle 2"/>
          <p:cNvSpPr>
            <a:spLocks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D9BB640-B934-4021-816B-7FEABA50A744}" type="slidenum">
              <a:rPr lang="en-CA" altLang="en-US" sz="1200" smtClean="0">
                <a:latin typeface="Tahoma" panose="020B0604030504040204" pitchFamily="34" charset="0"/>
              </a:rPr>
              <a:pPr/>
              <a:t>76</a:t>
            </a:fld>
            <a:endParaRPr lang="en-CA" altLang="en-US" sz="1200" smtClean="0">
              <a:latin typeface="Tahoma" panose="020B0604030504040204" pitchFamily="34" charset="0"/>
            </a:endParaRPr>
          </a:p>
        </p:txBody>
      </p:sp>
      <p:sp>
        <p:nvSpPr>
          <p:cNvPr id="144387" name="Rectangle 2"/>
          <p:cNvSpPr>
            <a:spLocks noChangeArrowheads="1" noTextEdit="1"/>
          </p:cNvSpPr>
          <p:nvPr>
            <p:ph type="sldImg"/>
          </p:nvPr>
        </p:nvSpPr>
        <p:spPr>
          <a:ln/>
        </p:spPr>
      </p:sp>
      <p:sp>
        <p:nvSpPr>
          <p:cNvPr id="14438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84536E2-0BD8-4C08-8D06-4A90780A605A}" type="slidenum">
              <a:rPr lang="en-CA" altLang="en-US" sz="1200" smtClean="0">
                <a:latin typeface="Tahoma" panose="020B0604030504040204" pitchFamily="34" charset="0"/>
              </a:rPr>
              <a:pPr/>
              <a:t>77</a:t>
            </a:fld>
            <a:endParaRPr lang="en-CA" altLang="en-US" sz="1200" smtClean="0">
              <a:latin typeface="Tahoma" panose="020B0604030504040204" pitchFamily="34" charset="0"/>
            </a:endParaRPr>
          </a:p>
        </p:txBody>
      </p:sp>
      <p:sp>
        <p:nvSpPr>
          <p:cNvPr id="146435" name="Rectangle 2"/>
          <p:cNvSpPr>
            <a:spLocks noChangeArrowheads="1" noTextEdit="1"/>
          </p:cNvSpPr>
          <p:nvPr>
            <p:ph type="sldImg"/>
          </p:nvPr>
        </p:nvSpPr>
        <p:spPr>
          <a:ln/>
        </p:spPr>
      </p:sp>
      <p:sp>
        <p:nvSpPr>
          <p:cNvPr id="14643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E3EABD6-2A03-4B35-893C-C616071A87CC}" type="slidenum">
              <a:rPr lang="en-CA" altLang="en-US" sz="1200" smtClean="0">
                <a:latin typeface="Tahoma" panose="020B0604030504040204" pitchFamily="34" charset="0"/>
              </a:rPr>
              <a:pPr/>
              <a:t>78</a:t>
            </a:fld>
            <a:endParaRPr lang="en-CA" altLang="en-US" sz="1200" smtClean="0">
              <a:latin typeface="Tahoma" panose="020B0604030504040204" pitchFamily="34" charset="0"/>
            </a:endParaRPr>
          </a:p>
        </p:txBody>
      </p:sp>
      <p:sp>
        <p:nvSpPr>
          <p:cNvPr id="148483" name="Rectangle 2"/>
          <p:cNvSpPr>
            <a:spLocks noChangeArrowheads="1" noTextEdit="1"/>
          </p:cNvSpPr>
          <p:nvPr>
            <p:ph type="sldImg"/>
          </p:nvPr>
        </p:nvSpPr>
        <p:spPr>
          <a:ln/>
        </p:spPr>
      </p:sp>
      <p:sp>
        <p:nvSpPr>
          <p:cNvPr id="14848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204344A-9087-4854-85BD-15E6B3137D9C}" type="slidenum">
              <a:rPr lang="en-CA" altLang="en-US" sz="1200" smtClean="0">
                <a:latin typeface="Tahoma" panose="020B0604030504040204" pitchFamily="34" charset="0"/>
              </a:rPr>
              <a:pPr/>
              <a:t>79</a:t>
            </a:fld>
            <a:endParaRPr lang="en-CA" altLang="en-US" sz="1200" smtClean="0">
              <a:latin typeface="Tahoma" panose="020B0604030504040204" pitchFamily="34" charset="0"/>
            </a:endParaRPr>
          </a:p>
        </p:txBody>
      </p:sp>
      <p:sp>
        <p:nvSpPr>
          <p:cNvPr id="150531" name="Rectangle 2"/>
          <p:cNvSpPr>
            <a:spLocks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B9011B9-9E75-4300-B93A-B22DF92A2F6C}" type="slidenum">
              <a:rPr lang="en-CA" altLang="en-US" sz="1200" smtClean="0">
                <a:latin typeface="Tahoma" panose="020B0604030504040204" pitchFamily="34" charset="0"/>
              </a:rPr>
              <a:pPr/>
              <a:t>80</a:t>
            </a:fld>
            <a:endParaRPr lang="en-CA" altLang="en-US" sz="1200" smtClean="0">
              <a:latin typeface="Tahoma" panose="020B0604030504040204" pitchFamily="34" charset="0"/>
            </a:endParaRPr>
          </a:p>
        </p:txBody>
      </p:sp>
      <p:sp>
        <p:nvSpPr>
          <p:cNvPr id="152579" name="Rectangle 2"/>
          <p:cNvSpPr>
            <a:spLocks noChangeArrowheads="1" noTextEdit="1"/>
          </p:cNvSpPr>
          <p:nvPr>
            <p:ph type="sldImg"/>
          </p:nvPr>
        </p:nvSpPr>
        <p:spPr>
          <a:ln/>
        </p:spPr>
      </p:sp>
      <p:sp>
        <p:nvSpPr>
          <p:cNvPr id="15258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7F3E213-5B48-48A9-8B3D-66A7A3B01364}" type="slidenum">
              <a:rPr lang="en-CA" altLang="en-US" sz="1200" smtClean="0">
                <a:latin typeface="Tahoma" panose="020B0604030504040204" pitchFamily="34" charset="0"/>
              </a:rPr>
              <a:pPr/>
              <a:t>81</a:t>
            </a:fld>
            <a:endParaRPr lang="en-CA" altLang="en-US" sz="1200" smtClean="0">
              <a:latin typeface="Tahoma" panose="020B0604030504040204" pitchFamily="34" charset="0"/>
            </a:endParaRPr>
          </a:p>
        </p:txBody>
      </p:sp>
      <p:sp>
        <p:nvSpPr>
          <p:cNvPr id="154627" name="Rectangle 2"/>
          <p:cNvSpPr>
            <a:spLocks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82AF199-6F75-401F-AC95-7FAC523CF401}" type="slidenum">
              <a:rPr lang="en-CA" altLang="en-US" sz="1200" smtClean="0">
                <a:latin typeface="Tahoma" panose="020B0604030504040204" pitchFamily="34" charset="0"/>
              </a:rPr>
              <a:pPr/>
              <a:t>82</a:t>
            </a:fld>
            <a:endParaRPr lang="en-CA" altLang="en-US" sz="1200" smtClean="0">
              <a:latin typeface="Tahoma" panose="020B0604030504040204" pitchFamily="34" charset="0"/>
            </a:endParaRPr>
          </a:p>
        </p:txBody>
      </p:sp>
      <p:sp>
        <p:nvSpPr>
          <p:cNvPr id="156675" name="Rectangle 2"/>
          <p:cNvSpPr>
            <a:spLocks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7F153A6-A97E-4E9E-86B6-9F98D842C1B3}" type="slidenum">
              <a:rPr lang="en-CA" altLang="en-US" sz="1200" smtClean="0">
                <a:latin typeface="Tahoma" panose="020B0604030504040204" pitchFamily="34" charset="0"/>
              </a:rPr>
              <a:pPr/>
              <a:t>83</a:t>
            </a:fld>
            <a:endParaRPr lang="en-CA" altLang="en-US" sz="1200" smtClean="0">
              <a:latin typeface="Tahoma" panose="020B0604030504040204" pitchFamily="34" charset="0"/>
            </a:endParaRPr>
          </a:p>
        </p:txBody>
      </p:sp>
      <p:sp>
        <p:nvSpPr>
          <p:cNvPr id="158723" name="Rectangle 2"/>
          <p:cNvSpPr>
            <a:spLocks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1E0B1C0-5866-4976-816B-B668E3DE2836}" type="slidenum">
              <a:rPr lang="en-CA" altLang="en-US" sz="1200" smtClean="0">
                <a:latin typeface="Tahoma" panose="020B0604030504040204" pitchFamily="34" charset="0"/>
              </a:rPr>
              <a:pPr/>
              <a:t>84</a:t>
            </a:fld>
            <a:endParaRPr lang="en-CA" altLang="en-US" sz="1200" smtClean="0">
              <a:latin typeface="Tahoma" panose="020B0604030504040204" pitchFamily="34" charset="0"/>
            </a:endParaRPr>
          </a:p>
        </p:txBody>
      </p:sp>
      <p:sp>
        <p:nvSpPr>
          <p:cNvPr id="160771" name="Rectangle 2"/>
          <p:cNvSpPr>
            <a:spLocks noChangeArrowheads="1" noTextEdit="1"/>
          </p:cNvSpPr>
          <p:nvPr>
            <p:ph type="sldImg"/>
          </p:nvPr>
        </p:nvSpPr>
        <p:spPr>
          <a:ln/>
        </p:spPr>
      </p:sp>
      <p:sp>
        <p:nvSpPr>
          <p:cNvPr id="16077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5AD4A86-3FE0-4FFD-946C-56C13540F951}" type="slidenum">
              <a:rPr lang="en-CA" altLang="en-US" sz="1200" smtClean="0">
                <a:latin typeface="Tahoma" panose="020B0604030504040204" pitchFamily="34" charset="0"/>
              </a:rPr>
              <a:pPr/>
              <a:t>85</a:t>
            </a:fld>
            <a:endParaRPr lang="en-CA" altLang="en-US" sz="1200" smtClean="0">
              <a:latin typeface="Tahoma" panose="020B0604030504040204" pitchFamily="34" charset="0"/>
            </a:endParaRPr>
          </a:p>
        </p:txBody>
      </p:sp>
      <p:sp>
        <p:nvSpPr>
          <p:cNvPr id="162819" name="Rectangle 2"/>
          <p:cNvSpPr>
            <a:spLocks noChangeArrowheads="1" noTextEdit="1"/>
          </p:cNvSpPr>
          <p:nvPr>
            <p:ph type="sldImg"/>
          </p:nvPr>
        </p:nvSpPr>
        <p:spPr>
          <a:ln/>
        </p:spPr>
      </p:sp>
      <p:sp>
        <p:nvSpPr>
          <p:cNvPr id="16282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DA52E0F-D2B1-45FF-BB89-5C8177436BA2}" type="slidenum">
              <a:rPr lang="en-CA" altLang="en-US" sz="1200" smtClean="0">
                <a:latin typeface="Tahoma" panose="020B0604030504040204" pitchFamily="34" charset="0"/>
              </a:rPr>
              <a:pPr/>
              <a:t>86</a:t>
            </a:fld>
            <a:endParaRPr lang="en-CA" altLang="en-US" sz="1200" smtClean="0">
              <a:latin typeface="Tahoma" panose="020B0604030504040204" pitchFamily="34" charset="0"/>
            </a:endParaRPr>
          </a:p>
        </p:txBody>
      </p:sp>
      <p:sp>
        <p:nvSpPr>
          <p:cNvPr id="164867" name="Rectangle 2"/>
          <p:cNvSpPr>
            <a:spLocks noChangeArrowheads="1" noTextEdit="1"/>
          </p:cNvSpPr>
          <p:nvPr>
            <p:ph type="sldImg"/>
          </p:nvPr>
        </p:nvSpPr>
        <p:spPr>
          <a:ln/>
        </p:spPr>
      </p:sp>
      <p:sp>
        <p:nvSpPr>
          <p:cNvPr id="16486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844FD25-4110-4705-98A5-67DDBDA1FDA3}" type="slidenum">
              <a:rPr lang="en-CA" altLang="en-US" sz="1200" smtClean="0">
                <a:latin typeface="Tahoma" panose="020B0604030504040204" pitchFamily="34" charset="0"/>
              </a:rPr>
              <a:pPr/>
              <a:t>87</a:t>
            </a:fld>
            <a:endParaRPr lang="en-CA" altLang="en-US" sz="1200" smtClean="0">
              <a:latin typeface="Tahoma" panose="020B0604030504040204" pitchFamily="34" charset="0"/>
            </a:endParaRPr>
          </a:p>
        </p:txBody>
      </p:sp>
      <p:sp>
        <p:nvSpPr>
          <p:cNvPr id="166915" name="Rectangle 2"/>
          <p:cNvSpPr>
            <a:spLocks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1DB03F1-ABE3-447A-9216-DE70701C147F}" type="slidenum">
              <a:rPr lang="en-CA" altLang="en-US" sz="1200" smtClean="0">
                <a:latin typeface="Tahoma" panose="020B0604030504040204" pitchFamily="34" charset="0"/>
              </a:rPr>
              <a:pPr/>
              <a:t>88</a:t>
            </a:fld>
            <a:endParaRPr lang="en-CA" altLang="en-US" sz="1200" smtClean="0">
              <a:latin typeface="Tahoma" panose="020B0604030504040204" pitchFamily="34" charset="0"/>
            </a:endParaRPr>
          </a:p>
        </p:txBody>
      </p:sp>
      <p:sp>
        <p:nvSpPr>
          <p:cNvPr id="168963" name="Rectangle 2"/>
          <p:cNvSpPr>
            <a:spLocks noChangeArrowheads="1" noTextEdit="1"/>
          </p:cNvSpPr>
          <p:nvPr>
            <p:ph type="sldImg"/>
          </p:nvPr>
        </p:nvSpPr>
        <p:spPr>
          <a:ln/>
        </p:spPr>
      </p:sp>
      <p:sp>
        <p:nvSpPr>
          <p:cNvPr id="16896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01671CD-7649-4DA2-AD0F-C8E7C317F70F}" type="slidenum">
              <a:rPr lang="en-CA" altLang="en-US" sz="1200" smtClean="0">
                <a:latin typeface="Tahoma" panose="020B0604030504040204" pitchFamily="34" charset="0"/>
              </a:rPr>
              <a:pPr/>
              <a:t>89</a:t>
            </a:fld>
            <a:endParaRPr lang="en-CA" altLang="en-US" sz="1200" smtClean="0">
              <a:latin typeface="Tahoma" panose="020B0604030504040204" pitchFamily="34" charset="0"/>
            </a:endParaRPr>
          </a:p>
        </p:txBody>
      </p:sp>
      <p:sp>
        <p:nvSpPr>
          <p:cNvPr id="171011" name="Rectangle 2"/>
          <p:cNvSpPr>
            <a:spLocks noChangeArrowheads="1" noTextEdit="1"/>
          </p:cNvSpPr>
          <p:nvPr>
            <p:ph type="sldImg"/>
          </p:nvPr>
        </p:nvSpPr>
        <p:spPr>
          <a:ln/>
        </p:spPr>
      </p:sp>
      <p:sp>
        <p:nvSpPr>
          <p:cNvPr id="17101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3AA964C-E309-4042-90EA-9C66BBDC2279}" type="slidenum">
              <a:rPr lang="en-CA" altLang="en-US" sz="1200" smtClean="0">
                <a:latin typeface="Tahoma" panose="020B0604030504040204" pitchFamily="34" charset="0"/>
              </a:rPr>
              <a:pPr/>
              <a:t>90</a:t>
            </a:fld>
            <a:endParaRPr lang="en-CA" altLang="en-US" sz="1200" smtClean="0">
              <a:latin typeface="Tahoma" panose="020B0604030504040204" pitchFamily="34" charset="0"/>
            </a:endParaRPr>
          </a:p>
        </p:txBody>
      </p:sp>
      <p:sp>
        <p:nvSpPr>
          <p:cNvPr id="173059" name="Rectangle 2"/>
          <p:cNvSpPr>
            <a:spLocks noChangeArrowheads="1" noTextEdit="1"/>
          </p:cNvSpPr>
          <p:nvPr>
            <p:ph type="sldImg"/>
          </p:nvPr>
        </p:nvSpPr>
        <p:spPr>
          <a:ln/>
        </p:spPr>
      </p:sp>
      <p:sp>
        <p:nvSpPr>
          <p:cNvPr id="17306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7138C3C-47B4-46BC-BD42-305A9D34EE3B}" type="slidenum">
              <a:rPr lang="en-CA" altLang="en-US" sz="1200" smtClean="0">
                <a:latin typeface="Tahoma" panose="020B0604030504040204" pitchFamily="34" charset="0"/>
              </a:rPr>
              <a:pPr/>
              <a:t>91</a:t>
            </a:fld>
            <a:endParaRPr lang="en-CA" altLang="en-US" sz="1200" smtClean="0">
              <a:latin typeface="Tahoma" panose="020B0604030504040204" pitchFamily="34" charset="0"/>
            </a:endParaRPr>
          </a:p>
        </p:txBody>
      </p:sp>
      <p:sp>
        <p:nvSpPr>
          <p:cNvPr id="175107" name="Rectangle 2"/>
          <p:cNvSpPr>
            <a:spLocks noChangeArrowheads="1" noTextEdit="1"/>
          </p:cNvSpPr>
          <p:nvPr>
            <p:ph type="sldImg"/>
          </p:nvPr>
        </p:nvSpPr>
        <p:spPr>
          <a:ln/>
        </p:spPr>
      </p:sp>
      <p:sp>
        <p:nvSpPr>
          <p:cNvPr id="17510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8962916-B58D-4567-ADEF-AC92A702A26A}" type="slidenum">
              <a:rPr lang="en-CA" altLang="en-US" sz="1200" smtClean="0">
                <a:latin typeface="Tahoma" panose="020B0604030504040204" pitchFamily="34" charset="0"/>
              </a:rPr>
              <a:pPr/>
              <a:t>92</a:t>
            </a:fld>
            <a:endParaRPr lang="en-CA" altLang="en-US" sz="1200" smtClean="0">
              <a:latin typeface="Tahoma" panose="020B0604030504040204" pitchFamily="34" charset="0"/>
            </a:endParaRPr>
          </a:p>
        </p:txBody>
      </p:sp>
      <p:sp>
        <p:nvSpPr>
          <p:cNvPr id="177155" name="Rectangle 2"/>
          <p:cNvSpPr>
            <a:spLocks noChangeArrowheads="1" noTextEdit="1"/>
          </p:cNvSpPr>
          <p:nvPr>
            <p:ph type="sldImg"/>
          </p:nvPr>
        </p:nvSpPr>
        <p:spPr>
          <a:ln/>
        </p:spPr>
      </p:sp>
      <p:sp>
        <p:nvSpPr>
          <p:cNvPr id="17715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1BA0426-26D5-4EE1-93B0-72205D3C7F24}" type="slidenum">
              <a:rPr lang="en-CA" altLang="en-US" sz="1200" smtClean="0">
                <a:latin typeface="Tahoma" panose="020B0604030504040204" pitchFamily="34" charset="0"/>
              </a:rPr>
              <a:pPr/>
              <a:t>93</a:t>
            </a:fld>
            <a:endParaRPr lang="en-CA" altLang="en-US" sz="1200" smtClean="0">
              <a:latin typeface="Tahoma" panose="020B0604030504040204" pitchFamily="34" charset="0"/>
            </a:endParaRPr>
          </a:p>
        </p:txBody>
      </p:sp>
      <p:sp>
        <p:nvSpPr>
          <p:cNvPr id="179203" name="Rectangle 2"/>
          <p:cNvSpPr>
            <a:spLocks noChangeArrowheads="1" noTextEdit="1"/>
          </p:cNvSpPr>
          <p:nvPr>
            <p:ph type="sldImg"/>
          </p:nvPr>
        </p:nvSpPr>
        <p:spPr>
          <a:ln/>
        </p:spPr>
      </p:sp>
      <p:sp>
        <p:nvSpPr>
          <p:cNvPr id="17920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FBE6CBD-7160-4340-82CC-C8F5447B84B1}" type="slidenum">
              <a:rPr lang="en-CA" altLang="en-US" sz="1200" smtClean="0">
                <a:latin typeface="Tahoma" panose="020B0604030504040204" pitchFamily="34" charset="0"/>
              </a:rPr>
              <a:pPr/>
              <a:t>94</a:t>
            </a:fld>
            <a:endParaRPr lang="en-CA" altLang="en-US" sz="1200" smtClean="0">
              <a:latin typeface="Tahoma" panose="020B0604030504040204" pitchFamily="34" charset="0"/>
            </a:endParaRPr>
          </a:p>
        </p:txBody>
      </p:sp>
      <p:sp>
        <p:nvSpPr>
          <p:cNvPr id="181251" name="Rectangle 2"/>
          <p:cNvSpPr>
            <a:spLocks noChangeArrowheads="1" noTextEdit="1"/>
          </p:cNvSpPr>
          <p:nvPr>
            <p:ph type="sldImg"/>
          </p:nvPr>
        </p:nvSpPr>
        <p:spPr>
          <a:ln/>
        </p:spPr>
      </p:sp>
      <p:sp>
        <p:nvSpPr>
          <p:cNvPr id="181252"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F1DE09E-0BF7-49C4-A226-C9A7165019AB}" type="slidenum">
              <a:rPr lang="en-CA" altLang="en-US" sz="1200" smtClean="0">
                <a:latin typeface="Tahoma" panose="020B0604030504040204" pitchFamily="34" charset="0"/>
              </a:rPr>
              <a:pPr/>
              <a:t>95</a:t>
            </a:fld>
            <a:endParaRPr lang="en-CA" altLang="en-US" sz="1200" smtClean="0">
              <a:latin typeface="Tahoma" panose="020B0604030504040204" pitchFamily="34" charset="0"/>
            </a:endParaRPr>
          </a:p>
        </p:txBody>
      </p:sp>
      <p:sp>
        <p:nvSpPr>
          <p:cNvPr id="183299" name="Rectangle 2"/>
          <p:cNvSpPr>
            <a:spLocks noChangeArrowheads="1" noTextEdit="1"/>
          </p:cNvSpPr>
          <p:nvPr>
            <p:ph type="sldImg"/>
          </p:nvPr>
        </p:nvSpPr>
        <p:spPr>
          <a:ln/>
        </p:spPr>
      </p:sp>
      <p:sp>
        <p:nvSpPr>
          <p:cNvPr id="183300"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935ED40-9B16-480E-8F51-95CEEF109BBF}" type="slidenum">
              <a:rPr lang="en-CA" altLang="en-US" sz="1200" smtClean="0">
                <a:latin typeface="Tahoma" panose="020B0604030504040204" pitchFamily="34" charset="0"/>
              </a:rPr>
              <a:pPr/>
              <a:t>96</a:t>
            </a:fld>
            <a:endParaRPr lang="en-CA" altLang="en-US" sz="1200" smtClean="0">
              <a:latin typeface="Tahoma" panose="020B0604030504040204" pitchFamily="34" charset="0"/>
            </a:endParaRPr>
          </a:p>
        </p:txBody>
      </p:sp>
      <p:sp>
        <p:nvSpPr>
          <p:cNvPr id="185347" name="Rectangle 2"/>
          <p:cNvSpPr>
            <a:spLocks noChangeArrowheads="1" noTextEdit="1"/>
          </p:cNvSpPr>
          <p:nvPr>
            <p:ph type="sldImg"/>
          </p:nvPr>
        </p:nvSpPr>
        <p:spPr>
          <a:ln/>
        </p:spPr>
      </p:sp>
      <p:sp>
        <p:nvSpPr>
          <p:cNvPr id="185348"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8550B29-AD15-4C4E-A573-98FA2B6B09B7}" type="slidenum">
              <a:rPr lang="en-CA" altLang="en-US" sz="1200" smtClean="0">
                <a:latin typeface="Tahoma" panose="020B0604030504040204" pitchFamily="34" charset="0"/>
              </a:rPr>
              <a:pPr/>
              <a:t>97</a:t>
            </a:fld>
            <a:endParaRPr lang="en-CA" altLang="en-US" sz="1200" smtClean="0">
              <a:latin typeface="Tahoma" panose="020B0604030504040204" pitchFamily="34" charset="0"/>
            </a:endParaRPr>
          </a:p>
        </p:txBody>
      </p:sp>
      <p:sp>
        <p:nvSpPr>
          <p:cNvPr id="187395" name="Rectangle 2"/>
          <p:cNvSpPr>
            <a:spLocks noChangeArrowheads="1" noTextEdit="1"/>
          </p:cNvSpPr>
          <p:nvPr>
            <p:ph type="sldImg"/>
          </p:nvPr>
        </p:nvSpPr>
        <p:spPr>
          <a:ln/>
        </p:spPr>
      </p:sp>
      <p:sp>
        <p:nvSpPr>
          <p:cNvPr id="187396"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BB1FF5E-16E4-473D-BF4A-D2E916F858B9}" type="slidenum">
              <a:rPr lang="en-CA" altLang="en-US" sz="1200" smtClean="0">
                <a:latin typeface="Tahoma" panose="020B0604030504040204" pitchFamily="34" charset="0"/>
              </a:rPr>
              <a:pPr/>
              <a:t>98</a:t>
            </a:fld>
            <a:endParaRPr lang="en-CA" altLang="en-US" sz="1200" smtClean="0">
              <a:latin typeface="Tahoma" panose="020B0604030504040204" pitchFamily="34" charset="0"/>
            </a:endParaRPr>
          </a:p>
        </p:txBody>
      </p:sp>
      <p:sp>
        <p:nvSpPr>
          <p:cNvPr id="189443" name="Rectangle 2"/>
          <p:cNvSpPr>
            <a:spLocks noChangeArrowheads="1" noTextEdit="1"/>
          </p:cNvSpPr>
          <p:nvPr>
            <p:ph type="sldImg"/>
          </p:nvPr>
        </p:nvSpPr>
        <p:spPr>
          <a:ln/>
        </p:spPr>
      </p:sp>
      <p:sp>
        <p:nvSpPr>
          <p:cNvPr id="189444"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44"/>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smtClean="0"/>
          </a:p>
        </p:txBody>
      </p:sp>
      <p:sp>
        <p:nvSpPr>
          <p:cNvPr id="5" name="Rectangle 47"/>
          <p:cNvSpPr>
            <a:spLocks noChangeArrowheads="1"/>
          </p:cNvSpPr>
          <p:nvPr userDrawn="1"/>
        </p:nvSpPr>
        <p:spPr bwMode="auto">
          <a:xfrm rot="16200000">
            <a:off x="3500437" y="-985837"/>
            <a:ext cx="2143125" cy="9144000"/>
          </a:xfrm>
          <a:prstGeom prst="rect">
            <a:avLst/>
          </a:prstGeom>
          <a:solidFill>
            <a:srgbClr val="677228">
              <a:alpha val="4392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smtClean="0"/>
          </a:p>
        </p:txBody>
      </p:sp>
      <p:sp>
        <p:nvSpPr>
          <p:cNvPr id="6" name="Rectangle 48"/>
          <p:cNvSpPr>
            <a:spLocks noChangeArrowheads="1"/>
          </p:cNvSpPr>
          <p:nvPr userDrawn="1"/>
        </p:nvSpPr>
        <p:spPr bwMode="auto">
          <a:xfrm>
            <a:off x="7315200" y="2438400"/>
            <a:ext cx="1828800" cy="22907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smtClean="0"/>
          </a:p>
        </p:txBody>
      </p:sp>
      <p:pic>
        <p:nvPicPr>
          <p:cNvPr id="7" name="Picture 35" descr="awtri_4c UPDATE_col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6" descr="elmasri_thumb"/>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descr="Pink tissue paper">
            <a:extLst>
              <a:ext uri="{FF2B5EF4-FFF2-40B4-BE49-F238E27FC236}">
                <a16:creationId xmlns:a16="http://schemas.microsoft.com/office/drawing/2014/main" id="{45CE73BF-298F-E644-82F0-C3F113A2C875}"/>
              </a:ext>
            </a:extLst>
          </p:cNvPr>
          <p:cNvSpPr>
            <a:spLocks noGrp="1" noChangeArrowheads="1"/>
          </p:cNvSpPr>
          <p:nvPr>
            <p:ph type="ctrTitle" sz="quarter"/>
          </p:nvPr>
        </p:nvSpPr>
        <p:spPr>
          <a:xfrm>
            <a:off x="228600" y="152400"/>
            <a:ext cx="7086600" cy="2286000"/>
          </a:xfrm>
          <a:extLst>
            <a:ext uri="{909E8E84-426E-40DD-AFC4-6F175D3DCCD1}">
              <a14:hiddenFill xmlns:a14="http://schemas.microsoft.com/office/drawing/2010/main">
                <a:blipFill dpi="0" rotWithShape="0">
                  <a:blip r:embed="rId4"/>
                  <a:srcRect/>
                  <a:tile tx="0" ty="0" sx="100000" sy="100000" flip="none" algn="tl"/>
                </a:blipFill>
              </a14:hiddenFill>
            </a:ext>
          </a:extLst>
        </p:spPr>
        <p:txBody>
          <a:bodyPr wrap="none" anchor="ctr"/>
          <a:lstStyle>
            <a:lvl1pPr>
              <a:defRPr sz="6600">
                <a:solidFill>
                  <a:srgbClr val="990033"/>
                </a:solidFill>
              </a:defRPr>
            </a:lvl1pPr>
          </a:lstStyle>
          <a:p>
            <a:pPr lvl="0"/>
            <a:r>
              <a:rPr lang="en-US" altLang="en-US" noProof="0"/>
              <a:t>Click to edit Master title style</a:t>
            </a:r>
          </a:p>
        </p:txBody>
      </p:sp>
      <p:sp>
        <p:nvSpPr>
          <p:cNvPr id="4134" name="Rectangle 38" descr="Pink tissue paper">
            <a:extLst>
              <a:ext uri="{FF2B5EF4-FFF2-40B4-BE49-F238E27FC236}">
                <a16:creationId xmlns:a16="http://schemas.microsoft.com/office/drawing/2014/main" id="{7BA09C74-BCF6-6B47-B0C1-56695645DCC3}"/>
              </a:ext>
            </a:extLst>
          </p:cNvPr>
          <p:cNvSpPr>
            <a:spLocks noGrp="1" noChangeArrowheads="1"/>
          </p:cNvSpPr>
          <p:nvPr>
            <p:ph type="subTitle" sz="quarter" idx="1"/>
          </p:nvPr>
        </p:nvSpPr>
        <p:spPr>
          <a:xfrm>
            <a:off x="304800" y="2590800"/>
            <a:ext cx="6629400" cy="1905000"/>
          </a:xfrm>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0" indent="0">
              <a:buFont typeface="Wingdings" pitchFamily="2" charset="2"/>
              <a:buNone/>
              <a:defRPr sz="3200"/>
            </a:lvl1pPr>
          </a:lstStyle>
          <a:p>
            <a:pPr lvl="0"/>
            <a:r>
              <a:rPr lang="en-US" altLang="en-US" noProof="0"/>
              <a:t>Click to edit Master subtitle style</a:t>
            </a:r>
          </a:p>
        </p:txBody>
      </p:sp>
      <p:sp>
        <p:nvSpPr>
          <p:cNvPr id="9" name="Rectangle 29">
            <a:extLst>
              <a:ext uri="{FF2B5EF4-FFF2-40B4-BE49-F238E27FC236}">
                <a16:creationId xmlns:a16="http://schemas.microsoft.com/office/drawing/2014/main" id="{E4425103-34BB-9045-AD7A-D77D60EF13C8}"/>
              </a:ext>
            </a:extLst>
          </p:cNvPr>
          <p:cNvSpPr>
            <a:spLocks noGrp="1" noChangeArrowheads="1"/>
          </p:cNvSpPr>
          <p:nvPr>
            <p:ph type="ftr" sz="quarter" idx="10"/>
          </p:nvPr>
        </p:nvSpPr>
        <p:spPr bwMode="auto">
          <a:xfrm>
            <a:off x="838200" y="6397625"/>
            <a:ext cx="44958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900"/>
            </a:lvl1pPr>
          </a:lstStyle>
          <a:p>
            <a:pPr>
              <a:defRPr/>
            </a:pPr>
            <a:r>
              <a:rPr lang="en-US" altLang="en-US"/>
              <a:t>Copyright © 2007 </a:t>
            </a:r>
            <a:r>
              <a:rPr lang="en-US" altLang="en-US">
                <a:solidFill>
                  <a:srgbClr val="000000"/>
                </a:solidFill>
              </a:rPr>
              <a:t>Ramez Elmasri and Shamkant B. Navathe</a:t>
            </a:r>
          </a:p>
        </p:txBody>
      </p:sp>
    </p:spTree>
    <p:extLst>
      <p:ext uri="{BB962C8B-B14F-4D97-AF65-F5344CB8AC3E}">
        <p14:creationId xmlns:p14="http://schemas.microsoft.com/office/powerpoint/2010/main" val="1937776561"/>
      </p:ext>
    </p:extLst>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1765-1696-024F-93C4-CFF53F4FAC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536451-EA5B-4A45-9D69-E8D301C73E1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955BC96C-0017-451D-9506-E2006E2662FC}" type="slidenum">
              <a:rPr lang="en-US" altLang="en-US" smtClean="0"/>
              <a:pPr>
                <a:defRPr/>
              </a:pPr>
              <a:t>‹#›</a:t>
            </a:fld>
            <a:endParaRPr lang="en-CA" altLang="en-US"/>
          </a:p>
        </p:txBody>
      </p:sp>
    </p:spTree>
    <p:extLst>
      <p:ext uri="{BB962C8B-B14F-4D97-AF65-F5344CB8AC3E}">
        <p14:creationId xmlns:p14="http://schemas.microsoft.com/office/powerpoint/2010/main" val="82956826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EAAD1-50FB-CF49-8829-FAD2CE107D9B}"/>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E03996-15D8-824B-A6F4-5E589ABC3E69}"/>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05101D73-17DF-4215-BFAB-5AF42993EC01}" type="slidenum">
              <a:rPr lang="en-US" altLang="en-US" smtClean="0"/>
              <a:pPr>
                <a:defRPr/>
              </a:pPr>
              <a:t>‹#›</a:t>
            </a:fld>
            <a:endParaRPr lang="en-CA" altLang="en-US"/>
          </a:p>
        </p:txBody>
      </p:sp>
    </p:spTree>
    <p:extLst>
      <p:ext uri="{BB962C8B-B14F-4D97-AF65-F5344CB8AC3E}">
        <p14:creationId xmlns:p14="http://schemas.microsoft.com/office/powerpoint/2010/main" val="405711994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075B2-4289-414A-9EFD-3EC4249522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EA4AC2-61FD-5A4E-9148-CA16DCEB56C9}"/>
              </a:ext>
            </a:extLst>
          </p:cNvPr>
          <p:cNvSpPr>
            <a:spLocks noGrp="1"/>
          </p:cNvSpPr>
          <p:nvPr>
            <p:ph sz="half" idx="1"/>
          </p:nvPr>
        </p:nvSpPr>
        <p:spPr>
          <a:xfrm>
            <a:off x="239713" y="1600200"/>
            <a:ext cx="4070350"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3C0D3F-591E-6D46-A525-6CD245A3B8C6}"/>
              </a:ext>
            </a:extLst>
          </p:cNvPr>
          <p:cNvSpPr>
            <a:spLocks noGrp="1"/>
          </p:cNvSpPr>
          <p:nvPr>
            <p:ph sz="half" idx="2"/>
          </p:nvPr>
        </p:nvSpPr>
        <p:spPr>
          <a:xfrm>
            <a:off x="4462463" y="1600200"/>
            <a:ext cx="4071937"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F080576D-62A2-4B8F-BA33-99F4B4531BD5}" type="slidenum">
              <a:rPr lang="en-US" altLang="en-US" smtClean="0"/>
              <a:pPr>
                <a:defRPr/>
              </a:pPr>
              <a:t>‹#›</a:t>
            </a:fld>
            <a:endParaRPr lang="en-CA" altLang="en-US"/>
          </a:p>
        </p:txBody>
      </p:sp>
    </p:spTree>
    <p:extLst>
      <p:ext uri="{BB962C8B-B14F-4D97-AF65-F5344CB8AC3E}">
        <p14:creationId xmlns:p14="http://schemas.microsoft.com/office/powerpoint/2010/main" val="166473086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28EFB-1EE1-FC4C-870D-E8DE7492A197}"/>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40412F-43C6-5444-9798-7AB0C97C281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0052736-25F3-104F-A8DA-151A0094C439}"/>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4E693F-2D65-E849-B396-DD06620D76B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2A9E816-3274-F44D-A98D-63033C4C05DC}"/>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5BCD9E3F-DB70-4B6F-9FA2-3F34053B0519}" type="slidenum">
              <a:rPr lang="en-US" altLang="en-US" smtClean="0"/>
              <a:pPr>
                <a:defRPr/>
              </a:pPr>
              <a:t>‹#›</a:t>
            </a:fld>
            <a:endParaRPr lang="en-CA" altLang="en-US"/>
          </a:p>
        </p:txBody>
      </p:sp>
    </p:spTree>
    <p:extLst>
      <p:ext uri="{BB962C8B-B14F-4D97-AF65-F5344CB8AC3E}">
        <p14:creationId xmlns:p14="http://schemas.microsoft.com/office/powerpoint/2010/main" val="197298095"/>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E17B-7925-CC47-A238-C7AB502F3378}"/>
              </a:ext>
            </a:extLst>
          </p:cNvPr>
          <p:cNvSpPr>
            <a:spLocks noGrp="1"/>
          </p:cNvSpPr>
          <p:nvPr>
            <p:ph type="title"/>
          </p:nvPr>
        </p:nvSpPr>
        <p:spPr/>
        <p:txBody>
          <a:bodyPr/>
          <a:lstStyle/>
          <a:p>
            <a:r>
              <a:rPr lang="en-US"/>
              <a:t>Click to edit Master title style</a:t>
            </a:r>
          </a:p>
        </p:txBody>
      </p:sp>
      <p:sp>
        <p:nvSpPr>
          <p:cNvPr id="3"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FE47F404-7DB5-455E-8975-D299868B336C}" type="slidenum">
              <a:rPr lang="en-US" altLang="en-US" smtClean="0"/>
              <a:pPr>
                <a:defRPr/>
              </a:pPr>
              <a:t>‹#›</a:t>
            </a:fld>
            <a:endParaRPr lang="en-CA" altLang="en-US"/>
          </a:p>
        </p:txBody>
      </p:sp>
    </p:spTree>
    <p:extLst>
      <p:ext uri="{BB962C8B-B14F-4D97-AF65-F5344CB8AC3E}">
        <p14:creationId xmlns:p14="http://schemas.microsoft.com/office/powerpoint/2010/main" val="330806426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7D55F515-3634-4FB8-BBAA-884F4D2040C6}" type="slidenum">
              <a:rPr lang="en-US" altLang="en-US" smtClean="0"/>
              <a:pPr>
                <a:defRPr/>
              </a:pPr>
              <a:t>‹#›</a:t>
            </a:fld>
            <a:endParaRPr lang="en-CA" altLang="en-US"/>
          </a:p>
        </p:txBody>
      </p:sp>
    </p:spTree>
    <p:extLst>
      <p:ext uri="{BB962C8B-B14F-4D97-AF65-F5344CB8AC3E}">
        <p14:creationId xmlns:p14="http://schemas.microsoft.com/office/powerpoint/2010/main" val="423083262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E228C-19DB-C84D-BF63-30E07ED684C4}"/>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23B21B-6EC3-B742-97B6-5026542BD5B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544C7F-7E22-D34B-8A77-6D00F0BE682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A28DAD59-66AF-4332-801C-4250471B991E}" type="slidenum">
              <a:rPr lang="en-US" altLang="en-US" smtClean="0"/>
              <a:pPr>
                <a:defRPr/>
              </a:pPr>
              <a:t>‹#›</a:t>
            </a:fld>
            <a:endParaRPr lang="en-CA" altLang="en-US"/>
          </a:p>
        </p:txBody>
      </p:sp>
    </p:spTree>
    <p:extLst>
      <p:ext uri="{BB962C8B-B14F-4D97-AF65-F5344CB8AC3E}">
        <p14:creationId xmlns:p14="http://schemas.microsoft.com/office/powerpoint/2010/main" val="3934589635"/>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7AAA7-8138-DB4D-8132-966EB6237295}"/>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6CB830-00BE-EF4A-AEC6-3D3D9D0BE03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E92E25BB-1284-7C4A-B27C-53278998729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E1621955-E625-4B87-B6DE-879F7CB5EA78}" type="slidenum">
              <a:rPr lang="en-US" altLang="en-US" smtClean="0"/>
              <a:pPr>
                <a:defRPr/>
              </a:pPr>
              <a:t>‹#›</a:t>
            </a:fld>
            <a:endParaRPr lang="en-CA" altLang="en-US"/>
          </a:p>
        </p:txBody>
      </p:sp>
    </p:spTree>
    <p:extLst>
      <p:ext uri="{BB962C8B-B14F-4D97-AF65-F5344CB8AC3E}">
        <p14:creationId xmlns:p14="http://schemas.microsoft.com/office/powerpoint/2010/main" val="111328802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7C95-FBB7-0649-A6AE-924D2B21AF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B302B0-0BEB-A245-BF72-FE36F4595C5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44427650-FDC3-4F8E-A5AF-B927B9295439}" type="slidenum">
              <a:rPr lang="en-US" altLang="en-US" smtClean="0"/>
              <a:pPr>
                <a:defRPr/>
              </a:pPr>
              <a:t>‹#›</a:t>
            </a:fld>
            <a:endParaRPr lang="en-CA" altLang="en-US"/>
          </a:p>
        </p:txBody>
      </p:sp>
    </p:spTree>
    <p:extLst>
      <p:ext uri="{BB962C8B-B14F-4D97-AF65-F5344CB8AC3E}">
        <p14:creationId xmlns:p14="http://schemas.microsoft.com/office/powerpoint/2010/main" val="2998387141"/>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5B6697-872F-2047-9B20-151EBB80C7C2}"/>
              </a:ext>
            </a:extLst>
          </p:cNvPr>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95D7DD-E577-6A47-8380-8C147BF8C855}"/>
              </a:ext>
            </a:extLst>
          </p:cNvPr>
          <p:cNvSpPr>
            <a:spLocks noGrp="1"/>
          </p:cNvSpPr>
          <p:nvPr>
            <p:ph type="body" orient="vert" idx="1"/>
          </p:nvPr>
        </p:nvSpPr>
        <p:spPr>
          <a:xfrm>
            <a:off x="228600" y="303213"/>
            <a:ext cx="6076950" cy="586898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C5057EAC-B1E1-2842-9937-79CFB830E8CD}"/>
              </a:ext>
            </a:extLst>
          </p:cNvPr>
          <p:cNvSpPr>
            <a:spLocks noGrp="1" noChangeArrowheads="1"/>
          </p:cNvSpPr>
          <p:nvPr>
            <p:ph type="sldNum" sz="quarter" idx="10"/>
          </p:nvPr>
        </p:nvSpPr>
        <p:spPr>
          <a:ln/>
        </p:spPr>
        <p:txBody>
          <a:bodyPr/>
          <a:lstStyle>
            <a:lvl1pPr>
              <a:defRPr/>
            </a:lvl1pPr>
          </a:lstStyle>
          <a:p>
            <a:pPr>
              <a:defRPr/>
            </a:pPr>
            <a:r>
              <a:rPr lang="en-US" altLang="en-US"/>
              <a:t>Slide 8- </a:t>
            </a:r>
            <a:fld id="{DA503A3F-D77C-4F35-AC0C-CB5D22EE0359}" type="slidenum">
              <a:rPr lang="en-US" altLang="en-US" smtClean="0"/>
              <a:pPr>
                <a:defRPr/>
              </a:pPr>
              <a:t>‹#›</a:t>
            </a:fld>
            <a:endParaRPr lang="en-CA" altLang="en-US"/>
          </a:p>
        </p:txBody>
      </p:sp>
    </p:spTree>
    <p:extLst>
      <p:ext uri="{BB962C8B-B14F-4D97-AF65-F5344CB8AC3E}">
        <p14:creationId xmlns:p14="http://schemas.microsoft.com/office/powerpoint/2010/main" val="2427505187"/>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1AC64108-B3A3-0B41-846F-35EE8ACDAE2A}"/>
              </a:ext>
            </a:extLst>
          </p:cNvPr>
          <p:cNvSpPr>
            <a:spLocks noGrp="1" noChangeArrowheads="1"/>
          </p:cNvSpPr>
          <p:nvPr>
            <p:ph type="dt" sz="half" idx="10"/>
          </p:nvPr>
        </p:nvSpPr>
        <p:spPr>
          <a:xfrm>
            <a:off x="0" y="0"/>
            <a:ext cx="0" cy="0"/>
          </a:xfrm>
        </p:spPr>
        <p:txBody>
          <a:bodyPr/>
          <a:lstStyle>
            <a:lvl1pPr eaLnBrk="1" hangingPunct="1">
              <a:defRPr/>
            </a:lvl1pPr>
          </a:lstStyle>
          <a:p>
            <a:pPr>
              <a:defRPr/>
            </a:pPr>
            <a:fld id="{757A21D2-94D3-4FAF-95D9-EACBC6B1F455}" type="datetime4">
              <a:rPr lang="en-US" altLang="en-US"/>
              <a:pPr>
                <a:defRPr/>
              </a:pPr>
              <a:t>July 28, 2025</a:t>
            </a:fld>
            <a:endParaRPr lang="en-US" altLang="en-US"/>
          </a:p>
        </p:txBody>
      </p:sp>
      <p:sp>
        <p:nvSpPr>
          <p:cNvPr id="6" name="Rectangle 6">
            <a:extLst>
              <a:ext uri="{FF2B5EF4-FFF2-40B4-BE49-F238E27FC236}">
                <a16:creationId xmlns:a16="http://schemas.microsoft.com/office/drawing/2014/main" id="{452616AE-27B8-7D49-BEDD-C5E370573D7C}"/>
              </a:ext>
            </a:extLst>
          </p:cNvPr>
          <p:cNvSpPr>
            <a:spLocks noGrp="1" noChangeArrowheads="1"/>
          </p:cNvSpPr>
          <p:nvPr>
            <p:ph type="ftr" sz="quarter" idx="11"/>
          </p:nvPr>
        </p:nvSpPr>
        <p:spPr>
          <a:xfrm>
            <a:off x="0" y="0"/>
            <a:ext cx="0" cy="0"/>
          </a:xfrm>
        </p:spPr>
        <p:txBody>
          <a:bodyPr/>
          <a:lstStyle>
            <a:lvl1pPr eaLnBrk="1" hangingPunct="1">
              <a:defRPr/>
            </a:lvl1pPr>
          </a:lstStyle>
          <a:p>
            <a:pPr>
              <a:defRPr/>
            </a:pPr>
            <a:r>
              <a:rPr lang="en-US" altLang="en-US"/>
              <a:t>Dr. Ejaz Ahmed</a:t>
            </a:r>
          </a:p>
        </p:txBody>
      </p:sp>
      <p:sp>
        <p:nvSpPr>
          <p:cNvPr id="7" name="Rectangle 7">
            <a:extLst>
              <a:ext uri="{FF2B5EF4-FFF2-40B4-BE49-F238E27FC236}">
                <a16:creationId xmlns:a16="http://schemas.microsoft.com/office/drawing/2014/main" id="{7D0FD9FE-A215-9F40-A39A-A9EF9E93187E}"/>
              </a:ext>
            </a:extLst>
          </p:cNvPr>
          <p:cNvSpPr>
            <a:spLocks noGrp="1" noChangeArrowheads="1"/>
          </p:cNvSpPr>
          <p:nvPr>
            <p:ph type="sldNum" sz="quarter" idx="12"/>
          </p:nvPr>
        </p:nvSpPr>
        <p:spPr/>
        <p:txBody>
          <a:bodyPr/>
          <a:lstStyle>
            <a:lvl1pPr>
              <a:defRPr/>
            </a:lvl1pPr>
          </a:lstStyle>
          <a:p>
            <a:pPr>
              <a:defRPr/>
            </a:pPr>
            <a:fld id="{3FE54C56-FECE-4598-AB62-CF7AE7AEBE2C}" type="slidenum">
              <a:rPr lang="en-US" altLang="en-US"/>
              <a:pPr>
                <a:defRPr/>
              </a:pPr>
              <a:t>‹#›</a:t>
            </a:fld>
            <a:endParaRPr lang="en-US" altLang="en-US"/>
          </a:p>
        </p:txBody>
      </p:sp>
    </p:spTree>
    <p:extLst>
      <p:ext uri="{BB962C8B-B14F-4D97-AF65-F5344CB8AC3E}">
        <p14:creationId xmlns:p14="http://schemas.microsoft.com/office/powerpoint/2010/main" val="117379257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5"/>
          <p:cNvGrpSpPr>
            <a:grpSpLocks/>
          </p:cNvGrpSpPr>
          <p:nvPr userDrawn="1"/>
        </p:nvGrpSpPr>
        <p:grpSpPr bwMode="auto">
          <a:xfrm>
            <a:off x="8936038" y="1449388"/>
            <a:ext cx="207962" cy="5408612"/>
            <a:chOff x="5606" y="889"/>
            <a:chExt cx="154" cy="3431"/>
          </a:xfrm>
        </p:grpSpPr>
        <p:sp>
          <p:nvSpPr>
            <p:cNvPr id="1032" name="Rectangle 38"/>
            <p:cNvSpPr>
              <a:spLocks noChangeArrowheads="1"/>
            </p:cNvSpPr>
            <p:nvPr userDrawn="1"/>
          </p:nvSpPr>
          <p:spPr bwMode="gray">
            <a:xfrm flipH="1">
              <a:off x="5685" y="889"/>
              <a:ext cx="75" cy="3431"/>
            </a:xfrm>
            <a:prstGeom prst="rect">
              <a:avLst/>
            </a:prstGeom>
            <a:solidFill>
              <a:srgbClr val="677228"/>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smtClean="0">
                <a:latin typeface="Tahoma" panose="020B0604030504040204" pitchFamily="34" charset="0"/>
              </a:endParaRPr>
            </a:p>
          </p:txBody>
        </p:sp>
        <p:grpSp>
          <p:nvGrpSpPr>
            <p:cNvPr id="1033" name="Group 44"/>
            <p:cNvGrpSpPr>
              <a:grpSpLocks/>
            </p:cNvGrpSpPr>
            <p:nvPr userDrawn="1"/>
          </p:nvGrpSpPr>
          <p:grpSpPr bwMode="auto">
            <a:xfrm>
              <a:off x="5606" y="889"/>
              <a:ext cx="106" cy="3431"/>
              <a:chOff x="5606" y="889"/>
              <a:chExt cx="106" cy="3431"/>
            </a:xfrm>
          </p:grpSpPr>
          <p:sp>
            <p:nvSpPr>
              <p:cNvPr id="1034" name="Rectangle 43"/>
              <p:cNvSpPr>
                <a:spLocks noChangeArrowheads="1"/>
              </p:cNvSpPr>
              <p:nvPr userDrawn="1"/>
            </p:nvSpPr>
            <p:spPr bwMode="gray">
              <a:xfrm rot="10800000" flipH="1">
                <a:off x="5606" y="889"/>
                <a:ext cx="58" cy="3431"/>
              </a:xfrm>
              <a:prstGeom prst="rect">
                <a:avLst/>
              </a:prstGeom>
              <a:solidFill>
                <a:schemeClr val="tx2"/>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smtClean="0">
                  <a:latin typeface="Tahoma" panose="020B0604030504040204" pitchFamily="34" charset="0"/>
                </a:endParaRPr>
              </a:p>
            </p:txBody>
          </p:sp>
          <p:sp>
            <p:nvSpPr>
              <p:cNvPr id="1035" name="Rectangle 32"/>
              <p:cNvSpPr>
                <a:spLocks noChangeArrowheads="1"/>
              </p:cNvSpPr>
              <p:nvPr userDrawn="1"/>
            </p:nvSpPr>
            <p:spPr bwMode="gray">
              <a:xfrm rot="10800000" flipH="1">
                <a:off x="5654" y="889"/>
                <a:ext cx="58" cy="3431"/>
              </a:xfrm>
              <a:prstGeom prst="rect">
                <a:avLst/>
              </a:prstGeom>
              <a:solidFill>
                <a:srgbClr val="990033"/>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smtClean="0">
                  <a:latin typeface="Tahoma" panose="020B0604030504040204" pitchFamily="34" charset="0"/>
                </a:endParaRPr>
              </a:p>
            </p:txBody>
          </p:sp>
        </p:grpSp>
      </p:grpSp>
      <p:sp>
        <p:nvSpPr>
          <p:cNvPr id="1027" name="Rectangle 37"/>
          <p:cNvSpPr>
            <a:spLocks noChangeArrowheads="1"/>
          </p:cNvSpPr>
          <p:nvPr userDrawn="1"/>
        </p:nvSpPr>
        <p:spPr bwMode="gray">
          <a:xfrm rot="-5400000">
            <a:off x="3845719" y="-3845719"/>
            <a:ext cx="1449388" cy="9140825"/>
          </a:xfrm>
          <a:prstGeom prst="rect">
            <a:avLst/>
          </a:prstGeom>
          <a:solidFill>
            <a:srgbClr val="677228">
              <a:alpha val="36078"/>
            </a:srgbClr>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smtClean="0">
              <a:latin typeface="Tahoma" panose="020B0604030504040204" pitchFamily="34" charset="0"/>
            </a:endParaRPr>
          </a:p>
        </p:txBody>
      </p:sp>
      <p:sp>
        <p:nvSpPr>
          <p:cNvPr id="1028" name="Rectangle 9"/>
          <p:cNvSpPr>
            <a:spLocks noGrp="1" noChangeArrowheads="1"/>
          </p:cNvSpPr>
          <p:nvPr>
            <p:ph type="title"/>
          </p:nvPr>
        </p:nvSpPr>
        <p:spPr bwMode="auto">
          <a:xfrm>
            <a:off x="228600" y="303213"/>
            <a:ext cx="7796213"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3085" name="Rectangle 13">
            <a:extLst>
              <a:ext uri="{FF2B5EF4-FFF2-40B4-BE49-F238E27FC236}">
                <a16:creationId xmlns:a16="http://schemas.microsoft.com/office/drawing/2014/main" id="{C5057EAC-B1E1-2842-9937-79CFB830E8CD}"/>
              </a:ext>
            </a:extLst>
          </p:cNvPr>
          <p:cNvSpPr>
            <a:spLocks noGrp="1" noChangeArrowheads="1"/>
          </p:cNvSpPr>
          <p:nvPr>
            <p:ph type="sldNum" sz="quarter" idx="4"/>
          </p:nvPr>
        </p:nvSpPr>
        <p:spPr bwMode="auto">
          <a:xfrm>
            <a:off x="6934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1">
                <a:solidFill>
                  <a:srgbClr val="990033"/>
                </a:solidFill>
              </a:defRPr>
            </a:lvl1pPr>
          </a:lstStyle>
          <a:p>
            <a:pPr>
              <a:defRPr/>
            </a:pPr>
            <a:r>
              <a:rPr lang="en-US" altLang="en-US"/>
              <a:t>Slide 8- </a:t>
            </a:r>
            <a:fld id="{74726A99-8429-44A6-83E8-3AEE59A5E225}" type="slidenum">
              <a:rPr lang="en-US" altLang="en-US" smtClean="0"/>
              <a:pPr>
                <a:defRPr/>
              </a:pPr>
              <a:t>‹#›</a:t>
            </a:fld>
            <a:endParaRPr lang="en-CA" altLang="en-US"/>
          </a:p>
        </p:txBody>
      </p:sp>
      <p:sp>
        <p:nvSpPr>
          <p:cNvPr id="1030" name="Rectangle 21"/>
          <p:cNvSpPr>
            <a:spLocks noGrp="1" noChangeArrowheads="1"/>
          </p:cNvSpPr>
          <p:nvPr>
            <p:ph type="body" idx="1"/>
          </p:nvPr>
        </p:nvSpPr>
        <p:spPr bwMode="auto">
          <a:xfrm>
            <a:off x="239713" y="1600200"/>
            <a:ext cx="8294687"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1" name="Rectangle 30"/>
          <p:cNvSpPr>
            <a:spLocks noChangeArrowheads="1"/>
          </p:cNvSpPr>
          <p:nvPr/>
        </p:nvSpPr>
        <p:spPr bwMode="auto">
          <a:xfrm>
            <a:off x="838200" y="6397625"/>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r>
              <a:rPr lang="en-US" altLang="en-US" sz="900" smtClean="0"/>
              <a:t>Copyright © 2007 </a:t>
            </a:r>
            <a:r>
              <a:rPr lang="en-US" altLang="en-US" sz="900" smtClean="0">
                <a:solidFill>
                  <a:srgbClr val="000000"/>
                </a:solidFill>
              </a:rPr>
              <a:t>Ramez Elmasri and Shamkant B. Navathe</a:t>
            </a:r>
          </a:p>
        </p:txBody>
      </p:sp>
    </p:spTree>
  </p:cSld>
  <p:clrMap bg1="lt1" tx1="dk1" bg2="lt2" tx2="dk2" accent1="accent1" accent2="accent2" accent3="accent3" accent4="accent4" accent5="accent5" accent6="accent6" hlink="hlink" folHlink="folHlink"/>
  <p:sldLayoutIdLst>
    <p:sldLayoutId id="2147483744"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5" r:id="rId12"/>
  </p:sldLayoutIdLst>
  <p:transition spd="med"/>
  <p:hf hdr="0" ftr="0" dt="0"/>
  <p:txStyles>
    <p:titleStyle>
      <a:lvl1pPr algn="l" rtl="0" eaLnBrk="0" fontAlgn="base" hangingPunct="0">
        <a:spcBef>
          <a:spcPct val="0"/>
        </a:spcBef>
        <a:spcAft>
          <a:spcPct val="0"/>
        </a:spcAft>
        <a:defRPr sz="3600" kern="1200">
          <a:solidFill>
            <a:srgbClr val="800000"/>
          </a:solidFill>
          <a:latin typeface="+mj-lt"/>
          <a:ea typeface="+mj-ea"/>
          <a:cs typeface="+mj-cs"/>
        </a:defRPr>
      </a:lvl1pPr>
      <a:lvl2pPr algn="l" rtl="0" eaLnBrk="0" fontAlgn="base" hangingPunct="0">
        <a:spcBef>
          <a:spcPct val="0"/>
        </a:spcBef>
        <a:spcAft>
          <a:spcPct val="0"/>
        </a:spcAft>
        <a:defRPr sz="3600">
          <a:solidFill>
            <a:srgbClr val="800000"/>
          </a:solidFill>
          <a:latin typeface="Arial" panose="020B0604020202020204" pitchFamily="34" charset="0"/>
        </a:defRPr>
      </a:lvl2pPr>
      <a:lvl3pPr algn="l" rtl="0" eaLnBrk="0" fontAlgn="base" hangingPunct="0">
        <a:spcBef>
          <a:spcPct val="0"/>
        </a:spcBef>
        <a:spcAft>
          <a:spcPct val="0"/>
        </a:spcAft>
        <a:defRPr sz="3600">
          <a:solidFill>
            <a:srgbClr val="800000"/>
          </a:solidFill>
          <a:latin typeface="Arial" panose="020B0604020202020204" pitchFamily="34" charset="0"/>
        </a:defRPr>
      </a:lvl3pPr>
      <a:lvl4pPr algn="l" rtl="0" eaLnBrk="0" fontAlgn="base" hangingPunct="0">
        <a:spcBef>
          <a:spcPct val="0"/>
        </a:spcBef>
        <a:spcAft>
          <a:spcPct val="0"/>
        </a:spcAft>
        <a:defRPr sz="3600">
          <a:solidFill>
            <a:srgbClr val="800000"/>
          </a:solidFill>
          <a:latin typeface="Arial" panose="020B0604020202020204" pitchFamily="34" charset="0"/>
        </a:defRPr>
      </a:lvl4pPr>
      <a:lvl5pPr algn="l" rtl="0" eaLnBrk="0" fontAlgn="base" hangingPunct="0">
        <a:spcBef>
          <a:spcPct val="0"/>
        </a:spcBef>
        <a:spcAft>
          <a:spcPct val="0"/>
        </a:spcAft>
        <a:defRPr sz="3600">
          <a:solidFill>
            <a:srgbClr val="800000"/>
          </a:solidFill>
          <a:latin typeface="Arial" panose="020B0604020202020204" pitchFamily="34" charset="0"/>
        </a:defRPr>
      </a:lvl5pPr>
      <a:lvl6pPr marL="457200" algn="l" rtl="0" fontAlgn="base">
        <a:spcBef>
          <a:spcPct val="0"/>
        </a:spcBef>
        <a:spcAft>
          <a:spcPct val="0"/>
        </a:spcAft>
        <a:defRPr sz="3600">
          <a:solidFill>
            <a:srgbClr val="800000"/>
          </a:solidFill>
          <a:latin typeface="Arial" panose="020B0604020202020204" pitchFamily="34" charset="0"/>
        </a:defRPr>
      </a:lvl6pPr>
      <a:lvl7pPr marL="914400" algn="l" rtl="0" fontAlgn="base">
        <a:spcBef>
          <a:spcPct val="0"/>
        </a:spcBef>
        <a:spcAft>
          <a:spcPct val="0"/>
        </a:spcAft>
        <a:defRPr sz="3600">
          <a:solidFill>
            <a:srgbClr val="800000"/>
          </a:solidFill>
          <a:latin typeface="Arial" panose="020B0604020202020204" pitchFamily="34" charset="0"/>
        </a:defRPr>
      </a:lvl7pPr>
      <a:lvl8pPr marL="1371600" algn="l" rtl="0" fontAlgn="base">
        <a:spcBef>
          <a:spcPct val="0"/>
        </a:spcBef>
        <a:spcAft>
          <a:spcPct val="0"/>
        </a:spcAft>
        <a:defRPr sz="3600">
          <a:solidFill>
            <a:srgbClr val="800000"/>
          </a:solidFill>
          <a:latin typeface="Arial" panose="020B0604020202020204" pitchFamily="34" charset="0"/>
        </a:defRPr>
      </a:lvl8pPr>
      <a:lvl9pPr marL="1828800" algn="l" rtl="0" fontAlgn="base">
        <a:spcBef>
          <a:spcPct val="0"/>
        </a:spcBef>
        <a:spcAft>
          <a:spcPct val="0"/>
        </a:spcAft>
        <a:defRPr sz="3600">
          <a:solidFill>
            <a:srgbClr val="8000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kern="1200">
          <a:solidFill>
            <a:srgbClr val="800000"/>
          </a:solidFill>
          <a:latin typeface="+mn-lt"/>
          <a:ea typeface="+mn-ea"/>
          <a:cs typeface="+mn-cs"/>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kern="1200">
          <a:solidFill>
            <a:srgbClr val="800000"/>
          </a:solidFill>
          <a:latin typeface="+mn-lt"/>
          <a:ea typeface="+mn-ea"/>
          <a:cs typeface="+mn-cs"/>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6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6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6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2AA00C1-D6D9-4774-BF17-E519D872A394}" type="slidenum">
              <a:rPr lang="en-US" altLang="en-US" sz="1400" smtClean="0">
                <a:solidFill>
                  <a:srgbClr val="990033"/>
                </a:solidFill>
              </a:rPr>
              <a:pPr>
                <a:spcBef>
                  <a:spcPct val="0"/>
                </a:spcBef>
                <a:buClrTx/>
                <a:buSzTx/>
                <a:buFontTx/>
                <a:buNone/>
              </a:pPr>
              <a:t>1</a:t>
            </a:fld>
            <a:endParaRPr lang="en-CA" altLang="en-US" sz="1400" smtClean="0">
              <a:solidFill>
                <a:srgbClr val="990033"/>
              </a:solidFill>
            </a:endParaRPr>
          </a:p>
        </p:txBody>
      </p:sp>
      <p:sp>
        <p:nvSpPr>
          <p:cNvPr id="6147" name="Rectangle 3"/>
          <p:cNvSpPr>
            <a:spLocks noGrp="1" noChangeArrowheads="1"/>
          </p:cNvSpPr>
          <p:nvPr>
            <p:ph type="title"/>
          </p:nvPr>
        </p:nvSpPr>
        <p:spPr/>
        <p:txBody>
          <a:bodyPr/>
          <a:lstStyle/>
          <a:p>
            <a:pPr eaLnBrk="1" hangingPunct="1"/>
            <a:endParaRPr lang="en-US" altLang="en-US" smtClean="0"/>
          </a:p>
        </p:txBody>
      </p:sp>
      <p:pic>
        <p:nvPicPr>
          <p:cNvPr id="6148" name="Picture 11" descr="Elmasri_co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9"/>
          <p:cNvSpPr>
            <a:spLocks noGrp="1" noChangeArrowheads="1"/>
          </p:cNvSpPr>
          <p:nvPr>
            <p:ph type="ftr"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900" smtClean="0">
                <a:solidFill>
                  <a:schemeClr val="tx1"/>
                </a:solidFill>
              </a:rPr>
              <a:t>Copyright © 2007 </a:t>
            </a:r>
            <a:r>
              <a:rPr lang="en-US" altLang="en-US" sz="900" smtClean="0">
                <a:solidFill>
                  <a:srgbClr val="000000"/>
                </a:solidFill>
              </a:rPr>
              <a:t>Ramez Elmasri and Shamkant B. Navathe</a:t>
            </a:r>
          </a:p>
        </p:txBody>
      </p:sp>
      <p:sp>
        <p:nvSpPr>
          <p:cNvPr id="8195" name="Rectangle 2" descr="Pink tissue paper"/>
          <p:cNvSpPr>
            <a:spLocks noGrp="1" noChangeArrowheads="1"/>
          </p:cNvSpPr>
          <p:nvPr>
            <p:ph type="ctrTitle"/>
          </p:nvPr>
        </p:nvSpPr>
        <p:spPr/>
        <p:txBody>
          <a:bodyPr/>
          <a:lstStyle/>
          <a:p>
            <a:pPr eaLnBrk="1" hangingPunct="1"/>
            <a:r>
              <a:rPr lang="en-US" altLang="en-US" smtClean="0"/>
              <a:t>Chapter 8</a:t>
            </a:r>
          </a:p>
        </p:txBody>
      </p:sp>
      <p:sp>
        <p:nvSpPr>
          <p:cNvPr id="8196" name="Rectangle 3" descr="Pink tissue paper"/>
          <p:cNvSpPr>
            <a:spLocks noGrp="1" noChangeArrowheads="1"/>
          </p:cNvSpPr>
          <p:nvPr>
            <p:ph type="subTitle" idx="1"/>
          </p:nvPr>
        </p:nvSpPr>
        <p:spPr/>
        <p:txBody>
          <a:bodyPr/>
          <a:lstStyle/>
          <a:p>
            <a:pPr eaLnBrk="1" hangingPunct="1"/>
            <a:r>
              <a:rPr lang="en-US" altLang="en-US" smtClean="0"/>
              <a:t>SQL-99: SchemaDefinition, Constraints, and Queries and Views</a:t>
            </a:r>
            <a:endParaRPr lang="en-US" altLang="en-US" smtClean="0">
              <a:solidFill>
                <a:srgbClr val="000000"/>
              </a:solidFill>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3B77F1E0-FC46-4A9E-8DDE-76D931D5E2ED}" type="slidenum">
              <a:rPr lang="en-US" altLang="en-US" sz="1400" smtClean="0">
                <a:solidFill>
                  <a:srgbClr val="990033"/>
                </a:solidFill>
              </a:rPr>
              <a:pPr>
                <a:spcBef>
                  <a:spcPct val="0"/>
                </a:spcBef>
                <a:buClrTx/>
                <a:buSzTx/>
                <a:buFontTx/>
                <a:buNone/>
              </a:pPr>
              <a:t>3</a:t>
            </a:fld>
            <a:endParaRPr lang="en-CA" altLang="en-US" sz="1400" smtClean="0">
              <a:solidFill>
                <a:srgbClr val="990033"/>
              </a:solidFill>
            </a:endParaRPr>
          </a:p>
        </p:txBody>
      </p:sp>
      <p:sp>
        <p:nvSpPr>
          <p:cNvPr id="10243" name="Rectangle 4"/>
          <p:cNvSpPr>
            <a:spLocks noGrp="1" noChangeArrowheads="1"/>
          </p:cNvSpPr>
          <p:nvPr>
            <p:ph type="title"/>
          </p:nvPr>
        </p:nvSpPr>
        <p:spPr/>
        <p:txBody>
          <a:bodyPr/>
          <a:lstStyle/>
          <a:p>
            <a:pPr eaLnBrk="1" hangingPunct="1"/>
            <a:r>
              <a:rPr lang="en-US" altLang="en-US" smtClean="0"/>
              <a:t>Data Definition, Constraints, and Schema Changes</a:t>
            </a:r>
          </a:p>
        </p:txBody>
      </p:sp>
      <p:sp>
        <p:nvSpPr>
          <p:cNvPr id="10244" name="Rectangle 5"/>
          <p:cNvSpPr>
            <a:spLocks noGrp="1" noChangeArrowheads="1"/>
          </p:cNvSpPr>
          <p:nvPr>
            <p:ph type="body" idx="1"/>
          </p:nvPr>
        </p:nvSpPr>
        <p:spPr/>
        <p:txBody>
          <a:bodyPr/>
          <a:lstStyle/>
          <a:p>
            <a:pPr eaLnBrk="1" hangingPunct="1"/>
            <a:r>
              <a:rPr lang="en-US" altLang="en-US" smtClean="0"/>
              <a:t>Used to CREATE, DROP, and ALTER the descriptions of the tables (relations) of a database</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C6682CFB-7F46-4FDA-9400-F4097ED68739}" type="slidenum">
              <a:rPr lang="en-US" altLang="en-US" sz="1400" smtClean="0">
                <a:solidFill>
                  <a:srgbClr val="990033"/>
                </a:solidFill>
              </a:rPr>
              <a:pPr>
                <a:spcBef>
                  <a:spcPct val="0"/>
                </a:spcBef>
                <a:buClrTx/>
                <a:buSzTx/>
                <a:buFontTx/>
                <a:buNone/>
              </a:pPr>
              <a:t>4</a:t>
            </a:fld>
            <a:endParaRPr lang="en-CA" altLang="en-US" sz="1400" smtClean="0">
              <a:solidFill>
                <a:srgbClr val="990033"/>
              </a:solidFill>
            </a:endParaRPr>
          </a:p>
        </p:txBody>
      </p:sp>
      <p:sp>
        <p:nvSpPr>
          <p:cNvPr id="12291" name="Rectangle 4"/>
          <p:cNvSpPr>
            <a:spLocks noGrp="1" noChangeArrowheads="1"/>
          </p:cNvSpPr>
          <p:nvPr>
            <p:ph type="title"/>
          </p:nvPr>
        </p:nvSpPr>
        <p:spPr/>
        <p:txBody>
          <a:bodyPr/>
          <a:lstStyle/>
          <a:p>
            <a:pPr eaLnBrk="1" hangingPunct="1"/>
            <a:r>
              <a:rPr lang="en-US" altLang="en-US" smtClean="0"/>
              <a:t>CREATE TABLE</a:t>
            </a:r>
          </a:p>
        </p:txBody>
      </p:sp>
      <p:sp>
        <p:nvSpPr>
          <p:cNvPr id="12292" name="Rectangle 5"/>
          <p:cNvSpPr>
            <a:spLocks noGrp="1" noChangeArrowheads="1"/>
          </p:cNvSpPr>
          <p:nvPr>
            <p:ph type="body" idx="1"/>
          </p:nvPr>
        </p:nvSpPr>
        <p:spPr/>
        <p:txBody>
          <a:bodyPr/>
          <a:lstStyle/>
          <a:p>
            <a:pPr eaLnBrk="1" hangingPunct="1">
              <a:lnSpc>
                <a:spcPct val="80000"/>
              </a:lnSpc>
            </a:pPr>
            <a:r>
              <a:rPr lang="en-US" altLang="en-US" sz="2400" smtClean="0"/>
              <a:t>Specifies a new base relation by giving it a name, and specifying each of its attributes and their data types (INTEGER, FLOAT, DECIMAL(i,j), CHAR(n), VARCHAR(n))</a:t>
            </a:r>
          </a:p>
          <a:p>
            <a:pPr eaLnBrk="1" hangingPunct="1">
              <a:lnSpc>
                <a:spcPct val="80000"/>
              </a:lnSpc>
            </a:pPr>
            <a:r>
              <a:rPr lang="en-US" altLang="en-US" sz="2400" smtClean="0"/>
              <a:t>A constraint NOT NULL may be specified on an attribute</a:t>
            </a:r>
            <a:br>
              <a:rPr lang="en-US" altLang="en-US" sz="2400" smtClean="0"/>
            </a:br>
            <a:r>
              <a:rPr lang="en-US" altLang="en-US" sz="2400" smtClean="0"/>
              <a:t/>
            </a:r>
            <a:br>
              <a:rPr lang="en-US" altLang="en-US" sz="2400" smtClean="0"/>
            </a:br>
            <a:r>
              <a:rPr lang="en-US" altLang="en-US" sz="2400" b="1" smtClean="0">
                <a:latin typeface="Courier New" panose="02070309020205020404" pitchFamily="49" charset="0"/>
              </a:rPr>
              <a:t>CREATE TABLE DEPARTMENT (</a:t>
            </a:r>
            <a:br>
              <a:rPr lang="en-US" altLang="en-US" sz="2400" b="1" smtClean="0">
                <a:latin typeface="Courier New" panose="02070309020205020404" pitchFamily="49" charset="0"/>
              </a:rPr>
            </a:br>
            <a:r>
              <a:rPr lang="en-US" altLang="en-US" sz="2400" b="1" smtClean="0">
                <a:latin typeface="Courier New" panose="02070309020205020404" pitchFamily="49" charset="0"/>
              </a:rPr>
              <a:t>	DNAME			VARCHAR(10)	NOT NULL,</a:t>
            </a:r>
            <a:br>
              <a:rPr lang="en-US" altLang="en-US" sz="2400" b="1" smtClean="0">
                <a:latin typeface="Courier New" panose="02070309020205020404" pitchFamily="49" charset="0"/>
              </a:rPr>
            </a:br>
            <a:r>
              <a:rPr lang="en-US" altLang="en-US" sz="2400" b="1" smtClean="0">
                <a:latin typeface="Courier New" panose="02070309020205020404" pitchFamily="49" charset="0"/>
              </a:rPr>
              <a:t>	DNUMBER		INTEGER		NOT NULL,</a:t>
            </a:r>
            <a:br>
              <a:rPr lang="en-US" altLang="en-US" sz="2400" b="1" smtClean="0">
                <a:latin typeface="Courier New" panose="02070309020205020404" pitchFamily="49" charset="0"/>
              </a:rPr>
            </a:br>
            <a:r>
              <a:rPr lang="en-US" altLang="en-US" sz="2400" b="1" smtClean="0">
                <a:latin typeface="Courier New" panose="02070309020205020404" pitchFamily="49" charset="0"/>
              </a:rPr>
              <a:t>	MGRSSN		CHAR(9),</a:t>
            </a:r>
            <a:br>
              <a:rPr lang="en-US" altLang="en-US" sz="2400" b="1" smtClean="0">
                <a:latin typeface="Courier New" panose="02070309020205020404" pitchFamily="49" charset="0"/>
              </a:rPr>
            </a:br>
            <a:r>
              <a:rPr lang="en-US" altLang="en-US" sz="2400" b="1" smtClean="0">
                <a:latin typeface="Courier New" panose="02070309020205020404" pitchFamily="49" charset="0"/>
              </a:rPr>
              <a:t>	MGRSTARTDATE	CHAR(9)  );</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58EF83F9-9DDB-4BD4-BC4E-D1112E17B697}" type="slidenum">
              <a:rPr lang="en-US" altLang="en-US" sz="1400" smtClean="0">
                <a:solidFill>
                  <a:srgbClr val="990033"/>
                </a:solidFill>
              </a:rPr>
              <a:pPr>
                <a:spcBef>
                  <a:spcPct val="0"/>
                </a:spcBef>
                <a:buClrTx/>
                <a:buSzTx/>
                <a:buFontTx/>
                <a:buNone/>
              </a:pPr>
              <a:t>5</a:t>
            </a:fld>
            <a:endParaRPr lang="en-CA" altLang="en-US" sz="1400" smtClean="0">
              <a:solidFill>
                <a:srgbClr val="990033"/>
              </a:solidFill>
            </a:endParaRPr>
          </a:p>
        </p:txBody>
      </p:sp>
      <p:sp>
        <p:nvSpPr>
          <p:cNvPr id="14339" name="Rectangle 4"/>
          <p:cNvSpPr>
            <a:spLocks noGrp="1" noChangeArrowheads="1"/>
          </p:cNvSpPr>
          <p:nvPr>
            <p:ph type="title"/>
          </p:nvPr>
        </p:nvSpPr>
        <p:spPr/>
        <p:txBody>
          <a:bodyPr/>
          <a:lstStyle/>
          <a:p>
            <a:pPr eaLnBrk="1" hangingPunct="1"/>
            <a:r>
              <a:rPr lang="en-US" altLang="en-US" smtClean="0"/>
              <a:t>CREATE TABLE</a:t>
            </a:r>
          </a:p>
        </p:txBody>
      </p:sp>
      <p:sp>
        <p:nvSpPr>
          <p:cNvPr id="14340" name="Rectangle 5"/>
          <p:cNvSpPr>
            <a:spLocks noGrp="1" noChangeArrowheads="1"/>
          </p:cNvSpPr>
          <p:nvPr>
            <p:ph type="body" idx="1"/>
          </p:nvPr>
        </p:nvSpPr>
        <p:spPr/>
        <p:txBody>
          <a:bodyPr/>
          <a:lstStyle/>
          <a:p>
            <a:pPr eaLnBrk="1" hangingPunct="1">
              <a:lnSpc>
                <a:spcPct val="80000"/>
              </a:lnSpc>
            </a:pPr>
            <a:r>
              <a:rPr lang="en-US" altLang="en-US" sz="1800" smtClean="0"/>
              <a:t>We can use the CREATE TABLE command for specifying the primary key attributes and referential integrity constraints (foreign keys). </a:t>
            </a:r>
          </a:p>
          <a:p>
            <a:pPr eaLnBrk="1" hangingPunct="1">
              <a:lnSpc>
                <a:spcPct val="80000"/>
              </a:lnSpc>
            </a:pPr>
            <a:r>
              <a:rPr lang="en-US" altLang="en-US" sz="1800" smtClean="0"/>
              <a:t>Key attributes can be specified via the PRIMARY KEY and UNIQUE phrases</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CREATE TABLE DEPT (</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DNAME			VARCHAR(10)	NOT NULL,</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DNUMBER		INTEGER		NOT NULL,</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MGRSSN		CHAR(9),</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MGRSTARTDATE	CHAR(9),</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PRIMARY KEY (DNUMBER),</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UNIQUE (DNAME),</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FOREIGN KEY (MGRSSN) REFERENCES EMP  );</a:t>
            </a:r>
            <a:br>
              <a:rPr lang="en-US" altLang="en-US" sz="2500" b="1" smtClean="0">
                <a:solidFill>
                  <a:srgbClr val="990033"/>
                </a:solidFill>
                <a:latin typeface="Courier New" panose="02070309020205020404" pitchFamily="49" charset="0"/>
              </a:rPr>
            </a:br>
            <a:endParaRPr lang="en-US" altLang="en-US" sz="2500" b="1" smtClean="0">
              <a:solidFill>
                <a:srgbClr val="990033"/>
              </a:solidFill>
              <a:latin typeface="Courier New" panose="02070309020205020404" pitchFamily="49" charset="0"/>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609E10C-FAAC-4B9A-87F3-516005357720}" type="slidenum">
              <a:rPr lang="en-US" altLang="en-US" sz="1400" smtClean="0">
                <a:solidFill>
                  <a:srgbClr val="990033"/>
                </a:solidFill>
              </a:rPr>
              <a:pPr>
                <a:spcBef>
                  <a:spcPct val="0"/>
                </a:spcBef>
                <a:buClrTx/>
                <a:buSzTx/>
                <a:buFontTx/>
                <a:buNone/>
              </a:pPr>
              <a:t>6</a:t>
            </a:fld>
            <a:endParaRPr lang="en-CA" altLang="en-US" sz="1400" smtClean="0">
              <a:solidFill>
                <a:srgbClr val="990033"/>
              </a:solidFill>
            </a:endParaRPr>
          </a:p>
        </p:txBody>
      </p:sp>
      <p:sp>
        <p:nvSpPr>
          <p:cNvPr id="16387" name="Rectangle 4"/>
          <p:cNvSpPr>
            <a:spLocks noGrp="1" noChangeArrowheads="1"/>
          </p:cNvSpPr>
          <p:nvPr>
            <p:ph type="title"/>
          </p:nvPr>
        </p:nvSpPr>
        <p:spPr/>
        <p:txBody>
          <a:bodyPr/>
          <a:lstStyle/>
          <a:p>
            <a:pPr eaLnBrk="1" hangingPunct="1"/>
            <a:r>
              <a:rPr lang="en-US" altLang="en-US" smtClean="0"/>
              <a:t>DROP TABLE</a:t>
            </a:r>
          </a:p>
        </p:txBody>
      </p:sp>
      <p:sp>
        <p:nvSpPr>
          <p:cNvPr id="16388" name="Rectangle 5"/>
          <p:cNvSpPr>
            <a:spLocks noGrp="1" noChangeArrowheads="1"/>
          </p:cNvSpPr>
          <p:nvPr>
            <p:ph type="body" idx="1"/>
          </p:nvPr>
        </p:nvSpPr>
        <p:spPr/>
        <p:txBody>
          <a:bodyPr/>
          <a:lstStyle/>
          <a:p>
            <a:pPr eaLnBrk="1" hangingPunct="1"/>
            <a:r>
              <a:rPr lang="en-US" altLang="en-US" smtClean="0"/>
              <a:t>Used to remove a relation (base table) and its definition</a:t>
            </a:r>
          </a:p>
          <a:p>
            <a:pPr eaLnBrk="1" hangingPunct="1"/>
            <a:r>
              <a:rPr lang="en-US" altLang="en-US" smtClean="0"/>
              <a:t>The relation can no longer be used in queries, updates, or any other commands since its description no longer exists</a:t>
            </a:r>
          </a:p>
          <a:p>
            <a:pPr eaLnBrk="1" hangingPunct="1"/>
            <a:r>
              <a:rPr lang="en-US" altLang="en-US" smtClean="0"/>
              <a:t>Example:</a:t>
            </a:r>
            <a:br>
              <a:rPr lang="en-US" altLang="en-US" smtClean="0"/>
            </a:br>
            <a:r>
              <a:rPr lang="en-US" altLang="en-US" sz="3200" smtClean="0"/>
              <a:t/>
            </a:r>
            <a:br>
              <a:rPr lang="en-US" altLang="en-US" sz="3200" smtClean="0"/>
            </a:br>
            <a:r>
              <a:rPr lang="en-US" altLang="en-US" sz="3000" b="1" smtClean="0">
                <a:solidFill>
                  <a:srgbClr val="990033"/>
                </a:solidFill>
                <a:latin typeface="Courier New" panose="02070309020205020404" pitchFamily="49" charset="0"/>
              </a:rPr>
              <a:t>DROP TABLE  DEPENDENT;</a:t>
            </a:r>
            <a:br>
              <a:rPr lang="en-US" altLang="en-US" sz="3000" b="1" smtClean="0">
                <a:solidFill>
                  <a:srgbClr val="990033"/>
                </a:solidFill>
                <a:latin typeface="Courier New" panose="02070309020205020404" pitchFamily="49" charset="0"/>
              </a:rPr>
            </a:br>
            <a:endParaRPr lang="en-US" altLang="en-US" sz="3000" b="1" smtClean="0">
              <a:solidFill>
                <a:srgbClr val="990033"/>
              </a:solidFill>
              <a:latin typeface="Courier New" panose="02070309020205020404" pitchFamily="49" charset="0"/>
            </a:endParaRP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52F949F-544E-4A20-9286-C4C4DA560B6A}" type="slidenum">
              <a:rPr lang="en-US" altLang="en-US" sz="1400" smtClean="0">
                <a:solidFill>
                  <a:srgbClr val="990033"/>
                </a:solidFill>
              </a:rPr>
              <a:pPr>
                <a:spcBef>
                  <a:spcPct val="0"/>
                </a:spcBef>
                <a:buClrTx/>
                <a:buSzTx/>
                <a:buFontTx/>
                <a:buNone/>
              </a:pPr>
              <a:t>7</a:t>
            </a:fld>
            <a:endParaRPr lang="en-CA" altLang="en-US" sz="1400" smtClean="0">
              <a:solidFill>
                <a:srgbClr val="990033"/>
              </a:solidFill>
            </a:endParaRPr>
          </a:p>
        </p:txBody>
      </p:sp>
      <p:sp>
        <p:nvSpPr>
          <p:cNvPr id="18435" name="Rectangle 4"/>
          <p:cNvSpPr>
            <a:spLocks noGrp="1" noChangeArrowheads="1"/>
          </p:cNvSpPr>
          <p:nvPr>
            <p:ph type="title"/>
          </p:nvPr>
        </p:nvSpPr>
        <p:spPr/>
        <p:txBody>
          <a:bodyPr/>
          <a:lstStyle/>
          <a:p>
            <a:pPr eaLnBrk="1" hangingPunct="1"/>
            <a:r>
              <a:rPr lang="en-US" altLang="en-US" smtClean="0"/>
              <a:t>ALTER TABLE</a:t>
            </a:r>
          </a:p>
        </p:txBody>
      </p:sp>
      <p:sp>
        <p:nvSpPr>
          <p:cNvPr id="18436" name="Rectangle 5"/>
          <p:cNvSpPr>
            <a:spLocks noGrp="1" noChangeArrowheads="1"/>
          </p:cNvSpPr>
          <p:nvPr>
            <p:ph type="body" idx="1"/>
          </p:nvPr>
        </p:nvSpPr>
        <p:spPr/>
        <p:txBody>
          <a:bodyPr/>
          <a:lstStyle/>
          <a:p>
            <a:pPr eaLnBrk="1" hangingPunct="1">
              <a:lnSpc>
                <a:spcPct val="80000"/>
              </a:lnSpc>
            </a:pPr>
            <a:r>
              <a:rPr lang="en-US" altLang="en-US" smtClean="0"/>
              <a:t>Used to add an attribute to one of the base relations</a:t>
            </a:r>
          </a:p>
          <a:p>
            <a:pPr lvl="1" eaLnBrk="1" hangingPunct="1">
              <a:lnSpc>
                <a:spcPct val="80000"/>
              </a:lnSpc>
            </a:pPr>
            <a:r>
              <a:rPr lang="en-US" altLang="en-US" sz="2500" smtClean="0"/>
              <a:t>The new attribute will have NULLs in all the tuples of the relation right after the command is executed; hence, the NOT NULL constraint is not allowed  for such an attribute</a:t>
            </a:r>
          </a:p>
          <a:p>
            <a:pPr eaLnBrk="1" hangingPunct="1">
              <a:lnSpc>
                <a:spcPct val="80000"/>
              </a:lnSpc>
            </a:pPr>
            <a:r>
              <a:rPr lang="en-US" altLang="en-US" smtClean="0"/>
              <a:t>Example:</a:t>
            </a:r>
            <a:br>
              <a:rPr lang="en-US" altLang="en-US" smtClean="0"/>
            </a:br>
            <a:r>
              <a:rPr lang="en-US" altLang="en-US" sz="2600" b="1" smtClean="0">
                <a:solidFill>
                  <a:srgbClr val="990033"/>
                </a:solidFill>
                <a:latin typeface="Courier New" panose="02070309020205020404" pitchFamily="49" charset="0"/>
              </a:rPr>
              <a:t>ALTER TABLE EMPLOYEE ADD JOB VARCHAR(12);</a:t>
            </a:r>
            <a:br>
              <a:rPr lang="en-US" altLang="en-US" sz="2600" b="1" smtClean="0">
                <a:solidFill>
                  <a:srgbClr val="990033"/>
                </a:solidFill>
                <a:latin typeface="Courier New" panose="02070309020205020404" pitchFamily="49" charset="0"/>
              </a:rPr>
            </a:br>
            <a:endParaRPr lang="en-US" altLang="en-US" sz="2600" b="1" smtClean="0">
              <a:solidFill>
                <a:srgbClr val="990033"/>
              </a:solidFill>
              <a:latin typeface="Courier New" panose="02070309020205020404" pitchFamily="49" charset="0"/>
            </a:endParaRPr>
          </a:p>
          <a:p>
            <a:pPr eaLnBrk="1" hangingPunct="1">
              <a:lnSpc>
                <a:spcPct val="80000"/>
              </a:lnSpc>
            </a:pPr>
            <a:r>
              <a:rPr lang="en-US" altLang="en-US" smtClean="0"/>
              <a:t>The database users must still enter a value for the new attribute JOB for each EMPLOYEE tuple.</a:t>
            </a:r>
          </a:p>
          <a:p>
            <a:pPr lvl="1" eaLnBrk="1" hangingPunct="1">
              <a:lnSpc>
                <a:spcPct val="80000"/>
              </a:lnSpc>
            </a:pPr>
            <a:r>
              <a:rPr lang="en-US" altLang="en-US" sz="2500" smtClean="0"/>
              <a:t>This can be done using the UPDATE command.</a:t>
            </a: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DC832423-FFB2-46D0-BC74-EF94B885BC17}" type="slidenum">
              <a:rPr lang="en-US" altLang="en-US" sz="1400" smtClean="0">
                <a:solidFill>
                  <a:srgbClr val="990033"/>
                </a:solidFill>
              </a:rPr>
              <a:pPr>
                <a:spcBef>
                  <a:spcPct val="0"/>
                </a:spcBef>
                <a:buClrTx/>
                <a:buSzTx/>
                <a:buFontTx/>
                <a:buNone/>
              </a:pPr>
              <a:t>8</a:t>
            </a:fld>
            <a:endParaRPr lang="en-CA" altLang="en-US" sz="1400" smtClean="0">
              <a:solidFill>
                <a:srgbClr val="990033"/>
              </a:solidFill>
            </a:endParaRPr>
          </a:p>
        </p:txBody>
      </p:sp>
      <p:sp>
        <p:nvSpPr>
          <p:cNvPr id="20483" name="Rectangle 4"/>
          <p:cNvSpPr>
            <a:spLocks noGrp="1" noChangeArrowheads="1"/>
          </p:cNvSpPr>
          <p:nvPr>
            <p:ph type="title"/>
          </p:nvPr>
        </p:nvSpPr>
        <p:spPr/>
        <p:txBody>
          <a:bodyPr/>
          <a:lstStyle/>
          <a:p>
            <a:pPr eaLnBrk="1" hangingPunct="1"/>
            <a:r>
              <a:rPr lang="en-US" altLang="en-US" smtClean="0"/>
              <a:t>Features Added in SQL2 and SQL-99</a:t>
            </a:r>
          </a:p>
        </p:txBody>
      </p:sp>
      <p:sp>
        <p:nvSpPr>
          <p:cNvPr id="20484" name="Rectangle 5"/>
          <p:cNvSpPr>
            <a:spLocks noGrp="1" noChangeArrowheads="1"/>
          </p:cNvSpPr>
          <p:nvPr>
            <p:ph type="body" idx="1"/>
          </p:nvPr>
        </p:nvSpPr>
        <p:spPr/>
        <p:txBody>
          <a:bodyPr/>
          <a:lstStyle/>
          <a:p>
            <a:pPr eaLnBrk="1" hangingPunct="1"/>
            <a:r>
              <a:rPr lang="en-US" altLang="en-US" smtClean="0"/>
              <a:t>Create schema</a:t>
            </a:r>
          </a:p>
          <a:p>
            <a:pPr eaLnBrk="1" hangingPunct="1"/>
            <a:r>
              <a:rPr lang="en-US" altLang="en-US" smtClean="0"/>
              <a:t>Referential integrity options</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D43FDA6B-EF75-4FB7-9A1D-096746E4A75F}" type="slidenum">
              <a:rPr lang="en-US" altLang="en-US" sz="1400" smtClean="0">
                <a:solidFill>
                  <a:srgbClr val="990033"/>
                </a:solidFill>
              </a:rPr>
              <a:pPr>
                <a:spcBef>
                  <a:spcPct val="0"/>
                </a:spcBef>
                <a:buClrTx/>
                <a:buSzTx/>
                <a:buFontTx/>
                <a:buNone/>
              </a:pPr>
              <a:t>9</a:t>
            </a:fld>
            <a:endParaRPr lang="en-CA" altLang="en-US" sz="1400" smtClean="0">
              <a:solidFill>
                <a:srgbClr val="990033"/>
              </a:solidFill>
            </a:endParaRPr>
          </a:p>
        </p:txBody>
      </p:sp>
      <p:sp>
        <p:nvSpPr>
          <p:cNvPr id="22531" name="Rectangle 4"/>
          <p:cNvSpPr>
            <a:spLocks noGrp="1" noChangeArrowheads="1"/>
          </p:cNvSpPr>
          <p:nvPr>
            <p:ph type="title"/>
          </p:nvPr>
        </p:nvSpPr>
        <p:spPr/>
        <p:txBody>
          <a:bodyPr/>
          <a:lstStyle/>
          <a:p>
            <a:pPr eaLnBrk="1" hangingPunct="1"/>
            <a:r>
              <a:rPr lang="en-US" altLang="en-US" smtClean="0"/>
              <a:t>CREATE SCHEMA</a:t>
            </a:r>
          </a:p>
        </p:txBody>
      </p:sp>
      <p:sp>
        <p:nvSpPr>
          <p:cNvPr id="22532" name="Rectangle 5"/>
          <p:cNvSpPr>
            <a:spLocks noGrp="1" noChangeArrowheads="1"/>
          </p:cNvSpPr>
          <p:nvPr>
            <p:ph type="body" idx="1"/>
          </p:nvPr>
        </p:nvSpPr>
        <p:spPr/>
        <p:txBody>
          <a:bodyPr/>
          <a:lstStyle/>
          <a:p>
            <a:pPr eaLnBrk="1" hangingPunct="1"/>
            <a:r>
              <a:rPr lang="en-US" altLang="en-US" smtClean="0"/>
              <a:t>Specifies a new database schema by giving it a name</a:t>
            </a: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B2C85909-DEFC-480E-A130-F12B9F0CE801}" type="slidenum">
              <a:rPr lang="en-US" altLang="en-US" sz="1400" smtClean="0">
                <a:solidFill>
                  <a:srgbClr val="990033"/>
                </a:solidFill>
              </a:rPr>
              <a:pPr>
                <a:spcBef>
                  <a:spcPct val="0"/>
                </a:spcBef>
                <a:buClrTx/>
                <a:buSzTx/>
                <a:buFontTx/>
                <a:buNone/>
              </a:pPr>
              <a:t>10</a:t>
            </a:fld>
            <a:endParaRPr lang="en-CA" altLang="en-US" sz="1400" smtClean="0">
              <a:solidFill>
                <a:srgbClr val="990033"/>
              </a:solidFill>
            </a:endParaRPr>
          </a:p>
        </p:txBody>
      </p:sp>
      <p:sp>
        <p:nvSpPr>
          <p:cNvPr id="24579" name="Rectangle 4"/>
          <p:cNvSpPr>
            <a:spLocks noGrp="1" noChangeArrowheads="1"/>
          </p:cNvSpPr>
          <p:nvPr>
            <p:ph type="title"/>
          </p:nvPr>
        </p:nvSpPr>
        <p:spPr/>
        <p:txBody>
          <a:bodyPr/>
          <a:lstStyle/>
          <a:p>
            <a:pPr eaLnBrk="1" hangingPunct="1"/>
            <a:r>
              <a:rPr lang="en-US" altLang="en-US" smtClean="0"/>
              <a:t>REFERENTIAL INTEGRITY OPTIONS</a:t>
            </a:r>
          </a:p>
        </p:txBody>
      </p:sp>
      <p:sp>
        <p:nvSpPr>
          <p:cNvPr id="24580" name="Rectangle 5"/>
          <p:cNvSpPr>
            <a:spLocks noGrp="1" noChangeArrowheads="1"/>
          </p:cNvSpPr>
          <p:nvPr>
            <p:ph type="body" idx="1"/>
          </p:nvPr>
        </p:nvSpPr>
        <p:spPr/>
        <p:txBody>
          <a:bodyPr/>
          <a:lstStyle/>
          <a:p>
            <a:pPr eaLnBrk="1" hangingPunct="1">
              <a:lnSpc>
                <a:spcPct val="90000"/>
              </a:lnSpc>
            </a:pPr>
            <a:r>
              <a:rPr lang="en-US" altLang="en-US" sz="2300" smtClean="0"/>
              <a:t>We can specify RESTRICT, CASCADE, SET NULL or SET DEFAULT on referential integrity constraints (foreign keys)</a:t>
            </a:r>
          </a:p>
          <a:p>
            <a:pPr lvl="1" eaLnBrk="1" hangingPunct="1">
              <a:lnSpc>
                <a:spcPct val="90000"/>
              </a:lnSpc>
              <a:buFont typeface="Wingdings" panose="05000000000000000000" pitchFamily="2" charset="2"/>
              <a:buNone/>
            </a:pPr>
            <a:r>
              <a:rPr lang="en-US" altLang="en-US" b="1" smtClean="0">
                <a:solidFill>
                  <a:srgbClr val="990033"/>
                </a:solidFill>
                <a:latin typeface="Courier New" panose="02070309020205020404" pitchFamily="49" charset="0"/>
              </a:rPr>
              <a:t>CREATE TABLE DEPT (</a:t>
            </a:r>
            <a:br>
              <a:rPr lang="en-US" altLang="en-US" b="1" smtClean="0">
                <a:solidFill>
                  <a:srgbClr val="990033"/>
                </a:solidFill>
                <a:latin typeface="Courier New" panose="02070309020205020404" pitchFamily="49" charset="0"/>
              </a:rPr>
            </a:br>
            <a:r>
              <a:rPr lang="en-US" altLang="en-US" b="1" smtClean="0">
                <a:solidFill>
                  <a:srgbClr val="990033"/>
                </a:solidFill>
                <a:latin typeface="Courier New" panose="02070309020205020404" pitchFamily="49" charset="0"/>
              </a:rPr>
              <a:t> DNAME		VARCHAR(10)	NOT NULL,</a:t>
            </a:r>
            <a:br>
              <a:rPr lang="en-US" altLang="en-US" b="1" smtClean="0">
                <a:solidFill>
                  <a:srgbClr val="990033"/>
                </a:solidFill>
                <a:latin typeface="Courier New" panose="02070309020205020404" pitchFamily="49" charset="0"/>
              </a:rPr>
            </a:br>
            <a:r>
              <a:rPr lang="en-US" altLang="en-US" b="1" smtClean="0">
                <a:solidFill>
                  <a:srgbClr val="990033"/>
                </a:solidFill>
                <a:latin typeface="Courier New" panose="02070309020205020404" pitchFamily="49" charset="0"/>
              </a:rPr>
              <a:t>	DNUMBER		INTEGER		NOT NULL,</a:t>
            </a:r>
            <a:br>
              <a:rPr lang="en-US" altLang="en-US" b="1" smtClean="0">
                <a:solidFill>
                  <a:srgbClr val="990033"/>
                </a:solidFill>
                <a:latin typeface="Courier New" panose="02070309020205020404" pitchFamily="49" charset="0"/>
              </a:rPr>
            </a:br>
            <a:r>
              <a:rPr lang="en-US" altLang="en-US" b="1" smtClean="0">
                <a:solidFill>
                  <a:srgbClr val="990033"/>
                </a:solidFill>
                <a:latin typeface="Courier New" panose="02070309020205020404" pitchFamily="49" charset="0"/>
              </a:rPr>
              <a:t>	MGRSSN		CHAR(9),</a:t>
            </a:r>
            <a:br>
              <a:rPr lang="en-US" altLang="en-US" b="1" smtClean="0">
                <a:solidFill>
                  <a:srgbClr val="990033"/>
                </a:solidFill>
                <a:latin typeface="Courier New" panose="02070309020205020404" pitchFamily="49" charset="0"/>
              </a:rPr>
            </a:br>
            <a:r>
              <a:rPr lang="en-US" altLang="en-US" b="1" smtClean="0">
                <a:solidFill>
                  <a:srgbClr val="990033"/>
                </a:solidFill>
                <a:latin typeface="Courier New" panose="02070309020205020404" pitchFamily="49" charset="0"/>
              </a:rPr>
              <a:t>	MGRSTARTDATE	CHAR(9),</a:t>
            </a:r>
            <a:br>
              <a:rPr lang="en-US" altLang="en-US" b="1" smtClean="0">
                <a:solidFill>
                  <a:srgbClr val="990033"/>
                </a:solidFill>
                <a:latin typeface="Courier New" panose="02070309020205020404" pitchFamily="49" charset="0"/>
              </a:rPr>
            </a:br>
            <a:r>
              <a:rPr lang="en-US" altLang="en-US" b="1" smtClean="0">
                <a:solidFill>
                  <a:srgbClr val="990033"/>
                </a:solidFill>
                <a:latin typeface="Courier New" panose="02070309020205020404" pitchFamily="49" charset="0"/>
              </a:rPr>
              <a:t>	PRIMARY KEY (DNUMBER),</a:t>
            </a:r>
            <a:br>
              <a:rPr lang="en-US" altLang="en-US" b="1" smtClean="0">
                <a:solidFill>
                  <a:srgbClr val="990033"/>
                </a:solidFill>
                <a:latin typeface="Courier New" panose="02070309020205020404" pitchFamily="49" charset="0"/>
              </a:rPr>
            </a:br>
            <a:r>
              <a:rPr lang="en-US" altLang="en-US" b="1" smtClean="0">
                <a:solidFill>
                  <a:srgbClr val="990033"/>
                </a:solidFill>
                <a:latin typeface="Courier New" panose="02070309020205020404" pitchFamily="49" charset="0"/>
              </a:rPr>
              <a:t>	UNIQUE (DNAME),</a:t>
            </a:r>
            <a:br>
              <a:rPr lang="en-US" altLang="en-US" b="1" smtClean="0">
                <a:solidFill>
                  <a:srgbClr val="990033"/>
                </a:solidFill>
                <a:latin typeface="Courier New" panose="02070309020205020404" pitchFamily="49" charset="0"/>
              </a:rPr>
            </a:br>
            <a:r>
              <a:rPr lang="en-US" altLang="en-US" b="1" smtClean="0">
                <a:solidFill>
                  <a:srgbClr val="990033"/>
                </a:solidFill>
                <a:latin typeface="Courier New" panose="02070309020205020404" pitchFamily="49" charset="0"/>
              </a:rPr>
              <a:t>	FOREIGN KEY (MGRSSN) REFERENCES EMP</a:t>
            </a:r>
            <a:br>
              <a:rPr lang="en-US" altLang="en-US" b="1" smtClean="0">
                <a:solidFill>
                  <a:srgbClr val="990033"/>
                </a:solidFill>
                <a:latin typeface="Courier New" panose="02070309020205020404" pitchFamily="49" charset="0"/>
              </a:rPr>
            </a:br>
            <a:r>
              <a:rPr lang="en-US" altLang="en-US" b="1" smtClean="0">
                <a:solidFill>
                  <a:srgbClr val="990033"/>
                </a:solidFill>
                <a:latin typeface="Courier New" panose="02070309020205020404" pitchFamily="49" charset="0"/>
              </a:rPr>
              <a:t>ON DELETE SET DEFAULT ON UPDATE CASCADE);</a:t>
            </a: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DEE78011-4193-42A7-8812-EC3F5F4BABE2}" type="slidenum">
              <a:rPr lang="en-US" altLang="en-US" sz="1400" smtClean="0">
                <a:solidFill>
                  <a:srgbClr val="990033"/>
                </a:solidFill>
              </a:rPr>
              <a:pPr>
                <a:spcBef>
                  <a:spcPct val="0"/>
                </a:spcBef>
                <a:buClrTx/>
                <a:buSzTx/>
                <a:buFontTx/>
                <a:buNone/>
              </a:pPr>
              <a:t>11</a:t>
            </a:fld>
            <a:endParaRPr lang="en-CA" altLang="en-US" sz="1400" smtClean="0">
              <a:solidFill>
                <a:srgbClr val="990033"/>
              </a:solidFill>
            </a:endParaRPr>
          </a:p>
        </p:txBody>
      </p:sp>
      <p:sp>
        <p:nvSpPr>
          <p:cNvPr id="26627" name="Rectangle 4"/>
          <p:cNvSpPr>
            <a:spLocks noGrp="1" noChangeArrowheads="1"/>
          </p:cNvSpPr>
          <p:nvPr>
            <p:ph type="title"/>
          </p:nvPr>
        </p:nvSpPr>
        <p:spPr/>
        <p:txBody>
          <a:bodyPr/>
          <a:lstStyle/>
          <a:p>
            <a:pPr eaLnBrk="1" hangingPunct="1"/>
            <a:r>
              <a:rPr lang="en-US" altLang="en-US" smtClean="0"/>
              <a:t>REFERENTIAL INTEGRITY OPTIONS (continued)</a:t>
            </a:r>
          </a:p>
        </p:txBody>
      </p:sp>
      <p:sp>
        <p:nvSpPr>
          <p:cNvPr id="26628" name="Rectangle 5"/>
          <p:cNvSpPr>
            <a:spLocks noGrp="1" noChangeArrowheads="1"/>
          </p:cNvSpPr>
          <p:nvPr>
            <p:ph type="body" idx="1"/>
          </p:nvPr>
        </p:nvSpPr>
        <p:spPr/>
        <p:txBody>
          <a:bodyPr/>
          <a:lstStyle/>
          <a:p>
            <a:pPr lvl="1" eaLnBrk="1" hangingPunct="1">
              <a:lnSpc>
                <a:spcPct val="90000"/>
              </a:lnSpc>
              <a:buFont typeface="Wingdings" panose="05000000000000000000" pitchFamily="2" charset="2"/>
              <a:buNone/>
            </a:pPr>
            <a:r>
              <a:rPr lang="en-US" altLang="en-US" sz="2500" b="1" smtClean="0">
                <a:solidFill>
                  <a:srgbClr val="990033"/>
                </a:solidFill>
                <a:latin typeface="Courier New" panose="02070309020205020404" pitchFamily="49" charset="0"/>
              </a:rPr>
              <a:t>CREATE TABLE EMP(</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ENAME		VARCHAR(30)	NOT NULL,</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ESSN		CHAR(9),</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BDATE		DATE,</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DNO		INTEGER  DEFAULT 1,</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SUPERSSN	CHAR(9),</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PRIMARY KEY (ESSN),</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FOREIGN KEY (DNO) REFERENCES DEPT</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	ON DELETE SET DEFAULT ON UPDATE  CASCADE,</a:t>
            </a:r>
            <a:br>
              <a:rPr lang="en-US" altLang="en-US" sz="2500" b="1" smtClean="0">
                <a:solidFill>
                  <a:srgbClr val="990033"/>
                </a:solidFill>
                <a:latin typeface="Courier New" panose="02070309020205020404" pitchFamily="49" charset="0"/>
              </a:rPr>
            </a:br>
            <a:r>
              <a:rPr lang="en-US" altLang="en-US" sz="2500" b="1" smtClean="0">
                <a:solidFill>
                  <a:srgbClr val="990033"/>
                </a:solidFill>
                <a:latin typeface="Courier New" panose="02070309020205020404" pitchFamily="49" charset="0"/>
              </a:rPr>
              <a:t>FOREIGN KEY (SUPERSSN) REFERENCES EMP ON DELETE SET NULL ON UPDATE CASCADE);</a:t>
            </a: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D6E5143E-665C-4EE1-B4C5-3C4D486594D5}" type="slidenum">
              <a:rPr lang="en-US" altLang="en-US" sz="1400" smtClean="0">
                <a:solidFill>
                  <a:srgbClr val="990033"/>
                </a:solidFill>
              </a:rPr>
              <a:pPr>
                <a:spcBef>
                  <a:spcPct val="0"/>
                </a:spcBef>
                <a:buClrTx/>
                <a:buSzTx/>
                <a:buFontTx/>
                <a:buNone/>
              </a:pPr>
              <a:t>12</a:t>
            </a:fld>
            <a:endParaRPr lang="en-CA" altLang="en-US" sz="1400" smtClean="0">
              <a:solidFill>
                <a:srgbClr val="990033"/>
              </a:solidFill>
            </a:endParaRPr>
          </a:p>
        </p:txBody>
      </p:sp>
      <p:sp>
        <p:nvSpPr>
          <p:cNvPr id="28675" name="Rectangle 8"/>
          <p:cNvSpPr>
            <a:spLocks noGrp="1" noChangeArrowheads="1"/>
          </p:cNvSpPr>
          <p:nvPr>
            <p:ph type="title"/>
          </p:nvPr>
        </p:nvSpPr>
        <p:spPr/>
        <p:txBody>
          <a:bodyPr/>
          <a:lstStyle/>
          <a:p>
            <a:pPr eaLnBrk="1" hangingPunct="1"/>
            <a:r>
              <a:rPr lang="en-US" altLang="en-US" smtClean="0"/>
              <a:t>Additional Data Types in SQL2 and SQL-99</a:t>
            </a:r>
          </a:p>
        </p:txBody>
      </p:sp>
      <p:sp>
        <p:nvSpPr>
          <p:cNvPr id="28676" name="Rectangle 9"/>
          <p:cNvSpPr>
            <a:spLocks noGrp="1" noChangeArrowheads="1"/>
          </p:cNvSpPr>
          <p:nvPr>
            <p:ph type="body" idx="1"/>
          </p:nvPr>
        </p:nvSpPr>
        <p:spPr/>
        <p:txBody>
          <a:bodyPr/>
          <a:lstStyle/>
          <a:p>
            <a:pPr eaLnBrk="1" hangingPunct="1">
              <a:buFont typeface="Wingdings" panose="05000000000000000000" pitchFamily="2" charset="2"/>
              <a:buNone/>
            </a:pPr>
            <a:r>
              <a:rPr lang="en-US" altLang="en-US" sz="2400" smtClean="0"/>
              <a:t>Has DATE, TIME, and TIMESTAMP data types</a:t>
            </a:r>
          </a:p>
          <a:p>
            <a:pPr eaLnBrk="1" hangingPunct="1"/>
            <a:r>
              <a:rPr lang="en-US" altLang="en-US" sz="2400" b="1" smtClean="0"/>
              <a:t>DATE:</a:t>
            </a:r>
          </a:p>
          <a:p>
            <a:pPr lvl="1" eaLnBrk="1" hangingPunct="1"/>
            <a:r>
              <a:rPr lang="en-US" altLang="en-US" sz="2200" smtClean="0"/>
              <a:t>Made up of year-month-day in the format yyyy-mm-dd</a:t>
            </a:r>
          </a:p>
          <a:p>
            <a:pPr eaLnBrk="1" hangingPunct="1"/>
            <a:r>
              <a:rPr lang="en-US" altLang="en-US" sz="2400" b="1" smtClean="0"/>
              <a:t>TIME:</a:t>
            </a:r>
          </a:p>
          <a:p>
            <a:pPr lvl="1" eaLnBrk="1" hangingPunct="1"/>
            <a:r>
              <a:rPr lang="en-US" altLang="en-US" sz="2200" smtClean="0"/>
              <a:t>Made up of hour:minute:second in the format hh:mm:ss</a:t>
            </a:r>
          </a:p>
          <a:p>
            <a:pPr eaLnBrk="1" hangingPunct="1"/>
            <a:r>
              <a:rPr lang="en-US" altLang="en-US" sz="2400" b="1" smtClean="0"/>
              <a:t>TIME(i):</a:t>
            </a:r>
          </a:p>
          <a:p>
            <a:pPr lvl="1" eaLnBrk="1" hangingPunct="1"/>
            <a:r>
              <a:rPr lang="en-US" altLang="en-US" sz="2200" smtClean="0"/>
              <a:t>Made up of hour:minute:second plus i additional digits specifying fractions of a second</a:t>
            </a:r>
          </a:p>
          <a:p>
            <a:pPr lvl="1" eaLnBrk="1" hangingPunct="1"/>
            <a:r>
              <a:rPr lang="en-US" altLang="en-US" sz="2200" smtClean="0"/>
              <a:t>format is hh:mm:ss:ii...i</a:t>
            </a: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71B2D815-327B-4BBB-AB54-050587559B82}" type="slidenum">
              <a:rPr lang="en-US" altLang="en-US" sz="1400" smtClean="0">
                <a:solidFill>
                  <a:srgbClr val="990033"/>
                </a:solidFill>
              </a:rPr>
              <a:pPr>
                <a:spcBef>
                  <a:spcPct val="0"/>
                </a:spcBef>
                <a:buClrTx/>
                <a:buSzTx/>
                <a:buFontTx/>
                <a:buNone/>
              </a:pPr>
              <a:t>13</a:t>
            </a:fld>
            <a:endParaRPr lang="en-CA" altLang="en-US" sz="1400" smtClean="0">
              <a:solidFill>
                <a:srgbClr val="990033"/>
              </a:solidFill>
            </a:endParaRPr>
          </a:p>
        </p:txBody>
      </p:sp>
      <p:sp>
        <p:nvSpPr>
          <p:cNvPr id="30723" name="Rectangle 8"/>
          <p:cNvSpPr>
            <a:spLocks noGrp="1" noChangeArrowheads="1"/>
          </p:cNvSpPr>
          <p:nvPr>
            <p:ph type="title"/>
          </p:nvPr>
        </p:nvSpPr>
        <p:spPr/>
        <p:txBody>
          <a:bodyPr/>
          <a:lstStyle/>
          <a:p>
            <a:pPr eaLnBrk="1" hangingPunct="1"/>
            <a:r>
              <a:rPr lang="en-US" altLang="en-US" smtClean="0"/>
              <a:t>Additional Data Types in SQL2 and SQL-99 (contd.)</a:t>
            </a:r>
          </a:p>
        </p:txBody>
      </p:sp>
      <p:sp>
        <p:nvSpPr>
          <p:cNvPr id="30724" name="Rectangle 9"/>
          <p:cNvSpPr>
            <a:spLocks noGrp="1" noChangeArrowheads="1"/>
          </p:cNvSpPr>
          <p:nvPr>
            <p:ph type="body" idx="1"/>
          </p:nvPr>
        </p:nvSpPr>
        <p:spPr/>
        <p:txBody>
          <a:bodyPr/>
          <a:lstStyle/>
          <a:p>
            <a:pPr eaLnBrk="1" hangingPunct="1"/>
            <a:r>
              <a:rPr lang="en-US" altLang="en-US" b="1" smtClean="0"/>
              <a:t>TIMESTAMP:</a:t>
            </a:r>
          </a:p>
          <a:p>
            <a:pPr lvl="1" eaLnBrk="1" hangingPunct="1"/>
            <a:r>
              <a:rPr lang="en-US" altLang="en-US" smtClean="0"/>
              <a:t>Has both DATE and TIME components</a:t>
            </a:r>
          </a:p>
          <a:p>
            <a:pPr eaLnBrk="1" hangingPunct="1"/>
            <a:r>
              <a:rPr lang="en-US" altLang="en-US" b="1" smtClean="0"/>
              <a:t>INTERVAL:</a:t>
            </a:r>
          </a:p>
          <a:p>
            <a:pPr lvl="1" eaLnBrk="1" hangingPunct="1"/>
            <a:r>
              <a:rPr lang="en-US" altLang="en-US" smtClean="0"/>
              <a:t>Specifies a relative value rather than an absolute value</a:t>
            </a:r>
          </a:p>
          <a:p>
            <a:pPr lvl="1" eaLnBrk="1" hangingPunct="1"/>
            <a:r>
              <a:rPr lang="en-US" altLang="en-US" smtClean="0"/>
              <a:t>Can be DAY/TIME intervals or YEAR/MONTH intervals</a:t>
            </a:r>
          </a:p>
          <a:p>
            <a:pPr lvl="1" eaLnBrk="1" hangingPunct="1"/>
            <a:r>
              <a:rPr lang="en-US" altLang="en-US" smtClean="0"/>
              <a:t>Can be positive or negative when added to or subtracted from an absolute value, the result is an absolute value</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D99BEBE-D638-4C97-AD7C-AD2CB10E194D}" type="slidenum">
              <a:rPr lang="en-US" altLang="en-US" sz="1400" smtClean="0">
                <a:solidFill>
                  <a:srgbClr val="990033"/>
                </a:solidFill>
              </a:rPr>
              <a:pPr>
                <a:spcBef>
                  <a:spcPct val="0"/>
                </a:spcBef>
                <a:buClrTx/>
                <a:buSzTx/>
                <a:buFontTx/>
                <a:buNone/>
              </a:pPr>
              <a:t>14</a:t>
            </a:fld>
            <a:endParaRPr lang="en-CA" altLang="en-US" sz="1400" smtClean="0">
              <a:solidFill>
                <a:srgbClr val="990033"/>
              </a:solidFill>
            </a:endParaRPr>
          </a:p>
        </p:txBody>
      </p:sp>
      <p:sp>
        <p:nvSpPr>
          <p:cNvPr id="32771" name="Rectangle 6"/>
          <p:cNvSpPr>
            <a:spLocks noGrp="1" noChangeArrowheads="1"/>
          </p:cNvSpPr>
          <p:nvPr>
            <p:ph type="title"/>
          </p:nvPr>
        </p:nvSpPr>
        <p:spPr/>
        <p:txBody>
          <a:bodyPr/>
          <a:lstStyle/>
          <a:p>
            <a:pPr eaLnBrk="1" hangingPunct="1"/>
            <a:r>
              <a:rPr lang="en-US" altLang="en-US" smtClean="0"/>
              <a:t>Retrieval Queries in SQL</a:t>
            </a:r>
          </a:p>
        </p:txBody>
      </p:sp>
      <p:sp>
        <p:nvSpPr>
          <p:cNvPr id="32772" name="Rectangle 7"/>
          <p:cNvSpPr>
            <a:spLocks noGrp="1" noChangeArrowheads="1"/>
          </p:cNvSpPr>
          <p:nvPr>
            <p:ph type="body" idx="1"/>
          </p:nvPr>
        </p:nvSpPr>
        <p:spPr/>
        <p:txBody>
          <a:bodyPr/>
          <a:lstStyle/>
          <a:p>
            <a:pPr eaLnBrk="1" hangingPunct="1">
              <a:lnSpc>
                <a:spcPct val="90000"/>
              </a:lnSpc>
            </a:pPr>
            <a:r>
              <a:rPr lang="en-US" altLang="en-US" sz="2400" smtClean="0"/>
              <a:t>SQL has one basic statement for retrieving information from a database; the </a:t>
            </a:r>
            <a:r>
              <a:rPr lang="en-US" altLang="en-US" sz="2400" b="1" smtClean="0"/>
              <a:t>SELECT</a:t>
            </a:r>
            <a:r>
              <a:rPr lang="en-US" altLang="en-US" sz="2400" smtClean="0"/>
              <a:t> statement</a:t>
            </a:r>
          </a:p>
          <a:p>
            <a:pPr lvl="1" eaLnBrk="1" hangingPunct="1">
              <a:lnSpc>
                <a:spcPct val="90000"/>
              </a:lnSpc>
            </a:pPr>
            <a:r>
              <a:rPr lang="en-US" altLang="en-US" sz="2200" smtClean="0"/>
              <a:t>This is </a:t>
            </a:r>
            <a:r>
              <a:rPr lang="en-US" altLang="en-US" sz="2200" i="1" smtClean="0"/>
              <a:t>not the same as</a:t>
            </a:r>
            <a:r>
              <a:rPr lang="en-US" altLang="en-US" sz="2200" smtClean="0"/>
              <a:t> the SELECT operation of the relational algebra</a:t>
            </a:r>
          </a:p>
          <a:p>
            <a:pPr eaLnBrk="1" hangingPunct="1">
              <a:lnSpc>
                <a:spcPct val="90000"/>
              </a:lnSpc>
            </a:pPr>
            <a:r>
              <a:rPr lang="en-US" altLang="en-US" sz="2400" smtClean="0"/>
              <a:t>Important distinction between SQL and the formal relational model:</a:t>
            </a:r>
          </a:p>
          <a:p>
            <a:pPr lvl="1" eaLnBrk="1" hangingPunct="1">
              <a:lnSpc>
                <a:spcPct val="90000"/>
              </a:lnSpc>
            </a:pPr>
            <a:r>
              <a:rPr lang="en-US" altLang="en-US" sz="2200" smtClean="0"/>
              <a:t>SQL allows a table (relation) to have two or more tuples that are identical in all their attribute values</a:t>
            </a:r>
          </a:p>
          <a:p>
            <a:pPr lvl="1" eaLnBrk="1" hangingPunct="1">
              <a:lnSpc>
                <a:spcPct val="90000"/>
              </a:lnSpc>
            </a:pPr>
            <a:r>
              <a:rPr lang="en-US" altLang="en-US" sz="2200" smtClean="0"/>
              <a:t>Hence, an SQL relation (table) is  a </a:t>
            </a:r>
            <a:r>
              <a:rPr lang="en-US" altLang="en-US" sz="2200" b="1" smtClean="0"/>
              <a:t>multi-set</a:t>
            </a:r>
            <a:r>
              <a:rPr lang="en-US" altLang="en-US" sz="2200" smtClean="0"/>
              <a:t>  (sometimes called a </a:t>
            </a:r>
            <a:r>
              <a:rPr lang="en-US" altLang="en-US" sz="2200" b="1" smtClean="0"/>
              <a:t>bag</a:t>
            </a:r>
            <a:r>
              <a:rPr lang="en-US" altLang="en-US" sz="2200" smtClean="0"/>
              <a:t>) of tuples; it is </a:t>
            </a:r>
            <a:r>
              <a:rPr lang="en-US" altLang="en-US" sz="2200" i="1" smtClean="0"/>
              <a:t>not</a:t>
            </a:r>
            <a:r>
              <a:rPr lang="en-US" altLang="en-US" sz="2200" smtClean="0"/>
              <a:t>  a set of tuples</a:t>
            </a:r>
          </a:p>
          <a:p>
            <a:pPr eaLnBrk="1" hangingPunct="1">
              <a:lnSpc>
                <a:spcPct val="90000"/>
              </a:lnSpc>
            </a:pPr>
            <a:r>
              <a:rPr lang="en-US" altLang="en-US" sz="2400" smtClean="0"/>
              <a:t>SQL relations can be constrained to be sets by specifying PRIMARY KEY or UNIQUE attributes, or by using the DISTINCT option in a query</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33F27865-B4FA-4A83-94DC-6B3F62760DAB}" type="slidenum">
              <a:rPr lang="en-US" altLang="en-US" sz="1400" smtClean="0">
                <a:solidFill>
                  <a:srgbClr val="990033"/>
                </a:solidFill>
              </a:rPr>
              <a:pPr>
                <a:spcBef>
                  <a:spcPct val="0"/>
                </a:spcBef>
                <a:buClrTx/>
                <a:buSzTx/>
                <a:buFontTx/>
                <a:buNone/>
              </a:pPr>
              <a:t>15</a:t>
            </a:fld>
            <a:endParaRPr lang="en-CA" altLang="en-US" sz="1400" smtClean="0">
              <a:solidFill>
                <a:srgbClr val="990033"/>
              </a:solidFill>
            </a:endParaRPr>
          </a:p>
        </p:txBody>
      </p:sp>
      <p:sp>
        <p:nvSpPr>
          <p:cNvPr id="34819" name="Rectangle 2"/>
          <p:cNvSpPr>
            <a:spLocks noGrp="1" noChangeArrowheads="1"/>
          </p:cNvSpPr>
          <p:nvPr>
            <p:ph type="title"/>
          </p:nvPr>
        </p:nvSpPr>
        <p:spPr/>
        <p:txBody>
          <a:bodyPr/>
          <a:lstStyle/>
          <a:p>
            <a:pPr eaLnBrk="1" hangingPunct="1"/>
            <a:r>
              <a:rPr lang="en-US" altLang="en-US" smtClean="0"/>
              <a:t>Retrieval Queries in SQL (contd.)</a:t>
            </a:r>
          </a:p>
        </p:txBody>
      </p:sp>
      <p:sp>
        <p:nvSpPr>
          <p:cNvPr id="34820" name="Rectangle 3"/>
          <p:cNvSpPr>
            <a:spLocks noGrp="1" noChangeArrowheads="1"/>
          </p:cNvSpPr>
          <p:nvPr>
            <p:ph type="body" idx="1"/>
          </p:nvPr>
        </p:nvSpPr>
        <p:spPr/>
        <p:txBody>
          <a:bodyPr/>
          <a:lstStyle/>
          <a:p>
            <a:pPr eaLnBrk="1" hangingPunct="1"/>
            <a:r>
              <a:rPr lang="en-US" altLang="en-US" smtClean="0"/>
              <a:t>A </a:t>
            </a:r>
            <a:r>
              <a:rPr lang="en-US" altLang="en-US" b="1" smtClean="0"/>
              <a:t>bag</a:t>
            </a:r>
            <a:r>
              <a:rPr lang="en-US" altLang="en-US" smtClean="0"/>
              <a:t> or </a:t>
            </a:r>
            <a:r>
              <a:rPr lang="en-US" altLang="en-US" b="1" smtClean="0"/>
              <a:t>multi-set</a:t>
            </a:r>
            <a:r>
              <a:rPr lang="en-US" altLang="en-US" smtClean="0"/>
              <a:t> is like a set, but an element may appear more than once.</a:t>
            </a:r>
          </a:p>
          <a:p>
            <a:pPr lvl="1" eaLnBrk="1" hangingPunct="1"/>
            <a:r>
              <a:rPr lang="en-US" altLang="en-US" smtClean="0"/>
              <a:t>Example: {A, B, C, A} is a bag.  {A, B, C} is also a bag that also is a set.</a:t>
            </a:r>
          </a:p>
          <a:p>
            <a:pPr lvl="1" eaLnBrk="1" hangingPunct="1"/>
            <a:r>
              <a:rPr lang="en-US" altLang="en-US" smtClean="0"/>
              <a:t>Bags also resemble lists, but the order is irrelevant in a bag.</a:t>
            </a:r>
          </a:p>
          <a:p>
            <a:pPr eaLnBrk="1" hangingPunct="1"/>
            <a:r>
              <a:rPr lang="en-US" altLang="en-US" smtClean="0"/>
              <a:t>Example:</a:t>
            </a:r>
          </a:p>
          <a:p>
            <a:pPr lvl="1" eaLnBrk="1" hangingPunct="1"/>
            <a:r>
              <a:rPr lang="en-US" altLang="en-US" smtClean="0"/>
              <a:t>{A, B, A} = {B, A, A} as bags</a:t>
            </a:r>
          </a:p>
          <a:p>
            <a:pPr lvl="1" eaLnBrk="1" hangingPunct="1"/>
            <a:r>
              <a:rPr lang="en-US" altLang="en-US" smtClean="0"/>
              <a:t>However, [A, B, A] is not equal to [B, A, A] as lists</a:t>
            </a: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CE3B018D-466F-4994-842A-09CE90708380}" type="slidenum">
              <a:rPr lang="en-US" altLang="en-US" sz="1400" smtClean="0">
                <a:solidFill>
                  <a:srgbClr val="990033"/>
                </a:solidFill>
              </a:rPr>
              <a:pPr>
                <a:spcBef>
                  <a:spcPct val="0"/>
                </a:spcBef>
                <a:buClrTx/>
                <a:buSzTx/>
                <a:buFontTx/>
                <a:buNone/>
              </a:pPr>
              <a:t>16</a:t>
            </a:fld>
            <a:endParaRPr lang="en-CA" altLang="en-US" sz="1400" smtClean="0">
              <a:solidFill>
                <a:srgbClr val="990033"/>
              </a:solidFill>
            </a:endParaRPr>
          </a:p>
        </p:txBody>
      </p:sp>
      <p:sp>
        <p:nvSpPr>
          <p:cNvPr id="36867" name="Rectangle 6"/>
          <p:cNvSpPr>
            <a:spLocks noGrp="1" noChangeArrowheads="1"/>
          </p:cNvSpPr>
          <p:nvPr>
            <p:ph type="title"/>
          </p:nvPr>
        </p:nvSpPr>
        <p:spPr/>
        <p:txBody>
          <a:bodyPr/>
          <a:lstStyle/>
          <a:p>
            <a:pPr eaLnBrk="1" hangingPunct="1"/>
            <a:r>
              <a:rPr lang="en-US" altLang="en-US" smtClean="0"/>
              <a:t>Retrieval Queries in SQL (contd.)</a:t>
            </a:r>
          </a:p>
        </p:txBody>
      </p:sp>
      <p:sp>
        <p:nvSpPr>
          <p:cNvPr id="36868" name="Rectangle 7"/>
          <p:cNvSpPr>
            <a:spLocks noGrp="1" noChangeArrowheads="1"/>
          </p:cNvSpPr>
          <p:nvPr>
            <p:ph type="body" idx="1"/>
          </p:nvPr>
        </p:nvSpPr>
        <p:spPr/>
        <p:txBody>
          <a:bodyPr/>
          <a:lstStyle/>
          <a:p>
            <a:pPr eaLnBrk="1" hangingPunct="1">
              <a:lnSpc>
                <a:spcPct val="80000"/>
              </a:lnSpc>
            </a:pPr>
            <a:r>
              <a:rPr lang="en-US" altLang="en-US" sz="2400" smtClean="0"/>
              <a:t>Basic form of the SQL SELECT statement is called a </a:t>
            </a:r>
            <a:r>
              <a:rPr lang="en-US" altLang="en-US" sz="2400" i="1" smtClean="0"/>
              <a:t>mapping</a:t>
            </a:r>
            <a:r>
              <a:rPr lang="en-US" altLang="en-US" sz="2400" smtClean="0"/>
              <a:t> or a SELECT-FROM-WHERE </a:t>
            </a:r>
            <a:r>
              <a:rPr lang="en-US" altLang="en-US" sz="2400" i="1" smtClean="0"/>
              <a:t>block</a:t>
            </a:r>
            <a:r>
              <a:rPr lang="en-US" altLang="en-US" sz="2400" smtClean="0"/>
              <a:t/>
            </a:r>
            <a:br>
              <a:rPr lang="en-US" altLang="en-US" sz="2400" smtClean="0"/>
            </a:br>
            <a:r>
              <a:rPr lang="en-US" altLang="en-US" sz="2400" smtClean="0"/>
              <a:t>	</a:t>
            </a:r>
          </a:p>
          <a:p>
            <a:pPr eaLnBrk="1" hangingPunct="1">
              <a:lnSpc>
                <a:spcPct val="80000"/>
              </a:lnSpc>
              <a:buFont typeface="Wingdings" panose="05000000000000000000" pitchFamily="2" charset="2"/>
              <a:buNone/>
            </a:pPr>
            <a:r>
              <a:rPr lang="en-US" altLang="en-US" sz="2400" b="1" smtClean="0"/>
              <a:t>SELECT</a:t>
            </a:r>
            <a:r>
              <a:rPr lang="en-US" altLang="en-US" sz="2400" smtClean="0"/>
              <a:t> 	&lt;attribute list&gt;</a:t>
            </a:r>
          </a:p>
          <a:p>
            <a:pPr eaLnBrk="1" hangingPunct="1">
              <a:lnSpc>
                <a:spcPct val="80000"/>
              </a:lnSpc>
              <a:buFont typeface="Wingdings" panose="05000000000000000000" pitchFamily="2" charset="2"/>
              <a:buNone/>
            </a:pPr>
            <a:r>
              <a:rPr lang="en-US" altLang="en-US" sz="2400" smtClean="0"/>
              <a:t>	</a:t>
            </a:r>
            <a:r>
              <a:rPr lang="en-US" altLang="en-US" sz="2400" b="1" smtClean="0"/>
              <a:t>FROM</a:t>
            </a:r>
            <a:r>
              <a:rPr lang="en-US" altLang="en-US" sz="2400" smtClean="0"/>
              <a:t> 	&lt;table list&gt;</a:t>
            </a:r>
          </a:p>
          <a:p>
            <a:pPr eaLnBrk="1" hangingPunct="1">
              <a:lnSpc>
                <a:spcPct val="80000"/>
              </a:lnSpc>
              <a:buFont typeface="Wingdings" panose="05000000000000000000" pitchFamily="2" charset="2"/>
              <a:buNone/>
            </a:pPr>
            <a:r>
              <a:rPr lang="en-US" altLang="en-US" sz="2400" smtClean="0"/>
              <a:t>	</a:t>
            </a:r>
            <a:r>
              <a:rPr lang="en-US" altLang="en-US" sz="2400" b="1" smtClean="0"/>
              <a:t>WHERE</a:t>
            </a:r>
            <a:r>
              <a:rPr lang="en-US" altLang="en-US" sz="2400" smtClean="0"/>
              <a:t>	&lt;condition&gt;</a:t>
            </a:r>
          </a:p>
          <a:p>
            <a:pPr lvl="1" eaLnBrk="1" hangingPunct="1">
              <a:lnSpc>
                <a:spcPct val="80000"/>
              </a:lnSpc>
            </a:pPr>
            <a:endParaRPr lang="en-US" altLang="en-US" sz="2200" smtClean="0"/>
          </a:p>
          <a:p>
            <a:pPr lvl="1" eaLnBrk="1" hangingPunct="1">
              <a:lnSpc>
                <a:spcPct val="80000"/>
              </a:lnSpc>
            </a:pPr>
            <a:r>
              <a:rPr lang="en-US" altLang="en-US" sz="2200" smtClean="0"/>
              <a:t>&lt;attribute list&gt; is a list of attribute names whose values are to be retrieved by the query</a:t>
            </a:r>
          </a:p>
          <a:p>
            <a:pPr lvl="1" eaLnBrk="1" hangingPunct="1">
              <a:lnSpc>
                <a:spcPct val="80000"/>
              </a:lnSpc>
            </a:pPr>
            <a:r>
              <a:rPr lang="en-US" altLang="en-US" sz="2200" smtClean="0"/>
              <a:t>&lt;table list&gt; is a list of the relation names required to process the query</a:t>
            </a:r>
          </a:p>
          <a:p>
            <a:pPr lvl="1" eaLnBrk="1" hangingPunct="1">
              <a:lnSpc>
                <a:spcPct val="80000"/>
              </a:lnSpc>
            </a:pPr>
            <a:r>
              <a:rPr lang="en-US" altLang="en-US" sz="2200" smtClean="0"/>
              <a:t>&lt;condition&gt; is a conditional (Boolean) expression that identifies the tuples to be retrieved by the query</a:t>
            </a: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DC9402B0-85B0-4F6B-9256-E99CBAABCCCF}" type="slidenum">
              <a:rPr lang="en-US" altLang="en-US" sz="1400" smtClean="0">
                <a:solidFill>
                  <a:srgbClr val="990033"/>
                </a:solidFill>
              </a:rPr>
              <a:pPr>
                <a:spcBef>
                  <a:spcPct val="0"/>
                </a:spcBef>
                <a:buClrTx/>
                <a:buSzTx/>
                <a:buFontTx/>
                <a:buNone/>
              </a:pPr>
              <a:t>17</a:t>
            </a:fld>
            <a:endParaRPr lang="en-CA" altLang="en-US" sz="1400" smtClean="0">
              <a:solidFill>
                <a:srgbClr val="990033"/>
              </a:solidFill>
            </a:endParaRPr>
          </a:p>
        </p:txBody>
      </p:sp>
      <p:sp>
        <p:nvSpPr>
          <p:cNvPr id="38915" name="Rectangle 7"/>
          <p:cNvSpPr>
            <a:spLocks noGrp="1" noChangeArrowheads="1"/>
          </p:cNvSpPr>
          <p:nvPr>
            <p:ph type="title"/>
          </p:nvPr>
        </p:nvSpPr>
        <p:spPr/>
        <p:txBody>
          <a:bodyPr/>
          <a:lstStyle/>
          <a:p>
            <a:pPr eaLnBrk="1" hangingPunct="1"/>
            <a:r>
              <a:rPr lang="en-US" altLang="en-US" sz="3200" smtClean="0"/>
              <a:t>Relational Database Schema--Figure 5.5  </a:t>
            </a:r>
          </a:p>
        </p:txBody>
      </p:sp>
      <p:pic>
        <p:nvPicPr>
          <p:cNvPr id="38916" name="Picture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730250" y="1598613"/>
            <a:ext cx="7575550" cy="4802187"/>
          </a:xfrm>
          <a:noFill/>
          <a:extLs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29B4FE9D-A9AA-4E7B-9617-D7B589DB93F7}" type="slidenum">
              <a:rPr lang="en-US" altLang="en-US" sz="1400" smtClean="0">
                <a:solidFill>
                  <a:srgbClr val="990033"/>
                </a:solidFill>
              </a:rPr>
              <a:pPr>
                <a:spcBef>
                  <a:spcPct val="0"/>
                </a:spcBef>
                <a:buClrTx/>
                <a:buSzTx/>
                <a:buFontTx/>
                <a:buNone/>
              </a:pPr>
              <a:t>18</a:t>
            </a:fld>
            <a:endParaRPr lang="en-CA" altLang="en-US" sz="1400" smtClean="0">
              <a:solidFill>
                <a:srgbClr val="990033"/>
              </a:solidFill>
            </a:endParaRPr>
          </a:p>
        </p:txBody>
      </p:sp>
      <p:sp>
        <p:nvSpPr>
          <p:cNvPr id="40963" name="Rectangle 7"/>
          <p:cNvSpPr>
            <a:spLocks noGrp="1" noChangeArrowheads="1"/>
          </p:cNvSpPr>
          <p:nvPr>
            <p:ph type="title"/>
          </p:nvPr>
        </p:nvSpPr>
        <p:spPr>
          <a:xfrm>
            <a:off x="228600" y="303213"/>
            <a:ext cx="7696200" cy="763587"/>
          </a:xfrm>
        </p:spPr>
        <p:txBody>
          <a:bodyPr anchor="t"/>
          <a:lstStyle/>
          <a:p>
            <a:pPr eaLnBrk="1" hangingPunct="1"/>
            <a:r>
              <a:rPr lang="en-US" altLang="en-US" sz="3200" smtClean="0"/>
              <a:t>Populated Database--Fig.5.6</a:t>
            </a:r>
          </a:p>
        </p:txBody>
      </p:sp>
      <p:pic>
        <p:nvPicPr>
          <p:cNvPr id="40964" name="Picture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2362200" y="1600200"/>
            <a:ext cx="4832350" cy="4876800"/>
          </a:xfrm>
          <a:noFill/>
          <a:extLs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691C1CF-EBD4-4354-83E4-331173E5262B}" type="slidenum">
              <a:rPr lang="en-US" altLang="en-US" sz="1400" smtClean="0">
                <a:solidFill>
                  <a:srgbClr val="990033"/>
                </a:solidFill>
              </a:rPr>
              <a:pPr>
                <a:spcBef>
                  <a:spcPct val="0"/>
                </a:spcBef>
                <a:buClrTx/>
                <a:buSzTx/>
                <a:buFontTx/>
                <a:buNone/>
              </a:pPr>
              <a:t>19</a:t>
            </a:fld>
            <a:endParaRPr lang="en-CA" altLang="en-US" sz="1400" smtClean="0">
              <a:solidFill>
                <a:srgbClr val="990033"/>
              </a:solidFill>
            </a:endParaRPr>
          </a:p>
        </p:txBody>
      </p:sp>
      <p:sp>
        <p:nvSpPr>
          <p:cNvPr id="43011" name="Rectangle 6"/>
          <p:cNvSpPr>
            <a:spLocks noGrp="1" noChangeArrowheads="1"/>
          </p:cNvSpPr>
          <p:nvPr>
            <p:ph type="title"/>
          </p:nvPr>
        </p:nvSpPr>
        <p:spPr/>
        <p:txBody>
          <a:bodyPr/>
          <a:lstStyle/>
          <a:p>
            <a:pPr eaLnBrk="1" hangingPunct="1"/>
            <a:r>
              <a:rPr lang="en-US" altLang="en-US" smtClean="0"/>
              <a:t>Simple SQL Queries</a:t>
            </a:r>
          </a:p>
        </p:txBody>
      </p:sp>
      <p:sp>
        <p:nvSpPr>
          <p:cNvPr id="43012" name="Rectangle 7"/>
          <p:cNvSpPr>
            <a:spLocks noGrp="1" noChangeArrowheads="1"/>
          </p:cNvSpPr>
          <p:nvPr>
            <p:ph type="body" idx="1"/>
          </p:nvPr>
        </p:nvSpPr>
        <p:spPr/>
        <p:txBody>
          <a:bodyPr/>
          <a:lstStyle/>
          <a:p>
            <a:pPr eaLnBrk="1" hangingPunct="1"/>
            <a:r>
              <a:rPr lang="en-US" altLang="en-US" smtClean="0"/>
              <a:t>Basic SQL queries correspond to using the following operations of the relational algebra:</a:t>
            </a:r>
          </a:p>
          <a:p>
            <a:pPr lvl="1" eaLnBrk="1" hangingPunct="1"/>
            <a:r>
              <a:rPr lang="en-US" altLang="en-US" smtClean="0"/>
              <a:t>SELECT</a:t>
            </a:r>
          </a:p>
          <a:p>
            <a:pPr lvl="1" eaLnBrk="1" hangingPunct="1"/>
            <a:r>
              <a:rPr lang="en-US" altLang="en-US" smtClean="0"/>
              <a:t>PROJECT</a:t>
            </a:r>
          </a:p>
          <a:p>
            <a:pPr lvl="1" eaLnBrk="1" hangingPunct="1"/>
            <a:r>
              <a:rPr lang="en-US" altLang="en-US" smtClean="0"/>
              <a:t>JOIN</a:t>
            </a:r>
          </a:p>
          <a:p>
            <a:pPr eaLnBrk="1" hangingPunct="1"/>
            <a:r>
              <a:rPr lang="en-US" altLang="en-US" smtClean="0"/>
              <a:t>All subsequent examples use the COMPANY database</a:t>
            </a: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C4F5EB6C-6D1D-460C-81E3-7FB1437BCF5D}" type="slidenum">
              <a:rPr lang="en-US" altLang="en-US" sz="1400" smtClean="0">
                <a:solidFill>
                  <a:srgbClr val="990033"/>
                </a:solidFill>
              </a:rPr>
              <a:pPr>
                <a:spcBef>
                  <a:spcPct val="0"/>
                </a:spcBef>
                <a:buClrTx/>
                <a:buSzTx/>
                <a:buFontTx/>
                <a:buNone/>
              </a:pPr>
              <a:t>20</a:t>
            </a:fld>
            <a:endParaRPr lang="en-CA" altLang="en-US" sz="1400" smtClean="0">
              <a:solidFill>
                <a:srgbClr val="990033"/>
              </a:solidFill>
            </a:endParaRPr>
          </a:p>
        </p:txBody>
      </p:sp>
      <p:sp>
        <p:nvSpPr>
          <p:cNvPr id="45059" name="Rectangle 2"/>
          <p:cNvSpPr>
            <a:spLocks noGrp="1" noChangeArrowheads="1"/>
          </p:cNvSpPr>
          <p:nvPr>
            <p:ph type="title"/>
          </p:nvPr>
        </p:nvSpPr>
        <p:spPr/>
        <p:txBody>
          <a:bodyPr/>
          <a:lstStyle/>
          <a:p>
            <a:pPr eaLnBrk="1" hangingPunct="1"/>
            <a:r>
              <a:rPr lang="en-US" altLang="en-US" smtClean="0"/>
              <a:t>Simple SQL Queries (contd.)</a:t>
            </a:r>
          </a:p>
        </p:txBody>
      </p:sp>
      <p:sp>
        <p:nvSpPr>
          <p:cNvPr id="45060" name="Rectangle 3"/>
          <p:cNvSpPr>
            <a:spLocks noGrp="1" noChangeArrowheads="1"/>
          </p:cNvSpPr>
          <p:nvPr>
            <p:ph type="body" idx="1"/>
          </p:nvPr>
        </p:nvSpPr>
        <p:spPr/>
        <p:txBody>
          <a:bodyPr/>
          <a:lstStyle/>
          <a:p>
            <a:pPr eaLnBrk="1" hangingPunct="1">
              <a:lnSpc>
                <a:spcPct val="80000"/>
              </a:lnSpc>
            </a:pPr>
            <a:r>
              <a:rPr lang="en-US" altLang="en-US" sz="2400" smtClean="0"/>
              <a:t>Example of a simple query on one  relation</a:t>
            </a:r>
          </a:p>
          <a:p>
            <a:pPr eaLnBrk="1" hangingPunct="1">
              <a:lnSpc>
                <a:spcPct val="80000"/>
              </a:lnSpc>
            </a:pPr>
            <a:r>
              <a:rPr lang="en-US" altLang="en-US" sz="2400" smtClean="0"/>
              <a:t>Query 0: Retrieve the birthdate and address of the employee whose name is 'John B. Smith'.</a:t>
            </a:r>
          </a:p>
          <a:p>
            <a:pPr lvl="1" eaLnBrk="1" hangingPunct="1">
              <a:lnSpc>
                <a:spcPct val="80000"/>
              </a:lnSpc>
              <a:buFont typeface="Wingdings" panose="05000000000000000000" pitchFamily="2" charset="2"/>
              <a:buNone/>
            </a:pPr>
            <a:r>
              <a:rPr lang="en-US" altLang="en-US" sz="2200" smtClean="0"/>
              <a:t>Q0:	SELECT 	BDATE, ADDRESS</a:t>
            </a:r>
            <a:br>
              <a:rPr lang="en-US" altLang="en-US" sz="2200" smtClean="0"/>
            </a:br>
            <a:r>
              <a:rPr lang="en-US" altLang="en-US" sz="2200" smtClean="0"/>
              <a:t>	FROM 		EMPLOYEE</a:t>
            </a:r>
            <a:br>
              <a:rPr lang="en-US" altLang="en-US" sz="2200" smtClean="0"/>
            </a:br>
            <a:r>
              <a:rPr lang="en-US" altLang="en-US" sz="2200" smtClean="0"/>
              <a:t>	WHERE	FNAME='John' AND MINIT='B’</a:t>
            </a:r>
            <a:br>
              <a:rPr lang="en-US" altLang="en-US" sz="2200" smtClean="0"/>
            </a:br>
            <a:r>
              <a:rPr lang="en-US" altLang="en-US" sz="2200" smtClean="0"/>
              <a:t>  AND 		LNAME='Smith’</a:t>
            </a:r>
            <a:br>
              <a:rPr lang="en-US" altLang="en-US" sz="2200" smtClean="0"/>
            </a:br>
            <a:endParaRPr lang="en-US" altLang="en-US" sz="2200" smtClean="0"/>
          </a:p>
          <a:p>
            <a:pPr lvl="1" eaLnBrk="1" hangingPunct="1">
              <a:lnSpc>
                <a:spcPct val="80000"/>
              </a:lnSpc>
            </a:pPr>
            <a:r>
              <a:rPr lang="en-US" altLang="en-US" sz="2200" smtClean="0"/>
              <a:t>Similar to a SELECT-PROJECT pair of relational algebra operations:</a:t>
            </a:r>
          </a:p>
          <a:p>
            <a:pPr lvl="2" eaLnBrk="1" hangingPunct="1">
              <a:lnSpc>
                <a:spcPct val="80000"/>
              </a:lnSpc>
            </a:pPr>
            <a:r>
              <a:rPr lang="en-US" altLang="en-US" sz="2000" smtClean="0"/>
              <a:t>The SELECT-clause specifies the projection attributes and the WHERE-clause specifies the selection condition</a:t>
            </a:r>
          </a:p>
          <a:p>
            <a:pPr lvl="1" eaLnBrk="1" hangingPunct="1">
              <a:lnSpc>
                <a:spcPct val="80000"/>
              </a:lnSpc>
            </a:pPr>
            <a:r>
              <a:rPr lang="en-US" altLang="en-US" sz="2200" smtClean="0"/>
              <a:t>However, the result of the query may contain  duplicate tuples</a:t>
            </a: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E04E7EF9-770A-4CAC-9371-E84301F33A40}" type="slidenum">
              <a:rPr lang="en-US" altLang="en-US" sz="1400" smtClean="0">
                <a:solidFill>
                  <a:srgbClr val="990033"/>
                </a:solidFill>
              </a:rPr>
              <a:pPr>
                <a:spcBef>
                  <a:spcPct val="0"/>
                </a:spcBef>
                <a:buClrTx/>
                <a:buSzTx/>
                <a:buFontTx/>
                <a:buNone/>
              </a:pPr>
              <a:t>21</a:t>
            </a:fld>
            <a:endParaRPr lang="en-CA" altLang="en-US" sz="1400" smtClean="0">
              <a:solidFill>
                <a:srgbClr val="990033"/>
              </a:solidFill>
            </a:endParaRPr>
          </a:p>
        </p:txBody>
      </p:sp>
      <p:sp>
        <p:nvSpPr>
          <p:cNvPr id="47107" name="Rectangle 6"/>
          <p:cNvSpPr>
            <a:spLocks noGrp="1" noChangeArrowheads="1"/>
          </p:cNvSpPr>
          <p:nvPr>
            <p:ph type="title"/>
          </p:nvPr>
        </p:nvSpPr>
        <p:spPr/>
        <p:txBody>
          <a:bodyPr/>
          <a:lstStyle/>
          <a:p>
            <a:pPr eaLnBrk="1" hangingPunct="1"/>
            <a:r>
              <a:rPr lang="en-US" altLang="en-US" smtClean="0"/>
              <a:t>Simple SQL Queries (contd.)</a:t>
            </a:r>
          </a:p>
        </p:txBody>
      </p:sp>
      <p:sp>
        <p:nvSpPr>
          <p:cNvPr id="47108" name="Rectangle 7"/>
          <p:cNvSpPr>
            <a:spLocks noGrp="1" noChangeArrowheads="1"/>
          </p:cNvSpPr>
          <p:nvPr>
            <p:ph type="body" idx="1"/>
          </p:nvPr>
        </p:nvSpPr>
        <p:spPr/>
        <p:txBody>
          <a:bodyPr/>
          <a:lstStyle/>
          <a:p>
            <a:pPr eaLnBrk="1" hangingPunct="1">
              <a:lnSpc>
                <a:spcPct val="90000"/>
              </a:lnSpc>
            </a:pPr>
            <a:r>
              <a:rPr lang="en-US" altLang="en-US" sz="2400" smtClean="0"/>
              <a:t>Query 1: Retrieve the name and address of all employees who work for the 'Research' department.</a:t>
            </a:r>
            <a:br>
              <a:rPr lang="en-US" altLang="en-US" sz="2400" smtClean="0"/>
            </a:br>
            <a:endParaRPr lang="en-US" altLang="en-US" sz="2400" smtClean="0"/>
          </a:p>
          <a:p>
            <a:pPr lvl="1" eaLnBrk="1" hangingPunct="1">
              <a:lnSpc>
                <a:spcPct val="90000"/>
              </a:lnSpc>
              <a:buFont typeface="Wingdings" panose="05000000000000000000" pitchFamily="2" charset="2"/>
              <a:buNone/>
            </a:pPr>
            <a:r>
              <a:rPr lang="en-US" altLang="en-US" sz="2200" smtClean="0"/>
              <a:t>Q1:	SELECT	FNAME, LNAME, ADDRESS</a:t>
            </a:r>
            <a:br>
              <a:rPr lang="en-US" altLang="en-US" sz="2200" smtClean="0"/>
            </a:br>
            <a:r>
              <a:rPr lang="en-US" altLang="en-US" sz="2200" smtClean="0"/>
              <a:t>	FROM 		EMPLOYEE, DEPARTMENT</a:t>
            </a:r>
            <a:br>
              <a:rPr lang="en-US" altLang="en-US" sz="2200" smtClean="0"/>
            </a:br>
            <a:r>
              <a:rPr lang="en-US" altLang="en-US" sz="2200" smtClean="0"/>
              <a:t>	WHERE	DNAME='Research' AND DNUMBER=DNO</a:t>
            </a:r>
            <a:br>
              <a:rPr lang="en-US" altLang="en-US" sz="2200" smtClean="0"/>
            </a:br>
            <a:endParaRPr lang="en-US" altLang="en-US" sz="2200" smtClean="0"/>
          </a:p>
          <a:p>
            <a:pPr lvl="1" eaLnBrk="1" hangingPunct="1">
              <a:lnSpc>
                <a:spcPct val="90000"/>
              </a:lnSpc>
            </a:pPr>
            <a:r>
              <a:rPr lang="en-US" altLang="en-US" sz="2200" smtClean="0"/>
              <a:t>Similar to a SELECT-PROJECT-JOIN sequence of relational algebra operations</a:t>
            </a:r>
          </a:p>
          <a:p>
            <a:pPr lvl="1" eaLnBrk="1" hangingPunct="1">
              <a:lnSpc>
                <a:spcPct val="90000"/>
              </a:lnSpc>
            </a:pPr>
            <a:r>
              <a:rPr lang="en-US" altLang="en-US" sz="2200" smtClean="0"/>
              <a:t>(DNAME='Research') is a selection condition  (corresponds to a SELECT operation in relational algebra)</a:t>
            </a:r>
          </a:p>
          <a:p>
            <a:pPr lvl="1" eaLnBrk="1" hangingPunct="1">
              <a:lnSpc>
                <a:spcPct val="90000"/>
              </a:lnSpc>
            </a:pPr>
            <a:r>
              <a:rPr lang="en-US" altLang="en-US" sz="2200" smtClean="0"/>
              <a:t>(DNUMBER=DNO) is a join condition (corresponds to a JOIN operation in relational algebra)</a:t>
            </a: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50685DE2-6B8D-4A6F-9293-1C1C84A3E34D}" type="slidenum">
              <a:rPr lang="en-US" altLang="en-US" sz="1400" smtClean="0">
                <a:solidFill>
                  <a:srgbClr val="990033"/>
                </a:solidFill>
              </a:rPr>
              <a:pPr>
                <a:spcBef>
                  <a:spcPct val="0"/>
                </a:spcBef>
                <a:buClrTx/>
                <a:buSzTx/>
                <a:buFontTx/>
                <a:buNone/>
              </a:pPr>
              <a:t>22</a:t>
            </a:fld>
            <a:endParaRPr lang="en-CA" altLang="en-US" sz="1400" smtClean="0">
              <a:solidFill>
                <a:srgbClr val="990033"/>
              </a:solidFill>
            </a:endParaRPr>
          </a:p>
        </p:txBody>
      </p:sp>
      <p:sp>
        <p:nvSpPr>
          <p:cNvPr id="49155" name="Rectangle 6"/>
          <p:cNvSpPr>
            <a:spLocks noGrp="1" noChangeArrowheads="1"/>
          </p:cNvSpPr>
          <p:nvPr>
            <p:ph type="title"/>
          </p:nvPr>
        </p:nvSpPr>
        <p:spPr/>
        <p:txBody>
          <a:bodyPr/>
          <a:lstStyle/>
          <a:p>
            <a:pPr eaLnBrk="1" hangingPunct="1"/>
            <a:r>
              <a:rPr lang="en-US" altLang="en-US" smtClean="0"/>
              <a:t>Simple SQL Queries (contd.)</a:t>
            </a:r>
          </a:p>
        </p:txBody>
      </p:sp>
      <p:sp>
        <p:nvSpPr>
          <p:cNvPr id="49156" name="Rectangle 7"/>
          <p:cNvSpPr>
            <a:spLocks noGrp="1" noChangeArrowheads="1"/>
          </p:cNvSpPr>
          <p:nvPr>
            <p:ph type="body" idx="1"/>
          </p:nvPr>
        </p:nvSpPr>
        <p:spPr/>
        <p:txBody>
          <a:bodyPr/>
          <a:lstStyle/>
          <a:p>
            <a:pPr eaLnBrk="1" hangingPunct="1">
              <a:lnSpc>
                <a:spcPct val="90000"/>
              </a:lnSpc>
            </a:pPr>
            <a:r>
              <a:rPr lang="en-US" altLang="en-US" sz="2000" smtClean="0"/>
              <a:t>Query 2: For every project located in 'Stafford', list the project number, the controlling department number, and the department manager's last name, address, and birthdate.</a:t>
            </a:r>
          </a:p>
          <a:p>
            <a:pPr eaLnBrk="1" hangingPunct="1">
              <a:lnSpc>
                <a:spcPct val="90000"/>
              </a:lnSpc>
              <a:buFont typeface="Wingdings" panose="05000000000000000000" pitchFamily="2" charset="2"/>
              <a:buNone/>
            </a:pPr>
            <a:endParaRPr lang="en-US" altLang="en-US" sz="2000" smtClean="0">
              <a:solidFill>
                <a:srgbClr val="800000"/>
              </a:solidFill>
            </a:endParaRPr>
          </a:p>
          <a:p>
            <a:pPr eaLnBrk="1" hangingPunct="1">
              <a:lnSpc>
                <a:spcPct val="90000"/>
              </a:lnSpc>
              <a:buFont typeface="Wingdings" panose="05000000000000000000" pitchFamily="2" charset="2"/>
              <a:buNone/>
            </a:pPr>
            <a:r>
              <a:rPr lang="en-US" altLang="en-US" sz="2000" smtClean="0">
                <a:solidFill>
                  <a:srgbClr val="800000"/>
                </a:solidFill>
              </a:rPr>
              <a:t>Q2: SELECT   	PNUMBER, DNUM, LNAME, BDATE, ADDRESS </a:t>
            </a:r>
            <a:br>
              <a:rPr lang="en-US" altLang="en-US" sz="2000" smtClean="0">
                <a:solidFill>
                  <a:srgbClr val="800000"/>
                </a:solidFill>
              </a:rPr>
            </a:br>
            <a:r>
              <a:rPr lang="en-US" altLang="en-US" sz="2000" smtClean="0">
                <a:solidFill>
                  <a:srgbClr val="800000"/>
                </a:solidFill>
              </a:rPr>
              <a:t>	FROM		PROJECT, DEPARTMENT, EMPLOYEE</a:t>
            </a:r>
            <a:br>
              <a:rPr lang="en-US" altLang="en-US" sz="2000" smtClean="0">
                <a:solidFill>
                  <a:srgbClr val="800000"/>
                </a:solidFill>
              </a:rPr>
            </a:br>
            <a:r>
              <a:rPr lang="en-US" altLang="en-US" sz="2000" smtClean="0">
                <a:solidFill>
                  <a:srgbClr val="800000"/>
                </a:solidFill>
              </a:rPr>
              <a:t>	WHERE 	DNUM=DNUMBER AND MGRSSN=SSN</a:t>
            </a:r>
            <a:br>
              <a:rPr lang="en-US" altLang="en-US" sz="2000" smtClean="0">
                <a:solidFill>
                  <a:srgbClr val="800000"/>
                </a:solidFill>
              </a:rPr>
            </a:br>
            <a:r>
              <a:rPr lang="en-US" altLang="en-US" sz="2000" smtClean="0">
                <a:solidFill>
                  <a:srgbClr val="800000"/>
                </a:solidFill>
              </a:rPr>
              <a:t>				AND PLOCATION='Stafford'</a:t>
            </a:r>
            <a:br>
              <a:rPr lang="en-US" altLang="en-US" sz="2000" smtClean="0">
                <a:solidFill>
                  <a:srgbClr val="800000"/>
                </a:solidFill>
              </a:rPr>
            </a:br>
            <a:endParaRPr lang="en-US" altLang="en-US" sz="2000" smtClean="0">
              <a:solidFill>
                <a:srgbClr val="800000"/>
              </a:solidFill>
            </a:endParaRPr>
          </a:p>
          <a:p>
            <a:pPr lvl="1" eaLnBrk="1" hangingPunct="1">
              <a:lnSpc>
                <a:spcPct val="90000"/>
              </a:lnSpc>
            </a:pPr>
            <a:r>
              <a:rPr lang="en-US" altLang="en-US" sz="2000" smtClean="0"/>
              <a:t>In Q2, there are two  join conditions</a:t>
            </a:r>
          </a:p>
          <a:p>
            <a:pPr lvl="1" eaLnBrk="1" hangingPunct="1">
              <a:lnSpc>
                <a:spcPct val="90000"/>
              </a:lnSpc>
            </a:pPr>
            <a:r>
              <a:rPr lang="en-US" altLang="en-US" sz="2000" smtClean="0"/>
              <a:t>The join condition DNUM=DNUMBER relates a project to its controlling department</a:t>
            </a:r>
          </a:p>
          <a:p>
            <a:pPr lvl="1" eaLnBrk="1" hangingPunct="1">
              <a:lnSpc>
                <a:spcPct val="90000"/>
              </a:lnSpc>
            </a:pPr>
            <a:r>
              <a:rPr lang="en-US" altLang="en-US" sz="2000" smtClean="0"/>
              <a:t>The join condition MGRSSN=SSN relates the controlling department to the employee who manages that department</a:t>
            </a:r>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A20FEB3-B06A-488C-81D9-EDF62CEAAB60}" type="slidenum">
              <a:rPr lang="en-US" altLang="en-US" sz="1400" smtClean="0">
                <a:solidFill>
                  <a:srgbClr val="990033"/>
                </a:solidFill>
              </a:rPr>
              <a:pPr>
                <a:spcBef>
                  <a:spcPct val="0"/>
                </a:spcBef>
                <a:buClrTx/>
                <a:buSzTx/>
                <a:buFontTx/>
                <a:buNone/>
              </a:pPr>
              <a:t>23</a:t>
            </a:fld>
            <a:endParaRPr lang="en-CA" altLang="en-US" sz="1400" smtClean="0">
              <a:solidFill>
                <a:srgbClr val="990033"/>
              </a:solidFill>
            </a:endParaRPr>
          </a:p>
        </p:txBody>
      </p:sp>
      <p:sp>
        <p:nvSpPr>
          <p:cNvPr id="51203" name="Rectangle 6"/>
          <p:cNvSpPr>
            <a:spLocks noGrp="1" noChangeArrowheads="1"/>
          </p:cNvSpPr>
          <p:nvPr>
            <p:ph type="title"/>
          </p:nvPr>
        </p:nvSpPr>
        <p:spPr/>
        <p:txBody>
          <a:bodyPr/>
          <a:lstStyle/>
          <a:p>
            <a:pPr eaLnBrk="1" hangingPunct="1"/>
            <a:r>
              <a:rPr lang="en-US" altLang="en-US" smtClean="0"/>
              <a:t>Aliases, * and DISTINCT, Empty WHERE-clause</a:t>
            </a:r>
          </a:p>
        </p:txBody>
      </p:sp>
      <p:sp>
        <p:nvSpPr>
          <p:cNvPr id="51204" name="Rectangle 7"/>
          <p:cNvSpPr>
            <a:spLocks noGrp="1" noChangeArrowheads="1"/>
          </p:cNvSpPr>
          <p:nvPr>
            <p:ph type="body" idx="1"/>
          </p:nvPr>
        </p:nvSpPr>
        <p:spPr/>
        <p:txBody>
          <a:bodyPr/>
          <a:lstStyle/>
          <a:p>
            <a:pPr eaLnBrk="1" hangingPunct="1">
              <a:lnSpc>
                <a:spcPct val="90000"/>
              </a:lnSpc>
            </a:pPr>
            <a:r>
              <a:rPr lang="en-US" altLang="en-US" smtClean="0"/>
              <a:t>In SQL, we can use the same name for two (or more) attributes as long as the attributes are in </a:t>
            </a:r>
            <a:r>
              <a:rPr lang="en-US" altLang="en-US" i="1" smtClean="0"/>
              <a:t>different relations</a:t>
            </a:r>
          </a:p>
          <a:p>
            <a:pPr eaLnBrk="1" hangingPunct="1">
              <a:lnSpc>
                <a:spcPct val="90000"/>
              </a:lnSpc>
            </a:pPr>
            <a:r>
              <a:rPr lang="en-US" altLang="en-US" smtClean="0"/>
              <a:t>A query that refers to two or more attributes with the same name must </a:t>
            </a:r>
            <a:r>
              <a:rPr lang="en-US" altLang="en-US" i="1" smtClean="0"/>
              <a:t>qualify</a:t>
            </a:r>
            <a:r>
              <a:rPr lang="en-US" altLang="en-US" smtClean="0"/>
              <a:t> the attribute name with the relation name by </a:t>
            </a:r>
            <a:r>
              <a:rPr lang="en-US" altLang="en-US" i="1" smtClean="0"/>
              <a:t>prefixing</a:t>
            </a:r>
            <a:r>
              <a:rPr lang="en-US" altLang="en-US" smtClean="0"/>
              <a:t> the relation name to the attribute name</a:t>
            </a:r>
          </a:p>
          <a:p>
            <a:pPr eaLnBrk="1" hangingPunct="1">
              <a:lnSpc>
                <a:spcPct val="90000"/>
              </a:lnSpc>
            </a:pPr>
            <a:r>
              <a:rPr lang="en-US" altLang="en-US" smtClean="0"/>
              <a:t>Example: </a:t>
            </a:r>
          </a:p>
          <a:p>
            <a:pPr eaLnBrk="1" hangingPunct="1">
              <a:lnSpc>
                <a:spcPct val="90000"/>
              </a:lnSpc>
            </a:pPr>
            <a:endParaRPr lang="en-US" altLang="en-US" smtClean="0"/>
          </a:p>
          <a:p>
            <a:pPr eaLnBrk="1" hangingPunct="1">
              <a:lnSpc>
                <a:spcPct val="90000"/>
              </a:lnSpc>
            </a:pPr>
            <a:r>
              <a:rPr lang="en-US" altLang="en-US" b="1" smtClean="0">
                <a:solidFill>
                  <a:srgbClr val="4F571F"/>
                </a:solidFill>
              </a:rPr>
              <a:t>EMPLOYEE.</a:t>
            </a:r>
            <a:r>
              <a:rPr lang="en-US" altLang="en-US" smtClean="0"/>
              <a:t>LNAME, </a:t>
            </a:r>
            <a:r>
              <a:rPr lang="en-US" altLang="en-US" b="1" smtClean="0">
                <a:solidFill>
                  <a:srgbClr val="4F571F"/>
                </a:solidFill>
              </a:rPr>
              <a:t>DEPARTMENT.</a:t>
            </a:r>
            <a:r>
              <a:rPr lang="en-US" altLang="en-US" smtClean="0"/>
              <a:t>DNAME</a:t>
            </a:r>
          </a:p>
        </p:txBody>
      </p:sp>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4EC57315-CDEB-4DFE-A678-1ABB89E7994D}" type="slidenum">
              <a:rPr lang="en-US" altLang="en-US" sz="1400" smtClean="0">
                <a:solidFill>
                  <a:srgbClr val="990033"/>
                </a:solidFill>
              </a:rPr>
              <a:pPr>
                <a:spcBef>
                  <a:spcPct val="0"/>
                </a:spcBef>
                <a:buClrTx/>
                <a:buSzTx/>
                <a:buFontTx/>
                <a:buNone/>
              </a:pPr>
              <a:t>24</a:t>
            </a:fld>
            <a:endParaRPr lang="en-CA" altLang="en-US" sz="1400" smtClean="0">
              <a:solidFill>
                <a:srgbClr val="990033"/>
              </a:solidFill>
            </a:endParaRPr>
          </a:p>
        </p:txBody>
      </p:sp>
      <p:sp>
        <p:nvSpPr>
          <p:cNvPr id="53251" name="Rectangle 6"/>
          <p:cNvSpPr>
            <a:spLocks noGrp="1" noChangeArrowheads="1"/>
          </p:cNvSpPr>
          <p:nvPr>
            <p:ph type="title"/>
          </p:nvPr>
        </p:nvSpPr>
        <p:spPr/>
        <p:txBody>
          <a:bodyPr/>
          <a:lstStyle/>
          <a:p>
            <a:pPr eaLnBrk="1" hangingPunct="1"/>
            <a:r>
              <a:rPr lang="en-US" altLang="en-US" smtClean="0"/>
              <a:t>ALIASES</a:t>
            </a:r>
          </a:p>
        </p:txBody>
      </p:sp>
      <p:sp>
        <p:nvSpPr>
          <p:cNvPr id="53252" name="Rectangle 7"/>
          <p:cNvSpPr>
            <a:spLocks noGrp="1" noChangeArrowheads="1"/>
          </p:cNvSpPr>
          <p:nvPr>
            <p:ph type="body" idx="1"/>
          </p:nvPr>
        </p:nvSpPr>
        <p:spPr/>
        <p:txBody>
          <a:bodyPr/>
          <a:lstStyle/>
          <a:p>
            <a:pPr eaLnBrk="1" hangingPunct="1">
              <a:lnSpc>
                <a:spcPct val="90000"/>
              </a:lnSpc>
            </a:pPr>
            <a:r>
              <a:rPr lang="en-US" altLang="en-US" sz="2000" smtClean="0"/>
              <a:t>Some queries need to refer to the same relation twice</a:t>
            </a:r>
          </a:p>
          <a:p>
            <a:pPr lvl="1" eaLnBrk="1" hangingPunct="1">
              <a:lnSpc>
                <a:spcPct val="90000"/>
              </a:lnSpc>
            </a:pPr>
            <a:r>
              <a:rPr lang="en-US" altLang="en-US" sz="2000" smtClean="0"/>
              <a:t>In this case, </a:t>
            </a:r>
            <a:r>
              <a:rPr lang="en-US" altLang="en-US" sz="2000" i="1" smtClean="0"/>
              <a:t>aliases</a:t>
            </a:r>
            <a:r>
              <a:rPr lang="en-US" altLang="en-US" sz="2000" smtClean="0"/>
              <a:t> are given to the relation name</a:t>
            </a:r>
          </a:p>
          <a:p>
            <a:pPr eaLnBrk="1" hangingPunct="1">
              <a:lnSpc>
                <a:spcPct val="90000"/>
              </a:lnSpc>
            </a:pPr>
            <a:r>
              <a:rPr lang="en-US" altLang="en-US" sz="2000" smtClean="0"/>
              <a:t>Query 8: For each employee, retrieve the employee's name, and the name of his or her immediate supervisor.</a:t>
            </a:r>
            <a:br>
              <a:rPr lang="en-US" altLang="en-US" sz="2000" smtClean="0"/>
            </a:br>
            <a:r>
              <a:rPr lang="en-US" altLang="en-US" sz="2000" smtClean="0"/>
              <a:t/>
            </a:r>
            <a:br>
              <a:rPr lang="en-US" altLang="en-US" sz="2000" smtClean="0"/>
            </a:br>
            <a:r>
              <a:rPr lang="en-US" altLang="en-US" sz="2000" smtClean="0"/>
              <a:t>Q8:	SELECT	E.FNAME, E.LNAME, S.FNAME, S.LNAME</a:t>
            </a:r>
            <a:br>
              <a:rPr lang="en-US" altLang="en-US" sz="2000" smtClean="0"/>
            </a:br>
            <a:r>
              <a:rPr lang="en-US" altLang="en-US" sz="2000" smtClean="0"/>
              <a:t>	FROM 		EMPLOYEE </a:t>
            </a:r>
            <a:r>
              <a:rPr lang="en-US" altLang="en-US" sz="2000" smtClean="0">
                <a:solidFill>
                  <a:srgbClr val="4F571F"/>
                </a:solidFill>
              </a:rPr>
              <a:t>E</a:t>
            </a:r>
            <a:r>
              <a:rPr lang="en-US" altLang="en-US" sz="2000" smtClean="0"/>
              <a:t> </a:t>
            </a:r>
            <a:r>
              <a:rPr lang="en-US" altLang="en-US" sz="2000" smtClean="0">
                <a:solidFill>
                  <a:srgbClr val="4F571F"/>
                </a:solidFill>
              </a:rPr>
              <a:t>S</a:t>
            </a:r>
            <a:r>
              <a:rPr lang="en-US" altLang="en-US" sz="2000" smtClean="0"/>
              <a:t/>
            </a:r>
            <a:br>
              <a:rPr lang="en-US" altLang="en-US" sz="2000" smtClean="0"/>
            </a:br>
            <a:r>
              <a:rPr lang="en-US" altLang="en-US" sz="2000" smtClean="0"/>
              <a:t>	WHERE	E.SUPERSSN=S.SSN</a:t>
            </a:r>
            <a:br>
              <a:rPr lang="en-US" altLang="en-US" sz="2000" smtClean="0"/>
            </a:br>
            <a:endParaRPr lang="en-US" altLang="en-US" sz="2000" smtClean="0"/>
          </a:p>
          <a:p>
            <a:pPr lvl="1" eaLnBrk="1" hangingPunct="1">
              <a:lnSpc>
                <a:spcPct val="90000"/>
              </a:lnSpc>
            </a:pPr>
            <a:r>
              <a:rPr lang="en-US" altLang="en-US" sz="2000" smtClean="0"/>
              <a:t>In Q8, the alternate relation names E and S are called </a:t>
            </a:r>
            <a:r>
              <a:rPr lang="en-US" altLang="en-US" sz="2000" i="1" smtClean="0"/>
              <a:t>aliases</a:t>
            </a:r>
            <a:r>
              <a:rPr lang="en-US" altLang="en-US" sz="2000" smtClean="0"/>
              <a:t> or </a:t>
            </a:r>
            <a:r>
              <a:rPr lang="en-US" altLang="en-US" sz="2000" i="1" smtClean="0"/>
              <a:t>tuple variables</a:t>
            </a:r>
            <a:r>
              <a:rPr lang="en-US" altLang="en-US" sz="2000" smtClean="0"/>
              <a:t> for the EMPLOYEE relation</a:t>
            </a:r>
          </a:p>
          <a:p>
            <a:pPr lvl="1" eaLnBrk="1" hangingPunct="1">
              <a:lnSpc>
                <a:spcPct val="90000"/>
              </a:lnSpc>
            </a:pPr>
            <a:r>
              <a:rPr lang="en-US" altLang="en-US" sz="2000" smtClean="0"/>
              <a:t>We can think of E and S as two different </a:t>
            </a:r>
            <a:r>
              <a:rPr lang="en-US" altLang="en-US" sz="2000" i="1" smtClean="0"/>
              <a:t>copies</a:t>
            </a:r>
            <a:r>
              <a:rPr lang="en-US" altLang="en-US" sz="2000" smtClean="0"/>
              <a:t> of EMPLOYEE; E represents employees in role of </a:t>
            </a:r>
            <a:r>
              <a:rPr lang="en-US" altLang="en-US" sz="2000" i="1" smtClean="0"/>
              <a:t>supervisees</a:t>
            </a:r>
            <a:r>
              <a:rPr lang="en-US" altLang="en-US" sz="2000" smtClean="0"/>
              <a:t> and S represents employees in role of </a:t>
            </a:r>
            <a:r>
              <a:rPr lang="en-US" altLang="en-US" sz="2000" i="1" smtClean="0"/>
              <a:t>supervisors</a:t>
            </a:r>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4FDBD079-B972-4464-BD76-D9F3FA1C1F39}" type="slidenum">
              <a:rPr lang="en-US" altLang="en-US" sz="1400" smtClean="0">
                <a:solidFill>
                  <a:srgbClr val="990033"/>
                </a:solidFill>
              </a:rPr>
              <a:pPr>
                <a:spcBef>
                  <a:spcPct val="0"/>
                </a:spcBef>
                <a:buClrTx/>
                <a:buSzTx/>
                <a:buFontTx/>
                <a:buNone/>
              </a:pPr>
              <a:t>25</a:t>
            </a:fld>
            <a:endParaRPr lang="en-CA" altLang="en-US" sz="1400" smtClean="0">
              <a:solidFill>
                <a:srgbClr val="990033"/>
              </a:solidFill>
            </a:endParaRPr>
          </a:p>
        </p:txBody>
      </p:sp>
      <p:sp>
        <p:nvSpPr>
          <p:cNvPr id="55299" name="Rectangle 6"/>
          <p:cNvSpPr>
            <a:spLocks noGrp="1" noChangeArrowheads="1"/>
          </p:cNvSpPr>
          <p:nvPr>
            <p:ph type="title"/>
          </p:nvPr>
        </p:nvSpPr>
        <p:spPr/>
        <p:txBody>
          <a:bodyPr/>
          <a:lstStyle/>
          <a:p>
            <a:pPr eaLnBrk="1" hangingPunct="1"/>
            <a:r>
              <a:rPr lang="en-US" altLang="en-US" smtClean="0"/>
              <a:t>ALIASES (contd.)</a:t>
            </a:r>
          </a:p>
        </p:txBody>
      </p:sp>
      <p:sp>
        <p:nvSpPr>
          <p:cNvPr id="55300" name="Rectangle 7"/>
          <p:cNvSpPr>
            <a:spLocks noGrp="1" noChangeArrowheads="1"/>
          </p:cNvSpPr>
          <p:nvPr>
            <p:ph type="body" idx="1"/>
          </p:nvPr>
        </p:nvSpPr>
        <p:spPr/>
        <p:txBody>
          <a:bodyPr/>
          <a:lstStyle/>
          <a:p>
            <a:pPr eaLnBrk="1" hangingPunct="1"/>
            <a:r>
              <a:rPr lang="en-US" altLang="en-US" smtClean="0"/>
              <a:t>Aliasing can also be used in any SQL query for convenience</a:t>
            </a:r>
          </a:p>
          <a:p>
            <a:pPr eaLnBrk="1" hangingPunct="1"/>
            <a:r>
              <a:rPr lang="en-US" altLang="en-US" smtClean="0"/>
              <a:t>Can also use the AS keyword to specify aliases</a:t>
            </a:r>
          </a:p>
          <a:p>
            <a:pPr lvl="1" eaLnBrk="1" hangingPunct="1">
              <a:buFont typeface="Wingdings" panose="05000000000000000000" pitchFamily="2" charset="2"/>
              <a:buNone/>
            </a:pPr>
            <a:r>
              <a:rPr lang="en-US" altLang="en-US" smtClean="0"/>
              <a:t/>
            </a:r>
            <a:br>
              <a:rPr lang="en-US" altLang="en-US" smtClean="0"/>
            </a:br>
            <a:r>
              <a:rPr lang="en-US" altLang="en-US" smtClean="0"/>
              <a:t>Q8:	SELECT	E.FNAME, E.LNAME, 					S.FNAME, S.LNAME</a:t>
            </a:r>
            <a:br>
              <a:rPr lang="en-US" altLang="en-US" smtClean="0"/>
            </a:br>
            <a:r>
              <a:rPr lang="en-US" altLang="en-US" smtClean="0"/>
              <a:t>		FROM 	EMPLOYEE AS E, 					EMPLOYEE AS S</a:t>
            </a:r>
            <a:br>
              <a:rPr lang="en-US" altLang="en-US" smtClean="0"/>
            </a:br>
            <a:r>
              <a:rPr lang="en-US" altLang="en-US" smtClean="0"/>
              <a:t>		WHERE	E.SUPERSSN=S.SSN</a:t>
            </a:r>
            <a:br>
              <a:rPr lang="en-US" altLang="en-US" smtClean="0"/>
            </a:br>
            <a:endParaRPr lang="en-US" altLang="en-US" smtClean="0"/>
          </a:p>
        </p:txBody>
      </p:sp>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8A33322-D0D7-4BF2-9AE0-5E13F65111B0}" type="slidenum">
              <a:rPr lang="en-US" altLang="en-US" sz="1400" smtClean="0">
                <a:solidFill>
                  <a:srgbClr val="990033"/>
                </a:solidFill>
              </a:rPr>
              <a:pPr>
                <a:spcBef>
                  <a:spcPct val="0"/>
                </a:spcBef>
                <a:buClrTx/>
                <a:buSzTx/>
                <a:buFontTx/>
                <a:buNone/>
              </a:pPr>
              <a:t>26</a:t>
            </a:fld>
            <a:endParaRPr lang="en-CA" altLang="en-US" sz="1400" smtClean="0">
              <a:solidFill>
                <a:srgbClr val="990033"/>
              </a:solidFill>
            </a:endParaRPr>
          </a:p>
        </p:txBody>
      </p:sp>
      <p:sp>
        <p:nvSpPr>
          <p:cNvPr id="57347" name="Rectangle 6"/>
          <p:cNvSpPr>
            <a:spLocks noGrp="1" noChangeArrowheads="1"/>
          </p:cNvSpPr>
          <p:nvPr>
            <p:ph type="title"/>
          </p:nvPr>
        </p:nvSpPr>
        <p:spPr/>
        <p:txBody>
          <a:bodyPr/>
          <a:lstStyle/>
          <a:p>
            <a:pPr eaLnBrk="1" hangingPunct="1"/>
            <a:r>
              <a:rPr lang="en-US" altLang="en-US" smtClean="0"/>
              <a:t>UNSPECIFIED </a:t>
            </a:r>
            <a:br>
              <a:rPr lang="en-US" altLang="en-US" smtClean="0"/>
            </a:br>
            <a:r>
              <a:rPr lang="en-US" altLang="en-US" smtClean="0"/>
              <a:t>WHERE-clause</a:t>
            </a:r>
          </a:p>
        </p:txBody>
      </p:sp>
      <p:sp>
        <p:nvSpPr>
          <p:cNvPr id="57348" name="Rectangle 7"/>
          <p:cNvSpPr>
            <a:spLocks noGrp="1" noChangeArrowheads="1"/>
          </p:cNvSpPr>
          <p:nvPr>
            <p:ph type="body" idx="1"/>
          </p:nvPr>
        </p:nvSpPr>
        <p:spPr/>
        <p:txBody>
          <a:bodyPr/>
          <a:lstStyle/>
          <a:p>
            <a:pPr eaLnBrk="1" hangingPunct="1"/>
            <a:r>
              <a:rPr lang="en-US" altLang="en-US" sz="2400" smtClean="0"/>
              <a:t>A </a:t>
            </a:r>
            <a:r>
              <a:rPr lang="en-US" altLang="en-US" sz="2400" i="1" smtClean="0"/>
              <a:t>missing WHERE-clause</a:t>
            </a:r>
            <a:r>
              <a:rPr lang="en-US" altLang="en-US" sz="2400" smtClean="0"/>
              <a:t> indicates no condition; hence, all tuples of the relations in the FROM-clause are selected</a:t>
            </a:r>
          </a:p>
          <a:p>
            <a:pPr lvl="1" eaLnBrk="1" hangingPunct="1"/>
            <a:r>
              <a:rPr lang="en-US" altLang="en-US" sz="2200" smtClean="0"/>
              <a:t>This is equivalent to the condition WHERE TRUE</a:t>
            </a:r>
          </a:p>
          <a:p>
            <a:pPr eaLnBrk="1" hangingPunct="1"/>
            <a:r>
              <a:rPr lang="en-US" altLang="en-US" sz="2400" smtClean="0"/>
              <a:t>Query 9: Retrieve the SSN values for all employees.</a:t>
            </a:r>
          </a:p>
          <a:p>
            <a:pPr lvl="1" eaLnBrk="1" hangingPunct="1"/>
            <a:endParaRPr lang="en-US" altLang="en-US" sz="2200" smtClean="0"/>
          </a:p>
          <a:p>
            <a:pPr lvl="1" eaLnBrk="1" hangingPunct="1"/>
            <a:r>
              <a:rPr lang="en-US" altLang="en-US" sz="2200" smtClean="0"/>
              <a:t>Q9:	SELECT 	SSN</a:t>
            </a:r>
            <a:br>
              <a:rPr lang="en-US" altLang="en-US" sz="2200" smtClean="0"/>
            </a:br>
            <a:r>
              <a:rPr lang="en-US" altLang="en-US" sz="2200" smtClean="0"/>
              <a:t>		FROM		EMPLOYEE</a:t>
            </a:r>
            <a:br>
              <a:rPr lang="en-US" altLang="en-US" sz="2200" smtClean="0"/>
            </a:br>
            <a:endParaRPr lang="en-US" altLang="en-US" sz="2200" smtClean="0"/>
          </a:p>
          <a:p>
            <a:pPr eaLnBrk="1" hangingPunct="1"/>
            <a:r>
              <a:rPr lang="en-US" altLang="en-US" sz="2400" smtClean="0"/>
              <a:t>If more than one relation is specified in the FROM-clause </a:t>
            </a:r>
            <a:r>
              <a:rPr lang="en-US" altLang="en-US" sz="2400" i="1" smtClean="0"/>
              <a:t>and</a:t>
            </a:r>
            <a:r>
              <a:rPr lang="en-US" altLang="en-US" sz="2400" smtClean="0"/>
              <a:t> there is no join condition, then the </a:t>
            </a:r>
            <a:r>
              <a:rPr lang="en-US" altLang="en-US" sz="2400" i="1" smtClean="0"/>
              <a:t>CARTESIAN PRODUCT</a:t>
            </a:r>
            <a:r>
              <a:rPr lang="en-US" altLang="en-US" sz="2400" smtClean="0"/>
              <a:t> of tuples is selected</a:t>
            </a:r>
          </a:p>
        </p:txBody>
      </p:sp>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40580ADB-C50B-4B91-AD0A-AB24130E8066}" type="slidenum">
              <a:rPr lang="en-US" altLang="en-US" sz="1400" smtClean="0">
                <a:solidFill>
                  <a:srgbClr val="990033"/>
                </a:solidFill>
              </a:rPr>
              <a:pPr>
                <a:spcBef>
                  <a:spcPct val="0"/>
                </a:spcBef>
                <a:buClrTx/>
                <a:buSzTx/>
                <a:buFontTx/>
                <a:buNone/>
              </a:pPr>
              <a:t>27</a:t>
            </a:fld>
            <a:endParaRPr lang="en-CA" altLang="en-US" sz="1400" smtClean="0">
              <a:solidFill>
                <a:srgbClr val="990033"/>
              </a:solidFill>
            </a:endParaRPr>
          </a:p>
        </p:txBody>
      </p:sp>
      <p:sp>
        <p:nvSpPr>
          <p:cNvPr id="59395" name="Rectangle 6"/>
          <p:cNvSpPr>
            <a:spLocks noGrp="1" noChangeArrowheads="1"/>
          </p:cNvSpPr>
          <p:nvPr>
            <p:ph type="title"/>
          </p:nvPr>
        </p:nvSpPr>
        <p:spPr/>
        <p:txBody>
          <a:bodyPr/>
          <a:lstStyle/>
          <a:p>
            <a:pPr eaLnBrk="1" hangingPunct="1"/>
            <a:r>
              <a:rPr lang="en-US" altLang="en-US" smtClean="0"/>
              <a:t>UNSPECIFIED </a:t>
            </a:r>
            <a:br>
              <a:rPr lang="en-US" altLang="en-US" smtClean="0"/>
            </a:br>
            <a:r>
              <a:rPr lang="en-US" altLang="en-US" smtClean="0"/>
              <a:t>WHERE-clause (contd.)</a:t>
            </a:r>
          </a:p>
        </p:txBody>
      </p:sp>
      <p:sp>
        <p:nvSpPr>
          <p:cNvPr id="59396" name="Rectangle 7"/>
          <p:cNvSpPr>
            <a:spLocks noGrp="1" noChangeArrowheads="1"/>
          </p:cNvSpPr>
          <p:nvPr>
            <p:ph type="body" idx="1"/>
          </p:nvPr>
        </p:nvSpPr>
        <p:spPr/>
        <p:txBody>
          <a:bodyPr/>
          <a:lstStyle/>
          <a:p>
            <a:pPr eaLnBrk="1" hangingPunct="1"/>
            <a:r>
              <a:rPr lang="en-US" altLang="en-US" smtClean="0"/>
              <a:t>Example:</a:t>
            </a:r>
            <a:br>
              <a:rPr lang="en-US" altLang="en-US" smtClean="0"/>
            </a:br>
            <a:endParaRPr lang="en-US" altLang="en-US" smtClean="0"/>
          </a:p>
          <a:p>
            <a:pPr lvl="1" eaLnBrk="1" hangingPunct="1">
              <a:buFont typeface="Wingdings" panose="05000000000000000000" pitchFamily="2" charset="2"/>
              <a:buNone/>
            </a:pPr>
            <a:r>
              <a:rPr lang="en-US" altLang="en-US" smtClean="0"/>
              <a:t>Q10:	SELECT	SSN, DNAME</a:t>
            </a:r>
            <a:br>
              <a:rPr lang="en-US" altLang="en-US" smtClean="0"/>
            </a:br>
            <a:r>
              <a:rPr lang="en-US" altLang="en-US" smtClean="0"/>
              <a:t>		FROM	EMPLOYEE, DEPARTMENT</a:t>
            </a:r>
            <a:br>
              <a:rPr lang="en-US" altLang="en-US" smtClean="0"/>
            </a:br>
            <a:endParaRPr lang="en-US" altLang="en-US" smtClean="0"/>
          </a:p>
          <a:p>
            <a:pPr lvl="1" eaLnBrk="1" hangingPunct="1"/>
            <a:r>
              <a:rPr lang="en-US" altLang="en-US" smtClean="0"/>
              <a:t>It is extremely important not to overlook specifying any selection and join conditions in the WHERE-clause; otherwise, incorrect and very large relations may result</a:t>
            </a:r>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F9FC4CAF-0EEA-4140-8A7E-878F5C3C9CAA}" type="slidenum">
              <a:rPr lang="en-US" altLang="en-US" sz="1400" smtClean="0">
                <a:solidFill>
                  <a:srgbClr val="990033"/>
                </a:solidFill>
              </a:rPr>
              <a:pPr>
                <a:spcBef>
                  <a:spcPct val="0"/>
                </a:spcBef>
                <a:buClrTx/>
                <a:buSzTx/>
                <a:buFontTx/>
                <a:buNone/>
              </a:pPr>
              <a:t>28</a:t>
            </a:fld>
            <a:endParaRPr lang="en-CA" altLang="en-US" sz="1400" smtClean="0">
              <a:solidFill>
                <a:srgbClr val="990033"/>
              </a:solidFill>
            </a:endParaRPr>
          </a:p>
        </p:txBody>
      </p:sp>
      <p:sp>
        <p:nvSpPr>
          <p:cNvPr id="61443" name="Rectangle 6"/>
          <p:cNvSpPr>
            <a:spLocks noGrp="1" noChangeArrowheads="1"/>
          </p:cNvSpPr>
          <p:nvPr>
            <p:ph type="title"/>
          </p:nvPr>
        </p:nvSpPr>
        <p:spPr/>
        <p:txBody>
          <a:bodyPr/>
          <a:lstStyle/>
          <a:p>
            <a:pPr eaLnBrk="1" hangingPunct="1"/>
            <a:r>
              <a:rPr lang="en-US" altLang="en-US" smtClean="0"/>
              <a:t>USE OF *</a:t>
            </a:r>
          </a:p>
        </p:txBody>
      </p:sp>
      <p:sp>
        <p:nvSpPr>
          <p:cNvPr id="61444" name="Rectangle 7"/>
          <p:cNvSpPr>
            <a:spLocks noGrp="1" noChangeArrowheads="1"/>
          </p:cNvSpPr>
          <p:nvPr>
            <p:ph type="body" idx="1"/>
          </p:nvPr>
        </p:nvSpPr>
        <p:spPr/>
        <p:txBody>
          <a:bodyPr/>
          <a:lstStyle/>
          <a:p>
            <a:pPr eaLnBrk="1" hangingPunct="1"/>
            <a:r>
              <a:rPr lang="en-US" altLang="en-US" sz="2400" smtClean="0"/>
              <a:t>To retrieve all the attribute values of the selected tuples, a * is used, which stands for </a:t>
            </a:r>
            <a:r>
              <a:rPr lang="en-US" altLang="en-US" sz="2400" i="1" smtClean="0"/>
              <a:t>all the attributes</a:t>
            </a:r>
            <a:r>
              <a:rPr lang="en-US" altLang="en-US" sz="2400" smtClean="0"/>
              <a:t/>
            </a:r>
            <a:br>
              <a:rPr lang="en-US" altLang="en-US" sz="2400" smtClean="0"/>
            </a:br>
            <a:r>
              <a:rPr lang="en-US" altLang="en-US" sz="2400" smtClean="0"/>
              <a:t>Examples:</a:t>
            </a:r>
          </a:p>
          <a:p>
            <a:pPr lvl="1" eaLnBrk="1" hangingPunct="1">
              <a:buFont typeface="Wingdings" panose="05000000000000000000" pitchFamily="2" charset="2"/>
              <a:buNone/>
            </a:pPr>
            <a:r>
              <a:rPr lang="en-US" altLang="en-US" sz="2200" smtClean="0"/>
              <a:t/>
            </a:r>
            <a:br>
              <a:rPr lang="en-US" altLang="en-US" sz="2200" smtClean="0"/>
            </a:br>
            <a:r>
              <a:rPr lang="en-US" altLang="en-US" sz="2200" smtClean="0"/>
              <a:t>Q1C:	SELECT 	*</a:t>
            </a:r>
            <a:br>
              <a:rPr lang="en-US" altLang="en-US" sz="2200" smtClean="0"/>
            </a:br>
            <a:r>
              <a:rPr lang="en-US" altLang="en-US" sz="2200" smtClean="0"/>
              <a:t>		FROM		EMPLOYEE</a:t>
            </a:r>
            <a:br>
              <a:rPr lang="en-US" altLang="en-US" sz="2200" smtClean="0"/>
            </a:br>
            <a:r>
              <a:rPr lang="en-US" altLang="en-US" sz="2200" smtClean="0"/>
              <a:t>		WHERE	DNO=5</a:t>
            </a:r>
            <a:br>
              <a:rPr lang="en-US" altLang="en-US" sz="2200" smtClean="0"/>
            </a:br>
            <a:r>
              <a:rPr lang="en-US" altLang="en-US" sz="2200" smtClean="0"/>
              <a:t/>
            </a:r>
            <a:br>
              <a:rPr lang="en-US" altLang="en-US" sz="2200" smtClean="0"/>
            </a:br>
            <a:r>
              <a:rPr lang="en-US" altLang="en-US" sz="2200" smtClean="0"/>
              <a:t>Q1D:	SELECT	*</a:t>
            </a:r>
            <a:br>
              <a:rPr lang="en-US" altLang="en-US" sz="2200" smtClean="0"/>
            </a:br>
            <a:r>
              <a:rPr lang="en-US" altLang="en-US" sz="2200" smtClean="0"/>
              <a:t>		FROM		EMPLOYEE, DEPARTMENT</a:t>
            </a:r>
            <a:br>
              <a:rPr lang="en-US" altLang="en-US" sz="2200" smtClean="0"/>
            </a:br>
            <a:r>
              <a:rPr lang="en-US" altLang="en-US" sz="2200" smtClean="0"/>
              <a:t>		WHERE	DNAME='Research' AND 					DNO=DNUMBER</a:t>
            </a:r>
          </a:p>
        </p:txBody>
      </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9E743A9-C900-4A93-A8F1-CC5C6A2A2245}" type="slidenum">
              <a:rPr lang="en-US" altLang="en-US" sz="1400" smtClean="0">
                <a:solidFill>
                  <a:srgbClr val="990033"/>
                </a:solidFill>
              </a:rPr>
              <a:pPr>
                <a:spcBef>
                  <a:spcPct val="0"/>
                </a:spcBef>
                <a:buClrTx/>
                <a:buSzTx/>
                <a:buFontTx/>
                <a:buNone/>
              </a:pPr>
              <a:t>29</a:t>
            </a:fld>
            <a:endParaRPr lang="en-CA" altLang="en-US" sz="1400" smtClean="0">
              <a:solidFill>
                <a:srgbClr val="990033"/>
              </a:solidFill>
            </a:endParaRPr>
          </a:p>
        </p:txBody>
      </p:sp>
      <p:sp>
        <p:nvSpPr>
          <p:cNvPr id="63491" name="Rectangle 6"/>
          <p:cNvSpPr>
            <a:spLocks noGrp="1" noChangeArrowheads="1"/>
          </p:cNvSpPr>
          <p:nvPr>
            <p:ph type="title"/>
          </p:nvPr>
        </p:nvSpPr>
        <p:spPr/>
        <p:txBody>
          <a:bodyPr/>
          <a:lstStyle/>
          <a:p>
            <a:pPr eaLnBrk="1" hangingPunct="1"/>
            <a:r>
              <a:rPr lang="en-US" altLang="en-US" smtClean="0"/>
              <a:t>USE OF DISTINCT</a:t>
            </a:r>
          </a:p>
        </p:txBody>
      </p:sp>
      <p:sp>
        <p:nvSpPr>
          <p:cNvPr id="63492" name="Rectangle 7"/>
          <p:cNvSpPr>
            <a:spLocks noGrp="1" noChangeArrowheads="1"/>
          </p:cNvSpPr>
          <p:nvPr>
            <p:ph type="body" idx="1"/>
          </p:nvPr>
        </p:nvSpPr>
        <p:spPr/>
        <p:txBody>
          <a:bodyPr/>
          <a:lstStyle/>
          <a:p>
            <a:pPr eaLnBrk="1" hangingPunct="1"/>
            <a:r>
              <a:rPr lang="en-US" altLang="en-US" sz="2400" smtClean="0"/>
              <a:t>SQL does not treat a relation as a set; duplicate tuples can appear</a:t>
            </a:r>
          </a:p>
          <a:p>
            <a:pPr eaLnBrk="1" hangingPunct="1"/>
            <a:r>
              <a:rPr lang="en-US" altLang="en-US" sz="2400" smtClean="0"/>
              <a:t>To eliminate duplicate tuples in a query result, the keyword </a:t>
            </a:r>
            <a:r>
              <a:rPr lang="en-US" altLang="en-US" sz="2400" b="1" smtClean="0"/>
              <a:t>DISTINCT</a:t>
            </a:r>
            <a:r>
              <a:rPr lang="en-US" altLang="en-US" sz="2400" smtClean="0"/>
              <a:t> is used</a:t>
            </a:r>
          </a:p>
          <a:p>
            <a:pPr eaLnBrk="1" hangingPunct="1"/>
            <a:r>
              <a:rPr lang="en-US" altLang="en-US" sz="2400" smtClean="0"/>
              <a:t>For example, the result of Q11 may have duplicate SALARY values whereas Q11A does not have any duplicate values</a:t>
            </a:r>
            <a:br>
              <a:rPr lang="en-US" altLang="en-US" sz="2400" smtClean="0"/>
            </a:br>
            <a:endParaRPr lang="en-US" altLang="en-US" sz="2400" smtClean="0"/>
          </a:p>
          <a:p>
            <a:pPr lvl="1" eaLnBrk="1" hangingPunct="1">
              <a:buFont typeface="Wingdings" panose="05000000000000000000" pitchFamily="2" charset="2"/>
              <a:buNone/>
            </a:pPr>
            <a:r>
              <a:rPr lang="en-US" altLang="en-US" sz="2200" smtClean="0"/>
              <a:t>	Q11:	SELECT 	SALARY</a:t>
            </a:r>
            <a:br>
              <a:rPr lang="en-US" altLang="en-US" sz="2200" smtClean="0"/>
            </a:br>
            <a:r>
              <a:rPr lang="en-US" altLang="en-US" sz="2200" smtClean="0"/>
              <a:t>		FROM		EMPLOYEE</a:t>
            </a:r>
            <a:br>
              <a:rPr lang="en-US" altLang="en-US" sz="2200" smtClean="0"/>
            </a:br>
            <a:r>
              <a:rPr lang="en-US" altLang="en-US" sz="2200" smtClean="0"/>
              <a:t>Q11A: 	SELECT 	</a:t>
            </a:r>
            <a:r>
              <a:rPr lang="en-US" altLang="en-US" sz="2200" b="1" smtClean="0"/>
              <a:t>DISTINCT</a:t>
            </a:r>
            <a:r>
              <a:rPr lang="en-US" altLang="en-US" sz="2200" smtClean="0"/>
              <a:t> SALARY</a:t>
            </a:r>
            <a:br>
              <a:rPr lang="en-US" altLang="en-US" sz="2200" smtClean="0"/>
            </a:br>
            <a:r>
              <a:rPr lang="en-US" altLang="en-US" sz="2200" smtClean="0"/>
              <a:t>		FROM		EMPLOYEE</a:t>
            </a:r>
          </a:p>
        </p:txBody>
      </p:sp>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75A81D7A-CD06-4B89-B92F-591E07B5A073}" type="slidenum">
              <a:rPr lang="en-US" altLang="en-US" sz="1400" smtClean="0">
                <a:solidFill>
                  <a:srgbClr val="990033"/>
                </a:solidFill>
              </a:rPr>
              <a:pPr>
                <a:spcBef>
                  <a:spcPct val="0"/>
                </a:spcBef>
                <a:buClrTx/>
                <a:buSzTx/>
                <a:buFontTx/>
                <a:buNone/>
              </a:pPr>
              <a:t>30</a:t>
            </a:fld>
            <a:endParaRPr lang="en-CA" altLang="en-US" sz="1400" smtClean="0">
              <a:solidFill>
                <a:srgbClr val="990033"/>
              </a:solidFill>
            </a:endParaRPr>
          </a:p>
        </p:txBody>
      </p:sp>
      <p:sp>
        <p:nvSpPr>
          <p:cNvPr id="65539" name="Rectangle 6"/>
          <p:cNvSpPr>
            <a:spLocks noGrp="1" noChangeArrowheads="1"/>
          </p:cNvSpPr>
          <p:nvPr>
            <p:ph type="title"/>
          </p:nvPr>
        </p:nvSpPr>
        <p:spPr/>
        <p:txBody>
          <a:bodyPr/>
          <a:lstStyle/>
          <a:p>
            <a:pPr eaLnBrk="1" hangingPunct="1"/>
            <a:r>
              <a:rPr lang="en-US" altLang="en-US" smtClean="0"/>
              <a:t>SET OPERATIONS</a:t>
            </a:r>
          </a:p>
        </p:txBody>
      </p:sp>
      <p:sp>
        <p:nvSpPr>
          <p:cNvPr id="65540" name="Rectangle 7"/>
          <p:cNvSpPr>
            <a:spLocks noGrp="1" noChangeArrowheads="1"/>
          </p:cNvSpPr>
          <p:nvPr>
            <p:ph type="body" idx="1"/>
          </p:nvPr>
        </p:nvSpPr>
        <p:spPr/>
        <p:txBody>
          <a:bodyPr/>
          <a:lstStyle/>
          <a:p>
            <a:pPr eaLnBrk="1" hangingPunct="1"/>
            <a:r>
              <a:rPr lang="en-US" altLang="en-US" sz="2400" smtClean="0"/>
              <a:t>SQL has directly incorporated some set operations</a:t>
            </a:r>
          </a:p>
          <a:p>
            <a:pPr eaLnBrk="1" hangingPunct="1"/>
            <a:r>
              <a:rPr lang="en-US" altLang="en-US" sz="2400" smtClean="0"/>
              <a:t>There is a union operation (UNION), and in </a:t>
            </a:r>
            <a:r>
              <a:rPr lang="en-US" altLang="en-US" sz="2400" i="1" smtClean="0"/>
              <a:t>some versions</a:t>
            </a:r>
            <a:r>
              <a:rPr lang="en-US" altLang="en-US" sz="2400" smtClean="0"/>
              <a:t> of SQL there are set difference (MINUS) and intersection (INTERSECT) operations</a:t>
            </a:r>
          </a:p>
          <a:p>
            <a:pPr eaLnBrk="1" hangingPunct="1"/>
            <a:r>
              <a:rPr lang="en-US" altLang="en-US" sz="2400" smtClean="0"/>
              <a:t>The resulting relations of these set operations are sets of tuples; </a:t>
            </a:r>
            <a:r>
              <a:rPr lang="en-US" altLang="en-US" sz="2400" i="1" smtClean="0"/>
              <a:t>duplicate tuples are eliminated</a:t>
            </a:r>
            <a:r>
              <a:rPr lang="en-US" altLang="en-US" sz="2400" smtClean="0"/>
              <a:t> </a:t>
            </a:r>
            <a:r>
              <a:rPr lang="en-US" altLang="en-US" sz="2400" i="1" smtClean="0"/>
              <a:t>from the result</a:t>
            </a:r>
          </a:p>
          <a:p>
            <a:pPr eaLnBrk="1" hangingPunct="1"/>
            <a:r>
              <a:rPr lang="en-US" altLang="en-US" sz="2400" smtClean="0"/>
              <a:t>The set operations apply only to </a:t>
            </a:r>
            <a:r>
              <a:rPr lang="en-US" altLang="en-US" sz="2400" i="1" smtClean="0"/>
              <a:t>union compatible relations</a:t>
            </a:r>
            <a:r>
              <a:rPr lang="en-US" altLang="en-US" sz="2400" smtClean="0"/>
              <a:t>; the two relations must have the same attributes and the attributes must appear in the same order</a:t>
            </a:r>
          </a:p>
        </p:txBody>
      </p:sp>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B76968A-0D05-49FF-90EF-C09236DE4CC7}" type="slidenum">
              <a:rPr lang="en-US" altLang="en-US" sz="1400" smtClean="0">
                <a:solidFill>
                  <a:srgbClr val="990033"/>
                </a:solidFill>
              </a:rPr>
              <a:pPr>
                <a:spcBef>
                  <a:spcPct val="0"/>
                </a:spcBef>
                <a:buClrTx/>
                <a:buSzTx/>
                <a:buFontTx/>
                <a:buNone/>
              </a:pPr>
              <a:t>31</a:t>
            </a:fld>
            <a:endParaRPr lang="en-CA" altLang="en-US" sz="1400" smtClean="0">
              <a:solidFill>
                <a:srgbClr val="990033"/>
              </a:solidFill>
            </a:endParaRPr>
          </a:p>
        </p:txBody>
      </p:sp>
      <p:sp>
        <p:nvSpPr>
          <p:cNvPr id="67587" name="Rectangle 6"/>
          <p:cNvSpPr>
            <a:spLocks noGrp="1" noChangeArrowheads="1"/>
          </p:cNvSpPr>
          <p:nvPr>
            <p:ph type="title"/>
          </p:nvPr>
        </p:nvSpPr>
        <p:spPr/>
        <p:txBody>
          <a:bodyPr/>
          <a:lstStyle/>
          <a:p>
            <a:pPr eaLnBrk="1" hangingPunct="1"/>
            <a:r>
              <a:rPr lang="en-US" altLang="en-US" smtClean="0"/>
              <a:t>SET OPERATIONS (contd.) </a:t>
            </a:r>
          </a:p>
        </p:txBody>
      </p:sp>
      <p:sp>
        <p:nvSpPr>
          <p:cNvPr id="67588" name="Rectangle 7"/>
          <p:cNvSpPr>
            <a:spLocks noGrp="1" noChangeArrowheads="1"/>
          </p:cNvSpPr>
          <p:nvPr>
            <p:ph type="body" idx="1"/>
          </p:nvPr>
        </p:nvSpPr>
        <p:spPr/>
        <p:txBody>
          <a:bodyPr/>
          <a:lstStyle/>
          <a:p>
            <a:pPr eaLnBrk="1" hangingPunct="1">
              <a:lnSpc>
                <a:spcPct val="90000"/>
              </a:lnSpc>
            </a:pPr>
            <a:r>
              <a:rPr lang="en-US" altLang="en-US" sz="2000" smtClean="0"/>
              <a:t>Query 4: Make a list of all project numbers for projects that involve an employee whose last name is 'Smith' as a worker or as a manager of the department that controls the project.</a:t>
            </a:r>
            <a:br>
              <a:rPr lang="en-US" altLang="en-US" sz="2000" smtClean="0"/>
            </a:br>
            <a:endParaRPr lang="en-US" altLang="en-US" sz="2000" smtClean="0"/>
          </a:p>
          <a:p>
            <a:pPr lvl="1" eaLnBrk="1" hangingPunct="1">
              <a:lnSpc>
                <a:spcPct val="90000"/>
              </a:lnSpc>
              <a:buFont typeface="Wingdings" panose="05000000000000000000" pitchFamily="2" charset="2"/>
              <a:buNone/>
            </a:pPr>
            <a:r>
              <a:rPr lang="en-US" altLang="en-US" sz="2000" smtClean="0"/>
              <a:t>Q4:		(SELECT 	PNAME</a:t>
            </a:r>
            <a:br>
              <a:rPr lang="en-US" altLang="en-US" sz="2000" smtClean="0"/>
            </a:br>
            <a:r>
              <a:rPr lang="en-US" altLang="en-US" sz="2000" smtClean="0"/>
              <a:t>		FROM		PROJECT, DEPARTMENT, 						EMPLOYEE</a:t>
            </a:r>
            <a:br>
              <a:rPr lang="en-US" altLang="en-US" sz="2000" smtClean="0"/>
            </a:br>
            <a:r>
              <a:rPr lang="en-US" altLang="en-US" sz="2000" smtClean="0"/>
              <a:t>		WHERE	DNUM=DNUMBER AND 					MGRSSN=SSN AND LNAME='Smith')</a:t>
            </a:r>
            <a:br>
              <a:rPr lang="en-US" altLang="en-US" sz="2000" smtClean="0"/>
            </a:br>
            <a:r>
              <a:rPr lang="en-US" altLang="en-US" sz="2000" smtClean="0"/>
              <a:t>		UNION	</a:t>
            </a:r>
          </a:p>
          <a:p>
            <a:pPr lvl="1" eaLnBrk="1" hangingPunct="1">
              <a:lnSpc>
                <a:spcPct val="90000"/>
              </a:lnSpc>
              <a:buFont typeface="Wingdings" panose="05000000000000000000" pitchFamily="2" charset="2"/>
              <a:buNone/>
            </a:pPr>
            <a:r>
              <a:rPr lang="en-US" altLang="en-US" sz="2000" smtClean="0"/>
              <a:t>			(SELECT  	PNAME</a:t>
            </a:r>
            <a:br>
              <a:rPr lang="en-US" altLang="en-US" sz="2000" smtClean="0"/>
            </a:br>
            <a:r>
              <a:rPr lang="en-US" altLang="en-US" sz="2000" smtClean="0"/>
              <a:t>		FROM		PROJECT, WORKS_ON, EMPLOYEE</a:t>
            </a:r>
            <a:br>
              <a:rPr lang="en-US" altLang="en-US" sz="2000" smtClean="0"/>
            </a:br>
            <a:r>
              <a:rPr lang="en-US" altLang="en-US" sz="2000" smtClean="0"/>
              <a:t>		WHERE	PNUMBER=PNO AND </a:t>
            </a:r>
          </a:p>
          <a:p>
            <a:pPr lvl="1" eaLnBrk="1" hangingPunct="1">
              <a:lnSpc>
                <a:spcPct val="90000"/>
              </a:lnSpc>
              <a:buFont typeface="Wingdings" panose="05000000000000000000" pitchFamily="2" charset="2"/>
              <a:buNone/>
            </a:pPr>
            <a:r>
              <a:rPr lang="en-US" altLang="en-US" sz="2000" smtClean="0"/>
              <a:t>					ESSN=SSN AND NAME='Smith')</a:t>
            </a: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75A82759-ABB7-467A-AA38-E07753568767}" type="slidenum">
              <a:rPr lang="en-US" altLang="en-US" sz="1400" smtClean="0">
                <a:solidFill>
                  <a:srgbClr val="990033"/>
                </a:solidFill>
              </a:rPr>
              <a:pPr>
                <a:spcBef>
                  <a:spcPct val="0"/>
                </a:spcBef>
                <a:buClrTx/>
                <a:buSzTx/>
                <a:buFontTx/>
                <a:buNone/>
              </a:pPr>
              <a:t>32</a:t>
            </a:fld>
            <a:endParaRPr lang="en-CA" altLang="en-US" sz="1400" smtClean="0">
              <a:solidFill>
                <a:srgbClr val="990033"/>
              </a:solidFill>
            </a:endParaRPr>
          </a:p>
        </p:txBody>
      </p:sp>
      <p:sp>
        <p:nvSpPr>
          <p:cNvPr id="69635" name="Rectangle 6"/>
          <p:cNvSpPr>
            <a:spLocks noGrp="1" noChangeArrowheads="1"/>
          </p:cNvSpPr>
          <p:nvPr>
            <p:ph type="title"/>
          </p:nvPr>
        </p:nvSpPr>
        <p:spPr/>
        <p:txBody>
          <a:bodyPr/>
          <a:lstStyle/>
          <a:p>
            <a:pPr eaLnBrk="1" hangingPunct="1"/>
            <a:r>
              <a:rPr lang="en-US" altLang="en-US" smtClean="0"/>
              <a:t>NESTING OF QUERIES</a:t>
            </a:r>
          </a:p>
        </p:txBody>
      </p:sp>
      <p:sp>
        <p:nvSpPr>
          <p:cNvPr id="69636" name="Rectangle 7"/>
          <p:cNvSpPr>
            <a:spLocks noGrp="1" noChangeArrowheads="1"/>
          </p:cNvSpPr>
          <p:nvPr>
            <p:ph type="body" idx="1"/>
          </p:nvPr>
        </p:nvSpPr>
        <p:spPr/>
        <p:txBody>
          <a:bodyPr/>
          <a:lstStyle/>
          <a:p>
            <a:pPr eaLnBrk="1" hangingPunct="1">
              <a:lnSpc>
                <a:spcPct val="80000"/>
              </a:lnSpc>
            </a:pPr>
            <a:r>
              <a:rPr lang="en-US" altLang="en-US" sz="2400" smtClean="0"/>
              <a:t>A complete SELECT query, called a </a:t>
            </a:r>
            <a:r>
              <a:rPr lang="en-US" altLang="en-US" sz="2400" i="1" smtClean="0"/>
              <a:t>nested query</a:t>
            </a:r>
            <a:r>
              <a:rPr lang="en-US" altLang="en-US" sz="2400" smtClean="0"/>
              <a:t>, can be specified within the WHERE-clause of another query, called the </a:t>
            </a:r>
            <a:r>
              <a:rPr lang="en-US" altLang="en-US" sz="2400" i="1" smtClean="0"/>
              <a:t>outer query</a:t>
            </a:r>
          </a:p>
          <a:p>
            <a:pPr lvl="1" eaLnBrk="1" hangingPunct="1">
              <a:lnSpc>
                <a:spcPct val="80000"/>
              </a:lnSpc>
            </a:pPr>
            <a:r>
              <a:rPr lang="en-US" altLang="en-US" sz="2200" smtClean="0"/>
              <a:t>Many of the previous queries can be specified in an alternative form using nesting</a:t>
            </a:r>
          </a:p>
          <a:p>
            <a:pPr eaLnBrk="1" hangingPunct="1">
              <a:lnSpc>
                <a:spcPct val="80000"/>
              </a:lnSpc>
            </a:pPr>
            <a:r>
              <a:rPr lang="en-US" altLang="en-US" sz="2400" smtClean="0"/>
              <a:t>Query 1: Retrieve the name and address of all employees who work for the 'Research' department.</a:t>
            </a:r>
          </a:p>
          <a:p>
            <a:pPr lvl="1" eaLnBrk="1" hangingPunct="1">
              <a:lnSpc>
                <a:spcPct val="80000"/>
              </a:lnSpc>
              <a:buFont typeface="Wingdings" panose="05000000000000000000" pitchFamily="2" charset="2"/>
              <a:buNone/>
            </a:pPr>
            <a:endParaRPr lang="en-US" altLang="en-US" sz="2200" smtClean="0"/>
          </a:p>
          <a:p>
            <a:pPr lvl="1" eaLnBrk="1" hangingPunct="1">
              <a:lnSpc>
                <a:spcPct val="80000"/>
              </a:lnSpc>
              <a:buFont typeface="Wingdings" panose="05000000000000000000" pitchFamily="2" charset="2"/>
              <a:buNone/>
            </a:pPr>
            <a:r>
              <a:rPr lang="en-US" altLang="en-US" sz="2200" smtClean="0"/>
              <a:t>Q1:	SELECT	FNAME, LNAME, ADDRESS</a:t>
            </a:r>
            <a:br>
              <a:rPr lang="en-US" altLang="en-US" sz="2200" smtClean="0"/>
            </a:br>
            <a:r>
              <a:rPr lang="en-US" altLang="en-US" sz="2200" smtClean="0"/>
              <a:t>	FROM 		EMPLOYEE</a:t>
            </a:r>
            <a:br>
              <a:rPr lang="en-US" altLang="en-US" sz="2200" smtClean="0"/>
            </a:br>
            <a:r>
              <a:rPr lang="en-US" altLang="en-US" sz="2200" smtClean="0"/>
              <a:t>	WHERE	DNO IN  (SELECT  DNUMBER</a:t>
            </a:r>
            <a:br>
              <a:rPr lang="en-US" altLang="en-US" sz="2200" smtClean="0"/>
            </a:br>
            <a:r>
              <a:rPr lang="en-US" altLang="en-US" sz="2200" smtClean="0"/>
              <a:t>	FROM		DEPARTMENT</a:t>
            </a:r>
            <a:br>
              <a:rPr lang="en-US" altLang="en-US" sz="2200" smtClean="0"/>
            </a:br>
            <a:r>
              <a:rPr lang="en-US" altLang="en-US" sz="2200" smtClean="0"/>
              <a:t>	WHERE	DNAME='Research' )</a:t>
            </a:r>
            <a:br>
              <a:rPr lang="en-US" altLang="en-US" sz="2200" smtClean="0"/>
            </a:br>
            <a:endParaRPr lang="en-US" altLang="en-US" sz="2200" smtClean="0"/>
          </a:p>
        </p:txBody>
      </p:sp>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BE6D4C3-8D86-4677-AF88-3785255C7891}" type="slidenum">
              <a:rPr lang="en-US" altLang="en-US" sz="1400" smtClean="0">
                <a:solidFill>
                  <a:srgbClr val="990033"/>
                </a:solidFill>
              </a:rPr>
              <a:pPr>
                <a:spcBef>
                  <a:spcPct val="0"/>
                </a:spcBef>
                <a:buClrTx/>
                <a:buSzTx/>
                <a:buFontTx/>
                <a:buNone/>
              </a:pPr>
              <a:t>33</a:t>
            </a:fld>
            <a:endParaRPr lang="en-CA" altLang="en-US" sz="1400" smtClean="0">
              <a:solidFill>
                <a:srgbClr val="990033"/>
              </a:solidFill>
            </a:endParaRPr>
          </a:p>
        </p:txBody>
      </p:sp>
      <p:sp>
        <p:nvSpPr>
          <p:cNvPr id="71683" name="Rectangle 6"/>
          <p:cNvSpPr>
            <a:spLocks noGrp="1" noChangeArrowheads="1"/>
          </p:cNvSpPr>
          <p:nvPr>
            <p:ph type="title"/>
          </p:nvPr>
        </p:nvSpPr>
        <p:spPr/>
        <p:txBody>
          <a:bodyPr/>
          <a:lstStyle/>
          <a:p>
            <a:pPr eaLnBrk="1" hangingPunct="1"/>
            <a:r>
              <a:rPr lang="en-US" altLang="en-US" smtClean="0"/>
              <a:t>NESTING OF QUERIES (contd.)</a:t>
            </a:r>
          </a:p>
        </p:txBody>
      </p:sp>
      <p:sp>
        <p:nvSpPr>
          <p:cNvPr id="71684" name="Rectangle 7"/>
          <p:cNvSpPr>
            <a:spLocks noGrp="1" noChangeArrowheads="1"/>
          </p:cNvSpPr>
          <p:nvPr>
            <p:ph type="body" idx="1"/>
          </p:nvPr>
        </p:nvSpPr>
        <p:spPr/>
        <p:txBody>
          <a:bodyPr/>
          <a:lstStyle/>
          <a:p>
            <a:pPr eaLnBrk="1" hangingPunct="1">
              <a:lnSpc>
                <a:spcPct val="90000"/>
              </a:lnSpc>
            </a:pPr>
            <a:r>
              <a:rPr lang="en-US" altLang="en-US" sz="2400" smtClean="0"/>
              <a:t>The nested query selects the number of the 'Research' department</a:t>
            </a:r>
          </a:p>
          <a:p>
            <a:pPr eaLnBrk="1" hangingPunct="1">
              <a:lnSpc>
                <a:spcPct val="90000"/>
              </a:lnSpc>
            </a:pPr>
            <a:r>
              <a:rPr lang="en-US" altLang="en-US" sz="2400" smtClean="0">
                <a:solidFill>
                  <a:srgbClr val="FF0000"/>
                </a:solidFill>
              </a:rPr>
              <a:t>The outer query select an EMPLOYEE tuple if its DNO value is in the result of either nested query</a:t>
            </a:r>
          </a:p>
          <a:p>
            <a:pPr eaLnBrk="1" hangingPunct="1">
              <a:lnSpc>
                <a:spcPct val="90000"/>
              </a:lnSpc>
            </a:pPr>
            <a:r>
              <a:rPr lang="en-US" altLang="en-US" sz="2400" smtClean="0"/>
              <a:t>The </a:t>
            </a:r>
            <a:r>
              <a:rPr lang="en-US" altLang="en-US" sz="2400" smtClean="0">
                <a:solidFill>
                  <a:srgbClr val="00B050"/>
                </a:solidFill>
              </a:rPr>
              <a:t>comparison operator IN </a:t>
            </a:r>
            <a:r>
              <a:rPr lang="en-US" altLang="en-US" sz="2400" smtClean="0"/>
              <a:t>compares a value v with a set (or multi-set) of values V, and evaluates to TRUE if v is one of the elements in V</a:t>
            </a:r>
          </a:p>
          <a:p>
            <a:pPr eaLnBrk="1" hangingPunct="1">
              <a:lnSpc>
                <a:spcPct val="90000"/>
              </a:lnSpc>
            </a:pPr>
            <a:r>
              <a:rPr lang="en-US" altLang="en-US" sz="2400" smtClean="0"/>
              <a:t>In general, we can have several levels of nested queries</a:t>
            </a:r>
          </a:p>
          <a:p>
            <a:pPr eaLnBrk="1" hangingPunct="1">
              <a:lnSpc>
                <a:spcPct val="90000"/>
              </a:lnSpc>
            </a:pPr>
            <a:r>
              <a:rPr lang="en-US" altLang="en-US" sz="2400" smtClean="0"/>
              <a:t>A reference to an </a:t>
            </a:r>
            <a:r>
              <a:rPr lang="en-US" altLang="en-US" sz="2400" i="1" smtClean="0"/>
              <a:t>unqualified attribute</a:t>
            </a:r>
            <a:r>
              <a:rPr lang="en-US" altLang="en-US" sz="2400" smtClean="0"/>
              <a:t> refers to the relation declared in the </a:t>
            </a:r>
            <a:r>
              <a:rPr lang="en-US" altLang="en-US" sz="2400" i="1" smtClean="0"/>
              <a:t>innermost nested query</a:t>
            </a:r>
          </a:p>
          <a:p>
            <a:pPr eaLnBrk="1" hangingPunct="1">
              <a:lnSpc>
                <a:spcPct val="90000"/>
              </a:lnSpc>
            </a:pPr>
            <a:r>
              <a:rPr lang="en-US" altLang="en-US" sz="2400" smtClean="0"/>
              <a:t>In this example, the nested query is </a:t>
            </a:r>
            <a:r>
              <a:rPr lang="en-US" altLang="en-US" sz="2400" i="1" smtClean="0"/>
              <a:t>not correlated</a:t>
            </a:r>
            <a:r>
              <a:rPr lang="en-US" altLang="en-US" sz="2400" smtClean="0"/>
              <a:t> with the outer query</a:t>
            </a:r>
          </a:p>
        </p:txBody>
      </p:sp>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DDC75AC-AB6E-4AEA-B079-FCED8F74372B}" type="slidenum">
              <a:rPr lang="en-US" altLang="en-US" sz="1400" smtClean="0">
                <a:solidFill>
                  <a:srgbClr val="990033"/>
                </a:solidFill>
              </a:rPr>
              <a:pPr>
                <a:spcBef>
                  <a:spcPct val="0"/>
                </a:spcBef>
                <a:buClrTx/>
                <a:buSzTx/>
                <a:buFontTx/>
                <a:buNone/>
              </a:pPr>
              <a:t>34</a:t>
            </a:fld>
            <a:endParaRPr lang="en-CA" altLang="en-US" sz="1400" smtClean="0">
              <a:solidFill>
                <a:srgbClr val="990033"/>
              </a:solidFill>
            </a:endParaRPr>
          </a:p>
        </p:txBody>
      </p:sp>
      <p:sp>
        <p:nvSpPr>
          <p:cNvPr id="73731" name="Rectangle 6"/>
          <p:cNvSpPr>
            <a:spLocks noGrp="1" noChangeArrowheads="1"/>
          </p:cNvSpPr>
          <p:nvPr>
            <p:ph type="title"/>
          </p:nvPr>
        </p:nvSpPr>
        <p:spPr/>
        <p:txBody>
          <a:bodyPr/>
          <a:lstStyle/>
          <a:p>
            <a:pPr eaLnBrk="1" hangingPunct="1"/>
            <a:r>
              <a:rPr lang="en-US" altLang="en-US" smtClean="0"/>
              <a:t>CORRELATED NESTED QUERIES</a:t>
            </a:r>
          </a:p>
        </p:txBody>
      </p:sp>
      <p:sp>
        <p:nvSpPr>
          <p:cNvPr id="73732" name="Rectangle 7"/>
          <p:cNvSpPr>
            <a:spLocks noGrp="1" noChangeArrowheads="1"/>
          </p:cNvSpPr>
          <p:nvPr>
            <p:ph type="body" idx="1"/>
          </p:nvPr>
        </p:nvSpPr>
        <p:spPr/>
        <p:txBody>
          <a:bodyPr/>
          <a:lstStyle/>
          <a:p>
            <a:pPr eaLnBrk="1" hangingPunct="1">
              <a:lnSpc>
                <a:spcPct val="90000"/>
              </a:lnSpc>
            </a:pPr>
            <a:r>
              <a:rPr lang="en-US" altLang="en-US" sz="2000" smtClean="0">
                <a:solidFill>
                  <a:srgbClr val="00B050"/>
                </a:solidFill>
              </a:rPr>
              <a:t>If a condition in the WHERE-clause of a </a:t>
            </a:r>
            <a:r>
              <a:rPr lang="en-US" altLang="en-US" sz="2000" i="1" smtClean="0">
                <a:solidFill>
                  <a:srgbClr val="00B050"/>
                </a:solidFill>
              </a:rPr>
              <a:t>nested query</a:t>
            </a:r>
            <a:r>
              <a:rPr lang="en-US" altLang="en-US" sz="2000" smtClean="0">
                <a:solidFill>
                  <a:srgbClr val="00B050"/>
                </a:solidFill>
              </a:rPr>
              <a:t> references an attribute of a relation declared in the </a:t>
            </a:r>
            <a:r>
              <a:rPr lang="en-US" altLang="en-US" sz="2000" i="1" smtClean="0">
                <a:solidFill>
                  <a:srgbClr val="00B050"/>
                </a:solidFill>
              </a:rPr>
              <a:t>outer query</a:t>
            </a:r>
            <a:r>
              <a:rPr lang="en-US" altLang="en-US" sz="2000" smtClean="0">
                <a:solidFill>
                  <a:srgbClr val="00B050"/>
                </a:solidFill>
              </a:rPr>
              <a:t>, the two queries are said to be </a:t>
            </a:r>
            <a:r>
              <a:rPr lang="en-US" altLang="en-US" sz="2000" i="1" smtClean="0">
                <a:solidFill>
                  <a:srgbClr val="00B050"/>
                </a:solidFill>
              </a:rPr>
              <a:t>correlated</a:t>
            </a:r>
          </a:p>
          <a:p>
            <a:pPr lvl="1" eaLnBrk="1" hangingPunct="1">
              <a:lnSpc>
                <a:spcPct val="90000"/>
              </a:lnSpc>
            </a:pPr>
            <a:r>
              <a:rPr lang="en-US" altLang="en-US" sz="2000" smtClean="0"/>
              <a:t>The result of a correlated nested query is different for each tuple (or combination of tuples) of the relation(s) the outer query</a:t>
            </a:r>
          </a:p>
          <a:p>
            <a:pPr eaLnBrk="1" hangingPunct="1">
              <a:lnSpc>
                <a:spcPct val="90000"/>
              </a:lnSpc>
            </a:pPr>
            <a:r>
              <a:rPr lang="en-US" altLang="en-US" sz="2000" smtClean="0"/>
              <a:t>Query 12: Retrieve the name of each employee who has a dependent with the same first name as the employee.</a:t>
            </a:r>
            <a:br>
              <a:rPr lang="en-US" altLang="en-US" sz="2000" smtClean="0"/>
            </a:br>
            <a:r>
              <a:rPr lang="en-US" altLang="en-US" sz="2000" smtClean="0"/>
              <a:t/>
            </a:r>
            <a:br>
              <a:rPr lang="en-US" altLang="en-US" sz="2000" smtClean="0"/>
            </a:br>
            <a:r>
              <a:rPr lang="en-US" altLang="en-US" sz="2000" smtClean="0"/>
              <a:t>Q12: SELECT  	E.FNAME, E.LNAME</a:t>
            </a:r>
            <a:br>
              <a:rPr lang="en-US" altLang="en-US" sz="2000" smtClean="0"/>
            </a:br>
            <a:r>
              <a:rPr lang="en-US" altLang="en-US" sz="2000" smtClean="0"/>
              <a:t>	FROM		EMPLOYEE AS E</a:t>
            </a:r>
            <a:br>
              <a:rPr lang="en-US" altLang="en-US" sz="2000" smtClean="0"/>
            </a:br>
            <a:r>
              <a:rPr lang="en-US" altLang="en-US" sz="2000" smtClean="0"/>
              <a:t>	WHERE	E.SSN IN </a:t>
            </a:r>
            <a:br>
              <a:rPr lang="en-US" altLang="en-US" sz="2000" smtClean="0"/>
            </a:br>
            <a:r>
              <a:rPr lang="en-US" altLang="en-US" sz="2000" smtClean="0"/>
              <a:t>				(SELECT 	ESSN</a:t>
            </a:r>
            <a:br>
              <a:rPr lang="en-US" altLang="en-US" sz="2000" smtClean="0"/>
            </a:br>
            <a:r>
              <a:rPr lang="en-US" altLang="en-US" sz="2000" smtClean="0"/>
              <a:t>				FROM		DEPENDENT</a:t>
            </a:r>
            <a:br>
              <a:rPr lang="en-US" altLang="en-US" sz="2000" smtClean="0"/>
            </a:br>
            <a:r>
              <a:rPr lang="en-US" altLang="en-US" sz="2000" smtClean="0"/>
              <a:t>				WHERE	ESSN=E.SSN AND</a:t>
            </a:r>
            <a:br>
              <a:rPr lang="en-US" altLang="en-US" sz="2000" smtClean="0"/>
            </a:br>
            <a:r>
              <a:rPr lang="en-US" altLang="en-US" sz="2000" smtClean="0"/>
              <a:t>			 	E.FNAME=DEPENDENT_NAME)</a:t>
            </a:r>
          </a:p>
        </p:txBody>
      </p:sp>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92864D5-A382-4FA8-9B56-3875927B1093}" type="slidenum">
              <a:rPr lang="en-US" altLang="en-US" sz="1400" smtClean="0">
                <a:solidFill>
                  <a:srgbClr val="990033"/>
                </a:solidFill>
              </a:rPr>
              <a:pPr>
                <a:spcBef>
                  <a:spcPct val="0"/>
                </a:spcBef>
                <a:buClrTx/>
                <a:buSzTx/>
                <a:buFontTx/>
                <a:buNone/>
              </a:pPr>
              <a:t>35</a:t>
            </a:fld>
            <a:endParaRPr lang="en-CA" altLang="en-US" sz="1400" smtClean="0">
              <a:solidFill>
                <a:srgbClr val="990033"/>
              </a:solidFill>
            </a:endParaRPr>
          </a:p>
        </p:txBody>
      </p:sp>
      <p:sp>
        <p:nvSpPr>
          <p:cNvPr id="75779" name="Rectangle 6"/>
          <p:cNvSpPr>
            <a:spLocks noGrp="1" noChangeArrowheads="1"/>
          </p:cNvSpPr>
          <p:nvPr>
            <p:ph type="title"/>
          </p:nvPr>
        </p:nvSpPr>
        <p:spPr/>
        <p:txBody>
          <a:bodyPr/>
          <a:lstStyle/>
          <a:p>
            <a:pPr eaLnBrk="1" hangingPunct="1"/>
            <a:r>
              <a:rPr lang="en-US" altLang="en-US" smtClean="0"/>
              <a:t>CORRELATED NESTED QUERIES (contd.)</a:t>
            </a:r>
          </a:p>
        </p:txBody>
      </p:sp>
      <p:sp>
        <p:nvSpPr>
          <p:cNvPr id="75780" name="Rectangle 7"/>
          <p:cNvSpPr>
            <a:spLocks noGrp="1" noChangeArrowheads="1"/>
          </p:cNvSpPr>
          <p:nvPr>
            <p:ph type="body" idx="1"/>
          </p:nvPr>
        </p:nvSpPr>
        <p:spPr/>
        <p:txBody>
          <a:bodyPr/>
          <a:lstStyle/>
          <a:p>
            <a:pPr eaLnBrk="1" hangingPunct="1"/>
            <a:r>
              <a:rPr lang="en-US" altLang="en-US" sz="2400" smtClean="0"/>
              <a:t>In Q12, the nested query has a different result in the outer query</a:t>
            </a:r>
          </a:p>
          <a:p>
            <a:pPr eaLnBrk="1" hangingPunct="1"/>
            <a:r>
              <a:rPr lang="en-US" altLang="en-US" sz="2400" smtClean="0"/>
              <a:t>A query written with nested SELECT... FROM... WHERE... blocks and using the = or IN comparison operators can </a:t>
            </a:r>
            <a:r>
              <a:rPr lang="en-US" altLang="en-US" sz="2400" b="1" i="1" smtClean="0"/>
              <a:t>always</a:t>
            </a:r>
            <a:r>
              <a:rPr lang="en-US" altLang="en-US" sz="2400" smtClean="0"/>
              <a:t> be expressed as a single block query. For example, Q12 may be written as in Q12A</a:t>
            </a:r>
          </a:p>
          <a:p>
            <a:pPr lvl="1" eaLnBrk="1" hangingPunct="1">
              <a:buFont typeface="Wingdings" panose="05000000000000000000" pitchFamily="2" charset="2"/>
              <a:buNone/>
            </a:pPr>
            <a:r>
              <a:rPr lang="en-US" altLang="en-US" sz="2200" smtClean="0"/>
              <a:t/>
            </a:r>
            <a:br>
              <a:rPr lang="en-US" altLang="en-US" sz="2200" smtClean="0"/>
            </a:br>
            <a:r>
              <a:rPr lang="en-US" altLang="en-US" sz="2200" smtClean="0"/>
              <a:t>Q12A:	SELECT 	E.FNAME, E.LNAME</a:t>
            </a:r>
            <a:br>
              <a:rPr lang="en-US" altLang="en-US" sz="2200" smtClean="0"/>
            </a:br>
            <a:r>
              <a:rPr lang="en-US" altLang="en-US" sz="2200" smtClean="0"/>
              <a:t>		FROM		EMPLOYEE E, DEPENDENT D</a:t>
            </a:r>
            <a:br>
              <a:rPr lang="en-US" altLang="en-US" sz="2200" smtClean="0"/>
            </a:br>
            <a:r>
              <a:rPr lang="en-US" altLang="en-US" sz="2200" smtClean="0"/>
              <a:t>		WHERE	E.SSN=D.ESSN AND						E.FNAME=D.DEPENDENT_NAME</a:t>
            </a:r>
          </a:p>
        </p:txBody>
      </p:sp>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EEA7C040-E0FD-416A-AFCD-C7EF1929D27A}" type="slidenum">
              <a:rPr lang="en-US" altLang="en-US" sz="1400" smtClean="0">
                <a:solidFill>
                  <a:srgbClr val="990033"/>
                </a:solidFill>
              </a:rPr>
              <a:pPr>
                <a:spcBef>
                  <a:spcPct val="0"/>
                </a:spcBef>
                <a:buClrTx/>
                <a:buSzTx/>
                <a:buFontTx/>
                <a:buNone/>
              </a:pPr>
              <a:t>36</a:t>
            </a:fld>
            <a:endParaRPr lang="en-CA" altLang="en-US" sz="1400" smtClean="0">
              <a:solidFill>
                <a:srgbClr val="990033"/>
              </a:solidFill>
            </a:endParaRPr>
          </a:p>
        </p:txBody>
      </p:sp>
      <p:sp>
        <p:nvSpPr>
          <p:cNvPr id="77827" name="Rectangle 6"/>
          <p:cNvSpPr>
            <a:spLocks noGrp="1" noChangeArrowheads="1"/>
          </p:cNvSpPr>
          <p:nvPr>
            <p:ph type="title"/>
          </p:nvPr>
        </p:nvSpPr>
        <p:spPr/>
        <p:txBody>
          <a:bodyPr/>
          <a:lstStyle/>
          <a:p>
            <a:pPr eaLnBrk="1" hangingPunct="1"/>
            <a:r>
              <a:rPr lang="en-US" altLang="en-US" smtClean="0"/>
              <a:t>CORRELATED NESTED QUERIES (contd.)</a:t>
            </a:r>
          </a:p>
        </p:txBody>
      </p:sp>
      <p:sp>
        <p:nvSpPr>
          <p:cNvPr id="77828" name="Rectangle 7"/>
          <p:cNvSpPr>
            <a:spLocks noGrp="1" noChangeArrowheads="1"/>
          </p:cNvSpPr>
          <p:nvPr>
            <p:ph type="body" idx="1"/>
          </p:nvPr>
        </p:nvSpPr>
        <p:spPr/>
        <p:txBody>
          <a:bodyPr/>
          <a:lstStyle/>
          <a:p>
            <a:pPr eaLnBrk="1" hangingPunct="1"/>
            <a:r>
              <a:rPr lang="en-US" altLang="en-US" sz="2400" smtClean="0"/>
              <a:t>The original SQL as specified for SYSTEM R also had a </a:t>
            </a:r>
            <a:r>
              <a:rPr lang="en-US" altLang="en-US" sz="2400" b="1" smtClean="0"/>
              <a:t>CONTAINS</a:t>
            </a:r>
            <a:r>
              <a:rPr lang="en-US" altLang="en-US" sz="2400" smtClean="0"/>
              <a:t> comparison operator, which is used in conjunction with nested correlated queries</a:t>
            </a:r>
          </a:p>
          <a:p>
            <a:pPr lvl="1" eaLnBrk="1" hangingPunct="1"/>
            <a:r>
              <a:rPr lang="en-US" altLang="en-US" sz="2200" smtClean="0"/>
              <a:t>This operator was </a:t>
            </a:r>
            <a:r>
              <a:rPr lang="en-US" altLang="en-US" sz="2200" i="1" smtClean="0"/>
              <a:t>dropped from the language</a:t>
            </a:r>
            <a:r>
              <a:rPr lang="en-US" altLang="en-US" sz="2200" smtClean="0"/>
              <a:t>, possibly because of the difficulty in implementing it efficiently</a:t>
            </a:r>
          </a:p>
          <a:p>
            <a:pPr lvl="1" eaLnBrk="1" hangingPunct="1"/>
            <a:r>
              <a:rPr lang="en-US" altLang="en-US" sz="2200" smtClean="0"/>
              <a:t>Most implementations of SQL do not  have this operator</a:t>
            </a:r>
          </a:p>
          <a:p>
            <a:pPr lvl="1" eaLnBrk="1" hangingPunct="1"/>
            <a:r>
              <a:rPr lang="en-US" altLang="en-US" sz="2200" smtClean="0"/>
              <a:t>The CONTAINS operator compares </a:t>
            </a:r>
            <a:r>
              <a:rPr lang="en-US" altLang="en-US" sz="2200" i="1" smtClean="0"/>
              <a:t>two sets of values</a:t>
            </a:r>
            <a:r>
              <a:rPr lang="en-US" altLang="en-US" sz="2200" smtClean="0"/>
              <a:t>, and returns TRUE if one set contains all values in the other set</a:t>
            </a:r>
          </a:p>
          <a:p>
            <a:pPr lvl="2" eaLnBrk="1" hangingPunct="1"/>
            <a:r>
              <a:rPr lang="en-US" altLang="en-US" sz="2000" smtClean="0"/>
              <a:t>Reminiscent of the division operation of algebra</a:t>
            </a:r>
          </a:p>
        </p:txBody>
      </p:sp>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BF8C23F5-9B58-4CDB-8C76-B09CF082D252}" type="slidenum">
              <a:rPr lang="en-US" altLang="en-US" sz="1400" smtClean="0">
                <a:solidFill>
                  <a:srgbClr val="990033"/>
                </a:solidFill>
              </a:rPr>
              <a:pPr>
                <a:spcBef>
                  <a:spcPct val="0"/>
                </a:spcBef>
                <a:buClrTx/>
                <a:buSzTx/>
                <a:buFontTx/>
                <a:buNone/>
              </a:pPr>
              <a:t>37</a:t>
            </a:fld>
            <a:endParaRPr lang="en-CA" altLang="en-US" sz="1400" smtClean="0">
              <a:solidFill>
                <a:srgbClr val="990033"/>
              </a:solidFill>
            </a:endParaRPr>
          </a:p>
        </p:txBody>
      </p:sp>
      <p:sp>
        <p:nvSpPr>
          <p:cNvPr id="79875" name="Rectangle 2"/>
          <p:cNvSpPr>
            <a:spLocks noGrp="1" noChangeArrowheads="1"/>
          </p:cNvSpPr>
          <p:nvPr>
            <p:ph type="title"/>
          </p:nvPr>
        </p:nvSpPr>
        <p:spPr/>
        <p:txBody>
          <a:bodyPr/>
          <a:lstStyle/>
          <a:p>
            <a:pPr eaLnBrk="1" hangingPunct="1"/>
            <a:r>
              <a:rPr lang="en-US" altLang="en-US" smtClean="0"/>
              <a:t>CORRELATED NESTED QUERIES (contd.)</a:t>
            </a:r>
          </a:p>
        </p:txBody>
      </p:sp>
      <p:sp>
        <p:nvSpPr>
          <p:cNvPr id="79876" name="Rectangle 3"/>
          <p:cNvSpPr>
            <a:spLocks noGrp="1" noChangeArrowheads="1"/>
          </p:cNvSpPr>
          <p:nvPr>
            <p:ph type="body" idx="1"/>
          </p:nvPr>
        </p:nvSpPr>
        <p:spPr/>
        <p:txBody>
          <a:bodyPr/>
          <a:lstStyle/>
          <a:p>
            <a:pPr eaLnBrk="1" hangingPunct="1"/>
            <a:r>
              <a:rPr lang="en-US" altLang="en-US" sz="2400" smtClean="0"/>
              <a:t>Query 3: Retrieve the name of each employee who works on all  the projects controlled by department number 5.</a:t>
            </a:r>
          </a:p>
          <a:p>
            <a:pPr lvl="1" eaLnBrk="1" hangingPunct="1">
              <a:buFont typeface="Wingdings" panose="05000000000000000000" pitchFamily="2" charset="2"/>
              <a:buNone/>
            </a:pPr>
            <a:r>
              <a:rPr lang="en-US" altLang="en-US" sz="2200" smtClean="0"/>
              <a:t/>
            </a:r>
            <a:br>
              <a:rPr lang="en-US" altLang="en-US" sz="2200" smtClean="0"/>
            </a:br>
            <a:r>
              <a:rPr lang="en-US" altLang="en-US" sz="2200" smtClean="0"/>
              <a:t>Q3:	SELECT 	FNAME, LNAME</a:t>
            </a:r>
            <a:br>
              <a:rPr lang="en-US" altLang="en-US" sz="2200" smtClean="0"/>
            </a:br>
            <a:r>
              <a:rPr lang="en-US" altLang="en-US" sz="2200" smtClean="0"/>
              <a:t>		FROM		EMPLOYEE</a:t>
            </a:r>
            <a:br>
              <a:rPr lang="en-US" altLang="en-US" sz="2200" smtClean="0"/>
            </a:br>
            <a:r>
              <a:rPr lang="en-US" altLang="en-US" sz="2200" smtClean="0"/>
              <a:t>		WHERE  ( 	(SELECT	PNO</a:t>
            </a:r>
            <a:br>
              <a:rPr lang="en-US" altLang="en-US" sz="2200" smtClean="0"/>
            </a:br>
            <a:r>
              <a:rPr lang="en-US" altLang="en-US" sz="2200" smtClean="0"/>
              <a:t>		   		FROM		WORKS_ON</a:t>
            </a:r>
            <a:br>
              <a:rPr lang="en-US" altLang="en-US" sz="2200" smtClean="0"/>
            </a:br>
            <a:r>
              <a:rPr lang="en-US" altLang="en-US" sz="2200" smtClean="0"/>
              <a:t>		   		WHERE	SSN=ESSN)</a:t>
            </a:r>
            <a:br>
              <a:rPr lang="en-US" altLang="en-US" sz="2200" smtClean="0"/>
            </a:br>
            <a:r>
              <a:rPr lang="en-US" altLang="en-US" sz="2200" smtClean="0"/>
              <a:t>		   			CONTAINS</a:t>
            </a:r>
            <a:br>
              <a:rPr lang="en-US" altLang="en-US" sz="2200" smtClean="0"/>
            </a:br>
            <a:r>
              <a:rPr lang="en-US" altLang="en-US" sz="2200" smtClean="0"/>
              <a:t>		  		(SELECT	PNUMBER</a:t>
            </a:r>
            <a:br>
              <a:rPr lang="en-US" altLang="en-US" sz="2200" smtClean="0"/>
            </a:br>
            <a:r>
              <a:rPr lang="en-US" altLang="en-US" sz="2200" smtClean="0"/>
              <a:t>		   		FROM		PROJECT</a:t>
            </a:r>
            <a:br>
              <a:rPr lang="en-US" altLang="en-US" sz="2200" smtClean="0"/>
            </a:br>
            <a:r>
              <a:rPr lang="en-US" altLang="en-US" sz="2200" smtClean="0"/>
              <a:t>		   		WHERE	DNUM=5) )</a:t>
            </a:r>
          </a:p>
        </p:txBody>
      </p:sp>
    </p:spTree>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C0639CE-5866-4296-BCFE-87C00C7A8026}" type="slidenum">
              <a:rPr lang="en-US" altLang="en-US" sz="1400" smtClean="0">
                <a:solidFill>
                  <a:srgbClr val="990033"/>
                </a:solidFill>
              </a:rPr>
              <a:pPr>
                <a:spcBef>
                  <a:spcPct val="0"/>
                </a:spcBef>
                <a:buClrTx/>
                <a:buSzTx/>
                <a:buFontTx/>
                <a:buNone/>
              </a:pPr>
              <a:t>38</a:t>
            </a:fld>
            <a:endParaRPr lang="en-CA" altLang="en-US" sz="1400" smtClean="0">
              <a:solidFill>
                <a:srgbClr val="990033"/>
              </a:solidFill>
            </a:endParaRPr>
          </a:p>
        </p:txBody>
      </p:sp>
      <p:sp>
        <p:nvSpPr>
          <p:cNvPr id="81923" name="Rectangle 6"/>
          <p:cNvSpPr>
            <a:spLocks noGrp="1" noChangeArrowheads="1"/>
          </p:cNvSpPr>
          <p:nvPr>
            <p:ph type="title"/>
          </p:nvPr>
        </p:nvSpPr>
        <p:spPr/>
        <p:txBody>
          <a:bodyPr/>
          <a:lstStyle/>
          <a:p>
            <a:pPr eaLnBrk="1" hangingPunct="1"/>
            <a:r>
              <a:rPr lang="en-US" altLang="en-US" smtClean="0"/>
              <a:t>CORRELATED NESTED QUERIES (contd.)</a:t>
            </a:r>
          </a:p>
        </p:txBody>
      </p:sp>
      <p:sp>
        <p:nvSpPr>
          <p:cNvPr id="81924" name="Rectangle 7"/>
          <p:cNvSpPr>
            <a:spLocks noGrp="1" noChangeArrowheads="1"/>
          </p:cNvSpPr>
          <p:nvPr>
            <p:ph type="body" idx="1"/>
          </p:nvPr>
        </p:nvSpPr>
        <p:spPr/>
        <p:txBody>
          <a:bodyPr/>
          <a:lstStyle/>
          <a:p>
            <a:pPr eaLnBrk="1" hangingPunct="1"/>
            <a:r>
              <a:rPr lang="en-US" altLang="en-US" smtClean="0"/>
              <a:t>In Q3, the second nested query, which is </a:t>
            </a:r>
            <a:r>
              <a:rPr lang="en-US" altLang="en-US" i="1" smtClean="0"/>
              <a:t>not correlated</a:t>
            </a:r>
            <a:r>
              <a:rPr lang="en-US" altLang="en-US" smtClean="0"/>
              <a:t> with the outer query, retrieves the project numbers of all projects controlled by department 5</a:t>
            </a:r>
          </a:p>
          <a:p>
            <a:pPr eaLnBrk="1" hangingPunct="1"/>
            <a:r>
              <a:rPr lang="en-US" altLang="en-US" smtClean="0"/>
              <a:t>The first nested query, which is correlated, retrieves the project numbers on which the employee works, which is </a:t>
            </a:r>
            <a:r>
              <a:rPr lang="en-US" altLang="en-US" i="1" smtClean="0"/>
              <a:t>different for each employee tuple</a:t>
            </a:r>
            <a:r>
              <a:rPr lang="en-US" altLang="en-US" smtClean="0"/>
              <a:t> because of the correlation</a:t>
            </a:r>
          </a:p>
        </p:txBody>
      </p:sp>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441B1462-D883-4C9F-9173-BCC84357F412}" type="slidenum">
              <a:rPr lang="en-US" altLang="en-US" sz="1400" smtClean="0">
                <a:solidFill>
                  <a:srgbClr val="990033"/>
                </a:solidFill>
              </a:rPr>
              <a:pPr>
                <a:spcBef>
                  <a:spcPct val="0"/>
                </a:spcBef>
                <a:buClrTx/>
                <a:buSzTx/>
                <a:buFontTx/>
                <a:buNone/>
              </a:pPr>
              <a:t>39</a:t>
            </a:fld>
            <a:endParaRPr lang="en-CA" altLang="en-US" sz="1400" smtClean="0">
              <a:solidFill>
                <a:srgbClr val="990033"/>
              </a:solidFill>
            </a:endParaRPr>
          </a:p>
        </p:txBody>
      </p:sp>
      <p:sp>
        <p:nvSpPr>
          <p:cNvPr id="83971" name="Rectangle 6"/>
          <p:cNvSpPr>
            <a:spLocks noGrp="1" noChangeArrowheads="1"/>
          </p:cNvSpPr>
          <p:nvPr>
            <p:ph type="title"/>
          </p:nvPr>
        </p:nvSpPr>
        <p:spPr/>
        <p:txBody>
          <a:bodyPr/>
          <a:lstStyle/>
          <a:p>
            <a:pPr eaLnBrk="1" hangingPunct="1"/>
            <a:r>
              <a:rPr lang="en-US" altLang="en-US" smtClean="0"/>
              <a:t>THE EXISTS FUNCTION</a:t>
            </a:r>
          </a:p>
        </p:txBody>
      </p:sp>
      <p:sp>
        <p:nvSpPr>
          <p:cNvPr id="83972" name="Rectangle 7"/>
          <p:cNvSpPr>
            <a:spLocks noGrp="1" noChangeArrowheads="1"/>
          </p:cNvSpPr>
          <p:nvPr>
            <p:ph type="body" idx="1"/>
          </p:nvPr>
        </p:nvSpPr>
        <p:spPr/>
        <p:txBody>
          <a:bodyPr/>
          <a:lstStyle/>
          <a:p>
            <a:pPr eaLnBrk="1" hangingPunct="1"/>
            <a:r>
              <a:rPr lang="en-US" altLang="en-US" smtClean="0"/>
              <a:t>EXISTS is used to check whether the result of a correlated nested query is empty (contains no tuples) or not</a:t>
            </a:r>
          </a:p>
          <a:p>
            <a:pPr lvl="1" eaLnBrk="1" hangingPunct="1"/>
            <a:r>
              <a:rPr lang="en-US" altLang="en-US" smtClean="0"/>
              <a:t>We can formulate Query 12 in an alternative form that uses EXISTS as Q12B</a:t>
            </a:r>
          </a:p>
          <a:p>
            <a:pPr eaLnBrk="1" hangingPunct="1"/>
            <a:endParaRPr lang="en-US" altLang="en-US" smtClean="0"/>
          </a:p>
        </p:txBody>
      </p:sp>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42AEB572-0B06-406C-939A-7A49F74A7826}" type="slidenum">
              <a:rPr lang="en-US" altLang="en-US" sz="1400" smtClean="0">
                <a:solidFill>
                  <a:srgbClr val="990033"/>
                </a:solidFill>
              </a:rPr>
              <a:pPr>
                <a:spcBef>
                  <a:spcPct val="0"/>
                </a:spcBef>
                <a:buClrTx/>
                <a:buSzTx/>
                <a:buFontTx/>
                <a:buNone/>
              </a:pPr>
              <a:t>40</a:t>
            </a:fld>
            <a:endParaRPr lang="en-CA" altLang="en-US" sz="1400" smtClean="0">
              <a:solidFill>
                <a:srgbClr val="990033"/>
              </a:solidFill>
            </a:endParaRPr>
          </a:p>
        </p:txBody>
      </p:sp>
      <p:sp>
        <p:nvSpPr>
          <p:cNvPr id="86019" name="Rectangle 6"/>
          <p:cNvSpPr>
            <a:spLocks noGrp="1" noChangeArrowheads="1"/>
          </p:cNvSpPr>
          <p:nvPr>
            <p:ph type="title"/>
          </p:nvPr>
        </p:nvSpPr>
        <p:spPr/>
        <p:txBody>
          <a:bodyPr/>
          <a:lstStyle/>
          <a:p>
            <a:pPr eaLnBrk="1" hangingPunct="1"/>
            <a:r>
              <a:rPr lang="en-US" altLang="en-US" smtClean="0"/>
              <a:t>THE EXISTS FUNCTION (contd.)</a:t>
            </a:r>
          </a:p>
        </p:txBody>
      </p:sp>
      <p:sp>
        <p:nvSpPr>
          <p:cNvPr id="86020" name="Rectangle 7"/>
          <p:cNvSpPr>
            <a:spLocks noGrp="1" noChangeArrowheads="1"/>
          </p:cNvSpPr>
          <p:nvPr>
            <p:ph type="body" idx="1"/>
          </p:nvPr>
        </p:nvSpPr>
        <p:spPr/>
        <p:txBody>
          <a:bodyPr/>
          <a:lstStyle/>
          <a:p>
            <a:pPr eaLnBrk="1" hangingPunct="1"/>
            <a:r>
              <a:rPr lang="en-US" altLang="en-US" smtClean="0"/>
              <a:t>Query 12: Retrieve the name of each employee who has a dependent with the same first name as the employee.</a:t>
            </a:r>
            <a:br>
              <a:rPr lang="en-US" altLang="en-US" smtClean="0"/>
            </a:br>
            <a:endParaRPr lang="en-US" altLang="en-US" smtClean="0"/>
          </a:p>
          <a:p>
            <a:pPr lvl="1" eaLnBrk="1" hangingPunct="1">
              <a:buFont typeface="Wingdings" panose="05000000000000000000" pitchFamily="2" charset="2"/>
              <a:buNone/>
            </a:pPr>
            <a:r>
              <a:rPr lang="en-US" altLang="en-US" sz="2200" smtClean="0"/>
              <a:t>Q12B: 	SELECT  	FNAME, LNAME</a:t>
            </a:r>
            <a:br>
              <a:rPr lang="en-US" altLang="en-US" sz="2200" smtClean="0"/>
            </a:br>
            <a:r>
              <a:rPr lang="en-US" altLang="en-US" sz="2200" smtClean="0"/>
              <a:t>		FROM		EMPLOYEE</a:t>
            </a:r>
            <a:br>
              <a:rPr lang="en-US" altLang="en-US" sz="2200" smtClean="0"/>
            </a:br>
            <a:r>
              <a:rPr lang="en-US" altLang="en-US" sz="2200" smtClean="0"/>
              <a:t>		WHERE	EXISTS  (SELECT	*</a:t>
            </a:r>
            <a:br>
              <a:rPr lang="en-US" altLang="en-US" sz="2200" smtClean="0"/>
            </a:br>
            <a:r>
              <a:rPr lang="en-US" altLang="en-US" sz="2200" smtClean="0"/>
              <a:t>					FROM		DEPENDENT</a:t>
            </a:r>
            <a:br>
              <a:rPr lang="en-US" altLang="en-US" sz="2200" smtClean="0"/>
            </a:br>
            <a:r>
              <a:rPr lang="en-US" altLang="en-US" sz="2200" smtClean="0"/>
              <a:t>					WHERE	SSN=ESSN 						AND 							FNAME=DEPENDENT_NAME)</a:t>
            </a:r>
          </a:p>
          <a:p>
            <a:pPr eaLnBrk="1" hangingPunct="1"/>
            <a:endParaRPr lang="en-US" altLang="en-US" sz="2400" smtClean="0"/>
          </a:p>
        </p:txBody>
      </p:sp>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8BA0E20-EADF-434A-B080-3AC1F09508F2}" type="slidenum">
              <a:rPr lang="en-US" altLang="en-US" sz="1400" smtClean="0">
                <a:solidFill>
                  <a:srgbClr val="990033"/>
                </a:solidFill>
              </a:rPr>
              <a:pPr>
                <a:spcBef>
                  <a:spcPct val="0"/>
                </a:spcBef>
                <a:buClrTx/>
                <a:buSzTx/>
                <a:buFontTx/>
                <a:buNone/>
              </a:pPr>
              <a:t>41</a:t>
            </a:fld>
            <a:endParaRPr lang="en-CA" altLang="en-US" sz="1400" smtClean="0">
              <a:solidFill>
                <a:srgbClr val="990033"/>
              </a:solidFill>
            </a:endParaRPr>
          </a:p>
        </p:txBody>
      </p:sp>
      <p:sp>
        <p:nvSpPr>
          <p:cNvPr id="88067" name="Rectangle 6"/>
          <p:cNvSpPr>
            <a:spLocks noGrp="1" noChangeArrowheads="1"/>
          </p:cNvSpPr>
          <p:nvPr>
            <p:ph type="title"/>
          </p:nvPr>
        </p:nvSpPr>
        <p:spPr/>
        <p:txBody>
          <a:bodyPr/>
          <a:lstStyle/>
          <a:p>
            <a:pPr eaLnBrk="1" hangingPunct="1"/>
            <a:r>
              <a:rPr lang="en-US" altLang="en-US" smtClean="0"/>
              <a:t>THE EXISTS FUNCTION (contd.)</a:t>
            </a:r>
          </a:p>
        </p:txBody>
      </p:sp>
      <p:sp>
        <p:nvSpPr>
          <p:cNvPr id="88068" name="Rectangle 7"/>
          <p:cNvSpPr>
            <a:spLocks noGrp="1" noChangeArrowheads="1"/>
          </p:cNvSpPr>
          <p:nvPr>
            <p:ph type="body" idx="1"/>
          </p:nvPr>
        </p:nvSpPr>
        <p:spPr/>
        <p:txBody>
          <a:bodyPr/>
          <a:lstStyle/>
          <a:p>
            <a:pPr eaLnBrk="1" hangingPunct="1"/>
            <a:r>
              <a:rPr lang="en-US" altLang="en-US" sz="2400" smtClean="0"/>
              <a:t>Query 6: Retrieve the names of employees who have no dependents.</a:t>
            </a:r>
          </a:p>
          <a:p>
            <a:pPr lvl="1" eaLnBrk="1" hangingPunct="1">
              <a:buFont typeface="Wingdings" panose="05000000000000000000" pitchFamily="2" charset="2"/>
              <a:buNone/>
            </a:pPr>
            <a:r>
              <a:rPr lang="en-US" altLang="en-US" sz="2200" smtClean="0"/>
              <a:t/>
            </a:r>
            <a:br>
              <a:rPr lang="en-US" altLang="en-US" sz="2200" smtClean="0"/>
            </a:br>
            <a:r>
              <a:rPr lang="en-US" altLang="en-US" sz="2200" smtClean="0"/>
              <a:t>Q6:	SELECT  	FNAME, LNAME</a:t>
            </a:r>
            <a:br>
              <a:rPr lang="en-US" altLang="en-US" sz="2200" smtClean="0"/>
            </a:br>
            <a:r>
              <a:rPr lang="en-US" altLang="en-US" sz="2200" smtClean="0"/>
              <a:t>		FROM		EMPLOYEE</a:t>
            </a:r>
            <a:br>
              <a:rPr lang="en-US" altLang="en-US" sz="2200" smtClean="0"/>
            </a:br>
            <a:r>
              <a:rPr lang="en-US" altLang="en-US" sz="2200" smtClean="0"/>
              <a:t>		WHERE	NOT EXISTS   (SELECT	*</a:t>
            </a:r>
            <a:br>
              <a:rPr lang="en-US" altLang="en-US" sz="2200" smtClean="0"/>
            </a:br>
            <a:r>
              <a:rPr lang="en-US" altLang="en-US" sz="2200" smtClean="0"/>
              <a:t>					FROM  	DEPENDENT</a:t>
            </a:r>
            <a:br>
              <a:rPr lang="en-US" altLang="en-US" sz="2200" smtClean="0"/>
            </a:br>
            <a:r>
              <a:rPr lang="en-US" altLang="en-US" sz="2200" smtClean="0"/>
              <a:t>					WHERE 	SSN=ESSN)</a:t>
            </a:r>
          </a:p>
          <a:p>
            <a:pPr eaLnBrk="1" hangingPunct="1"/>
            <a:r>
              <a:rPr lang="en-US" altLang="en-US" sz="2400" smtClean="0"/>
              <a:t>In Q6, the correlated nested query retrieves all DEPENDENT tuples related to an EMPLOYEE tuple. If </a:t>
            </a:r>
            <a:r>
              <a:rPr lang="en-US" altLang="en-US" sz="2400" i="1" smtClean="0"/>
              <a:t>none exist</a:t>
            </a:r>
            <a:r>
              <a:rPr lang="en-US" altLang="en-US" sz="2400" smtClean="0"/>
              <a:t>, the EMPLOYEE tuple is selected</a:t>
            </a:r>
          </a:p>
          <a:p>
            <a:pPr lvl="1" eaLnBrk="1" hangingPunct="1"/>
            <a:r>
              <a:rPr lang="en-US" altLang="en-US" sz="2200" smtClean="0"/>
              <a:t>EXISTS is necessary for the expressive power of SQL</a:t>
            </a:r>
          </a:p>
        </p:txBody>
      </p:sp>
    </p:spTree>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C6E69D63-DF2C-414C-8C57-D32F3E417942}" type="slidenum">
              <a:rPr lang="en-US" altLang="en-US" sz="1400" smtClean="0">
                <a:solidFill>
                  <a:srgbClr val="990033"/>
                </a:solidFill>
              </a:rPr>
              <a:pPr>
                <a:spcBef>
                  <a:spcPct val="0"/>
                </a:spcBef>
                <a:buClrTx/>
                <a:buSzTx/>
                <a:buFontTx/>
                <a:buNone/>
              </a:pPr>
              <a:t>42</a:t>
            </a:fld>
            <a:endParaRPr lang="en-CA" altLang="en-US" sz="1400" smtClean="0">
              <a:solidFill>
                <a:srgbClr val="990033"/>
              </a:solidFill>
            </a:endParaRPr>
          </a:p>
        </p:txBody>
      </p:sp>
      <p:sp>
        <p:nvSpPr>
          <p:cNvPr id="90115" name="Rectangle 6"/>
          <p:cNvSpPr>
            <a:spLocks noGrp="1" noChangeArrowheads="1"/>
          </p:cNvSpPr>
          <p:nvPr>
            <p:ph type="title"/>
          </p:nvPr>
        </p:nvSpPr>
        <p:spPr/>
        <p:txBody>
          <a:bodyPr/>
          <a:lstStyle/>
          <a:p>
            <a:pPr eaLnBrk="1" hangingPunct="1"/>
            <a:r>
              <a:rPr lang="en-US" altLang="en-US" smtClean="0"/>
              <a:t>EXPLICIT SETS</a:t>
            </a:r>
          </a:p>
        </p:txBody>
      </p:sp>
      <p:sp>
        <p:nvSpPr>
          <p:cNvPr id="90116" name="Rectangle 7"/>
          <p:cNvSpPr>
            <a:spLocks noGrp="1" noChangeArrowheads="1"/>
          </p:cNvSpPr>
          <p:nvPr>
            <p:ph type="body" idx="1"/>
          </p:nvPr>
        </p:nvSpPr>
        <p:spPr/>
        <p:txBody>
          <a:bodyPr/>
          <a:lstStyle/>
          <a:p>
            <a:pPr eaLnBrk="1" hangingPunct="1"/>
            <a:r>
              <a:rPr lang="en-US" altLang="en-US" smtClean="0"/>
              <a:t>It is also possible to use an </a:t>
            </a:r>
            <a:r>
              <a:rPr lang="en-US" altLang="en-US" b="1" smtClean="0"/>
              <a:t>explicit (enumerated) set of values</a:t>
            </a:r>
            <a:r>
              <a:rPr lang="en-US" altLang="en-US" smtClean="0"/>
              <a:t> in the WHERE-clause rather than a nested query</a:t>
            </a:r>
          </a:p>
          <a:p>
            <a:pPr eaLnBrk="1" hangingPunct="1"/>
            <a:r>
              <a:rPr lang="en-US" altLang="en-US" smtClean="0"/>
              <a:t>Query 13: Retrieve the social security numbers of all employees who work on project number 1, 2, or 3.</a:t>
            </a:r>
          </a:p>
          <a:p>
            <a:pPr lvl="1" eaLnBrk="1" hangingPunct="1">
              <a:buFont typeface="Wingdings" panose="05000000000000000000" pitchFamily="2" charset="2"/>
              <a:buNone/>
            </a:pPr>
            <a:r>
              <a:rPr lang="en-US" altLang="en-US" smtClean="0"/>
              <a:t>Q13:	SELECT  	DISTINCT ESSN</a:t>
            </a:r>
            <a:br>
              <a:rPr lang="en-US" altLang="en-US" smtClean="0"/>
            </a:br>
            <a:r>
              <a:rPr lang="en-US" altLang="en-US" smtClean="0"/>
              <a:t>		FROM	WORKS_ON</a:t>
            </a:r>
            <a:br>
              <a:rPr lang="en-US" altLang="en-US" smtClean="0"/>
            </a:br>
            <a:r>
              <a:rPr lang="en-US" altLang="en-US" smtClean="0"/>
              <a:t>		WHERE	PNO IN  (1, 2, 3)</a:t>
            </a:r>
          </a:p>
        </p:txBody>
      </p:sp>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7C0EA192-80DC-4663-A2DB-C208C93A4E9C}" type="slidenum">
              <a:rPr lang="en-US" altLang="en-US" sz="1400" smtClean="0">
                <a:solidFill>
                  <a:srgbClr val="990033"/>
                </a:solidFill>
              </a:rPr>
              <a:pPr>
                <a:spcBef>
                  <a:spcPct val="0"/>
                </a:spcBef>
                <a:buClrTx/>
                <a:buSzTx/>
                <a:buFontTx/>
                <a:buNone/>
              </a:pPr>
              <a:t>43</a:t>
            </a:fld>
            <a:endParaRPr lang="en-CA" altLang="en-US" sz="1400" smtClean="0">
              <a:solidFill>
                <a:srgbClr val="990033"/>
              </a:solidFill>
            </a:endParaRPr>
          </a:p>
        </p:txBody>
      </p:sp>
      <p:sp>
        <p:nvSpPr>
          <p:cNvPr id="92163" name="Rectangle 6"/>
          <p:cNvSpPr>
            <a:spLocks noGrp="1" noChangeArrowheads="1"/>
          </p:cNvSpPr>
          <p:nvPr>
            <p:ph type="title"/>
          </p:nvPr>
        </p:nvSpPr>
        <p:spPr/>
        <p:txBody>
          <a:bodyPr/>
          <a:lstStyle/>
          <a:p>
            <a:pPr eaLnBrk="1" hangingPunct="1"/>
            <a:r>
              <a:rPr lang="en-US" altLang="en-US" smtClean="0"/>
              <a:t>NULLS IN SQL QUERIES</a:t>
            </a:r>
          </a:p>
        </p:txBody>
      </p:sp>
      <p:sp>
        <p:nvSpPr>
          <p:cNvPr id="92164" name="Rectangle 7"/>
          <p:cNvSpPr>
            <a:spLocks noGrp="1" noChangeArrowheads="1"/>
          </p:cNvSpPr>
          <p:nvPr>
            <p:ph type="body" idx="1"/>
          </p:nvPr>
        </p:nvSpPr>
        <p:spPr/>
        <p:txBody>
          <a:bodyPr/>
          <a:lstStyle/>
          <a:p>
            <a:pPr eaLnBrk="1" hangingPunct="1">
              <a:lnSpc>
                <a:spcPct val="90000"/>
              </a:lnSpc>
            </a:pPr>
            <a:r>
              <a:rPr lang="en-US" altLang="en-US" sz="2400" smtClean="0"/>
              <a:t>SQL allows queries that check if a value is </a:t>
            </a:r>
            <a:r>
              <a:rPr lang="en-US" altLang="en-US" sz="2400" b="1" smtClean="0"/>
              <a:t>NULL</a:t>
            </a:r>
            <a:r>
              <a:rPr lang="en-US" altLang="en-US" sz="2400" smtClean="0"/>
              <a:t> (missing or undefined or not applicable)</a:t>
            </a:r>
          </a:p>
          <a:p>
            <a:pPr eaLnBrk="1" hangingPunct="1">
              <a:lnSpc>
                <a:spcPct val="90000"/>
              </a:lnSpc>
            </a:pPr>
            <a:r>
              <a:rPr lang="en-US" altLang="en-US" sz="2400" smtClean="0"/>
              <a:t>SQL uses </a:t>
            </a:r>
            <a:r>
              <a:rPr lang="en-US" altLang="en-US" sz="2400" b="1" smtClean="0"/>
              <a:t>IS</a:t>
            </a:r>
            <a:r>
              <a:rPr lang="en-US" altLang="en-US" sz="2400" smtClean="0"/>
              <a:t> or </a:t>
            </a:r>
            <a:r>
              <a:rPr lang="en-US" altLang="en-US" sz="2400" b="1" smtClean="0"/>
              <a:t>IS NOT</a:t>
            </a:r>
            <a:r>
              <a:rPr lang="en-US" altLang="en-US" sz="2400" smtClean="0"/>
              <a:t> to compare NULLs because it considers each NULL value distinct from other NULL values, so </a:t>
            </a:r>
            <a:r>
              <a:rPr lang="en-US" altLang="en-US" sz="2400" i="1" smtClean="0"/>
              <a:t>equality comparison is not appropriate</a:t>
            </a:r>
            <a:r>
              <a:rPr lang="en-US" altLang="en-US" sz="2400" smtClean="0"/>
              <a:t>.</a:t>
            </a:r>
          </a:p>
          <a:p>
            <a:pPr eaLnBrk="1" hangingPunct="1">
              <a:lnSpc>
                <a:spcPct val="90000"/>
              </a:lnSpc>
            </a:pPr>
            <a:r>
              <a:rPr lang="en-US" altLang="en-US" sz="2400" smtClean="0"/>
              <a:t>Query 14: Retrieve the names of all employees who do not have supervisors.</a:t>
            </a:r>
          </a:p>
          <a:p>
            <a:pPr lvl="1" eaLnBrk="1" hangingPunct="1">
              <a:lnSpc>
                <a:spcPct val="90000"/>
              </a:lnSpc>
              <a:buFont typeface="Wingdings" panose="05000000000000000000" pitchFamily="2" charset="2"/>
              <a:buNone/>
            </a:pPr>
            <a:r>
              <a:rPr lang="en-US" altLang="en-US" sz="2200" smtClean="0"/>
              <a:t>Q14:	SELECT  	FNAME, LNAME</a:t>
            </a:r>
            <a:br>
              <a:rPr lang="en-US" altLang="en-US" sz="2200" smtClean="0"/>
            </a:br>
            <a:r>
              <a:rPr lang="en-US" altLang="en-US" sz="2200" smtClean="0"/>
              <a:t>		FROM		EMPLOYEE</a:t>
            </a:r>
            <a:br>
              <a:rPr lang="en-US" altLang="en-US" sz="2200" smtClean="0"/>
            </a:br>
            <a:r>
              <a:rPr lang="en-US" altLang="en-US" sz="2200" smtClean="0"/>
              <a:t>		WHERE	SUPERSSN  IS  NULL</a:t>
            </a:r>
          </a:p>
          <a:p>
            <a:pPr lvl="1" eaLnBrk="1" hangingPunct="1">
              <a:lnSpc>
                <a:spcPct val="90000"/>
              </a:lnSpc>
            </a:pPr>
            <a:r>
              <a:rPr lang="en-US" altLang="en-US" sz="2200" smtClean="0"/>
              <a:t>Note: If a join condition is specified, tuples with NULL values for the join attributes are not included in the result</a:t>
            </a:r>
          </a:p>
        </p:txBody>
      </p:sp>
    </p:spTree>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p:txBody>
          <a:bodyPr/>
          <a:lstStyle/>
          <a:p>
            <a:pPr eaLnBrk="1" hangingPunct="1"/>
            <a:r>
              <a:rPr lang="en-US" altLang="en-US" smtClean="0"/>
              <a:t>Joins</a:t>
            </a:r>
          </a:p>
        </p:txBody>
      </p:sp>
      <p:sp>
        <p:nvSpPr>
          <p:cNvPr id="94211" name="Content Placeholder 2"/>
          <p:cNvSpPr>
            <a:spLocks noGrp="1" noChangeArrowheads="1"/>
          </p:cNvSpPr>
          <p:nvPr>
            <p:ph idx="1"/>
          </p:nvPr>
        </p:nvSpPr>
        <p:spPr/>
        <p:txBody>
          <a:bodyPr/>
          <a:lstStyle/>
          <a:p>
            <a:pPr algn="just" eaLnBrk="1" hangingPunct="1"/>
            <a:r>
              <a:rPr lang="en-US" altLang="en-US" sz="2000" smtClean="0"/>
              <a:t>If result columns come from </a:t>
            </a:r>
            <a:r>
              <a:rPr lang="en-US" altLang="en-US" sz="2000" b="1" smtClean="0">
                <a:solidFill>
                  <a:srgbClr val="00B050"/>
                </a:solidFill>
              </a:rPr>
              <a:t>more than one table </a:t>
            </a:r>
            <a:r>
              <a:rPr lang="en-US" altLang="en-US" sz="2000" smtClean="0"/>
              <a:t>must use a join.</a:t>
            </a:r>
          </a:p>
          <a:p>
            <a:pPr algn="just" eaLnBrk="1" hangingPunct="1">
              <a:lnSpc>
                <a:spcPct val="20000"/>
              </a:lnSpc>
            </a:pPr>
            <a:endParaRPr lang="en-US" altLang="en-US" sz="2000" smtClean="0"/>
          </a:p>
          <a:p>
            <a:pPr algn="just" eaLnBrk="1" hangingPunct="1"/>
            <a:r>
              <a:rPr lang="en-US" altLang="en-US" sz="2000" smtClean="0"/>
              <a:t>To perform join, include more than one table in FROM clause.</a:t>
            </a:r>
          </a:p>
          <a:p>
            <a:pPr algn="just" eaLnBrk="1" hangingPunct="1">
              <a:lnSpc>
                <a:spcPct val="20000"/>
              </a:lnSpc>
            </a:pPr>
            <a:endParaRPr lang="en-US" altLang="en-US" sz="2000" smtClean="0"/>
          </a:p>
          <a:p>
            <a:pPr algn="just" eaLnBrk="1" hangingPunct="1"/>
            <a:r>
              <a:rPr lang="en-US" altLang="en-US" sz="2000" smtClean="0"/>
              <a:t>Use comma as separator and typically include WHERE clause to specify join column(s). </a:t>
            </a:r>
          </a:p>
          <a:p>
            <a:pPr algn="just" eaLnBrk="1" hangingPunct="1">
              <a:buFont typeface="Wingdings" panose="05000000000000000000" pitchFamily="2" charset="2"/>
              <a:buNone/>
            </a:pPr>
            <a:endParaRPr lang="en-US" altLang="en-US" sz="2000" smtClean="0"/>
          </a:p>
          <a:p>
            <a:pPr algn="just" eaLnBrk="1" hangingPunct="1"/>
            <a:r>
              <a:rPr lang="en-US" altLang="en-US" sz="2000" smtClean="0"/>
              <a:t>Also possible to use an alias for a table named in FROM clause. </a:t>
            </a:r>
          </a:p>
          <a:p>
            <a:pPr algn="just" eaLnBrk="1" hangingPunct="1">
              <a:lnSpc>
                <a:spcPct val="40000"/>
              </a:lnSpc>
            </a:pPr>
            <a:endParaRPr lang="en-US" altLang="en-US" sz="2000" smtClean="0"/>
          </a:p>
          <a:p>
            <a:pPr algn="just" eaLnBrk="1" hangingPunct="1"/>
            <a:r>
              <a:rPr lang="en-US" altLang="en-US" sz="2000" smtClean="0"/>
              <a:t>Alias is separated from table name with a space. </a:t>
            </a:r>
          </a:p>
          <a:p>
            <a:pPr algn="just" eaLnBrk="1" hangingPunct="1">
              <a:lnSpc>
                <a:spcPct val="40000"/>
              </a:lnSpc>
            </a:pPr>
            <a:endParaRPr lang="en-US" altLang="en-US" sz="2000" smtClean="0"/>
          </a:p>
          <a:p>
            <a:pPr algn="just" eaLnBrk="1" hangingPunct="1"/>
            <a:r>
              <a:rPr lang="en-US" altLang="en-US" sz="2000" smtClean="0"/>
              <a:t>Alias can be used to qualify column names when there is ambiguity.</a:t>
            </a:r>
          </a:p>
        </p:txBody>
      </p:sp>
      <p:sp>
        <p:nvSpPr>
          <p:cNvPr id="9421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A40DD04-FD29-4637-842D-2ACCADD84FD2}" type="slidenum">
              <a:rPr lang="en-US" altLang="en-US" sz="1400" smtClean="0">
                <a:solidFill>
                  <a:srgbClr val="990033"/>
                </a:solidFill>
              </a:rPr>
              <a:pPr>
                <a:spcBef>
                  <a:spcPct val="0"/>
                </a:spcBef>
                <a:buClrTx/>
                <a:buSzTx/>
                <a:buFontTx/>
                <a:buNone/>
              </a:pPr>
              <a:t>44</a:t>
            </a:fld>
            <a:endParaRPr lang="en-CA" altLang="en-US" sz="1400" smtClean="0">
              <a:solidFill>
                <a:srgbClr val="990033"/>
              </a:solidFill>
            </a:endParaRPr>
          </a:p>
        </p:txBody>
      </p:sp>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C7934D2A-4170-460A-9659-6822E7533175}" type="slidenum">
              <a:rPr lang="en-US" altLang="en-US" sz="1400" smtClean="0">
                <a:solidFill>
                  <a:srgbClr val="990033"/>
                </a:solidFill>
              </a:rPr>
              <a:pPr>
                <a:spcBef>
                  <a:spcPct val="0"/>
                </a:spcBef>
                <a:buClrTx/>
                <a:buSzTx/>
                <a:buFontTx/>
                <a:buNone/>
              </a:pPr>
              <a:t>45</a:t>
            </a:fld>
            <a:endParaRPr lang="en-CA" altLang="en-US" sz="1400" smtClean="0">
              <a:solidFill>
                <a:srgbClr val="990033"/>
              </a:solidFill>
            </a:endParaRPr>
          </a:p>
        </p:txBody>
      </p:sp>
      <p:sp>
        <p:nvSpPr>
          <p:cNvPr id="95235" name="Rectangle 6"/>
          <p:cNvSpPr>
            <a:spLocks noGrp="1" noChangeArrowheads="1"/>
          </p:cNvSpPr>
          <p:nvPr>
            <p:ph type="title"/>
          </p:nvPr>
        </p:nvSpPr>
        <p:spPr/>
        <p:txBody>
          <a:bodyPr/>
          <a:lstStyle/>
          <a:p>
            <a:pPr eaLnBrk="1" hangingPunct="1"/>
            <a:r>
              <a:rPr lang="en-US" altLang="en-US" smtClean="0"/>
              <a:t>Joined Relations Feature </a:t>
            </a:r>
            <a:br>
              <a:rPr lang="en-US" altLang="en-US" smtClean="0"/>
            </a:br>
            <a:r>
              <a:rPr lang="en-US" altLang="en-US" smtClean="0"/>
              <a:t>in SQL2</a:t>
            </a:r>
          </a:p>
        </p:txBody>
      </p:sp>
      <p:sp>
        <p:nvSpPr>
          <p:cNvPr id="95236" name="Rectangle 7"/>
          <p:cNvSpPr>
            <a:spLocks noGrp="1" noChangeArrowheads="1"/>
          </p:cNvSpPr>
          <p:nvPr>
            <p:ph type="body" idx="1"/>
          </p:nvPr>
        </p:nvSpPr>
        <p:spPr/>
        <p:txBody>
          <a:bodyPr/>
          <a:lstStyle/>
          <a:p>
            <a:pPr eaLnBrk="1" hangingPunct="1"/>
            <a:r>
              <a:rPr lang="en-US" altLang="en-US" smtClean="0"/>
              <a:t>Can specify a "joined relation" in the FROM-clause</a:t>
            </a:r>
          </a:p>
          <a:p>
            <a:pPr lvl="1" eaLnBrk="1" hangingPunct="1"/>
            <a:r>
              <a:rPr lang="en-US" altLang="en-US" smtClean="0"/>
              <a:t>Looks like any other relation but is the result of a join</a:t>
            </a:r>
          </a:p>
          <a:p>
            <a:pPr lvl="1" eaLnBrk="1" hangingPunct="1"/>
            <a:r>
              <a:rPr lang="en-US" altLang="en-US" smtClean="0"/>
              <a:t>Allows the user to specify different types of joins (regular "theta" JOIN, NATURAL JOIN, LEFT OUTER JOIN, RIGHT OUTER JOIN, CROSS JOIN, etc)</a:t>
            </a:r>
            <a:br>
              <a:rPr lang="en-US" altLang="en-US" smtClean="0"/>
            </a:br>
            <a:endParaRPr lang="en-US" altLang="en-US" smtClean="0"/>
          </a:p>
        </p:txBody>
      </p:sp>
    </p:spTree>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p:txBody>
          <a:bodyPr/>
          <a:lstStyle/>
          <a:p>
            <a:pPr eaLnBrk="1" hangingPunct="1"/>
            <a:r>
              <a:rPr lang="en-US" altLang="en-US" smtClean="0"/>
              <a:t>Types of Joins</a:t>
            </a:r>
          </a:p>
        </p:txBody>
      </p:sp>
      <p:sp>
        <p:nvSpPr>
          <p:cNvPr id="97283" name="Content Placeholder 2"/>
          <p:cNvSpPr>
            <a:spLocks noGrp="1" noChangeArrowheads="1"/>
          </p:cNvSpPr>
          <p:nvPr>
            <p:ph idx="1"/>
          </p:nvPr>
        </p:nvSpPr>
        <p:spPr/>
        <p:txBody>
          <a:bodyPr/>
          <a:lstStyle/>
          <a:p>
            <a:pPr eaLnBrk="1" hangingPunct="1"/>
            <a:r>
              <a:rPr lang="en-US" altLang="en-US" sz="2000" smtClean="0"/>
              <a:t>Inner Join</a:t>
            </a:r>
          </a:p>
          <a:p>
            <a:pPr eaLnBrk="1" hangingPunct="1"/>
            <a:r>
              <a:rPr lang="en-US" altLang="en-US" sz="2000" smtClean="0"/>
              <a:t>Outer Join</a:t>
            </a:r>
          </a:p>
          <a:p>
            <a:pPr lvl="1" eaLnBrk="1" hangingPunct="1"/>
            <a:r>
              <a:rPr lang="en-US" altLang="en-US" sz="1600" smtClean="0"/>
              <a:t>Left Outer Join</a:t>
            </a:r>
          </a:p>
          <a:p>
            <a:pPr lvl="1" eaLnBrk="1" hangingPunct="1"/>
            <a:r>
              <a:rPr lang="en-US" altLang="en-US" sz="1600" smtClean="0"/>
              <a:t>Right Outer Join</a:t>
            </a:r>
          </a:p>
          <a:p>
            <a:pPr lvl="1" eaLnBrk="1" hangingPunct="1"/>
            <a:r>
              <a:rPr lang="en-US" altLang="en-US" sz="1600" smtClean="0"/>
              <a:t>Full Outer Join</a:t>
            </a:r>
          </a:p>
          <a:p>
            <a:pPr eaLnBrk="1" hangingPunct="1"/>
            <a:endParaRPr lang="en-US" altLang="en-US" smtClean="0"/>
          </a:p>
        </p:txBody>
      </p:sp>
      <p:sp>
        <p:nvSpPr>
          <p:cNvPr id="9728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13F67E8-2370-4557-B419-BEF48D30798B}" type="slidenum">
              <a:rPr lang="en-US" altLang="en-US" sz="1400" smtClean="0">
                <a:solidFill>
                  <a:srgbClr val="990033"/>
                </a:solidFill>
              </a:rPr>
              <a:pPr>
                <a:spcBef>
                  <a:spcPct val="0"/>
                </a:spcBef>
                <a:buClrTx/>
                <a:buSzTx/>
                <a:buFontTx/>
                <a:buNone/>
              </a:pPr>
              <a:t>46</a:t>
            </a:fld>
            <a:endParaRPr lang="en-CA" altLang="en-US" sz="1400" smtClean="0">
              <a:solidFill>
                <a:srgbClr val="990033"/>
              </a:solidFill>
            </a:endParaRPr>
          </a:p>
        </p:txBody>
      </p:sp>
      <p:pic>
        <p:nvPicPr>
          <p:cNvPr id="9728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905000"/>
            <a:ext cx="6210300"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a:xfrm>
            <a:off x="355600" y="104775"/>
            <a:ext cx="7886700" cy="1325563"/>
          </a:xfrm>
        </p:spPr>
        <p:txBody>
          <a:bodyPr/>
          <a:lstStyle/>
          <a:p>
            <a:r>
              <a:rPr lang="en-US" altLang="en-US" smtClean="0"/>
              <a:t>Cross Join</a:t>
            </a:r>
          </a:p>
        </p:txBody>
      </p:sp>
      <p:sp>
        <p:nvSpPr>
          <p:cNvPr id="98307" name="Text Placeholder 6"/>
          <p:cNvSpPr>
            <a:spLocks noGrp="1"/>
          </p:cNvSpPr>
          <p:nvPr>
            <p:ph type="body" idx="1"/>
          </p:nvPr>
        </p:nvSpPr>
        <p:spPr/>
        <p:txBody>
          <a:bodyPr/>
          <a:lstStyle/>
          <a:p>
            <a:r>
              <a:rPr lang="en-US" altLang="en-US" smtClean="0"/>
              <a:t>Employee</a:t>
            </a:r>
          </a:p>
        </p:txBody>
      </p:sp>
      <p:sp>
        <p:nvSpPr>
          <p:cNvPr id="98308" name="Text Placeholder 7"/>
          <p:cNvSpPr>
            <a:spLocks noGrp="1"/>
          </p:cNvSpPr>
          <p:nvPr>
            <p:ph type="body" sz="quarter" idx="3"/>
          </p:nvPr>
        </p:nvSpPr>
        <p:spPr/>
        <p:txBody>
          <a:bodyPr/>
          <a:lstStyle/>
          <a:p>
            <a:endParaRPr lang="en-US" altLang="en-US" smtClean="0"/>
          </a:p>
        </p:txBody>
      </p:sp>
      <p:sp>
        <p:nvSpPr>
          <p:cNvPr id="98309" name="Content Placeholder 8"/>
          <p:cNvSpPr>
            <a:spLocks noGrp="1"/>
          </p:cNvSpPr>
          <p:nvPr>
            <p:ph sz="quarter" idx="4"/>
          </p:nvPr>
        </p:nvSpPr>
        <p:spPr/>
        <p:txBody>
          <a:bodyPr/>
          <a:lstStyle/>
          <a:p>
            <a:r>
              <a:rPr lang="en-US" altLang="en-US" smtClean="0"/>
              <a:t>Department</a:t>
            </a:r>
          </a:p>
          <a:p>
            <a:endParaRPr lang="en-US" altLang="en-US" smtClean="0"/>
          </a:p>
        </p:txBody>
      </p:sp>
      <p:sp>
        <p:nvSpPr>
          <p:cNvPr id="983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55F8C16B-9029-4689-AC41-B21D02B7F892}" type="slidenum">
              <a:rPr lang="en-US" altLang="en-US" sz="1400" smtClean="0">
                <a:solidFill>
                  <a:srgbClr val="990033"/>
                </a:solidFill>
              </a:rPr>
              <a:pPr>
                <a:spcBef>
                  <a:spcPct val="0"/>
                </a:spcBef>
                <a:buClrTx/>
                <a:buSzTx/>
                <a:buFontTx/>
                <a:buNone/>
              </a:pPr>
              <a:t>47</a:t>
            </a:fld>
            <a:endParaRPr lang="en-CA" altLang="en-US" sz="1400" smtClean="0">
              <a:solidFill>
                <a:srgbClr val="990033"/>
              </a:solidFill>
            </a:endParaRPr>
          </a:p>
        </p:txBody>
      </p:sp>
      <p:pic>
        <p:nvPicPr>
          <p:cNvPr id="98311"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18138" y="3178175"/>
            <a:ext cx="2824162"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2" name="Content Placeholder 9"/>
          <p:cNvSpPr>
            <a:spLocks noGrp="1"/>
          </p:cNvSpPr>
          <p:nvPr>
            <p:ph sz="half" idx="2"/>
          </p:nvPr>
        </p:nvSpPr>
        <p:spPr/>
        <p:txBody>
          <a:bodyPr/>
          <a:lstStyle/>
          <a:p>
            <a:endParaRPr lang="en-US" altLang="en-US" smtClean="0"/>
          </a:p>
        </p:txBody>
      </p:sp>
      <p:pic>
        <p:nvPicPr>
          <p:cNvPr id="98313"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6913" y="2557463"/>
            <a:ext cx="3876675"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7"/>
          <p:cNvSpPr>
            <a:spLocks noGrp="1"/>
          </p:cNvSpPr>
          <p:nvPr>
            <p:ph type="title"/>
          </p:nvPr>
        </p:nvSpPr>
        <p:spPr/>
        <p:txBody>
          <a:bodyPr/>
          <a:lstStyle/>
          <a:p>
            <a:r>
              <a:rPr lang="en-US" altLang="en-US" smtClean="0"/>
              <a:t>Cross Join</a:t>
            </a:r>
          </a:p>
        </p:txBody>
      </p:sp>
      <p:sp>
        <p:nvSpPr>
          <p:cNvPr id="99331" name="Content Placeholder 8"/>
          <p:cNvSpPr>
            <a:spLocks noGrp="1"/>
          </p:cNvSpPr>
          <p:nvPr>
            <p:ph idx="1"/>
          </p:nvPr>
        </p:nvSpPr>
        <p:spPr/>
        <p:txBody>
          <a:bodyPr/>
          <a:lstStyle/>
          <a:p>
            <a:endParaRPr lang="en-US" altLang="en-US" smtClean="0"/>
          </a:p>
        </p:txBody>
      </p:sp>
      <p:sp>
        <p:nvSpPr>
          <p:cNvPr id="99332" name="Slide Number Placeholder 6"/>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C35B21DE-10DE-482A-8DA3-C7F58D39D7D8}" type="slidenum">
              <a:rPr lang="en-US" altLang="en-US" sz="1400" smtClean="0">
                <a:solidFill>
                  <a:srgbClr val="990033"/>
                </a:solidFill>
              </a:rPr>
              <a:pPr>
                <a:spcBef>
                  <a:spcPct val="0"/>
                </a:spcBef>
                <a:buClrTx/>
                <a:buSzTx/>
                <a:buFontTx/>
                <a:buNone/>
              </a:pPr>
              <a:t>48</a:t>
            </a:fld>
            <a:endParaRPr lang="en-CA" altLang="en-US" sz="1400" smtClean="0">
              <a:solidFill>
                <a:srgbClr val="990033"/>
              </a:solidFill>
            </a:endParaRPr>
          </a:p>
        </p:txBody>
      </p:sp>
      <p:pic>
        <p:nvPicPr>
          <p:cNvPr id="99333"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90650"/>
            <a:ext cx="4619625" cy="40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4"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02138" y="3863975"/>
            <a:ext cx="443706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355600" y="104775"/>
            <a:ext cx="7886700" cy="1325563"/>
          </a:xfrm>
        </p:spPr>
        <p:txBody>
          <a:bodyPr/>
          <a:lstStyle/>
          <a:p>
            <a:r>
              <a:rPr lang="en-US" altLang="en-US" smtClean="0"/>
              <a:t>Inner Join</a:t>
            </a:r>
          </a:p>
        </p:txBody>
      </p:sp>
      <p:sp>
        <p:nvSpPr>
          <p:cNvPr id="100355" name="Text Placeholder 6"/>
          <p:cNvSpPr>
            <a:spLocks noGrp="1"/>
          </p:cNvSpPr>
          <p:nvPr>
            <p:ph type="body" idx="1"/>
          </p:nvPr>
        </p:nvSpPr>
        <p:spPr>
          <a:xfrm>
            <a:off x="134938" y="4025900"/>
            <a:ext cx="3868737" cy="823913"/>
          </a:xfrm>
        </p:spPr>
        <p:txBody>
          <a:bodyPr/>
          <a:lstStyle/>
          <a:p>
            <a:r>
              <a:rPr lang="en-US" altLang="en-US" smtClean="0"/>
              <a:t>Inner Join</a:t>
            </a:r>
          </a:p>
        </p:txBody>
      </p:sp>
      <p:sp>
        <p:nvSpPr>
          <p:cNvPr id="100356" name="Text Placeholder 7"/>
          <p:cNvSpPr>
            <a:spLocks noGrp="1"/>
          </p:cNvSpPr>
          <p:nvPr>
            <p:ph type="body" sz="quarter" idx="3"/>
          </p:nvPr>
        </p:nvSpPr>
        <p:spPr/>
        <p:txBody>
          <a:bodyPr/>
          <a:lstStyle/>
          <a:p>
            <a:endParaRPr lang="en-US" altLang="en-US" smtClean="0"/>
          </a:p>
        </p:txBody>
      </p:sp>
      <p:sp>
        <p:nvSpPr>
          <p:cNvPr id="100357" name="Content Placeholder 8"/>
          <p:cNvSpPr>
            <a:spLocks noGrp="1"/>
          </p:cNvSpPr>
          <p:nvPr>
            <p:ph sz="quarter" idx="4"/>
          </p:nvPr>
        </p:nvSpPr>
        <p:spPr>
          <a:xfrm>
            <a:off x="4570413" y="2093913"/>
            <a:ext cx="3887787" cy="3684587"/>
          </a:xfrm>
        </p:spPr>
        <p:txBody>
          <a:bodyPr/>
          <a:lstStyle/>
          <a:p>
            <a:r>
              <a:rPr lang="en-US" altLang="en-US" smtClean="0"/>
              <a:t>Department</a:t>
            </a:r>
          </a:p>
          <a:p>
            <a:endParaRPr lang="en-US" altLang="en-US" smtClean="0"/>
          </a:p>
        </p:txBody>
      </p:sp>
      <p:sp>
        <p:nvSpPr>
          <p:cNvPr id="100358" name="Slide Number Placeholder 3"/>
          <p:cNvSpPr>
            <a:spLocks noGrp="1"/>
          </p:cNvSpPr>
          <p:nvPr>
            <p:ph type="sldNum" sz="quarter" idx="10"/>
          </p:nvPr>
        </p:nvSpPr>
        <p:spPr>
          <a:xfrm>
            <a:off x="4814888" y="4530725"/>
            <a:ext cx="4173537" cy="1781175"/>
          </a:xfrm>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r>
              <a:rPr lang="en-US" altLang="en-US" sz="1400" b="0" smtClean="0">
                <a:solidFill>
                  <a:srgbClr val="990033"/>
                </a:solidFill>
              </a:rPr>
              <a:t>SELECT t1.emp_id, t1.emp_name, t1.hire_date, t2.dept_name </a:t>
            </a:r>
          </a:p>
          <a:p>
            <a:pPr algn="l">
              <a:spcBef>
                <a:spcPct val="0"/>
              </a:spcBef>
              <a:buClrTx/>
              <a:buSzTx/>
              <a:buFontTx/>
              <a:buNone/>
            </a:pPr>
            <a:r>
              <a:rPr lang="en-US" altLang="en-US" sz="1400" b="0" smtClean="0">
                <a:solidFill>
                  <a:srgbClr val="990033"/>
                </a:solidFill>
              </a:rPr>
              <a:t>FROM employees AS t1 INNER JOIN departments AS t2 ON t1.dept_id = t2.dept_id ORDER BY emp_id</a:t>
            </a:r>
            <a:endParaRPr lang="en-CA" altLang="en-US" sz="1400" smtClean="0">
              <a:solidFill>
                <a:srgbClr val="990033"/>
              </a:solidFill>
            </a:endParaRPr>
          </a:p>
        </p:txBody>
      </p:sp>
      <p:pic>
        <p:nvPicPr>
          <p:cNvPr id="100359"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2768600"/>
            <a:ext cx="2822575"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60"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2039938"/>
            <a:ext cx="3876675"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61"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5600" y="4883150"/>
            <a:ext cx="450532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62" name="Text Placeholder 6"/>
          <p:cNvSpPr txBox="1">
            <a:spLocks/>
          </p:cNvSpPr>
          <p:nvPr/>
        </p:nvSpPr>
        <p:spPr bwMode="auto">
          <a:xfrm>
            <a:off x="152400" y="1270000"/>
            <a:ext cx="386873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nchor="b"/>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buFont typeface="Wingdings" panose="05000000000000000000" pitchFamily="2" charset="2"/>
              <a:buNone/>
            </a:pPr>
            <a:r>
              <a:rPr lang="en-US" altLang="en-US" sz="2400" b="1"/>
              <a:t>Employee</a:t>
            </a:r>
          </a:p>
        </p:txBody>
      </p:sp>
      <p:pic>
        <p:nvPicPr>
          <p:cNvPr id="100363" name="Picture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70413" y="38100"/>
            <a:ext cx="287655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fld id="{936F3569-7590-48B4-A6B1-ADF80FE8C627}" type="slidenum">
              <a:rPr lang="en-US" altLang="en-US" sz="1800" smtClean="0">
                <a:solidFill>
                  <a:schemeClr val="tx1"/>
                </a:solidFill>
              </a:rPr>
              <a:pPr>
                <a:spcBef>
                  <a:spcPct val="0"/>
                </a:spcBef>
                <a:buClrTx/>
                <a:buSzTx/>
                <a:buFontTx/>
                <a:buNone/>
              </a:pPr>
              <a:t>50</a:t>
            </a:fld>
            <a:endParaRPr lang="en-US" altLang="en-US" sz="1800" smtClean="0">
              <a:solidFill>
                <a:schemeClr val="tx1"/>
              </a:solidFill>
            </a:endParaRPr>
          </a:p>
        </p:txBody>
      </p:sp>
      <p:sp>
        <p:nvSpPr>
          <p:cNvPr id="101379" name="Rectangle 2"/>
          <p:cNvSpPr>
            <a:spLocks noGrp="1" noChangeArrowheads="1"/>
          </p:cNvSpPr>
          <p:nvPr>
            <p:ph type="title"/>
          </p:nvPr>
        </p:nvSpPr>
        <p:spPr>
          <a:xfrm>
            <a:off x="457200" y="0"/>
            <a:ext cx="8229600" cy="1066800"/>
          </a:xfrm>
        </p:spPr>
        <p:txBody>
          <a:bodyPr/>
          <a:lstStyle/>
          <a:p>
            <a:pPr eaLnBrk="1" hangingPunct="1"/>
            <a:r>
              <a:rPr lang="en-US" altLang="en-US" sz="4000" smtClean="0"/>
              <a:t>Example: Join (Inner Join)</a:t>
            </a:r>
          </a:p>
        </p:txBody>
      </p:sp>
      <p:pic>
        <p:nvPicPr>
          <p:cNvPr id="1013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213" y="955675"/>
            <a:ext cx="4229100"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13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955675"/>
            <a:ext cx="319087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1382" name="TextBox 23"/>
          <p:cNvSpPr txBox="1">
            <a:spLocks noChangeArrowheads="1"/>
          </p:cNvSpPr>
          <p:nvPr/>
        </p:nvSpPr>
        <p:spPr bwMode="auto">
          <a:xfrm>
            <a:off x="196850" y="2438400"/>
            <a:ext cx="36766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just" eaLnBrk="1" hangingPunct="1">
              <a:spcBef>
                <a:spcPct val="0"/>
              </a:spcBef>
              <a:buClrTx/>
              <a:buSzTx/>
              <a:buFontTx/>
              <a:buNone/>
            </a:pPr>
            <a:r>
              <a:rPr lang="en-US" altLang="en-US" sz="1800">
                <a:solidFill>
                  <a:schemeClr val="tx1"/>
                </a:solidFill>
              </a:rPr>
              <a:t>The default type of join is inner join, where a row is included in the result only if matching row exists in the other relation.</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8"/>
          <p:cNvSpPr>
            <a:spLocks noChangeArrowheads="1"/>
          </p:cNvSpPr>
          <p:nvPr/>
        </p:nvSpPr>
        <p:spPr bwMode="auto">
          <a:xfrm>
            <a:off x="196850" y="3581400"/>
            <a:ext cx="5776913" cy="1600200"/>
          </a:xfrm>
          <a:prstGeom prst="rect">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sp>
        <p:nvSpPr>
          <p:cNvPr id="102403" name="Text Placeholder 2"/>
          <p:cNvSpPr>
            <a:spLocks noGrp="1" noChangeArrowheads="1"/>
          </p:cNvSpPr>
          <p:nvPr>
            <p:ph type="body" sz="half" idx="1"/>
          </p:nvPr>
        </p:nvSpPr>
        <p:spPr>
          <a:xfrm>
            <a:off x="166688" y="3581400"/>
            <a:ext cx="5700712" cy="1524000"/>
          </a:xfrm>
        </p:spPr>
        <p:txBody>
          <a:bodyPr/>
          <a:lstStyle/>
          <a:p>
            <a:pPr marL="0" indent="0" eaLnBrk="1" hangingPunct="1">
              <a:buFontTx/>
              <a:buNone/>
            </a:pPr>
            <a:r>
              <a:rPr lang="en-US" altLang="en-US" sz="2000" smtClean="0"/>
              <a:t>SELECT e.empno, e.deptno, d.dname, d.deptno</a:t>
            </a:r>
          </a:p>
          <a:p>
            <a:pPr marL="0" indent="0" eaLnBrk="1" hangingPunct="1">
              <a:buFontTx/>
              <a:buNone/>
            </a:pPr>
            <a:r>
              <a:rPr lang="en-US" altLang="en-US" sz="2000" smtClean="0"/>
              <a:t>FROM   dept d, emp e</a:t>
            </a:r>
          </a:p>
          <a:p>
            <a:pPr marL="0" indent="0" eaLnBrk="1" hangingPunct="1">
              <a:buFontTx/>
              <a:buNone/>
            </a:pPr>
            <a:r>
              <a:rPr lang="en-US" altLang="en-US" sz="2000" smtClean="0"/>
              <a:t>WHERE </a:t>
            </a:r>
            <a:r>
              <a:rPr lang="en-US" altLang="en-US" sz="2000" smtClean="0">
                <a:solidFill>
                  <a:srgbClr val="FF0000"/>
                </a:solidFill>
              </a:rPr>
              <a:t>d.deptno=e.deptno</a:t>
            </a:r>
          </a:p>
          <a:p>
            <a:pPr marL="0" indent="0" eaLnBrk="1" hangingPunct="1">
              <a:buFontTx/>
              <a:buNone/>
            </a:pPr>
            <a:r>
              <a:rPr lang="en-US" altLang="en-US" sz="2000" smtClean="0"/>
              <a:t>AND d.dname IN ('SALES','RESEARCH');</a:t>
            </a:r>
          </a:p>
        </p:txBody>
      </p:sp>
      <p:sp>
        <p:nvSpPr>
          <p:cNvPr id="102404"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fld id="{6021FD05-578A-4AED-8C23-B46B791C3552}" type="slidenum">
              <a:rPr lang="en-US" altLang="en-US" sz="1800" smtClean="0">
                <a:solidFill>
                  <a:schemeClr val="tx1"/>
                </a:solidFill>
              </a:rPr>
              <a:pPr>
                <a:spcBef>
                  <a:spcPct val="0"/>
                </a:spcBef>
                <a:buClrTx/>
                <a:buSzTx/>
                <a:buFontTx/>
                <a:buNone/>
              </a:pPr>
              <a:t>51</a:t>
            </a:fld>
            <a:endParaRPr lang="en-US" altLang="en-US" sz="1800" smtClean="0">
              <a:solidFill>
                <a:schemeClr val="tx1"/>
              </a:solidFill>
            </a:endParaRPr>
          </a:p>
        </p:txBody>
      </p:sp>
      <p:sp>
        <p:nvSpPr>
          <p:cNvPr id="102405" name="Rectangle 2"/>
          <p:cNvSpPr>
            <a:spLocks noGrp="1" noChangeArrowheads="1"/>
          </p:cNvSpPr>
          <p:nvPr>
            <p:ph type="title"/>
          </p:nvPr>
        </p:nvSpPr>
        <p:spPr>
          <a:xfrm>
            <a:off x="457200" y="0"/>
            <a:ext cx="8229600" cy="1066800"/>
          </a:xfrm>
        </p:spPr>
        <p:txBody>
          <a:bodyPr/>
          <a:lstStyle/>
          <a:p>
            <a:pPr eaLnBrk="1" hangingPunct="1"/>
            <a:r>
              <a:rPr lang="en-US" altLang="en-US" sz="4000" smtClean="0"/>
              <a:t>Example: Join (Inner Join)</a:t>
            </a:r>
          </a:p>
        </p:txBody>
      </p:sp>
      <p:pic>
        <p:nvPicPr>
          <p:cNvPr id="1024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213" y="955675"/>
            <a:ext cx="4229100"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0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955675"/>
            <a:ext cx="319087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08" name="TextBox 23"/>
          <p:cNvSpPr txBox="1">
            <a:spLocks noChangeArrowheads="1"/>
          </p:cNvSpPr>
          <p:nvPr/>
        </p:nvSpPr>
        <p:spPr bwMode="auto">
          <a:xfrm>
            <a:off x="196850" y="2438400"/>
            <a:ext cx="36766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just" eaLnBrk="1" hangingPunct="1">
              <a:spcBef>
                <a:spcPct val="0"/>
              </a:spcBef>
              <a:buClrTx/>
              <a:buSzTx/>
              <a:buFontTx/>
              <a:buNone/>
            </a:pPr>
            <a:r>
              <a:rPr lang="en-US" altLang="en-US" sz="1800">
                <a:solidFill>
                  <a:schemeClr val="tx1"/>
                </a:solidFill>
              </a:rPr>
              <a:t>The default type of join is inner join, where a row is included in the result only if matching row exists in the other relation.</a:t>
            </a:r>
          </a:p>
        </p:txBody>
      </p:sp>
      <p:pic>
        <p:nvPicPr>
          <p:cNvPr id="268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4495800"/>
            <a:ext cx="3352800" cy="181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8290"/>
                                        </p:tgtEl>
                                        <p:attrNameLst>
                                          <p:attrName>style.visibility</p:attrName>
                                        </p:attrNameLst>
                                      </p:cBhvr>
                                      <p:to>
                                        <p:strVal val="visible"/>
                                      </p:to>
                                    </p:set>
                                    <p:anim calcmode="lin" valueType="num">
                                      <p:cBhvr additive="base">
                                        <p:cTn id="7" dur="500" fill="hold"/>
                                        <p:tgtEl>
                                          <p:spTgt spid="268290"/>
                                        </p:tgtEl>
                                        <p:attrNameLst>
                                          <p:attrName>ppt_x</p:attrName>
                                        </p:attrNameLst>
                                      </p:cBhvr>
                                      <p:tavLst>
                                        <p:tav tm="0">
                                          <p:val>
                                            <p:strVal val="#ppt_x"/>
                                          </p:val>
                                        </p:tav>
                                        <p:tav tm="100000">
                                          <p:val>
                                            <p:strVal val="#ppt_x"/>
                                          </p:val>
                                        </p:tav>
                                      </p:tavLst>
                                    </p:anim>
                                    <p:anim calcmode="lin" valueType="num">
                                      <p:cBhvr additive="base">
                                        <p:cTn id="8" dur="500" fill="hold"/>
                                        <p:tgtEl>
                                          <p:spTgt spid="2682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Slide Number Placeholder 5"/>
          <p:cNvSpPr>
            <a:spLocks noGrp="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DB8118BE-2349-4D4D-BF3E-AF563DCFC97C}" type="slidenum">
              <a:rPr lang="en-US" altLang="en-US" sz="1800" b="0" smtClean="0">
                <a:solidFill>
                  <a:schemeClr val="tx1"/>
                </a:solidFill>
              </a:rPr>
              <a:pPr algn="l">
                <a:spcBef>
                  <a:spcPct val="0"/>
                </a:spcBef>
                <a:buClrTx/>
                <a:buSzTx/>
                <a:buFontTx/>
                <a:buNone/>
              </a:pPr>
              <a:t>52</a:t>
            </a:fld>
            <a:endParaRPr lang="en-US" altLang="en-US" sz="1800" b="0" smtClean="0">
              <a:solidFill>
                <a:schemeClr val="tx1"/>
              </a:solidFill>
            </a:endParaRPr>
          </a:p>
        </p:txBody>
      </p:sp>
      <p:sp>
        <p:nvSpPr>
          <p:cNvPr id="103427" name="Rectangle 3"/>
          <p:cNvSpPr>
            <a:spLocks noGrp="1" noChangeArrowheads="1"/>
          </p:cNvSpPr>
          <p:nvPr>
            <p:ph type="title"/>
          </p:nvPr>
        </p:nvSpPr>
        <p:spPr>
          <a:noFill/>
        </p:spPr>
        <p:txBody>
          <a:bodyPr lIns="90488" tIns="44450" rIns="90488" bIns="44450"/>
          <a:lstStyle/>
          <a:p>
            <a:pPr eaLnBrk="1" hangingPunct="1"/>
            <a:r>
              <a:rPr lang="en-US" altLang="en-US" i="1" smtClean="0"/>
              <a:t>Example: Join (Inner Join) …</a:t>
            </a:r>
          </a:p>
        </p:txBody>
      </p:sp>
      <p:sp>
        <p:nvSpPr>
          <p:cNvPr id="103428" name="Rectangle 4"/>
          <p:cNvSpPr>
            <a:spLocks noGrp="1" noChangeArrowheads="1"/>
          </p:cNvSpPr>
          <p:nvPr>
            <p:ph type="body" idx="1"/>
          </p:nvPr>
        </p:nvSpPr>
        <p:spPr>
          <a:xfrm>
            <a:off x="533400" y="1371600"/>
            <a:ext cx="8229600" cy="4724400"/>
          </a:xfrm>
          <a:noFill/>
        </p:spPr>
        <p:txBody>
          <a:bodyPr lIns="90488" tIns="44450" rIns="90488" bIns="44450"/>
          <a:lstStyle/>
          <a:p>
            <a:pPr algn="just" eaLnBrk="1" hangingPunct="1"/>
            <a:r>
              <a:rPr lang="en-US" altLang="en-US" smtClean="0"/>
              <a:t>To obtain correct rows, include only those rows from both tables that have identical values in the dno columns: a.dno = b.dno. </a:t>
            </a:r>
          </a:p>
          <a:p>
            <a:pPr algn="just" eaLnBrk="1" hangingPunct="1">
              <a:lnSpc>
                <a:spcPct val="60000"/>
              </a:lnSpc>
            </a:pPr>
            <a:endParaRPr lang="en-US" altLang="en-US" smtClean="0"/>
          </a:p>
          <a:p>
            <a:pPr algn="just" eaLnBrk="1" hangingPunct="1"/>
            <a:r>
              <a:rPr lang="en-US" altLang="en-US" smtClean="0"/>
              <a:t>These two columns are the matching columns for two tables. </a:t>
            </a:r>
          </a:p>
          <a:p>
            <a:pPr algn="just" eaLnBrk="1" hangingPunct="1">
              <a:lnSpc>
                <a:spcPct val="60000"/>
              </a:lnSpc>
            </a:pPr>
            <a:endParaRPr lang="en-US" altLang="en-US" smtClean="0"/>
          </a:p>
          <a:p>
            <a:pPr algn="just" eaLnBrk="1" hangingPunct="1"/>
            <a:r>
              <a:rPr lang="en-US" altLang="en-US" smtClean="0"/>
              <a:t>This type of join is also called </a:t>
            </a:r>
            <a:r>
              <a:rPr lang="en-US" altLang="en-US" b="1" smtClean="0">
                <a:solidFill>
                  <a:schemeClr val="hlink"/>
                </a:solidFill>
              </a:rPr>
              <a:t>inner join</a:t>
            </a:r>
            <a:r>
              <a:rPr lang="en-US" altLang="en-US" smtClean="0"/>
              <a:t> and they are </a:t>
            </a:r>
            <a:r>
              <a:rPr lang="en-US" altLang="en-US" b="1" smtClean="0">
                <a:solidFill>
                  <a:srgbClr val="00B050"/>
                </a:solidFill>
              </a:rPr>
              <a:t>equivalent to equi-join </a:t>
            </a:r>
            <a:r>
              <a:rPr lang="en-US" altLang="en-US" smtClean="0"/>
              <a:t>in relational algebra.</a:t>
            </a:r>
          </a:p>
        </p:txBody>
      </p:sp>
    </p:spTree>
  </p:cSld>
  <p:clrMapOvr>
    <a:masterClrMapping/>
  </p:clrMapOvr>
  <p:transition>
    <p:wipe dir="d"/>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4" name="Slide Number Placeholder 5"/>
          <p:cNvSpPr>
            <a:spLocks noGrp="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E09A58EE-4697-4AC4-86FC-1C8403CE94BD}" type="slidenum">
              <a:rPr lang="en-US" altLang="en-US" sz="1800" b="0" smtClean="0">
                <a:solidFill>
                  <a:schemeClr val="tx1"/>
                </a:solidFill>
              </a:rPr>
              <a:pPr algn="l">
                <a:spcBef>
                  <a:spcPct val="0"/>
                </a:spcBef>
                <a:buClrTx/>
                <a:buSzTx/>
                <a:buFontTx/>
                <a:buNone/>
              </a:pPr>
              <a:t>53</a:t>
            </a:fld>
            <a:endParaRPr lang="en-US" altLang="en-US" sz="1800" b="0" smtClean="0">
              <a:solidFill>
                <a:schemeClr val="tx1"/>
              </a:solidFill>
            </a:endParaRPr>
          </a:p>
        </p:txBody>
      </p:sp>
      <p:sp>
        <p:nvSpPr>
          <p:cNvPr id="105475" name="Rectangle 3"/>
          <p:cNvSpPr>
            <a:spLocks noGrp="1" noChangeArrowheads="1"/>
          </p:cNvSpPr>
          <p:nvPr>
            <p:ph type="title"/>
          </p:nvPr>
        </p:nvSpPr>
        <p:spPr>
          <a:noFill/>
        </p:spPr>
        <p:txBody>
          <a:bodyPr lIns="90488" tIns="44450" rIns="90488" bIns="44450"/>
          <a:lstStyle/>
          <a:p>
            <a:pPr eaLnBrk="1" hangingPunct="1"/>
            <a:r>
              <a:rPr lang="en-US" altLang="en-US" smtClean="0"/>
              <a:t>Computing a Join</a:t>
            </a:r>
          </a:p>
        </p:txBody>
      </p:sp>
      <p:sp>
        <p:nvSpPr>
          <p:cNvPr id="105476" name="Rectangle 4"/>
          <p:cNvSpPr>
            <a:spLocks noGrp="1" noChangeArrowheads="1"/>
          </p:cNvSpPr>
          <p:nvPr>
            <p:ph type="body" idx="1"/>
          </p:nvPr>
        </p:nvSpPr>
        <p:spPr>
          <a:xfrm>
            <a:off x="228600" y="1412875"/>
            <a:ext cx="8229600" cy="5029200"/>
          </a:xfrm>
          <a:noFill/>
        </p:spPr>
        <p:txBody>
          <a:bodyPr lIns="90488" tIns="44450" rIns="90488" bIns="44450"/>
          <a:lstStyle/>
          <a:p>
            <a:pPr marL="457200" indent="-457200" algn="just" eaLnBrk="1" hangingPunct="1"/>
            <a:r>
              <a:rPr lang="en-US" altLang="en-US" sz="2000" smtClean="0"/>
              <a:t>Procedure for generating results of a SELECT with a join are:</a:t>
            </a:r>
          </a:p>
          <a:p>
            <a:pPr marL="838200" lvl="1" indent="-381000" algn="just" eaLnBrk="1" hangingPunct="1">
              <a:buFont typeface="Wingdings" panose="05000000000000000000" pitchFamily="2" charset="2"/>
              <a:buAutoNum type="arabicPeriod"/>
            </a:pPr>
            <a:r>
              <a:rPr lang="en-US" altLang="en-US" sz="2000" smtClean="0"/>
              <a:t>Form </a:t>
            </a:r>
            <a:r>
              <a:rPr lang="en-US" altLang="en-US" sz="2000" b="1" u="sng" smtClean="0"/>
              <a:t>Cartesian product </a:t>
            </a:r>
            <a:r>
              <a:rPr lang="en-US" altLang="en-US" sz="2000" smtClean="0"/>
              <a:t>of the tables named in  FROM clause. </a:t>
            </a:r>
          </a:p>
          <a:p>
            <a:pPr marL="838200" lvl="1" indent="-381000" algn="just" eaLnBrk="1" hangingPunct="1">
              <a:buFont typeface="Wingdings" panose="05000000000000000000" pitchFamily="2" charset="2"/>
              <a:buAutoNum type="arabicPeriod"/>
            </a:pPr>
            <a:r>
              <a:rPr lang="en-US" altLang="en-US" sz="2000" smtClean="0"/>
              <a:t>If there is a WHERE clause, apply the search condition to each row of the product table, retaining those rows that satisfy the condition.</a:t>
            </a:r>
          </a:p>
          <a:p>
            <a:pPr marL="838200" lvl="1" indent="-381000" algn="just" eaLnBrk="1" hangingPunct="1">
              <a:buFont typeface="Wingdings" panose="05000000000000000000" pitchFamily="2" charset="2"/>
              <a:buAutoNum type="arabicPeriod"/>
            </a:pPr>
            <a:r>
              <a:rPr lang="en-US" altLang="en-US" sz="2000" smtClean="0"/>
              <a:t>For each remaining row, determine the value of each item in the SELECT list to produce a </a:t>
            </a:r>
            <a:r>
              <a:rPr lang="en-US" altLang="en-US" sz="2000" b="1" smtClean="0"/>
              <a:t>single row </a:t>
            </a:r>
            <a:r>
              <a:rPr lang="en-US" altLang="en-US" sz="2000" smtClean="0"/>
              <a:t>in the result table.</a:t>
            </a:r>
          </a:p>
          <a:p>
            <a:pPr marL="838200" lvl="1" indent="-381000" algn="just" eaLnBrk="1" hangingPunct="1">
              <a:buFont typeface="Wingdings" panose="05000000000000000000" pitchFamily="2" charset="2"/>
              <a:buAutoNum type="arabicPeriod"/>
            </a:pPr>
            <a:r>
              <a:rPr lang="en-US" altLang="en-US" sz="2000" smtClean="0"/>
              <a:t>If SELECT DISTINCT has been specified, eliminate any duplicate rows from the result table.</a:t>
            </a:r>
          </a:p>
          <a:p>
            <a:pPr marL="838200" lvl="1" indent="-381000" algn="just" eaLnBrk="1" hangingPunct="1">
              <a:buFont typeface="Wingdings" panose="05000000000000000000" pitchFamily="2" charset="2"/>
              <a:buAutoNum type="arabicPeriod"/>
            </a:pPr>
            <a:r>
              <a:rPr lang="en-US" altLang="en-US" sz="2000" smtClean="0"/>
              <a:t>If there is an ORDER BY clause, sort the result table as required.</a:t>
            </a:r>
          </a:p>
          <a:p>
            <a:pPr marL="838200" lvl="1" indent="-381000" algn="just" eaLnBrk="1" hangingPunct="1">
              <a:buFont typeface="Wingdings" panose="05000000000000000000" pitchFamily="2" charset="2"/>
              <a:buAutoNum type="arabicPeriod"/>
            </a:pPr>
            <a:endParaRPr lang="en-US" altLang="en-US" sz="2400" smtClean="0"/>
          </a:p>
        </p:txBody>
      </p:sp>
    </p:spTree>
  </p:cSld>
  <p:clrMapOvr>
    <a:masterClrMapping/>
  </p:clrMapOvr>
  <p:transition>
    <p:wipe dir="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noChangeArrowheads="1"/>
          </p:cNvSpPr>
          <p:nvPr>
            <p:ph type="title"/>
          </p:nvPr>
        </p:nvSpPr>
        <p:spPr/>
        <p:txBody>
          <a:bodyPr/>
          <a:lstStyle/>
          <a:p>
            <a:pPr eaLnBrk="1" hangingPunct="1"/>
            <a:r>
              <a:rPr lang="en-US" altLang="en-US" smtClean="0"/>
              <a:t>Use “Join” Keyword or Not ?</a:t>
            </a:r>
          </a:p>
        </p:txBody>
      </p:sp>
      <p:sp>
        <p:nvSpPr>
          <p:cNvPr id="160770" name="Content Placeholder 2">
            <a:extLst>
              <a:ext uri="{FF2B5EF4-FFF2-40B4-BE49-F238E27FC236}">
                <a16:creationId xmlns:a16="http://schemas.microsoft.com/office/drawing/2014/main" id="{18C3B1EC-FCFB-EB4A-8EBD-A22E96F94669}"/>
              </a:ext>
            </a:extLst>
          </p:cNvPr>
          <p:cNvSpPr>
            <a:spLocks noGrp="1" noChangeArrowheads="1"/>
          </p:cNvSpPr>
          <p:nvPr>
            <p:ph idx="1"/>
          </p:nvPr>
        </p:nvSpPr>
        <p:spPr>
          <a:xfrm>
            <a:off x="239713" y="1600200"/>
            <a:ext cx="5988050" cy="4572000"/>
          </a:xfrm>
        </p:spPr>
        <p:txBody>
          <a:bodyPr/>
          <a:lstStyle/>
          <a:p>
            <a:pPr eaLnBrk="1" hangingPunct="1">
              <a:defRPr/>
            </a:pPr>
            <a:r>
              <a:rPr lang="en-US" altLang="en-US" dirty="0"/>
              <a:t>Same query but with and without “join” keyword</a:t>
            </a:r>
          </a:p>
          <a:p>
            <a:pPr lvl="1" eaLnBrk="1" hangingPunct="1">
              <a:defRPr/>
            </a:pPr>
            <a:endParaRPr lang="en-US" altLang="en-US" dirty="0"/>
          </a:p>
          <a:p>
            <a:pPr lvl="1" eaLnBrk="1" hangingPunct="1">
              <a:defRPr/>
            </a:pPr>
            <a:r>
              <a:rPr lang="en-US" altLang="en-US" dirty="0"/>
              <a:t>select id,name,marks,dname </a:t>
            </a:r>
          </a:p>
          <a:p>
            <a:pPr marL="457200" lvl="1" indent="0" eaLnBrk="1" hangingPunct="1">
              <a:buFontTx/>
              <a:buNone/>
              <a:defRPr/>
            </a:pPr>
            <a:r>
              <a:rPr lang="en-US" altLang="en-US" dirty="0"/>
              <a:t> from student1 s join department d on </a:t>
            </a:r>
            <a:r>
              <a:rPr lang="en-US" altLang="en-US" dirty="0" err="1"/>
              <a:t>s.deptid</a:t>
            </a:r>
            <a:r>
              <a:rPr lang="en-US" altLang="en-US" dirty="0"/>
              <a:t> = </a:t>
            </a:r>
            <a:r>
              <a:rPr lang="en-US" altLang="en-US" dirty="0" err="1"/>
              <a:t>d.deptid</a:t>
            </a:r>
            <a:r>
              <a:rPr lang="en-US" altLang="en-US" dirty="0"/>
              <a:t>;</a:t>
            </a:r>
          </a:p>
          <a:p>
            <a:pPr lvl="1" eaLnBrk="1" hangingPunct="1">
              <a:defRPr/>
            </a:pPr>
            <a:endParaRPr lang="en-US" altLang="en-US" dirty="0"/>
          </a:p>
          <a:p>
            <a:pPr lvl="1" eaLnBrk="1" hangingPunct="1">
              <a:defRPr/>
            </a:pPr>
            <a:r>
              <a:rPr lang="en-US" altLang="en-US" dirty="0"/>
              <a:t>select id,  name, </a:t>
            </a:r>
            <a:r>
              <a:rPr lang="en-US" altLang="en-US" dirty="0" err="1" smtClean="0"/>
              <a:t>marks,dname</a:t>
            </a:r>
            <a:r>
              <a:rPr lang="en-US" altLang="en-US" dirty="0" smtClean="0"/>
              <a:t> </a:t>
            </a:r>
            <a:endParaRPr lang="en-US" altLang="en-US" dirty="0"/>
          </a:p>
          <a:p>
            <a:pPr marL="457200" lvl="1" indent="0" eaLnBrk="1" hangingPunct="1">
              <a:buFontTx/>
              <a:buNone/>
              <a:defRPr/>
            </a:pPr>
            <a:r>
              <a:rPr lang="en-US" altLang="en-US" dirty="0"/>
              <a:t> from student1 s, department d where </a:t>
            </a:r>
            <a:r>
              <a:rPr lang="en-US" altLang="en-US" dirty="0" err="1"/>
              <a:t>s.deptid</a:t>
            </a:r>
            <a:r>
              <a:rPr lang="en-US" altLang="en-US" dirty="0"/>
              <a:t> = </a:t>
            </a:r>
            <a:r>
              <a:rPr lang="en-US" altLang="en-US" dirty="0" err="1"/>
              <a:t>d.deptid</a:t>
            </a:r>
            <a:r>
              <a:rPr lang="en-US" altLang="en-US" dirty="0"/>
              <a:t>;</a:t>
            </a:r>
          </a:p>
          <a:p>
            <a:pPr eaLnBrk="1" hangingPunct="1">
              <a:defRPr/>
            </a:pPr>
            <a:endParaRPr lang="en-US" altLang="en-US" dirty="0"/>
          </a:p>
        </p:txBody>
      </p:sp>
      <p:sp>
        <p:nvSpPr>
          <p:cNvPr id="107524"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72A52BC4-4FD7-4E14-8C42-57415307C630}" type="slidenum">
              <a:rPr lang="en-US" altLang="en-US" sz="1800" b="0" smtClean="0">
                <a:solidFill>
                  <a:schemeClr val="tx1"/>
                </a:solidFill>
              </a:rPr>
              <a:pPr algn="l">
                <a:spcBef>
                  <a:spcPct val="0"/>
                </a:spcBef>
                <a:buClrTx/>
                <a:buSzTx/>
                <a:buFontTx/>
                <a:buNone/>
              </a:pPr>
              <a:t>54</a:t>
            </a:fld>
            <a:endParaRPr lang="en-US" altLang="en-US" sz="1800" b="0" smtClean="0">
              <a:solidFill>
                <a:schemeClr val="tx1"/>
              </a:solidFill>
            </a:endParaRPr>
          </a:p>
        </p:txBody>
      </p:sp>
    </p:spTree>
  </p:cSld>
  <p:clrMapOvr>
    <a:masterClrMapping/>
  </p:clrMapOvr>
  <p:transition spd="med"/>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noChangeArrowheads="1"/>
          </p:cNvSpPr>
          <p:nvPr>
            <p:ph type="title"/>
          </p:nvPr>
        </p:nvSpPr>
        <p:spPr/>
        <p:txBody>
          <a:bodyPr/>
          <a:lstStyle/>
          <a:p>
            <a:pPr eaLnBrk="1" hangingPunct="1"/>
            <a:r>
              <a:rPr lang="en-US" altLang="en-US" smtClean="0"/>
              <a:t>Use “Join” Keyword or Not ?</a:t>
            </a:r>
          </a:p>
        </p:txBody>
      </p:sp>
      <p:sp>
        <p:nvSpPr>
          <p:cNvPr id="108547" name="Content Placeholder 2"/>
          <p:cNvSpPr>
            <a:spLocks noGrp="1" noChangeArrowheads="1"/>
          </p:cNvSpPr>
          <p:nvPr>
            <p:ph idx="1"/>
          </p:nvPr>
        </p:nvSpPr>
        <p:spPr>
          <a:xfrm>
            <a:off x="239713" y="1600200"/>
            <a:ext cx="7645400" cy="4572000"/>
          </a:xfrm>
        </p:spPr>
        <p:txBody>
          <a:bodyPr/>
          <a:lstStyle/>
          <a:p>
            <a:pPr eaLnBrk="1" hangingPunct="1"/>
            <a:r>
              <a:rPr lang="en-US" altLang="en-US" smtClean="0"/>
              <a:t>Same query but with and without “join” keyword</a:t>
            </a:r>
          </a:p>
          <a:p>
            <a:pPr lvl="1" eaLnBrk="1" hangingPunct="1"/>
            <a:endParaRPr lang="en-US" altLang="en-US" smtClean="0"/>
          </a:p>
          <a:p>
            <a:pPr lvl="1" eaLnBrk="1" hangingPunct="1"/>
            <a:r>
              <a:rPr lang="en-US" altLang="en-US" sz="1800" smtClean="0"/>
              <a:t>select * 							      from table1, table2, table3, table4                                                    where table1.id = table2.id                     			          and table2.id = table3.id                   				                 and table3.id = table4.id                    				              and table1.column1 = 'Value 1’;</a:t>
            </a:r>
          </a:p>
          <a:p>
            <a:pPr lvl="1" eaLnBrk="1" hangingPunct="1"/>
            <a:endParaRPr lang="en-US" altLang="en-US" sz="1800" smtClean="0"/>
          </a:p>
          <a:p>
            <a:pPr lvl="1" eaLnBrk="1" hangingPunct="1"/>
            <a:r>
              <a:rPr lang="en-US" altLang="en-US" sz="1800" smtClean="0"/>
              <a:t>select * 								from table1 join table2 on table1.id = table2.id 			join table3 on table2.id = table3.id 					join table4 on table3.id = table4.id 					where table1.column1 = 'Value 1'</a:t>
            </a:r>
          </a:p>
        </p:txBody>
      </p:sp>
      <p:sp>
        <p:nvSpPr>
          <p:cNvPr id="108548"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0E8B0C84-E658-4128-8F20-44FE03779CB6}" type="slidenum">
              <a:rPr lang="en-US" altLang="en-US" sz="1800" b="0" smtClean="0">
                <a:solidFill>
                  <a:schemeClr val="tx1"/>
                </a:solidFill>
              </a:rPr>
              <a:pPr algn="l">
                <a:spcBef>
                  <a:spcPct val="0"/>
                </a:spcBef>
                <a:buClrTx/>
                <a:buSzTx/>
                <a:buFontTx/>
                <a:buNone/>
              </a:pPr>
              <a:t>55</a:t>
            </a:fld>
            <a:endParaRPr lang="en-US" altLang="en-US" sz="1800" b="0" smtClean="0">
              <a:solidFill>
                <a:schemeClr val="tx1"/>
              </a:solidFill>
            </a:endParaRPr>
          </a:p>
        </p:txBody>
      </p:sp>
      <p:sp>
        <p:nvSpPr>
          <p:cNvPr id="6" name="Rectangle 5"/>
          <p:cNvSpPr>
            <a:spLocks noChangeArrowheads="1"/>
          </p:cNvSpPr>
          <p:nvPr/>
        </p:nvSpPr>
        <p:spPr bwMode="auto">
          <a:xfrm>
            <a:off x="5795963" y="2841625"/>
            <a:ext cx="28194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400">
                <a:solidFill>
                  <a:srgbClr val="FF0000"/>
                </a:solidFill>
              </a:rPr>
              <a:t>joining conditions and actual business logic conditions all combined into a single space</a:t>
            </a:r>
          </a:p>
        </p:txBody>
      </p:sp>
      <p:sp>
        <p:nvSpPr>
          <p:cNvPr id="7" name="Rectangle 6"/>
          <p:cNvSpPr>
            <a:spLocks noChangeArrowheads="1"/>
          </p:cNvSpPr>
          <p:nvPr/>
        </p:nvSpPr>
        <p:spPr bwMode="auto">
          <a:xfrm>
            <a:off x="5224463" y="4130675"/>
            <a:ext cx="3962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defRPr/>
            </a:pPr>
            <a:r>
              <a:rPr lang="en-US" altLang="en-US" sz="1400" dirty="0" smtClean="0">
                <a:solidFill>
                  <a:schemeClr val="tx2">
                    <a:lumMod val="50000"/>
                  </a:schemeClr>
                </a:solidFill>
              </a:rPr>
              <a:t>anything having to do with the tables or how they    relate is all isolated to the from clause, while the    actual business logic for query restriction is in the where clause.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noChangeArrowheads="1"/>
          </p:cNvSpPr>
          <p:nvPr>
            <p:ph type="title"/>
          </p:nvPr>
        </p:nvSpPr>
        <p:spPr/>
        <p:txBody>
          <a:bodyPr/>
          <a:lstStyle/>
          <a:p>
            <a:pPr eaLnBrk="1" hangingPunct="1"/>
            <a:r>
              <a:rPr lang="en-US" altLang="en-US" smtClean="0"/>
              <a:t>Inner Join vs Equi Join </a:t>
            </a:r>
          </a:p>
        </p:txBody>
      </p:sp>
      <p:sp>
        <p:nvSpPr>
          <p:cNvPr id="110595" name="Content Placeholder 2"/>
          <p:cNvSpPr>
            <a:spLocks noGrp="1" noChangeArrowheads="1"/>
          </p:cNvSpPr>
          <p:nvPr>
            <p:ph idx="1"/>
          </p:nvPr>
        </p:nvSpPr>
        <p:spPr/>
        <p:txBody>
          <a:bodyPr/>
          <a:lstStyle/>
          <a:p>
            <a:pPr eaLnBrk="1" hangingPunct="1"/>
            <a:r>
              <a:rPr lang="en-US" altLang="en-US" sz="2400" smtClean="0"/>
              <a:t>Inner join can have equality (=) and other operators (like &lt;,&gt;,&lt;&gt;) in the join condition.</a:t>
            </a:r>
          </a:p>
          <a:p>
            <a:pPr eaLnBrk="1" hangingPunct="1"/>
            <a:r>
              <a:rPr lang="en-US" altLang="en-US" sz="2400" smtClean="0"/>
              <a:t>Equi join only have equality (=) operator in the join condition.</a:t>
            </a:r>
          </a:p>
          <a:p>
            <a:pPr eaLnBrk="1" hangingPunct="1"/>
            <a:r>
              <a:rPr lang="en-US" altLang="en-US" sz="2400" smtClean="0"/>
              <a:t>Equi join can be an Inner join, Left Outer join, Right Outer join</a:t>
            </a:r>
          </a:p>
          <a:p>
            <a:pPr eaLnBrk="1" hangingPunct="1"/>
            <a:r>
              <a:rPr lang="en-US" altLang="en-US" sz="2400" smtClean="0"/>
              <a:t>The USING clause is not supported by SQL Server and Sybase. This clause is supported by Oracle and MySQL.</a:t>
            </a:r>
          </a:p>
          <a:p>
            <a:pPr eaLnBrk="1" hangingPunct="1"/>
            <a:endParaRPr lang="en-US" altLang="en-US" smtClean="0"/>
          </a:p>
        </p:txBody>
      </p:sp>
      <p:sp>
        <p:nvSpPr>
          <p:cNvPr id="110596"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3BEAAFD8-471B-4B39-9C68-07378A4230D5}" type="slidenum">
              <a:rPr lang="en-US" altLang="en-US" sz="1800" b="0" smtClean="0">
                <a:solidFill>
                  <a:schemeClr val="tx1"/>
                </a:solidFill>
              </a:rPr>
              <a:pPr algn="l">
                <a:spcBef>
                  <a:spcPct val="0"/>
                </a:spcBef>
                <a:buClrTx/>
                <a:buSzTx/>
                <a:buFontTx/>
                <a:buNone/>
              </a:pPr>
              <a:t>56</a:t>
            </a:fld>
            <a:endParaRPr lang="en-US" altLang="en-US" sz="1800" b="0" smtClean="0">
              <a:solidFill>
                <a:schemeClr val="tx1"/>
              </a:solidFill>
            </a:endParaRPr>
          </a:p>
        </p:txBody>
      </p:sp>
    </p:spTree>
  </p:cSld>
  <p:clrMapOvr>
    <a:masterClrMapping/>
  </p:clrMapOvr>
  <p:transition spd="med"/>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noChangeArrowheads="1"/>
          </p:cNvSpPr>
          <p:nvPr>
            <p:ph type="title"/>
          </p:nvPr>
        </p:nvSpPr>
        <p:spPr/>
        <p:txBody>
          <a:bodyPr/>
          <a:lstStyle/>
          <a:p>
            <a:pPr eaLnBrk="1" hangingPunct="1"/>
            <a:r>
              <a:rPr lang="en-US" altLang="en-US" smtClean="0"/>
              <a:t>Natural Join</a:t>
            </a:r>
          </a:p>
        </p:txBody>
      </p:sp>
      <p:sp>
        <p:nvSpPr>
          <p:cNvPr id="112643"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43AAFA66-9930-4634-B24F-7B58332A086E}" type="slidenum">
              <a:rPr lang="en-US" altLang="en-US" sz="1800" b="0" smtClean="0">
                <a:solidFill>
                  <a:schemeClr val="tx1"/>
                </a:solidFill>
              </a:rPr>
              <a:pPr algn="l">
                <a:spcBef>
                  <a:spcPct val="0"/>
                </a:spcBef>
                <a:buClrTx/>
                <a:buSzTx/>
                <a:buFontTx/>
                <a:buNone/>
              </a:pPr>
              <a:t>57</a:t>
            </a:fld>
            <a:endParaRPr lang="en-US" altLang="en-US" sz="1800" b="0" smtClean="0">
              <a:solidFill>
                <a:schemeClr val="tx1"/>
              </a:solidFill>
            </a:endParaRPr>
          </a:p>
        </p:txBody>
      </p:sp>
      <p:sp>
        <p:nvSpPr>
          <p:cNvPr id="112644" name="Rectangle 5"/>
          <p:cNvSpPr>
            <a:spLocks noChangeArrowheads="1"/>
          </p:cNvSpPr>
          <p:nvPr/>
        </p:nvSpPr>
        <p:spPr bwMode="auto">
          <a:xfrm>
            <a:off x="452438" y="1600200"/>
            <a:ext cx="3662362"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400">
                <a:solidFill>
                  <a:srgbClr val="000000"/>
                </a:solidFill>
                <a:latin typeface="Menlo" pitchFamily="49" charset="0"/>
              </a:rPr>
              <a:t>sql&gt; select * from student1;</a:t>
            </a:r>
          </a:p>
          <a:p>
            <a:pPr eaLnBrk="1" hangingPunct="1">
              <a:spcBef>
                <a:spcPct val="0"/>
              </a:spcBef>
              <a:buClrTx/>
              <a:buSzTx/>
              <a:buFontTx/>
              <a:buNone/>
            </a:pPr>
            <a:r>
              <a:rPr lang="en-US" altLang="en-US" sz="1400">
                <a:solidFill>
                  <a:srgbClr val="000000"/>
                </a:solidFill>
                <a:latin typeface="Menlo" pitchFamily="49" charset="0"/>
              </a:rPr>
              <a:t>id|name|marks|deptId</a:t>
            </a:r>
          </a:p>
          <a:p>
            <a:pPr eaLnBrk="1" hangingPunct="1">
              <a:spcBef>
                <a:spcPct val="0"/>
              </a:spcBef>
              <a:buClrTx/>
              <a:buSzTx/>
              <a:buFontTx/>
              <a:buNone/>
            </a:pPr>
            <a:endParaRPr lang="en-US" altLang="en-US" sz="1400">
              <a:solidFill>
                <a:srgbClr val="000000"/>
              </a:solidFill>
              <a:latin typeface="Menlo" pitchFamily="49" charset="0"/>
            </a:endParaRPr>
          </a:p>
          <a:p>
            <a:pPr eaLnBrk="1" hangingPunct="1">
              <a:spcBef>
                <a:spcPct val="0"/>
              </a:spcBef>
              <a:buClrTx/>
              <a:buSzTx/>
              <a:buFontTx/>
              <a:buNone/>
            </a:pPr>
            <a:r>
              <a:rPr lang="en-US" altLang="en-US" sz="1400">
                <a:solidFill>
                  <a:srgbClr val="000000"/>
                </a:solidFill>
                <a:latin typeface="Menlo" pitchFamily="49" charset="0"/>
              </a:rPr>
              <a:t>1|ali|100|1</a:t>
            </a:r>
          </a:p>
          <a:p>
            <a:pPr eaLnBrk="1" hangingPunct="1">
              <a:spcBef>
                <a:spcPct val="0"/>
              </a:spcBef>
              <a:buClrTx/>
              <a:buSzTx/>
              <a:buFontTx/>
              <a:buNone/>
            </a:pPr>
            <a:r>
              <a:rPr lang="en-US" altLang="en-US" sz="1400">
                <a:solidFill>
                  <a:srgbClr val="000000"/>
                </a:solidFill>
                <a:latin typeface="Menlo" pitchFamily="49" charset="0"/>
              </a:rPr>
              <a:t>2|aslam|400|1</a:t>
            </a:r>
          </a:p>
          <a:p>
            <a:pPr eaLnBrk="1" hangingPunct="1">
              <a:spcBef>
                <a:spcPct val="0"/>
              </a:spcBef>
              <a:buClrTx/>
              <a:buSzTx/>
              <a:buFontTx/>
              <a:buNone/>
            </a:pPr>
            <a:r>
              <a:rPr lang="en-US" altLang="en-US" sz="1400">
                <a:solidFill>
                  <a:srgbClr val="000000"/>
                </a:solidFill>
                <a:latin typeface="Menlo" pitchFamily="49" charset="0"/>
              </a:rPr>
              <a:t>3|kashif|460|1</a:t>
            </a:r>
          </a:p>
          <a:p>
            <a:pPr eaLnBrk="1" hangingPunct="1">
              <a:spcBef>
                <a:spcPct val="0"/>
              </a:spcBef>
              <a:buClrTx/>
              <a:buSzTx/>
              <a:buFontTx/>
              <a:buNone/>
            </a:pPr>
            <a:r>
              <a:rPr lang="en-US" altLang="en-US" sz="1400">
                <a:solidFill>
                  <a:srgbClr val="000000"/>
                </a:solidFill>
                <a:latin typeface="Menlo" pitchFamily="49" charset="0"/>
              </a:rPr>
              <a:t>4|omer|290|1</a:t>
            </a:r>
          </a:p>
          <a:p>
            <a:pPr eaLnBrk="1" hangingPunct="1">
              <a:spcBef>
                <a:spcPct val="0"/>
              </a:spcBef>
              <a:buClrTx/>
              <a:buSzTx/>
              <a:buFontTx/>
              <a:buNone/>
            </a:pPr>
            <a:r>
              <a:rPr lang="en-US" altLang="en-US" sz="1400">
                <a:solidFill>
                  <a:srgbClr val="000000"/>
                </a:solidFill>
                <a:latin typeface="Menlo" pitchFamily="49" charset="0"/>
              </a:rPr>
              <a:t>5|khalid|390|2</a:t>
            </a:r>
          </a:p>
          <a:p>
            <a:pPr eaLnBrk="1" hangingPunct="1">
              <a:spcBef>
                <a:spcPct val="0"/>
              </a:spcBef>
              <a:buClrTx/>
              <a:buSzTx/>
              <a:buFontTx/>
              <a:buNone/>
            </a:pPr>
            <a:r>
              <a:rPr lang="en-US" altLang="en-US" sz="1400">
                <a:solidFill>
                  <a:srgbClr val="000000"/>
                </a:solidFill>
                <a:latin typeface="Menlo" pitchFamily="49" charset="0"/>
              </a:rPr>
              <a:t>6|javed|120|2</a:t>
            </a:r>
          </a:p>
          <a:p>
            <a:pPr eaLnBrk="1" hangingPunct="1">
              <a:spcBef>
                <a:spcPct val="0"/>
              </a:spcBef>
              <a:buClrTx/>
              <a:buSzTx/>
              <a:buFontTx/>
              <a:buNone/>
            </a:pPr>
            <a:r>
              <a:rPr lang="en-US" altLang="en-US" sz="1400">
                <a:solidFill>
                  <a:srgbClr val="000000"/>
                </a:solidFill>
                <a:latin typeface="Menlo" pitchFamily="49" charset="0"/>
              </a:rPr>
              <a:t>7|ahmed|520|2</a:t>
            </a:r>
          </a:p>
        </p:txBody>
      </p:sp>
      <p:sp>
        <p:nvSpPr>
          <p:cNvPr id="112645" name="Rectangle 6"/>
          <p:cNvSpPr>
            <a:spLocks noChangeArrowheads="1"/>
          </p:cNvSpPr>
          <p:nvPr/>
        </p:nvSpPr>
        <p:spPr bwMode="auto">
          <a:xfrm>
            <a:off x="452438" y="4244975"/>
            <a:ext cx="4572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400">
                <a:solidFill>
                  <a:srgbClr val="000000"/>
                </a:solidFill>
                <a:latin typeface="Menlo" pitchFamily="49" charset="0"/>
              </a:rPr>
              <a:t>sql&gt; select * from department;</a:t>
            </a:r>
          </a:p>
          <a:p>
            <a:pPr eaLnBrk="1" hangingPunct="1">
              <a:spcBef>
                <a:spcPct val="0"/>
              </a:spcBef>
              <a:buClrTx/>
              <a:buSzTx/>
              <a:buFontTx/>
              <a:buNone/>
            </a:pPr>
            <a:r>
              <a:rPr lang="en-US" altLang="en-US" sz="1400">
                <a:solidFill>
                  <a:srgbClr val="000000"/>
                </a:solidFill>
                <a:latin typeface="Menlo" pitchFamily="49" charset="0"/>
              </a:rPr>
              <a:t>deptId|dname</a:t>
            </a:r>
          </a:p>
          <a:p>
            <a:pPr eaLnBrk="1" hangingPunct="1">
              <a:spcBef>
                <a:spcPct val="0"/>
              </a:spcBef>
              <a:buClrTx/>
              <a:buSzTx/>
              <a:buFontTx/>
              <a:buNone/>
            </a:pPr>
            <a:r>
              <a:rPr lang="en-US" altLang="en-US" sz="1400">
                <a:solidFill>
                  <a:srgbClr val="000000"/>
                </a:solidFill>
                <a:latin typeface="Menlo" pitchFamily="49" charset="0"/>
              </a:rPr>
              <a:t>1|CS</a:t>
            </a:r>
          </a:p>
          <a:p>
            <a:pPr eaLnBrk="1" hangingPunct="1">
              <a:spcBef>
                <a:spcPct val="0"/>
              </a:spcBef>
              <a:buClrTx/>
              <a:buSzTx/>
              <a:buFontTx/>
              <a:buNone/>
            </a:pPr>
            <a:r>
              <a:rPr lang="en-US" altLang="en-US" sz="1400">
                <a:solidFill>
                  <a:srgbClr val="000000"/>
                </a:solidFill>
                <a:latin typeface="Menlo" pitchFamily="49" charset="0"/>
              </a:rPr>
              <a:t>2|DS</a:t>
            </a:r>
          </a:p>
        </p:txBody>
      </p:sp>
      <p:sp>
        <p:nvSpPr>
          <p:cNvPr id="112646" name="Rectangle 7"/>
          <p:cNvSpPr>
            <a:spLocks noChangeArrowheads="1"/>
          </p:cNvSpPr>
          <p:nvPr/>
        </p:nvSpPr>
        <p:spPr bwMode="auto">
          <a:xfrm>
            <a:off x="423863" y="5580063"/>
            <a:ext cx="4572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400">
                <a:solidFill>
                  <a:srgbClr val="000000"/>
                </a:solidFill>
                <a:latin typeface="Menlo" pitchFamily="49" charset="0"/>
              </a:rPr>
              <a:t>sqlite&gt; select * from dept;</a:t>
            </a:r>
          </a:p>
          <a:p>
            <a:pPr eaLnBrk="1" hangingPunct="1">
              <a:spcBef>
                <a:spcPct val="0"/>
              </a:spcBef>
              <a:buClrTx/>
              <a:buSzTx/>
              <a:buFontTx/>
              <a:buNone/>
            </a:pPr>
            <a:r>
              <a:rPr lang="en-US" altLang="en-US" sz="1400">
                <a:solidFill>
                  <a:srgbClr val="000000"/>
                </a:solidFill>
                <a:latin typeface="Menlo" pitchFamily="49" charset="0"/>
              </a:rPr>
              <a:t>dId|dname</a:t>
            </a:r>
          </a:p>
          <a:p>
            <a:pPr eaLnBrk="1" hangingPunct="1">
              <a:spcBef>
                <a:spcPct val="0"/>
              </a:spcBef>
              <a:buClrTx/>
              <a:buSzTx/>
              <a:buFontTx/>
              <a:buNone/>
            </a:pPr>
            <a:r>
              <a:rPr lang="en-US" altLang="en-US" sz="1400">
                <a:solidFill>
                  <a:srgbClr val="000000"/>
                </a:solidFill>
                <a:latin typeface="Menlo" pitchFamily="49" charset="0"/>
              </a:rPr>
              <a:t>1|CS</a:t>
            </a:r>
          </a:p>
          <a:p>
            <a:pPr eaLnBrk="1" hangingPunct="1">
              <a:spcBef>
                <a:spcPct val="0"/>
              </a:spcBef>
              <a:buClrTx/>
              <a:buSzTx/>
              <a:buFontTx/>
              <a:buNone/>
            </a:pPr>
            <a:r>
              <a:rPr lang="en-US" altLang="en-US" sz="1400">
                <a:solidFill>
                  <a:srgbClr val="000000"/>
                </a:solidFill>
                <a:latin typeface="Menlo" pitchFamily="49" charset="0"/>
              </a:rPr>
              <a:t>2|DS</a:t>
            </a:r>
          </a:p>
        </p:txBody>
      </p:sp>
      <p:sp>
        <p:nvSpPr>
          <p:cNvPr id="10" name="Rectangle 9">
            <a:extLst>
              <a:ext uri="{FF2B5EF4-FFF2-40B4-BE49-F238E27FC236}">
                <a16:creationId xmlns:a16="http://schemas.microsoft.com/office/drawing/2014/main" id="{4F529173-E313-CD4A-AE66-07C087B0528E}"/>
              </a:ext>
            </a:extLst>
          </p:cNvPr>
          <p:cNvSpPr/>
          <p:nvPr/>
        </p:nvSpPr>
        <p:spPr>
          <a:xfrm>
            <a:off x="4114800" y="4133850"/>
            <a:ext cx="4600575" cy="2678113"/>
          </a:xfrm>
          <a:prstGeom prst="rect">
            <a:avLst/>
          </a:prstGeom>
        </p:spPr>
        <p:txBody>
          <a:bodyPr>
            <a:spAutoFit/>
          </a:bodyPr>
          <a:lstStyle/>
          <a:p>
            <a:pPr eaLnBrk="1" hangingPunct="1">
              <a:defRPr/>
            </a:pPr>
            <a:r>
              <a:rPr lang="en-US" sz="1050" b="1" dirty="0" err="1">
                <a:solidFill>
                  <a:srgbClr val="C00000"/>
                </a:solidFill>
                <a:latin typeface="Menlo" panose="020B0609030804020204" pitchFamily="49" charset="0"/>
              </a:rPr>
              <a:t>sqlite</a:t>
            </a:r>
            <a:r>
              <a:rPr lang="en-US" sz="1050" b="1" dirty="0">
                <a:solidFill>
                  <a:srgbClr val="C00000"/>
                </a:solidFill>
                <a:latin typeface="Menlo" panose="020B0609030804020204" pitchFamily="49" charset="0"/>
              </a:rPr>
              <a:t>&gt; select * from student1 natural join dept;</a:t>
            </a:r>
          </a:p>
          <a:p>
            <a:pPr eaLnBrk="1" hangingPunct="1">
              <a:defRPr/>
            </a:pPr>
            <a:r>
              <a:rPr lang="en-US" sz="1050" dirty="0" err="1">
                <a:solidFill>
                  <a:srgbClr val="000000"/>
                </a:solidFill>
                <a:latin typeface="Menlo" panose="020B0609030804020204" pitchFamily="49" charset="0"/>
              </a:rPr>
              <a:t>id|name|marks|deptId|dId|dname</a:t>
            </a:r>
            <a:endParaRPr lang="en-US" sz="1050" dirty="0">
              <a:solidFill>
                <a:srgbClr val="000000"/>
              </a:solidFill>
              <a:latin typeface="Menlo" panose="020B0609030804020204" pitchFamily="49" charset="0"/>
            </a:endParaRPr>
          </a:p>
          <a:p>
            <a:pPr eaLnBrk="1" hangingPunct="1">
              <a:defRPr/>
            </a:pPr>
            <a:r>
              <a:rPr lang="en-US" sz="1050" dirty="0">
                <a:solidFill>
                  <a:srgbClr val="000000"/>
                </a:solidFill>
                <a:latin typeface="Menlo" panose="020B0609030804020204" pitchFamily="49" charset="0"/>
              </a:rPr>
              <a:t>1|ali|100|1|1|CS</a:t>
            </a:r>
          </a:p>
          <a:p>
            <a:pPr eaLnBrk="1" hangingPunct="1">
              <a:defRPr/>
            </a:pPr>
            <a:r>
              <a:rPr lang="en-US" sz="1050" dirty="0">
                <a:solidFill>
                  <a:srgbClr val="000000"/>
                </a:solidFill>
                <a:latin typeface="Menlo" panose="020B0609030804020204" pitchFamily="49" charset="0"/>
              </a:rPr>
              <a:t>1|ali|100|1|2|DS</a:t>
            </a:r>
          </a:p>
          <a:p>
            <a:pPr eaLnBrk="1" hangingPunct="1">
              <a:defRPr/>
            </a:pPr>
            <a:r>
              <a:rPr lang="en-US" sz="1050" dirty="0">
                <a:solidFill>
                  <a:srgbClr val="000000"/>
                </a:solidFill>
                <a:latin typeface="Menlo" panose="020B0609030804020204" pitchFamily="49" charset="0"/>
              </a:rPr>
              <a:t>2|aslam|400|1|1|CS</a:t>
            </a:r>
          </a:p>
          <a:p>
            <a:pPr eaLnBrk="1" hangingPunct="1">
              <a:defRPr/>
            </a:pPr>
            <a:r>
              <a:rPr lang="en-US" sz="1050" dirty="0">
                <a:solidFill>
                  <a:srgbClr val="000000"/>
                </a:solidFill>
                <a:latin typeface="Menlo" panose="020B0609030804020204" pitchFamily="49" charset="0"/>
              </a:rPr>
              <a:t>2|aslam|400|1|2|DS</a:t>
            </a:r>
          </a:p>
          <a:p>
            <a:pPr eaLnBrk="1" hangingPunct="1">
              <a:defRPr/>
            </a:pPr>
            <a:r>
              <a:rPr lang="en-US" sz="1050" dirty="0">
                <a:solidFill>
                  <a:srgbClr val="000000"/>
                </a:solidFill>
                <a:latin typeface="Menlo" panose="020B0609030804020204" pitchFamily="49" charset="0"/>
              </a:rPr>
              <a:t>3|kashif|460|1|1|CS</a:t>
            </a:r>
          </a:p>
          <a:p>
            <a:pPr eaLnBrk="1" hangingPunct="1">
              <a:defRPr/>
            </a:pPr>
            <a:r>
              <a:rPr lang="en-US" sz="1050" dirty="0">
                <a:solidFill>
                  <a:srgbClr val="000000"/>
                </a:solidFill>
                <a:latin typeface="Menlo" panose="020B0609030804020204" pitchFamily="49" charset="0"/>
              </a:rPr>
              <a:t>3|kashif|460|1|2|DS</a:t>
            </a:r>
          </a:p>
          <a:p>
            <a:pPr eaLnBrk="1" hangingPunct="1">
              <a:defRPr/>
            </a:pPr>
            <a:r>
              <a:rPr lang="en-US" sz="1050" dirty="0">
                <a:solidFill>
                  <a:srgbClr val="000000"/>
                </a:solidFill>
                <a:latin typeface="Menlo" panose="020B0609030804020204" pitchFamily="49" charset="0"/>
              </a:rPr>
              <a:t>4|omer|290|1|1|CS</a:t>
            </a:r>
          </a:p>
          <a:p>
            <a:pPr eaLnBrk="1" hangingPunct="1">
              <a:defRPr/>
            </a:pPr>
            <a:r>
              <a:rPr lang="en-US" sz="1050" dirty="0">
                <a:solidFill>
                  <a:srgbClr val="000000"/>
                </a:solidFill>
                <a:latin typeface="Menlo" panose="020B0609030804020204" pitchFamily="49" charset="0"/>
              </a:rPr>
              <a:t>4|omer|290|1|2|DS</a:t>
            </a:r>
          </a:p>
          <a:p>
            <a:pPr eaLnBrk="1" hangingPunct="1">
              <a:defRPr/>
            </a:pPr>
            <a:r>
              <a:rPr lang="en-US" sz="1050" dirty="0">
                <a:solidFill>
                  <a:srgbClr val="000000"/>
                </a:solidFill>
                <a:latin typeface="Menlo" panose="020B0609030804020204" pitchFamily="49" charset="0"/>
              </a:rPr>
              <a:t>5|khalid|390|2|1|CS</a:t>
            </a:r>
          </a:p>
          <a:p>
            <a:pPr eaLnBrk="1" hangingPunct="1">
              <a:defRPr/>
            </a:pPr>
            <a:r>
              <a:rPr lang="en-US" sz="1050" dirty="0">
                <a:solidFill>
                  <a:srgbClr val="000000"/>
                </a:solidFill>
                <a:latin typeface="Menlo" panose="020B0609030804020204" pitchFamily="49" charset="0"/>
              </a:rPr>
              <a:t>5|khalid|390|2|2|DS</a:t>
            </a:r>
          </a:p>
          <a:p>
            <a:pPr eaLnBrk="1" hangingPunct="1">
              <a:defRPr/>
            </a:pPr>
            <a:r>
              <a:rPr lang="en-US" sz="1050" dirty="0">
                <a:solidFill>
                  <a:srgbClr val="000000"/>
                </a:solidFill>
                <a:latin typeface="Menlo" panose="020B0609030804020204" pitchFamily="49" charset="0"/>
              </a:rPr>
              <a:t>6|javed|120|2|1|CS</a:t>
            </a:r>
          </a:p>
          <a:p>
            <a:pPr eaLnBrk="1" hangingPunct="1">
              <a:defRPr/>
            </a:pPr>
            <a:r>
              <a:rPr lang="en-US" sz="1050" dirty="0">
                <a:solidFill>
                  <a:srgbClr val="000000"/>
                </a:solidFill>
                <a:latin typeface="Menlo" panose="020B0609030804020204" pitchFamily="49" charset="0"/>
              </a:rPr>
              <a:t>6|javed|120|2|2|DS</a:t>
            </a:r>
          </a:p>
          <a:p>
            <a:pPr eaLnBrk="1" hangingPunct="1">
              <a:defRPr/>
            </a:pPr>
            <a:r>
              <a:rPr lang="en-US" sz="1050" dirty="0">
                <a:solidFill>
                  <a:srgbClr val="000000"/>
                </a:solidFill>
                <a:latin typeface="Menlo" panose="020B0609030804020204" pitchFamily="49" charset="0"/>
              </a:rPr>
              <a:t>7|ahmed|520|2|1|CS</a:t>
            </a:r>
          </a:p>
          <a:p>
            <a:pPr eaLnBrk="1" hangingPunct="1">
              <a:defRPr/>
            </a:pPr>
            <a:r>
              <a:rPr lang="en-US" sz="1050" dirty="0">
                <a:solidFill>
                  <a:srgbClr val="000000"/>
                </a:solidFill>
                <a:latin typeface="Menlo" panose="020B0609030804020204" pitchFamily="49" charset="0"/>
              </a:rPr>
              <a:t>7|ahmed|520|2|2|DS</a:t>
            </a:r>
          </a:p>
        </p:txBody>
      </p:sp>
      <p:sp>
        <p:nvSpPr>
          <p:cNvPr id="112648" name="Rectangle 8"/>
          <p:cNvSpPr>
            <a:spLocks noChangeArrowheads="1"/>
          </p:cNvSpPr>
          <p:nvPr/>
        </p:nvSpPr>
        <p:spPr bwMode="auto">
          <a:xfrm>
            <a:off x="3635375" y="1600200"/>
            <a:ext cx="50800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400" b="1">
                <a:solidFill>
                  <a:srgbClr val="7030A0"/>
                </a:solidFill>
                <a:latin typeface="Menlo" pitchFamily="49" charset="0"/>
              </a:rPr>
              <a:t>sqlite&gt; select * from student1 natural join department;</a:t>
            </a:r>
          </a:p>
          <a:p>
            <a:pPr eaLnBrk="1" hangingPunct="1">
              <a:spcBef>
                <a:spcPct val="0"/>
              </a:spcBef>
              <a:buClrTx/>
              <a:buSzTx/>
              <a:buFontTx/>
              <a:buNone/>
            </a:pPr>
            <a:r>
              <a:rPr lang="en-US" altLang="en-US" sz="1400">
                <a:solidFill>
                  <a:srgbClr val="000000"/>
                </a:solidFill>
                <a:latin typeface="Menlo" pitchFamily="49" charset="0"/>
              </a:rPr>
              <a:t>id|name|marks|deptId|dname</a:t>
            </a:r>
          </a:p>
          <a:p>
            <a:pPr eaLnBrk="1" hangingPunct="1">
              <a:spcBef>
                <a:spcPct val="0"/>
              </a:spcBef>
              <a:buClrTx/>
              <a:buSzTx/>
              <a:buFontTx/>
              <a:buNone/>
            </a:pPr>
            <a:endParaRPr lang="en-US" altLang="en-US" sz="1400">
              <a:solidFill>
                <a:srgbClr val="000000"/>
              </a:solidFill>
              <a:latin typeface="Menlo" pitchFamily="49" charset="0"/>
            </a:endParaRPr>
          </a:p>
          <a:p>
            <a:pPr eaLnBrk="1" hangingPunct="1">
              <a:spcBef>
                <a:spcPct val="0"/>
              </a:spcBef>
              <a:buClrTx/>
              <a:buSzTx/>
              <a:buFontTx/>
              <a:buNone/>
            </a:pPr>
            <a:r>
              <a:rPr lang="en-US" altLang="en-US" sz="1400">
                <a:solidFill>
                  <a:srgbClr val="000000"/>
                </a:solidFill>
                <a:latin typeface="Menlo" pitchFamily="49" charset="0"/>
              </a:rPr>
              <a:t>1|ali|100|1|CS</a:t>
            </a:r>
          </a:p>
          <a:p>
            <a:pPr eaLnBrk="1" hangingPunct="1">
              <a:spcBef>
                <a:spcPct val="0"/>
              </a:spcBef>
              <a:buClrTx/>
              <a:buSzTx/>
              <a:buFontTx/>
              <a:buNone/>
            </a:pPr>
            <a:r>
              <a:rPr lang="en-US" altLang="en-US" sz="1400">
                <a:solidFill>
                  <a:srgbClr val="000000"/>
                </a:solidFill>
                <a:latin typeface="Menlo" pitchFamily="49" charset="0"/>
              </a:rPr>
              <a:t>2|aslam|400|1|CS</a:t>
            </a:r>
          </a:p>
          <a:p>
            <a:pPr eaLnBrk="1" hangingPunct="1">
              <a:spcBef>
                <a:spcPct val="0"/>
              </a:spcBef>
              <a:buClrTx/>
              <a:buSzTx/>
              <a:buFontTx/>
              <a:buNone/>
            </a:pPr>
            <a:r>
              <a:rPr lang="en-US" altLang="en-US" sz="1400">
                <a:solidFill>
                  <a:srgbClr val="000000"/>
                </a:solidFill>
                <a:latin typeface="Menlo" pitchFamily="49" charset="0"/>
              </a:rPr>
              <a:t>3|kashif|460|1|CS</a:t>
            </a:r>
          </a:p>
          <a:p>
            <a:pPr eaLnBrk="1" hangingPunct="1">
              <a:spcBef>
                <a:spcPct val="0"/>
              </a:spcBef>
              <a:buClrTx/>
              <a:buSzTx/>
              <a:buFontTx/>
              <a:buNone/>
            </a:pPr>
            <a:r>
              <a:rPr lang="en-US" altLang="en-US" sz="1400">
                <a:solidFill>
                  <a:srgbClr val="000000"/>
                </a:solidFill>
                <a:latin typeface="Menlo" pitchFamily="49" charset="0"/>
              </a:rPr>
              <a:t>4|omer|290|1|CS</a:t>
            </a:r>
          </a:p>
          <a:p>
            <a:pPr eaLnBrk="1" hangingPunct="1">
              <a:spcBef>
                <a:spcPct val="0"/>
              </a:spcBef>
              <a:buClrTx/>
              <a:buSzTx/>
              <a:buFontTx/>
              <a:buNone/>
            </a:pPr>
            <a:r>
              <a:rPr lang="en-US" altLang="en-US" sz="1400">
                <a:solidFill>
                  <a:srgbClr val="000000"/>
                </a:solidFill>
                <a:latin typeface="Menlo" pitchFamily="49" charset="0"/>
              </a:rPr>
              <a:t>5|khalid|390|2|DS</a:t>
            </a:r>
          </a:p>
          <a:p>
            <a:pPr eaLnBrk="1" hangingPunct="1">
              <a:spcBef>
                <a:spcPct val="0"/>
              </a:spcBef>
              <a:buClrTx/>
              <a:buSzTx/>
              <a:buFontTx/>
              <a:buNone/>
            </a:pPr>
            <a:r>
              <a:rPr lang="en-US" altLang="en-US" sz="1400">
                <a:solidFill>
                  <a:srgbClr val="000000"/>
                </a:solidFill>
                <a:latin typeface="Menlo" pitchFamily="49" charset="0"/>
              </a:rPr>
              <a:t>6|javed|120|2|DS</a:t>
            </a:r>
          </a:p>
          <a:p>
            <a:pPr eaLnBrk="1" hangingPunct="1">
              <a:spcBef>
                <a:spcPct val="0"/>
              </a:spcBef>
              <a:buClrTx/>
              <a:buSzTx/>
              <a:buFontTx/>
              <a:buNone/>
            </a:pPr>
            <a:r>
              <a:rPr lang="en-US" altLang="en-US" sz="1400">
                <a:solidFill>
                  <a:srgbClr val="000000"/>
                </a:solidFill>
                <a:latin typeface="Menlo" pitchFamily="49" charset="0"/>
              </a:rPr>
              <a:t>7|ahmed|520|2|DS</a:t>
            </a:r>
          </a:p>
        </p:txBody>
      </p:sp>
      <p:sp>
        <p:nvSpPr>
          <p:cNvPr id="9" name="Rectangle 8"/>
          <p:cNvSpPr>
            <a:spLocks noChangeArrowheads="1"/>
          </p:cNvSpPr>
          <p:nvPr/>
        </p:nvSpPr>
        <p:spPr bwMode="auto">
          <a:xfrm>
            <a:off x="5770563" y="6102350"/>
            <a:ext cx="29527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400">
                <a:solidFill>
                  <a:srgbClr val="FF0000"/>
                </a:solidFill>
              </a:rPr>
              <a:t>If column names do not agree then result is cartesian product</a:t>
            </a:r>
          </a:p>
        </p:txBody>
      </p:sp>
      <p:cxnSp>
        <p:nvCxnSpPr>
          <p:cNvPr id="3" name="Straight Arrow Connector 2"/>
          <p:cNvCxnSpPr/>
          <p:nvPr/>
        </p:nvCxnSpPr>
        <p:spPr bwMode="auto">
          <a:xfrm flipH="1" flipV="1">
            <a:off x="5940425" y="4508500"/>
            <a:ext cx="431800" cy="333375"/>
          </a:xfrm>
          <a:prstGeom prst="straightConnector1">
            <a:avLst/>
          </a:prstGeom>
          <a:ln>
            <a:solidFill>
              <a:schemeClr val="accent6">
                <a:lumMod val="50000"/>
              </a:schemeClr>
            </a:solidFill>
            <a:headEnd type="none" w="med" len="med"/>
            <a:tailEnd type="triangle"/>
          </a:ln>
          <a:extLst/>
        </p:spPr>
        <p:style>
          <a:lnRef idx="3">
            <a:schemeClr val="dk1"/>
          </a:lnRef>
          <a:fillRef idx="0">
            <a:schemeClr val="dk1"/>
          </a:fillRef>
          <a:effectRef idx="2">
            <a:schemeClr val="dk1"/>
          </a:effectRef>
          <a:fontRef idx="minor">
            <a:schemeClr val="tx1"/>
          </a:fontRef>
        </p:style>
      </p:cxnSp>
      <p:sp>
        <p:nvSpPr>
          <p:cNvPr id="4" name="TextBox 3"/>
          <p:cNvSpPr txBox="1"/>
          <p:nvPr/>
        </p:nvSpPr>
        <p:spPr>
          <a:xfrm>
            <a:off x="5940425" y="4959350"/>
            <a:ext cx="2087563" cy="276225"/>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en-US" sz="1200" dirty="0"/>
              <a:t>duplicate column of </a:t>
            </a:r>
            <a:r>
              <a:rPr lang="en-US" sz="1200" dirty="0" err="1"/>
              <a:t>dept</a:t>
            </a:r>
            <a:r>
              <a:rPr lang="en-US" sz="1200" dirty="0"/>
              <a:t> ID </a:t>
            </a:r>
          </a:p>
        </p:txBody>
      </p:sp>
      <p:cxnSp>
        <p:nvCxnSpPr>
          <p:cNvPr id="13" name="Straight Arrow Connector 12"/>
          <p:cNvCxnSpPr/>
          <p:nvPr/>
        </p:nvCxnSpPr>
        <p:spPr bwMode="auto">
          <a:xfrm flipH="1" flipV="1">
            <a:off x="6121400" y="2336800"/>
            <a:ext cx="431800" cy="331788"/>
          </a:xfrm>
          <a:prstGeom prst="straightConnector1">
            <a:avLst/>
          </a:prstGeom>
          <a:ln>
            <a:solidFill>
              <a:srgbClr val="FF0000"/>
            </a:solidFill>
            <a:headEnd type="none" w="med" len="med"/>
            <a:tailEnd type="triangle"/>
          </a:ln>
          <a:extLst/>
        </p:spPr>
        <p:style>
          <a:lnRef idx="3">
            <a:schemeClr val="dk1"/>
          </a:lnRef>
          <a:fillRef idx="0">
            <a:schemeClr val="dk1"/>
          </a:fillRef>
          <a:effectRef idx="2">
            <a:schemeClr val="dk1"/>
          </a:effectRef>
          <a:fontRef idx="minor">
            <a:schemeClr val="tx1"/>
          </a:fontRef>
        </p:style>
      </p:cxnSp>
      <p:sp>
        <p:nvSpPr>
          <p:cNvPr id="14" name="TextBox 13"/>
          <p:cNvSpPr txBox="1"/>
          <p:nvPr/>
        </p:nvSpPr>
        <p:spPr>
          <a:xfrm>
            <a:off x="6121400" y="2786063"/>
            <a:ext cx="1560513" cy="27622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1200" dirty="0"/>
              <a:t>one copy of </a:t>
            </a:r>
            <a:r>
              <a:rPr lang="en-US" sz="1200" dirty="0" err="1"/>
              <a:t>dept</a:t>
            </a:r>
            <a:r>
              <a:rPr lang="en-US" sz="1200" dirty="0"/>
              <a:t> ID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noChangeArrowheads="1"/>
          </p:cNvSpPr>
          <p:nvPr>
            <p:ph type="title"/>
          </p:nvPr>
        </p:nvSpPr>
        <p:spPr/>
        <p:txBody>
          <a:bodyPr/>
          <a:lstStyle/>
          <a:p>
            <a:pPr eaLnBrk="1" hangingPunct="1"/>
            <a:r>
              <a:rPr lang="en-US" altLang="en-US" smtClean="0"/>
              <a:t>Natural Join vs Inner Join</a:t>
            </a:r>
          </a:p>
        </p:txBody>
      </p:sp>
      <p:sp>
        <p:nvSpPr>
          <p:cNvPr id="113667"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04B70914-7A86-46B6-BF31-9D02F7BDDDDC}" type="slidenum">
              <a:rPr lang="en-US" altLang="en-US" sz="1800" b="0" smtClean="0">
                <a:solidFill>
                  <a:schemeClr val="tx1"/>
                </a:solidFill>
              </a:rPr>
              <a:pPr algn="l">
                <a:spcBef>
                  <a:spcPct val="0"/>
                </a:spcBef>
                <a:buClrTx/>
                <a:buSzTx/>
                <a:buFontTx/>
                <a:buNone/>
              </a:pPr>
              <a:t>58</a:t>
            </a:fld>
            <a:endParaRPr lang="en-US" altLang="en-US" sz="1800" b="0" smtClean="0">
              <a:solidFill>
                <a:schemeClr val="tx1"/>
              </a:solidFill>
            </a:endParaRPr>
          </a:p>
        </p:txBody>
      </p:sp>
      <p:pic>
        <p:nvPicPr>
          <p:cNvPr id="113668" name="Content Placeholder 1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03338" y="1184275"/>
            <a:ext cx="6773862" cy="5292725"/>
          </a:xfrm>
        </p:spPr>
      </p:pic>
    </p:spTree>
  </p:cSld>
  <p:clrMapOvr>
    <a:masterClrMapping/>
  </p:clrMapOvr>
  <p:transition spd="med"/>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p:cNvSpPr>
            <a:spLocks noGrp="1" noChangeArrowheads="1"/>
          </p:cNvSpPr>
          <p:nvPr>
            <p:ph type="title"/>
          </p:nvPr>
        </p:nvSpPr>
        <p:spPr/>
        <p:txBody>
          <a:bodyPr/>
          <a:lstStyle/>
          <a:p>
            <a:pPr eaLnBrk="1" hangingPunct="1"/>
            <a:r>
              <a:rPr lang="en-US" altLang="en-US" smtClean="0"/>
              <a:t/>
            </a:r>
            <a:br>
              <a:rPr lang="en-US" altLang="en-US" smtClean="0"/>
            </a:br>
            <a:r>
              <a:rPr lang="en-US" altLang="en-US" smtClean="0"/>
              <a:t>Cartesian Product vs Natural Join</a:t>
            </a:r>
            <a:r>
              <a:rPr lang="en-US" altLang="en-US" b="1" smtClean="0"/>
              <a:t/>
            </a:r>
            <a:br>
              <a:rPr lang="en-US" altLang="en-US" b="1" smtClean="0"/>
            </a:br>
            <a:endParaRPr lang="en-US" altLang="en-US" smtClean="0"/>
          </a:p>
        </p:txBody>
      </p:sp>
      <p:sp>
        <p:nvSpPr>
          <p:cNvPr id="115715" name="Content Placeholder 2"/>
          <p:cNvSpPr>
            <a:spLocks noGrp="1" noChangeArrowheads="1"/>
          </p:cNvSpPr>
          <p:nvPr>
            <p:ph idx="1"/>
          </p:nvPr>
        </p:nvSpPr>
        <p:spPr/>
        <p:txBody>
          <a:bodyPr/>
          <a:lstStyle/>
          <a:p>
            <a:pPr eaLnBrk="1" hangingPunct="1"/>
            <a:r>
              <a:rPr lang="en-US" altLang="en-US" smtClean="0"/>
              <a:t>A natural join is a </a:t>
            </a:r>
            <a:r>
              <a:rPr lang="en-US" altLang="en-US" b="1" smtClean="0"/>
              <a:t>projected</a:t>
            </a:r>
            <a:r>
              <a:rPr lang="en-US" altLang="en-US" smtClean="0"/>
              <a:t>, </a:t>
            </a:r>
            <a:r>
              <a:rPr lang="en-US" altLang="en-US" b="1" smtClean="0"/>
              <a:t>filtered</a:t>
            </a:r>
            <a:r>
              <a:rPr lang="en-US" altLang="en-US" smtClean="0"/>
              <a:t> Cartesian product:</a:t>
            </a:r>
          </a:p>
          <a:p>
            <a:pPr lvl="1" eaLnBrk="1" hangingPunct="1"/>
            <a:r>
              <a:rPr lang="en-US" altLang="en-US" sz="2400" smtClean="0"/>
              <a:t>You take the Cartesian product, then</a:t>
            </a:r>
          </a:p>
          <a:p>
            <a:pPr lvl="1" eaLnBrk="1" hangingPunct="1"/>
            <a:r>
              <a:rPr lang="en-US" altLang="en-US" sz="2400" smtClean="0"/>
              <a:t>select it, so that the values in columns of the same name have the same value, and</a:t>
            </a:r>
          </a:p>
          <a:p>
            <a:pPr lvl="1" eaLnBrk="1" hangingPunct="1"/>
            <a:r>
              <a:rPr lang="en-US" altLang="en-US" sz="2400" smtClean="0"/>
              <a:t>project it, so that all columns have distinct names.</a:t>
            </a:r>
            <a:r>
              <a:rPr lang="en-US" altLang="en-US" smtClean="0"/>
              <a:t/>
            </a:r>
            <a:br>
              <a:rPr lang="en-US" altLang="en-US" smtClean="0"/>
            </a:br>
            <a:endParaRPr lang="en-US" altLang="en-US" smtClean="0"/>
          </a:p>
        </p:txBody>
      </p:sp>
      <p:sp>
        <p:nvSpPr>
          <p:cNvPr id="115716"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AD5E50C5-7454-4F8C-9F25-61AFF719D09B}" type="slidenum">
              <a:rPr lang="en-US" altLang="en-US" sz="1800" b="0" smtClean="0">
                <a:solidFill>
                  <a:schemeClr val="tx1"/>
                </a:solidFill>
              </a:rPr>
              <a:pPr algn="l">
                <a:spcBef>
                  <a:spcPct val="0"/>
                </a:spcBef>
                <a:buClrTx/>
                <a:buSzTx/>
                <a:buFontTx/>
                <a:buNone/>
              </a:pPr>
              <a:t>59</a:t>
            </a:fld>
            <a:endParaRPr lang="en-US" altLang="en-US" sz="1800" b="0" smtClean="0">
              <a:solidFill>
                <a:schemeClr val="tx1"/>
              </a:solidFill>
            </a:endParaRPr>
          </a:p>
        </p:txBody>
      </p:sp>
    </p:spTree>
  </p:cSld>
  <p:clrMapOvr>
    <a:masterClrMapping/>
  </p:clrMapOvr>
  <p:transition spd="med"/>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Slide Number Placeholder 5"/>
          <p:cNvSpPr>
            <a:spLocks noGrp="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59D4AA8E-07AF-445B-AF10-CEAD558634FA}" type="slidenum">
              <a:rPr lang="en-US" altLang="en-US" sz="1800" b="0" smtClean="0">
                <a:solidFill>
                  <a:schemeClr val="tx1"/>
                </a:solidFill>
              </a:rPr>
              <a:pPr algn="l">
                <a:spcBef>
                  <a:spcPct val="0"/>
                </a:spcBef>
                <a:buClrTx/>
                <a:buSzTx/>
                <a:buFontTx/>
                <a:buNone/>
              </a:pPr>
              <a:t>60</a:t>
            </a:fld>
            <a:endParaRPr lang="en-US" altLang="en-US" sz="1800" b="0" smtClean="0">
              <a:solidFill>
                <a:schemeClr val="tx1"/>
              </a:solidFill>
            </a:endParaRPr>
          </a:p>
        </p:txBody>
      </p:sp>
      <p:sp>
        <p:nvSpPr>
          <p:cNvPr id="117763" name="Rectangle 3"/>
          <p:cNvSpPr>
            <a:spLocks noGrp="1" noChangeArrowheads="1"/>
          </p:cNvSpPr>
          <p:nvPr>
            <p:ph type="title"/>
          </p:nvPr>
        </p:nvSpPr>
        <p:spPr>
          <a:noFill/>
        </p:spPr>
        <p:txBody>
          <a:bodyPr lIns="90488" tIns="44450" rIns="90488" bIns="44450"/>
          <a:lstStyle/>
          <a:p>
            <a:pPr eaLnBrk="1" hangingPunct="1"/>
            <a:r>
              <a:rPr lang="en-US" altLang="en-US" smtClean="0"/>
              <a:t>Outer Joins</a:t>
            </a:r>
          </a:p>
        </p:txBody>
      </p:sp>
      <p:sp>
        <p:nvSpPr>
          <p:cNvPr id="117764" name="Rectangle 4"/>
          <p:cNvSpPr>
            <a:spLocks noGrp="1" noChangeArrowheads="1"/>
          </p:cNvSpPr>
          <p:nvPr>
            <p:ph type="body" idx="1"/>
          </p:nvPr>
        </p:nvSpPr>
        <p:spPr>
          <a:xfrm>
            <a:off x="457200" y="1504950"/>
            <a:ext cx="8153400" cy="4876800"/>
          </a:xfrm>
          <a:noFill/>
        </p:spPr>
        <p:txBody>
          <a:bodyPr lIns="90488" tIns="44450" rIns="90488" bIns="44450"/>
          <a:lstStyle/>
          <a:p>
            <a:pPr algn="just" eaLnBrk="1" hangingPunct="1"/>
            <a:r>
              <a:rPr lang="en-US" altLang="en-US" sz="2400" smtClean="0"/>
              <a:t>With an inner join, if one row of a table is unmatched, row is omitted from result table. </a:t>
            </a:r>
          </a:p>
          <a:p>
            <a:pPr algn="just" eaLnBrk="1" hangingPunct="1"/>
            <a:r>
              <a:rPr lang="en-US" altLang="en-US" sz="2400" smtClean="0"/>
              <a:t>The outer join operations retain rows that do not satisfy the join condition. </a:t>
            </a:r>
          </a:p>
          <a:p>
            <a:pPr algn="just" eaLnBrk="1" hangingPunct="1"/>
            <a:r>
              <a:rPr lang="en-US" altLang="en-US" sz="2400" smtClean="0"/>
              <a:t>There are three types of OUTER JOIN</a:t>
            </a:r>
          </a:p>
          <a:p>
            <a:pPr lvl="1" algn="just" eaLnBrk="1" hangingPunct="1"/>
            <a:r>
              <a:rPr lang="en-US" altLang="en-US" sz="2400" smtClean="0"/>
              <a:t>Left Outer Join</a:t>
            </a:r>
          </a:p>
          <a:p>
            <a:pPr lvl="1" algn="just" eaLnBrk="1" hangingPunct="1"/>
            <a:r>
              <a:rPr lang="en-US" altLang="en-US" sz="2400" smtClean="0"/>
              <a:t>Right Outer Join</a:t>
            </a:r>
          </a:p>
          <a:p>
            <a:pPr lvl="1" algn="just" eaLnBrk="1" hangingPunct="1"/>
            <a:r>
              <a:rPr lang="en-US" altLang="en-US" sz="2400" smtClean="0"/>
              <a:t>Full Outer Join</a:t>
            </a:r>
          </a:p>
        </p:txBody>
      </p:sp>
      <p:pic>
        <p:nvPicPr>
          <p:cNvPr id="11776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800600"/>
            <a:ext cx="6035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8"/>
          <p:cNvSpPr>
            <a:spLocks noChangeArrowheads="1"/>
          </p:cNvSpPr>
          <p:nvPr/>
        </p:nvSpPr>
        <p:spPr bwMode="auto">
          <a:xfrm>
            <a:off x="196850" y="3581400"/>
            <a:ext cx="4298950" cy="1600200"/>
          </a:xfrm>
          <a:prstGeom prst="rect">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sp>
        <p:nvSpPr>
          <p:cNvPr id="119811" name="Text Placeholder 2"/>
          <p:cNvSpPr>
            <a:spLocks noGrp="1" noChangeArrowheads="1"/>
          </p:cNvSpPr>
          <p:nvPr>
            <p:ph type="body" sz="half" idx="1"/>
          </p:nvPr>
        </p:nvSpPr>
        <p:spPr>
          <a:xfrm>
            <a:off x="166688" y="3581400"/>
            <a:ext cx="4176712" cy="1524000"/>
          </a:xfrm>
        </p:spPr>
        <p:txBody>
          <a:bodyPr/>
          <a:lstStyle/>
          <a:p>
            <a:pPr marL="0" indent="0" eaLnBrk="1" hangingPunct="1">
              <a:buFontTx/>
              <a:buNone/>
            </a:pPr>
            <a:r>
              <a:rPr lang="en-US" altLang="en-US" sz="2000" smtClean="0"/>
              <a:t>SELECT e.empno, e.ename, e.sal, </a:t>
            </a:r>
          </a:p>
          <a:p>
            <a:pPr marL="0" indent="0" eaLnBrk="1" hangingPunct="1">
              <a:buFontTx/>
              <a:buNone/>
            </a:pPr>
            <a:r>
              <a:rPr lang="en-US" altLang="en-US" sz="2000" smtClean="0"/>
              <a:t>e.deptno, d.dname, d.deptno</a:t>
            </a:r>
          </a:p>
          <a:p>
            <a:pPr marL="0" indent="0" eaLnBrk="1" hangingPunct="1">
              <a:buFontTx/>
              <a:buNone/>
            </a:pPr>
            <a:r>
              <a:rPr lang="en-US" altLang="en-US" sz="2000" smtClean="0"/>
              <a:t>FROM   emp e, dept d</a:t>
            </a:r>
          </a:p>
          <a:p>
            <a:pPr marL="0" indent="0" eaLnBrk="1" hangingPunct="1">
              <a:buFontTx/>
              <a:buNone/>
            </a:pPr>
            <a:r>
              <a:rPr lang="en-US" altLang="en-US" sz="2000" smtClean="0"/>
              <a:t>WHERE </a:t>
            </a:r>
            <a:r>
              <a:rPr lang="en-US" altLang="en-US" sz="2000" smtClean="0">
                <a:solidFill>
                  <a:srgbClr val="FF0000"/>
                </a:solidFill>
              </a:rPr>
              <a:t>e.deptno=d.deptno;</a:t>
            </a:r>
          </a:p>
        </p:txBody>
      </p:sp>
      <p:sp>
        <p:nvSpPr>
          <p:cNvPr id="11981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fld id="{8E923B7A-FB41-45DC-B3AE-BBC3385940AD}" type="slidenum">
              <a:rPr lang="en-US" altLang="en-US" sz="1800" smtClean="0">
                <a:solidFill>
                  <a:schemeClr val="tx1"/>
                </a:solidFill>
              </a:rPr>
              <a:pPr>
                <a:spcBef>
                  <a:spcPct val="0"/>
                </a:spcBef>
                <a:buClrTx/>
                <a:buSzTx/>
                <a:buFontTx/>
                <a:buNone/>
              </a:pPr>
              <a:t>61</a:t>
            </a:fld>
            <a:endParaRPr lang="en-US" altLang="en-US" sz="1800" smtClean="0">
              <a:solidFill>
                <a:schemeClr val="tx1"/>
              </a:solidFill>
            </a:endParaRPr>
          </a:p>
        </p:txBody>
      </p:sp>
      <p:sp>
        <p:nvSpPr>
          <p:cNvPr id="119813" name="Rectangle 2"/>
          <p:cNvSpPr>
            <a:spLocks noGrp="1" noChangeArrowheads="1"/>
          </p:cNvSpPr>
          <p:nvPr>
            <p:ph type="title"/>
          </p:nvPr>
        </p:nvSpPr>
        <p:spPr>
          <a:xfrm>
            <a:off x="457200" y="0"/>
            <a:ext cx="8229600" cy="1066800"/>
          </a:xfrm>
        </p:spPr>
        <p:txBody>
          <a:bodyPr/>
          <a:lstStyle/>
          <a:p>
            <a:pPr eaLnBrk="1" hangingPunct="1"/>
            <a:r>
              <a:rPr lang="en-US" altLang="en-US" sz="4000" smtClean="0"/>
              <a:t>For understanding of an Outer Join</a:t>
            </a:r>
          </a:p>
        </p:txBody>
      </p:sp>
      <p:pic>
        <p:nvPicPr>
          <p:cNvPr id="1198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213" y="955675"/>
            <a:ext cx="4229100"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98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955675"/>
            <a:ext cx="319087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9816" name="TextBox 23"/>
          <p:cNvSpPr txBox="1">
            <a:spLocks noChangeArrowheads="1"/>
          </p:cNvSpPr>
          <p:nvPr/>
        </p:nvSpPr>
        <p:spPr bwMode="auto">
          <a:xfrm>
            <a:off x="196850" y="2438400"/>
            <a:ext cx="3676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just" eaLnBrk="1" hangingPunct="1">
              <a:spcBef>
                <a:spcPct val="0"/>
              </a:spcBef>
              <a:buClrTx/>
              <a:buSzTx/>
              <a:buFontTx/>
              <a:buNone/>
            </a:pPr>
            <a:r>
              <a:rPr lang="en-US" altLang="en-US" sz="1800">
                <a:solidFill>
                  <a:schemeClr val="tx1"/>
                </a:solidFill>
              </a:rPr>
              <a:t>Inner join of departments and lecturers tables will result in the following output.</a:t>
            </a:r>
          </a:p>
        </p:txBody>
      </p:sp>
      <p:pic>
        <p:nvPicPr>
          <p:cNvPr id="269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3886200"/>
            <a:ext cx="3590925" cy="226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9818" name="Down Arrow 1"/>
          <p:cNvSpPr>
            <a:spLocks noChangeArrowheads="1"/>
          </p:cNvSpPr>
          <p:nvPr/>
        </p:nvSpPr>
        <p:spPr bwMode="auto">
          <a:xfrm>
            <a:off x="6488113" y="3448050"/>
            <a:ext cx="228600" cy="292100"/>
          </a:xfrm>
          <a:prstGeom prst="downArrow">
            <a:avLst>
              <a:gd name="adj1" fmla="val 50000"/>
              <a:gd name="adj2" fmla="val 49999"/>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sp>
        <p:nvSpPr>
          <p:cNvPr id="119819" name="TextBox 1"/>
          <p:cNvSpPr txBox="1">
            <a:spLocks noChangeArrowheads="1"/>
          </p:cNvSpPr>
          <p:nvPr/>
        </p:nvSpPr>
        <p:spPr bwMode="auto">
          <a:xfrm>
            <a:off x="282575" y="5867400"/>
            <a:ext cx="3800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800">
                <a:solidFill>
                  <a:schemeClr val="tx1"/>
                </a:solidFill>
              </a:rPr>
              <a:t>Note: It is an equijoin, not outer join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9314"/>
                                        </p:tgtEl>
                                        <p:attrNameLst>
                                          <p:attrName>style.visibility</p:attrName>
                                        </p:attrNameLst>
                                      </p:cBhvr>
                                      <p:to>
                                        <p:strVal val="visible"/>
                                      </p:to>
                                    </p:set>
                                    <p:anim calcmode="lin" valueType="num">
                                      <p:cBhvr additive="base">
                                        <p:cTn id="7" dur="500" fill="hold"/>
                                        <p:tgtEl>
                                          <p:spTgt spid="269314"/>
                                        </p:tgtEl>
                                        <p:attrNameLst>
                                          <p:attrName>ppt_x</p:attrName>
                                        </p:attrNameLst>
                                      </p:cBhvr>
                                      <p:tavLst>
                                        <p:tav tm="0">
                                          <p:val>
                                            <p:strVal val="#ppt_x"/>
                                          </p:val>
                                        </p:tav>
                                        <p:tav tm="100000">
                                          <p:val>
                                            <p:strVal val="#ppt_x"/>
                                          </p:val>
                                        </p:tav>
                                      </p:tavLst>
                                    </p:anim>
                                    <p:anim calcmode="lin" valueType="num">
                                      <p:cBhvr additive="base">
                                        <p:cTn id="8" dur="500" fill="hold"/>
                                        <p:tgtEl>
                                          <p:spTgt spid="269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Slide Number Placeholder 5"/>
          <p:cNvSpPr>
            <a:spLocks noGrp="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9FA58524-DE1D-41E5-9FD5-4307C8B34263}" type="slidenum">
              <a:rPr lang="en-US" altLang="en-US" sz="1800" b="0" smtClean="0">
                <a:solidFill>
                  <a:schemeClr val="tx1"/>
                </a:solidFill>
              </a:rPr>
              <a:pPr algn="l">
                <a:spcBef>
                  <a:spcPct val="0"/>
                </a:spcBef>
                <a:buClrTx/>
                <a:buSzTx/>
                <a:buFontTx/>
                <a:buNone/>
              </a:pPr>
              <a:t>62</a:t>
            </a:fld>
            <a:endParaRPr lang="en-US" altLang="en-US" sz="1800" b="0" smtClean="0">
              <a:solidFill>
                <a:schemeClr val="tx1"/>
              </a:solidFill>
            </a:endParaRPr>
          </a:p>
        </p:txBody>
      </p:sp>
      <p:sp>
        <p:nvSpPr>
          <p:cNvPr id="120835" name="Rectangle 3"/>
          <p:cNvSpPr>
            <a:spLocks noGrp="1" noChangeArrowheads="1"/>
          </p:cNvSpPr>
          <p:nvPr>
            <p:ph type="title"/>
          </p:nvPr>
        </p:nvSpPr>
        <p:spPr>
          <a:noFill/>
        </p:spPr>
        <p:txBody>
          <a:bodyPr lIns="90488" tIns="44450" rIns="90488" bIns="44450"/>
          <a:lstStyle/>
          <a:p>
            <a:pPr eaLnBrk="1" hangingPunct="1"/>
            <a:r>
              <a:rPr lang="en-US" altLang="en-US" i="1" smtClean="0"/>
              <a:t>Outer Join …</a:t>
            </a:r>
          </a:p>
        </p:txBody>
      </p:sp>
      <p:sp>
        <p:nvSpPr>
          <p:cNvPr id="120836" name="Rectangle 4"/>
          <p:cNvSpPr>
            <a:spLocks noGrp="1" noChangeArrowheads="1"/>
          </p:cNvSpPr>
          <p:nvPr>
            <p:ph type="body" idx="1"/>
          </p:nvPr>
        </p:nvSpPr>
        <p:spPr>
          <a:xfrm>
            <a:off x="381000" y="1295400"/>
            <a:ext cx="4419600" cy="4876800"/>
          </a:xfrm>
          <a:noFill/>
        </p:spPr>
        <p:txBody>
          <a:bodyPr lIns="90488" tIns="44450" rIns="90488" bIns="44450"/>
          <a:lstStyle/>
          <a:p>
            <a:pPr eaLnBrk="1" hangingPunct="1"/>
            <a:r>
              <a:rPr lang="en-US" altLang="en-US" smtClean="0"/>
              <a:t>Result table has rows where the deptno are the same. </a:t>
            </a:r>
          </a:p>
          <a:p>
            <a:pPr eaLnBrk="1" hangingPunct="1"/>
            <a:endParaRPr lang="en-US" altLang="en-US" smtClean="0"/>
          </a:p>
          <a:p>
            <a:pPr eaLnBrk="1" hangingPunct="1"/>
            <a:endParaRPr lang="en-US" altLang="en-US" smtClean="0"/>
          </a:p>
          <a:p>
            <a:pPr eaLnBrk="1" hangingPunct="1"/>
            <a:r>
              <a:rPr lang="en-US" altLang="en-US" smtClean="0"/>
              <a:t>To include unmatched rows in result table, use an outer joins.</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113" y="2419350"/>
            <a:ext cx="4103687"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p:cNvSpPr>
            <a:spLocks noGrp="1" noChangeArrowheads="1"/>
          </p:cNvSpPr>
          <p:nvPr>
            <p:ph type="title"/>
          </p:nvPr>
        </p:nvSpPr>
        <p:spPr/>
        <p:txBody>
          <a:bodyPr/>
          <a:lstStyle/>
          <a:p>
            <a:pPr eaLnBrk="1" hangingPunct="1"/>
            <a:r>
              <a:rPr lang="en-US" altLang="en-US" smtClean="0"/>
              <a:t>Left Outer Join</a:t>
            </a:r>
          </a:p>
        </p:txBody>
      </p:sp>
      <p:sp>
        <p:nvSpPr>
          <p:cNvPr id="122883" name="Content Placeholder 2"/>
          <p:cNvSpPr>
            <a:spLocks noGrp="1" noChangeArrowheads="1"/>
          </p:cNvSpPr>
          <p:nvPr>
            <p:ph idx="1"/>
          </p:nvPr>
        </p:nvSpPr>
        <p:spPr/>
        <p:txBody>
          <a:bodyPr/>
          <a:lstStyle/>
          <a:p>
            <a:pPr eaLnBrk="1" hangingPunct="1"/>
            <a:r>
              <a:rPr lang="en-US" altLang="en-US" sz="1800" smtClean="0">
                <a:solidFill>
                  <a:srgbClr val="333333"/>
                </a:solidFill>
                <a:latin typeface="Droid Sans"/>
              </a:rPr>
              <a:t>Left Outer Join always </a:t>
            </a:r>
            <a:r>
              <a:rPr lang="en-US" altLang="en-US" sz="1800" b="1" smtClean="0">
                <a:solidFill>
                  <a:srgbClr val="333333"/>
                </a:solidFill>
                <a:latin typeface="Droid Sans"/>
              </a:rPr>
              <a:t>contains all records of left table</a:t>
            </a:r>
            <a:r>
              <a:rPr lang="en-US" altLang="en-US" sz="1800" smtClean="0">
                <a:solidFill>
                  <a:srgbClr val="333333"/>
                </a:solidFill>
                <a:latin typeface="Droid Sans"/>
              </a:rPr>
              <a:t> (Table A) even of join condition does not  find any matching record in right table (Table B).</a:t>
            </a:r>
            <a:endParaRPr lang="en-US" altLang="en-US" sz="1800" smtClean="0"/>
          </a:p>
          <a:p>
            <a:pPr eaLnBrk="1" hangingPunct="1"/>
            <a:r>
              <a:rPr lang="en-US" altLang="en-US" sz="2000" smtClean="0">
                <a:solidFill>
                  <a:srgbClr val="333333"/>
                </a:solidFill>
                <a:latin typeface="Droid Sans"/>
              </a:rPr>
              <a:t>Syntax</a:t>
            </a:r>
          </a:p>
          <a:p>
            <a:pPr eaLnBrk="1" hangingPunct="1"/>
            <a:endParaRPr lang="en-US" altLang="en-US" sz="2000" smtClean="0">
              <a:solidFill>
                <a:srgbClr val="333333"/>
              </a:solidFill>
              <a:latin typeface="Droid Sans"/>
            </a:endParaRPr>
          </a:p>
          <a:p>
            <a:pPr eaLnBrk="1" hangingPunct="1"/>
            <a:endParaRPr lang="en-US" altLang="en-US" sz="2000" smtClean="0">
              <a:solidFill>
                <a:srgbClr val="333333"/>
              </a:solidFill>
              <a:latin typeface="Droid Sans"/>
            </a:endParaRPr>
          </a:p>
          <a:p>
            <a:pPr eaLnBrk="1" hangingPunct="1"/>
            <a:endParaRPr lang="en-US" altLang="en-US" sz="2000" smtClean="0">
              <a:solidFill>
                <a:srgbClr val="333333"/>
              </a:solidFill>
              <a:latin typeface="Droid Sans"/>
            </a:endParaRPr>
          </a:p>
          <a:p>
            <a:pPr eaLnBrk="1" hangingPunct="1"/>
            <a:r>
              <a:rPr lang="en-US" altLang="en-US" sz="2000" smtClean="0">
                <a:solidFill>
                  <a:srgbClr val="333333"/>
                </a:solidFill>
                <a:latin typeface="Droid Sans"/>
              </a:rPr>
              <a:t>Example</a:t>
            </a:r>
          </a:p>
          <a:p>
            <a:pPr eaLnBrk="1" hangingPunct="1"/>
            <a:endParaRPr lang="en-US" altLang="en-US" smtClean="0"/>
          </a:p>
        </p:txBody>
      </p:sp>
      <p:sp>
        <p:nvSpPr>
          <p:cNvPr id="122884"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D757F990-E664-47A2-97B9-02F293BDC07C}" type="slidenum">
              <a:rPr lang="en-US" altLang="en-US" sz="1800" b="0" smtClean="0">
                <a:solidFill>
                  <a:schemeClr val="tx1"/>
                </a:solidFill>
              </a:rPr>
              <a:pPr algn="l">
                <a:spcBef>
                  <a:spcPct val="0"/>
                </a:spcBef>
                <a:buClrTx/>
                <a:buSzTx/>
                <a:buFontTx/>
                <a:buNone/>
              </a:pPr>
              <a:t>63</a:t>
            </a:fld>
            <a:endParaRPr lang="en-US" altLang="en-US" sz="1800" b="0" smtClean="0">
              <a:solidFill>
                <a:schemeClr val="tx1"/>
              </a:solidFill>
            </a:endParaRPr>
          </a:p>
        </p:txBody>
      </p:sp>
      <p:pic>
        <p:nvPicPr>
          <p:cNvPr id="1228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52425"/>
            <a:ext cx="2111375"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6"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684463"/>
            <a:ext cx="33464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013" y="4240213"/>
            <a:ext cx="7419975"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8"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013" y="5389563"/>
            <a:ext cx="1957387"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9"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62263" y="5448300"/>
            <a:ext cx="2928937"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90" name="Picture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59475" y="5389563"/>
            <a:ext cx="2716213"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91" name="Picture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1825" y="2789238"/>
            <a:ext cx="44735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8"/>
          <p:cNvSpPr>
            <a:spLocks noChangeArrowheads="1"/>
          </p:cNvSpPr>
          <p:nvPr/>
        </p:nvSpPr>
        <p:spPr bwMode="auto">
          <a:xfrm>
            <a:off x="196850" y="3581400"/>
            <a:ext cx="4298950" cy="1600200"/>
          </a:xfrm>
          <a:prstGeom prst="rect">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sp>
        <p:nvSpPr>
          <p:cNvPr id="124931" name="Text Placeholder 2"/>
          <p:cNvSpPr>
            <a:spLocks noGrp="1" noChangeArrowheads="1"/>
          </p:cNvSpPr>
          <p:nvPr>
            <p:ph type="body" sz="half" idx="1"/>
          </p:nvPr>
        </p:nvSpPr>
        <p:spPr>
          <a:xfrm>
            <a:off x="166688" y="3581400"/>
            <a:ext cx="4176712" cy="1524000"/>
          </a:xfrm>
        </p:spPr>
        <p:txBody>
          <a:bodyPr/>
          <a:lstStyle/>
          <a:p>
            <a:pPr marL="0" indent="0" eaLnBrk="1" hangingPunct="1">
              <a:buFontTx/>
              <a:buNone/>
            </a:pPr>
            <a:r>
              <a:rPr lang="en-US" altLang="en-US" sz="2000" smtClean="0"/>
              <a:t>SELECT e.empno, e.ename, e.sal, </a:t>
            </a:r>
          </a:p>
          <a:p>
            <a:pPr marL="0" indent="0" eaLnBrk="1" hangingPunct="1">
              <a:buFontTx/>
              <a:buNone/>
            </a:pPr>
            <a:r>
              <a:rPr lang="en-US" altLang="en-US" sz="2000" smtClean="0"/>
              <a:t>e.deptno, d.dname, d.deptno</a:t>
            </a:r>
          </a:p>
          <a:p>
            <a:pPr marL="0" indent="0" eaLnBrk="1" hangingPunct="1">
              <a:buFontTx/>
              <a:buNone/>
            </a:pPr>
            <a:r>
              <a:rPr lang="en-US" altLang="en-US" sz="2000" smtClean="0"/>
              <a:t>FROM   emp e, dept d</a:t>
            </a:r>
          </a:p>
          <a:p>
            <a:pPr marL="0" indent="0" eaLnBrk="1" hangingPunct="1">
              <a:buFontTx/>
              <a:buNone/>
            </a:pPr>
            <a:r>
              <a:rPr lang="en-US" altLang="en-US" sz="2000" smtClean="0"/>
              <a:t>WHERE </a:t>
            </a:r>
            <a:r>
              <a:rPr lang="en-US" altLang="en-US" sz="2000" smtClean="0">
                <a:solidFill>
                  <a:srgbClr val="FF0000"/>
                </a:solidFill>
              </a:rPr>
              <a:t>e.deptno=d.deptno (+);</a:t>
            </a:r>
          </a:p>
        </p:txBody>
      </p:sp>
      <p:sp>
        <p:nvSpPr>
          <p:cNvPr id="12493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fld id="{D1B7B408-9211-4ABB-B9B5-F57FFAF43F1C}" type="slidenum">
              <a:rPr lang="en-US" altLang="en-US" sz="1800" smtClean="0">
                <a:solidFill>
                  <a:schemeClr val="tx1"/>
                </a:solidFill>
              </a:rPr>
              <a:pPr>
                <a:spcBef>
                  <a:spcPct val="0"/>
                </a:spcBef>
                <a:buClrTx/>
                <a:buSzTx/>
                <a:buFontTx/>
                <a:buNone/>
              </a:pPr>
              <a:t>64</a:t>
            </a:fld>
            <a:endParaRPr lang="en-US" altLang="en-US" sz="1800" smtClean="0">
              <a:solidFill>
                <a:schemeClr val="tx1"/>
              </a:solidFill>
            </a:endParaRPr>
          </a:p>
        </p:txBody>
      </p:sp>
      <p:sp>
        <p:nvSpPr>
          <p:cNvPr id="124933" name="Rectangle 2"/>
          <p:cNvSpPr>
            <a:spLocks noGrp="1" noChangeArrowheads="1"/>
          </p:cNvSpPr>
          <p:nvPr>
            <p:ph type="title"/>
          </p:nvPr>
        </p:nvSpPr>
        <p:spPr>
          <a:xfrm>
            <a:off x="457200" y="0"/>
            <a:ext cx="8229600" cy="1066800"/>
          </a:xfrm>
        </p:spPr>
        <p:txBody>
          <a:bodyPr/>
          <a:lstStyle/>
          <a:p>
            <a:pPr eaLnBrk="1" hangingPunct="1"/>
            <a:r>
              <a:rPr lang="en-US" altLang="en-US" sz="4000" smtClean="0"/>
              <a:t>Left Outer Join</a:t>
            </a:r>
          </a:p>
        </p:txBody>
      </p:sp>
      <p:pic>
        <p:nvPicPr>
          <p:cNvPr id="1249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213" y="955675"/>
            <a:ext cx="4229100"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49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955675"/>
            <a:ext cx="319087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4936" name="TextBox 23"/>
          <p:cNvSpPr txBox="1">
            <a:spLocks noChangeArrowheads="1"/>
          </p:cNvSpPr>
          <p:nvPr/>
        </p:nvSpPr>
        <p:spPr bwMode="auto">
          <a:xfrm>
            <a:off x="196850" y="2438400"/>
            <a:ext cx="3676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just" eaLnBrk="1" hangingPunct="1">
              <a:spcBef>
                <a:spcPct val="0"/>
              </a:spcBef>
              <a:buClrTx/>
              <a:buSzTx/>
              <a:buFontTx/>
              <a:buNone/>
            </a:pPr>
            <a:r>
              <a:rPr lang="en-US" altLang="en-US" sz="1800">
                <a:solidFill>
                  <a:schemeClr val="tx1"/>
                </a:solidFill>
              </a:rPr>
              <a:t>List of employees who belong to departments and who do not belong to any department</a:t>
            </a:r>
          </a:p>
        </p:txBody>
      </p:sp>
      <p:sp>
        <p:nvSpPr>
          <p:cNvPr id="124937" name="Down Arrow 1"/>
          <p:cNvSpPr>
            <a:spLocks noChangeArrowheads="1"/>
          </p:cNvSpPr>
          <p:nvPr/>
        </p:nvSpPr>
        <p:spPr bwMode="auto">
          <a:xfrm>
            <a:off x="6488113" y="3448050"/>
            <a:ext cx="228600" cy="292100"/>
          </a:xfrm>
          <a:prstGeom prst="downArrow">
            <a:avLst>
              <a:gd name="adj1" fmla="val 50000"/>
              <a:gd name="adj2" fmla="val 49999"/>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pic>
        <p:nvPicPr>
          <p:cNvPr id="270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759200"/>
            <a:ext cx="3619500" cy="239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4939" name="Rectangle 1"/>
          <p:cNvSpPr>
            <a:spLocks noChangeArrowheads="1"/>
          </p:cNvSpPr>
          <p:nvPr/>
        </p:nvSpPr>
        <p:spPr bwMode="auto">
          <a:xfrm>
            <a:off x="282575" y="6169025"/>
            <a:ext cx="861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rgbClr val="333333"/>
                </a:solidFill>
                <a:latin typeface="Droid Sans"/>
              </a:rPr>
              <a:t>Left Outer Join always contains all records of left table (Table A) even of join condition does not          find any matching record in right table (Table B).</a:t>
            </a:r>
            <a:endParaRPr lang="en-US" altLang="en-US" sz="160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0338"/>
                                        </p:tgtEl>
                                        <p:attrNameLst>
                                          <p:attrName>style.visibility</p:attrName>
                                        </p:attrNameLst>
                                      </p:cBhvr>
                                      <p:to>
                                        <p:strVal val="visible"/>
                                      </p:to>
                                    </p:set>
                                    <p:anim calcmode="lin" valueType="num">
                                      <p:cBhvr additive="base">
                                        <p:cTn id="7" dur="500" fill="hold"/>
                                        <p:tgtEl>
                                          <p:spTgt spid="270338"/>
                                        </p:tgtEl>
                                        <p:attrNameLst>
                                          <p:attrName>ppt_x</p:attrName>
                                        </p:attrNameLst>
                                      </p:cBhvr>
                                      <p:tavLst>
                                        <p:tav tm="0">
                                          <p:val>
                                            <p:strVal val="#ppt_x"/>
                                          </p:val>
                                        </p:tav>
                                        <p:tav tm="100000">
                                          <p:val>
                                            <p:strVal val="#ppt_x"/>
                                          </p:val>
                                        </p:tav>
                                      </p:tavLst>
                                    </p:anim>
                                    <p:anim calcmode="lin" valueType="num">
                                      <p:cBhvr additive="base">
                                        <p:cTn id="8" dur="500" fill="hold"/>
                                        <p:tgtEl>
                                          <p:spTgt spid="2703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p:cNvSpPr>
            <a:spLocks noGrp="1" noChangeArrowheads="1"/>
          </p:cNvSpPr>
          <p:nvPr>
            <p:ph type="title"/>
          </p:nvPr>
        </p:nvSpPr>
        <p:spPr/>
        <p:txBody>
          <a:bodyPr/>
          <a:lstStyle/>
          <a:p>
            <a:pPr eaLnBrk="1" hangingPunct="1"/>
            <a:r>
              <a:rPr lang="en-US" altLang="en-US" smtClean="0"/>
              <a:t>Right Outer Join</a:t>
            </a:r>
          </a:p>
        </p:txBody>
      </p:sp>
      <p:sp>
        <p:nvSpPr>
          <p:cNvPr id="125955" name="Content Placeholder 2"/>
          <p:cNvSpPr>
            <a:spLocks noGrp="1" noChangeArrowheads="1"/>
          </p:cNvSpPr>
          <p:nvPr>
            <p:ph idx="1"/>
          </p:nvPr>
        </p:nvSpPr>
        <p:spPr/>
        <p:txBody>
          <a:bodyPr/>
          <a:lstStyle/>
          <a:p>
            <a:pPr eaLnBrk="1" hangingPunct="1"/>
            <a:r>
              <a:rPr lang="en-US" altLang="en-US" sz="1800" smtClean="0">
                <a:solidFill>
                  <a:srgbClr val="333333"/>
                </a:solidFill>
                <a:latin typeface="Droid Sans"/>
              </a:rPr>
              <a:t>Right Outer Join always contains all records of right table (Table B) even of join condition does not find any matching record in left table (Table A).</a:t>
            </a:r>
          </a:p>
          <a:p>
            <a:pPr eaLnBrk="1" hangingPunct="1"/>
            <a:r>
              <a:rPr lang="en-US" altLang="en-US" sz="1800" smtClean="0">
                <a:solidFill>
                  <a:srgbClr val="333333"/>
                </a:solidFill>
                <a:latin typeface="Droid Sans"/>
              </a:rPr>
              <a:t>Syntax</a:t>
            </a:r>
          </a:p>
          <a:p>
            <a:pPr eaLnBrk="1" hangingPunct="1"/>
            <a:endParaRPr lang="en-US" altLang="en-US" sz="1800" smtClean="0">
              <a:solidFill>
                <a:srgbClr val="333333"/>
              </a:solidFill>
              <a:latin typeface="Droid Sans"/>
            </a:endParaRPr>
          </a:p>
          <a:p>
            <a:pPr eaLnBrk="1" hangingPunct="1"/>
            <a:endParaRPr lang="en-US" altLang="en-US" sz="1800" smtClean="0">
              <a:solidFill>
                <a:srgbClr val="333333"/>
              </a:solidFill>
              <a:latin typeface="Droid Sans"/>
            </a:endParaRPr>
          </a:p>
          <a:p>
            <a:pPr eaLnBrk="1" hangingPunct="1"/>
            <a:endParaRPr lang="en-US" altLang="en-US" sz="1800" smtClean="0">
              <a:solidFill>
                <a:srgbClr val="333333"/>
              </a:solidFill>
              <a:latin typeface="Droid Sans"/>
            </a:endParaRPr>
          </a:p>
          <a:p>
            <a:pPr eaLnBrk="1" hangingPunct="1"/>
            <a:r>
              <a:rPr lang="en-US" altLang="en-US" sz="1800" smtClean="0">
                <a:solidFill>
                  <a:srgbClr val="333333"/>
                </a:solidFill>
                <a:latin typeface="Droid Sans"/>
              </a:rPr>
              <a:t>Example</a:t>
            </a:r>
            <a:endParaRPr lang="en-US" altLang="en-US" sz="1800" smtClean="0"/>
          </a:p>
          <a:p>
            <a:pPr eaLnBrk="1" hangingPunct="1"/>
            <a:endParaRPr lang="en-US" altLang="en-US" smtClean="0"/>
          </a:p>
        </p:txBody>
      </p:sp>
      <p:sp>
        <p:nvSpPr>
          <p:cNvPr id="125956"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08D01334-8A9C-4D73-A184-DDD426029FED}" type="slidenum">
              <a:rPr lang="en-US" altLang="en-US" sz="1800" b="0" smtClean="0">
                <a:solidFill>
                  <a:schemeClr val="tx1"/>
                </a:solidFill>
              </a:rPr>
              <a:pPr algn="l">
                <a:spcBef>
                  <a:spcPct val="0"/>
                </a:spcBef>
                <a:buClrTx/>
                <a:buSzTx/>
                <a:buFontTx/>
                <a:buNone/>
              </a:pPr>
              <a:t>65</a:t>
            </a:fld>
            <a:endParaRPr lang="en-US" altLang="en-US" sz="1800" b="0" smtClean="0">
              <a:solidFill>
                <a:schemeClr val="tx1"/>
              </a:solidFill>
            </a:endParaRPr>
          </a:p>
        </p:txBody>
      </p:sp>
      <p:pic>
        <p:nvPicPr>
          <p:cNvPr id="12595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667000"/>
            <a:ext cx="27606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5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55575"/>
            <a:ext cx="1905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5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0888" y="2747963"/>
            <a:ext cx="5624512"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946525"/>
            <a:ext cx="5919788"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1"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125" y="5029200"/>
            <a:ext cx="21574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2"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3188" y="5076825"/>
            <a:ext cx="246062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63" name="Picture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5900" y="5100638"/>
            <a:ext cx="2790825" cy="120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8"/>
          <p:cNvSpPr>
            <a:spLocks noChangeArrowheads="1"/>
          </p:cNvSpPr>
          <p:nvPr/>
        </p:nvSpPr>
        <p:spPr bwMode="auto">
          <a:xfrm>
            <a:off x="196850" y="3581400"/>
            <a:ext cx="4298950" cy="1600200"/>
          </a:xfrm>
          <a:prstGeom prst="rect">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sp>
        <p:nvSpPr>
          <p:cNvPr id="126979" name="Text Placeholder 2"/>
          <p:cNvSpPr>
            <a:spLocks noGrp="1" noChangeArrowheads="1"/>
          </p:cNvSpPr>
          <p:nvPr>
            <p:ph type="body" sz="half" idx="1"/>
          </p:nvPr>
        </p:nvSpPr>
        <p:spPr>
          <a:xfrm>
            <a:off x="166688" y="3581400"/>
            <a:ext cx="4176712" cy="1524000"/>
          </a:xfrm>
        </p:spPr>
        <p:txBody>
          <a:bodyPr/>
          <a:lstStyle/>
          <a:p>
            <a:pPr marL="0" indent="0" eaLnBrk="1" hangingPunct="1">
              <a:buFontTx/>
              <a:buNone/>
            </a:pPr>
            <a:r>
              <a:rPr lang="en-US" altLang="en-US" sz="2000" smtClean="0"/>
              <a:t>SELECT e.empno, e.ename, e.sal, </a:t>
            </a:r>
          </a:p>
          <a:p>
            <a:pPr marL="0" indent="0" eaLnBrk="1" hangingPunct="1">
              <a:buFontTx/>
              <a:buNone/>
            </a:pPr>
            <a:r>
              <a:rPr lang="en-US" altLang="en-US" sz="2000" smtClean="0"/>
              <a:t>e.deptno, d.dname, d.deptno</a:t>
            </a:r>
          </a:p>
          <a:p>
            <a:pPr marL="0" indent="0" eaLnBrk="1" hangingPunct="1">
              <a:buFontTx/>
              <a:buNone/>
            </a:pPr>
            <a:r>
              <a:rPr lang="en-US" altLang="en-US" sz="2000" smtClean="0"/>
              <a:t>FROM   emp e, dept d</a:t>
            </a:r>
          </a:p>
          <a:p>
            <a:pPr marL="0" indent="0" eaLnBrk="1" hangingPunct="1">
              <a:buFontTx/>
              <a:buNone/>
            </a:pPr>
            <a:r>
              <a:rPr lang="en-US" altLang="en-US" sz="2000" smtClean="0"/>
              <a:t>WHERE </a:t>
            </a:r>
            <a:r>
              <a:rPr lang="en-US" altLang="en-US" sz="2000" smtClean="0">
                <a:solidFill>
                  <a:srgbClr val="FF0000"/>
                </a:solidFill>
              </a:rPr>
              <a:t>e.deptno (+)=d.deptno;</a:t>
            </a:r>
          </a:p>
        </p:txBody>
      </p:sp>
      <p:sp>
        <p:nvSpPr>
          <p:cNvPr id="126980"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fld id="{86E25363-C247-41C6-891B-C03ACCE24645}" type="slidenum">
              <a:rPr lang="en-US" altLang="en-US" sz="1800" smtClean="0">
                <a:solidFill>
                  <a:schemeClr val="tx1"/>
                </a:solidFill>
              </a:rPr>
              <a:pPr>
                <a:spcBef>
                  <a:spcPct val="0"/>
                </a:spcBef>
                <a:buClrTx/>
                <a:buSzTx/>
                <a:buFontTx/>
                <a:buNone/>
              </a:pPr>
              <a:t>66</a:t>
            </a:fld>
            <a:endParaRPr lang="en-US" altLang="en-US" sz="1800" smtClean="0">
              <a:solidFill>
                <a:schemeClr val="tx1"/>
              </a:solidFill>
            </a:endParaRPr>
          </a:p>
        </p:txBody>
      </p:sp>
      <p:sp>
        <p:nvSpPr>
          <p:cNvPr id="126981" name="Rectangle 2"/>
          <p:cNvSpPr>
            <a:spLocks noGrp="1" noChangeArrowheads="1"/>
          </p:cNvSpPr>
          <p:nvPr>
            <p:ph type="title"/>
          </p:nvPr>
        </p:nvSpPr>
        <p:spPr>
          <a:xfrm>
            <a:off x="457200" y="0"/>
            <a:ext cx="8229600" cy="1066800"/>
          </a:xfrm>
        </p:spPr>
        <p:txBody>
          <a:bodyPr/>
          <a:lstStyle/>
          <a:p>
            <a:pPr eaLnBrk="1" hangingPunct="1"/>
            <a:r>
              <a:rPr lang="en-US" altLang="en-US" sz="4000" smtClean="0"/>
              <a:t>Example: Right Outer Join</a:t>
            </a:r>
          </a:p>
        </p:txBody>
      </p:sp>
      <p:pic>
        <p:nvPicPr>
          <p:cNvPr id="1269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213" y="955675"/>
            <a:ext cx="4229100"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698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955675"/>
            <a:ext cx="319087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6984" name="TextBox 23"/>
          <p:cNvSpPr txBox="1">
            <a:spLocks noChangeArrowheads="1"/>
          </p:cNvSpPr>
          <p:nvPr/>
        </p:nvSpPr>
        <p:spPr bwMode="auto">
          <a:xfrm>
            <a:off x="196850" y="2438400"/>
            <a:ext cx="3676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just" eaLnBrk="1" hangingPunct="1">
              <a:spcBef>
                <a:spcPct val="0"/>
              </a:spcBef>
              <a:buClrTx/>
              <a:buSzTx/>
              <a:buFontTx/>
              <a:buNone/>
            </a:pPr>
            <a:r>
              <a:rPr lang="en-US" altLang="en-US" sz="1800">
                <a:solidFill>
                  <a:schemeClr val="tx1"/>
                </a:solidFill>
              </a:rPr>
              <a:t>List of departments where some are departments of employees and some are not.</a:t>
            </a:r>
          </a:p>
        </p:txBody>
      </p:sp>
      <p:sp>
        <p:nvSpPr>
          <p:cNvPr id="126985" name="Down Arrow 1"/>
          <p:cNvSpPr>
            <a:spLocks noChangeArrowheads="1"/>
          </p:cNvSpPr>
          <p:nvPr/>
        </p:nvSpPr>
        <p:spPr bwMode="auto">
          <a:xfrm>
            <a:off x="6478588" y="3362325"/>
            <a:ext cx="228600" cy="292100"/>
          </a:xfrm>
          <a:prstGeom prst="downArrow">
            <a:avLst>
              <a:gd name="adj1" fmla="val 50000"/>
              <a:gd name="adj2" fmla="val 49999"/>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pic>
        <p:nvPicPr>
          <p:cNvPr id="272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3138" y="3740150"/>
            <a:ext cx="3638550" cy="2571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6987" name="Rectangle 1"/>
          <p:cNvSpPr>
            <a:spLocks noChangeArrowheads="1"/>
          </p:cNvSpPr>
          <p:nvPr/>
        </p:nvSpPr>
        <p:spPr bwMode="auto">
          <a:xfrm>
            <a:off x="419100" y="6269038"/>
            <a:ext cx="8153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rgbClr val="333333"/>
                </a:solidFill>
                <a:latin typeface="Droid Sans"/>
              </a:rPr>
              <a:t>Right Outer Join always contains all records of right table (Table B) even of join condition does not find any matching record in left table (Table A).</a:t>
            </a:r>
            <a:endParaRPr lang="en-US" altLang="en-US" sz="160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2386"/>
                                        </p:tgtEl>
                                        <p:attrNameLst>
                                          <p:attrName>style.visibility</p:attrName>
                                        </p:attrNameLst>
                                      </p:cBhvr>
                                      <p:to>
                                        <p:strVal val="visible"/>
                                      </p:to>
                                    </p:set>
                                    <p:anim calcmode="lin" valueType="num">
                                      <p:cBhvr additive="base">
                                        <p:cTn id="7" dur="500" fill="hold"/>
                                        <p:tgtEl>
                                          <p:spTgt spid="272386"/>
                                        </p:tgtEl>
                                        <p:attrNameLst>
                                          <p:attrName>ppt_x</p:attrName>
                                        </p:attrNameLst>
                                      </p:cBhvr>
                                      <p:tavLst>
                                        <p:tav tm="0">
                                          <p:val>
                                            <p:strVal val="#ppt_x"/>
                                          </p:val>
                                        </p:tav>
                                        <p:tav tm="100000">
                                          <p:val>
                                            <p:strVal val="#ppt_x"/>
                                          </p:val>
                                        </p:tav>
                                      </p:tavLst>
                                    </p:anim>
                                    <p:anim calcmode="lin" valueType="num">
                                      <p:cBhvr additive="base">
                                        <p:cTn id="8" dur="500" fill="hold"/>
                                        <p:tgtEl>
                                          <p:spTgt spid="2723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p:cNvSpPr>
            <a:spLocks noGrp="1" noChangeArrowheads="1"/>
          </p:cNvSpPr>
          <p:nvPr>
            <p:ph type="title"/>
          </p:nvPr>
        </p:nvSpPr>
        <p:spPr/>
        <p:txBody>
          <a:bodyPr/>
          <a:lstStyle/>
          <a:p>
            <a:pPr eaLnBrk="1" hangingPunct="1"/>
            <a:r>
              <a:rPr lang="en-US" altLang="en-US" smtClean="0"/>
              <a:t>Full Outer Join</a:t>
            </a:r>
          </a:p>
        </p:txBody>
      </p:sp>
      <p:sp>
        <p:nvSpPr>
          <p:cNvPr id="128003" name="Text Placeholder 2"/>
          <p:cNvSpPr>
            <a:spLocks noGrp="1" noChangeArrowheads="1"/>
          </p:cNvSpPr>
          <p:nvPr>
            <p:ph type="body" sz="half" idx="1"/>
          </p:nvPr>
        </p:nvSpPr>
        <p:spPr>
          <a:xfrm>
            <a:off x="457200" y="1600200"/>
            <a:ext cx="8229600" cy="4525963"/>
          </a:xfrm>
        </p:spPr>
        <p:txBody>
          <a:bodyPr/>
          <a:lstStyle/>
          <a:p>
            <a:pPr eaLnBrk="1" hangingPunct="1"/>
            <a:r>
              <a:rPr lang="en-US" altLang="en-US" sz="1800" smtClean="0"/>
              <a:t>returns all rows from the LEFT-hand table and RIGHT-hand table with nulls in place where the join condition is not met</a:t>
            </a:r>
          </a:p>
          <a:p>
            <a:pPr eaLnBrk="1" hangingPunct="1"/>
            <a:r>
              <a:rPr lang="en-US" altLang="en-US" sz="1800" smtClean="0"/>
              <a:t>Syntax</a:t>
            </a:r>
          </a:p>
          <a:p>
            <a:pPr eaLnBrk="1" hangingPunct="1"/>
            <a:endParaRPr lang="en-US" altLang="en-US" sz="1800" smtClean="0"/>
          </a:p>
          <a:p>
            <a:pPr eaLnBrk="1" hangingPunct="1"/>
            <a:endParaRPr lang="en-US" altLang="en-US" sz="1800" smtClean="0"/>
          </a:p>
          <a:p>
            <a:pPr eaLnBrk="1" hangingPunct="1"/>
            <a:endParaRPr lang="en-US" altLang="en-US" sz="1800" smtClean="0"/>
          </a:p>
          <a:p>
            <a:pPr eaLnBrk="1" hangingPunct="1"/>
            <a:r>
              <a:rPr lang="en-US" altLang="en-US" sz="1800" smtClean="0"/>
              <a:t>Example</a:t>
            </a:r>
          </a:p>
        </p:txBody>
      </p:sp>
      <p:sp>
        <p:nvSpPr>
          <p:cNvPr id="128004" name="Slide Number Placeholder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fld id="{11F7B899-4914-42E5-9F40-089092C80408}" type="slidenum">
              <a:rPr lang="en-US" altLang="en-US" sz="1800" smtClean="0">
                <a:solidFill>
                  <a:schemeClr val="tx1"/>
                </a:solidFill>
              </a:rPr>
              <a:pPr>
                <a:spcBef>
                  <a:spcPct val="0"/>
                </a:spcBef>
                <a:buClrTx/>
                <a:buSzTx/>
                <a:buFontTx/>
                <a:buNone/>
              </a:pPr>
              <a:t>67</a:t>
            </a:fld>
            <a:endParaRPr lang="en-US" altLang="en-US" sz="1800" smtClean="0">
              <a:solidFill>
                <a:schemeClr val="tx1"/>
              </a:solidFill>
            </a:endParaRPr>
          </a:p>
        </p:txBody>
      </p:sp>
      <p:pic>
        <p:nvPicPr>
          <p:cNvPr id="12800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590800"/>
            <a:ext cx="278288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249238"/>
            <a:ext cx="1989138"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7"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938588"/>
            <a:ext cx="5053013"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8"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4791075"/>
            <a:ext cx="2238375"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9"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9388" y="4799013"/>
            <a:ext cx="2763837"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1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0" y="4868863"/>
            <a:ext cx="259080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8"/>
          <p:cNvSpPr>
            <a:spLocks noChangeArrowheads="1"/>
          </p:cNvSpPr>
          <p:nvPr/>
        </p:nvSpPr>
        <p:spPr bwMode="auto">
          <a:xfrm>
            <a:off x="196850" y="3362325"/>
            <a:ext cx="4451350" cy="3267075"/>
          </a:xfrm>
          <a:prstGeom prst="rect">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sp>
        <p:nvSpPr>
          <p:cNvPr id="129027" name="Text Placeholder 2"/>
          <p:cNvSpPr>
            <a:spLocks noGrp="1" noChangeArrowheads="1"/>
          </p:cNvSpPr>
          <p:nvPr>
            <p:ph type="body" sz="half" idx="1"/>
          </p:nvPr>
        </p:nvSpPr>
        <p:spPr>
          <a:xfrm>
            <a:off x="166688" y="3362325"/>
            <a:ext cx="4329112" cy="3267075"/>
          </a:xfrm>
        </p:spPr>
        <p:txBody>
          <a:bodyPr/>
          <a:lstStyle/>
          <a:p>
            <a:pPr marL="0" indent="0" eaLnBrk="1" hangingPunct="1">
              <a:buFontTx/>
              <a:buNone/>
            </a:pPr>
            <a:r>
              <a:rPr lang="en-US" altLang="en-US" sz="2000" smtClean="0"/>
              <a:t>(SELECT e.empno, e.ename, e.sal, </a:t>
            </a:r>
          </a:p>
          <a:p>
            <a:pPr marL="0" indent="0" eaLnBrk="1" hangingPunct="1">
              <a:buFontTx/>
              <a:buNone/>
            </a:pPr>
            <a:r>
              <a:rPr lang="en-US" altLang="en-US" sz="2000" smtClean="0"/>
              <a:t>e.deptno, d.dname, d.deptno</a:t>
            </a:r>
          </a:p>
          <a:p>
            <a:pPr marL="0" indent="0" eaLnBrk="1" hangingPunct="1">
              <a:buFontTx/>
              <a:buNone/>
            </a:pPr>
            <a:r>
              <a:rPr lang="en-US" altLang="en-US" sz="2000" smtClean="0"/>
              <a:t>FROM   emp e, dept d</a:t>
            </a:r>
          </a:p>
          <a:p>
            <a:pPr marL="0" indent="0" eaLnBrk="1" hangingPunct="1">
              <a:buFontTx/>
              <a:buNone/>
            </a:pPr>
            <a:r>
              <a:rPr lang="en-US" altLang="en-US" sz="2000" smtClean="0"/>
              <a:t>WHERE </a:t>
            </a:r>
            <a:r>
              <a:rPr lang="en-US" altLang="en-US" sz="2000" smtClean="0">
                <a:solidFill>
                  <a:srgbClr val="FF0000"/>
                </a:solidFill>
              </a:rPr>
              <a:t>e.deptno=d.deptno (+) )</a:t>
            </a:r>
          </a:p>
          <a:p>
            <a:pPr marL="0" indent="0" eaLnBrk="1" hangingPunct="1">
              <a:buFontTx/>
              <a:buNone/>
            </a:pPr>
            <a:r>
              <a:rPr lang="en-US" altLang="en-US" sz="2000" smtClean="0">
                <a:solidFill>
                  <a:srgbClr val="FF0000"/>
                </a:solidFill>
              </a:rPr>
              <a:t>UNION</a:t>
            </a:r>
          </a:p>
          <a:p>
            <a:pPr marL="0" indent="0" eaLnBrk="1" hangingPunct="1">
              <a:buFontTx/>
              <a:buNone/>
            </a:pPr>
            <a:r>
              <a:rPr lang="en-US" altLang="en-US" sz="2000" smtClean="0"/>
              <a:t>(SELECT e.empno, e.ename, e.sal, </a:t>
            </a:r>
          </a:p>
          <a:p>
            <a:pPr marL="0" indent="0" eaLnBrk="1" hangingPunct="1">
              <a:buFontTx/>
              <a:buNone/>
            </a:pPr>
            <a:r>
              <a:rPr lang="en-US" altLang="en-US" sz="2000" smtClean="0"/>
              <a:t>e.deptno, d.dname, d.deptno</a:t>
            </a:r>
          </a:p>
          <a:p>
            <a:pPr marL="0" indent="0" eaLnBrk="1" hangingPunct="1">
              <a:buFontTx/>
              <a:buNone/>
            </a:pPr>
            <a:r>
              <a:rPr lang="en-US" altLang="en-US" sz="2000" smtClean="0"/>
              <a:t>FROM   emp e, dept d</a:t>
            </a:r>
          </a:p>
          <a:p>
            <a:pPr marL="0" indent="0" eaLnBrk="1" hangingPunct="1">
              <a:buFontTx/>
              <a:buNone/>
            </a:pPr>
            <a:r>
              <a:rPr lang="en-US" altLang="en-US" sz="2000" smtClean="0"/>
              <a:t>WHERE </a:t>
            </a:r>
            <a:r>
              <a:rPr lang="en-US" altLang="en-US" sz="2000" smtClean="0">
                <a:solidFill>
                  <a:srgbClr val="FF0000"/>
                </a:solidFill>
              </a:rPr>
              <a:t>e.deptno (+) =d.deptno);</a:t>
            </a:r>
          </a:p>
        </p:txBody>
      </p:sp>
      <p:sp>
        <p:nvSpPr>
          <p:cNvPr id="129028" name="Slide Number Placeholder 5"/>
          <p:cNvSpPr>
            <a:spLocks noGrp="1"/>
          </p:cNvSpPr>
          <p:nvPr>
            <p:ph type="sldNum" sz="quarter" idx="12"/>
          </p:nvPr>
        </p:nvSpPr>
        <p:spPr>
          <a:xfrm>
            <a:off x="6602413" y="6367463"/>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fld id="{747B02DF-D2B7-4267-897E-30B1DB89FB98}" type="slidenum">
              <a:rPr lang="en-US" altLang="en-US" sz="1800" smtClean="0">
                <a:solidFill>
                  <a:schemeClr val="tx1"/>
                </a:solidFill>
              </a:rPr>
              <a:pPr>
                <a:spcBef>
                  <a:spcPct val="0"/>
                </a:spcBef>
                <a:buClrTx/>
                <a:buSzTx/>
                <a:buFontTx/>
                <a:buNone/>
              </a:pPr>
              <a:t>68</a:t>
            </a:fld>
            <a:endParaRPr lang="en-US" altLang="en-US" sz="1800" smtClean="0">
              <a:solidFill>
                <a:schemeClr val="tx1"/>
              </a:solidFill>
            </a:endParaRPr>
          </a:p>
        </p:txBody>
      </p:sp>
      <p:sp>
        <p:nvSpPr>
          <p:cNvPr id="129029" name="Rectangle 2"/>
          <p:cNvSpPr>
            <a:spLocks noGrp="1" noChangeArrowheads="1"/>
          </p:cNvSpPr>
          <p:nvPr>
            <p:ph type="title"/>
          </p:nvPr>
        </p:nvSpPr>
        <p:spPr>
          <a:xfrm>
            <a:off x="457200" y="0"/>
            <a:ext cx="8229600" cy="1066800"/>
          </a:xfrm>
        </p:spPr>
        <p:txBody>
          <a:bodyPr/>
          <a:lstStyle/>
          <a:p>
            <a:pPr eaLnBrk="1" hangingPunct="1"/>
            <a:r>
              <a:rPr lang="en-US" altLang="en-US" sz="4000" smtClean="0"/>
              <a:t>Example: Full Outer Join</a:t>
            </a:r>
          </a:p>
        </p:txBody>
      </p:sp>
      <p:pic>
        <p:nvPicPr>
          <p:cNvPr id="1290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213" y="955675"/>
            <a:ext cx="4229100"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90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955675"/>
            <a:ext cx="319087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9032" name="TextBox 23"/>
          <p:cNvSpPr txBox="1">
            <a:spLocks noChangeArrowheads="1"/>
          </p:cNvSpPr>
          <p:nvPr/>
        </p:nvSpPr>
        <p:spPr bwMode="auto">
          <a:xfrm>
            <a:off x="196850" y="2438400"/>
            <a:ext cx="3676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just" eaLnBrk="1" hangingPunct="1">
              <a:spcBef>
                <a:spcPct val="0"/>
              </a:spcBef>
              <a:buClrTx/>
              <a:buSzTx/>
              <a:buFontTx/>
              <a:buNone/>
            </a:pPr>
            <a:r>
              <a:rPr lang="en-US" altLang="en-US" sz="1800">
                <a:solidFill>
                  <a:schemeClr val="tx1"/>
                </a:solidFill>
              </a:rPr>
              <a:t>List of employees and department which are matched or unmatched from both tables</a:t>
            </a:r>
          </a:p>
        </p:txBody>
      </p:sp>
      <p:sp>
        <p:nvSpPr>
          <p:cNvPr id="129033" name="Down Arrow 1"/>
          <p:cNvSpPr>
            <a:spLocks noChangeArrowheads="1"/>
          </p:cNvSpPr>
          <p:nvPr/>
        </p:nvSpPr>
        <p:spPr bwMode="auto">
          <a:xfrm>
            <a:off x="6488113" y="3448050"/>
            <a:ext cx="228600" cy="292100"/>
          </a:xfrm>
          <a:prstGeom prst="downArrow">
            <a:avLst>
              <a:gd name="adj1" fmla="val 50000"/>
              <a:gd name="adj2" fmla="val 49999"/>
            </a:avLst>
          </a:prstGeom>
          <a:solidFill>
            <a:schemeClr val="accent1"/>
          </a:solidFill>
          <a:ln w="12700" cap="sq" algn="ctr">
            <a:solidFill>
              <a:schemeClr val="tx1"/>
            </a:solidFill>
            <a:round/>
            <a:headEnd type="none" w="sm" len="sm"/>
            <a:tailEnd type="none" w="sm" len="sm"/>
          </a:ln>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1800">
              <a:solidFill>
                <a:schemeClr val="tx1"/>
              </a:solidFill>
              <a:cs typeface="Arial" panose="020B0604020202020204" pitchFamily="34" charset="0"/>
            </a:endParaRPr>
          </a:p>
        </p:txBody>
      </p:sp>
      <p:pic>
        <p:nvPicPr>
          <p:cNvPr id="271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5538" y="3771900"/>
            <a:ext cx="3562350"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71363"/>
                                        </p:tgtEl>
                                        <p:attrNameLst>
                                          <p:attrName>style.visibility</p:attrName>
                                        </p:attrNameLst>
                                      </p:cBhvr>
                                      <p:to>
                                        <p:strVal val="visible"/>
                                      </p:to>
                                    </p:set>
                                    <p:animEffect transition="in" filter="fade">
                                      <p:cBhvr>
                                        <p:cTn id="7" dur="1000"/>
                                        <p:tgtEl>
                                          <p:spTgt spid="271363"/>
                                        </p:tgtEl>
                                      </p:cBhvr>
                                    </p:animEffect>
                                    <p:anim calcmode="lin" valueType="num">
                                      <p:cBhvr>
                                        <p:cTn id="8" dur="1000" fill="hold"/>
                                        <p:tgtEl>
                                          <p:spTgt spid="271363"/>
                                        </p:tgtEl>
                                        <p:attrNameLst>
                                          <p:attrName>ppt_x</p:attrName>
                                        </p:attrNameLst>
                                      </p:cBhvr>
                                      <p:tavLst>
                                        <p:tav tm="0">
                                          <p:val>
                                            <p:strVal val="#ppt_x"/>
                                          </p:val>
                                        </p:tav>
                                        <p:tav tm="100000">
                                          <p:val>
                                            <p:strVal val="#ppt_x"/>
                                          </p:val>
                                        </p:tav>
                                      </p:tavLst>
                                    </p:anim>
                                    <p:anim calcmode="lin" valueType="num">
                                      <p:cBhvr>
                                        <p:cTn id="9" dur="1000" fill="hold"/>
                                        <p:tgtEl>
                                          <p:spTgt spid="2713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Slide Number Placeholder 5"/>
          <p:cNvSpPr>
            <a:spLocks noGrp="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D9887B96-B8E3-4B71-B08B-2B97CCCED817}" type="slidenum">
              <a:rPr lang="en-US" altLang="en-US" sz="1800" b="0" smtClean="0">
                <a:solidFill>
                  <a:schemeClr val="tx1"/>
                </a:solidFill>
              </a:rPr>
              <a:pPr algn="l">
                <a:spcBef>
                  <a:spcPct val="0"/>
                </a:spcBef>
                <a:buClrTx/>
                <a:buSzTx/>
                <a:buFontTx/>
                <a:buNone/>
              </a:pPr>
              <a:t>69</a:t>
            </a:fld>
            <a:endParaRPr lang="en-US" altLang="en-US" sz="1800" b="0" smtClean="0">
              <a:solidFill>
                <a:schemeClr val="tx1"/>
              </a:solidFill>
            </a:endParaRPr>
          </a:p>
        </p:txBody>
      </p:sp>
      <p:sp>
        <p:nvSpPr>
          <p:cNvPr id="130051" name="Rectangle 3"/>
          <p:cNvSpPr>
            <a:spLocks noGrp="1" noChangeArrowheads="1"/>
          </p:cNvSpPr>
          <p:nvPr>
            <p:ph type="title"/>
          </p:nvPr>
        </p:nvSpPr>
        <p:spPr>
          <a:noFill/>
        </p:spPr>
        <p:txBody>
          <a:bodyPr lIns="90488" tIns="44450" rIns="90488" bIns="44450"/>
          <a:lstStyle/>
          <a:p>
            <a:pPr eaLnBrk="1" hangingPunct="1"/>
            <a:r>
              <a:rPr lang="en-US" altLang="en-US" smtClean="0"/>
              <a:t>Characteristic of Outer Join</a:t>
            </a:r>
          </a:p>
        </p:txBody>
      </p:sp>
      <p:sp>
        <p:nvSpPr>
          <p:cNvPr id="130052" name="Rectangle 4"/>
          <p:cNvSpPr>
            <a:spLocks noGrp="1" noChangeArrowheads="1"/>
          </p:cNvSpPr>
          <p:nvPr>
            <p:ph type="body" idx="1"/>
          </p:nvPr>
        </p:nvSpPr>
        <p:spPr>
          <a:xfrm>
            <a:off x="533400" y="1828800"/>
            <a:ext cx="8229600" cy="3962400"/>
          </a:xfrm>
          <a:noFill/>
        </p:spPr>
        <p:txBody>
          <a:bodyPr lIns="90488" tIns="44450" rIns="90488" bIns="44450"/>
          <a:lstStyle/>
          <a:p>
            <a:pPr algn="just" eaLnBrk="1" hangingPunct="1">
              <a:lnSpc>
                <a:spcPct val="90000"/>
              </a:lnSpc>
            </a:pPr>
            <a:r>
              <a:rPr lang="en-US" altLang="en-US" sz="2000" smtClean="0"/>
              <a:t>Left Outer Join:</a:t>
            </a:r>
          </a:p>
          <a:p>
            <a:pPr lvl="1" algn="just" eaLnBrk="1" hangingPunct="1">
              <a:lnSpc>
                <a:spcPct val="90000"/>
              </a:lnSpc>
            </a:pPr>
            <a:r>
              <a:rPr lang="en-US" altLang="en-US" sz="1800" smtClean="0"/>
              <a:t>Includes those rows of first (left) table unmatched with rows from second (right) table. </a:t>
            </a:r>
          </a:p>
          <a:p>
            <a:pPr lvl="1" algn="just" eaLnBrk="1" hangingPunct="1">
              <a:lnSpc>
                <a:spcPct val="90000"/>
              </a:lnSpc>
            </a:pPr>
            <a:r>
              <a:rPr lang="en-US" altLang="en-US" sz="1800" smtClean="0"/>
              <a:t>Columns from second table are filled with NULLs.</a:t>
            </a:r>
          </a:p>
          <a:p>
            <a:pPr algn="just" eaLnBrk="1" hangingPunct="1">
              <a:lnSpc>
                <a:spcPct val="90000"/>
              </a:lnSpc>
            </a:pPr>
            <a:endParaRPr lang="en-US" altLang="en-US" sz="2000" smtClean="0"/>
          </a:p>
          <a:p>
            <a:pPr algn="just" eaLnBrk="1" hangingPunct="1">
              <a:lnSpc>
                <a:spcPct val="90000"/>
              </a:lnSpc>
            </a:pPr>
            <a:r>
              <a:rPr lang="en-US" altLang="en-US" sz="2000" smtClean="0"/>
              <a:t>Right outer Join :</a:t>
            </a:r>
          </a:p>
          <a:p>
            <a:pPr lvl="1" algn="just" eaLnBrk="1" hangingPunct="1">
              <a:lnSpc>
                <a:spcPct val="90000"/>
              </a:lnSpc>
            </a:pPr>
            <a:r>
              <a:rPr lang="en-US" altLang="en-US" sz="1800" smtClean="0"/>
              <a:t>includes those rows of second (right) table that are unmatched with rows from first (left) table. </a:t>
            </a:r>
          </a:p>
          <a:p>
            <a:pPr lvl="1" algn="just" eaLnBrk="1" hangingPunct="1">
              <a:lnSpc>
                <a:spcPct val="90000"/>
              </a:lnSpc>
            </a:pPr>
            <a:r>
              <a:rPr lang="en-US" altLang="en-US" sz="1800" smtClean="0"/>
              <a:t>Columns from first table are filled with NULLs.</a:t>
            </a:r>
          </a:p>
          <a:p>
            <a:pPr lvl="1" algn="just" eaLnBrk="1" hangingPunct="1">
              <a:lnSpc>
                <a:spcPct val="90000"/>
              </a:lnSpc>
            </a:pPr>
            <a:endParaRPr lang="en-US" altLang="en-US" sz="1800" smtClean="0"/>
          </a:p>
          <a:p>
            <a:pPr algn="just" eaLnBrk="1" hangingPunct="1">
              <a:lnSpc>
                <a:spcPct val="90000"/>
              </a:lnSpc>
            </a:pPr>
            <a:r>
              <a:rPr lang="en-US" altLang="en-US" sz="2000" smtClean="0"/>
              <a:t>Full Outer Join:</a:t>
            </a:r>
          </a:p>
          <a:p>
            <a:pPr lvl="1" algn="just" eaLnBrk="1" hangingPunct="1">
              <a:lnSpc>
                <a:spcPct val="90000"/>
              </a:lnSpc>
            </a:pPr>
            <a:r>
              <a:rPr lang="en-US" altLang="en-US" sz="1800" smtClean="0"/>
              <a:t>Is the UNION of both left and right outer joins.</a:t>
            </a:r>
          </a:p>
          <a:p>
            <a:pPr algn="just" eaLnBrk="1" hangingPunct="1">
              <a:lnSpc>
                <a:spcPct val="90000"/>
              </a:lnSpc>
            </a:pPr>
            <a:endParaRPr lang="en-US" altLang="en-US" sz="2000" smtClean="0"/>
          </a:p>
        </p:txBody>
      </p:sp>
    </p:spTree>
  </p:cSld>
  <p:clrMapOvr>
    <a:masterClrMapping/>
  </p:clrMapOvr>
  <p:transition>
    <p:wipe dir="d"/>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noChangeArrowheads="1"/>
          </p:cNvSpPr>
          <p:nvPr>
            <p:ph type="title"/>
          </p:nvPr>
        </p:nvSpPr>
        <p:spPr/>
        <p:txBody>
          <a:bodyPr/>
          <a:lstStyle/>
          <a:p>
            <a:pPr eaLnBrk="1" hangingPunct="1"/>
            <a:r>
              <a:rPr lang="en-US" altLang="en-US" smtClean="0"/>
              <a:t>Recap Types of Joins</a:t>
            </a:r>
          </a:p>
        </p:txBody>
      </p:sp>
      <p:sp>
        <p:nvSpPr>
          <p:cNvPr id="132099" name="Content Placeholder 2"/>
          <p:cNvSpPr>
            <a:spLocks noGrp="1" noChangeArrowheads="1"/>
          </p:cNvSpPr>
          <p:nvPr>
            <p:ph idx="1"/>
          </p:nvPr>
        </p:nvSpPr>
        <p:spPr/>
        <p:txBody>
          <a:bodyPr/>
          <a:lstStyle/>
          <a:p>
            <a:pPr eaLnBrk="1" hangingPunct="1"/>
            <a:endParaRPr lang="en-US" altLang="en-US" smtClean="0"/>
          </a:p>
        </p:txBody>
      </p:sp>
      <p:sp>
        <p:nvSpPr>
          <p:cNvPr id="132100" name="Slide Number Placeholder 4"/>
          <p:cNvSpPr>
            <a:spLocks noGrp="1" noChangeArrowheads="1"/>
          </p:cNvSpPr>
          <p:nvPr>
            <p:ph type="sldNum" sz="quarter" idx="10"/>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l">
              <a:spcBef>
                <a:spcPct val="0"/>
              </a:spcBef>
              <a:buClrTx/>
              <a:buSzTx/>
              <a:buFontTx/>
              <a:buNone/>
            </a:pPr>
            <a:fld id="{B091F5C6-730C-46DF-AF85-FE4E24DBBC83}" type="slidenum">
              <a:rPr lang="en-US" altLang="en-US" sz="1800" b="0" smtClean="0">
                <a:solidFill>
                  <a:schemeClr val="tx1"/>
                </a:solidFill>
              </a:rPr>
              <a:pPr algn="l">
                <a:spcBef>
                  <a:spcPct val="0"/>
                </a:spcBef>
                <a:buClrTx/>
                <a:buSzTx/>
                <a:buFontTx/>
                <a:buNone/>
              </a:pPr>
              <a:t>70</a:t>
            </a:fld>
            <a:endParaRPr lang="en-US" altLang="en-US" sz="1800" b="0" smtClean="0">
              <a:solidFill>
                <a:schemeClr val="tx1"/>
              </a:solidFill>
            </a:endParaRPr>
          </a:p>
        </p:txBody>
      </p:sp>
      <p:pic>
        <p:nvPicPr>
          <p:cNvPr id="132101"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16025"/>
            <a:ext cx="6858000" cy="550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6D4D5FB2-25A3-4F84-87B6-A6B340E7ECCE}" type="slidenum">
              <a:rPr lang="en-US" altLang="en-US" sz="1400" smtClean="0">
                <a:solidFill>
                  <a:srgbClr val="990033"/>
                </a:solidFill>
              </a:rPr>
              <a:pPr>
                <a:spcBef>
                  <a:spcPct val="0"/>
                </a:spcBef>
                <a:buClrTx/>
                <a:buSzTx/>
                <a:buFontTx/>
                <a:buNone/>
              </a:pPr>
              <a:t>71</a:t>
            </a:fld>
            <a:endParaRPr lang="en-CA" altLang="en-US" sz="1400" smtClean="0">
              <a:solidFill>
                <a:srgbClr val="990033"/>
              </a:solidFill>
            </a:endParaRPr>
          </a:p>
        </p:txBody>
      </p:sp>
      <p:sp>
        <p:nvSpPr>
          <p:cNvPr id="133123" name="Rectangle 6"/>
          <p:cNvSpPr>
            <a:spLocks noGrp="1" noChangeArrowheads="1"/>
          </p:cNvSpPr>
          <p:nvPr>
            <p:ph type="title"/>
          </p:nvPr>
        </p:nvSpPr>
        <p:spPr/>
        <p:txBody>
          <a:bodyPr/>
          <a:lstStyle/>
          <a:p>
            <a:pPr eaLnBrk="1" hangingPunct="1"/>
            <a:r>
              <a:rPr lang="en-US" altLang="en-US" smtClean="0"/>
              <a:t>AGGREGATE FUNCTIONS</a:t>
            </a:r>
          </a:p>
        </p:txBody>
      </p:sp>
      <p:sp>
        <p:nvSpPr>
          <p:cNvPr id="133124" name="Rectangle 7"/>
          <p:cNvSpPr>
            <a:spLocks noGrp="1" noChangeArrowheads="1"/>
          </p:cNvSpPr>
          <p:nvPr>
            <p:ph type="body" idx="1"/>
          </p:nvPr>
        </p:nvSpPr>
        <p:spPr/>
        <p:txBody>
          <a:bodyPr/>
          <a:lstStyle/>
          <a:p>
            <a:pPr eaLnBrk="1" hangingPunct="1"/>
            <a:r>
              <a:rPr lang="en-US" altLang="en-US" smtClean="0"/>
              <a:t>Include </a:t>
            </a:r>
            <a:r>
              <a:rPr lang="en-US" altLang="en-US" b="1" smtClean="0"/>
              <a:t>COUNT, SUM, MAX, MIN, and AVG</a:t>
            </a:r>
          </a:p>
          <a:p>
            <a:pPr eaLnBrk="1" hangingPunct="1"/>
            <a:r>
              <a:rPr lang="en-US" altLang="en-US" smtClean="0"/>
              <a:t>Query 15: Find the maximum salary, the minimum salary, and the average salary among all employees.</a:t>
            </a:r>
          </a:p>
          <a:p>
            <a:pPr lvl="1" eaLnBrk="1" hangingPunct="1">
              <a:buFont typeface="Wingdings" panose="05000000000000000000" pitchFamily="2" charset="2"/>
              <a:buNone/>
            </a:pPr>
            <a:r>
              <a:rPr lang="en-US" altLang="en-US" smtClean="0"/>
              <a:t>Q15:	SELECT  	MAX(SALARY), 						MIN(SALARY), AVG(SALARY)</a:t>
            </a:r>
            <a:br>
              <a:rPr lang="en-US" altLang="en-US" smtClean="0"/>
            </a:br>
            <a:r>
              <a:rPr lang="en-US" altLang="en-US" smtClean="0"/>
              <a:t>		FROM	EMPLOYEE</a:t>
            </a:r>
            <a:br>
              <a:rPr lang="en-US" altLang="en-US" smtClean="0"/>
            </a:br>
            <a:endParaRPr lang="en-US" altLang="en-US" smtClean="0"/>
          </a:p>
          <a:p>
            <a:pPr eaLnBrk="1" hangingPunct="1"/>
            <a:r>
              <a:rPr lang="en-US" altLang="en-US" smtClean="0"/>
              <a:t>Some SQL implementations </a:t>
            </a:r>
            <a:r>
              <a:rPr lang="en-US" altLang="en-US" i="1" smtClean="0"/>
              <a:t>may not allow more than one function</a:t>
            </a:r>
            <a:r>
              <a:rPr lang="en-US" altLang="en-US" smtClean="0"/>
              <a:t> in the SELECT-clause</a:t>
            </a:r>
          </a:p>
        </p:txBody>
      </p:sp>
    </p:spTree>
  </p:cSld>
  <p:clrMapOvr>
    <a:masterClrMapping/>
  </p:clrMapOvr>
  <p:transition spd="med"/>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F31DAA80-6297-41E6-A0D8-F4997D4A97D7}" type="slidenum">
              <a:rPr lang="en-US" altLang="en-US" sz="1400" smtClean="0">
                <a:solidFill>
                  <a:srgbClr val="990033"/>
                </a:solidFill>
              </a:rPr>
              <a:pPr>
                <a:spcBef>
                  <a:spcPct val="0"/>
                </a:spcBef>
                <a:buClrTx/>
                <a:buSzTx/>
                <a:buFontTx/>
                <a:buNone/>
              </a:pPr>
              <a:t>72</a:t>
            </a:fld>
            <a:endParaRPr lang="en-CA" altLang="en-US" sz="1400" smtClean="0">
              <a:solidFill>
                <a:srgbClr val="990033"/>
              </a:solidFill>
            </a:endParaRPr>
          </a:p>
        </p:txBody>
      </p:sp>
      <p:sp>
        <p:nvSpPr>
          <p:cNvPr id="135171" name="Rectangle 6"/>
          <p:cNvSpPr>
            <a:spLocks noGrp="1" noChangeArrowheads="1"/>
          </p:cNvSpPr>
          <p:nvPr>
            <p:ph type="title"/>
          </p:nvPr>
        </p:nvSpPr>
        <p:spPr/>
        <p:txBody>
          <a:bodyPr/>
          <a:lstStyle/>
          <a:p>
            <a:pPr eaLnBrk="1" hangingPunct="1"/>
            <a:r>
              <a:rPr lang="en-US" altLang="en-US" smtClean="0"/>
              <a:t>AGGREGATE FUNCTIONS (contd.)</a:t>
            </a:r>
          </a:p>
        </p:txBody>
      </p:sp>
      <p:sp>
        <p:nvSpPr>
          <p:cNvPr id="135172" name="Rectangle 7"/>
          <p:cNvSpPr>
            <a:spLocks noGrp="1" noChangeArrowheads="1"/>
          </p:cNvSpPr>
          <p:nvPr>
            <p:ph type="body" idx="1"/>
          </p:nvPr>
        </p:nvSpPr>
        <p:spPr/>
        <p:txBody>
          <a:bodyPr/>
          <a:lstStyle/>
          <a:p>
            <a:pPr eaLnBrk="1" hangingPunct="1"/>
            <a:r>
              <a:rPr lang="en-US" altLang="en-US" smtClean="0"/>
              <a:t>Query 16: Find the maximum salary, the minimum salary, and the average salary among employees who work for the 'Research' department.</a:t>
            </a:r>
          </a:p>
          <a:p>
            <a:pPr lvl="1" eaLnBrk="1" hangingPunct="1">
              <a:buFont typeface="Wingdings" panose="05000000000000000000" pitchFamily="2" charset="2"/>
              <a:buNone/>
            </a:pPr>
            <a:r>
              <a:rPr lang="en-US" altLang="en-US" smtClean="0"/>
              <a:t>Q16: 	SELECT 	MAX(SALARY), 						MIN(SALARY), AVG(SALARY)</a:t>
            </a:r>
            <a:br>
              <a:rPr lang="en-US" altLang="en-US" smtClean="0"/>
            </a:br>
            <a:r>
              <a:rPr lang="en-US" altLang="en-US" smtClean="0"/>
              <a:t>		FROM	EMPLOYEE, DEPARTMENT</a:t>
            </a:r>
            <a:br>
              <a:rPr lang="en-US" altLang="en-US" smtClean="0"/>
            </a:br>
            <a:r>
              <a:rPr lang="en-US" altLang="en-US" smtClean="0"/>
              <a:t>		WHERE	DNO=DNUMBER AND 					DNAME='Research'</a:t>
            </a:r>
            <a:br>
              <a:rPr lang="en-US" altLang="en-US" smtClean="0"/>
            </a:br>
            <a:endParaRPr lang="en-US" altLang="en-US" smtClean="0"/>
          </a:p>
        </p:txBody>
      </p:sp>
    </p:spTree>
  </p:cSld>
  <p:clrMapOvr>
    <a:masterClrMapping/>
  </p:clrMapOvr>
  <p:transition spd="med"/>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B0D5610-ED89-4EB4-AA81-03F240CB9A58}" type="slidenum">
              <a:rPr lang="en-US" altLang="en-US" sz="1400" smtClean="0">
                <a:solidFill>
                  <a:srgbClr val="990033"/>
                </a:solidFill>
              </a:rPr>
              <a:pPr>
                <a:spcBef>
                  <a:spcPct val="0"/>
                </a:spcBef>
                <a:buClrTx/>
                <a:buSzTx/>
                <a:buFontTx/>
                <a:buNone/>
              </a:pPr>
              <a:t>73</a:t>
            </a:fld>
            <a:endParaRPr lang="en-CA" altLang="en-US" sz="1400" smtClean="0">
              <a:solidFill>
                <a:srgbClr val="990033"/>
              </a:solidFill>
            </a:endParaRPr>
          </a:p>
        </p:txBody>
      </p:sp>
      <p:sp>
        <p:nvSpPr>
          <p:cNvPr id="137219" name="Rectangle 6"/>
          <p:cNvSpPr>
            <a:spLocks noGrp="1" noChangeArrowheads="1"/>
          </p:cNvSpPr>
          <p:nvPr>
            <p:ph type="title"/>
          </p:nvPr>
        </p:nvSpPr>
        <p:spPr/>
        <p:txBody>
          <a:bodyPr/>
          <a:lstStyle/>
          <a:p>
            <a:pPr eaLnBrk="1" hangingPunct="1"/>
            <a:r>
              <a:rPr lang="en-US" altLang="en-US" smtClean="0"/>
              <a:t>AGGREGATE FUNCTIONS (contd.)</a:t>
            </a:r>
          </a:p>
        </p:txBody>
      </p:sp>
      <p:sp>
        <p:nvSpPr>
          <p:cNvPr id="137220" name="Rectangle 7"/>
          <p:cNvSpPr>
            <a:spLocks noGrp="1" noChangeArrowheads="1"/>
          </p:cNvSpPr>
          <p:nvPr>
            <p:ph type="body" idx="1"/>
          </p:nvPr>
        </p:nvSpPr>
        <p:spPr/>
        <p:txBody>
          <a:bodyPr/>
          <a:lstStyle/>
          <a:p>
            <a:pPr eaLnBrk="1" hangingPunct="1"/>
            <a:r>
              <a:rPr lang="en-US" altLang="en-US" sz="2400" smtClean="0"/>
              <a:t>Queries 17 and 18: Retrieve the total number of employees in the company (Q17), and the number of employees in the 'Research' department (Q18).</a:t>
            </a:r>
          </a:p>
          <a:p>
            <a:pPr lvl="1" eaLnBrk="1" hangingPunct="1">
              <a:buFont typeface="Wingdings" panose="05000000000000000000" pitchFamily="2" charset="2"/>
              <a:buNone/>
            </a:pPr>
            <a:r>
              <a:rPr lang="en-US" altLang="en-US" sz="2200" smtClean="0"/>
              <a:t>Q17:	SELECT  	COUNT (*)</a:t>
            </a:r>
            <a:br>
              <a:rPr lang="en-US" altLang="en-US" sz="2200" smtClean="0"/>
            </a:br>
            <a:r>
              <a:rPr lang="en-US" altLang="en-US" sz="2200" smtClean="0"/>
              <a:t>		FROM		EMPLOYEE</a:t>
            </a:r>
          </a:p>
          <a:p>
            <a:pPr lvl="1" eaLnBrk="1" hangingPunct="1">
              <a:buFont typeface="Wingdings" panose="05000000000000000000" pitchFamily="2" charset="2"/>
              <a:buNone/>
            </a:pPr>
            <a:endParaRPr lang="en-US" altLang="en-US" sz="2200" smtClean="0"/>
          </a:p>
          <a:p>
            <a:pPr lvl="1" eaLnBrk="1" hangingPunct="1">
              <a:buFont typeface="Wingdings" panose="05000000000000000000" pitchFamily="2" charset="2"/>
              <a:buNone/>
            </a:pPr>
            <a:r>
              <a:rPr lang="en-US" altLang="en-US" sz="2200" smtClean="0"/>
              <a:t>Q18:	SELECT  	COUNT (*)</a:t>
            </a:r>
            <a:br>
              <a:rPr lang="en-US" altLang="en-US" sz="2200" smtClean="0"/>
            </a:br>
            <a:r>
              <a:rPr lang="en-US" altLang="en-US" sz="2200" smtClean="0"/>
              <a:t>		FROM		EMPLOYEE, DEPARTMENT</a:t>
            </a:r>
            <a:br>
              <a:rPr lang="en-US" altLang="en-US" sz="2200" smtClean="0"/>
            </a:br>
            <a:r>
              <a:rPr lang="en-US" altLang="en-US" sz="2200" smtClean="0"/>
              <a:t>		WHERE	DNO=DNUMBER AND 					DNAME='Research’</a:t>
            </a:r>
          </a:p>
        </p:txBody>
      </p:sp>
    </p:spTree>
  </p:cSld>
  <p:clrMapOvr>
    <a:masterClrMapping/>
  </p:clrMapOvr>
  <p:transition spd="med"/>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E74E4B5C-F39F-4D1F-A6C8-5CF77AB81D07}" type="slidenum">
              <a:rPr lang="en-US" altLang="en-US" sz="1400" smtClean="0">
                <a:solidFill>
                  <a:srgbClr val="990033"/>
                </a:solidFill>
              </a:rPr>
              <a:pPr>
                <a:spcBef>
                  <a:spcPct val="0"/>
                </a:spcBef>
                <a:buClrTx/>
                <a:buSzTx/>
                <a:buFontTx/>
                <a:buNone/>
              </a:pPr>
              <a:t>74</a:t>
            </a:fld>
            <a:endParaRPr lang="en-CA" altLang="en-US" sz="1400" smtClean="0">
              <a:solidFill>
                <a:srgbClr val="990033"/>
              </a:solidFill>
            </a:endParaRPr>
          </a:p>
        </p:txBody>
      </p:sp>
      <p:sp>
        <p:nvSpPr>
          <p:cNvPr id="139267" name="Rectangle 6"/>
          <p:cNvSpPr>
            <a:spLocks noGrp="1" noChangeArrowheads="1"/>
          </p:cNvSpPr>
          <p:nvPr>
            <p:ph type="title"/>
          </p:nvPr>
        </p:nvSpPr>
        <p:spPr/>
        <p:txBody>
          <a:bodyPr/>
          <a:lstStyle/>
          <a:p>
            <a:pPr eaLnBrk="1" hangingPunct="1"/>
            <a:r>
              <a:rPr lang="en-US" altLang="en-US" smtClean="0"/>
              <a:t>GROUPING</a:t>
            </a:r>
          </a:p>
        </p:txBody>
      </p:sp>
      <p:sp>
        <p:nvSpPr>
          <p:cNvPr id="139268" name="Rectangle 7"/>
          <p:cNvSpPr>
            <a:spLocks noGrp="1" noChangeArrowheads="1"/>
          </p:cNvSpPr>
          <p:nvPr>
            <p:ph type="body" idx="1"/>
          </p:nvPr>
        </p:nvSpPr>
        <p:spPr/>
        <p:txBody>
          <a:bodyPr/>
          <a:lstStyle/>
          <a:p>
            <a:pPr eaLnBrk="1" hangingPunct="1">
              <a:lnSpc>
                <a:spcPct val="90000"/>
              </a:lnSpc>
            </a:pPr>
            <a:r>
              <a:rPr lang="en-US" altLang="en-US" smtClean="0"/>
              <a:t>In many cases, we want to apply the aggregate functions to </a:t>
            </a:r>
            <a:r>
              <a:rPr lang="en-US" altLang="en-US" i="1" smtClean="0"/>
              <a:t>subgroups of tuples</a:t>
            </a:r>
            <a:r>
              <a:rPr lang="en-US" altLang="en-US" smtClean="0"/>
              <a:t> in a relation</a:t>
            </a:r>
          </a:p>
          <a:p>
            <a:pPr eaLnBrk="1" hangingPunct="1">
              <a:lnSpc>
                <a:spcPct val="90000"/>
              </a:lnSpc>
            </a:pPr>
            <a:r>
              <a:rPr lang="en-US" altLang="en-US" smtClean="0"/>
              <a:t>Each subgroup of tuples consists of the set of tuples that have the </a:t>
            </a:r>
            <a:r>
              <a:rPr lang="en-US" altLang="en-US" i="1" smtClean="0"/>
              <a:t>same value</a:t>
            </a:r>
            <a:r>
              <a:rPr lang="en-US" altLang="en-US" smtClean="0"/>
              <a:t> for the </a:t>
            </a:r>
            <a:r>
              <a:rPr lang="en-US" altLang="en-US" i="1" smtClean="0"/>
              <a:t>grouping attribute(s)</a:t>
            </a:r>
          </a:p>
          <a:p>
            <a:pPr eaLnBrk="1" hangingPunct="1">
              <a:lnSpc>
                <a:spcPct val="90000"/>
              </a:lnSpc>
            </a:pPr>
            <a:r>
              <a:rPr lang="en-US" altLang="en-US" smtClean="0"/>
              <a:t>The function is applied to each subgroup independently</a:t>
            </a:r>
          </a:p>
          <a:p>
            <a:pPr eaLnBrk="1" hangingPunct="1">
              <a:lnSpc>
                <a:spcPct val="90000"/>
              </a:lnSpc>
            </a:pPr>
            <a:r>
              <a:rPr lang="en-US" altLang="en-US" smtClean="0"/>
              <a:t>SQL has a </a:t>
            </a:r>
            <a:r>
              <a:rPr lang="en-US" altLang="en-US" b="1" smtClean="0"/>
              <a:t>GROUP BY</a:t>
            </a:r>
            <a:r>
              <a:rPr lang="en-US" altLang="en-US" smtClean="0"/>
              <a:t>-clause for specifying the grouping attributes, which </a:t>
            </a:r>
            <a:r>
              <a:rPr lang="en-US" altLang="en-US" i="1" smtClean="0"/>
              <a:t>must also appear in the SELECT-clause</a:t>
            </a:r>
          </a:p>
          <a:p>
            <a:pPr eaLnBrk="1" hangingPunct="1">
              <a:lnSpc>
                <a:spcPct val="90000"/>
              </a:lnSpc>
            </a:pPr>
            <a:endParaRPr lang="en-US" altLang="en-US" smtClean="0"/>
          </a:p>
        </p:txBody>
      </p:sp>
    </p:spTree>
  </p:cSld>
  <p:clrMapOvr>
    <a:masterClrMapping/>
  </p:clrMapOvr>
  <p:transition spd="med"/>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524C5798-CBA3-4B74-919C-FE8C22286C8D}" type="slidenum">
              <a:rPr lang="en-US" altLang="en-US" sz="1400" smtClean="0">
                <a:solidFill>
                  <a:srgbClr val="990033"/>
                </a:solidFill>
              </a:rPr>
              <a:pPr>
                <a:spcBef>
                  <a:spcPct val="0"/>
                </a:spcBef>
                <a:buClrTx/>
                <a:buSzTx/>
                <a:buFontTx/>
                <a:buNone/>
              </a:pPr>
              <a:t>75</a:t>
            </a:fld>
            <a:endParaRPr lang="en-CA" altLang="en-US" sz="1400" smtClean="0">
              <a:solidFill>
                <a:srgbClr val="990033"/>
              </a:solidFill>
            </a:endParaRPr>
          </a:p>
        </p:txBody>
      </p:sp>
      <p:sp>
        <p:nvSpPr>
          <p:cNvPr id="141315" name="Rectangle 6"/>
          <p:cNvSpPr>
            <a:spLocks noGrp="1" noChangeArrowheads="1"/>
          </p:cNvSpPr>
          <p:nvPr>
            <p:ph type="title"/>
          </p:nvPr>
        </p:nvSpPr>
        <p:spPr/>
        <p:txBody>
          <a:bodyPr/>
          <a:lstStyle/>
          <a:p>
            <a:pPr eaLnBrk="1" hangingPunct="1"/>
            <a:r>
              <a:rPr lang="en-US" altLang="en-US" smtClean="0"/>
              <a:t>GROUPING (contd.)</a:t>
            </a:r>
          </a:p>
        </p:txBody>
      </p:sp>
      <p:sp>
        <p:nvSpPr>
          <p:cNvPr id="141316" name="Rectangle 7"/>
          <p:cNvSpPr>
            <a:spLocks noGrp="1" noChangeArrowheads="1"/>
          </p:cNvSpPr>
          <p:nvPr>
            <p:ph type="body" idx="1"/>
          </p:nvPr>
        </p:nvSpPr>
        <p:spPr/>
        <p:txBody>
          <a:bodyPr/>
          <a:lstStyle/>
          <a:p>
            <a:pPr eaLnBrk="1" hangingPunct="1">
              <a:lnSpc>
                <a:spcPct val="80000"/>
              </a:lnSpc>
            </a:pPr>
            <a:r>
              <a:rPr lang="en-US" altLang="en-US" sz="2400" smtClean="0"/>
              <a:t>Query 20: For each department, retrieve the department number, the number of employees in the department, and their average salary.</a:t>
            </a:r>
          </a:p>
          <a:p>
            <a:pPr lvl="1" eaLnBrk="1" hangingPunct="1">
              <a:lnSpc>
                <a:spcPct val="80000"/>
              </a:lnSpc>
              <a:buFont typeface="Wingdings" panose="05000000000000000000" pitchFamily="2" charset="2"/>
              <a:buNone/>
            </a:pPr>
            <a:r>
              <a:rPr lang="en-US" altLang="en-US" sz="2200" smtClean="0"/>
              <a:t>Q20:	SELECT 	</a:t>
            </a:r>
            <a:r>
              <a:rPr lang="en-US" altLang="en-US" sz="2200" smtClean="0">
                <a:solidFill>
                  <a:srgbClr val="4F571F"/>
                </a:solidFill>
              </a:rPr>
              <a:t>DNO</a:t>
            </a:r>
            <a:r>
              <a:rPr lang="en-US" altLang="en-US" sz="2200" smtClean="0"/>
              <a:t>, COUNT (*), AVG (SALARY)</a:t>
            </a:r>
            <a:br>
              <a:rPr lang="en-US" altLang="en-US" sz="2200" smtClean="0"/>
            </a:br>
            <a:r>
              <a:rPr lang="en-US" altLang="en-US" sz="2200" smtClean="0"/>
              <a:t>		FROM		EMPLOYEE</a:t>
            </a:r>
            <a:br>
              <a:rPr lang="en-US" altLang="en-US" sz="2200" smtClean="0"/>
            </a:br>
            <a:r>
              <a:rPr lang="en-US" altLang="en-US" sz="2200" smtClean="0"/>
              <a:t>		GROUP BY	</a:t>
            </a:r>
            <a:r>
              <a:rPr lang="en-US" altLang="en-US" sz="2200" smtClean="0">
                <a:solidFill>
                  <a:srgbClr val="4F571F"/>
                </a:solidFill>
              </a:rPr>
              <a:t>DNO</a:t>
            </a:r>
            <a:r>
              <a:rPr lang="en-US" altLang="en-US" sz="2200" smtClean="0"/>
              <a:t/>
            </a:r>
            <a:br>
              <a:rPr lang="en-US" altLang="en-US" sz="2200" smtClean="0"/>
            </a:br>
            <a:endParaRPr lang="en-US" altLang="en-US" sz="2200" smtClean="0"/>
          </a:p>
          <a:p>
            <a:pPr lvl="1" eaLnBrk="1" hangingPunct="1">
              <a:lnSpc>
                <a:spcPct val="80000"/>
              </a:lnSpc>
            </a:pPr>
            <a:r>
              <a:rPr lang="en-US" altLang="en-US" sz="2200" smtClean="0"/>
              <a:t>In Q20, the EMPLOYEE tuples are divided into groups-</a:t>
            </a:r>
          </a:p>
          <a:p>
            <a:pPr lvl="2" eaLnBrk="1" hangingPunct="1">
              <a:lnSpc>
                <a:spcPct val="80000"/>
              </a:lnSpc>
            </a:pPr>
            <a:r>
              <a:rPr lang="en-US" altLang="en-US" sz="2000" smtClean="0"/>
              <a:t>Each group having the same value for the grouping attribute DNO</a:t>
            </a:r>
          </a:p>
          <a:p>
            <a:pPr lvl="1" eaLnBrk="1" hangingPunct="1">
              <a:lnSpc>
                <a:spcPct val="80000"/>
              </a:lnSpc>
            </a:pPr>
            <a:r>
              <a:rPr lang="en-US" altLang="en-US" sz="2200" smtClean="0"/>
              <a:t>The COUNT and AVG functions are applied to each such group of tuples separately</a:t>
            </a:r>
          </a:p>
          <a:p>
            <a:pPr lvl="1" eaLnBrk="1" hangingPunct="1">
              <a:lnSpc>
                <a:spcPct val="80000"/>
              </a:lnSpc>
            </a:pPr>
            <a:r>
              <a:rPr lang="en-US" altLang="en-US" sz="2200" smtClean="0"/>
              <a:t>The SELECT-clause includes only the grouping attribute and the functions to be applied on each group of tuples</a:t>
            </a:r>
          </a:p>
          <a:p>
            <a:pPr lvl="1" eaLnBrk="1" hangingPunct="1">
              <a:lnSpc>
                <a:spcPct val="80000"/>
              </a:lnSpc>
            </a:pPr>
            <a:r>
              <a:rPr lang="en-US" altLang="en-US" sz="2200" smtClean="0"/>
              <a:t>A join condition can be used in conjunction with grouping</a:t>
            </a:r>
          </a:p>
        </p:txBody>
      </p:sp>
    </p:spTree>
  </p:cSld>
  <p:clrMapOvr>
    <a:masterClrMapping/>
  </p:clrMapOvr>
  <p:transition spd="med"/>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8B455BA1-D449-488D-B29A-C878DD04149D}" type="slidenum">
              <a:rPr lang="en-US" altLang="en-US" sz="1400" smtClean="0">
                <a:solidFill>
                  <a:srgbClr val="990033"/>
                </a:solidFill>
              </a:rPr>
              <a:pPr>
                <a:spcBef>
                  <a:spcPct val="0"/>
                </a:spcBef>
                <a:buClrTx/>
                <a:buSzTx/>
                <a:buFontTx/>
                <a:buNone/>
              </a:pPr>
              <a:t>76</a:t>
            </a:fld>
            <a:endParaRPr lang="en-CA" altLang="en-US" sz="1400" smtClean="0">
              <a:solidFill>
                <a:srgbClr val="990033"/>
              </a:solidFill>
            </a:endParaRPr>
          </a:p>
        </p:txBody>
      </p:sp>
      <p:sp>
        <p:nvSpPr>
          <p:cNvPr id="143363" name="Rectangle 6"/>
          <p:cNvSpPr>
            <a:spLocks noGrp="1" noChangeArrowheads="1"/>
          </p:cNvSpPr>
          <p:nvPr>
            <p:ph type="title"/>
          </p:nvPr>
        </p:nvSpPr>
        <p:spPr/>
        <p:txBody>
          <a:bodyPr/>
          <a:lstStyle/>
          <a:p>
            <a:pPr eaLnBrk="1" hangingPunct="1"/>
            <a:r>
              <a:rPr lang="en-US" altLang="en-US" smtClean="0"/>
              <a:t>GROUPING (contd.)</a:t>
            </a:r>
          </a:p>
        </p:txBody>
      </p:sp>
      <p:sp>
        <p:nvSpPr>
          <p:cNvPr id="143364" name="Rectangle 7"/>
          <p:cNvSpPr>
            <a:spLocks noGrp="1" noChangeArrowheads="1"/>
          </p:cNvSpPr>
          <p:nvPr>
            <p:ph type="body" idx="1"/>
          </p:nvPr>
        </p:nvSpPr>
        <p:spPr/>
        <p:txBody>
          <a:bodyPr/>
          <a:lstStyle/>
          <a:p>
            <a:pPr eaLnBrk="1" hangingPunct="1"/>
            <a:r>
              <a:rPr lang="en-US" altLang="en-US" sz="2400" smtClean="0"/>
              <a:t>Query 21: For each project, retrieve the project number, project name, and the number of employees who work on that project.</a:t>
            </a:r>
          </a:p>
          <a:p>
            <a:pPr eaLnBrk="1" hangingPunct="1">
              <a:buFont typeface="Wingdings" panose="05000000000000000000" pitchFamily="2" charset="2"/>
              <a:buNone/>
            </a:pPr>
            <a:endParaRPr lang="en-US" altLang="en-US" sz="2400" smtClean="0"/>
          </a:p>
          <a:p>
            <a:pPr lvl="1" eaLnBrk="1" hangingPunct="1">
              <a:buFont typeface="Wingdings" panose="05000000000000000000" pitchFamily="2" charset="2"/>
              <a:buNone/>
            </a:pPr>
            <a:r>
              <a:rPr lang="en-US" altLang="en-US" sz="2200" smtClean="0"/>
              <a:t>Q21:	SELECT 	PNUMBER, PNAME, COUNT (*)</a:t>
            </a:r>
            <a:br>
              <a:rPr lang="en-US" altLang="en-US" sz="2200" smtClean="0"/>
            </a:br>
            <a:r>
              <a:rPr lang="en-US" altLang="en-US" sz="2200" smtClean="0"/>
              <a:t>		FROM		PROJECT, WORKS_ON</a:t>
            </a:r>
            <a:br>
              <a:rPr lang="en-US" altLang="en-US" sz="2200" smtClean="0"/>
            </a:br>
            <a:r>
              <a:rPr lang="en-US" altLang="en-US" sz="2200" smtClean="0"/>
              <a:t>		WHERE	PNUMBER=PNO</a:t>
            </a:r>
            <a:br>
              <a:rPr lang="en-US" altLang="en-US" sz="2200" smtClean="0"/>
            </a:br>
            <a:r>
              <a:rPr lang="en-US" altLang="en-US" sz="2200" smtClean="0"/>
              <a:t>		GROUP BY	PNUMBER, PNAME</a:t>
            </a:r>
            <a:br>
              <a:rPr lang="en-US" altLang="en-US" sz="2200" smtClean="0"/>
            </a:br>
            <a:endParaRPr lang="en-US" altLang="en-US" sz="2200" smtClean="0"/>
          </a:p>
          <a:p>
            <a:pPr lvl="1" eaLnBrk="1" hangingPunct="1"/>
            <a:r>
              <a:rPr lang="en-US" altLang="en-US" sz="2200" smtClean="0"/>
              <a:t>In this case, the grouping and functions are applied after  the joining of the two relations</a:t>
            </a:r>
          </a:p>
        </p:txBody>
      </p:sp>
    </p:spTree>
  </p:cSld>
  <p:clrMapOvr>
    <a:masterClrMapping/>
  </p:clrMapOvr>
  <p:transition spd="med"/>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64D5D956-7725-4B48-98D2-59347A446073}" type="slidenum">
              <a:rPr lang="en-US" altLang="en-US" sz="1400" smtClean="0">
                <a:solidFill>
                  <a:srgbClr val="990033"/>
                </a:solidFill>
              </a:rPr>
              <a:pPr>
                <a:spcBef>
                  <a:spcPct val="0"/>
                </a:spcBef>
                <a:buClrTx/>
                <a:buSzTx/>
                <a:buFontTx/>
                <a:buNone/>
              </a:pPr>
              <a:t>77</a:t>
            </a:fld>
            <a:endParaRPr lang="en-CA" altLang="en-US" sz="1400" smtClean="0">
              <a:solidFill>
                <a:srgbClr val="990033"/>
              </a:solidFill>
            </a:endParaRPr>
          </a:p>
        </p:txBody>
      </p:sp>
      <p:sp>
        <p:nvSpPr>
          <p:cNvPr id="145411" name="Rectangle 6"/>
          <p:cNvSpPr>
            <a:spLocks noGrp="1" noChangeArrowheads="1"/>
          </p:cNvSpPr>
          <p:nvPr>
            <p:ph type="title"/>
          </p:nvPr>
        </p:nvSpPr>
        <p:spPr/>
        <p:txBody>
          <a:bodyPr/>
          <a:lstStyle/>
          <a:p>
            <a:pPr eaLnBrk="1" hangingPunct="1"/>
            <a:r>
              <a:rPr lang="en-US" altLang="en-US" smtClean="0"/>
              <a:t>THE HAVING-CLAUSE</a:t>
            </a:r>
          </a:p>
        </p:txBody>
      </p:sp>
      <p:sp>
        <p:nvSpPr>
          <p:cNvPr id="145412" name="Rectangle 7"/>
          <p:cNvSpPr>
            <a:spLocks noGrp="1" noChangeArrowheads="1"/>
          </p:cNvSpPr>
          <p:nvPr>
            <p:ph type="body" idx="1"/>
          </p:nvPr>
        </p:nvSpPr>
        <p:spPr/>
        <p:txBody>
          <a:bodyPr/>
          <a:lstStyle/>
          <a:p>
            <a:pPr eaLnBrk="1" hangingPunct="1"/>
            <a:r>
              <a:rPr lang="en-US" altLang="en-US" smtClean="0"/>
              <a:t>Sometimes we want to retrieve the values of these functions for only those </a:t>
            </a:r>
            <a:r>
              <a:rPr lang="en-US" altLang="en-US" i="1" smtClean="0"/>
              <a:t>groups that satisfy certain conditions</a:t>
            </a:r>
          </a:p>
          <a:p>
            <a:pPr eaLnBrk="1" hangingPunct="1"/>
            <a:r>
              <a:rPr lang="en-US" altLang="en-US" smtClean="0"/>
              <a:t>The </a:t>
            </a:r>
            <a:r>
              <a:rPr lang="en-US" altLang="en-US" b="1" smtClean="0"/>
              <a:t>HAVING</a:t>
            </a:r>
            <a:r>
              <a:rPr lang="en-US" altLang="en-US" smtClean="0"/>
              <a:t>-clause is used for specifying a selection condition on groups (rather than on individual tuples)</a:t>
            </a:r>
            <a:br>
              <a:rPr lang="en-US" altLang="en-US" smtClean="0"/>
            </a:br>
            <a:endParaRPr lang="en-US" altLang="en-US" smtClean="0"/>
          </a:p>
        </p:txBody>
      </p:sp>
    </p:spTree>
  </p:cSld>
  <p:clrMapOvr>
    <a:masterClrMapping/>
  </p:clrMapOvr>
  <p:transition spd="med"/>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99866DE-4707-4BF0-B605-D7FECE8626E6}" type="slidenum">
              <a:rPr lang="en-US" altLang="en-US" sz="1400" smtClean="0">
                <a:solidFill>
                  <a:srgbClr val="990033"/>
                </a:solidFill>
              </a:rPr>
              <a:pPr>
                <a:spcBef>
                  <a:spcPct val="0"/>
                </a:spcBef>
                <a:buClrTx/>
                <a:buSzTx/>
                <a:buFontTx/>
                <a:buNone/>
              </a:pPr>
              <a:t>78</a:t>
            </a:fld>
            <a:endParaRPr lang="en-CA" altLang="en-US" sz="1400" smtClean="0">
              <a:solidFill>
                <a:srgbClr val="990033"/>
              </a:solidFill>
            </a:endParaRPr>
          </a:p>
        </p:txBody>
      </p:sp>
      <p:sp>
        <p:nvSpPr>
          <p:cNvPr id="147459" name="Rectangle 6"/>
          <p:cNvSpPr>
            <a:spLocks noGrp="1" noChangeArrowheads="1"/>
          </p:cNvSpPr>
          <p:nvPr>
            <p:ph type="title"/>
          </p:nvPr>
        </p:nvSpPr>
        <p:spPr/>
        <p:txBody>
          <a:bodyPr/>
          <a:lstStyle/>
          <a:p>
            <a:pPr eaLnBrk="1" hangingPunct="1"/>
            <a:r>
              <a:rPr lang="en-US" altLang="en-US" smtClean="0"/>
              <a:t>THE HAVING-CLAUSE (contd.)</a:t>
            </a:r>
          </a:p>
        </p:txBody>
      </p:sp>
      <p:sp>
        <p:nvSpPr>
          <p:cNvPr id="147460" name="Rectangle 7"/>
          <p:cNvSpPr>
            <a:spLocks noGrp="1" noChangeArrowheads="1"/>
          </p:cNvSpPr>
          <p:nvPr>
            <p:ph type="body" idx="1"/>
          </p:nvPr>
        </p:nvSpPr>
        <p:spPr/>
        <p:txBody>
          <a:bodyPr/>
          <a:lstStyle/>
          <a:p>
            <a:pPr eaLnBrk="1" hangingPunct="1"/>
            <a:r>
              <a:rPr lang="en-US" altLang="en-US" smtClean="0"/>
              <a:t>Query 22: For each project </a:t>
            </a:r>
            <a:r>
              <a:rPr lang="en-US" altLang="en-US" i="1" smtClean="0"/>
              <a:t>on which more than two employees work</a:t>
            </a:r>
            <a:r>
              <a:rPr lang="en-US" altLang="en-US" smtClean="0"/>
              <a:t>, retrieve the project number, project name, and the number of employees who work on that project.</a:t>
            </a:r>
          </a:p>
          <a:p>
            <a:pPr lvl="1" eaLnBrk="1" hangingPunct="1">
              <a:buFont typeface="Wingdings" panose="05000000000000000000" pitchFamily="2" charset="2"/>
              <a:buNone/>
            </a:pPr>
            <a:r>
              <a:rPr lang="en-US" altLang="en-US" smtClean="0"/>
              <a:t>Q22:     	SELECT 	PNUMBER, PNAME, 					COUNT(*)</a:t>
            </a:r>
            <a:br>
              <a:rPr lang="en-US" altLang="en-US" smtClean="0"/>
            </a:br>
            <a:r>
              <a:rPr lang="en-US" altLang="en-US" smtClean="0"/>
              <a:t>		FROM	PROJECT, WORKS_ON</a:t>
            </a:r>
            <a:br>
              <a:rPr lang="en-US" altLang="en-US" smtClean="0"/>
            </a:br>
            <a:r>
              <a:rPr lang="en-US" altLang="en-US" smtClean="0"/>
              <a:t>		WHERE	PNUMBER=PNO</a:t>
            </a:r>
            <a:br>
              <a:rPr lang="en-US" altLang="en-US" smtClean="0"/>
            </a:br>
            <a:r>
              <a:rPr lang="en-US" altLang="en-US" smtClean="0"/>
              <a:t>		GROUP BY	PNUMBER, PNAME</a:t>
            </a:r>
            <a:br>
              <a:rPr lang="en-US" altLang="en-US" smtClean="0"/>
            </a:br>
            <a:r>
              <a:rPr lang="en-US" altLang="en-US" smtClean="0"/>
              <a:t>		HAVING	COUNT (*) &gt; 2</a:t>
            </a:r>
          </a:p>
        </p:txBody>
      </p:sp>
    </p:spTree>
  </p:cSld>
  <p:clrMapOvr>
    <a:masterClrMapping/>
  </p:clrMapOvr>
  <p:transition spd="med"/>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BEAE0877-52D9-4B42-BE2B-39876DF9BFF5}" type="slidenum">
              <a:rPr lang="en-US" altLang="en-US" sz="1400" smtClean="0">
                <a:solidFill>
                  <a:srgbClr val="990033"/>
                </a:solidFill>
              </a:rPr>
              <a:pPr>
                <a:spcBef>
                  <a:spcPct val="0"/>
                </a:spcBef>
                <a:buClrTx/>
                <a:buSzTx/>
                <a:buFontTx/>
                <a:buNone/>
              </a:pPr>
              <a:t>79</a:t>
            </a:fld>
            <a:endParaRPr lang="en-CA" altLang="en-US" sz="1400" smtClean="0">
              <a:solidFill>
                <a:srgbClr val="990033"/>
              </a:solidFill>
            </a:endParaRPr>
          </a:p>
        </p:txBody>
      </p:sp>
      <p:sp>
        <p:nvSpPr>
          <p:cNvPr id="149507" name="Rectangle 6"/>
          <p:cNvSpPr>
            <a:spLocks noGrp="1" noChangeArrowheads="1"/>
          </p:cNvSpPr>
          <p:nvPr>
            <p:ph type="title"/>
          </p:nvPr>
        </p:nvSpPr>
        <p:spPr/>
        <p:txBody>
          <a:bodyPr/>
          <a:lstStyle/>
          <a:p>
            <a:pPr eaLnBrk="1" hangingPunct="1"/>
            <a:r>
              <a:rPr lang="en-US" altLang="en-US" smtClean="0"/>
              <a:t>SUBSTRING COMPARISON</a:t>
            </a:r>
          </a:p>
        </p:txBody>
      </p:sp>
      <p:sp>
        <p:nvSpPr>
          <p:cNvPr id="149508" name="Rectangle 7"/>
          <p:cNvSpPr>
            <a:spLocks noGrp="1" noChangeArrowheads="1"/>
          </p:cNvSpPr>
          <p:nvPr>
            <p:ph type="body" idx="1"/>
          </p:nvPr>
        </p:nvSpPr>
        <p:spPr/>
        <p:txBody>
          <a:bodyPr/>
          <a:lstStyle/>
          <a:p>
            <a:pPr eaLnBrk="1" hangingPunct="1"/>
            <a:r>
              <a:rPr lang="en-US" altLang="en-US" smtClean="0"/>
              <a:t>The </a:t>
            </a:r>
            <a:r>
              <a:rPr lang="en-US" altLang="en-US" b="1" smtClean="0"/>
              <a:t>LIKE</a:t>
            </a:r>
            <a:r>
              <a:rPr lang="en-US" altLang="en-US" smtClean="0"/>
              <a:t> comparison operator is used to compare partial strings</a:t>
            </a:r>
          </a:p>
          <a:p>
            <a:pPr eaLnBrk="1" hangingPunct="1"/>
            <a:r>
              <a:rPr lang="en-US" altLang="en-US" smtClean="0"/>
              <a:t>Two reserved characters are used: '</a:t>
            </a:r>
            <a:r>
              <a:rPr lang="en-US" altLang="en-US" b="1" smtClean="0"/>
              <a:t>%</a:t>
            </a:r>
            <a:r>
              <a:rPr lang="en-US" altLang="en-US" smtClean="0"/>
              <a:t>' (or '</a:t>
            </a:r>
            <a:r>
              <a:rPr lang="en-US" altLang="en-US" b="1" smtClean="0"/>
              <a:t>*</a:t>
            </a:r>
            <a:r>
              <a:rPr lang="en-US" altLang="en-US" smtClean="0"/>
              <a:t>' in some implementations) replaces an arbitrary number of characters, and '</a:t>
            </a:r>
            <a:r>
              <a:rPr lang="en-US" altLang="en-US" b="1" smtClean="0"/>
              <a:t>_</a:t>
            </a:r>
            <a:r>
              <a:rPr lang="en-US" altLang="en-US" smtClean="0"/>
              <a:t>' replaces a single arbitrary character</a:t>
            </a:r>
          </a:p>
        </p:txBody>
      </p:sp>
    </p:spTree>
  </p:cSld>
  <p:clrMapOvr>
    <a:masterClrMapping/>
  </p:clrMapOvr>
  <p:transition spd="med"/>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935FC9E-04DB-415E-BF72-1458C2904337}" type="slidenum">
              <a:rPr lang="en-US" altLang="en-US" sz="1400" smtClean="0">
                <a:solidFill>
                  <a:srgbClr val="990033"/>
                </a:solidFill>
              </a:rPr>
              <a:pPr>
                <a:spcBef>
                  <a:spcPct val="0"/>
                </a:spcBef>
                <a:buClrTx/>
                <a:buSzTx/>
                <a:buFontTx/>
                <a:buNone/>
              </a:pPr>
              <a:t>80</a:t>
            </a:fld>
            <a:endParaRPr lang="en-CA" altLang="en-US" sz="1400" smtClean="0">
              <a:solidFill>
                <a:srgbClr val="990033"/>
              </a:solidFill>
            </a:endParaRPr>
          </a:p>
        </p:txBody>
      </p:sp>
      <p:sp>
        <p:nvSpPr>
          <p:cNvPr id="151555" name="Rectangle 6"/>
          <p:cNvSpPr>
            <a:spLocks noGrp="1" noChangeArrowheads="1"/>
          </p:cNvSpPr>
          <p:nvPr>
            <p:ph type="title"/>
          </p:nvPr>
        </p:nvSpPr>
        <p:spPr/>
        <p:txBody>
          <a:bodyPr/>
          <a:lstStyle/>
          <a:p>
            <a:pPr eaLnBrk="1" hangingPunct="1"/>
            <a:r>
              <a:rPr lang="en-US" altLang="en-US" smtClean="0"/>
              <a:t>SUBSTRING COMPARISON (contd.)</a:t>
            </a:r>
          </a:p>
        </p:txBody>
      </p:sp>
      <p:sp>
        <p:nvSpPr>
          <p:cNvPr id="151556" name="Rectangle 7"/>
          <p:cNvSpPr>
            <a:spLocks noGrp="1" noChangeArrowheads="1"/>
          </p:cNvSpPr>
          <p:nvPr>
            <p:ph type="body" idx="1"/>
          </p:nvPr>
        </p:nvSpPr>
        <p:spPr/>
        <p:txBody>
          <a:bodyPr/>
          <a:lstStyle/>
          <a:p>
            <a:pPr eaLnBrk="1" hangingPunct="1"/>
            <a:r>
              <a:rPr lang="en-US" altLang="en-US" smtClean="0"/>
              <a:t>Query 25:  Retrieve all employees whose address is in Houston, Texas. Here, the value of the ADDRESS attribute must contain the substring 'Houston,TX‘ in it.</a:t>
            </a:r>
          </a:p>
          <a:p>
            <a:pPr lvl="1" eaLnBrk="1" hangingPunct="1">
              <a:buFont typeface="Wingdings" panose="05000000000000000000" pitchFamily="2" charset="2"/>
              <a:buNone/>
            </a:pPr>
            <a:r>
              <a:rPr lang="en-US" altLang="en-US" smtClean="0"/>
              <a:t>Q25:	SELECT 	FNAME, LNAME</a:t>
            </a:r>
            <a:br>
              <a:rPr lang="en-US" altLang="en-US" smtClean="0"/>
            </a:br>
            <a:r>
              <a:rPr lang="en-US" altLang="en-US" smtClean="0"/>
              <a:t>		FROM	EMPLOYEE</a:t>
            </a:r>
            <a:br>
              <a:rPr lang="en-US" altLang="en-US" smtClean="0"/>
            </a:br>
            <a:r>
              <a:rPr lang="en-US" altLang="en-US" smtClean="0"/>
              <a:t>		WHERE	ADDRESS LIKE 						'%Houston,TX%'</a:t>
            </a:r>
          </a:p>
        </p:txBody>
      </p:sp>
    </p:spTree>
  </p:cSld>
  <p:clrMapOvr>
    <a:masterClrMapping/>
  </p:clrMapOvr>
  <p:transition spd="med"/>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941B8CC-0FA8-42E1-95D4-D0EBE5F738D0}" type="slidenum">
              <a:rPr lang="en-US" altLang="en-US" sz="1400" smtClean="0">
                <a:solidFill>
                  <a:srgbClr val="990033"/>
                </a:solidFill>
              </a:rPr>
              <a:pPr>
                <a:spcBef>
                  <a:spcPct val="0"/>
                </a:spcBef>
                <a:buClrTx/>
                <a:buSzTx/>
                <a:buFontTx/>
                <a:buNone/>
              </a:pPr>
              <a:t>81</a:t>
            </a:fld>
            <a:endParaRPr lang="en-CA" altLang="en-US" sz="1400" smtClean="0">
              <a:solidFill>
                <a:srgbClr val="990033"/>
              </a:solidFill>
            </a:endParaRPr>
          </a:p>
        </p:txBody>
      </p:sp>
      <p:sp>
        <p:nvSpPr>
          <p:cNvPr id="153603" name="Rectangle 6"/>
          <p:cNvSpPr>
            <a:spLocks noGrp="1" noChangeArrowheads="1"/>
          </p:cNvSpPr>
          <p:nvPr>
            <p:ph type="title"/>
          </p:nvPr>
        </p:nvSpPr>
        <p:spPr/>
        <p:txBody>
          <a:bodyPr/>
          <a:lstStyle/>
          <a:p>
            <a:pPr eaLnBrk="1" hangingPunct="1"/>
            <a:r>
              <a:rPr lang="en-US" altLang="en-US" smtClean="0"/>
              <a:t>SUBSTRING COMPARISON (contd.)</a:t>
            </a:r>
          </a:p>
        </p:txBody>
      </p:sp>
      <p:sp>
        <p:nvSpPr>
          <p:cNvPr id="153604" name="Rectangle 7"/>
          <p:cNvSpPr>
            <a:spLocks noGrp="1" noChangeArrowheads="1"/>
          </p:cNvSpPr>
          <p:nvPr>
            <p:ph type="body" idx="1"/>
          </p:nvPr>
        </p:nvSpPr>
        <p:spPr/>
        <p:txBody>
          <a:bodyPr/>
          <a:lstStyle/>
          <a:p>
            <a:pPr eaLnBrk="1" hangingPunct="1">
              <a:lnSpc>
                <a:spcPct val="80000"/>
              </a:lnSpc>
            </a:pPr>
            <a:r>
              <a:rPr lang="en-US" altLang="en-US" sz="2400" smtClean="0"/>
              <a:t>Query 26: Retrieve all employees who were born during the 1950s.</a:t>
            </a:r>
          </a:p>
          <a:p>
            <a:pPr lvl="1" eaLnBrk="1" hangingPunct="1">
              <a:lnSpc>
                <a:spcPct val="80000"/>
              </a:lnSpc>
            </a:pPr>
            <a:r>
              <a:rPr lang="en-US" altLang="en-US" sz="2200" smtClean="0"/>
              <a:t>Here, '5' must be the 8th character of the string (according to our format for date), so the BDATE value is '_______5_', with each underscore as a place holder for a single arbitrary character.</a:t>
            </a:r>
          </a:p>
          <a:p>
            <a:pPr lvl="1" eaLnBrk="1" hangingPunct="1">
              <a:lnSpc>
                <a:spcPct val="80000"/>
              </a:lnSpc>
              <a:buFont typeface="Wingdings" panose="05000000000000000000" pitchFamily="2" charset="2"/>
              <a:buNone/>
            </a:pPr>
            <a:r>
              <a:rPr lang="en-US" altLang="en-US" sz="2200" smtClean="0"/>
              <a:t>Q26:	SELECT 	FNAME, LNAME</a:t>
            </a:r>
            <a:br>
              <a:rPr lang="en-US" altLang="en-US" sz="2200" smtClean="0"/>
            </a:br>
            <a:r>
              <a:rPr lang="en-US" altLang="en-US" sz="2200" smtClean="0"/>
              <a:t>		FROM		EMPLOYEE</a:t>
            </a:r>
            <a:br>
              <a:rPr lang="en-US" altLang="en-US" sz="2200" smtClean="0"/>
            </a:br>
            <a:r>
              <a:rPr lang="en-US" altLang="en-US" sz="2200" smtClean="0"/>
              <a:t>		WHERE	BDATE LIKE	'_______5_’</a:t>
            </a:r>
            <a:br>
              <a:rPr lang="en-US" altLang="en-US" sz="2200" smtClean="0"/>
            </a:br>
            <a:endParaRPr lang="en-US" altLang="en-US" sz="2200" smtClean="0"/>
          </a:p>
          <a:p>
            <a:pPr eaLnBrk="1" hangingPunct="1">
              <a:lnSpc>
                <a:spcPct val="80000"/>
              </a:lnSpc>
            </a:pPr>
            <a:r>
              <a:rPr lang="en-US" altLang="en-US" sz="2400" smtClean="0"/>
              <a:t>The LIKE operator allows us to get around the fact that each value is considered atomic and indivisible</a:t>
            </a:r>
          </a:p>
          <a:p>
            <a:pPr lvl="1" eaLnBrk="1" hangingPunct="1">
              <a:lnSpc>
                <a:spcPct val="80000"/>
              </a:lnSpc>
            </a:pPr>
            <a:r>
              <a:rPr lang="en-US" altLang="en-US" sz="2200" smtClean="0"/>
              <a:t>Hence, in SQL, character string attribute values are not atomic</a:t>
            </a:r>
          </a:p>
        </p:txBody>
      </p:sp>
    </p:spTree>
  </p:cSld>
  <p:clrMapOvr>
    <a:masterClrMapping/>
  </p:clrMapOvr>
  <p:transition spd="med"/>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469E469E-D55A-41EF-BD09-47CC22C834A1}" type="slidenum">
              <a:rPr lang="en-US" altLang="en-US" sz="1400" smtClean="0">
                <a:solidFill>
                  <a:srgbClr val="990033"/>
                </a:solidFill>
              </a:rPr>
              <a:pPr>
                <a:spcBef>
                  <a:spcPct val="0"/>
                </a:spcBef>
                <a:buClrTx/>
                <a:buSzTx/>
                <a:buFontTx/>
                <a:buNone/>
              </a:pPr>
              <a:t>82</a:t>
            </a:fld>
            <a:endParaRPr lang="en-CA" altLang="en-US" sz="1400" smtClean="0">
              <a:solidFill>
                <a:srgbClr val="990033"/>
              </a:solidFill>
            </a:endParaRPr>
          </a:p>
        </p:txBody>
      </p:sp>
      <p:sp>
        <p:nvSpPr>
          <p:cNvPr id="155651" name="Rectangle 6"/>
          <p:cNvSpPr>
            <a:spLocks noGrp="1" noChangeArrowheads="1"/>
          </p:cNvSpPr>
          <p:nvPr>
            <p:ph type="title"/>
          </p:nvPr>
        </p:nvSpPr>
        <p:spPr/>
        <p:txBody>
          <a:bodyPr/>
          <a:lstStyle/>
          <a:p>
            <a:pPr eaLnBrk="1" hangingPunct="1"/>
            <a:r>
              <a:rPr lang="en-US" altLang="en-US" smtClean="0"/>
              <a:t>ARITHMETIC OPERATIONS</a:t>
            </a:r>
          </a:p>
        </p:txBody>
      </p:sp>
      <p:sp>
        <p:nvSpPr>
          <p:cNvPr id="155652" name="Rectangle 7"/>
          <p:cNvSpPr>
            <a:spLocks noGrp="1" noChangeArrowheads="1"/>
          </p:cNvSpPr>
          <p:nvPr>
            <p:ph type="body" idx="1"/>
          </p:nvPr>
        </p:nvSpPr>
        <p:spPr/>
        <p:txBody>
          <a:bodyPr/>
          <a:lstStyle/>
          <a:p>
            <a:pPr eaLnBrk="1" hangingPunct="1"/>
            <a:r>
              <a:rPr lang="en-US" altLang="en-US" sz="2400" smtClean="0"/>
              <a:t>The standard arithmetic operators </a:t>
            </a:r>
            <a:r>
              <a:rPr lang="en-US" altLang="en-US" sz="2400" b="1" smtClean="0"/>
              <a:t>'+', '-'. '*', and '/'</a:t>
            </a:r>
            <a:r>
              <a:rPr lang="en-US" altLang="en-US" sz="2400" smtClean="0"/>
              <a:t> (for addition, subtraction, multiplication, and division, respectively) can be applied to numeric values in an SQL query result</a:t>
            </a:r>
          </a:p>
          <a:p>
            <a:pPr eaLnBrk="1" hangingPunct="1"/>
            <a:r>
              <a:rPr lang="en-US" altLang="en-US" sz="2400" smtClean="0"/>
              <a:t>Query 27: Show the effect of giving all employees who work on the 'ProductX' project a 10% raise.</a:t>
            </a:r>
          </a:p>
          <a:p>
            <a:pPr lvl="1" eaLnBrk="1" hangingPunct="1">
              <a:buFont typeface="Wingdings" panose="05000000000000000000" pitchFamily="2" charset="2"/>
              <a:buNone/>
            </a:pPr>
            <a:r>
              <a:rPr lang="en-US" altLang="en-US" sz="2200" smtClean="0"/>
              <a:t>Q27:	SELECT 	FNAME, LNAME, 1.1*SALARY</a:t>
            </a:r>
            <a:br>
              <a:rPr lang="en-US" altLang="en-US" sz="2200" smtClean="0"/>
            </a:br>
            <a:r>
              <a:rPr lang="en-US" altLang="en-US" sz="2200" smtClean="0"/>
              <a:t>		FROM		EMPLOYEE, WORKS_ON, 					PROJECT</a:t>
            </a:r>
            <a:br>
              <a:rPr lang="en-US" altLang="en-US" sz="2200" smtClean="0"/>
            </a:br>
            <a:r>
              <a:rPr lang="en-US" altLang="en-US" sz="2200" smtClean="0"/>
              <a:t>		WHERE	SSN=ESSN AND PNO=PNUMBER 					AND PNAME='ProductX’</a:t>
            </a:r>
          </a:p>
        </p:txBody>
      </p:sp>
    </p:spTree>
  </p:cSld>
  <p:clrMapOvr>
    <a:masterClrMapping/>
  </p:clrMapOvr>
  <p:transition spd="med"/>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BA186FB2-E1BA-4D5B-9321-58E5A7AE0790}" type="slidenum">
              <a:rPr lang="en-US" altLang="en-US" sz="1400" smtClean="0">
                <a:solidFill>
                  <a:srgbClr val="990033"/>
                </a:solidFill>
              </a:rPr>
              <a:pPr>
                <a:spcBef>
                  <a:spcPct val="0"/>
                </a:spcBef>
                <a:buClrTx/>
                <a:buSzTx/>
                <a:buFontTx/>
                <a:buNone/>
              </a:pPr>
              <a:t>83</a:t>
            </a:fld>
            <a:endParaRPr lang="en-CA" altLang="en-US" sz="1400" smtClean="0">
              <a:solidFill>
                <a:srgbClr val="990033"/>
              </a:solidFill>
            </a:endParaRPr>
          </a:p>
        </p:txBody>
      </p:sp>
      <p:sp>
        <p:nvSpPr>
          <p:cNvPr id="157699" name="Rectangle 6"/>
          <p:cNvSpPr>
            <a:spLocks noGrp="1" noChangeArrowheads="1"/>
          </p:cNvSpPr>
          <p:nvPr>
            <p:ph type="title"/>
          </p:nvPr>
        </p:nvSpPr>
        <p:spPr/>
        <p:txBody>
          <a:bodyPr/>
          <a:lstStyle/>
          <a:p>
            <a:pPr eaLnBrk="1" hangingPunct="1"/>
            <a:r>
              <a:rPr lang="en-US" altLang="en-US" smtClean="0"/>
              <a:t>ORDER BY</a:t>
            </a:r>
          </a:p>
        </p:txBody>
      </p:sp>
      <p:sp>
        <p:nvSpPr>
          <p:cNvPr id="157700" name="Rectangle 7"/>
          <p:cNvSpPr>
            <a:spLocks noGrp="1" noChangeArrowheads="1"/>
          </p:cNvSpPr>
          <p:nvPr>
            <p:ph type="body" idx="1"/>
          </p:nvPr>
        </p:nvSpPr>
        <p:spPr/>
        <p:txBody>
          <a:bodyPr/>
          <a:lstStyle/>
          <a:p>
            <a:pPr eaLnBrk="1" hangingPunct="1"/>
            <a:r>
              <a:rPr lang="en-US" altLang="en-US" sz="2400" smtClean="0"/>
              <a:t>The </a:t>
            </a:r>
            <a:r>
              <a:rPr lang="en-US" altLang="en-US" sz="2400" b="1" smtClean="0"/>
              <a:t>ORDER BY</a:t>
            </a:r>
            <a:r>
              <a:rPr lang="en-US" altLang="en-US" sz="2400" smtClean="0"/>
              <a:t> clause is used to sort the tuples in a query result based on the values of some attribute(s)</a:t>
            </a:r>
          </a:p>
          <a:p>
            <a:pPr eaLnBrk="1" hangingPunct="1"/>
            <a:r>
              <a:rPr lang="en-US" altLang="en-US" sz="2400" smtClean="0"/>
              <a:t>Query 28: Retrieve a list of employees and the projects each works in, ordered by the employee's department, and within each department ordered alphabetically by employee last name.</a:t>
            </a:r>
          </a:p>
          <a:p>
            <a:pPr lvl="1" eaLnBrk="1" hangingPunct="1">
              <a:buFont typeface="Wingdings" panose="05000000000000000000" pitchFamily="2" charset="2"/>
              <a:buNone/>
            </a:pPr>
            <a:r>
              <a:rPr lang="en-US" altLang="en-US" sz="2200" smtClean="0"/>
              <a:t>Q28: 	SELECT 	DNAME, LNAME, FNAME, PNAME</a:t>
            </a:r>
            <a:br>
              <a:rPr lang="en-US" altLang="en-US" sz="2200" smtClean="0"/>
            </a:br>
            <a:r>
              <a:rPr lang="en-US" altLang="en-US" sz="2200" smtClean="0"/>
              <a:t>      	FROM 		DEPARTMENT, EMPLOYEE, 					WORKS_ON, PROJECT</a:t>
            </a:r>
            <a:br>
              <a:rPr lang="en-US" altLang="en-US" sz="2200" smtClean="0"/>
            </a:br>
            <a:r>
              <a:rPr lang="en-US" altLang="en-US" sz="2200" smtClean="0"/>
              <a:t>		WHERE	DNUMBER=DNO AND SSN=ESSN 					AND PNO=PNUMBER</a:t>
            </a:r>
            <a:br>
              <a:rPr lang="en-US" altLang="en-US" sz="2200" smtClean="0"/>
            </a:br>
            <a:r>
              <a:rPr lang="en-US" altLang="en-US" sz="2200" smtClean="0"/>
              <a:t>		ORDER BY	DNAME, LNAME</a:t>
            </a:r>
          </a:p>
        </p:txBody>
      </p:sp>
    </p:spTree>
  </p:cSld>
  <p:clrMapOvr>
    <a:masterClrMapping/>
  </p:clrMapOvr>
  <p:transition spd="med"/>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0EA3FD0-5697-46E5-85A2-6C355046F5EA}" type="slidenum">
              <a:rPr lang="en-US" altLang="en-US" sz="1400" smtClean="0">
                <a:solidFill>
                  <a:srgbClr val="990033"/>
                </a:solidFill>
              </a:rPr>
              <a:pPr>
                <a:spcBef>
                  <a:spcPct val="0"/>
                </a:spcBef>
                <a:buClrTx/>
                <a:buSzTx/>
                <a:buFontTx/>
                <a:buNone/>
              </a:pPr>
              <a:t>84</a:t>
            </a:fld>
            <a:endParaRPr lang="en-CA" altLang="en-US" sz="1400" smtClean="0">
              <a:solidFill>
                <a:srgbClr val="990033"/>
              </a:solidFill>
            </a:endParaRPr>
          </a:p>
        </p:txBody>
      </p:sp>
      <p:sp>
        <p:nvSpPr>
          <p:cNvPr id="159747" name="Rectangle 6"/>
          <p:cNvSpPr>
            <a:spLocks noGrp="1" noChangeArrowheads="1"/>
          </p:cNvSpPr>
          <p:nvPr>
            <p:ph type="title"/>
          </p:nvPr>
        </p:nvSpPr>
        <p:spPr/>
        <p:txBody>
          <a:bodyPr/>
          <a:lstStyle/>
          <a:p>
            <a:pPr eaLnBrk="1" hangingPunct="1"/>
            <a:r>
              <a:rPr lang="en-US" altLang="en-US" smtClean="0"/>
              <a:t>ORDER BY (contd.)</a:t>
            </a:r>
          </a:p>
        </p:txBody>
      </p:sp>
      <p:sp>
        <p:nvSpPr>
          <p:cNvPr id="159748" name="Rectangle 7"/>
          <p:cNvSpPr>
            <a:spLocks noGrp="1" noChangeArrowheads="1"/>
          </p:cNvSpPr>
          <p:nvPr>
            <p:ph type="body" idx="1"/>
          </p:nvPr>
        </p:nvSpPr>
        <p:spPr/>
        <p:txBody>
          <a:bodyPr/>
          <a:lstStyle/>
          <a:p>
            <a:pPr eaLnBrk="1" hangingPunct="1"/>
            <a:r>
              <a:rPr lang="en-US" altLang="en-US" smtClean="0"/>
              <a:t>The default order is in ascending order of values</a:t>
            </a:r>
          </a:p>
          <a:p>
            <a:pPr eaLnBrk="1" hangingPunct="1"/>
            <a:r>
              <a:rPr lang="en-US" altLang="en-US" smtClean="0"/>
              <a:t>We can specify the keyword </a:t>
            </a:r>
            <a:r>
              <a:rPr lang="en-US" altLang="en-US" b="1" smtClean="0"/>
              <a:t>DESC</a:t>
            </a:r>
            <a:r>
              <a:rPr lang="en-US" altLang="en-US" smtClean="0"/>
              <a:t> if we want a descending order; the keyword </a:t>
            </a:r>
            <a:r>
              <a:rPr lang="en-US" altLang="en-US" b="1" smtClean="0"/>
              <a:t>ASC</a:t>
            </a:r>
            <a:r>
              <a:rPr lang="en-US" altLang="en-US" smtClean="0"/>
              <a:t> can be used to explicitly specify ascending order, even though it is the default</a:t>
            </a:r>
          </a:p>
        </p:txBody>
      </p:sp>
    </p:spTree>
  </p:cSld>
  <p:clrMapOvr>
    <a:masterClrMapping/>
  </p:clrMapOvr>
  <p:transition spd="med"/>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B12628DD-0FBE-4E19-9C76-345A1E6855FE}" type="slidenum">
              <a:rPr lang="en-US" altLang="en-US" sz="1400" smtClean="0">
                <a:solidFill>
                  <a:srgbClr val="990033"/>
                </a:solidFill>
              </a:rPr>
              <a:pPr>
                <a:spcBef>
                  <a:spcPct val="0"/>
                </a:spcBef>
                <a:buClrTx/>
                <a:buSzTx/>
                <a:buFontTx/>
                <a:buNone/>
              </a:pPr>
              <a:t>85</a:t>
            </a:fld>
            <a:endParaRPr lang="en-CA" altLang="en-US" sz="1400" smtClean="0">
              <a:solidFill>
                <a:srgbClr val="990033"/>
              </a:solidFill>
            </a:endParaRPr>
          </a:p>
        </p:txBody>
      </p:sp>
      <p:sp>
        <p:nvSpPr>
          <p:cNvPr id="161795" name="Rectangle 6"/>
          <p:cNvSpPr>
            <a:spLocks noGrp="1" noChangeArrowheads="1"/>
          </p:cNvSpPr>
          <p:nvPr>
            <p:ph type="title"/>
          </p:nvPr>
        </p:nvSpPr>
        <p:spPr/>
        <p:txBody>
          <a:bodyPr/>
          <a:lstStyle/>
          <a:p>
            <a:pPr eaLnBrk="1" hangingPunct="1"/>
            <a:r>
              <a:rPr lang="en-US" altLang="en-US" smtClean="0"/>
              <a:t>Summary of SQL Queries</a:t>
            </a:r>
          </a:p>
        </p:txBody>
      </p:sp>
      <p:sp>
        <p:nvSpPr>
          <p:cNvPr id="161796" name="Rectangle 7"/>
          <p:cNvSpPr>
            <a:spLocks noGrp="1" noChangeArrowheads="1"/>
          </p:cNvSpPr>
          <p:nvPr>
            <p:ph type="body" idx="1"/>
          </p:nvPr>
        </p:nvSpPr>
        <p:spPr/>
        <p:txBody>
          <a:bodyPr/>
          <a:lstStyle/>
          <a:p>
            <a:pPr eaLnBrk="1" hangingPunct="1">
              <a:lnSpc>
                <a:spcPct val="90000"/>
              </a:lnSpc>
            </a:pPr>
            <a:r>
              <a:rPr lang="en-US" altLang="en-US" smtClean="0"/>
              <a:t>A query in SQL can consist of up to six clauses, but only the first two, SELECT and FROM, are mandatory. The clauses are specified in the following order:</a:t>
            </a:r>
            <a:br>
              <a:rPr lang="en-US" altLang="en-US" smtClean="0"/>
            </a:br>
            <a:r>
              <a:rPr lang="en-US" altLang="en-US" smtClean="0"/>
              <a:t/>
            </a:r>
            <a:br>
              <a:rPr lang="en-US" altLang="en-US" smtClean="0"/>
            </a:br>
            <a:r>
              <a:rPr lang="en-US" altLang="en-US" b="1" smtClean="0"/>
              <a:t>SELECT		</a:t>
            </a:r>
            <a:r>
              <a:rPr lang="en-US" altLang="en-US" smtClean="0"/>
              <a:t>&lt;attribute list&gt;</a:t>
            </a:r>
            <a:br>
              <a:rPr lang="en-US" altLang="en-US" smtClean="0"/>
            </a:br>
            <a:r>
              <a:rPr lang="en-US" altLang="en-US" b="1" smtClean="0"/>
              <a:t>FROM</a:t>
            </a:r>
            <a:r>
              <a:rPr lang="en-US" altLang="en-US" smtClean="0"/>
              <a:t>		&lt;table list&gt;</a:t>
            </a:r>
            <a:br>
              <a:rPr lang="en-US" altLang="en-US" smtClean="0"/>
            </a:br>
            <a:r>
              <a:rPr lang="en-US" altLang="en-US" smtClean="0"/>
              <a:t>[</a:t>
            </a:r>
            <a:r>
              <a:rPr lang="en-US" altLang="en-US" b="1" smtClean="0"/>
              <a:t>WHERE</a:t>
            </a:r>
            <a:r>
              <a:rPr lang="en-US" altLang="en-US" smtClean="0"/>
              <a:t>		&lt;condition&gt;]</a:t>
            </a:r>
            <a:br>
              <a:rPr lang="en-US" altLang="en-US" smtClean="0"/>
            </a:br>
            <a:r>
              <a:rPr lang="en-US" altLang="en-US" smtClean="0"/>
              <a:t>[</a:t>
            </a:r>
            <a:r>
              <a:rPr lang="en-US" altLang="en-US" b="1" smtClean="0"/>
              <a:t>GROUP</a:t>
            </a:r>
            <a:r>
              <a:rPr lang="en-US" altLang="en-US" smtClean="0"/>
              <a:t> </a:t>
            </a:r>
            <a:r>
              <a:rPr lang="en-US" altLang="en-US" b="1" smtClean="0"/>
              <a:t>BY</a:t>
            </a:r>
            <a:r>
              <a:rPr lang="en-US" altLang="en-US" smtClean="0"/>
              <a:t> 	&lt;grouping attribute(s)&gt;]</a:t>
            </a:r>
            <a:br>
              <a:rPr lang="en-US" altLang="en-US" smtClean="0"/>
            </a:br>
            <a:r>
              <a:rPr lang="en-US" altLang="en-US" smtClean="0"/>
              <a:t>[</a:t>
            </a:r>
            <a:r>
              <a:rPr lang="en-US" altLang="en-US" b="1" smtClean="0"/>
              <a:t>HAVING</a:t>
            </a:r>
            <a:r>
              <a:rPr lang="en-US" altLang="en-US" smtClean="0"/>
              <a:t>		&lt;group condition&gt;]</a:t>
            </a:r>
            <a:br>
              <a:rPr lang="en-US" altLang="en-US" smtClean="0"/>
            </a:br>
            <a:r>
              <a:rPr lang="en-US" altLang="en-US" smtClean="0"/>
              <a:t>[</a:t>
            </a:r>
            <a:r>
              <a:rPr lang="en-US" altLang="en-US" b="1" smtClean="0"/>
              <a:t>ORDER BY</a:t>
            </a:r>
            <a:r>
              <a:rPr lang="en-US" altLang="en-US" smtClean="0"/>
              <a:t> 	&lt;attribute list&gt;]</a:t>
            </a:r>
          </a:p>
        </p:txBody>
      </p:sp>
    </p:spTree>
  </p:cSld>
  <p:clrMapOvr>
    <a:masterClrMapping/>
  </p:clrMapOvr>
  <p:transition spd="med"/>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723E214C-3878-4976-8715-6C2D5EE99452}" type="slidenum">
              <a:rPr lang="en-US" altLang="en-US" sz="1400" smtClean="0">
                <a:solidFill>
                  <a:srgbClr val="990033"/>
                </a:solidFill>
              </a:rPr>
              <a:pPr>
                <a:spcBef>
                  <a:spcPct val="0"/>
                </a:spcBef>
                <a:buClrTx/>
                <a:buSzTx/>
                <a:buFontTx/>
                <a:buNone/>
              </a:pPr>
              <a:t>86</a:t>
            </a:fld>
            <a:endParaRPr lang="en-CA" altLang="en-US" sz="1400" smtClean="0">
              <a:solidFill>
                <a:srgbClr val="990033"/>
              </a:solidFill>
            </a:endParaRPr>
          </a:p>
        </p:txBody>
      </p:sp>
      <p:sp>
        <p:nvSpPr>
          <p:cNvPr id="163843" name="Rectangle 6"/>
          <p:cNvSpPr>
            <a:spLocks noGrp="1" noChangeArrowheads="1"/>
          </p:cNvSpPr>
          <p:nvPr>
            <p:ph type="title"/>
          </p:nvPr>
        </p:nvSpPr>
        <p:spPr/>
        <p:txBody>
          <a:bodyPr/>
          <a:lstStyle/>
          <a:p>
            <a:pPr eaLnBrk="1" hangingPunct="1"/>
            <a:r>
              <a:rPr lang="en-US" altLang="en-US" smtClean="0"/>
              <a:t>Summary of SQL Queries (contd.)</a:t>
            </a:r>
          </a:p>
        </p:txBody>
      </p:sp>
      <p:sp>
        <p:nvSpPr>
          <p:cNvPr id="163844" name="Rectangle 7"/>
          <p:cNvSpPr>
            <a:spLocks noGrp="1" noChangeArrowheads="1"/>
          </p:cNvSpPr>
          <p:nvPr>
            <p:ph type="body" idx="1"/>
          </p:nvPr>
        </p:nvSpPr>
        <p:spPr/>
        <p:txBody>
          <a:bodyPr/>
          <a:lstStyle/>
          <a:p>
            <a:pPr eaLnBrk="1" hangingPunct="1">
              <a:lnSpc>
                <a:spcPct val="90000"/>
              </a:lnSpc>
            </a:pPr>
            <a:r>
              <a:rPr lang="en-US" altLang="en-US" sz="2000" smtClean="0"/>
              <a:t>The SELECT-clause lists the attributes or functions to be retrieved</a:t>
            </a:r>
          </a:p>
          <a:p>
            <a:pPr eaLnBrk="1" hangingPunct="1">
              <a:lnSpc>
                <a:spcPct val="90000"/>
              </a:lnSpc>
            </a:pPr>
            <a:r>
              <a:rPr lang="en-US" altLang="en-US" sz="2000" smtClean="0"/>
              <a:t>The FROM-clause specifies all relations (or aliases) needed in the query but not those needed in nested queries</a:t>
            </a:r>
          </a:p>
          <a:p>
            <a:pPr eaLnBrk="1" hangingPunct="1">
              <a:lnSpc>
                <a:spcPct val="90000"/>
              </a:lnSpc>
            </a:pPr>
            <a:r>
              <a:rPr lang="en-US" altLang="en-US" sz="2000" smtClean="0"/>
              <a:t>The WHERE-clause specifies the conditions for selection and join of tuples from the relations specified in the FROM-clause</a:t>
            </a:r>
          </a:p>
          <a:p>
            <a:pPr eaLnBrk="1" hangingPunct="1">
              <a:lnSpc>
                <a:spcPct val="90000"/>
              </a:lnSpc>
            </a:pPr>
            <a:r>
              <a:rPr lang="en-US" altLang="en-US" sz="2000" smtClean="0"/>
              <a:t>GROUP BY specifies grouping attributes</a:t>
            </a:r>
          </a:p>
          <a:p>
            <a:pPr eaLnBrk="1" hangingPunct="1">
              <a:lnSpc>
                <a:spcPct val="90000"/>
              </a:lnSpc>
            </a:pPr>
            <a:r>
              <a:rPr lang="en-US" altLang="en-US" sz="2000" smtClean="0"/>
              <a:t>HAVING specifies a condition for selection of groups</a:t>
            </a:r>
          </a:p>
          <a:p>
            <a:pPr eaLnBrk="1" hangingPunct="1">
              <a:lnSpc>
                <a:spcPct val="90000"/>
              </a:lnSpc>
            </a:pPr>
            <a:r>
              <a:rPr lang="en-US" altLang="en-US" sz="2000" smtClean="0"/>
              <a:t>ORDER BY specifies an order for displaying the result of a query</a:t>
            </a:r>
          </a:p>
          <a:p>
            <a:pPr lvl="1" eaLnBrk="1" hangingPunct="1">
              <a:lnSpc>
                <a:spcPct val="90000"/>
              </a:lnSpc>
            </a:pPr>
            <a:r>
              <a:rPr lang="en-US" altLang="en-US" sz="2000" smtClean="0"/>
              <a:t>A query is evaluated by first applying the WHERE-clause, then GROUP BY and HAVING, and finally the SELECT-clause</a:t>
            </a:r>
          </a:p>
        </p:txBody>
      </p:sp>
    </p:spTree>
  </p:cSld>
  <p:clrMapOvr>
    <a:masterClrMapping/>
  </p:clrMapOvr>
  <p:transition spd="med"/>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23D8557-361A-4990-BE6F-F6BABF87508C}" type="slidenum">
              <a:rPr lang="en-US" altLang="en-US" sz="1400" smtClean="0">
                <a:solidFill>
                  <a:srgbClr val="990033"/>
                </a:solidFill>
              </a:rPr>
              <a:pPr>
                <a:spcBef>
                  <a:spcPct val="0"/>
                </a:spcBef>
                <a:buClrTx/>
                <a:buSzTx/>
                <a:buFontTx/>
                <a:buNone/>
              </a:pPr>
              <a:t>87</a:t>
            </a:fld>
            <a:endParaRPr lang="en-CA" altLang="en-US" sz="1400" smtClean="0">
              <a:solidFill>
                <a:srgbClr val="990033"/>
              </a:solidFill>
            </a:endParaRPr>
          </a:p>
        </p:txBody>
      </p:sp>
      <p:sp>
        <p:nvSpPr>
          <p:cNvPr id="165891" name="Rectangle 6"/>
          <p:cNvSpPr>
            <a:spLocks noGrp="1" noChangeArrowheads="1"/>
          </p:cNvSpPr>
          <p:nvPr>
            <p:ph type="title"/>
          </p:nvPr>
        </p:nvSpPr>
        <p:spPr/>
        <p:txBody>
          <a:bodyPr/>
          <a:lstStyle/>
          <a:p>
            <a:pPr eaLnBrk="1" hangingPunct="1"/>
            <a:r>
              <a:rPr lang="en-US" altLang="en-US" smtClean="0"/>
              <a:t>Specifying Updates in SQL</a:t>
            </a:r>
          </a:p>
        </p:txBody>
      </p:sp>
      <p:sp>
        <p:nvSpPr>
          <p:cNvPr id="165892" name="Rectangle 7"/>
          <p:cNvSpPr>
            <a:spLocks noGrp="1" noChangeArrowheads="1"/>
          </p:cNvSpPr>
          <p:nvPr>
            <p:ph type="body" idx="1"/>
          </p:nvPr>
        </p:nvSpPr>
        <p:spPr/>
        <p:txBody>
          <a:bodyPr/>
          <a:lstStyle/>
          <a:p>
            <a:pPr eaLnBrk="1" hangingPunct="1"/>
            <a:r>
              <a:rPr lang="en-US" altLang="en-US" smtClean="0"/>
              <a:t>There are three SQL commands to modify the database: </a:t>
            </a:r>
            <a:r>
              <a:rPr lang="en-US" altLang="en-US" b="1" smtClean="0"/>
              <a:t>INSERT</a:t>
            </a:r>
            <a:r>
              <a:rPr lang="en-US" altLang="en-US" smtClean="0"/>
              <a:t>, </a:t>
            </a:r>
            <a:r>
              <a:rPr lang="en-US" altLang="en-US" b="1" smtClean="0"/>
              <a:t>DELETE</a:t>
            </a:r>
            <a:r>
              <a:rPr lang="en-US" altLang="en-US" smtClean="0"/>
              <a:t>, and </a:t>
            </a:r>
            <a:r>
              <a:rPr lang="en-US" altLang="en-US" b="1" smtClean="0"/>
              <a:t>UPDATE</a:t>
            </a:r>
          </a:p>
        </p:txBody>
      </p:sp>
    </p:spTree>
  </p:cSld>
  <p:clrMapOvr>
    <a:masterClrMapping/>
  </p:clrMapOvr>
  <p:transition spd="med"/>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FE8A932-68CB-4E78-AE20-6DF05628515D}" type="slidenum">
              <a:rPr lang="en-US" altLang="en-US" sz="1400" smtClean="0">
                <a:solidFill>
                  <a:srgbClr val="990033"/>
                </a:solidFill>
              </a:rPr>
              <a:pPr>
                <a:spcBef>
                  <a:spcPct val="0"/>
                </a:spcBef>
                <a:buClrTx/>
                <a:buSzTx/>
                <a:buFontTx/>
                <a:buNone/>
              </a:pPr>
              <a:t>88</a:t>
            </a:fld>
            <a:endParaRPr lang="en-CA" altLang="en-US" sz="1400" smtClean="0">
              <a:solidFill>
                <a:srgbClr val="990033"/>
              </a:solidFill>
            </a:endParaRPr>
          </a:p>
        </p:txBody>
      </p:sp>
      <p:sp>
        <p:nvSpPr>
          <p:cNvPr id="167939" name="Rectangle 6"/>
          <p:cNvSpPr>
            <a:spLocks noGrp="1" noChangeArrowheads="1"/>
          </p:cNvSpPr>
          <p:nvPr>
            <p:ph type="title"/>
          </p:nvPr>
        </p:nvSpPr>
        <p:spPr/>
        <p:txBody>
          <a:bodyPr/>
          <a:lstStyle/>
          <a:p>
            <a:pPr eaLnBrk="1" hangingPunct="1"/>
            <a:r>
              <a:rPr lang="en-US" altLang="en-US" smtClean="0"/>
              <a:t>INSERT</a:t>
            </a:r>
          </a:p>
        </p:txBody>
      </p:sp>
      <p:sp>
        <p:nvSpPr>
          <p:cNvPr id="167940" name="Rectangle 7"/>
          <p:cNvSpPr>
            <a:spLocks noGrp="1" noChangeArrowheads="1"/>
          </p:cNvSpPr>
          <p:nvPr>
            <p:ph type="body" idx="1"/>
          </p:nvPr>
        </p:nvSpPr>
        <p:spPr/>
        <p:txBody>
          <a:bodyPr/>
          <a:lstStyle/>
          <a:p>
            <a:pPr eaLnBrk="1" hangingPunct="1"/>
            <a:r>
              <a:rPr lang="en-US" altLang="en-US" smtClean="0"/>
              <a:t>In its simplest form, it is used to add one or more tuples to a relation</a:t>
            </a:r>
          </a:p>
          <a:p>
            <a:pPr eaLnBrk="1" hangingPunct="1"/>
            <a:r>
              <a:rPr lang="en-US" altLang="en-US" smtClean="0"/>
              <a:t>Attribute values should be listed in the same order as the attributes were specified in the </a:t>
            </a:r>
            <a:r>
              <a:rPr lang="en-US" altLang="en-US" b="1" smtClean="0"/>
              <a:t>CREATE TABLE</a:t>
            </a:r>
            <a:r>
              <a:rPr lang="en-US" altLang="en-US" smtClean="0"/>
              <a:t> command</a:t>
            </a:r>
          </a:p>
        </p:txBody>
      </p:sp>
    </p:spTree>
  </p:cSld>
  <p:clrMapOvr>
    <a:masterClrMapping/>
  </p:clrMapOvr>
  <p:transition spd="med"/>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2BD19EA4-42C5-4B8D-921B-C3A076C6A26B}" type="slidenum">
              <a:rPr lang="en-US" altLang="en-US" sz="1400" smtClean="0">
                <a:solidFill>
                  <a:srgbClr val="990033"/>
                </a:solidFill>
              </a:rPr>
              <a:pPr>
                <a:spcBef>
                  <a:spcPct val="0"/>
                </a:spcBef>
                <a:buClrTx/>
                <a:buSzTx/>
                <a:buFontTx/>
                <a:buNone/>
              </a:pPr>
              <a:t>89</a:t>
            </a:fld>
            <a:endParaRPr lang="en-CA" altLang="en-US" sz="1400" smtClean="0">
              <a:solidFill>
                <a:srgbClr val="990033"/>
              </a:solidFill>
            </a:endParaRPr>
          </a:p>
        </p:txBody>
      </p:sp>
      <p:sp>
        <p:nvSpPr>
          <p:cNvPr id="169987" name="Rectangle 6"/>
          <p:cNvSpPr>
            <a:spLocks noGrp="1" noChangeArrowheads="1"/>
          </p:cNvSpPr>
          <p:nvPr>
            <p:ph type="title"/>
          </p:nvPr>
        </p:nvSpPr>
        <p:spPr/>
        <p:txBody>
          <a:bodyPr/>
          <a:lstStyle/>
          <a:p>
            <a:pPr eaLnBrk="1" hangingPunct="1"/>
            <a:r>
              <a:rPr lang="en-US" altLang="en-US" smtClean="0"/>
              <a:t>INSERT (contd.)</a:t>
            </a:r>
          </a:p>
        </p:txBody>
      </p:sp>
      <p:sp>
        <p:nvSpPr>
          <p:cNvPr id="169988" name="Rectangle 7"/>
          <p:cNvSpPr>
            <a:spLocks noGrp="1" noChangeArrowheads="1"/>
          </p:cNvSpPr>
          <p:nvPr>
            <p:ph type="body" idx="1"/>
          </p:nvPr>
        </p:nvSpPr>
        <p:spPr/>
        <p:txBody>
          <a:bodyPr/>
          <a:lstStyle/>
          <a:p>
            <a:pPr eaLnBrk="1" hangingPunct="1">
              <a:lnSpc>
                <a:spcPct val="80000"/>
              </a:lnSpc>
            </a:pPr>
            <a:r>
              <a:rPr lang="en-US" altLang="en-US" sz="2400" smtClean="0"/>
              <a:t>Example:</a:t>
            </a:r>
          </a:p>
          <a:p>
            <a:pPr lvl="1" eaLnBrk="1" hangingPunct="1">
              <a:lnSpc>
                <a:spcPct val="80000"/>
              </a:lnSpc>
              <a:buFont typeface="Wingdings" panose="05000000000000000000" pitchFamily="2" charset="2"/>
              <a:buNone/>
            </a:pPr>
            <a:r>
              <a:rPr lang="en-US" altLang="en-US" sz="2200" smtClean="0"/>
              <a:t>U1:	INSERT INTO  	EMPLOYEE</a:t>
            </a:r>
            <a:br>
              <a:rPr lang="en-US" altLang="en-US" sz="2200" smtClean="0"/>
            </a:br>
            <a:r>
              <a:rPr lang="en-US" altLang="en-US" sz="2200" smtClean="0"/>
              <a:t>	VALUES ('Richard','K','Marini', '653298653', '30-DEC-52',</a:t>
            </a:r>
            <a:br>
              <a:rPr lang="en-US" altLang="en-US" sz="2200" smtClean="0"/>
            </a:br>
            <a:r>
              <a:rPr lang="en-US" altLang="en-US" sz="2200" smtClean="0"/>
              <a:t>	'98 Oak Forest,Katy,TX', 'M', 37000,'987654321', 4 )</a:t>
            </a:r>
            <a:br>
              <a:rPr lang="en-US" altLang="en-US" sz="2200" smtClean="0"/>
            </a:br>
            <a:endParaRPr lang="en-US" altLang="en-US" sz="2200" smtClean="0"/>
          </a:p>
          <a:p>
            <a:pPr eaLnBrk="1" hangingPunct="1">
              <a:lnSpc>
                <a:spcPct val="80000"/>
              </a:lnSpc>
            </a:pPr>
            <a:r>
              <a:rPr lang="en-US" altLang="en-US" sz="2400" smtClean="0"/>
              <a:t>An alternate form of INSERT specifies explicitly the attribute names that correspond to the values in the new tuple</a:t>
            </a:r>
          </a:p>
          <a:p>
            <a:pPr lvl="1" eaLnBrk="1" hangingPunct="1">
              <a:lnSpc>
                <a:spcPct val="80000"/>
              </a:lnSpc>
            </a:pPr>
            <a:r>
              <a:rPr lang="en-US" altLang="en-US" sz="2200" smtClean="0"/>
              <a:t>Attributes with NULL values can be left out</a:t>
            </a:r>
          </a:p>
          <a:p>
            <a:pPr eaLnBrk="1" hangingPunct="1">
              <a:lnSpc>
                <a:spcPct val="80000"/>
              </a:lnSpc>
            </a:pPr>
            <a:r>
              <a:rPr lang="en-US" altLang="en-US" sz="2400" smtClean="0"/>
              <a:t>Example: Insert a tuple for a new EMPLOYEE for whom we only know the FNAME, LNAME, and SSN attributes.</a:t>
            </a:r>
          </a:p>
          <a:p>
            <a:pPr lvl="1" eaLnBrk="1" hangingPunct="1">
              <a:lnSpc>
                <a:spcPct val="80000"/>
              </a:lnSpc>
              <a:buFont typeface="Wingdings" panose="05000000000000000000" pitchFamily="2" charset="2"/>
              <a:buNone/>
            </a:pPr>
            <a:r>
              <a:rPr lang="en-US" altLang="en-US" sz="2200" smtClean="0"/>
              <a:t>U1A:   INSERT INTO 	EMPLOYEE (FNAME, LNAME, 						SSN)</a:t>
            </a:r>
            <a:br>
              <a:rPr lang="en-US" altLang="en-US" sz="2200" smtClean="0"/>
            </a:br>
            <a:r>
              <a:rPr lang="en-US" altLang="en-US" sz="2200" smtClean="0"/>
              <a:t>	   VALUES ('Richard', 'Marini', '653298653')</a:t>
            </a:r>
          </a:p>
        </p:txBody>
      </p:sp>
    </p:spTree>
  </p:cSld>
  <p:clrMapOvr>
    <a:masterClrMapping/>
  </p:clrMapOvr>
  <p:transition spd="med"/>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32682161-9BA9-4F2C-97E3-22BD5B78D37D}" type="slidenum">
              <a:rPr lang="en-US" altLang="en-US" sz="1400" smtClean="0">
                <a:solidFill>
                  <a:srgbClr val="990033"/>
                </a:solidFill>
              </a:rPr>
              <a:pPr>
                <a:spcBef>
                  <a:spcPct val="0"/>
                </a:spcBef>
                <a:buClrTx/>
                <a:buSzTx/>
                <a:buFontTx/>
                <a:buNone/>
              </a:pPr>
              <a:t>90</a:t>
            </a:fld>
            <a:endParaRPr lang="en-CA" altLang="en-US" sz="1400" smtClean="0">
              <a:solidFill>
                <a:srgbClr val="990033"/>
              </a:solidFill>
            </a:endParaRPr>
          </a:p>
        </p:txBody>
      </p:sp>
      <p:sp>
        <p:nvSpPr>
          <p:cNvPr id="172035" name="Rectangle 6"/>
          <p:cNvSpPr>
            <a:spLocks noGrp="1" noChangeArrowheads="1"/>
          </p:cNvSpPr>
          <p:nvPr>
            <p:ph type="title"/>
          </p:nvPr>
        </p:nvSpPr>
        <p:spPr/>
        <p:txBody>
          <a:bodyPr/>
          <a:lstStyle/>
          <a:p>
            <a:pPr eaLnBrk="1" hangingPunct="1"/>
            <a:r>
              <a:rPr lang="en-US" altLang="en-US" smtClean="0"/>
              <a:t>INSERT (contd.)</a:t>
            </a:r>
          </a:p>
        </p:txBody>
      </p:sp>
      <p:sp>
        <p:nvSpPr>
          <p:cNvPr id="172036" name="Rectangle 7"/>
          <p:cNvSpPr>
            <a:spLocks noGrp="1" noChangeArrowheads="1"/>
          </p:cNvSpPr>
          <p:nvPr>
            <p:ph type="body" idx="1"/>
          </p:nvPr>
        </p:nvSpPr>
        <p:spPr/>
        <p:txBody>
          <a:bodyPr/>
          <a:lstStyle/>
          <a:p>
            <a:pPr eaLnBrk="1" hangingPunct="1"/>
            <a:r>
              <a:rPr lang="en-US" altLang="en-US" smtClean="0"/>
              <a:t>Important Note: Only the constraints specified in the DDL commands are automatically enforced by the DBMS when updates are applied to the database</a:t>
            </a:r>
          </a:p>
          <a:p>
            <a:pPr lvl="1" eaLnBrk="1" hangingPunct="1"/>
            <a:r>
              <a:rPr lang="en-US" altLang="en-US" smtClean="0"/>
              <a:t>Another variation of INSERT allows insertion of </a:t>
            </a:r>
            <a:r>
              <a:rPr lang="en-US" altLang="en-US" i="1" smtClean="0"/>
              <a:t>multiple tuples</a:t>
            </a:r>
            <a:r>
              <a:rPr lang="en-US" altLang="en-US" smtClean="0"/>
              <a:t> resulting from a query into a relation</a:t>
            </a:r>
          </a:p>
          <a:p>
            <a:pPr eaLnBrk="1" hangingPunct="1"/>
            <a:endParaRPr lang="en-US" altLang="en-US" smtClean="0"/>
          </a:p>
        </p:txBody>
      </p:sp>
    </p:spTree>
  </p:cSld>
  <p:clrMapOvr>
    <a:masterClrMapping/>
  </p:clrMapOvr>
  <p:transition spd="med"/>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78BFB0F-5510-402D-8A67-B09E1F5F67F4}" type="slidenum">
              <a:rPr lang="en-US" altLang="en-US" sz="1400" smtClean="0">
                <a:solidFill>
                  <a:srgbClr val="990033"/>
                </a:solidFill>
              </a:rPr>
              <a:pPr>
                <a:spcBef>
                  <a:spcPct val="0"/>
                </a:spcBef>
                <a:buClrTx/>
                <a:buSzTx/>
                <a:buFontTx/>
                <a:buNone/>
              </a:pPr>
              <a:t>91</a:t>
            </a:fld>
            <a:endParaRPr lang="en-CA" altLang="en-US" sz="1400" smtClean="0">
              <a:solidFill>
                <a:srgbClr val="990033"/>
              </a:solidFill>
            </a:endParaRPr>
          </a:p>
        </p:txBody>
      </p:sp>
      <p:sp>
        <p:nvSpPr>
          <p:cNvPr id="174083" name="Rectangle 6"/>
          <p:cNvSpPr>
            <a:spLocks noGrp="1" noChangeArrowheads="1"/>
          </p:cNvSpPr>
          <p:nvPr>
            <p:ph type="title"/>
          </p:nvPr>
        </p:nvSpPr>
        <p:spPr/>
        <p:txBody>
          <a:bodyPr/>
          <a:lstStyle/>
          <a:p>
            <a:pPr eaLnBrk="1" hangingPunct="1"/>
            <a:r>
              <a:rPr lang="en-US" altLang="en-US" smtClean="0"/>
              <a:t>INSERT (contd.)</a:t>
            </a:r>
          </a:p>
        </p:txBody>
      </p:sp>
      <p:sp>
        <p:nvSpPr>
          <p:cNvPr id="174084" name="Rectangle 7"/>
          <p:cNvSpPr>
            <a:spLocks noGrp="1" noChangeArrowheads="1"/>
          </p:cNvSpPr>
          <p:nvPr>
            <p:ph type="body" idx="1"/>
          </p:nvPr>
        </p:nvSpPr>
        <p:spPr/>
        <p:txBody>
          <a:bodyPr/>
          <a:lstStyle/>
          <a:p>
            <a:pPr eaLnBrk="1" hangingPunct="1">
              <a:lnSpc>
                <a:spcPct val="80000"/>
              </a:lnSpc>
            </a:pPr>
            <a:r>
              <a:rPr lang="en-US" altLang="en-US" sz="2000" smtClean="0"/>
              <a:t>Example: Suppose we want to create a temporary table that has the name, number of employees, and total salaries for each department.</a:t>
            </a:r>
          </a:p>
          <a:p>
            <a:pPr lvl="1" eaLnBrk="1" hangingPunct="1">
              <a:lnSpc>
                <a:spcPct val="80000"/>
              </a:lnSpc>
            </a:pPr>
            <a:r>
              <a:rPr lang="en-US" altLang="en-US" sz="2000" smtClean="0"/>
              <a:t>A table DEPTS_INFO is created by U3A, and is loaded with the summary information retrieved from the database by the query in U3B.</a:t>
            </a:r>
          </a:p>
          <a:p>
            <a:pPr lvl="1" eaLnBrk="1" hangingPunct="1">
              <a:lnSpc>
                <a:spcPct val="80000"/>
              </a:lnSpc>
              <a:buFont typeface="Wingdings" panose="05000000000000000000" pitchFamily="2" charset="2"/>
              <a:buNone/>
            </a:pPr>
            <a:r>
              <a:rPr lang="en-US" altLang="en-US" sz="2000" smtClean="0"/>
              <a:t>U3A:	CREATE TABLE  DEPTS_INFO</a:t>
            </a:r>
            <a:br>
              <a:rPr lang="en-US" altLang="en-US" sz="2000" smtClean="0"/>
            </a:br>
            <a:r>
              <a:rPr lang="en-US" altLang="en-US" sz="2000" smtClean="0"/>
              <a:t>			(DEPT_NAME		VARCHAR(10),</a:t>
            </a:r>
            <a:br>
              <a:rPr lang="en-US" altLang="en-US" sz="2000" smtClean="0"/>
            </a:br>
            <a:r>
              <a:rPr lang="en-US" altLang="en-US" sz="2000" smtClean="0"/>
              <a:t>			 NO_OF_EMPS		INTEGER,</a:t>
            </a:r>
            <a:br>
              <a:rPr lang="en-US" altLang="en-US" sz="2000" smtClean="0"/>
            </a:br>
            <a:r>
              <a:rPr lang="en-US" altLang="en-US" sz="2000" smtClean="0"/>
              <a:t>			 TOTAL_SAL		INTEGER);</a:t>
            </a:r>
          </a:p>
          <a:p>
            <a:pPr lvl="1" eaLnBrk="1" hangingPunct="1">
              <a:lnSpc>
                <a:spcPct val="80000"/>
              </a:lnSpc>
              <a:buFont typeface="Wingdings" panose="05000000000000000000" pitchFamily="2" charset="2"/>
              <a:buNone/>
            </a:pPr>
            <a:endParaRPr lang="en-US" altLang="en-US" sz="2000" smtClean="0"/>
          </a:p>
          <a:p>
            <a:pPr lvl="1" eaLnBrk="1" hangingPunct="1">
              <a:lnSpc>
                <a:spcPct val="80000"/>
              </a:lnSpc>
              <a:buFont typeface="Wingdings" panose="05000000000000000000" pitchFamily="2" charset="2"/>
              <a:buNone/>
            </a:pPr>
            <a:r>
              <a:rPr lang="en-US" altLang="en-US" sz="2000" smtClean="0"/>
              <a:t>U3B:	INSERT INTO	DEPTS_INFO (DEPT_NAME, 					NO_OF_EMPS, TOTAL_SAL)</a:t>
            </a:r>
            <a:br>
              <a:rPr lang="en-US" altLang="en-US" sz="2000" smtClean="0"/>
            </a:br>
            <a:r>
              <a:rPr lang="en-US" altLang="en-US" sz="2000" smtClean="0"/>
              <a:t>		SELECT	DNAME, COUNT (*), SUM (SALARY)</a:t>
            </a:r>
            <a:br>
              <a:rPr lang="en-US" altLang="en-US" sz="2000" smtClean="0"/>
            </a:br>
            <a:r>
              <a:rPr lang="en-US" altLang="en-US" sz="2000" smtClean="0"/>
              <a:t>		FROM		DEPARTMENT, EMPLOYEE</a:t>
            </a:r>
            <a:br>
              <a:rPr lang="en-US" altLang="en-US" sz="2000" smtClean="0"/>
            </a:br>
            <a:r>
              <a:rPr lang="en-US" altLang="en-US" sz="2000" smtClean="0"/>
              <a:t>		WHERE	DNUMBER=DNO</a:t>
            </a:r>
            <a:br>
              <a:rPr lang="en-US" altLang="en-US" sz="2000" smtClean="0"/>
            </a:br>
            <a:r>
              <a:rPr lang="en-US" altLang="en-US" sz="2000" smtClean="0"/>
              <a:t>		GROUP BY	DNAME ;</a:t>
            </a:r>
          </a:p>
        </p:txBody>
      </p:sp>
    </p:spTree>
  </p:cSld>
  <p:clrMapOvr>
    <a:masterClrMapping/>
  </p:clrMapOvr>
  <p:transition spd="med"/>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2DE1849D-EBBF-4BC7-9553-2A4CD1FBDBC5}" type="slidenum">
              <a:rPr lang="en-US" altLang="en-US" sz="1400" smtClean="0">
                <a:solidFill>
                  <a:srgbClr val="990033"/>
                </a:solidFill>
              </a:rPr>
              <a:pPr>
                <a:spcBef>
                  <a:spcPct val="0"/>
                </a:spcBef>
                <a:buClrTx/>
                <a:buSzTx/>
                <a:buFontTx/>
                <a:buNone/>
              </a:pPr>
              <a:t>92</a:t>
            </a:fld>
            <a:endParaRPr lang="en-CA" altLang="en-US" sz="1400" smtClean="0">
              <a:solidFill>
                <a:srgbClr val="990033"/>
              </a:solidFill>
            </a:endParaRPr>
          </a:p>
        </p:txBody>
      </p:sp>
      <p:sp>
        <p:nvSpPr>
          <p:cNvPr id="176131" name="Rectangle 6"/>
          <p:cNvSpPr>
            <a:spLocks noGrp="1" noChangeArrowheads="1"/>
          </p:cNvSpPr>
          <p:nvPr>
            <p:ph type="title"/>
          </p:nvPr>
        </p:nvSpPr>
        <p:spPr/>
        <p:txBody>
          <a:bodyPr/>
          <a:lstStyle/>
          <a:p>
            <a:pPr eaLnBrk="1" hangingPunct="1"/>
            <a:r>
              <a:rPr lang="en-US" altLang="en-US" smtClean="0"/>
              <a:t>INSERT (contd.)</a:t>
            </a:r>
          </a:p>
        </p:txBody>
      </p:sp>
      <p:sp>
        <p:nvSpPr>
          <p:cNvPr id="176132" name="Rectangle 7"/>
          <p:cNvSpPr>
            <a:spLocks noGrp="1" noChangeArrowheads="1"/>
          </p:cNvSpPr>
          <p:nvPr>
            <p:ph type="body" idx="1"/>
          </p:nvPr>
        </p:nvSpPr>
        <p:spPr/>
        <p:txBody>
          <a:bodyPr/>
          <a:lstStyle/>
          <a:p>
            <a:pPr eaLnBrk="1" hangingPunct="1"/>
            <a:r>
              <a:rPr lang="en-US" altLang="en-US" smtClean="0"/>
              <a:t>Note: The DEPTS_INFO table may not be up-to-date if we change the tuples in either the DEPARTMENT or the EMPLOYEE relations </a:t>
            </a:r>
            <a:r>
              <a:rPr lang="en-US" altLang="en-US" i="1" smtClean="0"/>
              <a:t>after</a:t>
            </a:r>
            <a:r>
              <a:rPr lang="en-US" altLang="en-US" smtClean="0"/>
              <a:t>  issuing U3B. We have to create a view (see later) to keep such a table up to date.</a:t>
            </a:r>
          </a:p>
        </p:txBody>
      </p:sp>
    </p:spTree>
  </p:cSld>
  <p:clrMapOvr>
    <a:masterClrMapping/>
  </p:clrMapOvr>
  <p:transition spd="med"/>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2ED4F5F-82C1-4401-8713-1842E3360B34}" type="slidenum">
              <a:rPr lang="en-US" altLang="en-US" sz="1400" smtClean="0">
                <a:solidFill>
                  <a:srgbClr val="990033"/>
                </a:solidFill>
              </a:rPr>
              <a:pPr>
                <a:spcBef>
                  <a:spcPct val="0"/>
                </a:spcBef>
                <a:buClrTx/>
                <a:buSzTx/>
                <a:buFontTx/>
                <a:buNone/>
              </a:pPr>
              <a:t>93</a:t>
            </a:fld>
            <a:endParaRPr lang="en-CA" altLang="en-US" sz="1400" smtClean="0">
              <a:solidFill>
                <a:srgbClr val="990033"/>
              </a:solidFill>
            </a:endParaRPr>
          </a:p>
        </p:txBody>
      </p:sp>
      <p:sp>
        <p:nvSpPr>
          <p:cNvPr id="178179" name="Rectangle 6"/>
          <p:cNvSpPr>
            <a:spLocks noGrp="1" noChangeArrowheads="1"/>
          </p:cNvSpPr>
          <p:nvPr>
            <p:ph type="title"/>
          </p:nvPr>
        </p:nvSpPr>
        <p:spPr/>
        <p:txBody>
          <a:bodyPr/>
          <a:lstStyle/>
          <a:p>
            <a:pPr eaLnBrk="1" hangingPunct="1"/>
            <a:r>
              <a:rPr lang="en-US" altLang="en-US" smtClean="0"/>
              <a:t>DELETE</a:t>
            </a:r>
          </a:p>
        </p:txBody>
      </p:sp>
      <p:sp>
        <p:nvSpPr>
          <p:cNvPr id="178180" name="Rectangle 7"/>
          <p:cNvSpPr>
            <a:spLocks noGrp="1" noChangeArrowheads="1"/>
          </p:cNvSpPr>
          <p:nvPr>
            <p:ph type="body" idx="1"/>
          </p:nvPr>
        </p:nvSpPr>
        <p:spPr/>
        <p:txBody>
          <a:bodyPr/>
          <a:lstStyle/>
          <a:p>
            <a:pPr eaLnBrk="1" hangingPunct="1"/>
            <a:r>
              <a:rPr lang="en-US" altLang="en-US" sz="2400" smtClean="0"/>
              <a:t>Removes tuples from a relation</a:t>
            </a:r>
          </a:p>
          <a:p>
            <a:pPr lvl="1" eaLnBrk="1" hangingPunct="1"/>
            <a:r>
              <a:rPr lang="en-US" altLang="en-US" sz="2200" smtClean="0"/>
              <a:t>Includes a WHERE-clause to select the tuples to be deleted</a:t>
            </a:r>
          </a:p>
          <a:p>
            <a:pPr lvl="1" eaLnBrk="1" hangingPunct="1"/>
            <a:r>
              <a:rPr lang="en-US" altLang="en-US" sz="2200" smtClean="0"/>
              <a:t>Referential integrity should be enforced</a:t>
            </a:r>
          </a:p>
          <a:p>
            <a:pPr lvl="1" eaLnBrk="1" hangingPunct="1"/>
            <a:r>
              <a:rPr lang="en-US" altLang="en-US" sz="2200" smtClean="0"/>
              <a:t>Tuples are deleted from only </a:t>
            </a:r>
            <a:r>
              <a:rPr lang="en-US" altLang="en-US" sz="2200" i="1" smtClean="0"/>
              <a:t>one table</a:t>
            </a:r>
            <a:r>
              <a:rPr lang="en-US" altLang="en-US" sz="2200" smtClean="0"/>
              <a:t> at a time (unless CASCADE is specified on a referential integrity constraint)</a:t>
            </a:r>
          </a:p>
          <a:p>
            <a:pPr lvl="1" eaLnBrk="1" hangingPunct="1"/>
            <a:r>
              <a:rPr lang="en-US" altLang="en-US" sz="2200" smtClean="0"/>
              <a:t>A missing WHERE-clause specifies that </a:t>
            </a:r>
            <a:r>
              <a:rPr lang="en-US" altLang="en-US" sz="2200" i="1" smtClean="0"/>
              <a:t>all tuples</a:t>
            </a:r>
            <a:r>
              <a:rPr lang="en-US" altLang="en-US" sz="2200" smtClean="0"/>
              <a:t> in the relation are to be deleted; the table then becomes an empty table</a:t>
            </a:r>
          </a:p>
          <a:p>
            <a:pPr lvl="1" eaLnBrk="1" hangingPunct="1"/>
            <a:r>
              <a:rPr lang="en-US" altLang="en-US" sz="2200" smtClean="0"/>
              <a:t>The number of tuples deleted depends on the number of tuples in the relation that satisfy the WHERE-clause</a:t>
            </a:r>
          </a:p>
          <a:p>
            <a:pPr eaLnBrk="1" hangingPunct="1"/>
            <a:endParaRPr lang="en-US" altLang="en-US" sz="2400" smtClean="0"/>
          </a:p>
        </p:txBody>
      </p:sp>
    </p:spTree>
  </p:cSld>
  <p:clrMapOvr>
    <a:masterClrMapping/>
  </p:clrMapOvr>
  <p:transition spd="med"/>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FA8AC1B7-F48A-4646-9B9C-5A50FB47FF78}" type="slidenum">
              <a:rPr lang="en-US" altLang="en-US" sz="1400" smtClean="0">
                <a:solidFill>
                  <a:srgbClr val="990033"/>
                </a:solidFill>
              </a:rPr>
              <a:pPr>
                <a:spcBef>
                  <a:spcPct val="0"/>
                </a:spcBef>
                <a:buClrTx/>
                <a:buSzTx/>
                <a:buFontTx/>
                <a:buNone/>
              </a:pPr>
              <a:t>94</a:t>
            </a:fld>
            <a:endParaRPr lang="en-CA" altLang="en-US" sz="1400" smtClean="0">
              <a:solidFill>
                <a:srgbClr val="990033"/>
              </a:solidFill>
            </a:endParaRPr>
          </a:p>
        </p:txBody>
      </p:sp>
      <p:sp>
        <p:nvSpPr>
          <p:cNvPr id="180227" name="Rectangle 6"/>
          <p:cNvSpPr>
            <a:spLocks noGrp="1" noChangeArrowheads="1"/>
          </p:cNvSpPr>
          <p:nvPr>
            <p:ph type="title"/>
          </p:nvPr>
        </p:nvSpPr>
        <p:spPr/>
        <p:txBody>
          <a:bodyPr/>
          <a:lstStyle/>
          <a:p>
            <a:pPr eaLnBrk="1" hangingPunct="1"/>
            <a:r>
              <a:rPr lang="en-US" altLang="en-US" smtClean="0"/>
              <a:t>DELETE (contd.)</a:t>
            </a:r>
          </a:p>
        </p:txBody>
      </p:sp>
      <p:sp>
        <p:nvSpPr>
          <p:cNvPr id="180228" name="Rectangle 7"/>
          <p:cNvSpPr>
            <a:spLocks noGrp="1" noChangeArrowheads="1"/>
          </p:cNvSpPr>
          <p:nvPr>
            <p:ph type="body" idx="1"/>
          </p:nvPr>
        </p:nvSpPr>
        <p:spPr/>
        <p:txBody>
          <a:bodyPr/>
          <a:lstStyle/>
          <a:p>
            <a:pPr eaLnBrk="1" hangingPunct="1">
              <a:lnSpc>
                <a:spcPct val="80000"/>
              </a:lnSpc>
            </a:pPr>
            <a:r>
              <a:rPr lang="en-US" altLang="en-US" sz="2000" smtClean="0"/>
              <a:t>Examples:</a:t>
            </a:r>
          </a:p>
          <a:p>
            <a:pPr lvl="1" eaLnBrk="1" hangingPunct="1">
              <a:lnSpc>
                <a:spcPct val="80000"/>
              </a:lnSpc>
              <a:buFont typeface="Wingdings" panose="05000000000000000000" pitchFamily="2" charset="2"/>
              <a:buNone/>
            </a:pPr>
            <a:r>
              <a:rPr lang="en-US" altLang="en-US" sz="2000" smtClean="0"/>
              <a:t>U4A:	DELETE FROM 	EMPLOYEE</a:t>
            </a:r>
            <a:br>
              <a:rPr lang="en-US" altLang="en-US" sz="2000" smtClean="0"/>
            </a:br>
            <a:r>
              <a:rPr lang="en-US" altLang="en-US" sz="2000" smtClean="0"/>
              <a:t>		WHERE		LNAME='Brown’</a:t>
            </a:r>
          </a:p>
          <a:p>
            <a:pPr lvl="1" eaLnBrk="1" hangingPunct="1">
              <a:lnSpc>
                <a:spcPct val="80000"/>
              </a:lnSpc>
              <a:buFont typeface="Wingdings" panose="05000000000000000000" pitchFamily="2" charset="2"/>
              <a:buNone/>
            </a:pPr>
            <a:endParaRPr lang="en-US" altLang="en-US" sz="2000" smtClean="0"/>
          </a:p>
          <a:p>
            <a:pPr lvl="1" eaLnBrk="1" hangingPunct="1">
              <a:lnSpc>
                <a:spcPct val="80000"/>
              </a:lnSpc>
              <a:buFont typeface="Wingdings" panose="05000000000000000000" pitchFamily="2" charset="2"/>
              <a:buNone/>
            </a:pPr>
            <a:r>
              <a:rPr lang="en-US" altLang="en-US" sz="2000" smtClean="0"/>
              <a:t>U4B:	DELETE FROM 	EMPLOYEE</a:t>
            </a:r>
            <a:br>
              <a:rPr lang="en-US" altLang="en-US" sz="2000" smtClean="0"/>
            </a:br>
            <a:r>
              <a:rPr lang="en-US" altLang="en-US" sz="2000" smtClean="0"/>
              <a:t>		WHERE		SSN='123456789’</a:t>
            </a:r>
          </a:p>
          <a:p>
            <a:pPr lvl="1" eaLnBrk="1" hangingPunct="1">
              <a:lnSpc>
                <a:spcPct val="80000"/>
              </a:lnSpc>
              <a:buFont typeface="Wingdings" panose="05000000000000000000" pitchFamily="2" charset="2"/>
              <a:buNone/>
            </a:pPr>
            <a:endParaRPr lang="en-US" altLang="en-US" sz="2000" smtClean="0"/>
          </a:p>
          <a:p>
            <a:pPr lvl="1" eaLnBrk="1" hangingPunct="1">
              <a:lnSpc>
                <a:spcPct val="80000"/>
              </a:lnSpc>
              <a:buFont typeface="Wingdings" panose="05000000000000000000" pitchFamily="2" charset="2"/>
              <a:buNone/>
            </a:pPr>
            <a:r>
              <a:rPr lang="en-US" altLang="en-US" sz="2000" smtClean="0"/>
              <a:t>U4C:	DELETE FROM 	EMPLOYEE</a:t>
            </a:r>
            <a:br>
              <a:rPr lang="en-US" altLang="en-US" sz="2000" smtClean="0"/>
            </a:br>
            <a:r>
              <a:rPr lang="en-US" altLang="en-US" sz="2000" smtClean="0"/>
              <a:t>		WHERE		DNO  IN				  			(SELECT	DNUMBER</a:t>
            </a:r>
            <a:br>
              <a:rPr lang="en-US" altLang="en-US" sz="2000" smtClean="0"/>
            </a:br>
            <a:r>
              <a:rPr lang="en-US" altLang="en-US" sz="2000" smtClean="0"/>
              <a:t>					FROM	DEPARTMENT</a:t>
            </a:r>
            <a:br>
              <a:rPr lang="en-US" altLang="en-US" sz="2000" smtClean="0"/>
            </a:br>
            <a:r>
              <a:rPr lang="en-US" altLang="en-US" sz="2000" smtClean="0"/>
              <a:t>					WHERE							DNAME='Research')</a:t>
            </a:r>
          </a:p>
          <a:p>
            <a:pPr lvl="1" eaLnBrk="1" hangingPunct="1">
              <a:lnSpc>
                <a:spcPct val="80000"/>
              </a:lnSpc>
              <a:buFont typeface="Wingdings" panose="05000000000000000000" pitchFamily="2" charset="2"/>
              <a:buNone/>
            </a:pPr>
            <a:endParaRPr lang="en-US" altLang="en-US" sz="2000" smtClean="0"/>
          </a:p>
          <a:p>
            <a:pPr lvl="1" eaLnBrk="1" hangingPunct="1">
              <a:lnSpc>
                <a:spcPct val="80000"/>
              </a:lnSpc>
              <a:buFont typeface="Wingdings" panose="05000000000000000000" pitchFamily="2" charset="2"/>
              <a:buNone/>
            </a:pPr>
            <a:r>
              <a:rPr lang="en-US" altLang="en-US" sz="2000" smtClean="0"/>
              <a:t>U4D:	DELETE FROM 	EMPLOYEE</a:t>
            </a:r>
          </a:p>
        </p:txBody>
      </p:sp>
    </p:spTree>
  </p:cSld>
  <p:clrMapOvr>
    <a:masterClrMapping/>
  </p:clrMapOvr>
  <p:transition spd="med"/>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D57EBF43-1EE1-404C-B31D-CF5DF045391C}" type="slidenum">
              <a:rPr lang="en-US" altLang="en-US" sz="1400" smtClean="0">
                <a:solidFill>
                  <a:srgbClr val="990033"/>
                </a:solidFill>
              </a:rPr>
              <a:pPr>
                <a:spcBef>
                  <a:spcPct val="0"/>
                </a:spcBef>
                <a:buClrTx/>
                <a:buSzTx/>
                <a:buFontTx/>
                <a:buNone/>
              </a:pPr>
              <a:t>95</a:t>
            </a:fld>
            <a:endParaRPr lang="en-CA" altLang="en-US" sz="1400" smtClean="0">
              <a:solidFill>
                <a:srgbClr val="990033"/>
              </a:solidFill>
            </a:endParaRPr>
          </a:p>
        </p:txBody>
      </p:sp>
      <p:sp>
        <p:nvSpPr>
          <p:cNvPr id="182275" name="Rectangle 6"/>
          <p:cNvSpPr>
            <a:spLocks noGrp="1" noChangeArrowheads="1"/>
          </p:cNvSpPr>
          <p:nvPr>
            <p:ph type="title"/>
          </p:nvPr>
        </p:nvSpPr>
        <p:spPr/>
        <p:txBody>
          <a:bodyPr/>
          <a:lstStyle/>
          <a:p>
            <a:pPr eaLnBrk="1" hangingPunct="1"/>
            <a:r>
              <a:rPr lang="en-US" altLang="en-US" smtClean="0"/>
              <a:t>UPDATE</a:t>
            </a:r>
          </a:p>
        </p:txBody>
      </p:sp>
      <p:sp>
        <p:nvSpPr>
          <p:cNvPr id="182276" name="Rectangle 7"/>
          <p:cNvSpPr>
            <a:spLocks noGrp="1" noChangeArrowheads="1"/>
          </p:cNvSpPr>
          <p:nvPr>
            <p:ph type="body" idx="1"/>
          </p:nvPr>
        </p:nvSpPr>
        <p:spPr/>
        <p:txBody>
          <a:bodyPr/>
          <a:lstStyle/>
          <a:p>
            <a:pPr eaLnBrk="1" hangingPunct="1"/>
            <a:r>
              <a:rPr lang="en-US" altLang="en-US" smtClean="0"/>
              <a:t>Used to modify attribute values of one or more selected tuples</a:t>
            </a:r>
          </a:p>
          <a:p>
            <a:pPr eaLnBrk="1" hangingPunct="1"/>
            <a:r>
              <a:rPr lang="en-US" altLang="en-US" smtClean="0"/>
              <a:t>A WHERE-clause selects the tuples to be modified</a:t>
            </a:r>
          </a:p>
          <a:p>
            <a:pPr eaLnBrk="1" hangingPunct="1"/>
            <a:r>
              <a:rPr lang="en-US" altLang="en-US" smtClean="0"/>
              <a:t>An additional SET-clause specifies the attributes to be modified and their new values</a:t>
            </a:r>
          </a:p>
          <a:p>
            <a:pPr eaLnBrk="1" hangingPunct="1"/>
            <a:r>
              <a:rPr lang="en-US" altLang="en-US" smtClean="0"/>
              <a:t>Each command modifies tuples </a:t>
            </a:r>
            <a:r>
              <a:rPr lang="en-US" altLang="en-US" i="1" smtClean="0"/>
              <a:t>in the same relation</a:t>
            </a:r>
          </a:p>
          <a:p>
            <a:pPr eaLnBrk="1" hangingPunct="1"/>
            <a:r>
              <a:rPr lang="en-US" altLang="en-US" smtClean="0"/>
              <a:t>Referential integrity should be enforced</a:t>
            </a:r>
          </a:p>
        </p:txBody>
      </p:sp>
    </p:spTree>
  </p:cSld>
  <p:clrMapOvr>
    <a:masterClrMapping/>
  </p:clrMapOvr>
  <p:transition spd="med"/>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71F1252-E3A6-40B8-A232-60386E018089}" type="slidenum">
              <a:rPr lang="en-US" altLang="en-US" sz="1400" smtClean="0">
                <a:solidFill>
                  <a:srgbClr val="990033"/>
                </a:solidFill>
              </a:rPr>
              <a:pPr>
                <a:spcBef>
                  <a:spcPct val="0"/>
                </a:spcBef>
                <a:buClrTx/>
                <a:buSzTx/>
                <a:buFontTx/>
                <a:buNone/>
              </a:pPr>
              <a:t>96</a:t>
            </a:fld>
            <a:endParaRPr lang="en-CA" altLang="en-US" sz="1400" smtClean="0">
              <a:solidFill>
                <a:srgbClr val="990033"/>
              </a:solidFill>
            </a:endParaRPr>
          </a:p>
        </p:txBody>
      </p:sp>
      <p:sp>
        <p:nvSpPr>
          <p:cNvPr id="184323" name="Rectangle 6"/>
          <p:cNvSpPr>
            <a:spLocks noGrp="1" noChangeArrowheads="1"/>
          </p:cNvSpPr>
          <p:nvPr>
            <p:ph type="title"/>
          </p:nvPr>
        </p:nvSpPr>
        <p:spPr/>
        <p:txBody>
          <a:bodyPr/>
          <a:lstStyle/>
          <a:p>
            <a:pPr eaLnBrk="1" hangingPunct="1"/>
            <a:r>
              <a:rPr lang="en-US" altLang="en-US" smtClean="0"/>
              <a:t>UPDATE (contd.)</a:t>
            </a:r>
          </a:p>
        </p:txBody>
      </p:sp>
      <p:sp>
        <p:nvSpPr>
          <p:cNvPr id="184324" name="Rectangle 7"/>
          <p:cNvSpPr>
            <a:spLocks noGrp="1" noChangeArrowheads="1"/>
          </p:cNvSpPr>
          <p:nvPr>
            <p:ph type="body" idx="1"/>
          </p:nvPr>
        </p:nvSpPr>
        <p:spPr/>
        <p:txBody>
          <a:bodyPr/>
          <a:lstStyle/>
          <a:p>
            <a:pPr eaLnBrk="1" hangingPunct="1"/>
            <a:r>
              <a:rPr lang="en-US" altLang="en-US" smtClean="0"/>
              <a:t>Example: Change the location and controlling department number of project number 10 to 'Bellaire' and 5, respectively.</a:t>
            </a:r>
          </a:p>
          <a:p>
            <a:pPr lvl="1" eaLnBrk="1" hangingPunct="1">
              <a:buFont typeface="Wingdings" panose="05000000000000000000" pitchFamily="2" charset="2"/>
              <a:buNone/>
            </a:pPr>
            <a:r>
              <a:rPr lang="en-US" altLang="en-US" smtClean="0"/>
              <a:t>U5:	UPDATE 	PROJECT</a:t>
            </a:r>
            <a:br>
              <a:rPr lang="en-US" altLang="en-US" smtClean="0"/>
            </a:br>
            <a:r>
              <a:rPr lang="en-US" altLang="en-US" smtClean="0"/>
              <a:t>		SET		PLOCATION = 'Bellaire', 					DNUM = 5</a:t>
            </a:r>
            <a:br>
              <a:rPr lang="en-US" altLang="en-US" smtClean="0"/>
            </a:br>
            <a:r>
              <a:rPr lang="en-US" altLang="en-US" smtClean="0"/>
              <a:t>		WHERE	PNUMBER=10</a:t>
            </a:r>
            <a:br>
              <a:rPr lang="en-US" altLang="en-US" smtClean="0"/>
            </a:br>
            <a:endParaRPr lang="en-US" altLang="en-US" smtClean="0"/>
          </a:p>
        </p:txBody>
      </p:sp>
    </p:spTree>
  </p:cSld>
  <p:clrMapOvr>
    <a:masterClrMapping/>
  </p:clrMapOvr>
  <p:transition spd="med"/>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BEEAFE97-155C-4524-AAF9-F1FAA2B88F57}" type="slidenum">
              <a:rPr lang="en-US" altLang="en-US" sz="1400" smtClean="0">
                <a:solidFill>
                  <a:srgbClr val="990033"/>
                </a:solidFill>
              </a:rPr>
              <a:pPr>
                <a:spcBef>
                  <a:spcPct val="0"/>
                </a:spcBef>
                <a:buClrTx/>
                <a:buSzTx/>
                <a:buFontTx/>
                <a:buNone/>
              </a:pPr>
              <a:t>97</a:t>
            </a:fld>
            <a:endParaRPr lang="en-CA" altLang="en-US" sz="1400" smtClean="0">
              <a:solidFill>
                <a:srgbClr val="990033"/>
              </a:solidFill>
            </a:endParaRPr>
          </a:p>
        </p:txBody>
      </p:sp>
      <p:sp>
        <p:nvSpPr>
          <p:cNvPr id="186371" name="Rectangle 6"/>
          <p:cNvSpPr>
            <a:spLocks noGrp="1" noChangeArrowheads="1"/>
          </p:cNvSpPr>
          <p:nvPr>
            <p:ph type="title"/>
          </p:nvPr>
        </p:nvSpPr>
        <p:spPr/>
        <p:txBody>
          <a:bodyPr/>
          <a:lstStyle/>
          <a:p>
            <a:pPr eaLnBrk="1" hangingPunct="1"/>
            <a:r>
              <a:rPr lang="en-US" altLang="en-US" smtClean="0"/>
              <a:t>UPDATE (contd.)</a:t>
            </a:r>
          </a:p>
        </p:txBody>
      </p:sp>
      <p:sp>
        <p:nvSpPr>
          <p:cNvPr id="186372" name="Rectangle 7"/>
          <p:cNvSpPr>
            <a:spLocks noGrp="1" noChangeArrowheads="1"/>
          </p:cNvSpPr>
          <p:nvPr>
            <p:ph type="body" idx="1"/>
          </p:nvPr>
        </p:nvSpPr>
        <p:spPr/>
        <p:txBody>
          <a:bodyPr/>
          <a:lstStyle/>
          <a:p>
            <a:pPr eaLnBrk="1" hangingPunct="1">
              <a:lnSpc>
                <a:spcPct val="80000"/>
              </a:lnSpc>
            </a:pPr>
            <a:r>
              <a:rPr lang="en-US" altLang="en-US" sz="2400" smtClean="0"/>
              <a:t>Example: Give all employees in the 'Research' department a 10% raise in salary.</a:t>
            </a:r>
          </a:p>
          <a:p>
            <a:pPr lvl="1" eaLnBrk="1" hangingPunct="1">
              <a:lnSpc>
                <a:spcPct val="80000"/>
              </a:lnSpc>
              <a:buFont typeface="Wingdings" panose="05000000000000000000" pitchFamily="2" charset="2"/>
              <a:buNone/>
            </a:pPr>
            <a:r>
              <a:rPr lang="en-US" altLang="en-US" sz="2200" smtClean="0"/>
              <a:t>U6:	UPDATE 	EMPLOYEE</a:t>
            </a:r>
            <a:br>
              <a:rPr lang="en-US" altLang="en-US" sz="2200" smtClean="0"/>
            </a:br>
            <a:r>
              <a:rPr lang="en-US" altLang="en-US" sz="2200" smtClean="0"/>
              <a:t>	SET		SALARY = SALARY *1.1</a:t>
            </a:r>
            <a:br>
              <a:rPr lang="en-US" altLang="en-US" sz="2200" smtClean="0"/>
            </a:br>
            <a:r>
              <a:rPr lang="en-US" altLang="en-US" sz="2200" smtClean="0"/>
              <a:t>	WHERE	DNO  IN (SELECT	DNUMBER</a:t>
            </a:r>
            <a:br>
              <a:rPr lang="en-US" altLang="en-US" sz="2200" smtClean="0"/>
            </a:br>
            <a:r>
              <a:rPr lang="en-US" altLang="en-US" sz="2200" smtClean="0"/>
              <a:t>			    FROM	DEPARTMENT</a:t>
            </a:r>
            <a:br>
              <a:rPr lang="en-US" altLang="en-US" sz="2200" smtClean="0"/>
            </a:br>
            <a:r>
              <a:rPr lang="en-US" altLang="en-US" sz="2200" smtClean="0"/>
              <a:t>			    WHERE	DNAME='Research')</a:t>
            </a:r>
            <a:br>
              <a:rPr lang="en-US" altLang="en-US" sz="2200" smtClean="0"/>
            </a:br>
            <a:endParaRPr lang="en-US" altLang="en-US" sz="2200" smtClean="0"/>
          </a:p>
          <a:p>
            <a:pPr eaLnBrk="1" hangingPunct="1">
              <a:lnSpc>
                <a:spcPct val="80000"/>
              </a:lnSpc>
            </a:pPr>
            <a:r>
              <a:rPr lang="en-US" altLang="en-US" sz="2400" smtClean="0"/>
              <a:t>In this request, the modified SALARY value depends on the original SALARY value in each tuple</a:t>
            </a:r>
          </a:p>
          <a:p>
            <a:pPr lvl="1" eaLnBrk="1" hangingPunct="1">
              <a:lnSpc>
                <a:spcPct val="80000"/>
              </a:lnSpc>
            </a:pPr>
            <a:r>
              <a:rPr lang="en-US" altLang="en-US" sz="2200" smtClean="0"/>
              <a:t>The reference to the SALARY attribute on the right of = refers to the old SALARY value before modification</a:t>
            </a:r>
          </a:p>
          <a:p>
            <a:pPr lvl="1" eaLnBrk="1" hangingPunct="1">
              <a:lnSpc>
                <a:spcPct val="80000"/>
              </a:lnSpc>
            </a:pPr>
            <a:r>
              <a:rPr lang="en-US" altLang="en-US" sz="2200" smtClean="0"/>
              <a:t>The reference to the SALARY attribute on the left of = refers to the new SALARY value after modification</a:t>
            </a:r>
            <a:br>
              <a:rPr lang="en-US" altLang="en-US" sz="2200" smtClean="0"/>
            </a:br>
            <a:endParaRPr lang="en-US" altLang="en-US" sz="2200" smtClean="0"/>
          </a:p>
        </p:txBody>
      </p:sp>
    </p:spTree>
  </p:cSld>
  <p:clrMapOvr>
    <a:masterClrMapping/>
  </p:clrMapOvr>
  <p:transition spd="med"/>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88718119-D604-46D6-9E3B-ABA8D4FAACDE}" type="slidenum">
              <a:rPr lang="en-US" altLang="en-US" sz="1400" smtClean="0">
                <a:solidFill>
                  <a:srgbClr val="990033"/>
                </a:solidFill>
              </a:rPr>
              <a:pPr>
                <a:spcBef>
                  <a:spcPct val="0"/>
                </a:spcBef>
                <a:buClrTx/>
                <a:buSzTx/>
                <a:buFontTx/>
                <a:buNone/>
              </a:pPr>
              <a:t>98</a:t>
            </a:fld>
            <a:endParaRPr lang="en-CA" altLang="en-US" sz="1400" smtClean="0">
              <a:solidFill>
                <a:srgbClr val="990033"/>
              </a:solidFill>
            </a:endParaRPr>
          </a:p>
        </p:txBody>
      </p:sp>
      <p:sp>
        <p:nvSpPr>
          <p:cNvPr id="188419" name="Rectangle 2"/>
          <p:cNvSpPr>
            <a:spLocks noGrp="1" noChangeArrowheads="1"/>
          </p:cNvSpPr>
          <p:nvPr>
            <p:ph type="title"/>
          </p:nvPr>
        </p:nvSpPr>
        <p:spPr/>
        <p:txBody>
          <a:bodyPr/>
          <a:lstStyle/>
          <a:p>
            <a:pPr eaLnBrk="1" hangingPunct="1"/>
            <a:r>
              <a:rPr lang="en-US" altLang="en-US" smtClean="0"/>
              <a:t>Recap of SQL Queries</a:t>
            </a:r>
          </a:p>
        </p:txBody>
      </p:sp>
      <p:sp>
        <p:nvSpPr>
          <p:cNvPr id="188420" name="Rectangle 3"/>
          <p:cNvSpPr>
            <a:spLocks noGrp="1" noChangeArrowheads="1"/>
          </p:cNvSpPr>
          <p:nvPr>
            <p:ph type="body" idx="1"/>
          </p:nvPr>
        </p:nvSpPr>
        <p:spPr/>
        <p:txBody>
          <a:bodyPr/>
          <a:lstStyle/>
          <a:p>
            <a:pPr eaLnBrk="1" hangingPunct="1"/>
            <a:r>
              <a:rPr lang="en-US" altLang="en-US" sz="2400" smtClean="0"/>
              <a:t>A query in SQL can consist of up to six clauses, but only the first two, SELECT and FROM, are mandatory. The clauses are specified in the following order:</a:t>
            </a:r>
            <a:br>
              <a:rPr lang="en-US" altLang="en-US" sz="2400" smtClean="0"/>
            </a:br>
            <a:r>
              <a:rPr lang="en-US" altLang="en-US" sz="2400" smtClean="0"/>
              <a:t/>
            </a:r>
            <a:br>
              <a:rPr lang="en-US" altLang="en-US" sz="2400" smtClean="0"/>
            </a:br>
            <a:r>
              <a:rPr lang="en-US" altLang="en-US" sz="2400" b="1" smtClean="0"/>
              <a:t>SELECT		</a:t>
            </a:r>
            <a:r>
              <a:rPr lang="en-US" altLang="en-US" sz="2400" smtClean="0"/>
              <a:t>&lt;attribute list&gt;</a:t>
            </a:r>
            <a:br>
              <a:rPr lang="en-US" altLang="en-US" sz="2400" smtClean="0"/>
            </a:br>
            <a:r>
              <a:rPr lang="en-US" altLang="en-US" sz="2400" b="1" smtClean="0"/>
              <a:t>FROM</a:t>
            </a:r>
            <a:r>
              <a:rPr lang="en-US" altLang="en-US" sz="2400" smtClean="0"/>
              <a:t>		&lt;table list&gt;</a:t>
            </a:r>
            <a:br>
              <a:rPr lang="en-US" altLang="en-US" sz="2400" smtClean="0"/>
            </a:br>
            <a:r>
              <a:rPr lang="en-US" altLang="en-US" sz="2400" smtClean="0"/>
              <a:t>[</a:t>
            </a:r>
            <a:r>
              <a:rPr lang="en-US" altLang="en-US" sz="2400" b="1" smtClean="0"/>
              <a:t>WHERE</a:t>
            </a:r>
            <a:r>
              <a:rPr lang="en-US" altLang="en-US" sz="2400" smtClean="0"/>
              <a:t>		&lt;condition&gt;]</a:t>
            </a:r>
            <a:br>
              <a:rPr lang="en-US" altLang="en-US" sz="2400" smtClean="0"/>
            </a:br>
            <a:r>
              <a:rPr lang="en-US" altLang="en-US" sz="2400" smtClean="0"/>
              <a:t>[</a:t>
            </a:r>
            <a:r>
              <a:rPr lang="en-US" altLang="en-US" sz="2400" b="1" smtClean="0"/>
              <a:t>GROUP</a:t>
            </a:r>
            <a:r>
              <a:rPr lang="en-US" altLang="en-US" sz="2400" smtClean="0"/>
              <a:t> </a:t>
            </a:r>
            <a:r>
              <a:rPr lang="en-US" altLang="en-US" sz="2400" b="1" smtClean="0"/>
              <a:t>BY</a:t>
            </a:r>
            <a:r>
              <a:rPr lang="en-US" altLang="en-US" sz="2400" smtClean="0"/>
              <a:t> 	&lt;grouping attribute(s)&gt;]</a:t>
            </a:r>
            <a:br>
              <a:rPr lang="en-US" altLang="en-US" sz="2400" smtClean="0"/>
            </a:br>
            <a:r>
              <a:rPr lang="en-US" altLang="en-US" sz="2400" smtClean="0"/>
              <a:t>[</a:t>
            </a:r>
            <a:r>
              <a:rPr lang="en-US" altLang="en-US" sz="2400" b="1" smtClean="0"/>
              <a:t>HAVING</a:t>
            </a:r>
            <a:r>
              <a:rPr lang="en-US" altLang="en-US" sz="2400" smtClean="0"/>
              <a:t>		&lt;group condition&gt;]</a:t>
            </a:r>
            <a:br>
              <a:rPr lang="en-US" altLang="en-US" sz="2400" smtClean="0"/>
            </a:br>
            <a:r>
              <a:rPr lang="en-US" altLang="en-US" sz="2400" smtClean="0"/>
              <a:t>[</a:t>
            </a:r>
            <a:r>
              <a:rPr lang="en-US" altLang="en-US" sz="2400" b="1" smtClean="0"/>
              <a:t>ORDER BY</a:t>
            </a:r>
            <a:r>
              <a:rPr lang="en-US" altLang="en-US" sz="2400" smtClean="0"/>
              <a:t> 	&lt;attribute list&gt;]</a:t>
            </a:r>
          </a:p>
          <a:p>
            <a:pPr eaLnBrk="1" hangingPunct="1"/>
            <a:r>
              <a:rPr lang="en-US" altLang="en-US" sz="2400" smtClean="0"/>
              <a:t>There are three SQL commands to modify the database: </a:t>
            </a:r>
            <a:r>
              <a:rPr lang="en-US" altLang="en-US" sz="2400" b="1" smtClean="0"/>
              <a:t>INSERT</a:t>
            </a:r>
            <a:r>
              <a:rPr lang="en-US" altLang="en-US" sz="2400" smtClean="0"/>
              <a:t>, </a:t>
            </a:r>
            <a:r>
              <a:rPr lang="en-US" altLang="en-US" sz="2400" b="1" smtClean="0"/>
              <a:t>DELETE</a:t>
            </a:r>
            <a:r>
              <a:rPr lang="en-US" altLang="en-US" sz="2400" smtClean="0"/>
              <a:t>, and </a:t>
            </a:r>
            <a:r>
              <a:rPr lang="en-US" altLang="en-US" sz="2400" b="1" smtClean="0"/>
              <a:t>UPDATE</a:t>
            </a:r>
            <a:endParaRPr lang="en-US" altLang="en-US" sz="2400" smtClean="0"/>
          </a:p>
        </p:txBody>
      </p:sp>
    </p:spTree>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2688</TotalTime>
  <Words>4893</Words>
  <Application>Microsoft Office PowerPoint</Application>
  <PresentationFormat>Letter Paper (8.5x11 in)</PresentationFormat>
  <Paragraphs>741</Paragraphs>
  <Slides>98</Slides>
  <Notes>82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Arial</vt:lpstr>
      <vt:lpstr>Wingdings</vt:lpstr>
      <vt:lpstr>Tahoma</vt:lpstr>
      <vt:lpstr>Courier New</vt:lpstr>
      <vt:lpstr>Menlo</vt:lpstr>
      <vt:lpstr>Droid Sans</vt:lpstr>
      <vt:lpstr>Times New Roman</vt:lpstr>
      <vt:lpstr>Blends</vt:lpstr>
      <vt:lpstr>PowerPoint Presentation</vt:lpstr>
      <vt:lpstr>Chapter 8</vt:lpstr>
      <vt:lpstr>Data Definition, Constraints, and Schema Changes</vt:lpstr>
      <vt:lpstr>CREATE TABLE</vt:lpstr>
      <vt:lpstr>CREATE TABLE</vt:lpstr>
      <vt:lpstr>DROP TABLE</vt:lpstr>
      <vt:lpstr>ALTER TABLE</vt:lpstr>
      <vt:lpstr>Features Added in SQL2 and SQL-99</vt:lpstr>
      <vt:lpstr>CREATE SCHEMA</vt:lpstr>
      <vt:lpstr>REFERENTIAL INTEGRITY OPTIONS</vt:lpstr>
      <vt:lpstr>REFERENTIAL INTEGRITY OPTIONS (continued)</vt:lpstr>
      <vt:lpstr>Additional Data Types in SQL2 and SQL-99</vt:lpstr>
      <vt:lpstr>Additional Data Types in SQL2 and SQL-99 (contd.)</vt:lpstr>
      <vt:lpstr>Retrieval Queries in SQL</vt:lpstr>
      <vt:lpstr>Retrieval Queries in SQL (contd.)</vt:lpstr>
      <vt:lpstr>Retrieval Queries in SQL (contd.)</vt:lpstr>
      <vt:lpstr>Relational Database Schema--Figure 5.5  </vt:lpstr>
      <vt:lpstr>Populated Database--Fig.5.6</vt:lpstr>
      <vt:lpstr>Simple SQL Queries</vt:lpstr>
      <vt:lpstr>Simple SQL Queries (contd.)</vt:lpstr>
      <vt:lpstr>Simple SQL Queries (contd.)</vt:lpstr>
      <vt:lpstr>Simple SQL Queries (contd.)</vt:lpstr>
      <vt:lpstr>Aliases, * and DISTINCT, Empty WHERE-clause</vt:lpstr>
      <vt:lpstr>ALIASES</vt:lpstr>
      <vt:lpstr>ALIASES (contd.)</vt:lpstr>
      <vt:lpstr>UNSPECIFIED  WHERE-clause</vt:lpstr>
      <vt:lpstr>UNSPECIFIED  WHERE-clause (contd.)</vt:lpstr>
      <vt:lpstr>USE OF *</vt:lpstr>
      <vt:lpstr>USE OF DISTINCT</vt:lpstr>
      <vt:lpstr>SET OPERATIONS</vt:lpstr>
      <vt:lpstr>SET OPERATIONS (contd.) </vt:lpstr>
      <vt:lpstr>NESTING OF QUERIES</vt:lpstr>
      <vt:lpstr>NESTING OF QUERIES (contd.)</vt:lpstr>
      <vt:lpstr>CORRELATED NESTED QUERIES</vt:lpstr>
      <vt:lpstr>CORRELATED NESTED QUERIES (contd.)</vt:lpstr>
      <vt:lpstr>CORRELATED NESTED QUERIES (contd.)</vt:lpstr>
      <vt:lpstr>CORRELATED NESTED QUERIES (contd.)</vt:lpstr>
      <vt:lpstr>CORRELATED NESTED QUERIES (contd.)</vt:lpstr>
      <vt:lpstr>THE EXISTS FUNCTION</vt:lpstr>
      <vt:lpstr>THE EXISTS FUNCTION (contd.)</vt:lpstr>
      <vt:lpstr>THE EXISTS FUNCTION (contd.)</vt:lpstr>
      <vt:lpstr>EXPLICIT SETS</vt:lpstr>
      <vt:lpstr>NULLS IN SQL QUERIES</vt:lpstr>
      <vt:lpstr>Joins</vt:lpstr>
      <vt:lpstr>Joined Relations Feature  in SQL2</vt:lpstr>
      <vt:lpstr>Types of Joins</vt:lpstr>
      <vt:lpstr>Cross Join</vt:lpstr>
      <vt:lpstr>Cross Join</vt:lpstr>
      <vt:lpstr>Inner Join</vt:lpstr>
      <vt:lpstr>Example: Join (Inner Join)</vt:lpstr>
      <vt:lpstr>Example: Join (Inner Join)</vt:lpstr>
      <vt:lpstr>Example: Join (Inner Join) …</vt:lpstr>
      <vt:lpstr>Computing a Join</vt:lpstr>
      <vt:lpstr>Use “Join” Keyword or Not ?</vt:lpstr>
      <vt:lpstr>Use “Join” Keyword or Not ?</vt:lpstr>
      <vt:lpstr>Inner Join vs Equi Join </vt:lpstr>
      <vt:lpstr>Natural Join</vt:lpstr>
      <vt:lpstr>Natural Join vs Inner Join</vt:lpstr>
      <vt:lpstr> Cartesian Product vs Natural Join </vt:lpstr>
      <vt:lpstr>Outer Joins</vt:lpstr>
      <vt:lpstr>For understanding of an Outer Join</vt:lpstr>
      <vt:lpstr>Outer Join …</vt:lpstr>
      <vt:lpstr>Left Outer Join</vt:lpstr>
      <vt:lpstr>Left Outer Join</vt:lpstr>
      <vt:lpstr>Right Outer Join</vt:lpstr>
      <vt:lpstr>Example: Right Outer Join</vt:lpstr>
      <vt:lpstr>Full Outer Join</vt:lpstr>
      <vt:lpstr>Example: Full Outer Join</vt:lpstr>
      <vt:lpstr>Characteristic of Outer Join</vt:lpstr>
      <vt:lpstr>Recap Types of Joins</vt:lpstr>
      <vt:lpstr>AGGREGATE FUNCTIONS</vt:lpstr>
      <vt:lpstr>AGGREGATE FUNCTIONS (contd.)</vt:lpstr>
      <vt:lpstr>AGGREGATE FUNCTIONS (contd.)</vt:lpstr>
      <vt:lpstr>GROUPING</vt:lpstr>
      <vt:lpstr>GROUPING (contd.)</vt:lpstr>
      <vt:lpstr>GROUPING (contd.)</vt:lpstr>
      <vt:lpstr>THE HAVING-CLAUSE</vt:lpstr>
      <vt:lpstr>THE HAVING-CLAUSE (contd.)</vt:lpstr>
      <vt:lpstr>SUBSTRING COMPARISON</vt:lpstr>
      <vt:lpstr>SUBSTRING COMPARISON (contd.)</vt:lpstr>
      <vt:lpstr>SUBSTRING COMPARISON (contd.)</vt:lpstr>
      <vt:lpstr>ARITHMETIC OPERATIONS</vt:lpstr>
      <vt:lpstr>ORDER BY</vt:lpstr>
      <vt:lpstr>ORDER BY (contd.)</vt:lpstr>
      <vt:lpstr>Summary of SQL Queries</vt:lpstr>
      <vt:lpstr>Summary of SQL Queries (contd.)</vt:lpstr>
      <vt:lpstr>Specifying Updates in SQL</vt:lpstr>
      <vt:lpstr>INSERT</vt:lpstr>
      <vt:lpstr>INSERT (contd.)</vt:lpstr>
      <vt:lpstr>INSERT (contd.)</vt:lpstr>
      <vt:lpstr>INSERT (contd.)</vt:lpstr>
      <vt:lpstr>INSERT (contd.)</vt:lpstr>
      <vt:lpstr>DELETE</vt:lpstr>
      <vt:lpstr>DELETE (contd.)</vt:lpstr>
      <vt:lpstr>UPDATE</vt:lpstr>
      <vt:lpstr>UPDATE (contd.)</vt:lpstr>
      <vt:lpstr>UPDATE (contd.)</vt:lpstr>
      <vt:lpstr>Recap of SQL Queries</vt:lpstr>
    </vt:vector>
  </TitlesOfParts>
  <Manager/>
  <Company>Copyright © 2007 Ramez Elmasri and Shamkant B. Navathe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subject>SQL-99: SchemaDefinition, Constraints, and Queries and Views</dc:subject>
  <dc:creator>Elmasri/Navathe</dc:creator>
  <cp:keywords/>
  <dc:description/>
  <cp:lastModifiedBy>user1</cp:lastModifiedBy>
  <cp:revision>114</cp:revision>
  <cp:lastPrinted>2001-11-04T00:51:13Z</cp:lastPrinted>
  <dcterms:created xsi:type="dcterms:W3CDTF">2005-02-25T19:46:41Z</dcterms:created>
  <dcterms:modified xsi:type="dcterms:W3CDTF">2025-07-28T10:25:49Z</dcterms:modified>
  <cp:category/>
</cp:coreProperties>
</file>