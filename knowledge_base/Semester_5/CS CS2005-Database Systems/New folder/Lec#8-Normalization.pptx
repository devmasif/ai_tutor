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9" r:id="rId1"/>
  </p:sldMasterIdLst>
  <p:notesMasterIdLst>
    <p:notesMasterId r:id="rId92"/>
  </p:notesMasterIdLst>
  <p:handoutMasterIdLst>
    <p:handoutMasterId r:id="rId93"/>
  </p:handoutMasterIdLst>
  <p:sldIdLst>
    <p:sldId id="282" r:id="rId2"/>
    <p:sldId id="324" r:id="rId3"/>
    <p:sldId id="327" r:id="rId4"/>
    <p:sldId id="374" r:id="rId5"/>
    <p:sldId id="329" r:id="rId6"/>
    <p:sldId id="330" r:id="rId7"/>
    <p:sldId id="331" r:id="rId8"/>
    <p:sldId id="332" r:id="rId9"/>
    <p:sldId id="333" r:id="rId10"/>
    <p:sldId id="334" r:id="rId11"/>
    <p:sldId id="335" r:id="rId12"/>
    <p:sldId id="375" r:id="rId13"/>
    <p:sldId id="336" r:id="rId14"/>
    <p:sldId id="337" r:id="rId15"/>
    <p:sldId id="338" r:id="rId16"/>
    <p:sldId id="339" r:id="rId17"/>
    <p:sldId id="342" r:id="rId18"/>
    <p:sldId id="343" r:id="rId19"/>
    <p:sldId id="344" r:id="rId20"/>
    <p:sldId id="345" r:id="rId21"/>
    <p:sldId id="346" r:id="rId22"/>
    <p:sldId id="347" r:id="rId23"/>
    <p:sldId id="348" r:id="rId24"/>
    <p:sldId id="380" r:id="rId25"/>
    <p:sldId id="381" r:id="rId26"/>
    <p:sldId id="382" r:id="rId27"/>
    <p:sldId id="383" r:id="rId28"/>
    <p:sldId id="384" r:id="rId29"/>
    <p:sldId id="386" r:id="rId30"/>
    <p:sldId id="387" r:id="rId31"/>
    <p:sldId id="388" r:id="rId32"/>
    <p:sldId id="349" r:id="rId33"/>
    <p:sldId id="408" r:id="rId34"/>
    <p:sldId id="410" r:id="rId35"/>
    <p:sldId id="293" r:id="rId36"/>
    <p:sldId id="352" r:id="rId37"/>
    <p:sldId id="353" r:id="rId38"/>
    <p:sldId id="354" r:id="rId39"/>
    <p:sldId id="355" r:id="rId40"/>
    <p:sldId id="358" r:id="rId41"/>
    <p:sldId id="359" r:id="rId42"/>
    <p:sldId id="360" r:id="rId43"/>
    <p:sldId id="398" r:id="rId44"/>
    <p:sldId id="399" r:id="rId45"/>
    <p:sldId id="400" r:id="rId46"/>
    <p:sldId id="361" r:id="rId47"/>
    <p:sldId id="362" r:id="rId48"/>
    <p:sldId id="401" r:id="rId49"/>
    <p:sldId id="402" r:id="rId50"/>
    <p:sldId id="403" r:id="rId51"/>
    <p:sldId id="404" r:id="rId52"/>
    <p:sldId id="365" r:id="rId53"/>
    <p:sldId id="366" r:id="rId54"/>
    <p:sldId id="405" r:id="rId55"/>
    <p:sldId id="406" r:id="rId56"/>
    <p:sldId id="407" r:id="rId57"/>
    <p:sldId id="411" r:id="rId58"/>
    <p:sldId id="412" r:id="rId59"/>
    <p:sldId id="413" r:id="rId60"/>
    <p:sldId id="414" r:id="rId61"/>
    <p:sldId id="415" r:id="rId62"/>
    <p:sldId id="416" r:id="rId63"/>
    <p:sldId id="417" r:id="rId64"/>
    <p:sldId id="418" r:id="rId65"/>
    <p:sldId id="376" r:id="rId66"/>
    <p:sldId id="419" r:id="rId67"/>
    <p:sldId id="442" r:id="rId68"/>
    <p:sldId id="420" r:id="rId69"/>
    <p:sldId id="421" r:id="rId70"/>
    <p:sldId id="422" r:id="rId71"/>
    <p:sldId id="423" r:id="rId72"/>
    <p:sldId id="424" r:id="rId73"/>
    <p:sldId id="425" r:id="rId74"/>
    <p:sldId id="426" r:id="rId75"/>
    <p:sldId id="427" r:id="rId76"/>
    <p:sldId id="428" r:id="rId77"/>
    <p:sldId id="429" r:id="rId78"/>
    <p:sldId id="430" r:id="rId79"/>
    <p:sldId id="431" r:id="rId80"/>
    <p:sldId id="432" r:id="rId81"/>
    <p:sldId id="433" r:id="rId82"/>
    <p:sldId id="434" r:id="rId83"/>
    <p:sldId id="435" r:id="rId84"/>
    <p:sldId id="436" r:id="rId85"/>
    <p:sldId id="437" r:id="rId86"/>
    <p:sldId id="438" r:id="rId87"/>
    <p:sldId id="439" r:id="rId88"/>
    <p:sldId id="440" r:id="rId89"/>
    <p:sldId id="441" r:id="rId90"/>
    <p:sldId id="443" r:id="rId91"/>
  </p:sldIdLst>
  <p:sldSz cx="9144000" cy="6858000" type="letter"/>
  <p:notesSz cx="7010400" cy="9296400"/>
  <p:defaultTextStyle>
    <a:defPPr>
      <a:defRPr lang="en-CA"/>
    </a:defPPr>
    <a:lvl1pPr algn="l" rtl="0" eaLnBrk="0" fontAlgn="base" hangingPunct="0">
      <a:spcBef>
        <a:spcPct val="0"/>
      </a:spcBef>
      <a:spcAft>
        <a:spcPct val="0"/>
      </a:spcAft>
      <a:defRPr sz="2400" i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i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i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i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i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2400" i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2400" i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2400" i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2400" i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588" autoAdjust="0"/>
    <p:restoredTop sz="75455" autoAdjust="0"/>
  </p:normalViewPr>
  <p:slideViewPr>
    <p:cSldViewPr snapToObjects="1">
      <p:cViewPr varScale="1">
        <p:scale>
          <a:sx n="55" d="100"/>
          <a:sy n="55" d="100"/>
        </p:scale>
        <p:origin x="2040" y="78"/>
      </p:cViewPr>
      <p:guideLst>
        <p:guide orient="horz" pos="192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Objects="1">
      <p:cViewPr>
        <p:scale>
          <a:sx n="100" d="100"/>
          <a:sy n="100" d="100"/>
        </p:scale>
        <p:origin x="-780" y="2172"/>
      </p:cViewPr>
      <p:guideLst>
        <p:guide orient="horz" pos="2928"/>
        <p:guide pos="220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97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_rels/viewProps.xml.rels><?xml version="1.0" encoding="UTF-8" standalone="yes"?>
<Relationships xmlns="http://schemas.openxmlformats.org/package/2006/relationships"><Relationship Id="rId3" Type="http://schemas.openxmlformats.org/officeDocument/2006/relationships/slide" Target="slides/slide64.xml"/><Relationship Id="rId2" Type="http://schemas.openxmlformats.org/officeDocument/2006/relationships/slide" Target="slides/slide63.xml"/><Relationship Id="rId1" Type="http://schemas.openxmlformats.org/officeDocument/2006/relationships/slide" Target="slides/slide60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image" Target="../media/image13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image" Target="../media/image19.emf"/><Relationship Id="rId1" Type="http://schemas.openxmlformats.org/officeDocument/2006/relationships/image" Target="../media/image18.emf"/><Relationship Id="rId4" Type="http://schemas.openxmlformats.org/officeDocument/2006/relationships/image" Target="../media/image21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e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image" Target="../media/image25.emf"/><Relationship Id="rId1" Type="http://schemas.openxmlformats.org/officeDocument/2006/relationships/image" Target="../media/image24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8.w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9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D16E0782-1C96-7F42-9969-7FCF9271518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 i="0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endParaRPr lang="en-CA" altLang="en-US"/>
          </a:p>
        </p:txBody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1E877CC9-3A8F-0542-AC82-F366C660F0D5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1925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i="0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endParaRPr lang="en-CA" altLang="en-US"/>
          </a:p>
        </p:txBody>
      </p:sp>
      <p:sp>
        <p:nvSpPr>
          <p:cNvPr id="60420" name="Rectangle 4">
            <a:extLst>
              <a:ext uri="{FF2B5EF4-FFF2-40B4-BE49-F238E27FC236}">
                <a16:creationId xmlns:a16="http://schemas.microsoft.com/office/drawing/2014/main" id="{52427728-7A72-2449-AD8C-EECCA887582B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1263"/>
            <a:ext cx="3038475" cy="465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i="0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endParaRPr lang="en-CA" altLang="en-US"/>
          </a:p>
        </p:txBody>
      </p:sp>
      <p:sp>
        <p:nvSpPr>
          <p:cNvPr id="60421" name="Rectangle 5">
            <a:extLst>
              <a:ext uri="{FF2B5EF4-FFF2-40B4-BE49-F238E27FC236}">
                <a16:creationId xmlns:a16="http://schemas.microsoft.com/office/drawing/2014/main" id="{EBB28C98-2924-6C49-A41D-94840F7B001F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1925" y="8831263"/>
            <a:ext cx="3038475" cy="465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i="0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fld id="{3005EFC9-9B30-4788-9E09-DF5452EF5DC8}" type="slidenum">
              <a:rPr lang="en-CA" altLang="en-US"/>
              <a:pPr>
                <a:defRPr/>
              </a:pPr>
              <a:t>‹#›</a:t>
            </a:fld>
            <a:endParaRPr lang="en-CA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>
            <a:extLst>
              <a:ext uri="{FF2B5EF4-FFF2-40B4-BE49-F238E27FC236}">
                <a16:creationId xmlns:a16="http://schemas.microsoft.com/office/drawing/2014/main" id="{A215EC17-CB17-AD49-899D-270788D920A5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 i="0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endParaRPr lang="en-CA" altLang="en-US"/>
          </a:p>
        </p:txBody>
      </p:sp>
      <p:sp>
        <p:nvSpPr>
          <p:cNvPr id="61443" name="Rectangle 3">
            <a:extLst>
              <a:ext uri="{FF2B5EF4-FFF2-40B4-BE49-F238E27FC236}">
                <a16:creationId xmlns:a16="http://schemas.microsoft.com/office/drawing/2014/main" id="{DBF75784-09D9-FF45-8374-9E65125E985F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971925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i="0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endParaRPr lang="en-CA" altLang="en-US"/>
          </a:p>
        </p:txBody>
      </p:sp>
      <p:sp>
        <p:nvSpPr>
          <p:cNvPr id="3076" name="Rectangle 4"/>
          <p:cNvSpPr>
            <a:spLocks noChangeArrowheads="1" noTextEdit="1"/>
          </p:cNvSpPr>
          <p:nvPr>
            <p:ph type="sldImg" idx="2"/>
          </p:nvPr>
        </p:nvSpPr>
        <p:spPr bwMode="auto">
          <a:xfrm>
            <a:off x="1181100" y="696913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61445" name="Rectangle 5">
            <a:extLst>
              <a:ext uri="{FF2B5EF4-FFF2-40B4-BE49-F238E27FC236}">
                <a16:creationId xmlns:a16="http://schemas.microsoft.com/office/drawing/2014/main" id="{49C316B9-348D-5A4B-88EB-04F350CBD5BF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5038" y="4416425"/>
            <a:ext cx="5140325" cy="4183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CA" altLang="en-US" noProof="0"/>
              <a:t>Click to edit Master text styles</a:t>
            </a:r>
          </a:p>
          <a:p>
            <a:pPr lvl="1"/>
            <a:r>
              <a:rPr lang="en-CA" altLang="en-US" noProof="0"/>
              <a:t>Second level</a:t>
            </a:r>
          </a:p>
          <a:p>
            <a:pPr lvl="2"/>
            <a:r>
              <a:rPr lang="en-CA" altLang="en-US" noProof="0"/>
              <a:t>Third level</a:t>
            </a:r>
          </a:p>
          <a:p>
            <a:pPr lvl="3"/>
            <a:r>
              <a:rPr lang="en-CA" altLang="en-US" noProof="0"/>
              <a:t>Fourth level</a:t>
            </a:r>
          </a:p>
          <a:p>
            <a:pPr lvl="4"/>
            <a:r>
              <a:rPr lang="en-CA" altLang="en-US" noProof="0"/>
              <a:t>Fifth level</a:t>
            </a:r>
          </a:p>
        </p:txBody>
      </p:sp>
      <p:sp>
        <p:nvSpPr>
          <p:cNvPr id="61446" name="Rectangle 6">
            <a:extLst>
              <a:ext uri="{FF2B5EF4-FFF2-40B4-BE49-F238E27FC236}">
                <a16:creationId xmlns:a16="http://schemas.microsoft.com/office/drawing/2014/main" id="{95D442B2-B94C-1349-B3B4-CE944730542D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1263"/>
            <a:ext cx="3038475" cy="465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i="0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endParaRPr lang="en-CA" altLang="en-US"/>
          </a:p>
        </p:txBody>
      </p:sp>
      <p:sp>
        <p:nvSpPr>
          <p:cNvPr id="61447" name="Rectangle 7">
            <a:extLst>
              <a:ext uri="{FF2B5EF4-FFF2-40B4-BE49-F238E27FC236}">
                <a16:creationId xmlns:a16="http://schemas.microsoft.com/office/drawing/2014/main" id="{E09EC2D6-F640-B947-8CC5-D2E5B03E15B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1925" y="8831263"/>
            <a:ext cx="3038475" cy="465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i="0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fld id="{21BE75FF-6E1B-4006-B8E2-B69940B96B0D}" type="slidenum">
              <a:rPr lang="en-CA" altLang="en-US"/>
              <a:pPr>
                <a:defRPr/>
              </a:pPr>
              <a:t>‹#›</a:t>
            </a:fld>
            <a:endParaRPr lang="en-CA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55650" indent="-290513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63638" indent="-231775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30363" indent="-231775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95500" indent="-231775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52700" indent="-231775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09900" indent="-231775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67100" indent="-231775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924300" indent="-231775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E92ED92-E8C7-4C6A-A8F1-3F7DB4D9508A}" type="slidenum">
              <a:rPr lang="en-CA" altLang="en-US" sz="1200" i="0" smtClean="0">
                <a:latin typeface="Tahoma" panose="020B0604030504040204" pitchFamily="34" charset="0"/>
              </a:rPr>
              <a:pPr/>
              <a:t>1</a:t>
            </a:fld>
            <a:endParaRPr lang="en-CA" altLang="en-US" sz="1200" i="0" smtClean="0">
              <a:latin typeface="Tahoma" panose="020B0604030504040204" pitchFamily="34" charset="0"/>
            </a:endParaRPr>
          </a:p>
        </p:txBody>
      </p:sp>
      <p:sp>
        <p:nvSpPr>
          <p:cNvPr id="6147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55650" indent="-290513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63638" indent="-231775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30363" indent="-231775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95500" indent="-231775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52700" indent="-231775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09900" indent="-231775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67100" indent="-231775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924300" indent="-231775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D4C4CE4-452C-46B0-93DF-813EA1474A87}" type="slidenum">
              <a:rPr lang="en-CA" altLang="en-US" sz="1200" i="0" smtClean="0">
                <a:latin typeface="Tahoma" panose="020B0604030504040204" pitchFamily="34" charset="0"/>
              </a:rPr>
              <a:pPr/>
              <a:t>2</a:t>
            </a:fld>
            <a:endParaRPr lang="en-CA" altLang="en-US" sz="1200" i="0" smtClean="0">
              <a:latin typeface="Tahoma" panose="020B0604030504040204" pitchFamily="34" charset="0"/>
            </a:endParaRPr>
          </a:p>
        </p:txBody>
      </p:sp>
      <p:sp>
        <p:nvSpPr>
          <p:cNvPr id="8195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55650" indent="-290513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63638" indent="-231775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30363" indent="-231775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95500" indent="-231775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52700" indent="-231775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09900" indent="-231775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67100" indent="-231775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924300" indent="-231775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EB26318-FA93-45B7-A11E-F410F983E083}" type="slidenum">
              <a:rPr lang="en-CA" altLang="en-US" sz="1200" i="0" smtClean="0">
                <a:latin typeface="Tahoma" panose="020B0604030504040204" pitchFamily="34" charset="0"/>
              </a:rPr>
              <a:pPr/>
              <a:t>3</a:t>
            </a:fld>
            <a:endParaRPr lang="en-CA" altLang="en-US" sz="1200" i="0" smtClean="0">
              <a:latin typeface="Tahoma" panose="020B0604030504040204" pitchFamily="34" charset="0"/>
            </a:endParaRPr>
          </a:p>
        </p:txBody>
      </p:sp>
      <p:sp>
        <p:nvSpPr>
          <p:cNvPr id="10243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55650" indent="-290513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63638" indent="-231775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30363" indent="-231775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95500" indent="-231775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52700" indent="-231775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09900" indent="-231775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67100" indent="-231775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924300" indent="-231775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5ECF917-3322-4368-8235-35CEEA2E24F3}" type="slidenum">
              <a:rPr lang="en-CA" altLang="en-US" sz="1200" i="0" smtClean="0">
                <a:latin typeface="Tahoma" panose="020B0604030504040204" pitchFamily="34" charset="0"/>
              </a:rPr>
              <a:pPr/>
              <a:t>4</a:t>
            </a:fld>
            <a:endParaRPr lang="en-CA" altLang="en-US" sz="1200" i="0" smtClean="0">
              <a:latin typeface="Tahoma" panose="020B0604030504040204" pitchFamily="34" charset="0"/>
            </a:endParaRPr>
          </a:p>
        </p:txBody>
      </p:sp>
      <p:sp>
        <p:nvSpPr>
          <p:cNvPr id="12291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55650" indent="-290513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63638" indent="-231775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30363" indent="-231775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95500" indent="-231775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52700" indent="-231775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09900" indent="-231775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67100" indent="-231775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924300" indent="-231775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B09530D-16E9-4985-A58D-0D333B0B2A19}" type="slidenum">
              <a:rPr lang="en-CA" altLang="en-US" sz="1200" i="0" smtClean="0">
                <a:latin typeface="Tahoma" panose="020B0604030504040204" pitchFamily="34" charset="0"/>
              </a:rPr>
              <a:pPr/>
              <a:t>5</a:t>
            </a:fld>
            <a:endParaRPr lang="en-CA" altLang="en-US" sz="1200" i="0" smtClean="0">
              <a:latin typeface="Tahoma" panose="020B0604030504040204" pitchFamily="34" charset="0"/>
            </a:endParaRPr>
          </a:p>
        </p:txBody>
      </p:sp>
      <p:sp>
        <p:nvSpPr>
          <p:cNvPr id="14339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55650" indent="-290513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63638" indent="-231775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30363" indent="-231775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95500" indent="-231775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52700" indent="-231775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09900" indent="-231775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67100" indent="-231775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924300" indent="-231775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1065D81-6AEA-43B6-9250-82EB9DB84D6A}" type="slidenum">
              <a:rPr lang="en-CA" altLang="en-US" sz="1200" i="0" smtClean="0">
                <a:latin typeface="Tahoma" panose="020B0604030504040204" pitchFamily="34" charset="0"/>
              </a:rPr>
              <a:pPr/>
              <a:t>6</a:t>
            </a:fld>
            <a:endParaRPr lang="en-CA" altLang="en-US" sz="1200" i="0" smtClean="0">
              <a:latin typeface="Tahoma" panose="020B0604030504040204" pitchFamily="34" charset="0"/>
            </a:endParaRPr>
          </a:p>
        </p:txBody>
      </p:sp>
      <p:sp>
        <p:nvSpPr>
          <p:cNvPr id="16387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55650" indent="-290513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63638" indent="-231775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30363" indent="-231775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95500" indent="-231775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52700" indent="-231775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09900" indent="-231775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67100" indent="-231775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924300" indent="-231775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153D139-814D-475C-925A-679FF81B69DB}" type="slidenum">
              <a:rPr lang="en-CA" altLang="en-US" sz="1200" i="0" smtClean="0">
                <a:latin typeface="Tahoma" panose="020B0604030504040204" pitchFamily="34" charset="0"/>
              </a:rPr>
              <a:pPr/>
              <a:t>7</a:t>
            </a:fld>
            <a:endParaRPr lang="en-CA" altLang="en-US" sz="1200" i="0" smtClean="0">
              <a:latin typeface="Tahoma" panose="020B0604030504040204" pitchFamily="34" charset="0"/>
            </a:endParaRPr>
          </a:p>
        </p:txBody>
      </p:sp>
      <p:sp>
        <p:nvSpPr>
          <p:cNvPr id="18435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55650" indent="-290513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63638" indent="-231775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30363" indent="-231775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95500" indent="-231775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52700" indent="-231775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09900" indent="-231775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67100" indent="-231775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924300" indent="-231775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4E26857-F17B-4965-BB9C-A53B8B1E5274}" type="slidenum">
              <a:rPr lang="en-CA" altLang="en-US" sz="1200" i="0" smtClean="0">
                <a:latin typeface="Tahoma" panose="020B0604030504040204" pitchFamily="34" charset="0"/>
              </a:rPr>
              <a:pPr/>
              <a:t>8</a:t>
            </a:fld>
            <a:endParaRPr lang="en-CA" altLang="en-US" sz="1200" i="0" smtClean="0">
              <a:latin typeface="Tahoma" panose="020B0604030504040204" pitchFamily="34" charset="0"/>
            </a:endParaRPr>
          </a:p>
        </p:txBody>
      </p:sp>
      <p:sp>
        <p:nvSpPr>
          <p:cNvPr id="20483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55650" indent="-290513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63638" indent="-231775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30363" indent="-231775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95500" indent="-231775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52700" indent="-231775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09900" indent="-231775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67100" indent="-231775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924300" indent="-231775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E3700FF-E122-4911-A168-1912CD5BF22E}" type="slidenum">
              <a:rPr lang="en-CA" altLang="en-US" sz="1200" i="0" smtClean="0">
                <a:latin typeface="Tahoma" panose="020B0604030504040204" pitchFamily="34" charset="0"/>
              </a:rPr>
              <a:pPr/>
              <a:t>9</a:t>
            </a:fld>
            <a:endParaRPr lang="en-CA" altLang="en-US" sz="1200" i="0" smtClean="0">
              <a:latin typeface="Tahoma" panose="020B0604030504040204" pitchFamily="34" charset="0"/>
            </a:endParaRPr>
          </a:p>
        </p:txBody>
      </p:sp>
      <p:sp>
        <p:nvSpPr>
          <p:cNvPr id="22531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55650" indent="-290513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63638" indent="-231775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30363" indent="-231775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95500" indent="-231775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52700" indent="-231775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09900" indent="-231775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67100" indent="-231775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924300" indent="-231775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AC1554E-CB3D-4C0C-9420-C0A6E5E842E2}" type="slidenum">
              <a:rPr lang="en-CA" altLang="en-US" sz="1200" i="0" smtClean="0">
                <a:latin typeface="Tahoma" panose="020B0604030504040204" pitchFamily="34" charset="0"/>
              </a:rPr>
              <a:pPr/>
              <a:t>10</a:t>
            </a:fld>
            <a:endParaRPr lang="en-CA" altLang="en-US" sz="1200" i="0" smtClean="0">
              <a:latin typeface="Tahoma" panose="020B0604030504040204" pitchFamily="34" charset="0"/>
            </a:endParaRPr>
          </a:p>
        </p:txBody>
      </p:sp>
      <p:sp>
        <p:nvSpPr>
          <p:cNvPr id="24579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55650" indent="-290513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63638" indent="-231775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30363" indent="-231775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95500" indent="-231775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52700" indent="-231775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09900" indent="-231775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67100" indent="-231775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924300" indent="-231775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E9A6F56-FEE9-44B1-805C-A412A033625A}" type="slidenum">
              <a:rPr lang="en-CA" altLang="en-US" sz="1200" i="0" smtClean="0">
                <a:latin typeface="Tahoma" panose="020B0604030504040204" pitchFamily="34" charset="0"/>
              </a:rPr>
              <a:pPr/>
              <a:t>11</a:t>
            </a:fld>
            <a:endParaRPr lang="en-CA" altLang="en-US" sz="1200" i="0" smtClean="0">
              <a:latin typeface="Tahoma" panose="020B0604030504040204" pitchFamily="34" charset="0"/>
            </a:endParaRPr>
          </a:p>
        </p:txBody>
      </p:sp>
      <p:sp>
        <p:nvSpPr>
          <p:cNvPr id="26627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55650" indent="-290513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63638" indent="-231775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30363" indent="-231775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95500" indent="-231775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52700" indent="-231775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09900" indent="-231775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67100" indent="-231775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924300" indent="-231775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FF146F6-B4F1-44E0-BC6A-67EC9CD974FF}" type="slidenum">
              <a:rPr lang="en-CA" altLang="en-US" sz="1200" i="0" smtClean="0">
                <a:latin typeface="Tahoma" panose="020B0604030504040204" pitchFamily="34" charset="0"/>
              </a:rPr>
              <a:pPr/>
              <a:t>12</a:t>
            </a:fld>
            <a:endParaRPr lang="en-CA" altLang="en-US" sz="1200" i="0" smtClean="0">
              <a:latin typeface="Tahoma" panose="020B0604030504040204" pitchFamily="34" charset="0"/>
            </a:endParaRPr>
          </a:p>
        </p:txBody>
      </p:sp>
      <p:sp>
        <p:nvSpPr>
          <p:cNvPr id="28675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55650" indent="-290513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63638" indent="-231775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30363" indent="-231775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95500" indent="-231775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52700" indent="-231775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09900" indent="-231775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67100" indent="-231775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924300" indent="-231775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2EB5398-7BC9-485B-B86F-6E6FEA74B8B0}" type="slidenum">
              <a:rPr lang="en-CA" altLang="en-US" sz="1200" i="0" smtClean="0">
                <a:latin typeface="Tahoma" panose="020B0604030504040204" pitchFamily="34" charset="0"/>
              </a:rPr>
              <a:pPr/>
              <a:t>13</a:t>
            </a:fld>
            <a:endParaRPr lang="en-CA" altLang="en-US" sz="1200" i="0" smtClean="0">
              <a:latin typeface="Tahoma" panose="020B0604030504040204" pitchFamily="34" charset="0"/>
            </a:endParaRPr>
          </a:p>
        </p:txBody>
      </p:sp>
      <p:sp>
        <p:nvSpPr>
          <p:cNvPr id="30723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55650" indent="-290513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63638" indent="-231775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30363" indent="-231775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95500" indent="-231775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52700" indent="-231775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09900" indent="-231775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67100" indent="-231775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924300" indent="-231775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9D6AC7B-5341-46B6-9F18-571D5D24FBF3}" type="slidenum">
              <a:rPr lang="en-CA" altLang="en-US" sz="1200" i="0" smtClean="0">
                <a:latin typeface="Tahoma" panose="020B0604030504040204" pitchFamily="34" charset="0"/>
              </a:rPr>
              <a:pPr/>
              <a:t>14</a:t>
            </a:fld>
            <a:endParaRPr lang="en-CA" altLang="en-US" sz="1200" i="0" smtClean="0">
              <a:latin typeface="Tahoma" panose="020B0604030504040204" pitchFamily="34" charset="0"/>
            </a:endParaRPr>
          </a:p>
        </p:txBody>
      </p:sp>
      <p:sp>
        <p:nvSpPr>
          <p:cNvPr id="32771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55650" indent="-290513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63638" indent="-231775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30363" indent="-231775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95500" indent="-231775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52700" indent="-231775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09900" indent="-231775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67100" indent="-231775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924300" indent="-231775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C27A0FE-A0CA-420D-9960-BD586938440B}" type="slidenum">
              <a:rPr lang="en-CA" altLang="en-US" sz="1200" i="0" smtClean="0">
                <a:latin typeface="Tahoma" panose="020B0604030504040204" pitchFamily="34" charset="0"/>
              </a:rPr>
              <a:pPr/>
              <a:t>15</a:t>
            </a:fld>
            <a:endParaRPr lang="en-CA" altLang="en-US" sz="1200" i="0" smtClean="0">
              <a:latin typeface="Tahoma" panose="020B0604030504040204" pitchFamily="34" charset="0"/>
            </a:endParaRPr>
          </a:p>
        </p:txBody>
      </p:sp>
      <p:sp>
        <p:nvSpPr>
          <p:cNvPr id="34819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55650" indent="-290513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63638" indent="-231775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30363" indent="-231775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95500" indent="-231775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52700" indent="-231775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09900" indent="-231775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67100" indent="-231775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924300" indent="-231775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44D3C19-FB8E-4932-B8C1-999E10DE1313}" type="slidenum">
              <a:rPr lang="en-CA" altLang="en-US" sz="1200" i="0" smtClean="0">
                <a:latin typeface="Tahoma" panose="020B0604030504040204" pitchFamily="34" charset="0"/>
              </a:rPr>
              <a:pPr/>
              <a:t>16</a:t>
            </a:fld>
            <a:endParaRPr lang="en-CA" altLang="en-US" sz="1200" i="0" smtClean="0">
              <a:latin typeface="Tahoma" panose="020B0604030504040204" pitchFamily="34" charset="0"/>
            </a:endParaRPr>
          </a:p>
        </p:txBody>
      </p:sp>
      <p:sp>
        <p:nvSpPr>
          <p:cNvPr id="36867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55650" indent="-290513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63638" indent="-231775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30363" indent="-231775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95500" indent="-231775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52700" indent="-231775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09900" indent="-231775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67100" indent="-231775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924300" indent="-231775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7AFD904-9368-4FA7-A0F5-B1E058C92E2B}" type="slidenum">
              <a:rPr lang="en-CA" altLang="en-US" sz="1200" i="0" smtClean="0">
                <a:latin typeface="Tahoma" panose="020B0604030504040204" pitchFamily="34" charset="0"/>
              </a:rPr>
              <a:pPr/>
              <a:t>17</a:t>
            </a:fld>
            <a:endParaRPr lang="en-CA" altLang="en-US" sz="1200" i="0" smtClean="0">
              <a:latin typeface="Tahoma" panose="020B0604030504040204" pitchFamily="34" charset="0"/>
            </a:endParaRPr>
          </a:p>
        </p:txBody>
      </p:sp>
      <p:sp>
        <p:nvSpPr>
          <p:cNvPr id="38915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55650" indent="-290513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63638" indent="-231775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30363" indent="-231775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95500" indent="-231775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52700" indent="-231775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09900" indent="-231775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67100" indent="-231775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924300" indent="-231775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E133EAB-74D5-48E3-BF7D-8298E374AF59}" type="slidenum">
              <a:rPr lang="en-CA" altLang="en-US" sz="1200" i="0" smtClean="0">
                <a:latin typeface="Tahoma" panose="020B0604030504040204" pitchFamily="34" charset="0"/>
              </a:rPr>
              <a:pPr/>
              <a:t>18</a:t>
            </a:fld>
            <a:endParaRPr lang="en-CA" altLang="en-US" sz="1200" i="0" smtClean="0">
              <a:latin typeface="Tahoma" panose="020B0604030504040204" pitchFamily="34" charset="0"/>
            </a:endParaRPr>
          </a:p>
        </p:txBody>
      </p:sp>
      <p:sp>
        <p:nvSpPr>
          <p:cNvPr id="40963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55650" indent="-290513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63638" indent="-231775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30363" indent="-231775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95500" indent="-231775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52700" indent="-231775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09900" indent="-231775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67100" indent="-231775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924300" indent="-231775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6F53826-6D6C-43EB-9633-40C3484D9735}" type="slidenum">
              <a:rPr lang="en-CA" altLang="en-US" sz="1200" i="0" smtClean="0">
                <a:latin typeface="Tahoma" panose="020B0604030504040204" pitchFamily="34" charset="0"/>
              </a:rPr>
              <a:pPr/>
              <a:t>19</a:t>
            </a:fld>
            <a:endParaRPr lang="en-CA" altLang="en-US" sz="1200" i="0" smtClean="0">
              <a:latin typeface="Tahoma" panose="020B0604030504040204" pitchFamily="34" charset="0"/>
            </a:endParaRPr>
          </a:p>
        </p:txBody>
      </p:sp>
      <p:sp>
        <p:nvSpPr>
          <p:cNvPr id="43011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55650" indent="-290513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63638" indent="-231775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30363" indent="-231775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95500" indent="-231775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52700" indent="-231775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09900" indent="-231775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67100" indent="-231775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924300" indent="-231775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0D046CF-0EDF-42E5-A946-E7F6AC1E2080}" type="slidenum">
              <a:rPr lang="en-CA" altLang="en-US" sz="1200" i="0" smtClean="0">
                <a:latin typeface="Tahoma" panose="020B0604030504040204" pitchFamily="34" charset="0"/>
              </a:rPr>
              <a:pPr/>
              <a:t>20</a:t>
            </a:fld>
            <a:endParaRPr lang="en-CA" altLang="en-US" sz="1200" i="0" smtClean="0">
              <a:latin typeface="Tahoma" panose="020B0604030504040204" pitchFamily="34" charset="0"/>
            </a:endParaRPr>
          </a:p>
        </p:txBody>
      </p:sp>
      <p:sp>
        <p:nvSpPr>
          <p:cNvPr id="45059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55650" indent="-290513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63638" indent="-231775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30363" indent="-231775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95500" indent="-231775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52700" indent="-231775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09900" indent="-231775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67100" indent="-231775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924300" indent="-231775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14D3212-F47E-4AB5-A417-89C0A71D453D}" type="slidenum">
              <a:rPr lang="en-CA" altLang="en-US" sz="1200" i="0" smtClean="0">
                <a:latin typeface="Tahoma" panose="020B0604030504040204" pitchFamily="34" charset="0"/>
              </a:rPr>
              <a:pPr/>
              <a:t>21</a:t>
            </a:fld>
            <a:endParaRPr lang="en-CA" altLang="en-US" sz="1200" i="0" smtClean="0">
              <a:latin typeface="Tahoma" panose="020B0604030504040204" pitchFamily="34" charset="0"/>
            </a:endParaRPr>
          </a:p>
        </p:txBody>
      </p:sp>
      <p:sp>
        <p:nvSpPr>
          <p:cNvPr id="47107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55650" indent="-290513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63638" indent="-231775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30363" indent="-231775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95500" indent="-231775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52700" indent="-231775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09900" indent="-231775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67100" indent="-231775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924300" indent="-231775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95F8F72-4A73-4D78-ADAB-AE09F3434973}" type="slidenum">
              <a:rPr lang="en-CA" altLang="en-US" sz="1200" i="0" smtClean="0">
                <a:latin typeface="Tahoma" panose="020B0604030504040204" pitchFamily="34" charset="0"/>
              </a:rPr>
              <a:pPr/>
              <a:t>22</a:t>
            </a:fld>
            <a:endParaRPr lang="en-CA" altLang="en-US" sz="1200" i="0" smtClean="0">
              <a:latin typeface="Tahoma" panose="020B0604030504040204" pitchFamily="34" charset="0"/>
            </a:endParaRPr>
          </a:p>
        </p:txBody>
      </p:sp>
      <p:sp>
        <p:nvSpPr>
          <p:cNvPr id="49155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55650" indent="-290513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63638" indent="-231775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30363" indent="-231775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95500" indent="-231775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52700" indent="-231775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09900" indent="-231775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67100" indent="-231775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924300" indent="-231775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C9D2377-F234-49D3-B8C6-00921581D98B}" type="slidenum">
              <a:rPr lang="en-CA" altLang="en-US" sz="1200" i="0" smtClean="0">
                <a:latin typeface="Tahoma" panose="020B0604030504040204" pitchFamily="34" charset="0"/>
              </a:rPr>
              <a:pPr/>
              <a:t>23</a:t>
            </a:fld>
            <a:endParaRPr lang="en-CA" altLang="en-US" sz="1200" i="0" smtClean="0">
              <a:latin typeface="Tahoma" panose="020B0604030504040204" pitchFamily="34" charset="0"/>
            </a:endParaRPr>
          </a:p>
        </p:txBody>
      </p:sp>
      <p:sp>
        <p:nvSpPr>
          <p:cNvPr id="51203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3251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 smtClean="0"/>
          </a:p>
        </p:txBody>
      </p:sp>
      <p:sp>
        <p:nvSpPr>
          <p:cNvPr id="5325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407F6AA-0476-469E-88C2-9CE92A4BBAB7}" type="slidenum">
              <a:rPr lang="en-CA" altLang="en-US" sz="1200" i="0" smtClean="0">
                <a:latin typeface="Tahoma" panose="020B0604030504040204" pitchFamily="34" charset="0"/>
              </a:rPr>
              <a:pPr/>
              <a:t>24</a:t>
            </a:fld>
            <a:endParaRPr lang="en-CA" altLang="en-US" sz="1200" i="0" smtClean="0">
              <a:latin typeface="Tahoma" panose="020B0604030504040204" pitchFamily="34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5299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 smtClean="0"/>
          </a:p>
        </p:txBody>
      </p:sp>
      <p:sp>
        <p:nvSpPr>
          <p:cNvPr id="5530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5865236-A279-4423-A15F-4BC733B36398}" type="slidenum">
              <a:rPr lang="en-CA" altLang="en-US" sz="1200" i="0" smtClean="0">
                <a:latin typeface="Tahoma" panose="020B0604030504040204" pitchFamily="34" charset="0"/>
              </a:rPr>
              <a:pPr/>
              <a:t>25</a:t>
            </a:fld>
            <a:endParaRPr lang="en-CA" altLang="en-US" sz="1200" i="0" smtClean="0">
              <a:latin typeface="Tahoma" panose="020B0604030504040204" pitchFamily="34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7347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 smtClean="0"/>
          </a:p>
        </p:txBody>
      </p:sp>
      <p:sp>
        <p:nvSpPr>
          <p:cNvPr id="5734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A6933AB-192E-4A4D-BF76-AA78ACA36467}" type="slidenum">
              <a:rPr lang="en-CA" altLang="en-US" sz="1200" i="0" smtClean="0">
                <a:latin typeface="Tahoma" panose="020B0604030504040204" pitchFamily="34" charset="0"/>
              </a:rPr>
              <a:pPr/>
              <a:t>26</a:t>
            </a:fld>
            <a:endParaRPr lang="en-CA" altLang="en-US" sz="1200" i="0" smtClean="0">
              <a:latin typeface="Tahoma" panose="020B0604030504040204" pitchFamily="34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9395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 smtClean="0"/>
          </a:p>
        </p:txBody>
      </p:sp>
      <p:sp>
        <p:nvSpPr>
          <p:cNvPr id="5939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F3A548F-15F0-427B-9299-C6242CC8A6E4}" type="slidenum">
              <a:rPr lang="en-CA" altLang="en-US" sz="1200" i="0" smtClean="0">
                <a:latin typeface="Tahoma" panose="020B0604030504040204" pitchFamily="34" charset="0"/>
              </a:rPr>
              <a:pPr/>
              <a:t>27</a:t>
            </a:fld>
            <a:endParaRPr lang="en-CA" altLang="en-US" sz="1200" i="0" smtClean="0">
              <a:latin typeface="Tahoma" panose="020B0604030504040204" pitchFamily="34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1443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 smtClean="0"/>
          </a:p>
        </p:txBody>
      </p:sp>
      <p:sp>
        <p:nvSpPr>
          <p:cNvPr id="6144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409807F-3A4B-44EF-8DD0-B8180E0266AD}" type="slidenum">
              <a:rPr lang="en-CA" altLang="en-US" sz="1200" i="0" smtClean="0">
                <a:latin typeface="Tahoma" panose="020B0604030504040204" pitchFamily="34" charset="0"/>
              </a:rPr>
              <a:pPr/>
              <a:t>28</a:t>
            </a:fld>
            <a:endParaRPr lang="en-CA" altLang="en-US" sz="1200" i="0" smtClean="0">
              <a:latin typeface="Tahoma" panose="020B0604030504040204" pitchFamily="34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3491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 smtClean="0"/>
          </a:p>
        </p:txBody>
      </p:sp>
      <p:sp>
        <p:nvSpPr>
          <p:cNvPr id="6349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0B21A11-5897-4359-B044-1BDA77EAF84C}" type="slidenum">
              <a:rPr lang="en-CA" altLang="en-US" sz="1200" i="0" smtClean="0">
                <a:latin typeface="Tahoma" panose="020B0604030504040204" pitchFamily="34" charset="0"/>
              </a:rPr>
              <a:pPr/>
              <a:t>29</a:t>
            </a:fld>
            <a:endParaRPr lang="en-CA" altLang="en-US" sz="1200" i="0" smtClean="0">
              <a:latin typeface="Tahoma" panose="020B0604030504040204" pitchFamily="34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5539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 smtClean="0"/>
          </a:p>
        </p:txBody>
      </p:sp>
      <p:sp>
        <p:nvSpPr>
          <p:cNvPr id="6554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9A6D456-E226-4AC7-AF55-8F97E602DE27}" type="slidenum">
              <a:rPr lang="en-CA" altLang="en-US" sz="1200" i="0" smtClean="0">
                <a:latin typeface="Tahoma" panose="020B0604030504040204" pitchFamily="34" charset="0"/>
              </a:rPr>
              <a:pPr/>
              <a:t>30</a:t>
            </a:fld>
            <a:endParaRPr lang="en-CA" altLang="en-US" sz="1200" i="0" smtClean="0">
              <a:latin typeface="Tahoma" panose="020B0604030504040204" pitchFamily="34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7587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 smtClean="0"/>
          </a:p>
        </p:txBody>
      </p:sp>
      <p:sp>
        <p:nvSpPr>
          <p:cNvPr id="6758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B6215C9-436C-46C7-ADF5-C052C03CB903}" type="slidenum">
              <a:rPr lang="en-CA" altLang="en-US" sz="1200" i="0" smtClean="0">
                <a:latin typeface="Tahoma" panose="020B0604030504040204" pitchFamily="34" charset="0"/>
              </a:rPr>
              <a:pPr/>
              <a:t>31</a:t>
            </a:fld>
            <a:endParaRPr lang="en-CA" altLang="en-US" sz="1200" i="0" smtClean="0">
              <a:latin typeface="Tahoma" panose="020B0604030504040204" pitchFamily="34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55650" indent="-290513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63638" indent="-231775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30363" indent="-231775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95500" indent="-231775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52700" indent="-231775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09900" indent="-231775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67100" indent="-231775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924300" indent="-231775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FC870BC-5D48-4D0A-8A8E-36CAC5A9EF8C}" type="slidenum">
              <a:rPr lang="en-CA" altLang="en-US" sz="1200" i="0" smtClean="0">
                <a:latin typeface="Tahoma" panose="020B0604030504040204" pitchFamily="34" charset="0"/>
              </a:rPr>
              <a:pPr/>
              <a:t>32</a:t>
            </a:fld>
            <a:endParaRPr lang="en-CA" altLang="en-US" sz="1200" i="0" smtClean="0">
              <a:latin typeface="Tahoma" panose="020B0604030504040204" pitchFamily="34" charset="0"/>
            </a:endParaRPr>
          </a:p>
        </p:txBody>
      </p:sp>
      <p:sp>
        <p:nvSpPr>
          <p:cNvPr id="69635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683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7168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A7F8082-808E-4016-8AD3-81EF82C95DCE}" type="slidenum">
              <a:rPr lang="en-US" altLang="en-US" smtClean="0"/>
              <a:pPr>
                <a:spcBef>
                  <a:spcPct val="0"/>
                </a:spcBef>
              </a:pPr>
              <a:t>33</a:t>
            </a:fld>
            <a:endParaRPr lang="en-US" altLang="en-US" smtClean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3731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7373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7C4187E-B637-433F-9D16-1871FB374C49}" type="slidenum">
              <a:rPr lang="en-US" altLang="en-US" smtClean="0"/>
              <a:pPr>
                <a:spcBef>
                  <a:spcPct val="0"/>
                </a:spcBef>
              </a:pPr>
              <a:t>34</a:t>
            </a:fld>
            <a:endParaRPr lang="en-US" altLang="en-US" smtClean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5779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 smtClean="0"/>
          </a:p>
        </p:txBody>
      </p:sp>
      <p:sp>
        <p:nvSpPr>
          <p:cNvPr id="7578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6145A91-F137-48BE-AD01-1AFF7EC18D8D}" type="slidenum">
              <a:rPr lang="en-CA" altLang="en-US" sz="1200" i="0" smtClean="0">
                <a:latin typeface="Tahoma" panose="020B0604030504040204" pitchFamily="34" charset="0"/>
              </a:rPr>
              <a:pPr/>
              <a:t>35</a:t>
            </a:fld>
            <a:endParaRPr lang="en-CA" altLang="en-US" sz="1200" i="0" smtClean="0">
              <a:latin typeface="Tahoma" panose="020B0604030504040204" pitchFamily="34" charset="0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55650" indent="-290513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63638" indent="-231775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30363" indent="-231775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95500" indent="-231775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52700" indent="-231775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09900" indent="-231775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67100" indent="-231775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924300" indent="-231775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8320212-5DD4-4E88-840A-20EFA3788A9B}" type="slidenum">
              <a:rPr lang="en-CA" altLang="en-US" sz="1200" i="0" smtClean="0">
                <a:latin typeface="Tahoma" panose="020B0604030504040204" pitchFamily="34" charset="0"/>
              </a:rPr>
              <a:pPr/>
              <a:t>36</a:t>
            </a:fld>
            <a:endParaRPr lang="en-CA" altLang="en-US" sz="1200" i="0" smtClean="0">
              <a:latin typeface="Tahoma" panose="020B0604030504040204" pitchFamily="34" charset="0"/>
            </a:endParaRPr>
          </a:p>
        </p:txBody>
      </p:sp>
      <p:sp>
        <p:nvSpPr>
          <p:cNvPr id="77827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55650" indent="-290513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63638" indent="-231775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30363" indent="-231775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95500" indent="-231775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52700" indent="-231775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09900" indent="-231775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67100" indent="-231775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924300" indent="-231775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7F886B6-44DC-43EF-A320-539FBDC17AD5}" type="slidenum">
              <a:rPr lang="en-CA" altLang="en-US" sz="1200" i="0" smtClean="0">
                <a:latin typeface="Tahoma" panose="020B0604030504040204" pitchFamily="34" charset="0"/>
              </a:rPr>
              <a:pPr/>
              <a:t>37</a:t>
            </a:fld>
            <a:endParaRPr lang="en-CA" altLang="en-US" sz="1200" i="0" smtClean="0">
              <a:latin typeface="Tahoma" panose="020B0604030504040204" pitchFamily="34" charset="0"/>
            </a:endParaRPr>
          </a:p>
        </p:txBody>
      </p:sp>
      <p:sp>
        <p:nvSpPr>
          <p:cNvPr id="79875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55650" indent="-290513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63638" indent="-231775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30363" indent="-231775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95500" indent="-231775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52700" indent="-231775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09900" indent="-231775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67100" indent="-231775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924300" indent="-231775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5B68E4C-D8B5-4C91-9680-4A4A8D50FBD9}" type="slidenum">
              <a:rPr lang="en-CA" altLang="en-US" sz="1200" i="0" smtClean="0">
                <a:latin typeface="Tahoma" panose="020B0604030504040204" pitchFamily="34" charset="0"/>
              </a:rPr>
              <a:pPr/>
              <a:t>38</a:t>
            </a:fld>
            <a:endParaRPr lang="en-CA" altLang="en-US" sz="1200" i="0" smtClean="0">
              <a:latin typeface="Tahoma" panose="020B0604030504040204" pitchFamily="34" charset="0"/>
            </a:endParaRPr>
          </a:p>
        </p:txBody>
      </p:sp>
      <p:sp>
        <p:nvSpPr>
          <p:cNvPr id="81923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55650" indent="-290513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63638" indent="-231775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30363" indent="-231775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95500" indent="-231775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52700" indent="-231775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09900" indent="-231775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67100" indent="-231775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924300" indent="-231775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B3BA05A-4264-470F-BD6E-ACA9D9275A43}" type="slidenum">
              <a:rPr lang="en-CA" altLang="en-US" sz="1200" i="0" smtClean="0">
                <a:latin typeface="Tahoma" panose="020B0604030504040204" pitchFamily="34" charset="0"/>
              </a:rPr>
              <a:pPr/>
              <a:t>39</a:t>
            </a:fld>
            <a:endParaRPr lang="en-CA" altLang="en-US" sz="1200" i="0" smtClean="0">
              <a:latin typeface="Tahoma" panose="020B0604030504040204" pitchFamily="34" charset="0"/>
            </a:endParaRPr>
          </a:p>
        </p:txBody>
      </p:sp>
      <p:sp>
        <p:nvSpPr>
          <p:cNvPr id="83971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55650" indent="-290513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63638" indent="-231775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30363" indent="-231775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95500" indent="-231775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52700" indent="-231775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09900" indent="-231775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67100" indent="-231775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924300" indent="-231775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AC97384-871E-45F2-927B-5ED7CB87DE58}" type="slidenum">
              <a:rPr lang="en-CA" altLang="en-US" sz="1200" i="0" smtClean="0">
                <a:latin typeface="Tahoma" panose="020B0604030504040204" pitchFamily="34" charset="0"/>
              </a:rPr>
              <a:pPr/>
              <a:t>40</a:t>
            </a:fld>
            <a:endParaRPr lang="en-CA" altLang="en-US" sz="1200" i="0" smtClean="0">
              <a:latin typeface="Tahoma" panose="020B0604030504040204" pitchFamily="34" charset="0"/>
            </a:endParaRPr>
          </a:p>
        </p:txBody>
      </p:sp>
      <p:sp>
        <p:nvSpPr>
          <p:cNvPr id="86019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2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55650" indent="-290513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63638" indent="-231775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30363" indent="-231775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95500" indent="-231775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52700" indent="-231775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09900" indent="-231775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67100" indent="-231775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924300" indent="-231775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5D99840-05BB-4116-944B-6E722E873A31}" type="slidenum">
              <a:rPr lang="en-CA" altLang="en-US" sz="1200" i="0" smtClean="0">
                <a:latin typeface="Tahoma" panose="020B0604030504040204" pitchFamily="34" charset="0"/>
              </a:rPr>
              <a:pPr/>
              <a:t>41</a:t>
            </a:fld>
            <a:endParaRPr lang="en-CA" altLang="en-US" sz="1200" i="0" smtClean="0">
              <a:latin typeface="Tahoma" panose="020B0604030504040204" pitchFamily="34" charset="0"/>
            </a:endParaRPr>
          </a:p>
        </p:txBody>
      </p:sp>
      <p:sp>
        <p:nvSpPr>
          <p:cNvPr id="88067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55650" indent="-290513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63638" indent="-231775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30363" indent="-231775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95500" indent="-231775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52700" indent="-231775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09900" indent="-231775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67100" indent="-231775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924300" indent="-231775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A9EF34D-E036-498B-A5EC-297C75365D46}" type="slidenum">
              <a:rPr lang="en-CA" altLang="en-US" sz="1200" i="0" smtClean="0">
                <a:latin typeface="Tahoma" panose="020B0604030504040204" pitchFamily="34" charset="0"/>
              </a:rPr>
              <a:pPr/>
              <a:t>42</a:t>
            </a:fld>
            <a:endParaRPr lang="en-CA" altLang="en-US" sz="1200" i="0" smtClean="0">
              <a:latin typeface="Tahoma" panose="020B0604030504040204" pitchFamily="34" charset="0"/>
            </a:endParaRPr>
          </a:p>
        </p:txBody>
      </p:sp>
      <p:sp>
        <p:nvSpPr>
          <p:cNvPr id="90115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2163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 smtClean="0"/>
          </a:p>
        </p:txBody>
      </p:sp>
      <p:sp>
        <p:nvSpPr>
          <p:cNvPr id="9216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3549F0C-824C-4F97-9160-94BDAF2804D8}" type="slidenum">
              <a:rPr lang="en-CA" altLang="en-US" sz="1200" i="0" smtClean="0">
                <a:latin typeface="Tahoma" panose="020B0604030504040204" pitchFamily="34" charset="0"/>
              </a:rPr>
              <a:pPr/>
              <a:t>43</a:t>
            </a:fld>
            <a:endParaRPr lang="en-CA" altLang="en-US" sz="1200" i="0" smtClean="0">
              <a:latin typeface="Tahoma" panose="020B0604030504040204" pitchFamily="34" charset="0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4211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 smtClean="0"/>
          </a:p>
        </p:txBody>
      </p:sp>
      <p:sp>
        <p:nvSpPr>
          <p:cNvPr id="9421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7AF7739-0E0B-4396-8373-440094DDD21A}" type="slidenum">
              <a:rPr lang="en-CA" altLang="en-US" sz="1200" i="0" smtClean="0">
                <a:latin typeface="Tahoma" panose="020B0604030504040204" pitchFamily="34" charset="0"/>
              </a:rPr>
              <a:pPr/>
              <a:t>44</a:t>
            </a:fld>
            <a:endParaRPr lang="en-CA" altLang="en-US" sz="1200" i="0" smtClean="0">
              <a:latin typeface="Tahoma" panose="020B0604030504040204" pitchFamily="34" charset="0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6259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 smtClean="0"/>
          </a:p>
        </p:txBody>
      </p:sp>
      <p:sp>
        <p:nvSpPr>
          <p:cNvPr id="9626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8E01767-BF8D-44A1-A435-813950483706}" type="slidenum">
              <a:rPr lang="en-CA" altLang="en-US" sz="1200" i="0" smtClean="0">
                <a:latin typeface="Tahoma" panose="020B0604030504040204" pitchFamily="34" charset="0"/>
              </a:rPr>
              <a:pPr/>
              <a:t>45</a:t>
            </a:fld>
            <a:endParaRPr lang="en-CA" altLang="en-US" sz="1200" i="0" smtClean="0">
              <a:latin typeface="Tahoma" panose="020B0604030504040204" pitchFamily="34" charset="0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55650" indent="-290513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63638" indent="-231775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30363" indent="-231775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95500" indent="-231775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52700" indent="-231775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09900" indent="-231775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67100" indent="-231775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924300" indent="-231775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C285DFD-5C41-4384-83DE-D1FB23112E26}" type="slidenum">
              <a:rPr lang="en-CA" altLang="en-US" sz="1200" i="0" smtClean="0">
                <a:latin typeface="Tahoma" panose="020B0604030504040204" pitchFamily="34" charset="0"/>
              </a:rPr>
              <a:pPr/>
              <a:t>46</a:t>
            </a:fld>
            <a:endParaRPr lang="en-CA" altLang="en-US" sz="1200" i="0" smtClean="0">
              <a:latin typeface="Tahoma" panose="020B0604030504040204" pitchFamily="34" charset="0"/>
            </a:endParaRPr>
          </a:p>
        </p:txBody>
      </p:sp>
      <p:sp>
        <p:nvSpPr>
          <p:cNvPr id="98307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55650" indent="-290513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63638" indent="-231775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30363" indent="-231775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95500" indent="-231775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52700" indent="-231775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09900" indent="-231775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67100" indent="-231775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924300" indent="-231775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8D7621A-24BF-4A86-BC50-628EB1093F4B}" type="slidenum">
              <a:rPr lang="en-CA" altLang="en-US" sz="1200" i="0" smtClean="0">
                <a:latin typeface="Tahoma" panose="020B0604030504040204" pitchFamily="34" charset="0"/>
              </a:rPr>
              <a:pPr/>
              <a:t>47</a:t>
            </a:fld>
            <a:endParaRPr lang="en-CA" altLang="en-US" sz="1200" i="0" smtClean="0">
              <a:latin typeface="Tahoma" panose="020B0604030504040204" pitchFamily="34" charset="0"/>
            </a:endParaRPr>
          </a:p>
        </p:txBody>
      </p:sp>
      <p:sp>
        <p:nvSpPr>
          <p:cNvPr id="100355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2403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 smtClean="0"/>
          </a:p>
        </p:txBody>
      </p:sp>
      <p:sp>
        <p:nvSpPr>
          <p:cNvPr id="10240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3A2DB7C-02E2-4333-97AA-2A3E8C6671B1}" type="slidenum">
              <a:rPr lang="en-CA" altLang="en-US" sz="1200" i="0" smtClean="0">
                <a:latin typeface="Tahoma" panose="020B0604030504040204" pitchFamily="34" charset="0"/>
              </a:rPr>
              <a:pPr/>
              <a:t>48</a:t>
            </a:fld>
            <a:endParaRPr lang="en-CA" altLang="en-US" sz="1200" i="0" smtClean="0">
              <a:latin typeface="Tahoma" panose="020B0604030504040204" pitchFamily="34" charset="0"/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4451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 smtClean="0"/>
          </a:p>
        </p:txBody>
      </p:sp>
      <p:sp>
        <p:nvSpPr>
          <p:cNvPr id="10445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64B6E11-D712-4A71-B7F2-E6048D0A3537}" type="slidenum">
              <a:rPr lang="en-CA" altLang="en-US" sz="1200" i="0" smtClean="0">
                <a:latin typeface="Tahoma" panose="020B0604030504040204" pitchFamily="34" charset="0"/>
              </a:rPr>
              <a:pPr/>
              <a:t>49</a:t>
            </a:fld>
            <a:endParaRPr lang="en-CA" altLang="en-US" sz="1200" i="0" smtClean="0">
              <a:latin typeface="Tahoma" panose="020B0604030504040204" pitchFamily="34" charset="0"/>
            </a:endParaR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6499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 smtClean="0"/>
          </a:p>
        </p:txBody>
      </p:sp>
      <p:sp>
        <p:nvSpPr>
          <p:cNvPr id="10650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99848A9-B5DD-401F-8A44-694806E50786}" type="slidenum">
              <a:rPr lang="en-CA" altLang="en-US" sz="1200" i="0" smtClean="0">
                <a:latin typeface="Tahoma" panose="020B0604030504040204" pitchFamily="34" charset="0"/>
              </a:rPr>
              <a:pPr/>
              <a:t>50</a:t>
            </a:fld>
            <a:endParaRPr lang="en-CA" altLang="en-US" sz="1200" i="0" smtClean="0">
              <a:latin typeface="Tahoma" panose="020B0604030504040204" pitchFamily="34" charset="0"/>
            </a:endParaRP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8547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 smtClean="0"/>
          </a:p>
        </p:txBody>
      </p:sp>
      <p:sp>
        <p:nvSpPr>
          <p:cNvPr id="10854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DF05646-48DE-4755-A96E-2142EF4EF8A8}" type="slidenum">
              <a:rPr lang="en-CA" altLang="en-US" sz="1200" i="0" smtClean="0">
                <a:latin typeface="Tahoma" panose="020B0604030504040204" pitchFamily="34" charset="0"/>
              </a:rPr>
              <a:pPr/>
              <a:t>51</a:t>
            </a:fld>
            <a:endParaRPr lang="en-CA" altLang="en-US" sz="1200" i="0" smtClean="0">
              <a:latin typeface="Tahoma" panose="020B0604030504040204" pitchFamily="34" charset="0"/>
            </a:endParaRP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55650" indent="-290513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63638" indent="-231775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30363" indent="-231775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95500" indent="-231775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52700" indent="-231775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09900" indent="-231775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67100" indent="-231775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924300" indent="-231775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5B64222-238E-4CCA-9034-A43FB776AE68}" type="slidenum">
              <a:rPr lang="en-CA" altLang="en-US" sz="1200" i="0" smtClean="0">
                <a:latin typeface="Tahoma" panose="020B0604030504040204" pitchFamily="34" charset="0"/>
              </a:rPr>
              <a:pPr/>
              <a:t>52</a:t>
            </a:fld>
            <a:endParaRPr lang="en-CA" altLang="en-US" sz="1200" i="0" smtClean="0">
              <a:latin typeface="Tahoma" panose="020B0604030504040204" pitchFamily="34" charset="0"/>
            </a:endParaRPr>
          </a:p>
        </p:txBody>
      </p:sp>
      <p:sp>
        <p:nvSpPr>
          <p:cNvPr id="110595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55650" indent="-290513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63638" indent="-231775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30363" indent="-231775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95500" indent="-231775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52700" indent="-231775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09900" indent="-231775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67100" indent="-231775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924300" indent="-231775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70E20A7-94A5-43AF-917E-BDBD4ECE97A3}" type="slidenum">
              <a:rPr lang="en-CA" altLang="en-US" sz="1200" i="0" smtClean="0">
                <a:latin typeface="Tahoma" panose="020B0604030504040204" pitchFamily="34" charset="0"/>
              </a:rPr>
              <a:pPr/>
              <a:t>53</a:t>
            </a:fld>
            <a:endParaRPr lang="en-CA" altLang="en-US" sz="1200" i="0" smtClean="0">
              <a:latin typeface="Tahoma" panose="020B0604030504040204" pitchFamily="34" charset="0"/>
            </a:endParaRPr>
          </a:p>
        </p:txBody>
      </p:sp>
      <p:sp>
        <p:nvSpPr>
          <p:cNvPr id="112643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4691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 smtClean="0"/>
          </a:p>
        </p:txBody>
      </p:sp>
      <p:sp>
        <p:nvSpPr>
          <p:cNvPr id="11469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B663BC4-E6A2-489A-A478-933C02D64BB2}" type="slidenum">
              <a:rPr lang="en-CA" altLang="en-US" sz="1200" i="0" smtClean="0">
                <a:latin typeface="Tahoma" panose="020B0604030504040204" pitchFamily="34" charset="0"/>
              </a:rPr>
              <a:pPr/>
              <a:t>54</a:t>
            </a:fld>
            <a:endParaRPr lang="en-CA" altLang="en-US" sz="1200" i="0" smtClean="0">
              <a:latin typeface="Tahoma" panose="020B0604030504040204" pitchFamily="34" charset="0"/>
            </a:endParaRP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6739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 smtClean="0"/>
          </a:p>
        </p:txBody>
      </p:sp>
      <p:sp>
        <p:nvSpPr>
          <p:cNvPr id="11674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19C6822-1636-4B4E-9B57-A686D90FC0B3}" type="slidenum">
              <a:rPr lang="en-CA" altLang="en-US" sz="1200" i="0" smtClean="0">
                <a:latin typeface="Tahoma" panose="020B0604030504040204" pitchFamily="34" charset="0"/>
              </a:rPr>
              <a:pPr/>
              <a:t>55</a:t>
            </a:fld>
            <a:endParaRPr lang="en-CA" altLang="en-US" sz="1200" i="0" smtClean="0">
              <a:latin typeface="Tahoma" panose="020B0604030504040204" pitchFamily="34" charset="0"/>
            </a:endParaRP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8787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 smtClean="0"/>
          </a:p>
        </p:txBody>
      </p:sp>
      <p:sp>
        <p:nvSpPr>
          <p:cNvPr id="11878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701E2AA-BCBD-4892-89A7-9BA58FE7728F}" type="slidenum">
              <a:rPr lang="en-CA" altLang="en-US" sz="1200" i="0" smtClean="0">
                <a:latin typeface="Tahoma" panose="020B0604030504040204" pitchFamily="34" charset="0"/>
              </a:rPr>
              <a:pPr/>
              <a:t>56</a:t>
            </a:fld>
            <a:endParaRPr lang="en-CA" altLang="en-US" sz="1200" i="0" smtClean="0">
              <a:latin typeface="Tahoma" panose="020B0604030504040204" pitchFamily="34" charset="0"/>
            </a:endParaRP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0835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12083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7550124F-9C0D-491A-85B2-6325BCD6893C}" type="slidenum">
              <a:rPr lang="en-US" altLang="en-US" smtClean="0"/>
              <a:pPr>
                <a:spcBef>
                  <a:spcPct val="0"/>
                </a:spcBef>
              </a:pPr>
              <a:t>57</a:t>
            </a:fld>
            <a:endParaRPr lang="en-US" altLang="en-US" smtClean="0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2883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12288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0372CB3-512D-4E35-8BD2-827FD88FA0F5}" type="slidenum">
              <a:rPr lang="en-US" altLang="en-US" smtClean="0"/>
              <a:pPr>
                <a:spcBef>
                  <a:spcPct val="0"/>
                </a:spcBef>
              </a:pPr>
              <a:t>58</a:t>
            </a:fld>
            <a:endParaRPr lang="en-US" altLang="en-US" smtClean="0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4931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12493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415DC326-70CE-4A22-BB7F-541F34473209}" type="slidenum">
              <a:rPr lang="en-US" altLang="en-US" smtClean="0"/>
              <a:pPr>
                <a:spcBef>
                  <a:spcPct val="0"/>
                </a:spcBef>
              </a:pPr>
              <a:t>59</a:t>
            </a:fld>
            <a:endParaRPr lang="en-US" altLang="en-US" smtClean="0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6979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12698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73C1901-4D25-4AF7-BC29-A960C856210E}" type="slidenum">
              <a:rPr lang="en-US" altLang="en-US" smtClean="0"/>
              <a:pPr>
                <a:spcBef>
                  <a:spcPct val="0"/>
                </a:spcBef>
              </a:pPr>
              <a:t>60</a:t>
            </a:fld>
            <a:endParaRPr lang="en-US" altLang="en-US" smtClean="0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9027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12902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0E1B6CF4-AA4F-41AC-A557-6656E06440F1}" type="slidenum">
              <a:rPr lang="en-US" altLang="en-US" smtClean="0"/>
              <a:pPr>
                <a:spcBef>
                  <a:spcPct val="0"/>
                </a:spcBef>
              </a:pPr>
              <a:t>61</a:t>
            </a:fld>
            <a:endParaRPr lang="en-US" altLang="en-US" smtClean="0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1075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13107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56DC706-B483-42E1-BB4C-F2CB72BFAC10}" type="slidenum">
              <a:rPr lang="en-US" altLang="en-US" smtClean="0"/>
              <a:pPr>
                <a:spcBef>
                  <a:spcPct val="0"/>
                </a:spcBef>
              </a:pPr>
              <a:t>62</a:t>
            </a:fld>
            <a:endParaRPr lang="en-US" altLang="en-US" smtClean="0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3123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13312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2370CA1-2CAA-4F95-BF7E-292EA68320CB}" type="slidenum">
              <a:rPr lang="en-US" altLang="en-US" smtClean="0"/>
              <a:pPr>
                <a:spcBef>
                  <a:spcPct val="0"/>
                </a:spcBef>
              </a:pPr>
              <a:t>63</a:t>
            </a:fld>
            <a:endParaRPr lang="en-US" altLang="en-US" smtClean="0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5171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13517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0119D2DC-A3B3-4128-B718-99BF626A5AEB}" type="slidenum">
              <a:rPr lang="en-US" altLang="en-US" smtClean="0"/>
              <a:pPr>
                <a:spcBef>
                  <a:spcPct val="0"/>
                </a:spcBef>
              </a:pPr>
              <a:t>64</a:t>
            </a:fld>
            <a:endParaRPr lang="en-US" altLang="en-US" smtClean="0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55650" indent="-290513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63638" indent="-231775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30363" indent="-231775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95500" indent="-231775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52700" indent="-231775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09900" indent="-231775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67100" indent="-231775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924300" indent="-231775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74518A8-E614-4443-91D1-80FE9CCBE924}" type="slidenum">
              <a:rPr lang="en-CA" altLang="en-US" sz="1200" i="0" smtClean="0">
                <a:latin typeface="Tahoma" panose="020B0604030504040204" pitchFamily="34" charset="0"/>
              </a:rPr>
              <a:pPr/>
              <a:t>65</a:t>
            </a:fld>
            <a:endParaRPr lang="en-CA" altLang="en-US" sz="1200" i="0" smtClean="0">
              <a:latin typeface="Tahoma" panose="020B0604030504040204" pitchFamily="34" charset="0"/>
            </a:endParaRPr>
          </a:p>
        </p:txBody>
      </p:sp>
      <p:sp>
        <p:nvSpPr>
          <p:cNvPr id="137219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722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BBE63D4F-6CEF-455F-9637-E83B4E5F973C}" type="slidenum">
              <a:rPr lang="en-US" altLang="en-US" smtClean="0"/>
              <a:pPr>
                <a:spcBef>
                  <a:spcPct val="0"/>
                </a:spcBef>
              </a:pPr>
              <a:t>66</a:t>
            </a:fld>
            <a:endParaRPr lang="en-US" altLang="en-US" smtClean="0"/>
          </a:p>
        </p:txBody>
      </p:sp>
      <p:sp>
        <p:nvSpPr>
          <p:cNvPr id="1392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4113" y="692150"/>
            <a:ext cx="4554537" cy="3416300"/>
          </a:xfrm>
          <a:ln cap="flat">
            <a:solidFill>
              <a:schemeClr val="tx1"/>
            </a:solidFill>
          </a:ln>
        </p:spPr>
      </p:sp>
      <p:sp>
        <p:nvSpPr>
          <p:cNvPr id="1392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32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AFBEBFDD-5AF2-44C6-9B98-353391100AA0}" type="slidenum">
              <a:rPr lang="en-US" altLang="en-US" smtClean="0"/>
              <a:pPr>
                <a:spcBef>
                  <a:spcPct val="0"/>
                </a:spcBef>
              </a:pPr>
              <a:t>67</a:t>
            </a:fld>
            <a:endParaRPr lang="en-US" altLang="en-US" smtClean="0"/>
          </a:p>
        </p:txBody>
      </p:sp>
      <p:sp>
        <p:nvSpPr>
          <p:cNvPr id="141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13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altLang="en-US" smtClean="0"/>
              <a:t>Big University Database Table: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mtClean="0"/>
              <a:t> - Table 7-1 except for omission of two columns (StdCity and OffTerm)</a:t>
            </a:r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1A07683-28DC-4996-A261-CD91AB049BCD}" type="slidenum">
              <a:rPr lang="en-US" altLang="en-US" smtClean="0"/>
              <a:pPr>
                <a:spcBef>
                  <a:spcPct val="0"/>
                </a:spcBef>
              </a:pPr>
              <a:t>68</a:t>
            </a:fld>
            <a:endParaRPr lang="en-US" altLang="en-US" smtClean="0"/>
          </a:p>
        </p:txBody>
      </p:sp>
      <p:sp>
        <p:nvSpPr>
          <p:cNvPr id="143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altLang="en-US" smtClean="0"/>
              <a:t>Big University Database Table: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mtClean="0"/>
              <a:t> - Table 7-1 except for omission of two columns (StdCity and OffTerm)</a:t>
            </a:r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5411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14541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7E85D0AA-2F46-453C-9B5E-70DC22E4803B}" type="slidenum">
              <a:rPr lang="en-US" altLang="en-US" smtClean="0"/>
              <a:pPr>
                <a:spcBef>
                  <a:spcPct val="0"/>
                </a:spcBef>
              </a:pPr>
              <a:t>69</a:t>
            </a:fld>
            <a:endParaRPr lang="en-US" altLang="en-US" smtClean="0"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2632B3B7-EC49-4B5A-9EC6-3B3581B2B2F9}" type="slidenum">
              <a:rPr lang="en-US" altLang="en-US" smtClean="0"/>
              <a:pPr>
                <a:spcBef>
                  <a:spcPct val="0"/>
                </a:spcBef>
              </a:pPr>
              <a:t>70</a:t>
            </a:fld>
            <a:endParaRPr lang="en-US" altLang="en-US" smtClean="0"/>
          </a:p>
        </p:txBody>
      </p:sp>
      <p:sp>
        <p:nvSpPr>
          <p:cNvPr id="147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74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altLang="en-US" smtClean="0"/>
              <a:t>FD diagram: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mtClean="0"/>
              <a:t> - 8.2 of textbook chapter 8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mtClean="0"/>
              <a:t> - See related FDs (same LHS) by line height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mtClean="0"/>
              <a:t> - Useful for small sets of FDs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mtClean="0"/>
              <a:t> - Unwieldy for large sets of FDs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mtClean="0"/>
              <a:t>FD list: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mtClean="0"/>
              <a:t> - Group by LHS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mtClean="0"/>
              <a:t> - Shortcut notation: X -&gt; Y, Z is a shortcut for X -&gt; Y and X -&gt; Z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mtClean="0"/>
              <a:t>Compound LHS: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mtClean="0"/>
              <a:t> - Similar to a combined PK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mtClean="0"/>
              <a:t> - Compound LHS is not a shortcut (as is a compound RHS)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mtClean="0"/>
              <a:t> - Combination of StdSSN and OfferNo determine EnrGrade (not either column alone)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mtClean="0"/>
              <a:t>Minimality: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mtClean="0"/>
              <a:t> - LHS must be minimal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mtClean="0"/>
              <a:t> - Cannot remove columns from LHS without making the FD invalid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mtClean="0"/>
              <a:t> - Usually non minimal LHS is not a problem: important that LHS does not have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mtClean="0"/>
              <a:t>   extraneous columns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mtClean="0"/>
              <a:t> - Properly known as full functional dependence: minimal LHS makes full functional dep.</a:t>
            </a:r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36F991D-4B72-4748-9550-AE101F090ADD}" type="slidenum">
              <a:rPr lang="en-US" altLang="en-US" smtClean="0"/>
              <a:pPr>
                <a:spcBef>
                  <a:spcPct val="0"/>
                </a:spcBef>
              </a:pPr>
              <a:t>71</a:t>
            </a:fld>
            <a:endParaRPr lang="en-US" altLang="en-US" smtClean="0"/>
          </a:p>
        </p:txBody>
      </p:sp>
      <p:sp>
        <p:nvSpPr>
          <p:cNvPr id="149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95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altLang="en-US" smtClean="0"/>
              <a:t>Normal form: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mtClean="0"/>
              <a:t> - Rule about allowable pattern of FDs (1NF through BCNF)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mtClean="0"/>
              <a:t> - Higher normal forms are not rules about FDs: more difficult to understand and use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mtClean="0"/>
              <a:t> - Most important part is to record FDs: CASE tool can perform normalization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mtClean="0"/>
              <a:t> - Check FDs to see if they violate the pattern permitted in the normal form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mtClean="0"/>
              <a:t>Split table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mtClean="0"/>
              <a:t> - Smaller tables do not violate the normal form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mtClean="0"/>
              <a:t> - Smaller tables should not lose information contained in the larger table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mtClean="0"/>
              <a:t>Difficulty: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mtClean="0"/>
              <a:t> - Normalization is easy to apply to small tables with simple dependency structures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mtClean="0"/>
              <a:t> - Use CASE tool for large databases and tables with complex dependency structures</a:t>
            </a:r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A153F621-D327-436A-87B4-09D2545D9E80}" type="slidenum">
              <a:rPr lang="en-US" altLang="en-US" smtClean="0"/>
              <a:pPr>
                <a:spcBef>
                  <a:spcPct val="0"/>
                </a:spcBef>
              </a:pPr>
              <a:t>72</a:t>
            </a:fld>
            <a:endParaRPr lang="en-US" altLang="en-US" smtClean="0"/>
          </a:p>
        </p:txBody>
      </p:sp>
      <p:sp>
        <p:nvSpPr>
          <p:cNvPr id="151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15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altLang="en-US" smtClean="0"/>
              <a:t>Big university database table is not normalized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mtClean="0"/>
              <a:t> - Not in 1NF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mtClean="0"/>
              <a:t> - S1 row has repeating values (O1 and O2)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mtClean="0"/>
              <a:t> - S2 row has repeating values (O3 and O2)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mtClean="0"/>
              <a:t>Convert to 1NF: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mtClean="0"/>
              <a:t> - Flatten rows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mtClean="0"/>
              <a:t> - Split each repeating group into a separate row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mtClean="0"/>
              <a:t> - Repeat the implied values in the new rows: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mtClean="0"/>
              <a:t>   - S1 JUN for row two with O2 2000 3.3 C2 VB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mtClean="0"/>
              <a:t>   - S2 JUN for row four with O2 2000 3.4 C2 VB</a:t>
            </a:r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C9D2BCB-E817-47DB-B6C3-CA8B0EFB32CC}" type="slidenum">
              <a:rPr lang="en-US" altLang="en-US" smtClean="0"/>
              <a:pPr>
                <a:spcBef>
                  <a:spcPct val="0"/>
                </a:spcBef>
              </a:pPr>
              <a:t>73</a:t>
            </a:fld>
            <a:endParaRPr lang="en-US" altLang="en-US" smtClean="0"/>
          </a:p>
        </p:txBody>
      </p:sp>
      <p:sp>
        <p:nvSpPr>
          <p:cNvPr id="153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altLang="en-US" smtClean="0"/>
              <a:t>Candidate key: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mtClean="0"/>
              <a:t> - Unique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mtClean="0"/>
              <a:t> - Minimal: no extraneous columns without losing uniqueness property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mtClean="0"/>
              <a:t> - Can have multiple candidate keys per table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mtClean="0"/>
              <a:t>Key column: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mtClean="0"/>
              <a:t> - A candidate key by itself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mtClean="0"/>
              <a:t> - Part of a combined CK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mtClean="0"/>
              <a:t> - Nonkey: a column that is not a key column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mtClean="0"/>
              <a:t>Combined definition: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mtClean="0"/>
              <a:t> - Analogy to traditional justice oath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mtClean="0"/>
              <a:t> - So help me: Ted Codd (father of relational databases)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mtClean="0"/>
              <a:t> - Usually taught as separate definitions for simplicity</a:t>
            </a:r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7913567B-3A16-4D06-A442-635744BA35F0}" type="slidenum">
              <a:rPr lang="en-US" altLang="en-US" smtClean="0"/>
              <a:pPr>
                <a:spcBef>
                  <a:spcPct val="0"/>
                </a:spcBef>
              </a:pPr>
              <a:t>74</a:t>
            </a:fld>
            <a:endParaRPr lang="en-US" altLang="en-US" smtClean="0"/>
          </a:p>
        </p:txBody>
      </p:sp>
      <p:sp>
        <p:nvSpPr>
          <p:cNvPr id="155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56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altLang="en-US" smtClean="0"/>
              <a:t>First of combined 2NF/3NF definition: dependent on the whole key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mtClean="0"/>
              <a:t>Violation: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mtClean="0"/>
              <a:t> - Part of a key determines a non key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mtClean="0"/>
              <a:t> - If FDs for a table contain such an FD, split the table</a:t>
            </a:r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55FE58C-5F0E-42CE-9AA1-205D595E47E0}" type="slidenum">
              <a:rPr lang="en-US" altLang="en-US" smtClean="0"/>
              <a:pPr>
                <a:spcBef>
                  <a:spcPct val="0"/>
                </a:spcBef>
              </a:pPr>
              <a:t>75</a:t>
            </a:fld>
            <a:endParaRPr lang="en-US" altLang="en-US" smtClean="0"/>
          </a:p>
        </p:txBody>
      </p:sp>
      <p:sp>
        <p:nvSpPr>
          <p:cNvPr id="157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77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altLang="en-US" smtClean="0"/>
              <a:t>Violating FDs: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mtClean="0"/>
              <a:t> - All FDs violate except StdSSN, OfferNo -&gt; EnrGrade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mtClean="0"/>
              <a:t> - StdSSN: part of a key (not the entire key)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mtClean="0"/>
              <a:t> - OfferNo: part of a key (not the entire key)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mtClean="0"/>
              <a:t>Splitting: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mtClean="0"/>
              <a:t> - Place each FD group in a separate table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mtClean="0"/>
              <a:t> - UnivTable1: StdSSN group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mtClean="0"/>
              <a:t> - UnivTable2: OfferNo group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mtClean="0"/>
              <a:t> - UnivTable3: StdSSN, OfferNo group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mtClean="0"/>
              <a:t> - No violations among new tables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mtClean="0"/>
              <a:t> - CourseNo -&gt; CrsDesc (CourseNo is not part of a key)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mtClean="0"/>
              <a:t> - This FD violates 3NF, not 2NF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mtClean="0"/>
              <a:t>Splitting process: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mtClean="0"/>
              <a:t> - Recover original table with natural join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mtClean="0"/>
              <a:t> - Not lose any FDs: all FDs are derivable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mtClean="0"/>
              <a:t> - Books on normalization theory explain criteria: theory not important here</a:t>
            </a:r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474CF3E0-FE17-4D32-961E-233277C664D7}" type="slidenum">
              <a:rPr lang="en-US" altLang="en-US" smtClean="0"/>
              <a:pPr>
                <a:spcBef>
                  <a:spcPct val="0"/>
                </a:spcBef>
              </a:pPr>
              <a:t>76</a:t>
            </a:fld>
            <a:endParaRPr lang="en-US" altLang="en-US" smtClean="0"/>
          </a:p>
        </p:txBody>
      </p:sp>
      <p:sp>
        <p:nvSpPr>
          <p:cNvPr id="159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97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altLang="en-US" smtClean="0"/>
              <a:t>Second part of combined 2NF/3NF definition: nothing but the key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mtClean="0"/>
              <a:t>Violation: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mtClean="0"/>
              <a:t> - Non key determines a non key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mtClean="0"/>
              <a:t> - If FDs for a table contain such an FD, split the table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mtClean="0"/>
              <a:t>Alternative formulation: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mtClean="0"/>
              <a:t> - No transitive FDs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mtClean="0"/>
              <a:t> - Law of transitivity: A &lt; B, B &lt; C then A &lt; C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mtClean="0"/>
              <a:t> - Transitivity applies to FDs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mtClean="0"/>
              <a:t> - Not the preferred definition of 3NF: should not write down transitively derived FDs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mtClean="0"/>
              <a:t> - Simple synthesis procedure for BCNF</a:t>
            </a:r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9973D11-96A1-437E-8080-8F96F16E2158}" type="slidenum">
              <a:rPr lang="en-US" altLang="en-US" smtClean="0"/>
              <a:pPr>
                <a:spcBef>
                  <a:spcPct val="0"/>
                </a:spcBef>
              </a:pPr>
              <a:t>77</a:t>
            </a:fld>
            <a:endParaRPr lang="en-US" altLang="en-US" smtClean="0"/>
          </a:p>
        </p:txBody>
      </p:sp>
      <p:sp>
        <p:nvSpPr>
          <p:cNvPr id="161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17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altLang="en-US" smtClean="0"/>
              <a:t>Violating FDs: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mtClean="0"/>
              <a:t> - CourseNo is non key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mtClean="0"/>
              <a:t> - Alternatively, OfferNo -&gt; CrsDesc is a transitively derived FD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mtClean="0"/>
              <a:t>Splitting UnivTable2: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mtClean="0"/>
              <a:t> - Arrange by LHS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mtClean="0"/>
              <a:t> - UnivTable2-2: CourseNo is the PK</a:t>
            </a:r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3F3CE37-7675-4111-8D7A-09AC82C05B56}" type="slidenum">
              <a:rPr lang="en-US" altLang="en-US" sz="1200">
                <a:latin typeface="Calibri" panose="020F0502020204030204" pitchFamily="34" charset="0"/>
              </a:rPr>
              <a:pPr algn="r" eaLnBrk="1" hangingPunct="1">
                <a:spcBef>
                  <a:spcPct val="0"/>
                </a:spcBef>
              </a:pPr>
              <a:t>78</a:t>
            </a:fld>
            <a:endParaRPr lang="en-US" altLang="en-US" sz="1200">
              <a:latin typeface="Calibri" panose="020F0502020204030204" pitchFamily="34" charset="0"/>
            </a:endParaRPr>
          </a:p>
        </p:txBody>
      </p:sp>
      <p:sp>
        <p:nvSpPr>
          <p:cNvPr id="163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92225" y="796925"/>
            <a:ext cx="4273550" cy="3205163"/>
          </a:xfrm>
          <a:ln cap="flat"/>
        </p:spPr>
      </p:sp>
      <p:sp>
        <p:nvSpPr>
          <p:cNvPr id="1638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7738" y="4333875"/>
            <a:ext cx="4975225" cy="38544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 defTabSz="762000" eaLnBrk="1" hangingPunct="1">
              <a:spcBef>
                <a:spcPct val="0"/>
              </a:spcBef>
            </a:pPr>
            <a:endParaRPr lang="en-US" altLang="en-US" smtClean="0"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5891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16589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23351699-A73A-4212-ABE3-54382FA87363}" type="slidenum">
              <a:rPr lang="en-US" altLang="en-US" smtClean="0"/>
              <a:pPr>
                <a:spcBef>
                  <a:spcPct val="0"/>
                </a:spcBef>
              </a:pPr>
              <a:t>79</a:t>
            </a:fld>
            <a:endParaRPr lang="en-US" altLang="en-US" smtClean="0"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7939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16794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C24E840-F348-4D9D-8675-988FC4523E2D}" type="slidenum">
              <a:rPr lang="en-US" altLang="en-US" smtClean="0"/>
              <a:pPr>
                <a:spcBef>
                  <a:spcPct val="0"/>
                </a:spcBef>
              </a:pPr>
              <a:t>80</a:t>
            </a:fld>
            <a:endParaRPr lang="en-US" altLang="en-US" smtClean="0"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9987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16998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E71AA7E-4251-48B8-AFE5-34470A473BA9}" type="slidenum">
              <a:rPr lang="en-US" altLang="en-US" smtClean="0"/>
              <a:pPr>
                <a:spcBef>
                  <a:spcPct val="0"/>
                </a:spcBef>
              </a:pPr>
              <a:t>81</a:t>
            </a:fld>
            <a:endParaRPr lang="en-US" altLang="en-US" smtClean="0"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72035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17203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BBC87D55-B93B-4A6E-855D-D59B26C5D613}" type="slidenum">
              <a:rPr lang="en-US" altLang="en-US" smtClean="0"/>
              <a:pPr>
                <a:spcBef>
                  <a:spcPct val="0"/>
                </a:spcBef>
              </a:pPr>
              <a:t>82</a:t>
            </a:fld>
            <a:endParaRPr lang="en-US" altLang="en-US" smtClean="0"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74083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17408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057A2F4D-1451-4F8F-844C-E753395675B3}" type="slidenum">
              <a:rPr lang="en-US" altLang="en-US" smtClean="0"/>
              <a:pPr>
                <a:spcBef>
                  <a:spcPct val="0"/>
                </a:spcBef>
              </a:pPr>
              <a:t>83</a:t>
            </a:fld>
            <a:endParaRPr lang="en-US" altLang="en-US" smtClean="0"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76131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17613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7A17317D-9FA0-4D02-8ACB-13D9D274339C}" type="slidenum">
              <a:rPr lang="en-US" altLang="en-US" smtClean="0"/>
              <a:pPr>
                <a:spcBef>
                  <a:spcPct val="0"/>
                </a:spcBef>
              </a:pPr>
              <a:t>84</a:t>
            </a:fld>
            <a:endParaRPr lang="en-US" altLang="en-US" smtClean="0"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78179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17818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A730B53-8B28-4859-BBA4-0D675E9D7844}" type="slidenum">
              <a:rPr lang="en-US" altLang="en-US" smtClean="0"/>
              <a:pPr>
                <a:spcBef>
                  <a:spcPct val="0"/>
                </a:spcBef>
              </a:pPr>
              <a:t>85</a:t>
            </a:fld>
            <a:endParaRPr lang="en-US" altLang="en-US" smtClean="0"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80227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18022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91A53BA-324B-46FC-9011-82CBD02A7BCD}" type="slidenum">
              <a:rPr lang="en-US" altLang="en-US" smtClean="0"/>
              <a:pPr>
                <a:spcBef>
                  <a:spcPct val="0"/>
                </a:spcBef>
              </a:pPr>
              <a:t>86</a:t>
            </a:fld>
            <a:endParaRPr lang="en-US" altLang="en-US" smtClean="0"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82275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18227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BD3EA48-F2F8-42D9-86CF-A320D84A047A}" type="slidenum">
              <a:rPr lang="en-US" altLang="en-US" smtClean="0"/>
              <a:pPr>
                <a:spcBef>
                  <a:spcPct val="0"/>
                </a:spcBef>
              </a:pPr>
              <a:t>87</a:t>
            </a:fld>
            <a:endParaRPr lang="en-US" altLang="en-US" smtClean="0"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84323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18432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F8AEB36-F076-4F9E-9BC1-7916B09E1F9F}" type="slidenum">
              <a:rPr lang="en-US" altLang="en-US" smtClean="0"/>
              <a:pPr>
                <a:spcBef>
                  <a:spcPct val="0"/>
                </a:spcBef>
              </a:pPr>
              <a:t>88</a:t>
            </a:fld>
            <a:endParaRPr lang="en-US" altLang="en-US" smtClean="0"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7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86371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18637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30E1869-2A70-4C9A-B213-8B94C2B91271}" type="slidenum">
              <a:rPr lang="en-US" altLang="en-US" smtClean="0"/>
              <a:pPr>
                <a:spcBef>
                  <a:spcPct val="0"/>
                </a:spcBef>
              </a:pPr>
              <a:t>89</a:t>
            </a:fld>
            <a:endParaRPr lang="en-US" alt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4">
            <a:extLst>
              <a:ext uri="{FF2B5EF4-FFF2-40B4-BE49-F238E27FC236}">
                <a16:creationId xmlns:a16="http://schemas.microsoft.com/office/drawing/2014/main" id="{07BFA021-8362-534B-8ABA-A9312CA2BD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05800" y="0"/>
            <a:ext cx="609600" cy="6858000"/>
          </a:xfrm>
          <a:prstGeom prst="rect">
            <a:avLst/>
          </a:prstGeom>
          <a:gradFill rotWithShape="1">
            <a:gsLst>
              <a:gs pos="0">
                <a:srgbClr val="677228">
                  <a:alpha val="43999"/>
                </a:srgbClr>
              </a:gs>
              <a:gs pos="100000">
                <a:srgbClr val="5A6423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/>
          </a:p>
        </p:txBody>
      </p:sp>
      <p:sp>
        <p:nvSpPr>
          <p:cNvPr id="5" name="Rectangle 47">
            <a:extLst>
              <a:ext uri="{FF2B5EF4-FFF2-40B4-BE49-F238E27FC236}">
                <a16:creationId xmlns:a16="http://schemas.microsoft.com/office/drawing/2014/main" id="{94950418-03B1-D74B-A49D-779BDD2FF6E4}"/>
              </a:ext>
            </a:extLst>
          </p:cNvPr>
          <p:cNvSpPr>
            <a:spLocks noChangeArrowheads="1"/>
          </p:cNvSpPr>
          <p:nvPr userDrawn="1"/>
        </p:nvSpPr>
        <p:spPr bwMode="auto">
          <a:xfrm rot="16200000">
            <a:off x="3500437" y="-985837"/>
            <a:ext cx="2143125" cy="9144000"/>
          </a:xfrm>
          <a:prstGeom prst="rect">
            <a:avLst/>
          </a:prstGeom>
          <a:solidFill>
            <a:srgbClr val="677228">
              <a:alpha val="43921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/>
          </a:p>
        </p:txBody>
      </p:sp>
      <p:sp>
        <p:nvSpPr>
          <p:cNvPr id="6" name="Rectangle 48">
            <a:extLst>
              <a:ext uri="{FF2B5EF4-FFF2-40B4-BE49-F238E27FC236}">
                <a16:creationId xmlns:a16="http://schemas.microsoft.com/office/drawing/2014/main" id="{331F3423-2974-EB45-B3D5-563FB52FAB3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315200" y="2438400"/>
            <a:ext cx="1828800" cy="229076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/>
          </a:p>
        </p:txBody>
      </p:sp>
      <p:pic>
        <p:nvPicPr>
          <p:cNvPr id="7" name="Picture 35" descr="awtri_4c UPDATE_colo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5949950"/>
            <a:ext cx="684213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46" descr="elmasri_thumb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9975" y="2514600"/>
            <a:ext cx="1724025" cy="214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26" name="Rectangle 30" descr="Pink tissue paper">
            <a:extLst>
              <a:ext uri="{FF2B5EF4-FFF2-40B4-BE49-F238E27FC236}">
                <a16:creationId xmlns:a16="http://schemas.microsoft.com/office/drawing/2014/main" id="{B65508D1-3AB2-894A-BEE0-574CF808045B}"/>
              </a:ext>
            </a:extLst>
          </p:cNvPr>
          <p:cNvSpPr>
            <a:spLocks noGrp="1" noChangeArrowheads="1"/>
          </p:cNvSpPr>
          <p:nvPr>
            <p:ph type="ctrTitle" sz="quarter"/>
          </p:nvPr>
        </p:nvSpPr>
        <p:spPr>
          <a:xfrm>
            <a:off x="228600" y="152400"/>
            <a:ext cx="7086600" cy="2286000"/>
          </a:xfrm>
          <a:extLst>
            <a:ext uri="{909E8E84-426E-40DD-AFC4-6F175D3DCCD1}">
              <a14:hiddenFill xmlns:a14="http://schemas.microsoft.com/office/drawing/2010/main">
                <a:blipFill dpi="0" rotWithShape="0">
                  <a:blip r:embed="rId4"/>
                  <a:srcRect/>
                  <a:tile tx="0" ty="0" sx="100000" sy="100000" flip="none" algn="tl"/>
                </a:blipFill>
              </a14:hiddenFill>
            </a:ext>
          </a:extLst>
        </p:spPr>
        <p:txBody>
          <a:bodyPr wrap="none" anchor="ctr"/>
          <a:lstStyle>
            <a:lvl1pPr>
              <a:defRPr sz="6600">
                <a:solidFill>
                  <a:srgbClr val="990033"/>
                </a:solidFill>
              </a:defRPr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4134" name="Rectangle 38" descr="Pink tissue paper">
            <a:extLst>
              <a:ext uri="{FF2B5EF4-FFF2-40B4-BE49-F238E27FC236}">
                <a16:creationId xmlns:a16="http://schemas.microsoft.com/office/drawing/2014/main" id="{B3EBAF1E-B307-EB48-9C8F-711432508D20}"/>
              </a:ext>
            </a:extLst>
          </p:cNvPr>
          <p:cNvSpPr>
            <a:spLocks noGrp="1" noChangeArrowheads="1"/>
          </p:cNvSpPr>
          <p:nvPr>
            <p:ph type="subTitle" sz="quarter" idx="1"/>
          </p:nvPr>
        </p:nvSpPr>
        <p:spPr>
          <a:xfrm>
            <a:off x="304800" y="2590800"/>
            <a:ext cx="6629400" cy="1905000"/>
          </a:xfrm>
          <a:extLst>
            <a:ext uri="{909E8E84-426E-40DD-AFC4-6F175D3DCCD1}">
              <a14:hiddenFill xmlns:a14="http://schemas.microsoft.com/office/drawing/2010/main">
                <a:blipFill dpi="0" rotWithShape="0">
                  <a:blip r:embed="rId4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0" indent="0">
              <a:buFont typeface="Wingdings" pitchFamily="2" charset="2"/>
              <a:buNone/>
              <a:defRPr sz="3200"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9" name="Rectangle 29">
            <a:extLst>
              <a:ext uri="{FF2B5EF4-FFF2-40B4-BE49-F238E27FC236}">
                <a16:creationId xmlns:a16="http://schemas.microsoft.com/office/drawing/2014/main" id="{643CEC9C-50F9-244E-A308-8215CD3551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 bwMode="auto">
          <a:xfrm>
            <a:off x="838200" y="6397625"/>
            <a:ext cx="44958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900" i="0"/>
            </a:lvl1pPr>
          </a:lstStyle>
          <a:p>
            <a:pPr>
              <a:defRPr/>
            </a:pPr>
            <a:r>
              <a:rPr lang="en-US" altLang="en-US"/>
              <a:t>Copyright © 2007 </a:t>
            </a:r>
            <a:r>
              <a:rPr lang="en-US" altLang="en-US">
                <a:solidFill>
                  <a:srgbClr val="000000"/>
                </a:solidFill>
              </a:rPr>
              <a:t>Ramez Elmasri and Shamkant B. Navathe</a:t>
            </a:r>
          </a:p>
        </p:txBody>
      </p:sp>
    </p:spTree>
    <p:extLst>
      <p:ext uri="{BB962C8B-B14F-4D97-AF65-F5344CB8AC3E}">
        <p14:creationId xmlns:p14="http://schemas.microsoft.com/office/powerpoint/2010/main" val="1578457862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BCC924-D1F4-284D-974A-B5B1090E4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3DE880-FFAF-2D46-A88F-85C2303175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D740ADD3-46E4-C54E-AECC-61C0A5BF2533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Slide 10- </a:t>
            </a:r>
            <a:fld id="{CDC1F674-0A3A-4ED6-A210-06384FD62414}" type="slidenum">
              <a:rPr lang="en-US" altLang="en-US" smtClean="0"/>
              <a:pPr>
                <a:defRPr/>
              </a:pPr>
              <a:t>‹#›</a:t>
            </a:fld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239041685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AE0F2C-B6D8-B746-9556-8224020324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4E0F93-CB61-2546-B535-224F8C6350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D740ADD3-46E4-C54E-AECC-61C0A5BF2533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Slide 10- </a:t>
            </a:r>
            <a:fld id="{9688A850-26F4-4CEB-A3F3-3DB2C0F76D06}" type="slidenum">
              <a:rPr lang="en-US" altLang="en-US" smtClean="0"/>
              <a:pPr>
                <a:defRPr/>
              </a:pPr>
              <a:t>‹#›</a:t>
            </a:fld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3075012911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140BDA-5EB5-7A49-9E2F-D0EE4B55A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6CD10D-9F0E-E941-AC57-E8C4EA1F53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39713" y="1600200"/>
            <a:ext cx="4070350" cy="45720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CA12FF-B6CA-9142-A76E-51EFD2CA9F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62463" y="1600200"/>
            <a:ext cx="4071937" cy="45720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D740ADD3-46E4-C54E-AECC-61C0A5BF2533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Slide 10- </a:t>
            </a:r>
            <a:fld id="{278A0110-5365-442C-8EE4-E4896F17588C}" type="slidenum">
              <a:rPr lang="en-US" altLang="en-US" smtClean="0"/>
              <a:pPr>
                <a:defRPr/>
              </a:pPr>
              <a:t>‹#›</a:t>
            </a:fld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1747267597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3F8A3D-94F4-284D-AEBB-8D0412FEF7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108DD0-7CF5-694E-AC2B-883C8ED84D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BC1645-6A6A-5846-903A-FEC5680D4F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400C74B-F610-D24B-97CB-E23081ACDD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BC58447-283E-604F-B3E6-88EF8AC29F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D740ADD3-46E4-C54E-AECC-61C0A5BF2533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Slide 10- </a:t>
            </a:r>
            <a:fld id="{852BE8C3-B30D-456F-99B5-50094BEFF06E}" type="slidenum">
              <a:rPr lang="en-US" altLang="en-US" smtClean="0"/>
              <a:pPr>
                <a:defRPr/>
              </a:pPr>
              <a:t>‹#›</a:t>
            </a:fld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3809099708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EF9B41-9025-3F4A-901C-EA511CFC99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3">
            <a:extLst>
              <a:ext uri="{FF2B5EF4-FFF2-40B4-BE49-F238E27FC236}">
                <a16:creationId xmlns:a16="http://schemas.microsoft.com/office/drawing/2014/main" id="{D740ADD3-46E4-C54E-AECC-61C0A5BF2533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Slide 10- </a:t>
            </a:r>
            <a:fld id="{EA4FE5AB-3040-4A71-A362-8DD348F4DC60}" type="slidenum">
              <a:rPr lang="en-US" altLang="en-US" smtClean="0"/>
              <a:pPr>
                <a:defRPr/>
              </a:pPr>
              <a:t>‹#›</a:t>
            </a:fld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4203021353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3">
            <a:extLst>
              <a:ext uri="{FF2B5EF4-FFF2-40B4-BE49-F238E27FC236}">
                <a16:creationId xmlns:a16="http://schemas.microsoft.com/office/drawing/2014/main" id="{D740ADD3-46E4-C54E-AECC-61C0A5BF2533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Slide 10- </a:t>
            </a:r>
            <a:fld id="{42F7CC57-F83E-4E0A-91A5-84FD3A0EAB29}" type="slidenum">
              <a:rPr lang="en-US" altLang="en-US" smtClean="0"/>
              <a:pPr>
                <a:defRPr/>
              </a:pPr>
              <a:t>‹#›</a:t>
            </a:fld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1751189758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E20B7-9A12-264B-A3AB-E3E94CB32A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D13095-4DB7-EB40-9CD3-D14E2D9B2D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2A3E1E-1DA5-8246-AD21-5FE908C3B4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D740ADD3-46E4-C54E-AECC-61C0A5BF2533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Slide 10- </a:t>
            </a:r>
            <a:fld id="{8E09C5BB-69D9-4907-B4E4-12AC9E92A883}" type="slidenum">
              <a:rPr lang="en-US" altLang="en-US" smtClean="0"/>
              <a:pPr>
                <a:defRPr/>
              </a:pPr>
              <a:t>‹#›</a:t>
            </a:fld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1601699457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55423-D72E-2149-8F47-3F3A2B455B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2ED4F55-0EDE-8C4D-B3F4-7059523DBE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972326-A2F2-6C4E-B013-9A7D9761A6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D740ADD3-46E4-C54E-AECC-61C0A5BF2533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Slide 10- </a:t>
            </a:r>
            <a:fld id="{5F571627-E4A1-432C-80AE-258E9367AEF8}" type="slidenum">
              <a:rPr lang="en-US" altLang="en-US" smtClean="0"/>
              <a:pPr>
                <a:defRPr/>
              </a:pPr>
              <a:t>‹#›</a:t>
            </a:fld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1123622710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2A4032-4B0D-DE4F-AB43-F23D8E393E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86570A-3A6F-F946-8BFE-B24BAB3F46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D740ADD3-46E4-C54E-AECC-61C0A5BF2533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Slide 10- </a:t>
            </a:r>
            <a:fld id="{36E82B83-128C-4E56-8CED-2B612A1F2665}" type="slidenum">
              <a:rPr lang="en-US" altLang="en-US" smtClean="0"/>
              <a:pPr>
                <a:defRPr/>
              </a:pPr>
              <a:t>‹#›</a:t>
            </a:fld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2014428330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FEE7DDA-9366-CD47-946E-3B90336244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457950" y="303213"/>
            <a:ext cx="2076450" cy="58689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FC838B-D53F-704F-B223-AB932BEB55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228600" y="303213"/>
            <a:ext cx="6076950" cy="586898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D740ADD3-46E4-C54E-AECC-61C0A5BF2533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Slide 10- </a:t>
            </a:r>
            <a:fld id="{2F2E15A7-DB13-4F00-979F-FABF1DB87408}" type="slidenum">
              <a:rPr lang="en-US" altLang="en-US" smtClean="0"/>
              <a:pPr>
                <a:defRPr/>
              </a:pPr>
              <a:t>‹#›</a:t>
            </a:fld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3058937258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45"/>
          <p:cNvGrpSpPr>
            <a:grpSpLocks/>
          </p:cNvGrpSpPr>
          <p:nvPr userDrawn="1"/>
        </p:nvGrpSpPr>
        <p:grpSpPr bwMode="auto">
          <a:xfrm>
            <a:off x="8936038" y="1449388"/>
            <a:ext cx="207962" cy="5408612"/>
            <a:chOff x="5606" y="889"/>
            <a:chExt cx="154" cy="3431"/>
          </a:xfrm>
        </p:grpSpPr>
        <p:sp>
          <p:nvSpPr>
            <p:cNvPr id="1032" name="Rectangle 38">
              <a:extLst>
                <a:ext uri="{FF2B5EF4-FFF2-40B4-BE49-F238E27FC236}">
                  <a16:creationId xmlns:a16="http://schemas.microsoft.com/office/drawing/2014/main" id="{D21C8903-887C-8648-8993-CD6DD927ABA7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 flipH="1">
              <a:off x="5685" y="889"/>
              <a:ext cx="75" cy="3431"/>
            </a:xfrm>
            <a:prstGeom prst="rect">
              <a:avLst/>
            </a:prstGeom>
            <a:solidFill>
              <a:srgbClr val="677228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FF99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 i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kumimoji="1" lang="en-US" altLang="en-US" sz="3200" i="0">
                <a:latin typeface="Tahoma" panose="020B0604030504040204" pitchFamily="34" charset="0"/>
              </a:endParaRPr>
            </a:p>
          </p:txBody>
        </p:sp>
        <p:grpSp>
          <p:nvGrpSpPr>
            <p:cNvPr id="1033" name="Group 44"/>
            <p:cNvGrpSpPr>
              <a:grpSpLocks/>
            </p:cNvGrpSpPr>
            <p:nvPr userDrawn="1"/>
          </p:nvGrpSpPr>
          <p:grpSpPr bwMode="auto">
            <a:xfrm>
              <a:off x="5606" y="889"/>
              <a:ext cx="106" cy="3431"/>
              <a:chOff x="5606" y="889"/>
              <a:chExt cx="106" cy="3431"/>
            </a:xfrm>
          </p:grpSpPr>
          <p:sp>
            <p:nvSpPr>
              <p:cNvPr id="1034" name="Rectangle 43">
                <a:extLst>
                  <a:ext uri="{FF2B5EF4-FFF2-40B4-BE49-F238E27FC236}">
                    <a16:creationId xmlns:a16="http://schemas.microsoft.com/office/drawing/2014/main" id="{98BC479C-B424-4449-938E-B9B7229EAD35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gray">
              <a:xfrm rot="10800000" flipH="1">
                <a:off x="5606" y="889"/>
                <a:ext cx="58" cy="3431"/>
              </a:xfrm>
              <a:prstGeom prst="rect">
                <a:avLst/>
              </a:prstGeom>
              <a:solidFill>
                <a:schemeClr val="tx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FF9966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10800000" wrap="none" anchor="ctr"/>
              <a:lstStyle>
                <a:lvl1pPr>
                  <a:defRPr sz="2400" 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400" 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400" 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400" 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400" 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defRPr/>
                </a:pPr>
                <a:endParaRPr kumimoji="1" lang="en-US" altLang="en-US" sz="3200" i="0">
                  <a:latin typeface="Tahoma" panose="020B0604030504040204" pitchFamily="34" charset="0"/>
                </a:endParaRPr>
              </a:p>
            </p:txBody>
          </p:sp>
          <p:sp>
            <p:nvSpPr>
              <p:cNvPr id="1035" name="Rectangle 32">
                <a:extLst>
                  <a:ext uri="{FF2B5EF4-FFF2-40B4-BE49-F238E27FC236}">
                    <a16:creationId xmlns:a16="http://schemas.microsoft.com/office/drawing/2014/main" id="{C272B82F-3FF5-BE4E-8291-1FCAE32D43D4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gray">
              <a:xfrm rot="10800000" flipH="1">
                <a:off x="5654" y="889"/>
                <a:ext cx="58" cy="3431"/>
              </a:xfrm>
              <a:prstGeom prst="rect">
                <a:avLst/>
              </a:prstGeom>
              <a:solidFill>
                <a:srgbClr val="9900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FF9966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10800000" wrap="none" anchor="ctr"/>
              <a:lstStyle>
                <a:lvl1pPr>
                  <a:defRPr sz="2400" 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400" 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400" 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400" 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400" 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defRPr/>
                </a:pPr>
                <a:endParaRPr kumimoji="1" lang="en-US" altLang="en-US" sz="3200" i="0">
                  <a:latin typeface="Tahoma" panose="020B0604030504040204" pitchFamily="34" charset="0"/>
                </a:endParaRPr>
              </a:p>
            </p:txBody>
          </p:sp>
        </p:grpSp>
      </p:grpSp>
      <p:sp>
        <p:nvSpPr>
          <p:cNvPr id="1027" name="Rectangle 37">
            <a:extLst>
              <a:ext uri="{FF2B5EF4-FFF2-40B4-BE49-F238E27FC236}">
                <a16:creationId xmlns:a16="http://schemas.microsoft.com/office/drawing/2014/main" id="{AB242988-A86D-CD44-829E-833623BFD1A9}"/>
              </a:ext>
            </a:extLst>
          </p:cNvPr>
          <p:cNvSpPr>
            <a:spLocks noChangeArrowheads="1"/>
          </p:cNvSpPr>
          <p:nvPr userDrawn="1"/>
        </p:nvSpPr>
        <p:spPr bwMode="gray">
          <a:xfrm rot="-5400000">
            <a:off x="3845719" y="-3845719"/>
            <a:ext cx="1449388" cy="9140825"/>
          </a:xfrm>
          <a:prstGeom prst="rect">
            <a:avLst/>
          </a:prstGeom>
          <a:solidFill>
            <a:srgbClr val="677228">
              <a:alpha val="36078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FF996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kumimoji="1" lang="en-US" altLang="en-US" sz="3200" i="0">
              <a:latin typeface="Tahoma" panose="020B0604030504040204" pitchFamily="34" charset="0"/>
            </a:endParaRPr>
          </a:p>
        </p:txBody>
      </p:sp>
      <p:sp>
        <p:nvSpPr>
          <p:cNvPr id="1028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228600" y="303213"/>
            <a:ext cx="7796213" cy="992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3085" name="Rectangle 13">
            <a:extLst>
              <a:ext uri="{FF2B5EF4-FFF2-40B4-BE49-F238E27FC236}">
                <a16:creationId xmlns:a16="http://schemas.microsoft.com/office/drawing/2014/main" id="{D740ADD3-46E4-C54E-AECC-61C0A5BF253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 b="1" i="0">
                <a:solidFill>
                  <a:srgbClr val="990033"/>
                </a:solidFill>
              </a:defRPr>
            </a:lvl1pPr>
          </a:lstStyle>
          <a:p>
            <a:pPr>
              <a:defRPr/>
            </a:pPr>
            <a:r>
              <a:rPr lang="en-US" altLang="en-US"/>
              <a:t>Slide 10- </a:t>
            </a:r>
            <a:fld id="{B56651C8-EE99-4624-881F-B098F3752ADD}" type="slidenum">
              <a:rPr lang="en-US" altLang="en-US" smtClean="0"/>
              <a:pPr>
                <a:defRPr/>
              </a:pPr>
              <a:t>‹#›</a:t>
            </a:fld>
            <a:endParaRPr lang="en-CA" altLang="en-US"/>
          </a:p>
        </p:txBody>
      </p:sp>
      <p:sp>
        <p:nvSpPr>
          <p:cNvPr id="1030" name="Rectangle 21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9713" y="1600200"/>
            <a:ext cx="8294687" cy="457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CC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1031" name="Rectangle 30">
            <a:extLst>
              <a:ext uri="{FF2B5EF4-FFF2-40B4-BE49-F238E27FC236}">
                <a16:creationId xmlns:a16="http://schemas.microsoft.com/office/drawing/2014/main" id="{C413AA26-A738-874C-9A8B-1FFA176D72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6397625"/>
            <a:ext cx="449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900" i="0"/>
              <a:t>Copyright © 2007 </a:t>
            </a:r>
            <a:r>
              <a:rPr lang="en-US" altLang="en-US" sz="900" i="0">
                <a:solidFill>
                  <a:srgbClr val="000000"/>
                </a:solidFill>
              </a:rPr>
              <a:t>Ramez Elmasri and Shamkant B. Navathe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4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transition spd="med"/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kern="1200">
          <a:solidFill>
            <a:srgbClr val="800000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800000"/>
          </a:solidFill>
          <a:latin typeface="Arial" panose="020B0604020202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800000"/>
          </a:solidFill>
          <a:latin typeface="Arial" panose="020B0604020202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800000"/>
          </a:solidFill>
          <a:latin typeface="Arial" panose="020B0604020202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800000"/>
          </a:solidFill>
          <a:latin typeface="Arial" panose="020B060402020202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rgbClr val="800000"/>
          </a:solidFill>
          <a:latin typeface="Arial" panose="020B060402020202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rgbClr val="800000"/>
          </a:solidFill>
          <a:latin typeface="Arial" panose="020B060402020202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rgbClr val="800000"/>
          </a:solidFill>
          <a:latin typeface="Arial" panose="020B060402020202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rgbClr val="800000"/>
          </a:solidFill>
          <a:latin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990033"/>
        </a:buClr>
        <a:buSzPct val="60000"/>
        <a:buFont typeface="Wingdings" panose="05000000000000000000" pitchFamily="2" charset="2"/>
        <a:buChar char="n"/>
        <a:defRPr sz="2800" kern="1200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55000"/>
        <a:buFont typeface="Wingdings" panose="05000000000000000000" pitchFamily="2" charset="2"/>
        <a:buChar char="n"/>
        <a:defRPr sz="2600" kern="1200">
          <a:solidFill>
            <a:srgbClr val="800000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990033"/>
        </a:buClr>
        <a:buSzPct val="50000"/>
        <a:buFont typeface="Wingdings" panose="05000000000000000000" pitchFamily="2" charset="2"/>
        <a:buChar char="n"/>
        <a:defRPr sz="2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55000"/>
        <a:buFont typeface="Wingdings" panose="05000000000000000000" pitchFamily="2" charset="2"/>
        <a:buChar char="n"/>
        <a:defRPr sz="2000" kern="1200">
          <a:solidFill>
            <a:srgbClr val="800000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990033"/>
        </a:buClr>
        <a:buSzPct val="50000"/>
        <a:buFont typeface="Wingdings" panose="05000000000000000000" pitchFamily="2" charset="2"/>
        <a:buChar char="n"/>
        <a:defRPr sz="20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3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1.emf"/><Relationship Id="rId4" Type="http://schemas.openxmlformats.org/officeDocument/2006/relationships/oleObject" Target="../embeddings/oleObject1.bin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4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12.emf"/><Relationship Id="rId4" Type="http://schemas.openxmlformats.org/officeDocument/2006/relationships/oleObject" Target="../embeddings/oleObject2.bin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5.xml"/><Relationship Id="rId7" Type="http://schemas.openxmlformats.org/officeDocument/2006/relationships/image" Target="../media/image14.e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13.emf"/><Relationship Id="rId4" Type="http://schemas.openxmlformats.org/officeDocument/2006/relationships/oleObject" Target="../embeddings/oleObject3.bin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8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15.emf"/><Relationship Id="rId4" Type="http://schemas.openxmlformats.org/officeDocument/2006/relationships/oleObject" Target="../embeddings/oleObject5.bin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9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16.emf"/><Relationship Id="rId4" Type="http://schemas.openxmlformats.org/officeDocument/2006/relationships/oleObject" Target="../embeddings/oleObject6.bin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0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17.emf"/><Relationship Id="rId4" Type="http://schemas.openxmlformats.org/officeDocument/2006/relationships/oleObject" Target="../embeddings/oleObject7.bin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.bin"/><Relationship Id="rId3" Type="http://schemas.openxmlformats.org/officeDocument/2006/relationships/notesSlide" Target="../notesSlides/notesSlide51.xml"/><Relationship Id="rId7" Type="http://schemas.openxmlformats.org/officeDocument/2006/relationships/image" Target="../media/image19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9.bin"/><Relationship Id="rId11" Type="http://schemas.openxmlformats.org/officeDocument/2006/relationships/image" Target="../media/image21.emf"/><Relationship Id="rId5" Type="http://schemas.openxmlformats.org/officeDocument/2006/relationships/image" Target="../media/image18.emf"/><Relationship Id="rId10" Type="http://schemas.openxmlformats.org/officeDocument/2006/relationships/oleObject" Target="../embeddings/oleObject11.bin"/><Relationship Id="rId4" Type="http://schemas.openxmlformats.org/officeDocument/2006/relationships/oleObject" Target="../embeddings/oleObject8.bin"/><Relationship Id="rId9" Type="http://schemas.openxmlformats.org/officeDocument/2006/relationships/image" Target="../media/image20.emf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4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5" Type="http://schemas.openxmlformats.org/officeDocument/2006/relationships/image" Target="../media/image22.emf"/><Relationship Id="rId4" Type="http://schemas.openxmlformats.org/officeDocument/2006/relationships/oleObject" Target="../embeddings/oleObject12.bin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5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5" Type="http://schemas.openxmlformats.org/officeDocument/2006/relationships/image" Target="../media/image23.emf"/><Relationship Id="rId4" Type="http://schemas.openxmlformats.org/officeDocument/2006/relationships/oleObject" Target="../embeddings/oleObject13.bin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.bin"/><Relationship Id="rId3" Type="http://schemas.openxmlformats.org/officeDocument/2006/relationships/notesSlide" Target="../notesSlides/notesSlide56.xml"/><Relationship Id="rId7" Type="http://schemas.openxmlformats.org/officeDocument/2006/relationships/image" Target="../media/image25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15.bin"/><Relationship Id="rId5" Type="http://schemas.openxmlformats.org/officeDocument/2006/relationships/image" Target="../media/image24.emf"/><Relationship Id="rId4" Type="http://schemas.openxmlformats.org/officeDocument/2006/relationships/oleObject" Target="../embeddings/oleObject14.bin"/><Relationship Id="rId9" Type="http://schemas.openxmlformats.org/officeDocument/2006/relationships/image" Target="../media/image26.emf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7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5" Type="http://schemas.openxmlformats.org/officeDocument/2006/relationships/image" Target="../media/image27.emf"/><Relationship Id="rId4" Type="http://schemas.openxmlformats.org/officeDocument/2006/relationships/oleObject" Target="../embeddings/oleObject17.bin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8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5" Type="http://schemas.openxmlformats.org/officeDocument/2006/relationships/image" Target="../media/image27.emf"/><Relationship Id="rId4" Type="http://schemas.openxmlformats.org/officeDocument/2006/relationships/oleObject" Target="../embeddings/oleObject18.bin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0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5" Type="http://schemas.openxmlformats.org/officeDocument/2006/relationships/image" Target="../media/image28.wmf"/><Relationship Id="rId4" Type="http://schemas.openxmlformats.org/officeDocument/2006/relationships/oleObject" Target="../embeddings/oleObject19.bin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2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5" Type="http://schemas.openxmlformats.org/officeDocument/2006/relationships/image" Target="../media/image29.emf"/><Relationship Id="rId4" Type="http://schemas.openxmlformats.org/officeDocument/2006/relationships/oleObject" Target="../embeddings/oleObject20.bin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wmf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Number Placeholder 2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smtClean="0">
                <a:solidFill>
                  <a:srgbClr val="990033"/>
                </a:solidFill>
              </a:rPr>
              <a:t>Slide 10- </a:t>
            </a:r>
            <a:fld id="{F61B9D7F-6B73-4CBE-8757-DB11286699F3}" type="slidenum">
              <a:rPr lang="en-US" altLang="en-US" sz="1400" smtClean="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</a:t>
            </a:fld>
            <a:endParaRPr lang="en-CA" altLang="en-US" sz="1400" smtClean="0">
              <a:solidFill>
                <a:srgbClr val="990033"/>
              </a:solidFill>
            </a:endParaRP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US" altLang="en-US" smtClean="0"/>
          </a:p>
        </p:txBody>
      </p:sp>
      <p:pic>
        <p:nvPicPr>
          <p:cNvPr id="5124" name="Picture 11" descr="Elmasri_cov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9"/>
          <p:cNvSpPr>
            <a:spLocks noGrp="1" noChangeArrowheads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900" smtClean="0">
                <a:solidFill>
                  <a:schemeClr val="tx1"/>
                </a:solidFill>
              </a:rPr>
              <a:t>Copyright © 2007 </a:t>
            </a:r>
            <a:r>
              <a:rPr lang="en-US" altLang="en-US" sz="900" smtClean="0">
                <a:solidFill>
                  <a:srgbClr val="000000"/>
                </a:solidFill>
              </a:rPr>
              <a:t>Ramez Elmasri and Shamkant B. Navathe</a:t>
            </a:r>
          </a:p>
        </p:txBody>
      </p:sp>
      <p:sp>
        <p:nvSpPr>
          <p:cNvPr id="7171" name="Rectangle 2" descr="Pink tissue paper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Chapter 10</a:t>
            </a:r>
          </a:p>
        </p:txBody>
      </p:sp>
      <p:sp>
        <p:nvSpPr>
          <p:cNvPr id="7172" name="Rectangle 3" descr="Pink tissue paper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Functional Dependencies and Normalization for Relational Databases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smtClean="0">
                <a:solidFill>
                  <a:srgbClr val="990033"/>
                </a:solidFill>
              </a:rPr>
              <a:t>Slide 10- </a:t>
            </a:r>
            <a:fld id="{59291043-68BF-41F5-B243-9358C83C33A7}" type="slidenum">
              <a:rPr lang="en-US" altLang="en-US" sz="1400" smtClean="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lang="en-CA" altLang="en-US" sz="1400" smtClean="0">
              <a:solidFill>
                <a:srgbClr val="990033"/>
              </a:solidFill>
            </a:endParaRPr>
          </a:p>
        </p:txBody>
      </p:sp>
      <p:sp>
        <p:nvSpPr>
          <p:cNvPr id="9219" name="Rectangle 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Chapter Outline</a:t>
            </a:r>
          </a:p>
        </p:txBody>
      </p:sp>
      <p:sp>
        <p:nvSpPr>
          <p:cNvPr id="9220" name="Rectangle 9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400" smtClean="0"/>
              <a:t>1 Informal Design Guidelines for Relational Databases</a:t>
            </a:r>
          </a:p>
          <a:p>
            <a:pPr lvl="1" eaLnBrk="1" hangingPunct="1"/>
            <a:r>
              <a:rPr lang="en-US" altLang="en-US" sz="2200" smtClean="0"/>
              <a:t>1.1Semantics of the Relation Attributes</a:t>
            </a:r>
          </a:p>
          <a:p>
            <a:pPr lvl="1" eaLnBrk="1" hangingPunct="1"/>
            <a:r>
              <a:rPr lang="en-US" altLang="en-US" sz="2200" smtClean="0"/>
              <a:t>1.2 Redundant Information in Tuples and Update Anomalies</a:t>
            </a:r>
          </a:p>
          <a:p>
            <a:pPr lvl="1" eaLnBrk="1" hangingPunct="1"/>
            <a:r>
              <a:rPr lang="en-US" altLang="en-US" sz="2200" smtClean="0"/>
              <a:t>1.3 Null Values in Tuples</a:t>
            </a:r>
          </a:p>
          <a:p>
            <a:pPr lvl="1" eaLnBrk="1" hangingPunct="1"/>
            <a:r>
              <a:rPr lang="en-US" altLang="en-US" sz="2200" smtClean="0"/>
              <a:t>1.4 Spurious Tuples</a:t>
            </a:r>
          </a:p>
          <a:p>
            <a:pPr lvl="1" eaLnBrk="1" hangingPunct="1"/>
            <a:endParaRPr lang="en-US" altLang="en-US" sz="2200" smtClean="0"/>
          </a:p>
          <a:p>
            <a:pPr eaLnBrk="1" hangingPunct="1"/>
            <a:r>
              <a:rPr lang="en-US" altLang="en-US" sz="2400" smtClean="0"/>
              <a:t>2 Functional Dependencies (FDs)</a:t>
            </a:r>
          </a:p>
          <a:p>
            <a:pPr lvl="1" eaLnBrk="1" hangingPunct="1"/>
            <a:r>
              <a:rPr lang="en-US" altLang="en-US" sz="2200" smtClean="0"/>
              <a:t>2.1 Definition of FD</a:t>
            </a:r>
          </a:p>
          <a:p>
            <a:pPr lvl="1" eaLnBrk="1" hangingPunct="1"/>
            <a:r>
              <a:rPr lang="en-US" altLang="en-US" sz="2200" smtClean="0"/>
              <a:t>2.2 Inference Rules for FDs</a:t>
            </a:r>
          </a:p>
          <a:p>
            <a:pPr lvl="1" eaLnBrk="1" hangingPunct="1"/>
            <a:r>
              <a:rPr lang="en-US" altLang="en-US" sz="2200" smtClean="0"/>
              <a:t>2.3 Equivalence of Sets of FDs</a:t>
            </a:r>
          </a:p>
          <a:p>
            <a:pPr lvl="1" eaLnBrk="1" hangingPunct="1"/>
            <a:r>
              <a:rPr lang="en-US" altLang="en-US" sz="2200" smtClean="0"/>
              <a:t>2.4 Minimal Sets of FDs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smtClean="0">
                <a:solidFill>
                  <a:srgbClr val="990033"/>
                </a:solidFill>
              </a:rPr>
              <a:t>Slide 10- </a:t>
            </a:r>
            <a:fld id="{C39296B0-21C0-4749-AA0C-955BEB4A34F0}" type="slidenum">
              <a:rPr lang="en-US" altLang="en-US" sz="1400" smtClean="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lang="en-CA" altLang="en-US" sz="1400" smtClean="0">
              <a:solidFill>
                <a:srgbClr val="990033"/>
              </a:solidFill>
            </a:endParaRPr>
          </a:p>
        </p:txBody>
      </p:sp>
      <p:sp>
        <p:nvSpPr>
          <p:cNvPr id="11267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Chapter Outline</a:t>
            </a:r>
          </a:p>
        </p:txBody>
      </p:sp>
      <p:sp>
        <p:nvSpPr>
          <p:cNvPr id="11268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400" smtClean="0"/>
              <a:t>3 Normal Forms Based on Primary Keys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200" smtClean="0"/>
              <a:t>3.1 Normalization of Relations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200" smtClean="0"/>
              <a:t>3.2 Practical Use of Normal Forms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200" smtClean="0"/>
              <a:t>3.3 Definitions of Keys and Attributes Participating in Keys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200" smtClean="0"/>
              <a:t>3.4 First Normal Form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200" smtClean="0"/>
              <a:t>3.5 Second Normal Form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200" smtClean="0"/>
              <a:t>3.6 Third Normal Form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sz="2200" smtClean="0"/>
          </a:p>
          <a:p>
            <a:pPr eaLnBrk="1" hangingPunct="1">
              <a:lnSpc>
                <a:spcPct val="90000"/>
              </a:lnSpc>
            </a:pPr>
            <a:r>
              <a:rPr lang="en-US" altLang="en-US" sz="2400" smtClean="0"/>
              <a:t>4 General Normal Form Definitions (For Multiple Keys)</a:t>
            </a:r>
          </a:p>
          <a:p>
            <a:pPr eaLnBrk="1" hangingPunct="1">
              <a:lnSpc>
                <a:spcPct val="90000"/>
              </a:lnSpc>
            </a:pPr>
            <a:endParaRPr lang="en-US" altLang="en-US" sz="2400" smtClean="0"/>
          </a:p>
          <a:p>
            <a:pPr eaLnBrk="1" hangingPunct="1">
              <a:lnSpc>
                <a:spcPct val="90000"/>
              </a:lnSpc>
            </a:pPr>
            <a:r>
              <a:rPr lang="en-US" altLang="en-US" sz="2400" smtClean="0"/>
              <a:t>5 BCNF (Boyce-Codd Normal Form)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smtClean="0">
                <a:solidFill>
                  <a:srgbClr val="990033"/>
                </a:solidFill>
              </a:rPr>
              <a:t>Slide 10- </a:t>
            </a:r>
            <a:fld id="{2AC2E0CF-EA6C-43A7-926F-E34A280188C8}" type="slidenum">
              <a:rPr lang="en-US" altLang="en-US" sz="1400" smtClean="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lang="en-CA" altLang="en-US" sz="1400" smtClean="0">
              <a:solidFill>
                <a:srgbClr val="990033"/>
              </a:solidFill>
            </a:endParaRPr>
          </a:p>
        </p:txBody>
      </p:sp>
      <p:sp>
        <p:nvSpPr>
          <p:cNvPr id="13315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smtClean="0"/>
              <a:t>1 Informal Design Guidelines for Relational Databases (1)</a:t>
            </a:r>
          </a:p>
        </p:txBody>
      </p:sp>
      <p:sp>
        <p:nvSpPr>
          <p:cNvPr id="13316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What is relational database design?</a:t>
            </a:r>
          </a:p>
          <a:p>
            <a:pPr lvl="1" eaLnBrk="1" hangingPunct="1"/>
            <a:r>
              <a:rPr lang="en-US" altLang="en-US" smtClean="0"/>
              <a:t>The grouping of attributes to form "good" relation schemas</a:t>
            </a:r>
          </a:p>
          <a:p>
            <a:pPr eaLnBrk="1" hangingPunct="1"/>
            <a:r>
              <a:rPr lang="en-US" altLang="en-US" smtClean="0"/>
              <a:t> Two levels of relation schemas</a:t>
            </a:r>
          </a:p>
          <a:p>
            <a:pPr lvl="1" eaLnBrk="1" hangingPunct="1"/>
            <a:r>
              <a:rPr lang="en-US" altLang="en-US" smtClean="0"/>
              <a:t>The logical "user view" level</a:t>
            </a:r>
          </a:p>
          <a:p>
            <a:pPr lvl="1" eaLnBrk="1" hangingPunct="1"/>
            <a:r>
              <a:rPr lang="en-US" altLang="en-US" smtClean="0"/>
              <a:t>The storage "base relation" level</a:t>
            </a:r>
          </a:p>
          <a:p>
            <a:pPr eaLnBrk="1" hangingPunct="1"/>
            <a:r>
              <a:rPr lang="en-US" altLang="en-US" smtClean="0"/>
              <a:t> Design is concerned mainly with base relations</a:t>
            </a:r>
          </a:p>
          <a:p>
            <a:pPr eaLnBrk="1" hangingPunct="1"/>
            <a:r>
              <a:rPr lang="en-US" altLang="en-US" smtClean="0"/>
              <a:t> What are the criteria for "good" base relations? </a:t>
            </a:r>
          </a:p>
          <a:p>
            <a:pPr eaLnBrk="1" hangingPunct="1"/>
            <a:endParaRPr lang="en-US" altLang="en-US" smtClean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smtClean="0">
                <a:solidFill>
                  <a:srgbClr val="990033"/>
                </a:solidFill>
              </a:rPr>
              <a:t>Slide 10- </a:t>
            </a:r>
            <a:fld id="{C01B8053-2D9D-4ADB-A9D9-C1EDD9093A06}" type="slidenum">
              <a:rPr lang="en-US" altLang="en-US" sz="1400" smtClean="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lang="en-CA" altLang="en-US" sz="1400" smtClean="0">
              <a:solidFill>
                <a:srgbClr val="990033"/>
              </a:solidFill>
            </a:endParaRPr>
          </a:p>
        </p:txBody>
      </p:sp>
      <p:sp>
        <p:nvSpPr>
          <p:cNvPr id="15363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smtClean="0"/>
              <a:t>Informal Design Guidelines for Relational Databases (2)</a:t>
            </a:r>
          </a:p>
        </p:txBody>
      </p:sp>
      <p:sp>
        <p:nvSpPr>
          <p:cNvPr id="15364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400" smtClean="0"/>
              <a:t>We first discuss informal guidelines for good relational design</a:t>
            </a:r>
          </a:p>
          <a:p>
            <a:pPr eaLnBrk="1" hangingPunct="1"/>
            <a:r>
              <a:rPr lang="en-US" altLang="en-US" sz="2400" smtClean="0"/>
              <a:t>Then we discuss formal concepts of functional dependencies and normal forms</a:t>
            </a:r>
          </a:p>
          <a:p>
            <a:pPr lvl="1" eaLnBrk="1" hangingPunct="1"/>
            <a:r>
              <a:rPr lang="en-US" altLang="en-US" sz="2200" smtClean="0"/>
              <a:t>- 1NF (First Normal Form)</a:t>
            </a:r>
          </a:p>
          <a:p>
            <a:pPr lvl="1" eaLnBrk="1" hangingPunct="1"/>
            <a:r>
              <a:rPr lang="en-US" altLang="en-US" sz="2200" smtClean="0"/>
              <a:t>- 2NF (Second Normal Form)</a:t>
            </a:r>
          </a:p>
          <a:p>
            <a:pPr lvl="1" eaLnBrk="1" hangingPunct="1"/>
            <a:r>
              <a:rPr lang="en-US" altLang="en-US" sz="2200" smtClean="0"/>
              <a:t>- 3NF (Third Normal Form)</a:t>
            </a:r>
          </a:p>
          <a:p>
            <a:pPr lvl="1" eaLnBrk="1" hangingPunct="1"/>
            <a:r>
              <a:rPr lang="en-US" altLang="en-US" sz="2200" smtClean="0"/>
              <a:t>- BCNF (Boyce-Codd Normal Form)</a:t>
            </a:r>
          </a:p>
          <a:p>
            <a:pPr eaLnBrk="1" hangingPunct="1"/>
            <a:r>
              <a:rPr lang="en-US" altLang="en-US" sz="2400" smtClean="0"/>
              <a:t>Additional types of dependencies, further normal forms, relational design algorithms by synthesis are discussed in Chapter 11 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smtClean="0">
                <a:solidFill>
                  <a:srgbClr val="990033"/>
                </a:solidFill>
              </a:rPr>
              <a:t>Slide 10- </a:t>
            </a:r>
            <a:fld id="{C9800ACF-EA72-4F7B-967E-9975C5165987}" type="slidenum">
              <a:rPr lang="en-US" altLang="en-US" sz="1400" smtClean="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lang="en-CA" altLang="en-US" sz="1400" smtClean="0">
              <a:solidFill>
                <a:srgbClr val="990033"/>
              </a:solidFill>
            </a:endParaRPr>
          </a:p>
        </p:txBody>
      </p:sp>
      <p:sp>
        <p:nvSpPr>
          <p:cNvPr id="17411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smtClean="0"/>
              <a:t>1.1	Semantics of the Relation Attributes </a:t>
            </a:r>
          </a:p>
        </p:txBody>
      </p:sp>
      <p:sp>
        <p:nvSpPr>
          <p:cNvPr id="17412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400" smtClean="0"/>
              <a:t>GUIDELINE 1: Informally, each tuple in a relation should represent one entity or relationship instance. (Applies to individual relations and their attributes).</a:t>
            </a:r>
          </a:p>
          <a:p>
            <a:pPr lvl="1" eaLnBrk="1" hangingPunct="1"/>
            <a:r>
              <a:rPr lang="en-US" altLang="en-US" sz="2200" smtClean="0"/>
              <a:t>Attributes of different entities (EMPLOYEEs, DEPARTMENTs, PROJECTs) should not be mixed in the same relation</a:t>
            </a:r>
          </a:p>
          <a:p>
            <a:pPr lvl="1" eaLnBrk="1" hangingPunct="1"/>
            <a:r>
              <a:rPr lang="en-US" altLang="en-US" sz="2200" smtClean="0"/>
              <a:t>Only foreign keys should be used to refer to other entities</a:t>
            </a:r>
          </a:p>
          <a:p>
            <a:pPr lvl="1" eaLnBrk="1" hangingPunct="1"/>
            <a:r>
              <a:rPr lang="en-US" altLang="en-US" sz="2200" smtClean="0"/>
              <a:t>Entity and relationship attributes should be kept apart as much as possible.</a:t>
            </a:r>
          </a:p>
          <a:p>
            <a:pPr eaLnBrk="1" hangingPunct="1"/>
            <a:r>
              <a:rPr lang="en-US" altLang="en-US" sz="2400" u="sng" smtClean="0"/>
              <a:t>Bottom Line:</a:t>
            </a:r>
            <a:r>
              <a:rPr lang="en-US" altLang="en-US" sz="2400" smtClean="0"/>
              <a:t> </a:t>
            </a:r>
            <a:r>
              <a:rPr lang="en-US" altLang="en-US" sz="2400" i="1" smtClean="0"/>
              <a:t>Design a schema that can be explained easily relation by relation. The semantics of attributes should be easy to interpret. 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Number Placeholder 2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smtClean="0">
                <a:solidFill>
                  <a:srgbClr val="990033"/>
                </a:solidFill>
              </a:rPr>
              <a:t>Slide 10- </a:t>
            </a:r>
            <a:fld id="{B1A25F53-F5C6-43AB-8DF7-5641F7AB1E92}" type="slidenum">
              <a:rPr lang="en-US" altLang="en-US" sz="1400" smtClean="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lang="en-CA" altLang="en-US" sz="1400" smtClean="0">
              <a:solidFill>
                <a:srgbClr val="990033"/>
              </a:solidFill>
            </a:endParaRPr>
          </a:p>
        </p:txBody>
      </p:sp>
      <p:sp>
        <p:nvSpPr>
          <p:cNvPr id="19459" name="Rectangle 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smtClean="0"/>
              <a:t>Figure 10.1 A simplified COMPANY relational database schema</a:t>
            </a:r>
          </a:p>
        </p:txBody>
      </p:sp>
      <p:sp>
        <p:nvSpPr>
          <p:cNvPr id="19460" name="Rectangle 4"/>
          <p:cNvSpPr>
            <a:spLocks noChangeArrowheads="1"/>
          </p:cNvSpPr>
          <p:nvPr/>
        </p:nvSpPr>
        <p:spPr bwMode="auto">
          <a:xfrm>
            <a:off x="1828800" y="13096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solidFill>
                <a:schemeClr val="tx1"/>
              </a:solidFill>
            </a:endParaRPr>
          </a:p>
        </p:txBody>
      </p:sp>
      <p:pic>
        <p:nvPicPr>
          <p:cNvPr id="19461" name="Picture 11" descr="fig10_0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1524000"/>
            <a:ext cx="5105400" cy="4930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smtClean="0">
                <a:solidFill>
                  <a:srgbClr val="990033"/>
                </a:solidFill>
              </a:rPr>
              <a:t>Slide 10- </a:t>
            </a:r>
            <a:fld id="{B2DB127A-17E3-4880-AE0E-F37429092CCE}" type="slidenum">
              <a:rPr lang="en-US" altLang="en-US" sz="1400" smtClean="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lang="en-CA" altLang="en-US" sz="1400" smtClean="0">
              <a:solidFill>
                <a:srgbClr val="990033"/>
              </a:solidFill>
            </a:endParaRPr>
          </a:p>
        </p:txBody>
      </p:sp>
      <p:sp>
        <p:nvSpPr>
          <p:cNvPr id="21507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smtClean="0"/>
              <a:t>1.2 Redundant Information in Tuples and Update Anomalies </a:t>
            </a:r>
          </a:p>
        </p:txBody>
      </p:sp>
      <p:sp>
        <p:nvSpPr>
          <p:cNvPr id="21508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Information is stored redundantly </a:t>
            </a:r>
          </a:p>
          <a:p>
            <a:pPr lvl="1" eaLnBrk="1" hangingPunct="1"/>
            <a:r>
              <a:rPr lang="en-US" altLang="en-US" smtClean="0"/>
              <a:t>Wastes storage</a:t>
            </a:r>
          </a:p>
          <a:p>
            <a:pPr lvl="1" eaLnBrk="1" hangingPunct="1"/>
            <a:r>
              <a:rPr lang="en-US" altLang="en-US" smtClean="0"/>
              <a:t>Causes problems with update anomalies</a:t>
            </a:r>
          </a:p>
          <a:p>
            <a:pPr lvl="2" eaLnBrk="1" hangingPunct="1"/>
            <a:r>
              <a:rPr lang="en-US" altLang="en-US" smtClean="0"/>
              <a:t>Insertion anomalies</a:t>
            </a:r>
          </a:p>
          <a:p>
            <a:pPr lvl="2" eaLnBrk="1" hangingPunct="1"/>
            <a:r>
              <a:rPr lang="en-US" altLang="en-US" smtClean="0"/>
              <a:t>Deletion anomalies</a:t>
            </a:r>
          </a:p>
          <a:p>
            <a:pPr lvl="2" eaLnBrk="1" hangingPunct="1"/>
            <a:r>
              <a:rPr lang="en-US" altLang="en-US" smtClean="0"/>
              <a:t>Modification anomalies 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smtClean="0">
                <a:solidFill>
                  <a:srgbClr val="990033"/>
                </a:solidFill>
              </a:rPr>
              <a:t>Slide 10- </a:t>
            </a:r>
            <a:fld id="{DAA61C93-A291-49DE-B88F-85E7FA6D2E17}" type="slidenum">
              <a:rPr lang="en-US" altLang="en-US" sz="1400" smtClean="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lang="en-CA" altLang="en-US" sz="1400" smtClean="0">
              <a:solidFill>
                <a:srgbClr val="990033"/>
              </a:solidFill>
            </a:endParaRPr>
          </a:p>
        </p:txBody>
      </p:sp>
      <p:sp>
        <p:nvSpPr>
          <p:cNvPr id="23555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smtClean="0"/>
              <a:t>EXAMPLE OF AN UPDATE ANOMALY</a:t>
            </a:r>
          </a:p>
        </p:txBody>
      </p:sp>
      <p:sp>
        <p:nvSpPr>
          <p:cNvPr id="2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Consider the relation:</a:t>
            </a:r>
          </a:p>
          <a:p>
            <a:pPr lvl="1" eaLnBrk="1" hangingPunct="1"/>
            <a:r>
              <a:rPr lang="en-US" altLang="en-US" smtClean="0"/>
              <a:t>EMP_PROJ(Emp#, Proj#, Ename, Pname, No_hours)</a:t>
            </a:r>
          </a:p>
          <a:p>
            <a:pPr eaLnBrk="1" hangingPunct="1"/>
            <a:r>
              <a:rPr lang="en-US" altLang="en-US" smtClean="0"/>
              <a:t>Update Anomaly:</a:t>
            </a:r>
          </a:p>
          <a:p>
            <a:pPr lvl="1" eaLnBrk="1" hangingPunct="1"/>
            <a:r>
              <a:rPr lang="en-US" altLang="en-US" smtClean="0"/>
              <a:t>Changing the name of  project number P1 from “Billing” to “Customer-Accounting” may cause this update to be made for all 100 employees working on project P1. 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smtClean="0">
                <a:solidFill>
                  <a:srgbClr val="990033"/>
                </a:solidFill>
              </a:rPr>
              <a:t>Slide 10- </a:t>
            </a:r>
            <a:fld id="{59E78BD0-81EE-458D-AF1C-F3A638599B6B}" type="slidenum">
              <a:rPr lang="en-US" altLang="en-US" sz="1400" smtClean="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11</a:t>
            </a:fld>
            <a:endParaRPr lang="en-CA" altLang="en-US" sz="1400" smtClean="0">
              <a:solidFill>
                <a:srgbClr val="990033"/>
              </a:solidFill>
            </a:endParaRPr>
          </a:p>
        </p:txBody>
      </p:sp>
      <p:sp>
        <p:nvSpPr>
          <p:cNvPr id="25603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smtClean="0"/>
              <a:t>EXAMPLE OF AN INSERT ANOMALY</a:t>
            </a:r>
          </a:p>
        </p:txBody>
      </p:sp>
      <p:sp>
        <p:nvSpPr>
          <p:cNvPr id="2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Consider the relation:</a:t>
            </a:r>
          </a:p>
          <a:p>
            <a:pPr lvl="1" eaLnBrk="1" hangingPunct="1"/>
            <a:r>
              <a:rPr lang="en-US" altLang="en-US" smtClean="0"/>
              <a:t>EMP_PROJ(Emp#, Proj#, Ename, Pname, No_hours)</a:t>
            </a:r>
          </a:p>
          <a:p>
            <a:pPr eaLnBrk="1" hangingPunct="1"/>
            <a:r>
              <a:rPr lang="en-US" altLang="en-US" smtClean="0"/>
              <a:t>Insert  Anomaly:</a:t>
            </a:r>
          </a:p>
          <a:p>
            <a:pPr lvl="1" eaLnBrk="1" hangingPunct="1"/>
            <a:r>
              <a:rPr lang="en-US" altLang="en-US" smtClean="0"/>
              <a:t>Cannot insert a project unless an employee is assigned to it.</a:t>
            </a:r>
          </a:p>
          <a:p>
            <a:pPr eaLnBrk="1" hangingPunct="1"/>
            <a:r>
              <a:rPr lang="en-US" altLang="en-US" smtClean="0"/>
              <a:t>Conversely</a:t>
            </a:r>
          </a:p>
          <a:p>
            <a:pPr lvl="1" eaLnBrk="1" hangingPunct="1"/>
            <a:r>
              <a:rPr lang="en-US" altLang="en-US" smtClean="0"/>
              <a:t>Cannot insert an employee unless an he/she is assigned to a project. 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smtClean="0">
                <a:solidFill>
                  <a:srgbClr val="990033"/>
                </a:solidFill>
              </a:rPr>
              <a:t>Slide 10- </a:t>
            </a:r>
            <a:fld id="{70933869-6D4F-45E6-B255-E068DF95E1A3}" type="slidenum">
              <a:rPr lang="en-US" altLang="en-US" sz="1400" smtClean="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lang="en-CA" altLang="en-US" sz="1400" smtClean="0">
              <a:solidFill>
                <a:srgbClr val="990033"/>
              </a:solidFill>
            </a:endParaRPr>
          </a:p>
        </p:txBody>
      </p:sp>
      <p:sp>
        <p:nvSpPr>
          <p:cNvPr id="276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smtClean="0"/>
              <a:t>EXAMPLE OF AN DELETE ANOMALY</a:t>
            </a:r>
          </a:p>
        </p:txBody>
      </p:sp>
      <p:sp>
        <p:nvSpPr>
          <p:cNvPr id="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Consider the relation:</a:t>
            </a:r>
          </a:p>
          <a:p>
            <a:pPr lvl="1" eaLnBrk="1" hangingPunct="1"/>
            <a:r>
              <a:rPr lang="en-US" altLang="en-US" smtClean="0"/>
              <a:t>EMP_PROJ(Emp#, Proj#, Ename, Pname, No_hours)</a:t>
            </a:r>
          </a:p>
          <a:p>
            <a:pPr eaLnBrk="1" hangingPunct="1"/>
            <a:r>
              <a:rPr lang="en-US" altLang="en-US" smtClean="0"/>
              <a:t>Delete Anomaly:</a:t>
            </a:r>
          </a:p>
          <a:p>
            <a:pPr lvl="1" eaLnBrk="1" hangingPunct="1"/>
            <a:r>
              <a:rPr lang="en-US" altLang="en-US" smtClean="0"/>
              <a:t>When a project is deleted, it will result in deleting all the employees who work on that project.</a:t>
            </a:r>
          </a:p>
          <a:p>
            <a:pPr lvl="1" eaLnBrk="1" hangingPunct="1"/>
            <a:r>
              <a:rPr lang="en-US" altLang="en-US" smtClean="0"/>
              <a:t>Alternately, if an employee is the sole employee on a project, deleting that employee would result in deleting the corresponding project.</a:t>
            </a:r>
          </a:p>
          <a:p>
            <a:pPr eaLnBrk="1" hangingPunct="1"/>
            <a:endParaRPr lang="en-US" altLang="en-US" smtClean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Number Placeholder 2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smtClean="0">
                <a:solidFill>
                  <a:srgbClr val="990033"/>
                </a:solidFill>
              </a:rPr>
              <a:t>Slide 10- </a:t>
            </a:r>
            <a:fld id="{A1FFB985-CEBD-4801-A4DC-AC490B9BF29A}" type="slidenum">
              <a:rPr lang="en-US" altLang="en-US" sz="1400" smtClean="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13</a:t>
            </a:fld>
            <a:endParaRPr lang="en-CA" altLang="en-US" sz="1400" smtClean="0">
              <a:solidFill>
                <a:srgbClr val="990033"/>
              </a:solidFill>
            </a:endParaRPr>
          </a:p>
        </p:txBody>
      </p:sp>
      <p:sp>
        <p:nvSpPr>
          <p:cNvPr id="29699" name="Rectangle 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smtClean="0"/>
              <a:t>Figure 10.3 Two relation schemas suffering from update anomalies</a:t>
            </a:r>
          </a:p>
        </p:txBody>
      </p:sp>
      <p:sp>
        <p:nvSpPr>
          <p:cNvPr id="29700" name="Rectangle 4"/>
          <p:cNvSpPr>
            <a:spLocks noChangeArrowheads="1"/>
          </p:cNvSpPr>
          <p:nvPr/>
        </p:nvSpPr>
        <p:spPr bwMode="auto">
          <a:xfrm>
            <a:off x="1828800" y="13096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solidFill>
                <a:schemeClr val="tx1"/>
              </a:solidFill>
            </a:endParaRPr>
          </a:p>
        </p:txBody>
      </p:sp>
      <p:pic>
        <p:nvPicPr>
          <p:cNvPr id="29701" name="Picture 11" descr="fig10_0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025" y="2057400"/>
            <a:ext cx="8207375" cy="3392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Number Placeholder 2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smtClean="0">
                <a:solidFill>
                  <a:srgbClr val="990033"/>
                </a:solidFill>
              </a:rPr>
              <a:t>Slide 10- </a:t>
            </a:r>
            <a:fld id="{674A9BB7-D32F-49AA-8576-A46757DA299B}" type="slidenum">
              <a:rPr lang="en-US" altLang="en-US" sz="1400" smtClean="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14</a:t>
            </a:fld>
            <a:endParaRPr lang="en-CA" altLang="en-US" sz="1400" smtClean="0">
              <a:solidFill>
                <a:srgbClr val="990033"/>
              </a:solidFill>
            </a:endParaRPr>
          </a:p>
        </p:txBody>
      </p:sp>
      <p:sp>
        <p:nvSpPr>
          <p:cNvPr id="31747" name="Rectangle 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smtClean="0"/>
              <a:t>Figure 10.4 Example States for EMP_DEPT and EMP_PROJ</a:t>
            </a:r>
          </a:p>
        </p:txBody>
      </p:sp>
      <p:pic>
        <p:nvPicPr>
          <p:cNvPr id="31748" name="Picture 10" descr="fig10_0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1608138"/>
            <a:ext cx="4646613" cy="4792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smtClean="0">
                <a:solidFill>
                  <a:srgbClr val="990033"/>
                </a:solidFill>
              </a:rPr>
              <a:t>Slide 10- </a:t>
            </a:r>
            <a:fld id="{19D92C12-80E3-4264-8A67-5D55E19E241C}" type="slidenum">
              <a:rPr lang="en-US" altLang="en-US" sz="1400" smtClean="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15</a:t>
            </a:fld>
            <a:endParaRPr lang="en-CA" altLang="en-US" sz="1400" smtClean="0">
              <a:solidFill>
                <a:srgbClr val="990033"/>
              </a:solidFill>
            </a:endParaRPr>
          </a:p>
        </p:txBody>
      </p:sp>
      <p:sp>
        <p:nvSpPr>
          <p:cNvPr id="33795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smtClean="0"/>
              <a:t>Guideline to Redundant Information in Tuples and Update Anomalies</a:t>
            </a:r>
          </a:p>
        </p:txBody>
      </p:sp>
      <p:sp>
        <p:nvSpPr>
          <p:cNvPr id="44035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US" dirty="0" smtClean="0"/>
              <a:t>GUIDELINE 2: </a:t>
            </a:r>
          </a:p>
          <a:p>
            <a:pPr lvl="1" eaLnBrk="1" hangingPunct="1">
              <a:defRPr/>
            </a:pPr>
            <a:r>
              <a:rPr lang="en-US" altLang="en-US" dirty="0" smtClean="0"/>
              <a:t>Design a schema that </a:t>
            </a:r>
            <a:r>
              <a:rPr lang="en-US" altLang="en-US" dirty="0" smtClean="0">
                <a:solidFill>
                  <a:schemeClr val="accent1">
                    <a:lumMod val="50000"/>
                  </a:schemeClr>
                </a:solidFill>
              </a:rPr>
              <a:t>does not suffer from the insertion, deletion and update anomalies</a:t>
            </a:r>
            <a:r>
              <a:rPr lang="en-US" altLang="en-US" dirty="0" smtClean="0"/>
              <a:t>.</a:t>
            </a:r>
          </a:p>
          <a:p>
            <a:pPr lvl="1" eaLnBrk="1" hangingPunct="1">
              <a:defRPr/>
            </a:pPr>
            <a:r>
              <a:rPr lang="en-US" altLang="en-US" dirty="0" smtClean="0"/>
              <a:t>If there are any anomalies present, then note them so that applications can be made to take them into account. 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smtClean="0">
                <a:solidFill>
                  <a:srgbClr val="990033"/>
                </a:solidFill>
              </a:rPr>
              <a:t>Slide 10- </a:t>
            </a:r>
            <a:fld id="{FD4D90BD-B416-40D9-9B0A-C6385B84D11C}" type="slidenum">
              <a:rPr lang="en-US" altLang="en-US" sz="1400" smtClean="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16</a:t>
            </a:fld>
            <a:endParaRPr lang="en-CA" altLang="en-US" sz="1400" smtClean="0">
              <a:solidFill>
                <a:srgbClr val="990033"/>
              </a:solidFill>
            </a:endParaRPr>
          </a:p>
        </p:txBody>
      </p:sp>
      <p:sp>
        <p:nvSpPr>
          <p:cNvPr id="35843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1.3 Null Values in Tuples </a:t>
            </a:r>
          </a:p>
        </p:txBody>
      </p:sp>
      <p:sp>
        <p:nvSpPr>
          <p:cNvPr id="46083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US" dirty="0" smtClean="0"/>
              <a:t>GUIDELINE 3:</a:t>
            </a:r>
          </a:p>
          <a:p>
            <a:pPr lvl="1" eaLnBrk="1" hangingPunct="1">
              <a:defRPr/>
            </a:pPr>
            <a:r>
              <a:rPr lang="en-US" altLang="en-US" dirty="0" smtClean="0"/>
              <a:t>Relations should be designed such that their </a:t>
            </a:r>
            <a:r>
              <a:rPr lang="en-US" altLang="en-US" dirty="0" smtClean="0">
                <a:solidFill>
                  <a:schemeClr val="accent1">
                    <a:lumMod val="50000"/>
                  </a:schemeClr>
                </a:solidFill>
              </a:rPr>
              <a:t>tuples will have as few NULL values as possible</a:t>
            </a:r>
          </a:p>
          <a:p>
            <a:pPr lvl="1" eaLnBrk="1" hangingPunct="1">
              <a:defRPr/>
            </a:pPr>
            <a:r>
              <a:rPr lang="en-US" altLang="en-US" dirty="0" smtClean="0"/>
              <a:t>Attributes that are NULL frequently could be placed in separate relations (with the primary key)</a:t>
            </a:r>
          </a:p>
          <a:p>
            <a:pPr eaLnBrk="1" hangingPunct="1">
              <a:defRPr/>
            </a:pPr>
            <a:r>
              <a:rPr lang="en-US" altLang="en-US" dirty="0" smtClean="0"/>
              <a:t> Reasons for nulls:</a:t>
            </a:r>
          </a:p>
          <a:p>
            <a:pPr lvl="1" eaLnBrk="1" hangingPunct="1">
              <a:defRPr/>
            </a:pPr>
            <a:r>
              <a:rPr lang="en-US" altLang="en-US" dirty="0" smtClean="0"/>
              <a:t>Attribute not applicable or invalid(Student Visa Status)</a:t>
            </a:r>
          </a:p>
          <a:p>
            <a:pPr lvl="1" eaLnBrk="1" hangingPunct="1">
              <a:defRPr/>
            </a:pPr>
            <a:r>
              <a:rPr lang="en-US" altLang="en-US" dirty="0" smtClean="0"/>
              <a:t>Attribute value unknown  (may exist) (</a:t>
            </a:r>
            <a:r>
              <a:rPr lang="en-US" altLang="en-US" dirty="0" err="1" smtClean="0"/>
              <a:t>Emp</a:t>
            </a:r>
            <a:r>
              <a:rPr lang="en-US" altLang="en-US" dirty="0" smtClean="0"/>
              <a:t> DOB)</a:t>
            </a:r>
          </a:p>
          <a:p>
            <a:pPr lvl="1" eaLnBrk="1" hangingPunct="1">
              <a:defRPr/>
            </a:pPr>
            <a:r>
              <a:rPr lang="en-US" altLang="en-US" dirty="0" smtClean="0"/>
              <a:t>Value known to exist, but unavailable (Phone No)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smtClean="0">
                <a:solidFill>
                  <a:srgbClr val="990033"/>
                </a:solidFill>
              </a:rPr>
              <a:t>Slide 10- </a:t>
            </a:r>
            <a:fld id="{A308FF50-AD1E-4404-B5AB-13BBB3BEB92C}" type="slidenum">
              <a:rPr lang="en-US" altLang="en-US" sz="1400" smtClean="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17</a:t>
            </a:fld>
            <a:endParaRPr lang="en-CA" altLang="en-US" sz="1400" smtClean="0">
              <a:solidFill>
                <a:srgbClr val="990033"/>
              </a:solidFill>
            </a:endParaRPr>
          </a:p>
        </p:txBody>
      </p:sp>
      <p:sp>
        <p:nvSpPr>
          <p:cNvPr id="37891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2.1  Functional Dependencies (1) </a:t>
            </a:r>
          </a:p>
        </p:txBody>
      </p:sp>
      <p:sp>
        <p:nvSpPr>
          <p:cNvPr id="37892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Functional dependencies (FDs)</a:t>
            </a:r>
          </a:p>
          <a:p>
            <a:pPr lvl="1" eaLnBrk="1" hangingPunct="1"/>
            <a:r>
              <a:rPr lang="en-US" altLang="en-US" smtClean="0"/>
              <a:t>Are used to specify </a:t>
            </a:r>
            <a:r>
              <a:rPr lang="en-US" altLang="en-US" i="1" smtClean="0"/>
              <a:t>formal measures</a:t>
            </a:r>
            <a:r>
              <a:rPr lang="en-US" altLang="en-US" smtClean="0"/>
              <a:t> of the "goodness" of relational designs</a:t>
            </a:r>
          </a:p>
          <a:p>
            <a:pPr lvl="1" eaLnBrk="1" hangingPunct="1"/>
            <a:r>
              <a:rPr lang="en-US" altLang="en-US" smtClean="0"/>
              <a:t>And keys are used to define </a:t>
            </a:r>
            <a:r>
              <a:rPr lang="en-US" altLang="en-US" b="1" smtClean="0"/>
              <a:t>normal forms</a:t>
            </a:r>
            <a:r>
              <a:rPr lang="en-US" altLang="en-US" smtClean="0"/>
              <a:t> for relations</a:t>
            </a:r>
          </a:p>
          <a:p>
            <a:pPr lvl="1" eaLnBrk="1" hangingPunct="1"/>
            <a:r>
              <a:rPr lang="en-US" altLang="en-US" smtClean="0"/>
              <a:t>Are </a:t>
            </a:r>
            <a:r>
              <a:rPr lang="en-US" altLang="en-US" b="1" smtClean="0"/>
              <a:t>constraints</a:t>
            </a:r>
            <a:r>
              <a:rPr lang="en-US" altLang="en-US" smtClean="0"/>
              <a:t> that are derived from the </a:t>
            </a:r>
            <a:r>
              <a:rPr lang="en-US" altLang="en-US" i="1" smtClean="0"/>
              <a:t>meaning</a:t>
            </a:r>
            <a:r>
              <a:rPr lang="en-US" altLang="en-US" smtClean="0"/>
              <a:t>  and </a:t>
            </a:r>
            <a:r>
              <a:rPr lang="en-US" altLang="en-US" i="1" smtClean="0"/>
              <a:t>interrelationships</a:t>
            </a:r>
            <a:r>
              <a:rPr lang="en-US" altLang="en-US" smtClean="0"/>
              <a:t>  of the data attributes</a:t>
            </a:r>
          </a:p>
          <a:p>
            <a:pPr eaLnBrk="1" hangingPunct="1"/>
            <a:r>
              <a:rPr lang="en-US" altLang="en-US" smtClean="0"/>
              <a:t>A set of attributes X </a:t>
            </a:r>
            <a:r>
              <a:rPr lang="en-US" altLang="en-US" i="1" smtClean="0"/>
              <a:t>functionally</a:t>
            </a:r>
            <a:r>
              <a:rPr lang="en-US" altLang="en-US" smtClean="0"/>
              <a:t> </a:t>
            </a:r>
            <a:r>
              <a:rPr lang="en-US" altLang="en-US" i="1" smtClean="0"/>
              <a:t>determines</a:t>
            </a:r>
            <a:r>
              <a:rPr lang="en-US" altLang="en-US" smtClean="0"/>
              <a:t>  a set of attributes Y if the value of X determines a unique value for Y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smtClean="0">
                <a:solidFill>
                  <a:srgbClr val="990033"/>
                </a:solidFill>
              </a:rPr>
              <a:t>Slide 10- </a:t>
            </a:r>
            <a:fld id="{5F04E22D-B047-45C3-A86F-22EC9FFAD7B7}" type="slidenum">
              <a:rPr lang="en-US" altLang="en-US" sz="1400" smtClean="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18</a:t>
            </a:fld>
            <a:endParaRPr lang="en-CA" altLang="en-US" sz="1400" smtClean="0">
              <a:solidFill>
                <a:srgbClr val="990033"/>
              </a:solidFill>
            </a:endParaRPr>
          </a:p>
        </p:txBody>
      </p:sp>
      <p:sp>
        <p:nvSpPr>
          <p:cNvPr id="39939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Functional Dependencies (2)</a:t>
            </a:r>
          </a:p>
        </p:txBody>
      </p:sp>
      <p:sp>
        <p:nvSpPr>
          <p:cNvPr id="39940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400" smtClean="0"/>
              <a:t>Written as X -&gt; Y; can be displayed graphically on a relation schema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smtClean="0">
                <a:solidFill>
                  <a:srgbClr val="990033"/>
                </a:solidFill>
              </a:rPr>
              <a:t>Slide 10- </a:t>
            </a:r>
            <a:fld id="{A518AAA7-D282-4E10-BB0F-33C1DF2C2779}" type="slidenum">
              <a:rPr lang="en-US" altLang="en-US" sz="1400" smtClean="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19</a:t>
            </a:fld>
            <a:endParaRPr lang="en-CA" altLang="en-US" sz="1400" smtClean="0">
              <a:solidFill>
                <a:srgbClr val="990033"/>
              </a:solidFill>
            </a:endParaRPr>
          </a:p>
        </p:txBody>
      </p:sp>
      <p:sp>
        <p:nvSpPr>
          <p:cNvPr id="41987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Examples of FD constraints (1) </a:t>
            </a:r>
          </a:p>
        </p:txBody>
      </p:sp>
      <p:sp>
        <p:nvSpPr>
          <p:cNvPr id="41988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mtClean="0"/>
              <a:t>Social security number determines employee name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mtClean="0"/>
              <a:t>SSN -&gt; ENAME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mtClean="0"/>
              <a:t>Project number determines project name and location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mtClean="0"/>
              <a:t>PNUMBER -&gt; {PNAME, PLOCATION}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mtClean="0"/>
              <a:t>Employee ssn and project number determines the hours per week that the employee works on the project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mtClean="0"/>
              <a:t>{SSN, PNUMBER} -&gt; HOURS 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smtClean="0">
                <a:solidFill>
                  <a:srgbClr val="990033"/>
                </a:solidFill>
              </a:rPr>
              <a:t>Slide 10- </a:t>
            </a:r>
            <a:fld id="{E3DEE84B-1477-40B4-8E1F-9544286316F3}" type="slidenum">
              <a:rPr lang="en-US" altLang="en-US" sz="1400" smtClean="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20</a:t>
            </a:fld>
            <a:endParaRPr lang="en-CA" altLang="en-US" sz="1400" smtClean="0">
              <a:solidFill>
                <a:srgbClr val="990033"/>
              </a:solidFill>
            </a:endParaRPr>
          </a:p>
        </p:txBody>
      </p:sp>
      <p:sp>
        <p:nvSpPr>
          <p:cNvPr id="44035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Examples of FD constraints (2)</a:t>
            </a:r>
          </a:p>
        </p:txBody>
      </p:sp>
      <p:sp>
        <p:nvSpPr>
          <p:cNvPr id="44036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An FD is a property of the attributes in the schema R</a:t>
            </a:r>
          </a:p>
          <a:p>
            <a:pPr eaLnBrk="1" hangingPunct="1"/>
            <a:r>
              <a:rPr lang="en-US" altLang="en-US" smtClean="0"/>
              <a:t>The constraint must hold on </a:t>
            </a:r>
            <a:r>
              <a:rPr lang="en-US" altLang="en-US" i="1" smtClean="0"/>
              <a:t>every</a:t>
            </a:r>
            <a:r>
              <a:rPr lang="en-US" altLang="en-US" smtClean="0"/>
              <a:t> relation instance r(R)</a:t>
            </a:r>
          </a:p>
          <a:p>
            <a:pPr eaLnBrk="1" hangingPunct="1"/>
            <a:r>
              <a:rPr lang="en-US" altLang="en-US" smtClean="0"/>
              <a:t>If K is a key of R, then K functionally determines all attributes in R </a:t>
            </a:r>
          </a:p>
          <a:p>
            <a:pPr lvl="1" eaLnBrk="1" hangingPunct="1"/>
            <a:r>
              <a:rPr lang="en-US" altLang="en-US" smtClean="0"/>
              <a:t>(since we never have two distinct tuples with t1[K]=t2[K]) 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smtClean="0">
                <a:solidFill>
                  <a:srgbClr val="990033"/>
                </a:solidFill>
              </a:rPr>
              <a:t>Slide 10- </a:t>
            </a:r>
            <a:fld id="{8FD23711-A7D3-416A-A8CA-C7919A0F0AE1}" type="slidenum">
              <a:rPr lang="en-US" altLang="en-US" sz="1400" smtClean="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21</a:t>
            </a:fld>
            <a:endParaRPr lang="en-CA" altLang="en-US" sz="1400" smtClean="0">
              <a:solidFill>
                <a:srgbClr val="990033"/>
              </a:solidFill>
            </a:endParaRPr>
          </a:p>
        </p:txBody>
      </p:sp>
      <p:sp>
        <p:nvSpPr>
          <p:cNvPr id="46083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2.2 Inference Rules for FDs (1) </a:t>
            </a:r>
          </a:p>
        </p:txBody>
      </p:sp>
      <p:sp>
        <p:nvSpPr>
          <p:cNvPr id="46084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400" smtClean="0"/>
              <a:t>Given a set of FDs F, we can </a:t>
            </a:r>
            <a:r>
              <a:rPr lang="en-US" altLang="en-US" sz="2400" b="1" smtClean="0"/>
              <a:t>infer</a:t>
            </a:r>
            <a:r>
              <a:rPr lang="en-US" altLang="en-US" sz="2400" smtClean="0"/>
              <a:t> additional FDs that hold whenever the FDs in F hold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smtClean="0"/>
              <a:t>Armstrong's inference rules: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200" smtClean="0"/>
              <a:t>IR1. (</a:t>
            </a:r>
            <a:r>
              <a:rPr lang="en-US" altLang="en-US" sz="2200" b="1" smtClean="0"/>
              <a:t>Reflexive</a:t>
            </a:r>
            <a:r>
              <a:rPr lang="en-US" altLang="en-US" sz="2200" smtClean="0"/>
              <a:t>) If Y </a:t>
            </a:r>
            <a:r>
              <a:rPr lang="en-US" altLang="en-US" sz="2200" i="1" smtClean="0"/>
              <a:t>subset-of</a:t>
            </a:r>
            <a:r>
              <a:rPr lang="en-US" altLang="en-US" sz="2200" smtClean="0"/>
              <a:t> X, then X -&gt; Y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200" smtClean="0"/>
              <a:t>IR2. (</a:t>
            </a:r>
            <a:r>
              <a:rPr lang="en-US" altLang="en-US" sz="2200" b="1" smtClean="0"/>
              <a:t>Augmentation</a:t>
            </a:r>
            <a:r>
              <a:rPr lang="en-US" altLang="en-US" sz="2200" smtClean="0"/>
              <a:t>) If X -&gt; Y, then XZ -&gt; YZ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2000" smtClean="0"/>
              <a:t>(Notation: XZ stands for X U Z)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200" smtClean="0"/>
              <a:t>IR3. (</a:t>
            </a:r>
            <a:r>
              <a:rPr lang="en-US" altLang="en-US" sz="2200" b="1" smtClean="0"/>
              <a:t>Transitive</a:t>
            </a:r>
            <a:r>
              <a:rPr lang="en-US" altLang="en-US" sz="2200" smtClean="0"/>
              <a:t>) If X -&gt; Y and Y -&gt; Z, then X -&gt; Z</a:t>
            </a:r>
          </a:p>
          <a:p>
            <a:pPr eaLnBrk="1" hangingPunct="1">
              <a:lnSpc>
                <a:spcPct val="90000"/>
              </a:lnSpc>
            </a:pPr>
            <a:endParaRPr lang="en-US" altLang="en-US" sz="2400" smtClean="0"/>
          </a:p>
          <a:p>
            <a:pPr eaLnBrk="1" hangingPunct="1">
              <a:lnSpc>
                <a:spcPct val="90000"/>
              </a:lnSpc>
            </a:pPr>
            <a:r>
              <a:rPr lang="en-US" altLang="en-US" sz="2400" smtClean="0"/>
              <a:t>IR1, IR2, IR3 form a </a:t>
            </a:r>
            <a:r>
              <a:rPr lang="en-US" altLang="en-US" sz="2400" b="1" smtClean="0"/>
              <a:t>sound</a:t>
            </a:r>
            <a:r>
              <a:rPr lang="en-US" altLang="en-US" sz="2400" smtClean="0"/>
              <a:t> and </a:t>
            </a:r>
            <a:r>
              <a:rPr lang="en-US" altLang="en-US" sz="2400" b="1" smtClean="0"/>
              <a:t>complete</a:t>
            </a:r>
            <a:r>
              <a:rPr lang="en-US" altLang="en-US" sz="2400" smtClean="0"/>
              <a:t> set of inference rules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200" smtClean="0"/>
              <a:t>These rules hold and all other rules that hold can be deduced from these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smtClean="0">
                <a:solidFill>
                  <a:srgbClr val="990033"/>
                </a:solidFill>
              </a:rPr>
              <a:t>Slide 10- </a:t>
            </a:r>
            <a:fld id="{EBC0B741-B560-42F5-AB8F-7E816CED9A18}" type="slidenum">
              <a:rPr lang="en-US" altLang="en-US" sz="1400" smtClean="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22</a:t>
            </a:fld>
            <a:endParaRPr lang="en-CA" altLang="en-US" sz="1400" smtClean="0">
              <a:solidFill>
                <a:srgbClr val="990033"/>
              </a:solidFill>
            </a:endParaRPr>
          </a:p>
        </p:txBody>
      </p:sp>
      <p:sp>
        <p:nvSpPr>
          <p:cNvPr id="48131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Inference Rules for FDs (2)</a:t>
            </a:r>
          </a:p>
        </p:txBody>
      </p:sp>
      <p:sp>
        <p:nvSpPr>
          <p:cNvPr id="48132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mtClean="0"/>
              <a:t>Some additional inference rules that are useful: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b="1" smtClean="0"/>
              <a:t>Decomposition:</a:t>
            </a:r>
            <a:r>
              <a:rPr lang="en-US" altLang="en-US" smtClean="0"/>
              <a:t> If X -&gt; YZ, then X -&gt; Y and X -&gt; Z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b="1" smtClean="0"/>
              <a:t>Union:</a:t>
            </a:r>
            <a:r>
              <a:rPr lang="en-US" altLang="en-US" smtClean="0"/>
              <a:t> If X -&gt; Y and X -&gt; Z, then X -&gt; YZ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b="1" smtClean="0"/>
              <a:t>Psuedotransitivity:</a:t>
            </a:r>
            <a:r>
              <a:rPr lang="en-US" altLang="en-US" smtClean="0"/>
              <a:t> If X -&gt; Y and WY -&gt; Z, then WX -&gt; Z</a:t>
            </a:r>
          </a:p>
          <a:p>
            <a:pPr eaLnBrk="1" hangingPunct="1">
              <a:lnSpc>
                <a:spcPct val="90000"/>
              </a:lnSpc>
            </a:pPr>
            <a:endParaRPr lang="en-US" altLang="en-US" smtClean="0"/>
          </a:p>
          <a:p>
            <a:pPr eaLnBrk="1" hangingPunct="1">
              <a:lnSpc>
                <a:spcPct val="90000"/>
              </a:lnSpc>
            </a:pPr>
            <a:r>
              <a:rPr lang="en-US" altLang="en-US" smtClean="0"/>
              <a:t>The last three inference rules, as well as any other inference rules, can be deduced from IR1, IR2, and IR3 (completeness property) 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smtClean="0">
                <a:solidFill>
                  <a:srgbClr val="990033"/>
                </a:solidFill>
              </a:rPr>
              <a:t>Slide 10- </a:t>
            </a:r>
            <a:fld id="{77267071-2CCB-45FC-AE9E-B2D66B5317C0}" type="slidenum">
              <a:rPr lang="en-US" altLang="en-US" sz="1400" smtClean="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23</a:t>
            </a:fld>
            <a:endParaRPr lang="en-CA" altLang="en-US" sz="1400" smtClean="0">
              <a:solidFill>
                <a:srgbClr val="990033"/>
              </a:solidFill>
            </a:endParaRPr>
          </a:p>
        </p:txBody>
      </p:sp>
      <p:sp>
        <p:nvSpPr>
          <p:cNvPr id="50179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Inference Rules for FDs (3)</a:t>
            </a:r>
          </a:p>
        </p:txBody>
      </p:sp>
      <p:sp>
        <p:nvSpPr>
          <p:cNvPr id="50180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b="1" smtClean="0"/>
              <a:t>Closure</a:t>
            </a:r>
            <a:r>
              <a:rPr lang="en-US" altLang="en-US" smtClean="0"/>
              <a:t> of a set F of FDs is the set F</a:t>
            </a:r>
            <a:r>
              <a:rPr lang="en-US" altLang="en-US" baseline="30000" smtClean="0"/>
              <a:t>+</a:t>
            </a:r>
            <a:r>
              <a:rPr lang="en-US" altLang="en-US" smtClean="0"/>
              <a:t> of all FDs that can be inferred from F</a:t>
            </a:r>
          </a:p>
          <a:p>
            <a:pPr eaLnBrk="1" hangingPunct="1"/>
            <a:endParaRPr lang="en-US" altLang="en-US" smtClean="0"/>
          </a:p>
          <a:p>
            <a:pPr eaLnBrk="1" hangingPunct="1"/>
            <a:r>
              <a:rPr lang="en-US" altLang="en-US" b="1" smtClean="0"/>
              <a:t>Closure</a:t>
            </a:r>
            <a:r>
              <a:rPr lang="en-US" altLang="en-US" smtClean="0"/>
              <a:t> of a set of attributes X with respect to F is the set X</a:t>
            </a:r>
            <a:r>
              <a:rPr lang="en-US" altLang="en-US" baseline="30000" smtClean="0"/>
              <a:t>+</a:t>
            </a:r>
            <a:r>
              <a:rPr lang="en-US" altLang="en-US" smtClean="0"/>
              <a:t> of all attributes that are functionally determined by X</a:t>
            </a:r>
          </a:p>
          <a:p>
            <a:pPr eaLnBrk="1" hangingPunct="1"/>
            <a:endParaRPr lang="en-US" altLang="en-US" smtClean="0"/>
          </a:p>
          <a:p>
            <a:pPr eaLnBrk="1" hangingPunct="1"/>
            <a:r>
              <a:rPr lang="en-US" altLang="en-US" smtClean="0"/>
              <a:t>X</a:t>
            </a:r>
            <a:r>
              <a:rPr lang="en-US" altLang="en-US" baseline="30000" smtClean="0"/>
              <a:t>+</a:t>
            </a:r>
            <a:r>
              <a:rPr lang="en-US" altLang="en-US" smtClean="0"/>
              <a:t> can be calculated by repeatedly applying IR1, IR2, IR3 using the FDs in F 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Example</a:t>
            </a:r>
          </a:p>
        </p:txBody>
      </p:sp>
      <p:sp>
        <p:nvSpPr>
          <p:cNvPr id="52227" name="Content Placeholder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Let we specify the following set </a:t>
            </a:r>
            <a:r>
              <a:rPr lang="en-US" altLang="en-US" i="1" smtClean="0"/>
              <a:t>F of functional dependencies that should hold on EMP_PROJ: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en-US" sz="2200" i="1" smtClean="0"/>
              <a:t>F 	= 	{SSN-&gt;ENAME, 	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en-US" sz="2200" smtClean="0"/>
              <a:t>PNUMBER-&gt;{PNAME, PLOCATION}, 	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en-US" sz="2200" smtClean="0"/>
              <a:t>{SSN, PNUMBER}-&gt;HOURS} </a:t>
            </a:r>
            <a:r>
              <a:rPr lang="en-US" altLang="en-US" smtClean="0"/>
              <a:t>	</a:t>
            </a:r>
          </a:p>
          <a:p>
            <a:pPr eaLnBrk="1" hangingPunct="1"/>
            <a:endParaRPr lang="en-US" altLang="en-US" smtClean="0"/>
          </a:p>
        </p:txBody>
      </p:sp>
      <p:sp>
        <p:nvSpPr>
          <p:cNvPr id="5222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smtClean="0">
                <a:solidFill>
                  <a:srgbClr val="990033"/>
                </a:solidFill>
              </a:rPr>
              <a:t>Slide 10- </a:t>
            </a:r>
            <a:fld id="{8CEA0EB2-A3DC-4B79-BA2C-61BF07E9B781}" type="slidenum">
              <a:rPr lang="en-US" altLang="en-US" sz="1400" smtClean="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24</a:t>
            </a:fld>
            <a:endParaRPr lang="en-CA" altLang="en-US" sz="1400" smtClean="0">
              <a:solidFill>
                <a:srgbClr val="990033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Example (Cont..)</a:t>
            </a:r>
          </a:p>
        </p:txBody>
      </p:sp>
      <p:sp>
        <p:nvSpPr>
          <p:cNvPr id="54275" name="Content Placeholder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we calculate the following closure sets with respect to </a:t>
            </a:r>
            <a:r>
              <a:rPr lang="en-US" altLang="en-US" i="1" smtClean="0"/>
              <a:t>F: </a:t>
            </a:r>
          </a:p>
          <a:p>
            <a:pPr eaLnBrk="1" hangingPunct="1"/>
            <a:r>
              <a:rPr lang="en-US" altLang="en-US" smtClean="0"/>
              <a:t>{ SSN }</a:t>
            </a:r>
            <a:r>
              <a:rPr lang="en-US" altLang="en-US" baseline="30000" smtClean="0"/>
              <a:t>+</a:t>
            </a:r>
            <a:r>
              <a:rPr lang="en-US" altLang="en-US" smtClean="0"/>
              <a:t> = { SSN, ENAME } </a:t>
            </a:r>
          </a:p>
          <a:p>
            <a:pPr eaLnBrk="1" hangingPunct="1"/>
            <a:endParaRPr lang="en-US" altLang="en-US" smtClean="0"/>
          </a:p>
          <a:p>
            <a:pPr eaLnBrk="1" hangingPunct="1"/>
            <a:r>
              <a:rPr lang="en-US" altLang="en-US" smtClean="0"/>
              <a:t>{ PNUMBER }</a:t>
            </a:r>
            <a:r>
              <a:rPr lang="en-US" altLang="en-US" baseline="30000" smtClean="0"/>
              <a:t>+</a:t>
            </a:r>
            <a:r>
              <a:rPr lang="en-US" altLang="en-US" smtClean="0"/>
              <a:t> = { PNUMBER, PNAME, PLOCATION } </a:t>
            </a:r>
          </a:p>
          <a:p>
            <a:pPr eaLnBrk="1" hangingPunct="1"/>
            <a:endParaRPr lang="en-US" altLang="en-US" smtClean="0"/>
          </a:p>
          <a:p>
            <a:pPr eaLnBrk="1" hangingPunct="1"/>
            <a:r>
              <a:rPr lang="en-US" altLang="en-US" smtClean="0"/>
              <a:t>{ SSN, PNUMBER }</a:t>
            </a:r>
            <a:r>
              <a:rPr lang="en-US" altLang="en-US" baseline="30000" smtClean="0"/>
              <a:t>+</a:t>
            </a:r>
            <a:r>
              <a:rPr lang="en-US" altLang="en-US" smtClean="0"/>
              <a:t> = { SSN, PNUMBER, HOURS }</a:t>
            </a:r>
          </a:p>
          <a:p>
            <a:pPr eaLnBrk="1" hangingPunct="1"/>
            <a:endParaRPr lang="en-US" altLang="en-US" smtClean="0"/>
          </a:p>
        </p:txBody>
      </p:sp>
      <p:sp>
        <p:nvSpPr>
          <p:cNvPr id="5427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smtClean="0">
                <a:solidFill>
                  <a:srgbClr val="990033"/>
                </a:solidFill>
              </a:rPr>
              <a:t>Slide 10- </a:t>
            </a:r>
            <a:fld id="{EDD83CE6-4CEE-4049-90D5-78AE764FF26A}" type="slidenum">
              <a:rPr lang="en-US" altLang="en-US" sz="1400" smtClean="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25</a:t>
            </a:fld>
            <a:endParaRPr lang="en-CA" altLang="en-US" sz="1400" smtClean="0">
              <a:solidFill>
                <a:srgbClr val="990033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Example (Cont..)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5B4976-7DA0-F341-8AA8-DDD10709AE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2000" dirty="0"/>
              <a:t>Functional Dependency set</a:t>
            </a:r>
          </a:p>
          <a:p>
            <a:pPr lvl="1" eaLnBrk="1" hangingPunct="1">
              <a:defRPr/>
            </a:pPr>
            <a:r>
              <a:rPr lang="en-US" sz="1800" dirty="0"/>
              <a:t>{ STUD_NO-&gt;STUD_NAME, </a:t>
            </a:r>
          </a:p>
          <a:p>
            <a:pPr marL="400050" lvl="1" indent="0" eaLnBrk="1" hangingPunct="1">
              <a:buFont typeface="Wingdings" panose="05000000000000000000" pitchFamily="2" charset="2"/>
              <a:buNone/>
              <a:defRPr/>
            </a:pPr>
            <a:r>
              <a:rPr lang="en-US" sz="1800" dirty="0"/>
              <a:t>STUD_NO-&gt;STUD_PHONE, </a:t>
            </a:r>
          </a:p>
          <a:p>
            <a:pPr marL="400050" lvl="1" indent="0" eaLnBrk="1" hangingPunct="1">
              <a:buFont typeface="Wingdings" panose="05000000000000000000" pitchFamily="2" charset="2"/>
              <a:buNone/>
              <a:defRPr/>
            </a:pPr>
            <a:r>
              <a:rPr lang="en-US" sz="1800" dirty="0"/>
              <a:t>STUD_NO-&gt;STUD_STATE, </a:t>
            </a:r>
          </a:p>
          <a:p>
            <a:pPr marL="400050" lvl="1" indent="0" eaLnBrk="1" hangingPunct="1">
              <a:buFont typeface="Wingdings" panose="05000000000000000000" pitchFamily="2" charset="2"/>
              <a:buNone/>
              <a:defRPr/>
            </a:pPr>
            <a:r>
              <a:rPr lang="en-US" sz="1800" dirty="0"/>
              <a:t>STUD_NO-&gt;STUD_COUNTRY, </a:t>
            </a:r>
          </a:p>
          <a:p>
            <a:pPr marL="400050" lvl="1" indent="0" eaLnBrk="1" hangingPunct="1">
              <a:buFont typeface="Wingdings" panose="05000000000000000000" pitchFamily="2" charset="2"/>
              <a:buNone/>
              <a:defRPr/>
            </a:pPr>
            <a:r>
              <a:rPr lang="en-US" sz="1800" dirty="0"/>
              <a:t>STUD_NO -&gt; STUD_AGE, </a:t>
            </a:r>
          </a:p>
          <a:p>
            <a:pPr marL="400050" lvl="1" indent="0" eaLnBrk="1" hangingPunct="1">
              <a:buFont typeface="Wingdings" panose="05000000000000000000" pitchFamily="2" charset="2"/>
              <a:buNone/>
              <a:defRPr/>
            </a:pPr>
            <a:r>
              <a:rPr lang="en-US" sz="1800" dirty="0"/>
              <a:t>STUD_STATE-&gt;STUD_COUNTRY }</a:t>
            </a:r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endParaRPr lang="en-US" sz="2000" dirty="0"/>
          </a:p>
          <a:p>
            <a:pPr eaLnBrk="1" hangingPunct="1">
              <a:defRPr/>
            </a:pPr>
            <a:r>
              <a:rPr lang="en-US" sz="2000" dirty="0"/>
              <a:t>Closure Set</a:t>
            </a:r>
          </a:p>
          <a:p>
            <a:pPr lvl="1" eaLnBrk="1" hangingPunct="1">
              <a:defRPr/>
            </a:pPr>
            <a:r>
              <a:rPr lang="en-US" sz="1800" dirty="0"/>
              <a:t>(STUD_NO)+ = {STUD_NO, STUD_NAME, STUD_PHONE, STUD_STATE, STUD_COUNTRY, STUD_AGE} </a:t>
            </a:r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en-US" sz="1800" dirty="0">
                <a:solidFill>
                  <a:srgbClr val="800000"/>
                </a:solidFill>
              </a:rPr>
              <a:t>            (STUD_STATE)+ = {STUD_STATE, STUD_COUNTRY}</a:t>
            </a:r>
          </a:p>
        </p:txBody>
      </p:sp>
      <p:sp>
        <p:nvSpPr>
          <p:cNvPr id="5632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smtClean="0">
                <a:solidFill>
                  <a:srgbClr val="990033"/>
                </a:solidFill>
              </a:rPr>
              <a:t>Slide 10- </a:t>
            </a:r>
            <a:fld id="{DDEB8458-692B-4EAB-803E-205B587DFA12}" type="slidenum">
              <a:rPr lang="en-US" altLang="en-US" sz="1400" smtClean="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26</a:t>
            </a:fld>
            <a:endParaRPr lang="en-CA" altLang="en-US" sz="1400" smtClean="0">
              <a:solidFill>
                <a:srgbClr val="990033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>
                <a:latin typeface="Times New Roman" panose="02020603050405020304" pitchFamily="18" charset="0"/>
              </a:rPr>
              <a:t>Full Functional Dependency</a:t>
            </a:r>
            <a:endParaRPr lang="en-US" altLang="en-US" smtClean="0"/>
          </a:p>
        </p:txBody>
      </p:sp>
      <p:sp>
        <p:nvSpPr>
          <p:cNvPr id="58371" name="Content Placeholder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z="2400" smtClean="0"/>
              <a:t>Full Functional Dependency: </a:t>
            </a:r>
          </a:p>
          <a:p>
            <a:pPr lvl="1" eaLnBrk="1" hangingPunct="1"/>
            <a:r>
              <a:rPr lang="en-US" altLang="en-US" sz="2200" smtClean="0"/>
              <a:t>Only of relevance with composite determinants. </a:t>
            </a:r>
          </a:p>
          <a:p>
            <a:pPr lvl="1" eaLnBrk="1" hangingPunct="1"/>
            <a:r>
              <a:rPr lang="en-US" altLang="en-US" sz="2200" smtClean="0"/>
              <a:t>This is the situation when it is necessary to use all the attributes of the composite determinant to identify its object uniquely.</a:t>
            </a:r>
          </a:p>
          <a:p>
            <a:pPr eaLnBrk="1" hangingPunct="1"/>
            <a:endParaRPr lang="en-US" altLang="en-US" smtClean="0"/>
          </a:p>
        </p:txBody>
      </p:sp>
      <p:sp>
        <p:nvSpPr>
          <p:cNvPr id="5837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smtClean="0">
                <a:solidFill>
                  <a:srgbClr val="990033"/>
                </a:solidFill>
              </a:rPr>
              <a:t>Slide 10- </a:t>
            </a:r>
            <a:fld id="{7B587900-C199-4D2D-BC75-1582AA4D18CF}" type="slidenum">
              <a:rPr lang="en-US" altLang="en-US" sz="1400" smtClean="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27</a:t>
            </a:fld>
            <a:endParaRPr lang="en-CA" altLang="en-US" sz="1400" smtClean="0">
              <a:solidFill>
                <a:srgbClr val="990033"/>
              </a:solidFill>
            </a:endParaRPr>
          </a:p>
        </p:txBody>
      </p:sp>
      <p:grpSp>
        <p:nvGrpSpPr>
          <p:cNvPr id="5" name="Group 5"/>
          <p:cNvGrpSpPr>
            <a:grpSpLocks/>
          </p:cNvGrpSpPr>
          <p:nvPr/>
        </p:nvGrpSpPr>
        <p:grpSpPr bwMode="auto">
          <a:xfrm>
            <a:off x="1216025" y="4079875"/>
            <a:ext cx="2620963" cy="1819275"/>
            <a:chOff x="336" y="2302"/>
            <a:chExt cx="1651" cy="1146"/>
          </a:xfrm>
        </p:grpSpPr>
        <p:sp>
          <p:nvSpPr>
            <p:cNvPr id="58378" name="Text Box 6"/>
            <p:cNvSpPr txBox="1">
              <a:spLocks noChangeArrowheads="1"/>
            </p:cNvSpPr>
            <p:nvPr/>
          </p:nvSpPr>
          <p:spPr bwMode="auto">
            <a:xfrm>
              <a:off x="386" y="2598"/>
              <a:ext cx="1601" cy="836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990033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600">
                  <a:solidFill>
                    <a:srgbClr val="80000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GB" altLang="en-US" sz="16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order#   line#    qty     price</a:t>
              </a:r>
              <a:r>
                <a:rPr lang="en-GB" altLang="en-US" sz="1600" b="1">
                  <a:latin typeface="Times New Roman" panose="02020603050405020304" pitchFamily="18" charset="0"/>
                </a:rPr>
                <a:t>        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GB" altLang="en-US" sz="1600">
                  <a:solidFill>
                    <a:srgbClr val="0000FF"/>
                  </a:solidFill>
                  <a:latin typeface="Times New Roman" panose="02020603050405020304" pitchFamily="18" charset="0"/>
                </a:rPr>
                <a:t>A001     001        10      200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GB" altLang="en-US" sz="1600">
                  <a:solidFill>
                    <a:srgbClr val="0000FF"/>
                  </a:solidFill>
                  <a:latin typeface="Times New Roman" panose="02020603050405020304" pitchFamily="18" charset="0"/>
                </a:rPr>
                <a:t>A002     001        20      400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GB" altLang="en-US" sz="1600">
                  <a:solidFill>
                    <a:srgbClr val="0000FF"/>
                  </a:solidFill>
                  <a:latin typeface="Times New Roman" panose="02020603050405020304" pitchFamily="18" charset="0"/>
                </a:rPr>
                <a:t>A002     002        25     800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GB" altLang="en-US" sz="1600">
                  <a:solidFill>
                    <a:srgbClr val="0000FF"/>
                  </a:solidFill>
                  <a:latin typeface="Times New Roman" panose="02020603050405020304" pitchFamily="18" charset="0"/>
                </a:rPr>
                <a:t>A004     001        15     300</a:t>
              </a:r>
            </a:p>
          </p:txBody>
        </p:sp>
        <p:sp>
          <p:nvSpPr>
            <p:cNvPr id="58379" name="Line 7"/>
            <p:cNvSpPr>
              <a:spLocks noChangeShapeType="1"/>
            </p:cNvSpPr>
            <p:nvPr/>
          </p:nvSpPr>
          <p:spPr bwMode="auto">
            <a:xfrm flipH="1">
              <a:off x="1568" y="2608"/>
              <a:ext cx="0" cy="8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58380" name="Line 8"/>
            <p:cNvSpPr>
              <a:spLocks noChangeShapeType="1"/>
            </p:cNvSpPr>
            <p:nvPr/>
          </p:nvSpPr>
          <p:spPr bwMode="auto">
            <a:xfrm>
              <a:off x="855" y="2597"/>
              <a:ext cx="1" cy="8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58381" name="Line 9"/>
            <p:cNvSpPr>
              <a:spLocks noChangeShapeType="1"/>
            </p:cNvSpPr>
            <p:nvPr/>
          </p:nvSpPr>
          <p:spPr bwMode="auto">
            <a:xfrm>
              <a:off x="1226" y="2615"/>
              <a:ext cx="0" cy="8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grpSp>
          <p:nvGrpSpPr>
            <p:cNvPr id="58382" name="Group 10"/>
            <p:cNvGrpSpPr>
              <a:grpSpLocks/>
            </p:cNvGrpSpPr>
            <p:nvPr/>
          </p:nvGrpSpPr>
          <p:grpSpPr bwMode="auto">
            <a:xfrm>
              <a:off x="401" y="2777"/>
              <a:ext cx="1578" cy="483"/>
              <a:chOff x="401" y="2777"/>
              <a:chExt cx="2580" cy="483"/>
            </a:xfrm>
          </p:grpSpPr>
          <p:sp>
            <p:nvSpPr>
              <p:cNvPr id="58384" name="Line 11"/>
              <p:cNvSpPr>
                <a:spLocks noChangeShapeType="1"/>
              </p:cNvSpPr>
              <p:nvPr/>
            </p:nvSpPr>
            <p:spPr bwMode="auto">
              <a:xfrm>
                <a:off x="401" y="2777"/>
                <a:ext cx="2580" cy="1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58385" name="Line 12"/>
              <p:cNvSpPr>
                <a:spLocks noChangeShapeType="1"/>
              </p:cNvSpPr>
              <p:nvPr/>
            </p:nvSpPr>
            <p:spPr bwMode="auto">
              <a:xfrm>
                <a:off x="402" y="2942"/>
                <a:ext cx="2561" cy="1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58386" name="Line 13"/>
              <p:cNvSpPr>
                <a:spLocks noChangeShapeType="1"/>
              </p:cNvSpPr>
              <p:nvPr/>
            </p:nvSpPr>
            <p:spPr bwMode="auto">
              <a:xfrm>
                <a:off x="403" y="3095"/>
                <a:ext cx="2570" cy="1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58387" name="Line 14"/>
              <p:cNvSpPr>
                <a:spLocks noChangeShapeType="1"/>
              </p:cNvSpPr>
              <p:nvPr/>
            </p:nvSpPr>
            <p:spPr bwMode="auto">
              <a:xfrm>
                <a:off x="404" y="3259"/>
                <a:ext cx="2570" cy="1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</p:grpSp>
        <p:sp>
          <p:nvSpPr>
            <p:cNvPr id="58383" name="Text Box 15"/>
            <p:cNvSpPr txBox="1">
              <a:spLocks noChangeArrowheads="1"/>
            </p:cNvSpPr>
            <p:nvPr/>
          </p:nvSpPr>
          <p:spPr bwMode="auto">
            <a:xfrm>
              <a:off x="336" y="2302"/>
              <a:ext cx="11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990033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600">
                  <a:solidFill>
                    <a:srgbClr val="80000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GB" altLang="en-US" sz="2000">
                <a:solidFill>
                  <a:srgbClr val="CF0E30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6" name="Group 16"/>
          <p:cNvGrpSpPr>
            <a:grpSpLocks/>
          </p:cNvGrpSpPr>
          <p:nvPr/>
        </p:nvGrpSpPr>
        <p:grpSpPr bwMode="auto">
          <a:xfrm>
            <a:off x="4643438" y="4221163"/>
            <a:ext cx="3360737" cy="1595437"/>
            <a:chOff x="2495" y="2391"/>
            <a:chExt cx="2117" cy="1005"/>
          </a:xfrm>
        </p:grpSpPr>
        <p:sp>
          <p:nvSpPr>
            <p:cNvPr id="58375" name="Rectangle 17"/>
            <p:cNvSpPr>
              <a:spLocks noChangeArrowheads="1"/>
            </p:cNvSpPr>
            <p:nvPr/>
          </p:nvSpPr>
          <p:spPr bwMode="auto">
            <a:xfrm>
              <a:off x="2495" y="2391"/>
              <a:ext cx="2117" cy="6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990033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600">
                  <a:solidFill>
                    <a:srgbClr val="80000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solidFill>
                  <a:schemeClr val="tx1"/>
                </a:solidFill>
              </a:endParaRPr>
            </a:p>
          </p:txBody>
        </p:sp>
        <p:sp>
          <p:nvSpPr>
            <p:cNvPr id="58376" name="Text Box 18"/>
            <p:cNvSpPr txBox="1">
              <a:spLocks noChangeArrowheads="1"/>
            </p:cNvSpPr>
            <p:nvPr/>
          </p:nvSpPr>
          <p:spPr bwMode="auto">
            <a:xfrm>
              <a:off x="2554" y="2589"/>
              <a:ext cx="1631" cy="8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990033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600">
                  <a:solidFill>
                    <a:srgbClr val="80000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GB" altLang="en-US" sz="2000">
                  <a:solidFill>
                    <a:srgbClr val="000000"/>
                  </a:solidFill>
                  <a:latin typeface="Times New Roman" panose="02020603050405020304" pitchFamily="18" charset="0"/>
                </a:rPr>
                <a:t>(Order#, line#) </a:t>
              </a:r>
              <a:r>
                <a:rPr lang="en-US" altLang="en-US" sz="2000">
                  <a:solidFill>
                    <a:srgbClr val="000000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 qty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GB" altLang="en-US" sz="2000">
                  <a:solidFill>
                    <a:srgbClr val="000000"/>
                  </a:solidFill>
                  <a:latin typeface="Times New Roman" panose="02020603050405020304" pitchFamily="18" charset="0"/>
                </a:rPr>
                <a:t>(Order#, line#) </a:t>
              </a:r>
              <a:r>
                <a:rPr lang="en-US" altLang="en-US" sz="2000">
                  <a:solidFill>
                    <a:srgbClr val="000000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 price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00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>
                  <a:solidFill>
                    <a:srgbClr val="CF0E30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	 </a:t>
              </a:r>
              <a:endParaRPr lang="en-GB" altLang="en-US" sz="2400">
                <a:solidFill>
                  <a:srgbClr val="CF0E30"/>
                </a:solidFill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58377" name="Text Box 19"/>
            <p:cNvSpPr txBox="1">
              <a:spLocks noChangeArrowheads="1"/>
            </p:cNvSpPr>
            <p:nvPr/>
          </p:nvSpPr>
          <p:spPr bwMode="auto">
            <a:xfrm>
              <a:off x="2568" y="2391"/>
              <a:ext cx="203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990033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600">
                  <a:solidFill>
                    <a:srgbClr val="80000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GB" altLang="en-US" sz="2000" u="sng">
                  <a:solidFill>
                    <a:srgbClr val="CF0E30"/>
                  </a:solidFill>
                  <a:latin typeface="Times New Roman" panose="02020603050405020304" pitchFamily="18" charset="0"/>
                </a:rPr>
                <a:t>Full Functional Dependencies</a:t>
              </a: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>
                <a:latin typeface="Times New Roman" panose="02020603050405020304" pitchFamily="18" charset="0"/>
              </a:rPr>
              <a:t>Partial Functional Dependency</a:t>
            </a:r>
            <a:endParaRPr lang="en-US" altLang="en-US" smtClean="0"/>
          </a:p>
        </p:txBody>
      </p:sp>
      <p:sp>
        <p:nvSpPr>
          <p:cNvPr id="60419" name="Content Placeholder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z="2400" smtClean="0"/>
              <a:t>Partial Functional Dependency: </a:t>
            </a:r>
          </a:p>
          <a:p>
            <a:pPr lvl="1" eaLnBrk="1" hangingPunct="1"/>
            <a:r>
              <a:rPr lang="en-US" altLang="en-US" sz="2200" smtClean="0"/>
              <a:t>This is the situation that exists if it is necessary to only use a subset of the attributes of the composite determinant to identify its object uniquely.</a:t>
            </a:r>
          </a:p>
          <a:p>
            <a:pPr eaLnBrk="1" hangingPunct="1"/>
            <a:endParaRPr lang="en-US" altLang="en-US" smtClean="0"/>
          </a:p>
        </p:txBody>
      </p:sp>
      <p:sp>
        <p:nvSpPr>
          <p:cNvPr id="6042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smtClean="0">
                <a:solidFill>
                  <a:srgbClr val="990033"/>
                </a:solidFill>
              </a:rPr>
              <a:t>Slide 10- </a:t>
            </a:r>
            <a:fld id="{5F259A96-0FB7-4B3E-97B0-ACAFBE57D9A2}" type="slidenum">
              <a:rPr lang="en-US" altLang="en-US" sz="1400" smtClean="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28</a:t>
            </a:fld>
            <a:endParaRPr lang="en-CA" altLang="en-US" sz="1400" smtClean="0">
              <a:solidFill>
                <a:srgbClr val="990033"/>
              </a:solidFill>
            </a:endParaRPr>
          </a:p>
        </p:txBody>
      </p:sp>
      <p:grpSp>
        <p:nvGrpSpPr>
          <p:cNvPr id="5" name="Group 5"/>
          <p:cNvGrpSpPr>
            <a:grpSpLocks/>
          </p:cNvGrpSpPr>
          <p:nvPr/>
        </p:nvGrpSpPr>
        <p:grpSpPr bwMode="auto">
          <a:xfrm>
            <a:off x="506413" y="3665538"/>
            <a:ext cx="3017837" cy="1814512"/>
            <a:chOff x="319" y="1590"/>
            <a:chExt cx="1901" cy="1143"/>
          </a:xfrm>
        </p:grpSpPr>
        <p:sp>
          <p:nvSpPr>
            <p:cNvPr id="60431" name="Text Box 6"/>
            <p:cNvSpPr txBox="1">
              <a:spLocks noChangeArrowheads="1"/>
            </p:cNvSpPr>
            <p:nvPr/>
          </p:nvSpPr>
          <p:spPr bwMode="auto">
            <a:xfrm>
              <a:off x="369" y="1886"/>
              <a:ext cx="1842" cy="836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990033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600">
                  <a:solidFill>
                    <a:srgbClr val="80000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GB" altLang="en-US" sz="16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student#   unit#   room    grade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GB" altLang="en-US" sz="1600">
                  <a:solidFill>
                    <a:srgbClr val="0000FF"/>
                  </a:solidFill>
                  <a:latin typeface="Times New Roman" panose="02020603050405020304" pitchFamily="18" charset="0"/>
                </a:rPr>
                <a:t>9900100     A01   TH224      2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GB" altLang="en-US" sz="1600">
                  <a:solidFill>
                    <a:srgbClr val="0000FF"/>
                  </a:solidFill>
                  <a:latin typeface="Times New Roman" panose="02020603050405020304" pitchFamily="18" charset="0"/>
                </a:rPr>
                <a:t>9900010     A01   TH224    14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GB" altLang="en-US" sz="1600">
                  <a:solidFill>
                    <a:srgbClr val="0000FF"/>
                  </a:solidFill>
                  <a:latin typeface="Times New Roman" panose="02020603050405020304" pitchFamily="18" charset="0"/>
                </a:rPr>
                <a:t>9901011     A02   JS075       3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GB" altLang="en-US" sz="1600">
                  <a:solidFill>
                    <a:srgbClr val="0000FF"/>
                  </a:solidFill>
                  <a:latin typeface="Times New Roman" panose="02020603050405020304" pitchFamily="18" charset="0"/>
                </a:rPr>
                <a:t>9900001     A01   TH224    16</a:t>
              </a:r>
            </a:p>
          </p:txBody>
        </p:sp>
        <p:sp>
          <p:nvSpPr>
            <p:cNvPr id="60432" name="Line 7"/>
            <p:cNvSpPr>
              <a:spLocks noChangeShapeType="1"/>
            </p:cNvSpPr>
            <p:nvPr/>
          </p:nvSpPr>
          <p:spPr bwMode="auto">
            <a:xfrm flipH="1">
              <a:off x="1748" y="1888"/>
              <a:ext cx="0" cy="8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60433" name="Line 8"/>
            <p:cNvSpPr>
              <a:spLocks noChangeShapeType="1"/>
            </p:cNvSpPr>
            <p:nvPr/>
          </p:nvSpPr>
          <p:spPr bwMode="auto">
            <a:xfrm>
              <a:off x="915" y="1893"/>
              <a:ext cx="1" cy="8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60434" name="Line 9"/>
            <p:cNvSpPr>
              <a:spLocks noChangeShapeType="1"/>
            </p:cNvSpPr>
            <p:nvPr/>
          </p:nvSpPr>
          <p:spPr bwMode="auto">
            <a:xfrm>
              <a:off x="1311" y="1895"/>
              <a:ext cx="0" cy="8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grpSp>
          <p:nvGrpSpPr>
            <p:cNvPr id="60435" name="Group 10"/>
            <p:cNvGrpSpPr>
              <a:grpSpLocks/>
            </p:cNvGrpSpPr>
            <p:nvPr/>
          </p:nvGrpSpPr>
          <p:grpSpPr bwMode="auto">
            <a:xfrm>
              <a:off x="384" y="2065"/>
              <a:ext cx="1836" cy="483"/>
              <a:chOff x="401" y="2777"/>
              <a:chExt cx="2580" cy="483"/>
            </a:xfrm>
          </p:grpSpPr>
          <p:sp>
            <p:nvSpPr>
              <p:cNvPr id="60437" name="Line 11"/>
              <p:cNvSpPr>
                <a:spLocks noChangeShapeType="1"/>
              </p:cNvSpPr>
              <p:nvPr/>
            </p:nvSpPr>
            <p:spPr bwMode="auto">
              <a:xfrm>
                <a:off x="401" y="2777"/>
                <a:ext cx="2580" cy="1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60438" name="Line 12"/>
              <p:cNvSpPr>
                <a:spLocks noChangeShapeType="1"/>
              </p:cNvSpPr>
              <p:nvPr/>
            </p:nvSpPr>
            <p:spPr bwMode="auto">
              <a:xfrm>
                <a:off x="402" y="2942"/>
                <a:ext cx="2561" cy="1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60439" name="Line 13"/>
              <p:cNvSpPr>
                <a:spLocks noChangeShapeType="1"/>
              </p:cNvSpPr>
              <p:nvPr/>
            </p:nvSpPr>
            <p:spPr bwMode="auto">
              <a:xfrm>
                <a:off x="403" y="3095"/>
                <a:ext cx="2570" cy="1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60440" name="Line 14"/>
              <p:cNvSpPr>
                <a:spLocks noChangeShapeType="1"/>
              </p:cNvSpPr>
              <p:nvPr/>
            </p:nvSpPr>
            <p:spPr bwMode="auto">
              <a:xfrm>
                <a:off x="404" y="3259"/>
                <a:ext cx="2570" cy="1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</p:grpSp>
        <p:sp>
          <p:nvSpPr>
            <p:cNvPr id="60436" name="Text Box 15"/>
            <p:cNvSpPr txBox="1">
              <a:spLocks noChangeArrowheads="1"/>
            </p:cNvSpPr>
            <p:nvPr/>
          </p:nvSpPr>
          <p:spPr bwMode="auto">
            <a:xfrm>
              <a:off x="319" y="1590"/>
              <a:ext cx="72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990033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600">
                  <a:solidFill>
                    <a:srgbClr val="80000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GB" altLang="en-US" sz="2000">
                  <a:solidFill>
                    <a:srgbClr val="CF0E30"/>
                  </a:solidFill>
                  <a:latin typeface="Times New Roman" panose="02020603050405020304" pitchFamily="18" charset="0"/>
                </a:rPr>
                <a:t>Example:</a:t>
              </a:r>
            </a:p>
          </p:txBody>
        </p:sp>
      </p:grpSp>
      <p:grpSp>
        <p:nvGrpSpPr>
          <p:cNvPr id="16" name="Group 16"/>
          <p:cNvGrpSpPr>
            <a:grpSpLocks/>
          </p:cNvGrpSpPr>
          <p:nvPr/>
        </p:nvGrpSpPr>
        <p:grpSpPr bwMode="auto">
          <a:xfrm>
            <a:off x="4302125" y="3765550"/>
            <a:ext cx="3698875" cy="1981200"/>
            <a:chOff x="2710" y="1653"/>
            <a:chExt cx="2330" cy="1248"/>
          </a:xfrm>
        </p:grpSpPr>
        <p:sp>
          <p:nvSpPr>
            <p:cNvPr id="60423" name="Rectangle 17"/>
            <p:cNvSpPr>
              <a:spLocks noChangeArrowheads="1"/>
            </p:cNvSpPr>
            <p:nvPr/>
          </p:nvSpPr>
          <p:spPr bwMode="auto">
            <a:xfrm>
              <a:off x="2710" y="2280"/>
              <a:ext cx="2323" cy="489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990033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600">
                  <a:solidFill>
                    <a:srgbClr val="80000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solidFill>
                  <a:schemeClr val="tx1"/>
                </a:solidFill>
              </a:endParaRPr>
            </a:p>
          </p:txBody>
        </p:sp>
        <p:grpSp>
          <p:nvGrpSpPr>
            <p:cNvPr id="60424" name="Group 18"/>
            <p:cNvGrpSpPr>
              <a:grpSpLocks/>
            </p:cNvGrpSpPr>
            <p:nvPr/>
          </p:nvGrpSpPr>
          <p:grpSpPr bwMode="auto">
            <a:xfrm>
              <a:off x="2717" y="1653"/>
              <a:ext cx="2323" cy="1248"/>
              <a:chOff x="2717" y="1653"/>
              <a:chExt cx="2323" cy="1248"/>
            </a:xfrm>
          </p:grpSpPr>
          <p:grpSp>
            <p:nvGrpSpPr>
              <p:cNvPr id="60425" name="Group 19"/>
              <p:cNvGrpSpPr>
                <a:grpSpLocks/>
              </p:cNvGrpSpPr>
              <p:nvPr/>
            </p:nvGrpSpPr>
            <p:grpSpPr bwMode="auto">
              <a:xfrm>
                <a:off x="2717" y="1653"/>
                <a:ext cx="2323" cy="621"/>
                <a:chOff x="2717" y="1653"/>
                <a:chExt cx="2117" cy="621"/>
              </a:xfrm>
            </p:grpSpPr>
            <p:sp>
              <p:nvSpPr>
                <p:cNvPr id="60428" name="Rectangle 20"/>
                <p:cNvSpPr>
                  <a:spLocks noChangeArrowheads="1"/>
                </p:cNvSpPr>
                <p:nvPr/>
              </p:nvSpPr>
              <p:spPr bwMode="auto">
                <a:xfrm>
                  <a:off x="2717" y="1653"/>
                  <a:ext cx="2117" cy="489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990033"/>
                    </a:buClr>
                    <a:buSzPct val="60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2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tx2"/>
                    </a:buClr>
                    <a:buSzPct val="55000"/>
                    <a:buFont typeface="Wingdings" panose="05000000000000000000" pitchFamily="2" charset="2"/>
                    <a:buChar char="n"/>
                    <a:defRPr sz="2600">
                      <a:solidFill>
                        <a:srgbClr val="800000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990033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2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rgbClr val="800000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990033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2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990033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2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990033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2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990033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2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990033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2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60429" name="Text Box 21"/>
                <p:cNvSpPr txBox="1">
                  <a:spLocks noChangeArrowheads="1"/>
                </p:cNvSpPr>
                <p:nvPr/>
              </p:nvSpPr>
              <p:spPr bwMode="auto">
                <a:xfrm>
                  <a:off x="2776" y="1851"/>
                  <a:ext cx="1764" cy="42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990033"/>
                    </a:buClr>
                    <a:buSzPct val="60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2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tx2"/>
                    </a:buClr>
                    <a:buSzPct val="55000"/>
                    <a:buFont typeface="Wingdings" panose="05000000000000000000" pitchFamily="2" charset="2"/>
                    <a:buChar char="n"/>
                    <a:defRPr sz="2600">
                      <a:solidFill>
                        <a:srgbClr val="800000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990033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2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rgbClr val="800000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990033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2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990033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2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990033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2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990033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2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990033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2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GB" altLang="en-US" sz="2000">
                      <a:solidFill>
                        <a:srgbClr val="000000"/>
                      </a:solidFill>
                      <a:latin typeface="Times New Roman" panose="02020603050405020304" pitchFamily="18" charset="0"/>
                    </a:rPr>
                    <a:t>(student#, unit#) </a:t>
                  </a:r>
                  <a:r>
                    <a:rPr lang="en-US" altLang="en-US" sz="2000">
                      <a:solidFill>
                        <a:srgbClr val="000000"/>
                      </a:solidFill>
                      <a:latin typeface="Times New Roman" panose="02020603050405020304" pitchFamily="18" charset="0"/>
                      <a:sym typeface="Symbol" panose="05050102010706020507" pitchFamily="18" charset="2"/>
                    </a:rPr>
                    <a:t> grade</a:t>
                  </a:r>
                </a:p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en-US" sz="2400">
                      <a:solidFill>
                        <a:srgbClr val="CF0E30"/>
                      </a:solidFill>
                      <a:latin typeface="Times New Roman" panose="02020603050405020304" pitchFamily="18" charset="0"/>
                      <a:sym typeface="Symbol" panose="05050102010706020507" pitchFamily="18" charset="2"/>
                    </a:rPr>
                    <a:t>	 </a:t>
                  </a:r>
                  <a:endParaRPr lang="en-GB" altLang="en-US" sz="2400">
                    <a:solidFill>
                      <a:srgbClr val="CF0E30"/>
                    </a:solidFill>
                    <a:latin typeface="Times New Roman" panose="02020603050405020304" pitchFamily="18" charset="0"/>
                    <a:sym typeface="Symbol" panose="05050102010706020507" pitchFamily="18" charset="2"/>
                  </a:endParaRPr>
                </a:p>
              </p:txBody>
            </p:sp>
            <p:sp>
              <p:nvSpPr>
                <p:cNvPr id="60430" name="Text Box 22"/>
                <p:cNvSpPr txBox="1">
                  <a:spLocks noChangeArrowheads="1"/>
                </p:cNvSpPr>
                <p:nvPr/>
              </p:nvSpPr>
              <p:spPr bwMode="auto">
                <a:xfrm>
                  <a:off x="2790" y="1653"/>
                  <a:ext cx="1853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990033"/>
                    </a:buClr>
                    <a:buSzPct val="60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2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tx2"/>
                    </a:buClr>
                    <a:buSzPct val="55000"/>
                    <a:buFont typeface="Wingdings" panose="05000000000000000000" pitchFamily="2" charset="2"/>
                    <a:buChar char="n"/>
                    <a:defRPr sz="2600">
                      <a:solidFill>
                        <a:srgbClr val="800000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990033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2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rgbClr val="800000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990033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2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990033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2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990033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2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990033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2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990033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2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GB" altLang="en-US" sz="2000" u="sng">
                      <a:solidFill>
                        <a:srgbClr val="CF0E30"/>
                      </a:solidFill>
                      <a:latin typeface="Times New Roman" panose="02020603050405020304" pitchFamily="18" charset="0"/>
                    </a:rPr>
                    <a:t>Full Functional Dependencies</a:t>
                  </a:r>
                </a:p>
              </p:txBody>
            </p:sp>
          </p:grpSp>
          <p:sp>
            <p:nvSpPr>
              <p:cNvPr id="60426" name="Text Box 23"/>
              <p:cNvSpPr txBox="1">
                <a:spLocks noChangeArrowheads="1"/>
              </p:cNvSpPr>
              <p:nvPr/>
            </p:nvSpPr>
            <p:spPr bwMode="auto">
              <a:xfrm>
                <a:off x="2769" y="2478"/>
                <a:ext cx="1764" cy="4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990033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2"/>
                  </a:buClr>
                  <a:buSzPct val="55000"/>
                  <a:buFont typeface="Wingdings" panose="05000000000000000000" pitchFamily="2" charset="2"/>
                  <a:buChar char="n"/>
                  <a:defRPr sz="2600">
                    <a:solidFill>
                      <a:srgbClr val="8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rgbClr val="8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GB" altLang="en-US" sz="20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unit# </a:t>
                </a:r>
                <a:r>
                  <a:rPr lang="en-US" altLang="en-US" sz="2000">
                    <a:solidFill>
                      <a:srgbClr val="000000"/>
                    </a:solidFill>
                    <a:latin typeface="Times New Roman" panose="02020603050405020304" pitchFamily="18" charset="0"/>
                    <a:sym typeface="Symbol" panose="05050102010706020507" pitchFamily="18" charset="2"/>
                  </a:rPr>
                  <a:t> room</a:t>
                </a:r>
              </a:p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solidFill>
                      <a:srgbClr val="CF0E30"/>
                    </a:solidFill>
                    <a:latin typeface="Times New Roman" panose="02020603050405020304" pitchFamily="18" charset="0"/>
                    <a:sym typeface="Symbol" panose="05050102010706020507" pitchFamily="18" charset="2"/>
                  </a:rPr>
                  <a:t>	 </a:t>
                </a:r>
                <a:endParaRPr lang="en-GB" altLang="en-US" sz="2400">
                  <a:solidFill>
                    <a:srgbClr val="CF0E30"/>
                  </a:solidFill>
                  <a:latin typeface="Times New Roman" panose="02020603050405020304" pitchFamily="18" charset="0"/>
                  <a:sym typeface="Symbol" panose="05050102010706020507" pitchFamily="18" charset="2"/>
                </a:endParaRPr>
              </a:p>
            </p:txBody>
          </p:sp>
          <p:sp>
            <p:nvSpPr>
              <p:cNvPr id="60427" name="Text Box 24"/>
              <p:cNvSpPr txBox="1">
                <a:spLocks noChangeArrowheads="1"/>
              </p:cNvSpPr>
              <p:nvPr/>
            </p:nvSpPr>
            <p:spPr bwMode="auto">
              <a:xfrm>
                <a:off x="2783" y="2280"/>
                <a:ext cx="2192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990033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2"/>
                  </a:buClr>
                  <a:buSzPct val="55000"/>
                  <a:buFont typeface="Wingdings" panose="05000000000000000000" pitchFamily="2" charset="2"/>
                  <a:buChar char="n"/>
                  <a:defRPr sz="2600">
                    <a:solidFill>
                      <a:srgbClr val="8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rgbClr val="8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GB" altLang="en-US" sz="2000" u="sng">
                    <a:solidFill>
                      <a:srgbClr val="CF0E30"/>
                    </a:solidFill>
                    <a:latin typeface="Times New Roman" panose="02020603050405020304" pitchFamily="18" charset="0"/>
                  </a:rPr>
                  <a:t>Partial Functional Dependencies</a:t>
                </a:r>
              </a:p>
            </p:txBody>
          </p:sp>
        </p:grpSp>
      </p:grp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>
                <a:latin typeface="Times New Roman" panose="02020603050405020304" pitchFamily="18" charset="0"/>
              </a:rPr>
              <a:t>Functional Dependency: Exercise</a:t>
            </a:r>
            <a:endParaRPr lang="en-US" altLang="en-US" smtClean="0"/>
          </a:p>
        </p:txBody>
      </p:sp>
      <p:sp>
        <p:nvSpPr>
          <p:cNvPr id="62467" name="Content Placeholder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n-US" altLang="en-US" smtClean="0"/>
          </a:p>
        </p:txBody>
      </p:sp>
      <p:sp>
        <p:nvSpPr>
          <p:cNvPr id="6246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smtClean="0">
                <a:solidFill>
                  <a:srgbClr val="990033"/>
                </a:solidFill>
              </a:rPr>
              <a:t>Slide 10- </a:t>
            </a:r>
            <a:fld id="{C9C03351-849A-4E8A-9B53-2C0169C8D767}" type="slidenum">
              <a:rPr lang="en-US" altLang="en-US" sz="1400" smtClean="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29</a:t>
            </a:fld>
            <a:endParaRPr lang="en-CA" altLang="en-US" sz="1400" smtClean="0">
              <a:solidFill>
                <a:srgbClr val="990033"/>
              </a:solidFill>
            </a:endParaRPr>
          </a:p>
        </p:txBody>
      </p:sp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A68FF7E4-D97E-8F4B-8805-9505F1DADC31}"/>
              </a:ext>
            </a:extLst>
          </p:cNvPr>
          <p:cNvGraphicFramePr>
            <a:graphicFrameLocks/>
          </p:cNvGraphicFramePr>
          <p:nvPr/>
        </p:nvGraphicFramePr>
        <p:xfrm>
          <a:off x="228600" y="2108200"/>
          <a:ext cx="8534400" cy="2773363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26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6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619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sym typeface="Wingdings" pitchFamily="2" charset="2"/>
                        </a:rPr>
                        <a:t>Abbreviations</a:t>
                      </a:r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Meaning</a:t>
                      </a:r>
                    </a:p>
                  </a:txBody>
                  <a:tcPr marT="45699" marB="45699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19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sym typeface="Wingdings" pitchFamily="2" charset="2"/>
                        </a:rPr>
                        <a:t>A</a:t>
                      </a:r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sym typeface="Wingdings" pitchFamily="2" charset="2"/>
                        </a:rPr>
                        <a:t>Employee no</a:t>
                      </a:r>
                    </a:p>
                  </a:txBody>
                  <a:tcPr marT="45699" marB="45699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195">
                <a:tc>
                  <a:txBody>
                    <a:bodyPr/>
                    <a:lstStyle/>
                    <a:p>
                      <a:r>
                        <a:rPr lang="en-US" sz="2000" b="1" dirty="0">
                          <a:sym typeface="Wingdings" pitchFamily="2" charset="2"/>
                        </a:rPr>
                        <a:t>B</a:t>
                      </a:r>
                      <a:endParaRPr lang="en-US" sz="2000" b="1" dirty="0"/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sym typeface="Wingdings" pitchFamily="2" charset="2"/>
                        </a:rPr>
                        <a:t>Dept no</a:t>
                      </a:r>
                      <a:endParaRPr lang="en-US" sz="2000" b="1" dirty="0"/>
                    </a:p>
                  </a:txBody>
                  <a:tcPr marT="45699" marB="45699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195">
                <a:tc>
                  <a:txBody>
                    <a:bodyPr/>
                    <a:lstStyle/>
                    <a:p>
                      <a:r>
                        <a:rPr lang="en-US" sz="2000" b="1" dirty="0">
                          <a:sym typeface="Wingdings" pitchFamily="2" charset="2"/>
                        </a:rPr>
                        <a:t>C</a:t>
                      </a:r>
                      <a:endParaRPr lang="en-US" sz="2000" b="1" dirty="0"/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sym typeface="Wingdings" pitchFamily="2" charset="2"/>
                        </a:rPr>
                        <a:t>Manager’s </a:t>
                      </a:r>
                      <a:r>
                        <a:rPr lang="en-US" sz="2000" b="1" dirty="0" err="1">
                          <a:sym typeface="Wingdings" pitchFamily="2" charset="2"/>
                        </a:rPr>
                        <a:t>emp</a:t>
                      </a:r>
                      <a:r>
                        <a:rPr lang="en-US" sz="2000" b="1" dirty="0">
                          <a:sym typeface="Wingdings" pitchFamily="2" charset="2"/>
                        </a:rPr>
                        <a:t> no</a:t>
                      </a:r>
                      <a:endParaRPr lang="en-US" sz="2000" b="1" dirty="0"/>
                    </a:p>
                  </a:txBody>
                  <a:tcPr marT="45699" marB="45699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195">
                <a:tc>
                  <a:txBody>
                    <a:bodyPr/>
                    <a:lstStyle/>
                    <a:p>
                      <a:r>
                        <a:rPr lang="en-US" sz="2000" b="1" dirty="0">
                          <a:sym typeface="Wingdings" pitchFamily="2" charset="2"/>
                        </a:rPr>
                        <a:t>D</a:t>
                      </a:r>
                      <a:endParaRPr lang="en-US" sz="2000" b="1" dirty="0"/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sym typeface="Wingdings" pitchFamily="2" charset="2"/>
                        </a:rPr>
                        <a:t>Proj no directed by that manager</a:t>
                      </a:r>
                      <a:endParaRPr lang="en-US" sz="2000" b="1" dirty="0"/>
                    </a:p>
                  </a:txBody>
                  <a:tcPr marT="45699" marB="45699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195">
                <a:tc>
                  <a:txBody>
                    <a:bodyPr/>
                    <a:lstStyle/>
                    <a:p>
                      <a:r>
                        <a:rPr lang="en-US" sz="2000" b="1" dirty="0">
                          <a:sym typeface="Wingdings" pitchFamily="2" charset="2"/>
                        </a:rPr>
                        <a:t>E</a:t>
                      </a:r>
                      <a:endParaRPr lang="en-US" sz="2000" b="1" dirty="0"/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sym typeface="Wingdings" pitchFamily="2" charset="2"/>
                        </a:rPr>
                        <a:t>Dept name</a:t>
                      </a:r>
                      <a:endParaRPr lang="en-US" sz="2000" b="1" dirty="0"/>
                    </a:p>
                  </a:txBody>
                  <a:tcPr marT="45699" marB="45699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6195">
                <a:tc>
                  <a:txBody>
                    <a:bodyPr/>
                    <a:lstStyle/>
                    <a:p>
                      <a:r>
                        <a:rPr lang="en-US" sz="2000" b="1" dirty="0">
                          <a:sym typeface="Wingdings" pitchFamily="2" charset="2"/>
                        </a:rPr>
                        <a:t>F</a:t>
                      </a:r>
                      <a:endParaRPr lang="en-US" sz="2000" b="1" dirty="0"/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sym typeface="Wingdings" pitchFamily="2" charset="2"/>
                        </a:rPr>
                        <a:t>Time allocated to specified </a:t>
                      </a:r>
                      <a:r>
                        <a:rPr lang="en-US" sz="2000" b="1" dirty="0" err="1">
                          <a:sym typeface="Wingdings" pitchFamily="2" charset="2"/>
                        </a:rPr>
                        <a:t>proj</a:t>
                      </a:r>
                      <a:endParaRPr lang="en-US" sz="2000" b="1" dirty="0"/>
                    </a:p>
                  </a:txBody>
                  <a:tcPr marT="45699" marB="45699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>
                <a:latin typeface="Times New Roman" panose="02020603050405020304" pitchFamily="18" charset="0"/>
              </a:rPr>
              <a:t>Functional Dependency: Exercise</a:t>
            </a:r>
            <a:endParaRPr lang="en-US" altLang="en-US" smtClean="0"/>
          </a:p>
        </p:txBody>
      </p:sp>
      <p:sp>
        <p:nvSpPr>
          <p:cNvPr id="64515" name="Content Placeholder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n-US" altLang="en-US" smtClean="0"/>
          </a:p>
        </p:txBody>
      </p:sp>
      <p:sp>
        <p:nvSpPr>
          <p:cNvPr id="6451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smtClean="0">
                <a:solidFill>
                  <a:srgbClr val="990033"/>
                </a:solidFill>
              </a:rPr>
              <a:t>Slide 10- </a:t>
            </a:r>
            <a:fld id="{A093FE94-8EE7-427A-9A39-84BDBB80F8B1}" type="slidenum">
              <a:rPr lang="en-US" altLang="en-US" sz="1400" smtClean="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30</a:t>
            </a:fld>
            <a:endParaRPr lang="en-CA" altLang="en-US" sz="1400" smtClean="0">
              <a:solidFill>
                <a:srgbClr val="990033"/>
              </a:solidFill>
            </a:endParaRPr>
          </a:p>
        </p:txBody>
      </p:sp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2E744994-90B1-FE46-B0D0-D3091978FD5A}"/>
              </a:ext>
            </a:extLst>
          </p:cNvPr>
          <p:cNvGraphicFramePr>
            <a:graphicFrameLocks/>
          </p:cNvGraphicFramePr>
          <p:nvPr/>
        </p:nvGraphicFramePr>
        <p:xfrm>
          <a:off x="228600" y="1905000"/>
          <a:ext cx="8534400" cy="32004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4278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065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963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sym typeface="Wingdings" pitchFamily="2" charset="2"/>
                        </a:rPr>
                        <a:t>Abbreviations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Meaning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sym typeface="Wingdings" pitchFamily="2" charset="2"/>
                        </a:rPr>
                        <a:t>A </a:t>
                      </a:r>
                      <a:r>
                        <a:rPr lang="en-US" sz="2000" b="1" baseline="0" dirty="0">
                          <a:sym typeface="Wingdings" pitchFamily="2" charset="2"/>
                        </a:rPr>
                        <a:t>  BC</a:t>
                      </a:r>
                      <a:endParaRPr lang="en-US" sz="2000" b="1" dirty="0">
                        <a:sym typeface="Wingdings" pitchFamily="2" charset="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sym typeface="Wingdings" pitchFamily="2" charset="2"/>
                        </a:rPr>
                        <a:t>Employee no  </a:t>
                      </a:r>
                      <a:r>
                        <a:rPr lang="en-US" sz="2000" b="1" dirty="0" err="1">
                          <a:sym typeface="Wingdings" pitchFamily="2" charset="2"/>
                        </a:rPr>
                        <a:t>Deptno</a:t>
                      </a:r>
                      <a:r>
                        <a:rPr lang="en-US" sz="2000" b="1" dirty="0">
                          <a:sym typeface="Wingdings" pitchFamily="2" charset="2"/>
                        </a:rPr>
                        <a:t>,</a:t>
                      </a:r>
                      <a:r>
                        <a:rPr lang="en-US" sz="2000" b="1" baseline="0" dirty="0">
                          <a:sym typeface="Wingdings" pitchFamily="2" charset="2"/>
                        </a:rPr>
                        <a:t> </a:t>
                      </a:r>
                      <a:r>
                        <a:rPr lang="en-US" sz="2000" b="1" dirty="0">
                          <a:sym typeface="Wingdings" pitchFamily="2" charset="2"/>
                        </a:rPr>
                        <a:t>Manager’s emp 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9634">
                <a:tc>
                  <a:txBody>
                    <a:bodyPr/>
                    <a:lstStyle/>
                    <a:p>
                      <a:r>
                        <a:rPr lang="en-US" sz="2000" b="1" dirty="0">
                          <a:sym typeface="Wingdings" pitchFamily="2" charset="2"/>
                        </a:rPr>
                        <a:t>B  E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sym typeface="Wingdings" pitchFamily="2" charset="2"/>
                        </a:rPr>
                        <a:t>Dept no  Dept name</a:t>
                      </a:r>
                      <a:endParaRPr lang="en-US" sz="2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23406">
                <a:tc>
                  <a:txBody>
                    <a:bodyPr/>
                    <a:lstStyle/>
                    <a:p>
                      <a:r>
                        <a:rPr lang="en-US" sz="2000" b="1" dirty="0">
                          <a:sym typeface="Wingdings" pitchFamily="2" charset="2"/>
                        </a:rPr>
                        <a:t>CD  EF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sym typeface="Wingdings" pitchFamily="2" charset="2"/>
                        </a:rPr>
                        <a:t>Manager’s </a:t>
                      </a:r>
                      <a:r>
                        <a:rPr lang="en-US" sz="2000" b="1" dirty="0" err="1">
                          <a:sym typeface="Wingdings" pitchFamily="2" charset="2"/>
                        </a:rPr>
                        <a:t>emp</a:t>
                      </a:r>
                      <a:r>
                        <a:rPr lang="en-US" sz="2000" b="1" dirty="0">
                          <a:sym typeface="Wingdings" pitchFamily="2" charset="2"/>
                        </a:rPr>
                        <a:t> no, </a:t>
                      </a:r>
                      <a:r>
                        <a:rPr lang="en-US" sz="2000" b="1" dirty="0" err="1">
                          <a:sym typeface="Wingdings" pitchFamily="2" charset="2"/>
                        </a:rPr>
                        <a:t>Proj</a:t>
                      </a:r>
                      <a:r>
                        <a:rPr lang="en-US" sz="2000" b="1" dirty="0">
                          <a:sym typeface="Wingdings" pitchFamily="2" charset="2"/>
                        </a:rPr>
                        <a:t> no directed by that manager  Dept name, Time allocated to specified </a:t>
                      </a:r>
                      <a:r>
                        <a:rPr lang="en-US" sz="2000" b="1" dirty="0" err="1">
                          <a:sym typeface="Wingdings" pitchFamily="2" charset="2"/>
                        </a:rPr>
                        <a:t>proj</a:t>
                      </a:r>
                      <a:endParaRPr lang="en-US" sz="2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9634"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b="1" i="0" dirty="0">
                          <a:sym typeface="Wingdings" pitchFamily="2" charset="2"/>
                        </a:rPr>
                        <a:t>We now show that FD (AD  F) holds in R</a:t>
                      </a:r>
                      <a:endParaRPr lang="en-US" sz="2000" b="1" i="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Solution</a:t>
            </a:r>
          </a:p>
        </p:txBody>
      </p:sp>
      <p:sp>
        <p:nvSpPr>
          <p:cNvPr id="3" name="Content Placeholder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b="1" smtClean="0"/>
              <a:t>As A </a:t>
            </a:r>
            <a:r>
              <a:rPr lang="en-US" altLang="en-US" b="1" smtClean="0">
                <a:sym typeface="Wingdings" panose="05000000000000000000" pitchFamily="2" charset="2"/>
              </a:rPr>
              <a:t> BC  (given)</a:t>
            </a:r>
          </a:p>
          <a:p>
            <a:pPr eaLnBrk="1" hangingPunct="1"/>
            <a:r>
              <a:rPr lang="en-US" altLang="en-US" smtClean="0">
                <a:sym typeface="Wingdings" panose="05000000000000000000" pitchFamily="2" charset="2"/>
              </a:rPr>
              <a:t>So,  A  C    (1, decomposition)</a:t>
            </a:r>
          </a:p>
          <a:p>
            <a:pPr eaLnBrk="1" hangingPunct="1"/>
            <a:r>
              <a:rPr lang="en-US" altLang="en-US" smtClean="0">
                <a:sym typeface="Wingdings" panose="05000000000000000000" pitchFamily="2" charset="2"/>
              </a:rPr>
              <a:t>And AD  CD  (2, augmentation)</a:t>
            </a:r>
          </a:p>
          <a:p>
            <a:pPr eaLnBrk="1" hangingPunct="1"/>
            <a:endParaRPr lang="en-US" altLang="en-US" b="1" smtClean="0">
              <a:sym typeface="Wingdings" panose="05000000000000000000" pitchFamily="2" charset="2"/>
            </a:endParaRPr>
          </a:p>
          <a:p>
            <a:pPr eaLnBrk="1" hangingPunct="1"/>
            <a:r>
              <a:rPr lang="en-US" altLang="en-US" b="1" smtClean="0">
                <a:sym typeface="Wingdings" panose="05000000000000000000" pitchFamily="2" charset="2"/>
              </a:rPr>
              <a:t>Similarly, as CD  EF (given)</a:t>
            </a:r>
          </a:p>
          <a:p>
            <a:pPr eaLnBrk="1" hangingPunct="1"/>
            <a:r>
              <a:rPr lang="en-US" altLang="en-US" smtClean="0">
                <a:sym typeface="Wingdings" panose="05000000000000000000" pitchFamily="2" charset="2"/>
              </a:rPr>
              <a:t>So AD  EF  (3 and 4, transitivity)</a:t>
            </a:r>
          </a:p>
          <a:p>
            <a:pPr eaLnBrk="1" hangingPunct="1"/>
            <a:r>
              <a:rPr lang="en-US" altLang="en-US" smtClean="0">
                <a:sym typeface="Wingdings" panose="05000000000000000000" pitchFamily="2" charset="2"/>
              </a:rPr>
              <a:t>Hence, AD  F  (5, decomposition)</a:t>
            </a:r>
            <a:endParaRPr lang="en-US" altLang="en-US" smtClean="0"/>
          </a:p>
          <a:p>
            <a:pPr eaLnBrk="1" hangingPunct="1"/>
            <a:endParaRPr lang="en-US" altLang="en-US" smtClean="0"/>
          </a:p>
        </p:txBody>
      </p:sp>
      <p:sp>
        <p:nvSpPr>
          <p:cNvPr id="6656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smtClean="0">
                <a:solidFill>
                  <a:srgbClr val="990033"/>
                </a:solidFill>
              </a:rPr>
              <a:t>Slide 10- </a:t>
            </a:r>
            <a:fld id="{E9E19468-3284-4669-B569-6F1FB2F473A8}" type="slidenum">
              <a:rPr lang="en-US" altLang="en-US" sz="1400" smtClean="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31</a:t>
            </a:fld>
            <a:endParaRPr lang="en-CA" altLang="en-US" sz="1400" smtClean="0">
              <a:solidFill>
                <a:srgbClr val="990033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smtClean="0">
                <a:solidFill>
                  <a:srgbClr val="990033"/>
                </a:solidFill>
              </a:rPr>
              <a:t>Slide 10- </a:t>
            </a:r>
            <a:fld id="{5275FA61-252A-4BED-BE17-3A662DFBF935}" type="slidenum">
              <a:rPr lang="en-US" altLang="en-US" sz="1400" smtClean="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32</a:t>
            </a:fld>
            <a:endParaRPr lang="en-CA" altLang="en-US" sz="1400" smtClean="0">
              <a:solidFill>
                <a:srgbClr val="990033"/>
              </a:solidFill>
            </a:endParaRPr>
          </a:p>
        </p:txBody>
      </p:sp>
      <p:sp>
        <p:nvSpPr>
          <p:cNvPr id="68611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2.3 Equivalence of Sets of FDs </a:t>
            </a:r>
          </a:p>
        </p:txBody>
      </p:sp>
      <p:sp>
        <p:nvSpPr>
          <p:cNvPr id="68612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400" smtClean="0"/>
              <a:t>Two sets of FDs F and G are </a:t>
            </a:r>
            <a:r>
              <a:rPr lang="en-US" altLang="en-US" sz="2400" b="1" smtClean="0"/>
              <a:t>equivalent</a:t>
            </a:r>
            <a:r>
              <a:rPr lang="en-US" altLang="en-US" sz="2400" smtClean="0"/>
              <a:t> if:</a:t>
            </a:r>
          </a:p>
          <a:p>
            <a:pPr lvl="1" eaLnBrk="1" hangingPunct="1"/>
            <a:r>
              <a:rPr lang="en-US" altLang="en-US" sz="2200" smtClean="0"/>
              <a:t>Every FD in F can be inferred from G, and</a:t>
            </a:r>
          </a:p>
          <a:p>
            <a:pPr lvl="1" eaLnBrk="1" hangingPunct="1"/>
            <a:r>
              <a:rPr lang="en-US" altLang="en-US" sz="2200" smtClean="0"/>
              <a:t>Every FD in G can be inferred from F</a:t>
            </a:r>
          </a:p>
          <a:p>
            <a:pPr lvl="1" eaLnBrk="1" hangingPunct="1"/>
            <a:r>
              <a:rPr lang="en-US" altLang="en-US" sz="2200" smtClean="0"/>
              <a:t>Hence, F and G are equivalent if F</a:t>
            </a:r>
            <a:r>
              <a:rPr lang="en-US" altLang="en-US" sz="2200" baseline="30000" smtClean="0"/>
              <a:t>+</a:t>
            </a:r>
            <a:r>
              <a:rPr lang="en-US" altLang="en-US" sz="2200" smtClean="0"/>
              <a:t> =G</a:t>
            </a:r>
            <a:r>
              <a:rPr lang="en-US" altLang="en-US" sz="2200" baseline="30000" smtClean="0"/>
              <a:t>+</a:t>
            </a:r>
          </a:p>
          <a:p>
            <a:pPr eaLnBrk="1" hangingPunct="1"/>
            <a:r>
              <a:rPr lang="en-US" altLang="en-US" sz="2400" smtClean="0"/>
              <a:t>Definition (</a:t>
            </a:r>
            <a:r>
              <a:rPr lang="en-US" altLang="en-US" sz="2400" b="1" smtClean="0"/>
              <a:t>Covers</a:t>
            </a:r>
            <a:r>
              <a:rPr lang="en-US" altLang="en-US" sz="2400" smtClean="0"/>
              <a:t>):</a:t>
            </a:r>
          </a:p>
          <a:p>
            <a:pPr lvl="1" eaLnBrk="1" hangingPunct="1"/>
            <a:r>
              <a:rPr lang="en-US" altLang="en-US" sz="2200" smtClean="0"/>
              <a:t>F </a:t>
            </a:r>
            <a:r>
              <a:rPr lang="en-US" altLang="en-US" sz="2200" b="1" smtClean="0"/>
              <a:t>covers</a:t>
            </a:r>
            <a:r>
              <a:rPr lang="en-US" altLang="en-US" sz="2200" smtClean="0"/>
              <a:t> G if every FD in G can be inferred from F</a:t>
            </a:r>
          </a:p>
          <a:p>
            <a:pPr lvl="2" eaLnBrk="1" hangingPunct="1"/>
            <a:r>
              <a:rPr lang="en-US" altLang="en-US" sz="2000" smtClean="0"/>
              <a:t>(i.e., if G</a:t>
            </a:r>
            <a:r>
              <a:rPr lang="en-US" altLang="en-US" sz="2000" baseline="30000" smtClean="0"/>
              <a:t>+</a:t>
            </a:r>
            <a:r>
              <a:rPr lang="en-US" altLang="en-US" sz="2000" smtClean="0"/>
              <a:t> </a:t>
            </a:r>
            <a:r>
              <a:rPr lang="en-US" altLang="en-US" sz="2000" i="1" smtClean="0"/>
              <a:t>subset-of</a:t>
            </a:r>
            <a:r>
              <a:rPr lang="en-US" altLang="en-US" sz="2000" smtClean="0"/>
              <a:t> F</a:t>
            </a:r>
            <a:r>
              <a:rPr lang="en-US" altLang="en-US" sz="2000" baseline="30000" smtClean="0"/>
              <a:t>+</a:t>
            </a:r>
            <a:r>
              <a:rPr lang="en-US" altLang="en-US" sz="2000" smtClean="0"/>
              <a:t>)</a:t>
            </a:r>
          </a:p>
          <a:p>
            <a:pPr eaLnBrk="1" hangingPunct="1"/>
            <a:r>
              <a:rPr lang="en-US" altLang="en-US" sz="2400" smtClean="0"/>
              <a:t>F and G are equivalent if F covers G and G covers F</a:t>
            </a:r>
          </a:p>
          <a:p>
            <a:pPr eaLnBrk="1" hangingPunct="1"/>
            <a:r>
              <a:rPr lang="en-US" altLang="en-US" sz="2400" smtClean="0"/>
              <a:t>There is an algorithm for checking equivalence of sets of FDs </a:t>
            </a:r>
          </a:p>
          <a:p>
            <a:pPr lvl="1" eaLnBrk="1" hangingPunct="1"/>
            <a:r>
              <a:rPr lang="en-US" altLang="en-US" sz="2200" smtClean="0"/>
              <a:t>See text book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3"/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1104900"/>
          </a:xfrm>
        </p:spPr>
        <p:txBody>
          <a:bodyPr/>
          <a:lstStyle/>
          <a:p>
            <a:r>
              <a:rPr lang="en-US" altLang="en-US" sz="4000" smtClean="0">
                <a:latin typeface="Times New Roman" panose="02020603050405020304" pitchFamily="18" charset="0"/>
              </a:rPr>
              <a:t>Functional Dependency</a:t>
            </a:r>
            <a:endParaRPr lang="en-US" altLang="en-US" smtClean="0"/>
          </a:p>
        </p:txBody>
      </p:sp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339725" y="1989138"/>
            <a:ext cx="4232275" cy="2293937"/>
            <a:chOff x="336" y="2302"/>
            <a:chExt cx="2116" cy="1137"/>
          </a:xfrm>
        </p:grpSpPr>
        <p:sp>
          <p:nvSpPr>
            <p:cNvPr id="70660" name="Text Box 8"/>
            <p:cNvSpPr txBox="1">
              <a:spLocks noChangeArrowheads="1"/>
            </p:cNvSpPr>
            <p:nvPr/>
          </p:nvSpPr>
          <p:spPr bwMode="auto">
            <a:xfrm>
              <a:off x="386" y="2598"/>
              <a:ext cx="2055" cy="836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990033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600">
                  <a:solidFill>
                    <a:srgbClr val="80000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GB" altLang="en-US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staffNo  job           dept   dname</a:t>
              </a:r>
              <a:r>
                <a:rPr lang="en-GB" altLang="en-US" sz="2000" b="1">
                  <a:latin typeface="Times New Roman" panose="02020603050405020304" pitchFamily="18" charset="0"/>
                </a:rPr>
                <a:t>        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GB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SL10     Salesman  10      Sales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GB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SA51    Manager    20     Accounts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GB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DS40    Clerk         20      Accounts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GB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OS45    Clerk         30      Operations</a:t>
              </a:r>
            </a:p>
          </p:txBody>
        </p:sp>
        <p:grpSp>
          <p:nvGrpSpPr>
            <p:cNvPr id="70661" name="Group 9"/>
            <p:cNvGrpSpPr>
              <a:grpSpLocks/>
            </p:cNvGrpSpPr>
            <p:nvPr/>
          </p:nvGrpSpPr>
          <p:grpSpPr bwMode="auto">
            <a:xfrm>
              <a:off x="401" y="2777"/>
              <a:ext cx="2051" cy="483"/>
              <a:chOff x="401" y="2777"/>
              <a:chExt cx="2051" cy="483"/>
            </a:xfrm>
          </p:grpSpPr>
          <p:sp>
            <p:nvSpPr>
              <p:cNvPr id="70666" name="Line 10"/>
              <p:cNvSpPr>
                <a:spLocks noChangeShapeType="1"/>
              </p:cNvSpPr>
              <p:nvPr/>
            </p:nvSpPr>
            <p:spPr bwMode="auto">
              <a:xfrm>
                <a:off x="401" y="2777"/>
                <a:ext cx="2031" cy="1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70667" name="Line 11"/>
              <p:cNvSpPr>
                <a:spLocks noChangeShapeType="1"/>
              </p:cNvSpPr>
              <p:nvPr/>
            </p:nvSpPr>
            <p:spPr bwMode="auto">
              <a:xfrm>
                <a:off x="402" y="2942"/>
                <a:ext cx="2042" cy="1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70668" name="Line 12"/>
              <p:cNvSpPr>
                <a:spLocks noChangeShapeType="1"/>
              </p:cNvSpPr>
              <p:nvPr/>
            </p:nvSpPr>
            <p:spPr bwMode="auto">
              <a:xfrm>
                <a:off x="403" y="3095"/>
                <a:ext cx="2049" cy="1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70669" name="Line 13"/>
              <p:cNvSpPr>
                <a:spLocks noChangeShapeType="1"/>
              </p:cNvSpPr>
              <p:nvPr/>
            </p:nvSpPr>
            <p:spPr bwMode="auto">
              <a:xfrm>
                <a:off x="403" y="3259"/>
                <a:ext cx="2049" cy="1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</p:grpSp>
        <p:sp>
          <p:nvSpPr>
            <p:cNvPr id="70662" name="Line 14"/>
            <p:cNvSpPr>
              <a:spLocks noChangeShapeType="1"/>
            </p:cNvSpPr>
            <p:nvPr/>
          </p:nvSpPr>
          <p:spPr bwMode="auto">
            <a:xfrm flipH="1">
              <a:off x="1705" y="2616"/>
              <a:ext cx="0" cy="82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70663" name="Line 15"/>
            <p:cNvSpPr>
              <a:spLocks noChangeShapeType="1"/>
            </p:cNvSpPr>
            <p:nvPr/>
          </p:nvSpPr>
          <p:spPr bwMode="auto">
            <a:xfrm>
              <a:off x="855" y="2597"/>
              <a:ext cx="1" cy="8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70664" name="Line 16"/>
            <p:cNvSpPr>
              <a:spLocks noChangeShapeType="1"/>
            </p:cNvSpPr>
            <p:nvPr/>
          </p:nvSpPr>
          <p:spPr bwMode="auto">
            <a:xfrm>
              <a:off x="1389" y="2607"/>
              <a:ext cx="0" cy="8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70665" name="Text Box 17"/>
            <p:cNvSpPr txBox="1">
              <a:spLocks noChangeArrowheads="1"/>
            </p:cNvSpPr>
            <p:nvPr/>
          </p:nvSpPr>
          <p:spPr bwMode="auto">
            <a:xfrm>
              <a:off x="336" y="2302"/>
              <a:ext cx="72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990033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600">
                  <a:solidFill>
                    <a:srgbClr val="80000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GB" altLang="en-US" sz="2000">
                  <a:latin typeface="Times New Roman" panose="02020603050405020304" pitchFamily="18" charset="0"/>
                </a:rPr>
                <a:t>Example:</a:t>
              </a: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3"/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1104900"/>
          </a:xfrm>
        </p:spPr>
        <p:txBody>
          <a:bodyPr/>
          <a:lstStyle/>
          <a:p>
            <a:r>
              <a:rPr lang="en-US" altLang="en-US" sz="4000" smtClean="0">
                <a:latin typeface="Times New Roman" panose="02020603050405020304" pitchFamily="18" charset="0"/>
              </a:rPr>
              <a:t>Functional Dependency</a:t>
            </a:r>
            <a:endParaRPr lang="en-US" altLang="en-US" smtClean="0"/>
          </a:p>
        </p:txBody>
      </p:sp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339725" y="1989138"/>
            <a:ext cx="4232275" cy="2293937"/>
            <a:chOff x="336" y="2302"/>
            <a:chExt cx="2116" cy="1137"/>
          </a:xfrm>
        </p:grpSpPr>
        <p:sp>
          <p:nvSpPr>
            <p:cNvPr id="72712" name="Text Box 8"/>
            <p:cNvSpPr txBox="1">
              <a:spLocks noChangeArrowheads="1"/>
            </p:cNvSpPr>
            <p:nvPr/>
          </p:nvSpPr>
          <p:spPr bwMode="auto">
            <a:xfrm>
              <a:off x="386" y="2598"/>
              <a:ext cx="2055" cy="836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990033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600">
                  <a:solidFill>
                    <a:srgbClr val="80000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GB" altLang="en-US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staffNo  job           dept   dname</a:t>
              </a:r>
              <a:r>
                <a:rPr lang="en-GB" altLang="en-US" sz="2000" b="1">
                  <a:latin typeface="Times New Roman" panose="02020603050405020304" pitchFamily="18" charset="0"/>
                </a:rPr>
                <a:t>        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GB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SL10     Salesman  10      Sales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GB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SA51    Manager    20     Accounts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GB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DS40    Clerk         20      Accounts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GB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OS45    Clerk         30      Operations</a:t>
              </a:r>
            </a:p>
          </p:txBody>
        </p:sp>
        <p:grpSp>
          <p:nvGrpSpPr>
            <p:cNvPr id="72713" name="Group 9"/>
            <p:cNvGrpSpPr>
              <a:grpSpLocks/>
            </p:cNvGrpSpPr>
            <p:nvPr/>
          </p:nvGrpSpPr>
          <p:grpSpPr bwMode="auto">
            <a:xfrm>
              <a:off x="401" y="2777"/>
              <a:ext cx="2051" cy="483"/>
              <a:chOff x="401" y="2777"/>
              <a:chExt cx="2051" cy="483"/>
            </a:xfrm>
          </p:grpSpPr>
          <p:sp>
            <p:nvSpPr>
              <p:cNvPr id="72718" name="Line 10"/>
              <p:cNvSpPr>
                <a:spLocks noChangeShapeType="1"/>
              </p:cNvSpPr>
              <p:nvPr/>
            </p:nvSpPr>
            <p:spPr bwMode="auto">
              <a:xfrm>
                <a:off x="401" y="2777"/>
                <a:ext cx="2031" cy="1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72719" name="Line 11"/>
              <p:cNvSpPr>
                <a:spLocks noChangeShapeType="1"/>
              </p:cNvSpPr>
              <p:nvPr/>
            </p:nvSpPr>
            <p:spPr bwMode="auto">
              <a:xfrm>
                <a:off x="402" y="2942"/>
                <a:ext cx="2042" cy="1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72720" name="Line 12"/>
              <p:cNvSpPr>
                <a:spLocks noChangeShapeType="1"/>
              </p:cNvSpPr>
              <p:nvPr/>
            </p:nvSpPr>
            <p:spPr bwMode="auto">
              <a:xfrm>
                <a:off x="403" y="3095"/>
                <a:ext cx="2049" cy="1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72721" name="Line 13"/>
              <p:cNvSpPr>
                <a:spLocks noChangeShapeType="1"/>
              </p:cNvSpPr>
              <p:nvPr/>
            </p:nvSpPr>
            <p:spPr bwMode="auto">
              <a:xfrm>
                <a:off x="403" y="3259"/>
                <a:ext cx="2049" cy="1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</p:grpSp>
        <p:sp>
          <p:nvSpPr>
            <p:cNvPr id="72714" name="Line 14"/>
            <p:cNvSpPr>
              <a:spLocks noChangeShapeType="1"/>
            </p:cNvSpPr>
            <p:nvPr/>
          </p:nvSpPr>
          <p:spPr bwMode="auto">
            <a:xfrm flipH="1">
              <a:off x="1705" y="2616"/>
              <a:ext cx="0" cy="82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72715" name="Line 15"/>
            <p:cNvSpPr>
              <a:spLocks noChangeShapeType="1"/>
            </p:cNvSpPr>
            <p:nvPr/>
          </p:nvSpPr>
          <p:spPr bwMode="auto">
            <a:xfrm>
              <a:off x="855" y="2597"/>
              <a:ext cx="1" cy="8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72716" name="Line 16"/>
            <p:cNvSpPr>
              <a:spLocks noChangeShapeType="1"/>
            </p:cNvSpPr>
            <p:nvPr/>
          </p:nvSpPr>
          <p:spPr bwMode="auto">
            <a:xfrm>
              <a:off x="1389" y="2607"/>
              <a:ext cx="0" cy="8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72717" name="Text Box 17"/>
            <p:cNvSpPr txBox="1">
              <a:spLocks noChangeArrowheads="1"/>
            </p:cNvSpPr>
            <p:nvPr/>
          </p:nvSpPr>
          <p:spPr bwMode="auto">
            <a:xfrm>
              <a:off x="336" y="2302"/>
              <a:ext cx="72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990033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600">
                  <a:solidFill>
                    <a:srgbClr val="80000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GB" altLang="en-US" sz="2000">
                  <a:latin typeface="Times New Roman" panose="02020603050405020304" pitchFamily="18" charset="0"/>
                </a:rPr>
                <a:t>Example:</a:t>
              </a:r>
            </a:p>
          </p:txBody>
        </p:sp>
      </p:grpSp>
      <p:grpSp>
        <p:nvGrpSpPr>
          <p:cNvPr id="4" name="Group 18"/>
          <p:cNvGrpSpPr>
            <a:grpSpLocks/>
          </p:cNvGrpSpPr>
          <p:nvPr/>
        </p:nvGrpSpPr>
        <p:grpSpPr bwMode="auto">
          <a:xfrm>
            <a:off x="4724400" y="4772025"/>
            <a:ext cx="2911475" cy="1647825"/>
            <a:chOff x="3120" y="2365"/>
            <a:chExt cx="1834" cy="1038"/>
          </a:xfrm>
        </p:grpSpPr>
        <p:sp>
          <p:nvSpPr>
            <p:cNvPr id="72709" name="Rectangle 19"/>
            <p:cNvSpPr>
              <a:spLocks noChangeArrowheads="1"/>
            </p:cNvSpPr>
            <p:nvPr/>
          </p:nvSpPr>
          <p:spPr bwMode="auto">
            <a:xfrm>
              <a:off x="3120" y="2365"/>
              <a:ext cx="1834" cy="103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990033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600">
                  <a:solidFill>
                    <a:srgbClr val="80000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solidFill>
                  <a:schemeClr val="tx1"/>
                </a:solidFill>
              </a:endParaRPr>
            </a:p>
          </p:txBody>
        </p:sp>
        <p:sp>
          <p:nvSpPr>
            <p:cNvPr id="72710" name="Text Box 20"/>
            <p:cNvSpPr txBox="1">
              <a:spLocks noChangeArrowheads="1"/>
            </p:cNvSpPr>
            <p:nvPr/>
          </p:nvSpPr>
          <p:spPr bwMode="auto">
            <a:xfrm>
              <a:off x="3179" y="2563"/>
              <a:ext cx="1304" cy="8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990033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600">
                  <a:solidFill>
                    <a:srgbClr val="80000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GB" altLang="en-US" sz="2000">
                  <a:solidFill>
                    <a:srgbClr val="000000"/>
                  </a:solidFill>
                  <a:latin typeface="Times New Roman" panose="02020603050405020304" pitchFamily="18" charset="0"/>
                </a:rPr>
                <a:t>staffNo </a:t>
              </a:r>
              <a:r>
                <a:rPr lang="en-US" altLang="en-US" sz="2000">
                  <a:solidFill>
                    <a:srgbClr val="000000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 job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solidFill>
                    <a:srgbClr val="000000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staffNo  dept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GB" altLang="en-US" sz="2000">
                  <a:solidFill>
                    <a:srgbClr val="000000"/>
                  </a:solidFill>
                  <a:latin typeface="Times New Roman" panose="02020603050405020304" pitchFamily="18" charset="0"/>
                </a:rPr>
                <a:t>staffNo </a:t>
              </a:r>
              <a:r>
                <a:rPr lang="en-US" altLang="en-US" sz="2000">
                  <a:solidFill>
                    <a:srgbClr val="000000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 dname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solidFill>
                    <a:srgbClr val="000000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dept  dname</a:t>
              </a:r>
              <a:r>
                <a:rPr lang="en-US" altLang="en-US" sz="2400">
                  <a:solidFill>
                    <a:srgbClr val="CF0E30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	 </a:t>
              </a:r>
              <a:endParaRPr lang="en-GB" altLang="en-US" sz="2400">
                <a:solidFill>
                  <a:srgbClr val="CF0E30"/>
                </a:solidFill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72711" name="Text Box 21"/>
            <p:cNvSpPr txBox="1">
              <a:spLocks noChangeArrowheads="1"/>
            </p:cNvSpPr>
            <p:nvPr/>
          </p:nvSpPr>
          <p:spPr bwMode="auto">
            <a:xfrm>
              <a:off x="3193" y="2365"/>
              <a:ext cx="173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990033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600">
                  <a:solidFill>
                    <a:srgbClr val="80000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GB" altLang="en-US" sz="2000" u="sng">
                  <a:solidFill>
                    <a:srgbClr val="CF0E30"/>
                  </a:solidFill>
                  <a:latin typeface="Times New Roman" panose="02020603050405020304" pitchFamily="18" charset="0"/>
                </a:rPr>
                <a:t>Functional Dependencies</a:t>
              </a: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Text Box 3"/>
          <p:cNvSpPr txBox="1">
            <a:spLocks noChangeArrowheads="1"/>
          </p:cNvSpPr>
          <p:nvPr/>
        </p:nvSpPr>
        <p:spPr bwMode="auto">
          <a:xfrm>
            <a:off x="914400" y="381000"/>
            <a:ext cx="7696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0000"/>
                </a:solidFill>
              </a:rPr>
              <a:t>Steps in normalization</a:t>
            </a:r>
          </a:p>
        </p:txBody>
      </p:sp>
      <p:pic>
        <p:nvPicPr>
          <p:cNvPr id="74755" name="Picture 4" descr="CAP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650" y="1557338"/>
            <a:ext cx="7497763" cy="5011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smtClean="0">
                <a:solidFill>
                  <a:srgbClr val="990033"/>
                </a:solidFill>
              </a:rPr>
              <a:t>Slide 10- </a:t>
            </a:r>
            <a:fld id="{6D2F5043-0A12-46D9-9DDC-F7F32B31FA79}" type="slidenum">
              <a:rPr lang="en-US" altLang="en-US" sz="1400" smtClean="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36</a:t>
            </a:fld>
            <a:endParaRPr lang="en-CA" altLang="en-US" sz="1400" smtClean="0">
              <a:solidFill>
                <a:srgbClr val="990033"/>
              </a:solidFill>
            </a:endParaRPr>
          </a:p>
        </p:txBody>
      </p:sp>
      <p:sp>
        <p:nvSpPr>
          <p:cNvPr id="76803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smtClean="0"/>
              <a:t>3 Normal Forms Based on Primary Keys </a:t>
            </a:r>
          </a:p>
        </p:txBody>
      </p:sp>
      <p:sp>
        <p:nvSpPr>
          <p:cNvPr id="76804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3.1	Normalization of Relations </a:t>
            </a:r>
          </a:p>
          <a:p>
            <a:pPr eaLnBrk="1" hangingPunct="1"/>
            <a:r>
              <a:rPr lang="en-US" altLang="en-US" smtClean="0"/>
              <a:t>3.2	Practical Use of Normal Forms </a:t>
            </a:r>
          </a:p>
          <a:p>
            <a:pPr eaLnBrk="1" hangingPunct="1"/>
            <a:r>
              <a:rPr lang="en-US" altLang="en-US" smtClean="0"/>
              <a:t>3.3	Definitions of Keys and Attributes Participating in Keys </a:t>
            </a:r>
          </a:p>
          <a:p>
            <a:pPr eaLnBrk="1" hangingPunct="1"/>
            <a:r>
              <a:rPr lang="en-US" altLang="en-US" smtClean="0"/>
              <a:t>3.4	First Normal Form</a:t>
            </a:r>
          </a:p>
          <a:p>
            <a:pPr eaLnBrk="1" hangingPunct="1"/>
            <a:r>
              <a:rPr lang="en-US" altLang="en-US" smtClean="0"/>
              <a:t>3.5	Second Normal Form</a:t>
            </a:r>
          </a:p>
          <a:p>
            <a:pPr eaLnBrk="1" hangingPunct="1"/>
            <a:r>
              <a:rPr lang="en-US" altLang="en-US" smtClean="0"/>
              <a:t>3.6	Third Normal Form</a:t>
            </a:r>
          </a:p>
          <a:p>
            <a:pPr eaLnBrk="1" hangingPunct="1"/>
            <a:endParaRPr lang="en-US" altLang="en-US" smtClean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smtClean="0">
                <a:solidFill>
                  <a:srgbClr val="990033"/>
                </a:solidFill>
              </a:rPr>
              <a:t>Slide 10- </a:t>
            </a:r>
            <a:fld id="{E6F8343A-6AA8-47A3-8829-96448BD3CEC0}" type="slidenum">
              <a:rPr lang="en-US" altLang="en-US" sz="1400" smtClean="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37</a:t>
            </a:fld>
            <a:endParaRPr lang="en-CA" altLang="en-US" sz="1400" smtClean="0">
              <a:solidFill>
                <a:srgbClr val="990033"/>
              </a:solidFill>
            </a:endParaRPr>
          </a:p>
        </p:txBody>
      </p:sp>
      <p:sp>
        <p:nvSpPr>
          <p:cNvPr id="78851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3.1 Normalization of Relations (1)</a:t>
            </a:r>
          </a:p>
        </p:txBody>
      </p:sp>
      <p:sp>
        <p:nvSpPr>
          <p:cNvPr id="78852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b="1" smtClean="0"/>
              <a:t>Normalization:</a:t>
            </a:r>
          </a:p>
          <a:p>
            <a:pPr lvl="1" eaLnBrk="1" hangingPunct="1"/>
            <a:r>
              <a:rPr lang="en-US" altLang="en-US" smtClean="0"/>
              <a:t>The process of decomposing unsatisfactory "bad" relations by breaking up their attributes into smaller relations</a:t>
            </a:r>
          </a:p>
          <a:p>
            <a:pPr eaLnBrk="1" hangingPunct="1"/>
            <a:endParaRPr lang="en-US" altLang="en-US" smtClean="0"/>
          </a:p>
          <a:p>
            <a:pPr eaLnBrk="1" hangingPunct="1"/>
            <a:r>
              <a:rPr lang="en-US" altLang="en-US" b="1" smtClean="0"/>
              <a:t>Normal form:</a:t>
            </a:r>
          </a:p>
          <a:p>
            <a:pPr lvl="1" eaLnBrk="1" hangingPunct="1"/>
            <a:r>
              <a:rPr lang="en-US" altLang="en-US" smtClean="0"/>
              <a:t>Condition using keys and FDs of a relation to certify whether a relational schema is in a particular normal form 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smtClean="0">
                <a:solidFill>
                  <a:srgbClr val="990033"/>
                </a:solidFill>
              </a:rPr>
              <a:t>Slide 10- </a:t>
            </a:r>
            <a:fld id="{3CDC542A-3BAD-4832-A57C-B0C26997A7CD}" type="slidenum">
              <a:rPr lang="en-US" altLang="en-US" sz="1400" smtClean="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38</a:t>
            </a:fld>
            <a:endParaRPr lang="en-CA" altLang="en-US" sz="1400" smtClean="0">
              <a:solidFill>
                <a:srgbClr val="990033"/>
              </a:solidFill>
            </a:endParaRPr>
          </a:p>
        </p:txBody>
      </p:sp>
      <p:sp>
        <p:nvSpPr>
          <p:cNvPr id="80899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Normalization of Relations (2)</a:t>
            </a:r>
          </a:p>
        </p:txBody>
      </p:sp>
      <p:sp>
        <p:nvSpPr>
          <p:cNvPr id="80900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2NF, 3NF, BCNF </a:t>
            </a:r>
          </a:p>
          <a:p>
            <a:pPr lvl="1" eaLnBrk="1" hangingPunct="1"/>
            <a:r>
              <a:rPr lang="en-US" altLang="en-US" smtClean="0"/>
              <a:t>based on keys and FDs of a relational schema</a:t>
            </a:r>
          </a:p>
          <a:p>
            <a:pPr eaLnBrk="1" hangingPunct="1"/>
            <a:r>
              <a:rPr lang="en-US" altLang="en-US" smtClean="0"/>
              <a:t>4NF</a:t>
            </a:r>
          </a:p>
          <a:p>
            <a:pPr lvl="1" eaLnBrk="1" hangingPunct="1"/>
            <a:r>
              <a:rPr lang="en-US" altLang="en-US" smtClean="0"/>
              <a:t>based on keys, multi-valued dependencies : MVDs; 5NF based on keys, join dependencies : JDs (Chapter 11)</a:t>
            </a:r>
          </a:p>
          <a:p>
            <a:pPr eaLnBrk="1" hangingPunct="1"/>
            <a:r>
              <a:rPr lang="en-US" altLang="en-US" smtClean="0"/>
              <a:t>Additional properties may be needed to ensure a good relational design (lossless join, dependency preservation; Chapter 11)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smtClean="0">
                <a:solidFill>
                  <a:srgbClr val="990033"/>
                </a:solidFill>
              </a:rPr>
              <a:t>Slide 10- </a:t>
            </a:r>
            <a:fld id="{39697212-C6DA-4C44-84FA-7485D480C54B}" type="slidenum">
              <a:rPr lang="en-US" altLang="en-US" sz="1400" smtClean="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39</a:t>
            </a:fld>
            <a:endParaRPr lang="en-CA" altLang="en-US" sz="1400" smtClean="0">
              <a:solidFill>
                <a:srgbClr val="990033"/>
              </a:solidFill>
            </a:endParaRPr>
          </a:p>
        </p:txBody>
      </p:sp>
      <p:sp>
        <p:nvSpPr>
          <p:cNvPr id="82947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3.2	Practical Use of Normal Forms</a:t>
            </a:r>
          </a:p>
        </p:txBody>
      </p:sp>
      <p:sp>
        <p:nvSpPr>
          <p:cNvPr id="82948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400" b="1" smtClean="0"/>
              <a:t>Normalization</a:t>
            </a:r>
            <a:r>
              <a:rPr lang="en-US" altLang="en-US" sz="2400" smtClean="0"/>
              <a:t> is carried out in practice so that the resulting designs are of high quality and meet the desirable properties 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400" smtClean="0"/>
              <a:t>The practical utility of these normal forms becomes questionable when the constraints on which they are based are </a:t>
            </a:r>
            <a:r>
              <a:rPr lang="en-US" altLang="en-US" sz="2400" i="1" smtClean="0"/>
              <a:t>hard to understand</a:t>
            </a:r>
            <a:r>
              <a:rPr lang="en-US" altLang="en-US" sz="2400" smtClean="0"/>
              <a:t> or to </a:t>
            </a:r>
            <a:r>
              <a:rPr lang="en-US" altLang="en-US" sz="2400" i="1" smtClean="0"/>
              <a:t>detect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400" smtClean="0"/>
              <a:t>The database designers </a:t>
            </a:r>
            <a:r>
              <a:rPr lang="en-US" altLang="en-US" sz="2400" i="1" smtClean="0"/>
              <a:t>need not</a:t>
            </a:r>
            <a:r>
              <a:rPr lang="en-US" altLang="en-US" sz="2400" smtClean="0"/>
              <a:t> normalize to the highest possible normal form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200" smtClean="0"/>
              <a:t>(usually up to 3NF, BCNF or 4NF)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400" b="1" smtClean="0"/>
              <a:t>Denormalization</a:t>
            </a:r>
            <a:r>
              <a:rPr lang="en-US" altLang="en-US" sz="2400" smtClean="0"/>
              <a:t>: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200" smtClean="0"/>
              <a:t>The process of storing the join of higher normal form relations as a base relation—which is in a lower normal form    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smtClean="0">
                <a:solidFill>
                  <a:srgbClr val="990033"/>
                </a:solidFill>
              </a:rPr>
              <a:t>Slide 10- </a:t>
            </a:r>
            <a:fld id="{FFAB9DB2-FD09-4BED-AB97-E72C5C695CDC}" type="slidenum">
              <a:rPr lang="en-US" altLang="en-US" sz="1400" smtClean="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40</a:t>
            </a:fld>
            <a:endParaRPr lang="en-CA" altLang="en-US" sz="1400" smtClean="0">
              <a:solidFill>
                <a:srgbClr val="990033"/>
              </a:solidFill>
            </a:endParaRPr>
          </a:p>
        </p:txBody>
      </p:sp>
      <p:sp>
        <p:nvSpPr>
          <p:cNvPr id="84995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3.2 First Normal Form </a:t>
            </a:r>
          </a:p>
        </p:txBody>
      </p:sp>
      <p:sp>
        <p:nvSpPr>
          <p:cNvPr id="84996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Disallows</a:t>
            </a:r>
          </a:p>
          <a:p>
            <a:pPr lvl="1" eaLnBrk="1" hangingPunct="1"/>
            <a:r>
              <a:rPr lang="en-US" altLang="en-US" smtClean="0"/>
              <a:t>composite attributes</a:t>
            </a:r>
          </a:p>
          <a:p>
            <a:pPr lvl="1" eaLnBrk="1" hangingPunct="1"/>
            <a:r>
              <a:rPr lang="en-US" altLang="en-US" smtClean="0"/>
              <a:t>multivalued attributes</a:t>
            </a:r>
          </a:p>
          <a:p>
            <a:pPr lvl="1" eaLnBrk="1" hangingPunct="1"/>
            <a:r>
              <a:rPr lang="en-US" altLang="en-US" b="1" smtClean="0"/>
              <a:t>nested relations</a:t>
            </a:r>
            <a:r>
              <a:rPr lang="en-US" altLang="en-US" smtClean="0"/>
              <a:t>; attributes whose values for an </a:t>
            </a:r>
            <a:r>
              <a:rPr lang="en-US" altLang="en-US" i="1" smtClean="0"/>
              <a:t>individual tuple</a:t>
            </a:r>
            <a:r>
              <a:rPr lang="en-US" altLang="en-US" smtClean="0"/>
              <a:t> are non-atomic</a:t>
            </a:r>
          </a:p>
          <a:p>
            <a:pPr eaLnBrk="1" hangingPunct="1"/>
            <a:endParaRPr lang="en-US" altLang="en-US" smtClean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Slide Number Placeholder 2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smtClean="0">
                <a:solidFill>
                  <a:srgbClr val="990033"/>
                </a:solidFill>
              </a:rPr>
              <a:t>Slide 10- </a:t>
            </a:r>
            <a:fld id="{484E800D-BAE8-48A8-9861-C70F4CEE1D72}" type="slidenum">
              <a:rPr lang="en-US" altLang="en-US" sz="1400" smtClean="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41</a:t>
            </a:fld>
            <a:endParaRPr lang="en-CA" altLang="en-US" sz="1400" smtClean="0">
              <a:solidFill>
                <a:srgbClr val="990033"/>
              </a:solidFill>
            </a:endParaRPr>
          </a:p>
        </p:txBody>
      </p:sp>
      <p:sp>
        <p:nvSpPr>
          <p:cNvPr id="87043" name="Rectangle 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Figure 10.8 Normalization into 1NF</a:t>
            </a:r>
          </a:p>
        </p:txBody>
      </p:sp>
      <p:sp>
        <p:nvSpPr>
          <p:cNvPr id="87044" name="Rectangle 4"/>
          <p:cNvSpPr>
            <a:spLocks noChangeArrowheads="1"/>
          </p:cNvSpPr>
          <p:nvPr/>
        </p:nvSpPr>
        <p:spPr bwMode="auto">
          <a:xfrm>
            <a:off x="1828800" y="13096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solidFill>
                <a:schemeClr val="tx1"/>
              </a:solidFill>
            </a:endParaRPr>
          </a:p>
        </p:txBody>
      </p:sp>
      <p:pic>
        <p:nvPicPr>
          <p:cNvPr id="87045" name="Picture 11" descr="fig10_0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1600200"/>
            <a:ext cx="6096000" cy="4670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Slide Number Placeholder 2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smtClean="0">
                <a:solidFill>
                  <a:srgbClr val="990033"/>
                </a:solidFill>
              </a:rPr>
              <a:t>Slide 10- </a:t>
            </a:r>
            <a:fld id="{6C7FB884-A397-4992-820A-D286287BF896}" type="slidenum">
              <a:rPr lang="en-US" altLang="en-US" sz="1400" smtClean="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42</a:t>
            </a:fld>
            <a:endParaRPr lang="en-CA" altLang="en-US" sz="1400" smtClean="0">
              <a:solidFill>
                <a:srgbClr val="990033"/>
              </a:solidFill>
            </a:endParaRPr>
          </a:p>
        </p:txBody>
      </p:sp>
      <p:sp>
        <p:nvSpPr>
          <p:cNvPr id="89091" name="Rectangle 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smtClean="0"/>
              <a:t>Figure 10.9 Normalization nested relations into 1NF</a:t>
            </a:r>
          </a:p>
        </p:txBody>
      </p:sp>
      <p:sp>
        <p:nvSpPr>
          <p:cNvPr id="89092" name="Rectangle 4"/>
          <p:cNvSpPr>
            <a:spLocks noChangeArrowheads="1"/>
          </p:cNvSpPr>
          <p:nvPr/>
        </p:nvSpPr>
        <p:spPr bwMode="auto">
          <a:xfrm>
            <a:off x="1828800" y="13096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solidFill>
                <a:schemeClr val="tx1"/>
              </a:solidFill>
            </a:endParaRPr>
          </a:p>
        </p:txBody>
      </p:sp>
      <p:pic>
        <p:nvPicPr>
          <p:cNvPr id="89093" name="Picture 11" descr="fig10_0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8713" y="1600200"/>
            <a:ext cx="4611687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Another Example: Bringing a Relation to 1NF</a:t>
            </a:r>
          </a:p>
        </p:txBody>
      </p:sp>
      <p:sp>
        <p:nvSpPr>
          <p:cNvPr id="91139" name="Slide Number Placeholder 2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smtClean="0">
                <a:solidFill>
                  <a:srgbClr val="990033"/>
                </a:solidFill>
              </a:rPr>
              <a:t>Slide 10- </a:t>
            </a:r>
            <a:fld id="{4031CC00-76D0-4DDA-93BF-CD0B81B84C89}" type="slidenum">
              <a:rPr lang="en-US" altLang="en-US" sz="1400" smtClean="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43</a:t>
            </a:fld>
            <a:endParaRPr lang="en-CA" altLang="en-US" sz="1400" smtClean="0">
              <a:solidFill>
                <a:srgbClr val="990033"/>
              </a:solidFill>
            </a:endParaRPr>
          </a:p>
        </p:txBody>
      </p:sp>
      <p:sp>
        <p:nvSpPr>
          <p:cNvPr id="91140" name="Rectangle 4"/>
          <p:cNvSpPr>
            <a:spLocks noChangeArrowheads="1"/>
          </p:cNvSpPr>
          <p:nvPr/>
        </p:nvSpPr>
        <p:spPr bwMode="auto">
          <a:xfrm>
            <a:off x="395288" y="1628775"/>
            <a:ext cx="80645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i="0">
                <a:solidFill>
                  <a:schemeClr val="tx1"/>
                </a:solidFill>
              </a:rPr>
              <a:t>Option 1: Make a determinant of the </a:t>
            </a:r>
            <a:r>
              <a:rPr lang="en-US" altLang="en-US" sz="2400" b="1" i="0">
                <a:solidFill>
                  <a:schemeClr val="tx1"/>
                </a:solidFill>
              </a:rPr>
              <a:t>repeating group </a:t>
            </a:r>
            <a:r>
              <a:rPr lang="en-US" altLang="en-US" sz="2400" i="0">
                <a:solidFill>
                  <a:schemeClr val="tx1"/>
                </a:solidFill>
              </a:rPr>
              <a:t>(or the multivalued attribute) a part of the primary key.</a:t>
            </a:r>
          </a:p>
        </p:txBody>
      </p:sp>
      <p:grpSp>
        <p:nvGrpSpPr>
          <p:cNvPr id="91141" name="Group 3"/>
          <p:cNvGrpSpPr>
            <a:grpSpLocks/>
          </p:cNvGrpSpPr>
          <p:nvPr/>
        </p:nvGrpSpPr>
        <p:grpSpPr bwMode="auto">
          <a:xfrm>
            <a:off x="1143000" y="3810000"/>
            <a:ext cx="6762750" cy="2393950"/>
            <a:chOff x="720" y="2160"/>
            <a:chExt cx="4260" cy="1508"/>
          </a:xfrm>
        </p:grpSpPr>
        <p:graphicFrame>
          <p:nvGraphicFramePr>
            <p:cNvPr id="91147" name="Object 4"/>
            <p:cNvGraphicFramePr>
              <a:graphicFrameLocks noChangeAspect="1"/>
            </p:cNvGraphicFramePr>
            <p:nvPr/>
          </p:nvGraphicFramePr>
          <p:xfrm>
            <a:off x="720" y="2160"/>
            <a:ext cx="4032" cy="15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1157" name="Worksheet" r:id="rId4" imgW="0" imgH="0" progId="Excel.Sheet.8">
                    <p:embed/>
                  </p:oleObj>
                </mc:Choice>
                <mc:Fallback>
                  <p:oleObj name="Worksheet" r:id="rId4" imgW="0" imgH="0" progId="Excel.Sheet.8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20" y="2160"/>
                          <a:ext cx="4032" cy="15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B2B2B2">
                                  <a:alpha val="50195"/>
                                </a:srgbClr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rgbClr val="3333CC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45791" dir="2021404" algn="ctr" rotWithShape="0">
                                  <a:srgbClr val="9999FF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91148" name="Group 5"/>
            <p:cNvGrpSpPr>
              <a:grpSpLocks/>
            </p:cNvGrpSpPr>
            <p:nvPr/>
          </p:nvGrpSpPr>
          <p:grpSpPr bwMode="auto">
            <a:xfrm>
              <a:off x="3033" y="2445"/>
              <a:ext cx="1008" cy="144"/>
              <a:chOff x="1200" y="2448"/>
              <a:chExt cx="816" cy="144"/>
            </a:xfrm>
          </p:grpSpPr>
          <p:sp>
            <p:nvSpPr>
              <p:cNvPr id="30" name="Line 6">
                <a:extLst>
                  <a:ext uri="{FF2B5EF4-FFF2-40B4-BE49-F238E27FC236}">
                    <a16:creationId xmlns:a16="http://schemas.microsoft.com/office/drawing/2014/main" id="{2351792B-84D7-8340-9729-E547B19D2E6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200" y="2448"/>
                <a:ext cx="0" cy="144"/>
              </a:xfrm>
              <a:prstGeom prst="line">
                <a:avLst/>
              </a:prstGeom>
              <a:noFill/>
              <a:ln w="28575">
                <a:solidFill>
                  <a:sysClr val="windowText" lastClr="000000"/>
                </a:solidFill>
                <a:round/>
                <a:headEnd/>
                <a:tailEnd/>
              </a:ln>
              <a:effectLst/>
            </p:spPr>
            <p:txBody>
              <a:bodyPr anchor="b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800" i="0" kern="0">
                  <a:solidFill>
                    <a:prstClr val="black"/>
                  </a:solidFill>
                  <a:latin typeface="Century Schoolbook"/>
                </a:endParaRPr>
              </a:p>
            </p:txBody>
          </p:sp>
          <p:sp>
            <p:nvSpPr>
              <p:cNvPr id="31" name="Line 7">
                <a:extLst>
                  <a:ext uri="{FF2B5EF4-FFF2-40B4-BE49-F238E27FC236}">
                    <a16:creationId xmlns:a16="http://schemas.microsoft.com/office/drawing/2014/main" id="{0AB006D2-F9BE-CD46-99D8-AEE56D1B6F6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200" y="2448"/>
                <a:ext cx="816" cy="0"/>
              </a:xfrm>
              <a:prstGeom prst="line">
                <a:avLst/>
              </a:prstGeom>
              <a:noFill/>
              <a:ln w="28575">
                <a:solidFill>
                  <a:sysClr val="windowText" lastClr="000000"/>
                </a:solidFill>
                <a:round/>
                <a:headEnd/>
                <a:tailEnd/>
              </a:ln>
              <a:effectLst/>
            </p:spPr>
            <p:txBody>
              <a:bodyPr anchor="b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800" i="0" kern="0">
                  <a:solidFill>
                    <a:prstClr val="black"/>
                  </a:solidFill>
                  <a:latin typeface="Century Schoolbook"/>
                </a:endParaRPr>
              </a:p>
            </p:txBody>
          </p:sp>
          <p:sp>
            <p:nvSpPr>
              <p:cNvPr id="32" name="Line 8">
                <a:extLst>
                  <a:ext uri="{FF2B5EF4-FFF2-40B4-BE49-F238E27FC236}">
                    <a16:creationId xmlns:a16="http://schemas.microsoft.com/office/drawing/2014/main" id="{083EA23C-89CE-7441-9B05-DF0C75BE46D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16" y="2448"/>
                <a:ext cx="0" cy="144"/>
              </a:xfrm>
              <a:prstGeom prst="line">
                <a:avLst/>
              </a:prstGeom>
              <a:noFill/>
              <a:ln w="28575">
                <a:solidFill>
                  <a:sysClr val="windowText" lastClr="000000"/>
                </a:solidFill>
                <a:round/>
                <a:headEnd/>
                <a:tailEnd type="triangle" w="med" len="med"/>
              </a:ln>
              <a:effectLst/>
            </p:spPr>
            <p:txBody>
              <a:bodyPr anchor="b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800" i="0" kern="0">
                  <a:solidFill>
                    <a:prstClr val="black"/>
                  </a:solidFill>
                  <a:latin typeface="Century Schoolbook"/>
                </a:endParaRPr>
              </a:p>
            </p:txBody>
          </p:sp>
        </p:grpSp>
        <p:sp>
          <p:nvSpPr>
            <p:cNvPr id="25" name="Oval 9">
              <a:extLst>
                <a:ext uri="{FF2B5EF4-FFF2-40B4-BE49-F238E27FC236}">
                  <a16:creationId xmlns:a16="http://schemas.microsoft.com/office/drawing/2014/main" id="{314101A9-E46A-CF40-9F5B-7101B70A50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29" y="2277"/>
              <a:ext cx="2451" cy="912"/>
            </a:xfrm>
            <a:prstGeom prst="ellipse">
              <a:avLst/>
            </a:prstGeom>
            <a:noFill/>
            <a:ln w="28575">
              <a:solidFill>
                <a:srgbClr val="575F6D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 i="0" kern="0">
                <a:solidFill>
                  <a:prstClr val="black"/>
                </a:solidFill>
                <a:latin typeface="Century Schoolbook"/>
              </a:endParaRPr>
            </a:p>
          </p:txBody>
        </p:sp>
        <p:grpSp>
          <p:nvGrpSpPr>
            <p:cNvPr id="91150" name="Group 10"/>
            <p:cNvGrpSpPr>
              <a:grpSpLocks/>
            </p:cNvGrpSpPr>
            <p:nvPr/>
          </p:nvGrpSpPr>
          <p:grpSpPr bwMode="auto">
            <a:xfrm>
              <a:off x="1008" y="2448"/>
              <a:ext cx="1008" cy="144"/>
              <a:chOff x="1200" y="2448"/>
              <a:chExt cx="816" cy="144"/>
            </a:xfrm>
          </p:grpSpPr>
          <p:sp>
            <p:nvSpPr>
              <p:cNvPr id="27" name="Line 11">
                <a:extLst>
                  <a:ext uri="{FF2B5EF4-FFF2-40B4-BE49-F238E27FC236}">
                    <a16:creationId xmlns:a16="http://schemas.microsoft.com/office/drawing/2014/main" id="{5A85CAD0-3E28-484D-AB0F-1BAFD635C1D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200" y="2448"/>
                <a:ext cx="0" cy="144"/>
              </a:xfrm>
              <a:prstGeom prst="line">
                <a:avLst/>
              </a:prstGeom>
              <a:noFill/>
              <a:ln w="28575">
                <a:solidFill>
                  <a:sysClr val="windowText" lastClr="000000"/>
                </a:solidFill>
                <a:round/>
                <a:headEnd/>
                <a:tailEnd/>
              </a:ln>
              <a:effectLst/>
            </p:spPr>
            <p:txBody>
              <a:bodyPr anchor="b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800" i="0" kern="0">
                  <a:solidFill>
                    <a:prstClr val="black"/>
                  </a:solidFill>
                  <a:latin typeface="Century Schoolbook"/>
                </a:endParaRPr>
              </a:p>
            </p:txBody>
          </p:sp>
          <p:sp>
            <p:nvSpPr>
              <p:cNvPr id="28" name="Line 12">
                <a:extLst>
                  <a:ext uri="{FF2B5EF4-FFF2-40B4-BE49-F238E27FC236}">
                    <a16:creationId xmlns:a16="http://schemas.microsoft.com/office/drawing/2014/main" id="{0BE66224-6C27-DF4F-8CCB-CBD8EE641AF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200" y="2448"/>
                <a:ext cx="816" cy="0"/>
              </a:xfrm>
              <a:prstGeom prst="line">
                <a:avLst/>
              </a:prstGeom>
              <a:noFill/>
              <a:ln w="28575">
                <a:solidFill>
                  <a:sysClr val="windowText" lastClr="000000"/>
                </a:solidFill>
                <a:round/>
                <a:headEnd/>
                <a:tailEnd/>
              </a:ln>
              <a:effectLst/>
            </p:spPr>
            <p:txBody>
              <a:bodyPr anchor="b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800" i="0" kern="0">
                  <a:solidFill>
                    <a:prstClr val="black"/>
                  </a:solidFill>
                  <a:latin typeface="Century Schoolbook"/>
                </a:endParaRPr>
              </a:p>
            </p:txBody>
          </p:sp>
          <p:sp>
            <p:nvSpPr>
              <p:cNvPr id="29" name="Line 13">
                <a:extLst>
                  <a:ext uri="{FF2B5EF4-FFF2-40B4-BE49-F238E27FC236}">
                    <a16:creationId xmlns:a16="http://schemas.microsoft.com/office/drawing/2014/main" id="{B094F143-3BE4-614E-9E58-24E2B901DA7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16" y="2448"/>
                <a:ext cx="0" cy="144"/>
              </a:xfrm>
              <a:prstGeom prst="line">
                <a:avLst/>
              </a:prstGeom>
              <a:noFill/>
              <a:ln w="28575">
                <a:solidFill>
                  <a:sysClr val="windowText" lastClr="000000"/>
                </a:solidFill>
                <a:round/>
                <a:headEnd/>
                <a:tailEnd type="triangle" w="med" len="med"/>
              </a:ln>
              <a:effectLst/>
            </p:spPr>
            <p:txBody>
              <a:bodyPr anchor="b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800" i="0" kern="0">
                  <a:solidFill>
                    <a:prstClr val="black"/>
                  </a:solidFill>
                  <a:latin typeface="Century Schoolbook"/>
                </a:endParaRPr>
              </a:p>
            </p:txBody>
          </p:sp>
        </p:grpSp>
      </p:grpSp>
      <p:grpSp>
        <p:nvGrpSpPr>
          <p:cNvPr id="33" name="Group 15"/>
          <p:cNvGrpSpPr>
            <a:grpSpLocks/>
          </p:cNvGrpSpPr>
          <p:nvPr/>
        </p:nvGrpSpPr>
        <p:grpSpPr bwMode="auto">
          <a:xfrm>
            <a:off x="1876425" y="3038475"/>
            <a:ext cx="3457575" cy="1576388"/>
            <a:chOff x="1233" y="1350"/>
            <a:chExt cx="2178" cy="1233"/>
          </a:xfrm>
        </p:grpSpPr>
        <p:sp>
          <p:nvSpPr>
            <p:cNvPr id="34" name="AutoShape 16">
              <a:extLst>
                <a:ext uri="{FF2B5EF4-FFF2-40B4-BE49-F238E27FC236}">
                  <a16:creationId xmlns:a16="http://schemas.microsoft.com/office/drawing/2014/main" id="{2979F6B9-EDC8-D744-836F-B997139E10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1350"/>
              <a:ext cx="1539" cy="546"/>
            </a:xfrm>
            <a:prstGeom prst="wedgeEllipseCallout">
              <a:avLst>
                <a:gd name="adj1" fmla="val -12574"/>
                <a:gd name="adj2" fmla="val 106958"/>
              </a:avLst>
            </a:prstGeom>
            <a:solidFill>
              <a:srgbClr val="FFF39D"/>
            </a:solidFill>
            <a:ln w="12700">
              <a:solidFill>
                <a:srgbClr val="575F6D"/>
              </a:solidFill>
              <a:miter lim="800000"/>
              <a:headEnd/>
              <a:tailEnd/>
            </a:ln>
            <a:effectLst/>
          </p:spPr>
          <p:txBody>
            <a:bodyPr anchor="b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800" b="1" i="0" kern="0">
                  <a:solidFill>
                    <a:srgbClr val="575F6D"/>
                  </a:solidFill>
                  <a:latin typeface="Century Schoolbook"/>
                </a:rPr>
                <a:t>Composite Primary Key</a:t>
              </a:r>
            </a:p>
          </p:txBody>
        </p:sp>
        <p:sp>
          <p:nvSpPr>
            <p:cNvPr id="35" name="Line 17">
              <a:extLst>
                <a:ext uri="{FF2B5EF4-FFF2-40B4-BE49-F238E27FC236}">
                  <a16:creationId xmlns:a16="http://schemas.microsoft.com/office/drawing/2014/main" id="{7EA44B84-0EB7-5D40-8693-9DF8B6367A1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33" y="2196"/>
              <a:ext cx="1215" cy="387"/>
            </a:xfrm>
            <a:prstGeom prst="line">
              <a:avLst/>
            </a:prstGeom>
            <a:noFill/>
            <a:ln w="38100">
              <a:solidFill>
                <a:srgbClr val="575F6D"/>
              </a:solidFill>
              <a:round/>
              <a:headEnd/>
              <a:tailEnd type="triangle" w="med" len="med"/>
            </a:ln>
            <a:effectLst/>
          </p:spPr>
          <p:txBody>
            <a:bodyPr anchor="b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 i="0" kern="0">
                <a:solidFill>
                  <a:prstClr val="black"/>
                </a:solidFill>
                <a:latin typeface="Century Schoolbook"/>
              </a:endParaRPr>
            </a:p>
          </p:txBody>
        </p:sp>
        <p:sp>
          <p:nvSpPr>
            <p:cNvPr id="36" name="Line 18">
              <a:extLst>
                <a:ext uri="{FF2B5EF4-FFF2-40B4-BE49-F238E27FC236}">
                  <a16:creationId xmlns:a16="http://schemas.microsoft.com/office/drawing/2014/main" id="{A516F466-E7CE-1249-B828-E630DE2A30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72" y="2184"/>
              <a:ext cx="387" cy="396"/>
            </a:xfrm>
            <a:prstGeom prst="line">
              <a:avLst/>
            </a:prstGeom>
            <a:noFill/>
            <a:ln w="38100">
              <a:solidFill>
                <a:srgbClr val="575F6D"/>
              </a:solidFill>
              <a:round/>
              <a:headEnd/>
              <a:tailEnd type="triangle" w="med" len="med"/>
            </a:ln>
            <a:effectLst/>
          </p:spPr>
          <p:txBody>
            <a:bodyPr anchor="b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 i="0" kern="0">
                <a:solidFill>
                  <a:prstClr val="black"/>
                </a:solidFill>
                <a:latin typeface="Century Schoolbook"/>
              </a:endParaRPr>
            </a:p>
          </p:txBody>
        </p:sp>
      </p:grpSp>
      <p:sp>
        <p:nvSpPr>
          <p:cNvPr id="37" name="Line 19"/>
          <p:cNvSpPr>
            <a:spLocks noChangeShapeType="1"/>
          </p:cNvSpPr>
          <p:nvPr/>
        </p:nvSpPr>
        <p:spPr bwMode="auto">
          <a:xfrm>
            <a:off x="4114800" y="4843463"/>
            <a:ext cx="121920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b"/>
          <a:lstStyle/>
          <a:p>
            <a:endParaRPr lang="en-GB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Another Example: Bringing a Relation to 1NF</a:t>
            </a:r>
          </a:p>
        </p:txBody>
      </p:sp>
      <p:sp>
        <p:nvSpPr>
          <p:cNvPr id="93187" name="Slide Number Placeholder 2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smtClean="0">
                <a:solidFill>
                  <a:srgbClr val="990033"/>
                </a:solidFill>
              </a:rPr>
              <a:t>Slide 10- </a:t>
            </a:r>
            <a:fld id="{7DA4762F-2C14-4362-9918-2CB29DEC3F96}" type="slidenum">
              <a:rPr lang="en-US" altLang="en-US" sz="1400" smtClean="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44</a:t>
            </a:fld>
            <a:endParaRPr lang="en-CA" altLang="en-US" sz="1400" smtClean="0">
              <a:solidFill>
                <a:srgbClr val="990033"/>
              </a:solidFill>
            </a:endParaRPr>
          </a:p>
        </p:txBody>
      </p:sp>
      <p:sp>
        <p:nvSpPr>
          <p:cNvPr id="93188" name="Rectangle 3"/>
          <p:cNvSpPr txBox="1">
            <a:spLocks noChangeArrowheads="1"/>
          </p:cNvSpPr>
          <p:nvPr/>
        </p:nvSpPr>
        <p:spPr bwMode="auto">
          <a:xfrm>
            <a:off x="228600" y="1471613"/>
            <a:ext cx="7696200" cy="237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sz="2400" i="0"/>
              <a:t>Option 2: Remove the entire repeating group from the relation. </a:t>
            </a:r>
          </a:p>
          <a:p>
            <a:pPr lvl="1">
              <a:lnSpc>
                <a:spcPct val="90000"/>
              </a:lnSpc>
            </a:pPr>
            <a:r>
              <a:rPr lang="en-US" altLang="en-US" sz="1900" i="0"/>
              <a:t>Create another relation which would contain all the attributes of the repeating group, plus the primary key from the first relation.</a:t>
            </a:r>
          </a:p>
          <a:p>
            <a:pPr lvl="1">
              <a:lnSpc>
                <a:spcPct val="90000"/>
              </a:lnSpc>
            </a:pPr>
            <a:r>
              <a:rPr lang="en-US" altLang="en-US" sz="1900" i="0"/>
              <a:t>In this new relation, the primary key from the original relation and the determinant of the repeating group will comprise a primary key. </a:t>
            </a:r>
          </a:p>
        </p:txBody>
      </p:sp>
      <p:grpSp>
        <p:nvGrpSpPr>
          <p:cNvPr id="93189" name="Group 4"/>
          <p:cNvGrpSpPr>
            <a:grpSpLocks/>
          </p:cNvGrpSpPr>
          <p:nvPr/>
        </p:nvGrpSpPr>
        <p:grpSpPr bwMode="auto">
          <a:xfrm>
            <a:off x="1071563" y="3957638"/>
            <a:ext cx="6734175" cy="2179637"/>
            <a:chOff x="675" y="2493"/>
            <a:chExt cx="4242" cy="1373"/>
          </a:xfrm>
        </p:grpSpPr>
        <p:graphicFrame>
          <p:nvGraphicFramePr>
            <p:cNvPr id="93190" name="Object 5"/>
            <p:cNvGraphicFramePr>
              <a:graphicFrameLocks noChangeAspect="1"/>
            </p:cNvGraphicFramePr>
            <p:nvPr/>
          </p:nvGraphicFramePr>
          <p:xfrm>
            <a:off x="675" y="2493"/>
            <a:ext cx="4032" cy="13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3200" name="Worksheet" r:id="rId4" imgW="0" imgH="0" progId="Excel.Sheet.8">
                    <p:embed/>
                  </p:oleObj>
                </mc:Choice>
                <mc:Fallback>
                  <p:oleObj name="Worksheet" r:id="rId4" imgW="0" imgH="0" progId="Excel.Sheet.8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75" y="2493"/>
                          <a:ext cx="4032" cy="137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B2B2B2">
                                  <a:alpha val="50195"/>
                                </a:srgbClr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rgbClr val="3333CC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45791" dir="2021404" algn="ctr" rotWithShape="0">
                                  <a:srgbClr val="9999FF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93191" name="Group 6"/>
            <p:cNvGrpSpPr>
              <a:grpSpLocks/>
            </p:cNvGrpSpPr>
            <p:nvPr/>
          </p:nvGrpSpPr>
          <p:grpSpPr bwMode="auto">
            <a:xfrm>
              <a:off x="2970" y="2742"/>
              <a:ext cx="1008" cy="144"/>
              <a:chOff x="1200" y="2448"/>
              <a:chExt cx="816" cy="144"/>
            </a:xfrm>
          </p:grpSpPr>
          <p:sp>
            <p:nvSpPr>
              <p:cNvPr id="93197" name="Line 7"/>
              <p:cNvSpPr>
                <a:spLocks noChangeShapeType="1"/>
              </p:cNvSpPr>
              <p:nvPr/>
            </p:nvSpPr>
            <p:spPr bwMode="auto">
              <a:xfrm flipV="1">
                <a:off x="1200" y="2448"/>
                <a:ext cx="0" cy="14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b"/>
              <a:lstStyle/>
              <a:p>
                <a:endParaRPr lang="en-GB"/>
              </a:p>
            </p:txBody>
          </p:sp>
          <p:sp>
            <p:nvSpPr>
              <p:cNvPr id="93198" name="Line 8"/>
              <p:cNvSpPr>
                <a:spLocks noChangeShapeType="1"/>
              </p:cNvSpPr>
              <p:nvPr/>
            </p:nvSpPr>
            <p:spPr bwMode="auto">
              <a:xfrm flipH="1">
                <a:off x="1200" y="2448"/>
                <a:ext cx="81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b"/>
              <a:lstStyle/>
              <a:p>
                <a:endParaRPr lang="en-GB"/>
              </a:p>
            </p:txBody>
          </p:sp>
          <p:sp>
            <p:nvSpPr>
              <p:cNvPr id="93199" name="Line 9"/>
              <p:cNvSpPr>
                <a:spLocks noChangeShapeType="1"/>
              </p:cNvSpPr>
              <p:nvPr/>
            </p:nvSpPr>
            <p:spPr bwMode="auto">
              <a:xfrm>
                <a:off x="2016" y="2448"/>
                <a:ext cx="0" cy="14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b"/>
              <a:lstStyle/>
              <a:p>
                <a:endParaRPr lang="en-GB"/>
              </a:p>
            </p:txBody>
          </p:sp>
        </p:grpSp>
        <p:sp>
          <p:nvSpPr>
            <p:cNvPr id="93192" name="Oval 10"/>
            <p:cNvSpPr>
              <a:spLocks noChangeArrowheads="1"/>
            </p:cNvSpPr>
            <p:nvPr/>
          </p:nvSpPr>
          <p:spPr bwMode="auto">
            <a:xfrm>
              <a:off x="2466" y="2574"/>
              <a:ext cx="2451" cy="912"/>
            </a:xfrm>
            <a:prstGeom prst="ellips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990033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600">
                  <a:solidFill>
                    <a:srgbClr val="80000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solidFill>
                  <a:schemeClr val="tx1"/>
                </a:solidFill>
              </a:endParaRPr>
            </a:p>
          </p:txBody>
        </p:sp>
        <p:grpSp>
          <p:nvGrpSpPr>
            <p:cNvPr id="93193" name="Group 11"/>
            <p:cNvGrpSpPr>
              <a:grpSpLocks/>
            </p:cNvGrpSpPr>
            <p:nvPr/>
          </p:nvGrpSpPr>
          <p:grpSpPr bwMode="auto">
            <a:xfrm>
              <a:off x="945" y="2745"/>
              <a:ext cx="1008" cy="144"/>
              <a:chOff x="1200" y="2448"/>
              <a:chExt cx="816" cy="144"/>
            </a:xfrm>
          </p:grpSpPr>
          <p:sp>
            <p:nvSpPr>
              <p:cNvPr id="93194" name="Line 12"/>
              <p:cNvSpPr>
                <a:spLocks noChangeShapeType="1"/>
              </p:cNvSpPr>
              <p:nvPr/>
            </p:nvSpPr>
            <p:spPr bwMode="auto">
              <a:xfrm flipV="1">
                <a:off x="1200" y="2448"/>
                <a:ext cx="0" cy="14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b"/>
              <a:lstStyle/>
              <a:p>
                <a:endParaRPr lang="en-GB"/>
              </a:p>
            </p:txBody>
          </p:sp>
          <p:sp>
            <p:nvSpPr>
              <p:cNvPr id="93195" name="Line 13"/>
              <p:cNvSpPr>
                <a:spLocks noChangeShapeType="1"/>
              </p:cNvSpPr>
              <p:nvPr/>
            </p:nvSpPr>
            <p:spPr bwMode="auto">
              <a:xfrm flipH="1">
                <a:off x="1200" y="2448"/>
                <a:ext cx="81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b"/>
              <a:lstStyle/>
              <a:p>
                <a:endParaRPr lang="en-GB"/>
              </a:p>
            </p:txBody>
          </p:sp>
          <p:sp>
            <p:nvSpPr>
              <p:cNvPr id="93196" name="Line 14"/>
              <p:cNvSpPr>
                <a:spLocks noChangeShapeType="1"/>
              </p:cNvSpPr>
              <p:nvPr/>
            </p:nvSpPr>
            <p:spPr bwMode="auto">
              <a:xfrm>
                <a:off x="2016" y="2448"/>
                <a:ext cx="0" cy="14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b"/>
              <a:lstStyle/>
              <a:p>
                <a:endParaRPr lang="en-GB"/>
              </a:p>
            </p:txBody>
          </p:sp>
        </p:grpSp>
      </p:grp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Another Example: Bringing a Relation to 1NF</a:t>
            </a:r>
          </a:p>
        </p:txBody>
      </p:sp>
      <p:sp>
        <p:nvSpPr>
          <p:cNvPr id="95235" name="Slide Number Placeholder 2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smtClean="0">
                <a:solidFill>
                  <a:srgbClr val="990033"/>
                </a:solidFill>
              </a:rPr>
              <a:t>Slide 10- </a:t>
            </a:r>
            <a:fld id="{897F3AD0-4EFF-4876-8E67-8A37822F1D34}" type="slidenum">
              <a:rPr lang="en-US" altLang="en-US" sz="1400" smtClean="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45</a:t>
            </a:fld>
            <a:endParaRPr lang="en-CA" altLang="en-US" sz="1400" smtClean="0">
              <a:solidFill>
                <a:srgbClr val="990033"/>
              </a:solidFill>
            </a:endParaRPr>
          </a:p>
        </p:txBody>
      </p:sp>
      <p:grpSp>
        <p:nvGrpSpPr>
          <p:cNvPr id="4" name="Group 3"/>
          <p:cNvGrpSpPr>
            <a:grpSpLocks/>
          </p:cNvGrpSpPr>
          <p:nvPr/>
        </p:nvGrpSpPr>
        <p:grpSpPr bwMode="auto">
          <a:xfrm>
            <a:off x="1579563" y="4067175"/>
            <a:ext cx="5118100" cy="1944688"/>
            <a:chOff x="995" y="2562"/>
            <a:chExt cx="3224" cy="1225"/>
          </a:xfrm>
        </p:grpSpPr>
        <p:graphicFrame>
          <p:nvGraphicFramePr>
            <p:cNvPr id="95243" name="Object 4"/>
            <p:cNvGraphicFramePr>
              <a:graphicFrameLocks noChangeAspect="1"/>
            </p:cNvGraphicFramePr>
            <p:nvPr/>
          </p:nvGraphicFramePr>
          <p:xfrm>
            <a:off x="995" y="2562"/>
            <a:ext cx="3224" cy="12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5248" name="Worksheet" r:id="rId4" imgW="0" imgH="0" progId="Excel.Sheet.8">
                    <p:embed/>
                  </p:oleObj>
                </mc:Choice>
                <mc:Fallback>
                  <p:oleObj name="Worksheet" r:id="rId4" imgW="0" imgH="0" progId="Excel.Sheet.8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95" y="2562"/>
                          <a:ext cx="3224" cy="12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B2B2B2">
                                  <a:alpha val="50195"/>
                                </a:srgbClr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rgbClr val="3333CC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45791" dir="2021404" algn="ctr" rotWithShape="0">
                                  <a:srgbClr val="9999FF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95244" name="Group 5"/>
            <p:cNvGrpSpPr>
              <a:grpSpLocks/>
            </p:cNvGrpSpPr>
            <p:nvPr/>
          </p:nvGrpSpPr>
          <p:grpSpPr bwMode="auto">
            <a:xfrm>
              <a:off x="2277" y="2751"/>
              <a:ext cx="1008" cy="144"/>
              <a:chOff x="1200" y="2448"/>
              <a:chExt cx="816" cy="144"/>
            </a:xfrm>
          </p:grpSpPr>
          <p:sp>
            <p:nvSpPr>
              <p:cNvPr id="95245" name="Line 6"/>
              <p:cNvSpPr>
                <a:spLocks noChangeShapeType="1"/>
              </p:cNvSpPr>
              <p:nvPr/>
            </p:nvSpPr>
            <p:spPr bwMode="auto">
              <a:xfrm flipV="1">
                <a:off x="1200" y="2448"/>
                <a:ext cx="0" cy="14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b"/>
              <a:lstStyle/>
              <a:p>
                <a:endParaRPr lang="en-GB"/>
              </a:p>
            </p:txBody>
          </p:sp>
          <p:sp>
            <p:nvSpPr>
              <p:cNvPr id="95246" name="Line 7"/>
              <p:cNvSpPr>
                <a:spLocks noChangeShapeType="1"/>
              </p:cNvSpPr>
              <p:nvPr/>
            </p:nvSpPr>
            <p:spPr bwMode="auto">
              <a:xfrm flipH="1">
                <a:off x="1200" y="2448"/>
                <a:ext cx="81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b"/>
              <a:lstStyle/>
              <a:p>
                <a:endParaRPr lang="en-GB"/>
              </a:p>
            </p:txBody>
          </p:sp>
          <p:sp>
            <p:nvSpPr>
              <p:cNvPr id="95247" name="Line 8"/>
              <p:cNvSpPr>
                <a:spLocks noChangeShapeType="1"/>
              </p:cNvSpPr>
              <p:nvPr/>
            </p:nvSpPr>
            <p:spPr bwMode="auto">
              <a:xfrm>
                <a:off x="2016" y="2448"/>
                <a:ext cx="0" cy="14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b"/>
              <a:lstStyle/>
              <a:p>
                <a:endParaRPr lang="en-GB"/>
              </a:p>
            </p:txBody>
          </p:sp>
        </p:grpSp>
      </p:grpSp>
      <p:grpSp>
        <p:nvGrpSpPr>
          <p:cNvPr id="10" name="Group 9"/>
          <p:cNvGrpSpPr>
            <a:grpSpLocks/>
          </p:cNvGrpSpPr>
          <p:nvPr/>
        </p:nvGrpSpPr>
        <p:grpSpPr bwMode="auto">
          <a:xfrm>
            <a:off x="2562225" y="1624013"/>
            <a:ext cx="2803525" cy="1973262"/>
            <a:chOff x="1614" y="1023"/>
            <a:chExt cx="1766" cy="1243"/>
          </a:xfrm>
        </p:grpSpPr>
        <p:graphicFrame>
          <p:nvGraphicFramePr>
            <p:cNvPr id="95238" name="Object 10"/>
            <p:cNvGraphicFramePr>
              <a:graphicFrameLocks noChangeAspect="1"/>
            </p:cNvGraphicFramePr>
            <p:nvPr/>
          </p:nvGraphicFramePr>
          <p:xfrm>
            <a:off x="1614" y="1023"/>
            <a:ext cx="1766" cy="12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5249" name="Worksheet" r:id="rId6" imgW="0" imgH="0" progId="Excel.Sheet.8">
                    <p:embed/>
                  </p:oleObj>
                </mc:Choice>
                <mc:Fallback>
                  <p:oleObj name="Worksheet" r:id="rId6" imgW="0" imgH="0" progId="Excel.Sheet.8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14" y="1023"/>
                          <a:ext cx="1766" cy="124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B2B2B2">
                                  <a:alpha val="50195"/>
                                </a:srgbClr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rgbClr val="3333CC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45791" dir="2021404" algn="ctr" rotWithShape="0">
                                  <a:srgbClr val="9999FF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95239" name="Group 11"/>
            <p:cNvGrpSpPr>
              <a:grpSpLocks/>
            </p:cNvGrpSpPr>
            <p:nvPr/>
          </p:nvGrpSpPr>
          <p:grpSpPr bwMode="auto">
            <a:xfrm>
              <a:off x="1971" y="1242"/>
              <a:ext cx="1008" cy="144"/>
              <a:chOff x="1200" y="2448"/>
              <a:chExt cx="816" cy="144"/>
            </a:xfrm>
          </p:grpSpPr>
          <p:sp>
            <p:nvSpPr>
              <p:cNvPr id="95240" name="Line 12"/>
              <p:cNvSpPr>
                <a:spLocks noChangeShapeType="1"/>
              </p:cNvSpPr>
              <p:nvPr/>
            </p:nvSpPr>
            <p:spPr bwMode="auto">
              <a:xfrm flipV="1">
                <a:off x="1200" y="2448"/>
                <a:ext cx="0" cy="14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b"/>
              <a:lstStyle/>
              <a:p>
                <a:endParaRPr lang="en-GB"/>
              </a:p>
            </p:txBody>
          </p:sp>
          <p:sp>
            <p:nvSpPr>
              <p:cNvPr id="95241" name="Line 13"/>
              <p:cNvSpPr>
                <a:spLocks noChangeShapeType="1"/>
              </p:cNvSpPr>
              <p:nvPr/>
            </p:nvSpPr>
            <p:spPr bwMode="auto">
              <a:xfrm flipH="1">
                <a:off x="1200" y="2448"/>
                <a:ext cx="81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b"/>
              <a:lstStyle/>
              <a:p>
                <a:endParaRPr lang="en-GB"/>
              </a:p>
            </p:txBody>
          </p:sp>
          <p:sp>
            <p:nvSpPr>
              <p:cNvPr id="95242" name="Line 14"/>
              <p:cNvSpPr>
                <a:spLocks noChangeShapeType="1"/>
              </p:cNvSpPr>
              <p:nvPr/>
            </p:nvSpPr>
            <p:spPr bwMode="auto">
              <a:xfrm>
                <a:off x="2016" y="2448"/>
                <a:ext cx="0" cy="14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b"/>
              <a:lstStyle/>
              <a:p>
                <a:endParaRPr lang="en-GB"/>
              </a:p>
            </p:txBody>
          </p:sp>
        </p:grpSp>
      </p:grp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smtClean="0">
                <a:solidFill>
                  <a:srgbClr val="990033"/>
                </a:solidFill>
              </a:rPr>
              <a:t>Slide 10- </a:t>
            </a:r>
            <a:fld id="{227EB066-D149-4CA4-8A94-0CAEB81E43DC}" type="slidenum">
              <a:rPr lang="en-US" altLang="en-US" sz="1400" smtClean="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46</a:t>
            </a:fld>
            <a:endParaRPr lang="en-CA" altLang="en-US" sz="1400" smtClean="0">
              <a:solidFill>
                <a:srgbClr val="990033"/>
              </a:solidFill>
            </a:endParaRPr>
          </a:p>
        </p:txBody>
      </p:sp>
      <p:sp>
        <p:nvSpPr>
          <p:cNvPr id="97283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3.3 Second Normal Form (1) </a:t>
            </a:r>
          </a:p>
        </p:txBody>
      </p:sp>
      <p:sp>
        <p:nvSpPr>
          <p:cNvPr id="97284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400" smtClean="0"/>
              <a:t>Uses the concepts of </a:t>
            </a:r>
            <a:r>
              <a:rPr lang="en-US" altLang="en-US" sz="2400" b="1" smtClean="0"/>
              <a:t>FDs, primary key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smtClean="0"/>
              <a:t>Definitions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200" b="1" smtClean="0"/>
              <a:t>Prime attribute:</a:t>
            </a:r>
            <a:r>
              <a:rPr lang="en-US" altLang="en-US" sz="2200" smtClean="0"/>
              <a:t> An attribute that is member of the primary key K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200" b="1" smtClean="0"/>
              <a:t>Full functional dependency:</a:t>
            </a:r>
            <a:r>
              <a:rPr lang="en-US" altLang="en-US" sz="2200" smtClean="0"/>
              <a:t> a FD  Y -&gt; Z where removal of any attribute from Y means the FD does not hold any more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smtClean="0"/>
              <a:t>Examples: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200" smtClean="0"/>
              <a:t>{SSN, PNUMBER} -&gt; HOURS is a full FD since neither SSN -&gt; HOURS nor PNUMBER -&gt; HOURS hold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200" smtClean="0"/>
              <a:t>{SSN, PNUMBER} -&gt; ENAME is not  a full FD (it is called a partial dependency ) since SSN -&gt; ENAME also holds 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smtClean="0">
                <a:solidFill>
                  <a:srgbClr val="990033"/>
                </a:solidFill>
              </a:rPr>
              <a:t>Slide 10- </a:t>
            </a:r>
            <a:fld id="{16F44018-06D9-493B-92CA-55F9A79E65AE}" type="slidenum">
              <a:rPr lang="en-US" altLang="en-US" sz="1400" smtClean="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47</a:t>
            </a:fld>
            <a:endParaRPr lang="en-CA" altLang="en-US" sz="1400" smtClean="0">
              <a:solidFill>
                <a:srgbClr val="990033"/>
              </a:solidFill>
            </a:endParaRPr>
          </a:p>
        </p:txBody>
      </p:sp>
      <p:sp>
        <p:nvSpPr>
          <p:cNvPr id="99331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Second Normal Form (2)</a:t>
            </a:r>
          </a:p>
        </p:txBody>
      </p:sp>
      <p:sp>
        <p:nvSpPr>
          <p:cNvPr id="99332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A relation schema R is in </a:t>
            </a:r>
            <a:r>
              <a:rPr lang="en-US" altLang="en-US" b="1" smtClean="0"/>
              <a:t>second normal form (2NF)</a:t>
            </a:r>
            <a:r>
              <a:rPr lang="en-US" altLang="en-US" smtClean="0"/>
              <a:t> if every non-prime attribute A in R is fully functionally dependent on the primary key</a:t>
            </a:r>
          </a:p>
          <a:p>
            <a:pPr eaLnBrk="1" hangingPunct="1"/>
            <a:endParaRPr lang="en-US" altLang="en-US" smtClean="0"/>
          </a:p>
          <a:p>
            <a:pPr eaLnBrk="1" hangingPunct="1"/>
            <a:r>
              <a:rPr lang="en-US" altLang="en-US" smtClean="0"/>
              <a:t>R can be decomposed into 2NF relations via the process of 2NF normalization 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Bringing a Relation to 2NF</a:t>
            </a:r>
          </a:p>
        </p:txBody>
      </p:sp>
      <p:sp>
        <p:nvSpPr>
          <p:cNvPr id="101379" name="Content Placeholder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en-US" altLang="en-US" smtClean="0"/>
          </a:p>
        </p:txBody>
      </p:sp>
      <p:sp>
        <p:nvSpPr>
          <p:cNvPr id="10138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smtClean="0">
                <a:solidFill>
                  <a:srgbClr val="990033"/>
                </a:solidFill>
              </a:rPr>
              <a:t>Slide 10- </a:t>
            </a:r>
            <a:fld id="{E00B081C-B849-4F17-AD7F-C5C2914C2976}" type="slidenum">
              <a:rPr lang="en-US" altLang="en-US" sz="1400" smtClean="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48</a:t>
            </a:fld>
            <a:endParaRPr lang="en-CA" altLang="en-US" sz="1400" smtClean="0">
              <a:solidFill>
                <a:srgbClr val="990033"/>
              </a:solidFill>
            </a:endParaRPr>
          </a:p>
        </p:txBody>
      </p:sp>
      <p:graphicFrame>
        <p:nvGraphicFramePr>
          <p:cNvPr id="10" name="Object 3"/>
          <p:cNvGraphicFramePr>
            <a:graphicFrameLocks noChangeAspect="1"/>
          </p:cNvGraphicFramePr>
          <p:nvPr/>
        </p:nvGraphicFramePr>
        <p:xfrm>
          <a:off x="1143000" y="3429000"/>
          <a:ext cx="6400800" cy="2393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386" name="Worksheet" r:id="rId4" imgW="0" imgH="0" progId="Excel.Sheet.8">
                  <p:embed/>
                </p:oleObj>
              </mc:Choice>
              <mc:Fallback>
                <p:oleObj name="Worksheet" r:id="rId4" imgW="0" imgH="0" progId="Excel.Sheet.8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3429000"/>
                        <a:ext cx="6400800" cy="2393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B2B2B2">
                                <a:alpha val="50195"/>
                              </a:srgbClr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3333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45791" dir="2021404" algn="ctr" rotWithShape="0">
                                <a:srgbClr val="9999FF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" name="Group 4"/>
          <p:cNvGrpSpPr>
            <a:grpSpLocks/>
          </p:cNvGrpSpPr>
          <p:nvPr/>
        </p:nvGrpSpPr>
        <p:grpSpPr bwMode="auto">
          <a:xfrm>
            <a:off x="1957388" y="2143125"/>
            <a:ext cx="3457575" cy="1957388"/>
            <a:chOff x="1233" y="1350"/>
            <a:chExt cx="2178" cy="1233"/>
          </a:xfrm>
        </p:grpSpPr>
        <p:sp>
          <p:nvSpPr>
            <p:cNvPr id="12" name="AutoShape 5">
              <a:extLst>
                <a:ext uri="{FF2B5EF4-FFF2-40B4-BE49-F238E27FC236}">
                  <a16:creationId xmlns:a16="http://schemas.microsoft.com/office/drawing/2014/main" id="{B0F2E43B-8604-8C44-B7AF-E28BCA82CB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1350"/>
              <a:ext cx="1539" cy="546"/>
            </a:xfrm>
            <a:prstGeom prst="wedgeEllipseCallout">
              <a:avLst>
                <a:gd name="adj1" fmla="val -12574"/>
                <a:gd name="adj2" fmla="val 106958"/>
              </a:avLst>
            </a:prstGeom>
            <a:solidFill>
              <a:srgbClr val="FFF39D"/>
            </a:solidFill>
            <a:ln w="12700">
              <a:solidFill>
                <a:srgbClr val="575F6D"/>
              </a:solidFill>
              <a:miter lim="800000"/>
              <a:headEnd/>
              <a:tailEnd/>
            </a:ln>
            <a:effectLst/>
          </p:spPr>
          <p:txBody>
            <a:bodyPr anchor="b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800" b="1" i="0" kern="0">
                  <a:solidFill>
                    <a:srgbClr val="575F6D"/>
                  </a:solidFill>
                  <a:latin typeface="Century Schoolbook"/>
                </a:rPr>
                <a:t>Composite Primary Key</a:t>
              </a:r>
            </a:p>
          </p:txBody>
        </p:sp>
        <p:sp>
          <p:nvSpPr>
            <p:cNvPr id="13" name="Line 6">
              <a:extLst>
                <a:ext uri="{FF2B5EF4-FFF2-40B4-BE49-F238E27FC236}">
                  <a16:creationId xmlns:a16="http://schemas.microsoft.com/office/drawing/2014/main" id="{A07FF5EE-5074-F24B-AB70-B69BA5BA094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33" y="2196"/>
              <a:ext cx="1215" cy="387"/>
            </a:xfrm>
            <a:prstGeom prst="line">
              <a:avLst/>
            </a:prstGeom>
            <a:noFill/>
            <a:ln w="38100">
              <a:solidFill>
                <a:srgbClr val="575F6D"/>
              </a:solidFill>
              <a:round/>
              <a:headEnd/>
              <a:tailEnd type="triangle" w="med" len="med"/>
            </a:ln>
            <a:effectLst/>
          </p:spPr>
          <p:txBody>
            <a:bodyPr anchor="b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 i="0" kern="0">
                <a:solidFill>
                  <a:prstClr val="black"/>
                </a:solidFill>
                <a:latin typeface="Century Schoolbook"/>
              </a:endParaRPr>
            </a:p>
          </p:txBody>
        </p:sp>
        <p:sp>
          <p:nvSpPr>
            <p:cNvPr id="14" name="Line 7">
              <a:extLst>
                <a:ext uri="{FF2B5EF4-FFF2-40B4-BE49-F238E27FC236}">
                  <a16:creationId xmlns:a16="http://schemas.microsoft.com/office/drawing/2014/main" id="{099A71E7-D1FD-484E-BD81-FD8B3530B2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72" y="2184"/>
              <a:ext cx="387" cy="396"/>
            </a:xfrm>
            <a:prstGeom prst="line">
              <a:avLst/>
            </a:prstGeom>
            <a:noFill/>
            <a:ln w="38100">
              <a:solidFill>
                <a:srgbClr val="575F6D"/>
              </a:solidFill>
              <a:round/>
              <a:headEnd/>
              <a:tailEnd type="triangle" w="med" len="med"/>
            </a:ln>
            <a:effectLst/>
          </p:spPr>
          <p:txBody>
            <a:bodyPr anchor="b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 i="0" kern="0">
                <a:solidFill>
                  <a:prstClr val="black"/>
                </a:solidFill>
                <a:latin typeface="Century Schoolbook"/>
              </a:endParaRP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Bringing a Relation to 2NF</a:t>
            </a:r>
          </a:p>
        </p:txBody>
      </p:sp>
      <p:sp>
        <p:nvSpPr>
          <p:cNvPr id="103427" name="Content Placeholder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Goal: Remove Partial Dependencies</a:t>
            </a:r>
          </a:p>
          <a:p>
            <a:endParaRPr lang="en-US" altLang="en-US" smtClean="0"/>
          </a:p>
        </p:txBody>
      </p:sp>
      <p:sp>
        <p:nvSpPr>
          <p:cNvPr id="10342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smtClean="0">
                <a:solidFill>
                  <a:srgbClr val="990033"/>
                </a:solidFill>
              </a:rPr>
              <a:t>Slide 10- </a:t>
            </a:r>
            <a:fld id="{9788E4CC-E51B-44CD-B483-C1D20907C3F4}" type="slidenum">
              <a:rPr lang="en-US" altLang="en-US" sz="1400" smtClean="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49</a:t>
            </a:fld>
            <a:endParaRPr lang="en-CA" altLang="en-US" sz="1400" smtClean="0">
              <a:solidFill>
                <a:srgbClr val="990033"/>
              </a:solidFill>
            </a:endParaRPr>
          </a:p>
        </p:txBody>
      </p:sp>
      <p:graphicFrame>
        <p:nvGraphicFramePr>
          <p:cNvPr id="68" name="Object 3"/>
          <p:cNvGraphicFramePr>
            <a:graphicFrameLocks noChangeAspect="1"/>
          </p:cNvGraphicFramePr>
          <p:nvPr/>
        </p:nvGraphicFramePr>
        <p:xfrm>
          <a:off x="1381125" y="3719513"/>
          <a:ext cx="6400800" cy="2393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450" name="Worksheet" r:id="rId4" imgW="0" imgH="0" progId="Excel.Sheet.8">
                  <p:embed/>
                </p:oleObj>
              </mc:Choice>
              <mc:Fallback>
                <p:oleObj name="Worksheet" r:id="rId4" imgW="0" imgH="0" progId="Excel.Sheet.8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81125" y="3719513"/>
                        <a:ext cx="6400800" cy="2393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B2B2B2">
                                <a:alpha val="50195"/>
                              </a:srgbClr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3333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45791" dir="2021404" algn="ctr" rotWithShape="0">
                                <a:srgbClr val="9999FF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9" name="Group 4"/>
          <p:cNvGrpSpPr>
            <a:grpSpLocks/>
          </p:cNvGrpSpPr>
          <p:nvPr/>
        </p:nvGrpSpPr>
        <p:grpSpPr bwMode="auto">
          <a:xfrm>
            <a:off x="1109663" y="2433638"/>
            <a:ext cx="3667125" cy="1957387"/>
            <a:chOff x="549" y="1350"/>
            <a:chExt cx="2310" cy="1233"/>
          </a:xfrm>
        </p:grpSpPr>
        <p:sp>
          <p:nvSpPr>
            <p:cNvPr id="70" name="AutoShape 5">
              <a:extLst>
                <a:ext uri="{FF2B5EF4-FFF2-40B4-BE49-F238E27FC236}">
                  <a16:creationId xmlns:a16="http://schemas.microsoft.com/office/drawing/2014/main" id="{46300FED-31A4-4647-9C2B-B87ADA46D0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9" y="1350"/>
              <a:ext cx="1566" cy="546"/>
            </a:xfrm>
            <a:prstGeom prst="wedgeEllipseCallout">
              <a:avLst>
                <a:gd name="adj1" fmla="val 33907"/>
                <a:gd name="adj2" fmla="val 64102"/>
              </a:avLst>
            </a:prstGeom>
            <a:solidFill>
              <a:srgbClr val="FFF39D"/>
            </a:solidFill>
            <a:ln w="12700">
              <a:solidFill>
                <a:srgbClr val="575F6D"/>
              </a:solidFill>
              <a:miter lim="800000"/>
              <a:headEnd/>
              <a:tailEnd/>
            </a:ln>
            <a:effectLst/>
          </p:spPr>
          <p:txBody>
            <a:bodyPr anchor="b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800" b="1" i="0" kern="0">
                  <a:solidFill>
                    <a:srgbClr val="575F6D"/>
                  </a:solidFill>
                  <a:latin typeface="Century Schoolbook"/>
                </a:rPr>
                <a:t>Composite Primary Key</a:t>
              </a:r>
            </a:p>
          </p:txBody>
        </p:sp>
        <p:sp>
          <p:nvSpPr>
            <p:cNvPr id="71" name="Line 6">
              <a:extLst>
                <a:ext uri="{FF2B5EF4-FFF2-40B4-BE49-F238E27FC236}">
                  <a16:creationId xmlns:a16="http://schemas.microsoft.com/office/drawing/2014/main" id="{BAF975FD-FC62-9149-95F0-258929D46B4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33" y="2007"/>
              <a:ext cx="657" cy="576"/>
            </a:xfrm>
            <a:prstGeom prst="line">
              <a:avLst/>
            </a:prstGeom>
            <a:noFill/>
            <a:ln w="38100">
              <a:solidFill>
                <a:srgbClr val="575F6D"/>
              </a:solidFill>
              <a:round/>
              <a:headEnd/>
              <a:tailEnd type="triangle" w="med" len="med"/>
            </a:ln>
            <a:effectLst/>
          </p:spPr>
          <p:txBody>
            <a:bodyPr anchor="b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 i="0" kern="0">
                <a:solidFill>
                  <a:prstClr val="black"/>
                </a:solidFill>
                <a:latin typeface="Century Schoolbook"/>
              </a:endParaRPr>
            </a:p>
          </p:txBody>
        </p:sp>
        <p:sp>
          <p:nvSpPr>
            <p:cNvPr id="72" name="Line 7">
              <a:extLst>
                <a:ext uri="{FF2B5EF4-FFF2-40B4-BE49-F238E27FC236}">
                  <a16:creationId xmlns:a16="http://schemas.microsoft.com/office/drawing/2014/main" id="{9D1E2AF0-6CCC-4146-90AB-6488158B72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87" y="2004"/>
              <a:ext cx="972" cy="576"/>
            </a:xfrm>
            <a:prstGeom prst="line">
              <a:avLst/>
            </a:prstGeom>
            <a:noFill/>
            <a:ln w="38100">
              <a:solidFill>
                <a:srgbClr val="575F6D"/>
              </a:solidFill>
              <a:round/>
              <a:headEnd/>
              <a:tailEnd type="triangle" w="med" len="med"/>
            </a:ln>
            <a:effectLst/>
          </p:spPr>
          <p:txBody>
            <a:bodyPr anchor="b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 i="0" kern="0">
                <a:solidFill>
                  <a:prstClr val="black"/>
                </a:solidFill>
                <a:latin typeface="Century Schoolbook"/>
              </a:endParaRPr>
            </a:p>
          </p:txBody>
        </p:sp>
      </p:grpSp>
      <p:grpSp>
        <p:nvGrpSpPr>
          <p:cNvPr id="73" name="Group 8"/>
          <p:cNvGrpSpPr>
            <a:grpSpLocks/>
          </p:cNvGrpSpPr>
          <p:nvPr/>
        </p:nvGrpSpPr>
        <p:grpSpPr bwMode="auto">
          <a:xfrm>
            <a:off x="1052513" y="3771900"/>
            <a:ext cx="6586537" cy="1452563"/>
            <a:chOff x="513" y="2193"/>
            <a:chExt cx="4149" cy="915"/>
          </a:xfrm>
        </p:grpSpPr>
        <p:grpSp>
          <p:nvGrpSpPr>
            <p:cNvPr id="103436" name="Group 9"/>
            <p:cNvGrpSpPr>
              <a:grpSpLocks/>
            </p:cNvGrpSpPr>
            <p:nvPr/>
          </p:nvGrpSpPr>
          <p:grpSpPr bwMode="auto">
            <a:xfrm>
              <a:off x="3033" y="2445"/>
              <a:ext cx="1008" cy="144"/>
              <a:chOff x="1200" y="2448"/>
              <a:chExt cx="816" cy="144"/>
            </a:xfrm>
          </p:grpSpPr>
          <p:sp>
            <p:nvSpPr>
              <p:cNvPr id="82" name="Line 10">
                <a:extLst>
                  <a:ext uri="{FF2B5EF4-FFF2-40B4-BE49-F238E27FC236}">
                    <a16:creationId xmlns:a16="http://schemas.microsoft.com/office/drawing/2014/main" id="{F46F82BF-DBD4-AB4A-BC09-5ACF46C2533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200" y="2448"/>
                <a:ext cx="0" cy="144"/>
              </a:xfrm>
              <a:prstGeom prst="line">
                <a:avLst/>
              </a:prstGeom>
              <a:noFill/>
              <a:ln w="28575">
                <a:solidFill>
                  <a:sysClr val="windowText" lastClr="000000"/>
                </a:solidFill>
                <a:round/>
                <a:headEnd/>
                <a:tailEnd/>
              </a:ln>
              <a:effectLst/>
            </p:spPr>
            <p:txBody>
              <a:bodyPr anchor="b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800" i="0" kern="0">
                  <a:solidFill>
                    <a:prstClr val="black"/>
                  </a:solidFill>
                  <a:latin typeface="Century Schoolbook"/>
                </a:endParaRPr>
              </a:p>
            </p:txBody>
          </p:sp>
          <p:sp>
            <p:nvSpPr>
              <p:cNvPr id="83" name="Line 11">
                <a:extLst>
                  <a:ext uri="{FF2B5EF4-FFF2-40B4-BE49-F238E27FC236}">
                    <a16:creationId xmlns:a16="http://schemas.microsoft.com/office/drawing/2014/main" id="{9CEC11B0-E746-9A40-B8F5-5B5F84B04E7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200" y="2448"/>
                <a:ext cx="816" cy="0"/>
              </a:xfrm>
              <a:prstGeom prst="line">
                <a:avLst/>
              </a:prstGeom>
              <a:noFill/>
              <a:ln w="28575">
                <a:solidFill>
                  <a:sysClr val="windowText" lastClr="000000"/>
                </a:solidFill>
                <a:round/>
                <a:headEnd/>
                <a:tailEnd/>
              </a:ln>
              <a:effectLst/>
            </p:spPr>
            <p:txBody>
              <a:bodyPr anchor="b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800" i="0" kern="0">
                  <a:solidFill>
                    <a:prstClr val="black"/>
                  </a:solidFill>
                  <a:latin typeface="Century Schoolbook"/>
                </a:endParaRPr>
              </a:p>
            </p:txBody>
          </p:sp>
          <p:sp>
            <p:nvSpPr>
              <p:cNvPr id="84" name="Line 12">
                <a:extLst>
                  <a:ext uri="{FF2B5EF4-FFF2-40B4-BE49-F238E27FC236}">
                    <a16:creationId xmlns:a16="http://schemas.microsoft.com/office/drawing/2014/main" id="{698EFA91-1E65-D54B-86EE-1E7CE805812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16" y="2448"/>
                <a:ext cx="0" cy="144"/>
              </a:xfrm>
              <a:prstGeom prst="line">
                <a:avLst/>
              </a:prstGeom>
              <a:noFill/>
              <a:ln w="28575">
                <a:solidFill>
                  <a:sysClr val="windowText" lastClr="000000"/>
                </a:solidFill>
                <a:round/>
                <a:headEnd/>
                <a:tailEnd type="triangle" w="med" len="med"/>
              </a:ln>
              <a:effectLst/>
            </p:spPr>
            <p:txBody>
              <a:bodyPr anchor="b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800" i="0" kern="0">
                  <a:solidFill>
                    <a:prstClr val="black"/>
                  </a:solidFill>
                  <a:latin typeface="Century Schoolbook"/>
                </a:endParaRPr>
              </a:p>
            </p:txBody>
          </p:sp>
        </p:grpSp>
        <p:sp>
          <p:nvSpPr>
            <p:cNvPr id="75" name="Line 13">
              <a:extLst>
                <a:ext uri="{FF2B5EF4-FFF2-40B4-BE49-F238E27FC236}">
                  <a16:creationId xmlns:a16="http://schemas.microsoft.com/office/drawing/2014/main" id="{1AA55028-4EBB-C74A-B10B-57881EDA25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31" y="2805"/>
              <a:ext cx="768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anchor="b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 i="0" kern="0">
                <a:solidFill>
                  <a:prstClr val="black"/>
                </a:solidFill>
                <a:latin typeface="Century Schoolbook"/>
              </a:endParaRPr>
            </a:p>
          </p:txBody>
        </p:sp>
        <p:grpSp>
          <p:nvGrpSpPr>
            <p:cNvPr id="103438" name="Group 14"/>
            <p:cNvGrpSpPr>
              <a:grpSpLocks/>
            </p:cNvGrpSpPr>
            <p:nvPr/>
          </p:nvGrpSpPr>
          <p:grpSpPr bwMode="auto">
            <a:xfrm>
              <a:off x="1008" y="2448"/>
              <a:ext cx="1008" cy="144"/>
              <a:chOff x="1200" y="2448"/>
              <a:chExt cx="816" cy="144"/>
            </a:xfrm>
          </p:grpSpPr>
          <p:sp>
            <p:nvSpPr>
              <p:cNvPr id="79" name="Line 15">
                <a:extLst>
                  <a:ext uri="{FF2B5EF4-FFF2-40B4-BE49-F238E27FC236}">
                    <a16:creationId xmlns:a16="http://schemas.microsoft.com/office/drawing/2014/main" id="{ED6AE784-F0E6-294C-B2EA-69D2AB2EAB6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200" y="2448"/>
                <a:ext cx="0" cy="144"/>
              </a:xfrm>
              <a:prstGeom prst="line">
                <a:avLst/>
              </a:prstGeom>
              <a:noFill/>
              <a:ln w="28575">
                <a:solidFill>
                  <a:sysClr val="windowText" lastClr="000000"/>
                </a:solidFill>
                <a:round/>
                <a:headEnd/>
                <a:tailEnd/>
              </a:ln>
              <a:effectLst/>
            </p:spPr>
            <p:txBody>
              <a:bodyPr anchor="b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800" i="0" kern="0">
                  <a:solidFill>
                    <a:prstClr val="black"/>
                  </a:solidFill>
                  <a:latin typeface="Century Schoolbook"/>
                </a:endParaRPr>
              </a:p>
            </p:txBody>
          </p:sp>
          <p:sp>
            <p:nvSpPr>
              <p:cNvPr id="80" name="Line 16">
                <a:extLst>
                  <a:ext uri="{FF2B5EF4-FFF2-40B4-BE49-F238E27FC236}">
                    <a16:creationId xmlns:a16="http://schemas.microsoft.com/office/drawing/2014/main" id="{1283A9B0-2135-F246-B47B-936B8F17578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200" y="2448"/>
                <a:ext cx="816" cy="0"/>
              </a:xfrm>
              <a:prstGeom prst="line">
                <a:avLst/>
              </a:prstGeom>
              <a:noFill/>
              <a:ln w="28575">
                <a:solidFill>
                  <a:sysClr val="windowText" lastClr="000000"/>
                </a:solidFill>
                <a:round/>
                <a:headEnd/>
                <a:tailEnd/>
              </a:ln>
              <a:effectLst/>
            </p:spPr>
            <p:txBody>
              <a:bodyPr anchor="b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800" i="0" kern="0">
                  <a:solidFill>
                    <a:prstClr val="black"/>
                  </a:solidFill>
                  <a:latin typeface="Century Schoolbook"/>
                </a:endParaRPr>
              </a:p>
            </p:txBody>
          </p:sp>
          <p:sp>
            <p:nvSpPr>
              <p:cNvPr id="81" name="Line 17">
                <a:extLst>
                  <a:ext uri="{FF2B5EF4-FFF2-40B4-BE49-F238E27FC236}">
                    <a16:creationId xmlns:a16="http://schemas.microsoft.com/office/drawing/2014/main" id="{29557D59-9A9F-5F45-865E-272606BF987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16" y="2448"/>
                <a:ext cx="0" cy="144"/>
              </a:xfrm>
              <a:prstGeom prst="line">
                <a:avLst/>
              </a:prstGeom>
              <a:noFill/>
              <a:ln w="28575">
                <a:solidFill>
                  <a:sysClr val="windowText" lastClr="000000"/>
                </a:solidFill>
                <a:round/>
                <a:headEnd/>
                <a:tailEnd type="triangle" w="med" len="med"/>
              </a:ln>
              <a:effectLst/>
            </p:spPr>
            <p:txBody>
              <a:bodyPr anchor="b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800" i="0" kern="0">
                  <a:solidFill>
                    <a:prstClr val="black"/>
                  </a:solidFill>
                  <a:latin typeface="Century Schoolbook"/>
                </a:endParaRPr>
              </a:p>
            </p:txBody>
          </p:sp>
        </p:grpSp>
        <p:sp>
          <p:nvSpPr>
            <p:cNvPr id="77" name="Oval 18">
              <a:extLst>
                <a:ext uri="{FF2B5EF4-FFF2-40B4-BE49-F238E27FC236}">
                  <a16:creationId xmlns:a16="http://schemas.microsoft.com/office/drawing/2014/main" id="{AB7902D2-2D56-384D-8071-8AE2CC1B98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" y="2196"/>
              <a:ext cx="1956" cy="912"/>
            </a:xfrm>
            <a:prstGeom prst="ellipse">
              <a:avLst/>
            </a:prstGeom>
            <a:noFill/>
            <a:ln w="28575">
              <a:solidFill>
                <a:srgbClr val="575F6D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 i="0" kern="0">
                <a:solidFill>
                  <a:prstClr val="black"/>
                </a:solidFill>
                <a:latin typeface="Century Schoolbook"/>
              </a:endParaRPr>
            </a:p>
          </p:txBody>
        </p:sp>
        <p:sp>
          <p:nvSpPr>
            <p:cNvPr id="78" name="Oval 19">
              <a:extLst>
                <a:ext uri="{FF2B5EF4-FFF2-40B4-BE49-F238E27FC236}">
                  <a16:creationId xmlns:a16="http://schemas.microsoft.com/office/drawing/2014/main" id="{3736E627-01FE-6A48-89BD-F1E9CDE876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71" y="2193"/>
              <a:ext cx="2091" cy="912"/>
            </a:xfrm>
            <a:prstGeom prst="ellipse">
              <a:avLst/>
            </a:prstGeom>
            <a:noFill/>
            <a:ln w="28575">
              <a:solidFill>
                <a:srgbClr val="575F6D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 i="0" kern="0">
                <a:solidFill>
                  <a:prstClr val="black"/>
                </a:solidFill>
                <a:latin typeface="Century Schoolbook"/>
              </a:endParaRPr>
            </a:p>
          </p:txBody>
        </p:sp>
      </p:grpSp>
      <p:grpSp>
        <p:nvGrpSpPr>
          <p:cNvPr id="85" name="Group 21"/>
          <p:cNvGrpSpPr>
            <a:grpSpLocks/>
          </p:cNvGrpSpPr>
          <p:nvPr/>
        </p:nvGrpSpPr>
        <p:grpSpPr bwMode="auto">
          <a:xfrm>
            <a:off x="3276600" y="2228850"/>
            <a:ext cx="4286250" cy="1685925"/>
            <a:chOff x="1233" y="1350"/>
            <a:chExt cx="2178" cy="1233"/>
          </a:xfrm>
        </p:grpSpPr>
        <p:sp>
          <p:nvSpPr>
            <p:cNvPr id="86" name="AutoShape 22">
              <a:extLst>
                <a:ext uri="{FF2B5EF4-FFF2-40B4-BE49-F238E27FC236}">
                  <a16:creationId xmlns:a16="http://schemas.microsoft.com/office/drawing/2014/main" id="{EDF793DD-3C8B-0248-BCD2-27DE0421EC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1350"/>
              <a:ext cx="1539" cy="546"/>
            </a:xfrm>
            <a:prstGeom prst="wedgeEllipseCallout">
              <a:avLst>
                <a:gd name="adj1" fmla="val -12574"/>
                <a:gd name="adj2" fmla="val 106958"/>
              </a:avLst>
            </a:prstGeom>
            <a:solidFill>
              <a:srgbClr val="FFF39D"/>
            </a:solidFill>
            <a:ln w="12700">
              <a:solidFill>
                <a:srgbClr val="575F6D"/>
              </a:solidFill>
              <a:miter lim="800000"/>
              <a:headEnd/>
              <a:tailEnd/>
            </a:ln>
            <a:effectLst/>
          </p:spPr>
          <p:txBody>
            <a:bodyPr anchor="b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800" b="1" i="0" kern="0">
                  <a:solidFill>
                    <a:srgbClr val="575F6D"/>
                  </a:solidFill>
                  <a:latin typeface="Century Schoolbook"/>
                </a:rPr>
                <a:t>Partial Dependencies</a:t>
              </a:r>
            </a:p>
          </p:txBody>
        </p:sp>
        <p:sp>
          <p:nvSpPr>
            <p:cNvPr id="87" name="Line 23">
              <a:extLst>
                <a:ext uri="{FF2B5EF4-FFF2-40B4-BE49-F238E27FC236}">
                  <a16:creationId xmlns:a16="http://schemas.microsoft.com/office/drawing/2014/main" id="{24A0EB85-5347-554B-A5E7-476D38A90B2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33" y="2196"/>
              <a:ext cx="1215" cy="387"/>
            </a:xfrm>
            <a:prstGeom prst="line">
              <a:avLst/>
            </a:prstGeom>
            <a:noFill/>
            <a:ln w="38100">
              <a:solidFill>
                <a:srgbClr val="575F6D"/>
              </a:solidFill>
              <a:round/>
              <a:headEnd/>
              <a:tailEnd type="triangle" w="med" len="med"/>
            </a:ln>
            <a:effectLst/>
          </p:spPr>
          <p:txBody>
            <a:bodyPr anchor="b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 i="0" kern="0">
                <a:solidFill>
                  <a:prstClr val="black"/>
                </a:solidFill>
                <a:latin typeface="Century Schoolbook"/>
              </a:endParaRPr>
            </a:p>
          </p:txBody>
        </p:sp>
        <p:sp>
          <p:nvSpPr>
            <p:cNvPr id="88" name="Line 24">
              <a:extLst>
                <a:ext uri="{FF2B5EF4-FFF2-40B4-BE49-F238E27FC236}">
                  <a16:creationId xmlns:a16="http://schemas.microsoft.com/office/drawing/2014/main" id="{2D24AA8B-E916-0044-8FC5-686516F0FF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72" y="2184"/>
              <a:ext cx="387" cy="396"/>
            </a:xfrm>
            <a:prstGeom prst="line">
              <a:avLst/>
            </a:prstGeom>
            <a:noFill/>
            <a:ln w="38100">
              <a:solidFill>
                <a:srgbClr val="575F6D"/>
              </a:solidFill>
              <a:round/>
              <a:headEnd/>
              <a:tailEnd type="triangle" w="med" len="med"/>
            </a:ln>
            <a:effectLst/>
          </p:spPr>
          <p:txBody>
            <a:bodyPr anchor="b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 i="0" kern="0">
                <a:solidFill>
                  <a:prstClr val="black"/>
                </a:solidFill>
                <a:latin typeface="Century Schoolbook"/>
              </a:endParaRP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Bringing a Relation to 2NF</a:t>
            </a:r>
          </a:p>
        </p:txBody>
      </p:sp>
      <p:sp>
        <p:nvSpPr>
          <p:cNvPr id="105475" name="Content Placeholder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200" smtClean="0"/>
              <a:t>Remove attributes that are dependent from the part but not the whole of the primary key from the original relation. </a:t>
            </a:r>
          </a:p>
          <a:p>
            <a:pPr>
              <a:lnSpc>
                <a:spcPct val="90000"/>
              </a:lnSpc>
            </a:pPr>
            <a:r>
              <a:rPr lang="en-US" altLang="en-US" sz="2200" smtClean="0"/>
              <a:t>For each partial dependency, create a new relation, with the corresponding part of the primary key from the original as the primary key.</a:t>
            </a:r>
          </a:p>
          <a:p>
            <a:endParaRPr lang="en-US" altLang="en-US" smtClean="0"/>
          </a:p>
        </p:txBody>
      </p:sp>
      <p:sp>
        <p:nvSpPr>
          <p:cNvPr id="10547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smtClean="0">
                <a:solidFill>
                  <a:srgbClr val="990033"/>
                </a:solidFill>
              </a:rPr>
              <a:t>Slide 10- </a:t>
            </a:r>
            <a:fld id="{D2161C0D-6A67-46DC-89B6-5BB94D225D37}" type="slidenum">
              <a:rPr lang="en-US" altLang="en-US" sz="1400" smtClean="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50</a:t>
            </a:fld>
            <a:endParaRPr lang="en-CA" altLang="en-US" sz="1400" smtClean="0">
              <a:solidFill>
                <a:srgbClr val="990033"/>
              </a:solidFill>
            </a:endParaRPr>
          </a:p>
        </p:txBody>
      </p:sp>
      <p:grpSp>
        <p:nvGrpSpPr>
          <p:cNvPr id="105477" name="Group 3"/>
          <p:cNvGrpSpPr>
            <a:grpSpLocks/>
          </p:cNvGrpSpPr>
          <p:nvPr/>
        </p:nvGrpSpPr>
        <p:grpSpPr bwMode="auto">
          <a:xfrm>
            <a:off x="814388" y="3429000"/>
            <a:ext cx="6729412" cy="2393950"/>
            <a:chOff x="513" y="2160"/>
            <a:chExt cx="4239" cy="1508"/>
          </a:xfrm>
        </p:grpSpPr>
        <p:graphicFrame>
          <p:nvGraphicFramePr>
            <p:cNvPr id="105478" name="Object 4"/>
            <p:cNvGraphicFramePr>
              <a:graphicFrameLocks noChangeAspect="1"/>
            </p:cNvGraphicFramePr>
            <p:nvPr/>
          </p:nvGraphicFramePr>
          <p:xfrm>
            <a:off x="720" y="2160"/>
            <a:ext cx="4032" cy="15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5490" name="Worksheet" r:id="rId4" imgW="0" imgH="0" progId="Excel.Sheet.8">
                    <p:embed/>
                  </p:oleObj>
                </mc:Choice>
                <mc:Fallback>
                  <p:oleObj name="Worksheet" r:id="rId4" imgW="0" imgH="0" progId="Excel.Sheet.8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20" y="2160"/>
                          <a:ext cx="4032" cy="15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B2B2B2">
                                  <a:alpha val="50195"/>
                                </a:srgbClr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rgbClr val="3333CC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45791" dir="2021404" algn="ctr" rotWithShape="0">
                                  <a:srgbClr val="9999FF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05479" name="Group 5"/>
            <p:cNvGrpSpPr>
              <a:grpSpLocks/>
            </p:cNvGrpSpPr>
            <p:nvPr/>
          </p:nvGrpSpPr>
          <p:grpSpPr bwMode="auto">
            <a:xfrm>
              <a:off x="3033" y="2445"/>
              <a:ext cx="1008" cy="144"/>
              <a:chOff x="1200" y="2448"/>
              <a:chExt cx="816" cy="144"/>
            </a:xfrm>
          </p:grpSpPr>
          <p:sp>
            <p:nvSpPr>
              <p:cNvPr id="105487" name="Line 6"/>
              <p:cNvSpPr>
                <a:spLocks noChangeShapeType="1"/>
              </p:cNvSpPr>
              <p:nvPr/>
            </p:nvSpPr>
            <p:spPr bwMode="auto">
              <a:xfrm flipV="1">
                <a:off x="1200" y="2448"/>
                <a:ext cx="0" cy="14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b"/>
              <a:lstStyle/>
              <a:p>
                <a:endParaRPr lang="en-GB"/>
              </a:p>
            </p:txBody>
          </p:sp>
          <p:sp>
            <p:nvSpPr>
              <p:cNvPr id="105488" name="Line 7"/>
              <p:cNvSpPr>
                <a:spLocks noChangeShapeType="1"/>
              </p:cNvSpPr>
              <p:nvPr/>
            </p:nvSpPr>
            <p:spPr bwMode="auto">
              <a:xfrm flipH="1">
                <a:off x="1200" y="2448"/>
                <a:ext cx="81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b"/>
              <a:lstStyle/>
              <a:p>
                <a:endParaRPr lang="en-GB"/>
              </a:p>
            </p:txBody>
          </p:sp>
          <p:sp>
            <p:nvSpPr>
              <p:cNvPr id="105489" name="Line 8"/>
              <p:cNvSpPr>
                <a:spLocks noChangeShapeType="1"/>
              </p:cNvSpPr>
              <p:nvPr/>
            </p:nvSpPr>
            <p:spPr bwMode="auto">
              <a:xfrm>
                <a:off x="2016" y="2448"/>
                <a:ext cx="0" cy="14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b"/>
              <a:lstStyle/>
              <a:p>
                <a:endParaRPr lang="en-GB"/>
              </a:p>
            </p:txBody>
          </p:sp>
        </p:grpSp>
        <p:sp>
          <p:nvSpPr>
            <p:cNvPr id="105480" name="Line 9"/>
            <p:cNvSpPr>
              <a:spLocks noChangeShapeType="1"/>
            </p:cNvSpPr>
            <p:nvPr/>
          </p:nvSpPr>
          <p:spPr bwMode="auto">
            <a:xfrm>
              <a:off x="2631" y="2805"/>
              <a:ext cx="768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b"/>
            <a:lstStyle/>
            <a:p>
              <a:endParaRPr lang="en-GB"/>
            </a:p>
          </p:txBody>
        </p:sp>
        <p:grpSp>
          <p:nvGrpSpPr>
            <p:cNvPr id="105481" name="Group 10"/>
            <p:cNvGrpSpPr>
              <a:grpSpLocks/>
            </p:cNvGrpSpPr>
            <p:nvPr/>
          </p:nvGrpSpPr>
          <p:grpSpPr bwMode="auto">
            <a:xfrm>
              <a:off x="1008" y="2448"/>
              <a:ext cx="1008" cy="144"/>
              <a:chOff x="1200" y="2448"/>
              <a:chExt cx="816" cy="144"/>
            </a:xfrm>
          </p:grpSpPr>
          <p:sp>
            <p:nvSpPr>
              <p:cNvPr id="105484" name="Line 11"/>
              <p:cNvSpPr>
                <a:spLocks noChangeShapeType="1"/>
              </p:cNvSpPr>
              <p:nvPr/>
            </p:nvSpPr>
            <p:spPr bwMode="auto">
              <a:xfrm flipV="1">
                <a:off x="1200" y="2448"/>
                <a:ext cx="0" cy="14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b"/>
              <a:lstStyle/>
              <a:p>
                <a:endParaRPr lang="en-GB"/>
              </a:p>
            </p:txBody>
          </p:sp>
          <p:sp>
            <p:nvSpPr>
              <p:cNvPr id="105485" name="Line 12"/>
              <p:cNvSpPr>
                <a:spLocks noChangeShapeType="1"/>
              </p:cNvSpPr>
              <p:nvPr/>
            </p:nvSpPr>
            <p:spPr bwMode="auto">
              <a:xfrm flipH="1">
                <a:off x="1200" y="2448"/>
                <a:ext cx="81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b"/>
              <a:lstStyle/>
              <a:p>
                <a:endParaRPr lang="en-GB"/>
              </a:p>
            </p:txBody>
          </p:sp>
          <p:sp>
            <p:nvSpPr>
              <p:cNvPr id="105486" name="Line 13"/>
              <p:cNvSpPr>
                <a:spLocks noChangeShapeType="1"/>
              </p:cNvSpPr>
              <p:nvPr/>
            </p:nvSpPr>
            <p:spPr bwMode="auto">
              <a:xfrm>
                <a:off x="2016" y="2448"/>
                <a:ext cx="0" cy="14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b"/>
              <a:lstStyle/>
              <a:p>
                <a:endParaRPr lang="en-GB"/>
              </a:p>
            </p:txBody>
          </p:sp>
        </p:grpSp>
        <p:sp>
          <p:nvSpPr>
            <p:cNvPr id="105482" name="Oval 14"/>
            <p:cNvSpPr>
              <a:spLocks noChangeArrowheads="1"/>
            </p:cNvSpPr>
            <p:nvPr/>
          </p:nvSpPr>
          <p:spPr bwMode="auto">
            <a:xfrm>
              <a:off x="513" y="2196"/>
              <a:ext cx="1956" cy="912"/>
            </a:xfrm>
            <a:prstGeom prst="ellips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990033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600">
                  <a:solidFill>
                    <a:srgbClr val="80000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solidFill>
                  <a:schemeClr val="tx1"/>
                </a:solidFill>
              </a:endParaRPr>
            </a:p>
          </p:txBody>
        </p:sp>
        <p:sp>
          <p:nvSpPr>
            <p:cNvPr id="105483" name="Oval 15"/>
            <p:cNvSpPr>
              <a:spLocks noChangeArrowheads="1"/>
            </p:cNvSpPr>
            <p:nvPr/>
          </p:nvSpPr>
          <p:spPr bwMode="auto">
            <a:xfrm>
              <a:off x="2571" y="2274"/>
              <a:ext cx="2091" cy="912"/>
            </a:xfrm>
            <a:prstGeom prst="ellips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990033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600">
                  <a:solidFill>
                    <a:srgbClr val="80000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Title 1"/>
          <p:cNvSpPr>
            <a:spLocks noGrp="1" noChangeArrowheads="1"/>
          </p:cNvSpPr>
          <p:nvPr>
            <p:ph type="title"/>
          </p:nvPr>
        </p:nvSpPr>
        <p:spPr>
          <a:xfrm>
            <a:off x="104775" y="103188"/>
            <a:ext cx="7796213" cy="992187"/>
          </a:xfrm>
        </p:spPr>
        <p:txBody>
          <a:bodyPr/>
          <a:lstStyle/>
          <a:p>
            <a:r>
              <a:rPr lang="en-US" altLang="en-US" smtClean="0"/>
              <a:t>Bringing a Relation to 2NF</a:t>
            </a:r>
          </a:p>
        </p:txBody>
      </p:sp>
      <p:sp>
        <p:nvSpPr>
          <p:cNvPr id="107523" name="Content Placeholder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en-US" altLang="en-US" smtClean="0"/>
          </a:p>
        </p:txBody>
      </p:sp>
      <p:sp>
        <p:nvSpPr>
          <p:cNvPr id="10752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smtClean="0">
                <a:solidFill>
                  <a:srgbClr val="990033"/>
                </a:solidFill>
              </a:rPr>
              <a:t>Slide 10- </a:t>
            </a:r>
            <a:fld id="{57700923-82FA-4243-BCA6-265CA57A66A2}" type="slidenum">
              <a:rPr lang="en-US" altLang="en-US" sz="1400" smtClean="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51</a:t>
            </a:fld>
            <a:endParaRPr lang="en-CA" altLang="en-US" sz="1400" smtClean="0">
              <a:solidFill>
                <a:srgbClr val="990033"/>
              </a:solidFill>
            </a:endParaRPr>
          </a:p>
        </p:txBody>
      </p:sp>
      <p:grpSp>
        <p:nvGrpSpPr>
          <p:cNvPr id="5" name="Group 3"/>
          <p:cNvGrpSpPr>
            <a:grpSpLocks/>
          </p:cNvGrpSpPr>
          <p:nvPr/>
        </p:nvGrpSpPr>
        <p:grpSpPr bwMode="auto">
          <a:xfrm>
            <a:off x="611188" y="2130425"/>
            <a:ext cx="2981325" cy="1265238"/>
            <a:chOff x="619" y="2160"/>
            <a:chExt cx="4133" cy="1508"/>
          </a:xfrm>
        </p:grpSpPr>
        <p:grpSp>
          <p:nvGrpSpPr>
            <p:cNvPr id="107539" name="Group 4"/>
            <p:cNvGrpSpPr>
              <a:grpSpLocks/>
            </p:cNvGrpSpPr>
            <p:nvPr/>
          </p:nvGrpSpPr>
          <p:grpSpPr bwMode="auto">
            <a:xfrm>
              <a:off x="720" y="2160"/>
              <a:ext cx="4032" cy="1508"/>
              <a:chOff x="720" y="2160"/>
              <a:chExt cx="4032" cy="1508"/>
            </a:xfrm>
          </p:grpSpPr>
          <p:graphicFrame>
            <p:nvGraphicFramePr>
              <p:cNvPr id="107542" name="Object 5"/>
              <p:cNvGraphicFramePr>
                <a:graphicFrameLocks noChangeAspect="1"/>
              </p:cNvGraphicFramePr>
              <p:nvPr/>
            </p:nvGraphicFramePr>
            <p:xfrm>
              <a:off x="720" y="2160"/>
              <a:ext cx="4032" cy="150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7552" name="Worksheet" r:id="rId4" imgW="0" imgH="0" progId="Excel.Sheet.8">
                      <p:embed/>
                    </p:oleObj>
                  </mc:Choice>
                  <mc:Fallback>
                    <p:oleObj name="Worksheet" r:id="rId4" imgW="0" imgH="0" progId="Excel.Sheet.8">
                      <p:embed/>
                      <p:pic>
                        <p:nvPicPr>
                          <p:cNvPr id="0" name="Object 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20" y="2160"/>
                            <a:ext cx="4032" cy="150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B2B2B2">
                                    <a:alpha val="50195"/>
                                  </a:srgbClr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12700">
                                <a:solidFill>
                                  <a:srgbClr val="3333CC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45791" dir="2021404" algn="ctr" rotWithShape="0">
                                    <a:srgbClr val="9999FF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107543" name="Group 6"/>
              <p:cNvGrpSpPr>
                <a:grpSpLocks/>
              </p:cNvGrpSpPr>
              <p:nvPr/>
            </p:nvGrpSpPr>
            <p:grpSpPr bwMode="auto">
              <a:xfrm>
                <a:off x="3033" y="2445"/>
                <a:ext cx="1008" cy="144"/>
                <a:chOff x="1200" y="2448"/>
                <a:chExt cx="816" cy="144"/>
              </a:xfrm>
            </p:grpSpPr>
            <p:sp>
              <p:nvSpPr>
                <p:cNvPr id="107549" name="Line 7"/>
                <p:cNvSpPr>
                  <a:spLocks noChangeShapeType="1"/>
                </p:cNvSpPr>
                <p:nvPr/>
              </p:nvSpPr>
              <p:spPr bwMode="auto">
                <a:xfrm flipV="1">
                  <a:off x="1200" y="2448"/>
                  <a:ext cx="0" cy="144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anchor="b"/>
                <a:lstStyle/>
                <a:p>
                  <a:endParaRPr lang="en-GB"/>
                </a:p>
              </p:txBody>
            </p:sp>
            <p:sp>
              <p:nvSpPr>
                <p:cNvPr id="107550" name="Line 8"/>
                <p:cNvSpPr>
                  <a:spLocks noChangeShapeType="1"/>
                </p:cNvSpPr>
                <p:nvPr/>
              </p:nvSpPr>
              <p:spPr bwMode="auto">
                <a:xfrm flipH="1">
                  <a:off x="1200" y="2448"/>
                  <a:ext cx="816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anchor="b"/>
                <a:lstStyle/>
                <a:p>
                  <a:endParaRPr lang="en-GB"/>
                </a:p>
              </p:txBody>
            </p:sp>
            <p:sp>
              <p:nvSpPr>
                <p:cNvPr id="107551" name="Line 9"/>
                <p:cNvSpPr>
                  <a:spLocks noChangeShapeType="1"/>
                </p:cNvSpPr>
                <p:nvPr/>
              </p:nvSpPr>
              <p:spPr bwMode="auto">
                <a:xfrm>
                  <a:off x="2016" y="2448"/>
                  <a:ext cx="0" cy="144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anchor="b"/>
                <a:lstStyle/>
                <a:p>
                  <a:endParaRPr lang="en-GB"/>
                </a:p>
              </p:txBody>
            </p:sp>
          </p:grpSp>
          <p:sp>
            <p:nvSpPr>
              <p:cNvPr id="107544" name="Line 10"/>
              <p:cNvSpPr>
                <a:spLocks noChangeShapeType="1"/>
              </p:cNvSpPr>
              <p:nvPr/>
            </p:nvSpPr>
            <p:spPr bwMode="auto">
              <a:xfrm>
                <a:off x="2631" y="2805"/>
                <a:ext cx="768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b"/>
              <a:lstStyle/>
              <a:p>
                <a:endParaRPr lang="en-GB"/>
              </a:p>
            </p:txBody>
          </p:sp>
          <p:grpSp>
            <p:nvGrpSpPr>
              <p:cNvPr id="107545" name="Group 11"/>
              <p:cNvGrpSpPr>
                <a:grpSpLocks/>
              </p:cNvGrpSpPr>
              <p:nvPr/>
            </p:nvGrpSpPr>
            <p:grpSpPr bwMode="auto">
              <a:xfrm>
                <a:off x="1008" y="2448"/>
                <a:ext cx="1008" cy="144"/>
                <a:chOff x="1200" y="2448"/>
                <a:chExt cx="816" cy="144"/>
              </a:xfrm>
            </p:grpSpPr>
            <p:sp>
              <p:nvSpPr>
                <p:cNvPr id="107546" name="Line 12"/>
                <p:cNvSpPr>
                  <a:spLocks noChangeShapeType="1"/>
                </p:cNvSpPr>
                <p:nvPr/>
              </p:nvSpPr>
              <p:spPr bwMode="auto">
                <a:xfrm flipV="1">
                  <a:off x="1200" y="2448"/>
                  <a:ext cx="0" cy="144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anchor="b"/>
                <a:lstStyle/>
                <a:p>
                  <a:endParaRPr lang="en-GB"/>
                </a:p>
              </p:txBody>
            </p:sp>
            <p:sp>
              <p:nvSpPr>
                <p:cNvPr id="107547" name="Line 13"/>
                <p:cNvSpPr>
                  <a:spLocks noChangeShapeType="1"/>
                </p:cNvSpPr>
                <p:nvPr/>
              </p:nvSpPr>
              <p:spPr bwMode="auto">
                <a:xfrm flipH="1">
                  <a:off x="1200" y="2448"/>
                  <a:ext cx="816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anchor="b"/>
                <a:lstStyle/>
                <a:p>
                  <a:endParaRPr lang="en-GB"/>
                </a:p>
              </p:txBody>
            </p:sp>
            <p:sp>
              <p:nvSpPr>
                <p:cNvPr id="107548" name="Line 14"/>
                <p:cNvSpPr>
                  <a:spLocks noChangeShapeType="1"/>
                </p:cNvSpPr>
                <p:nvPr/>
              </p:nvSpPr>
              <p:spPr bwMode="auto">
                <a:xfrm>
                  <a:off x="2016" y="2448"/>
                  <a:ext cx="0" cy="144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anchor="b"/>
                <a:lstStyle/>
                <a:p>
                  <a:endParaRPr lang="en-GB"/>
                </a:p>
              </p:txBody>
            </p:sp>
          </p:grpSp>
        </p:grpSp>
        <p:sp>
          <p:nvSpPr>
            <p:cNvPr id="107540" name="Oval 15"/>
            <p:cNvSpPr>
              <a:spLocks noChangeArrowheads="1"/>
            </p:cNvSpPr>
            <p:nvPr/>
          </p:nvSpPr>
          <p:spPr bwMode="auto">
            <a:xfrm>
              <a:off x="619" y="2160"/>
              <a:ext cx="1956" cy="912"/>
            </a:xfrm>
            <a:prstGeom prst="ellips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990033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600">
                  <a:solidFill>
                    <a:srgbClr val="80000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solidFill>
                  <a:schemeClr val="tx1"/>
                </a:solidFill>
              </a:endParaRPr>
            </a:p>
          </p:txBody>
        </p:sp>
        <p:sp>
          <p:nvSpPr>
            <p:cNvPr id="107541" name="Oval 16"/>
            <p:cNvSpPr>
              <a:spLocks noChangeArrowheads="1"/>
            </p:cNvSpPr>
            <p:nvPr/>
          </p:nvSpPr>
          <p:spPr bwMode="auto">
            <a:xfrm>
              <a:off x="2571" y="2274"/>
              <a:ext cx="2091" cy="912"/>
            </a:xfrm>
            <a:prstGeom prst="ellips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990033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600">
                  <a:solidFill>
                    <a:srgbClr val="80000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solidFill>
                  <a:schemeClr val="tx1"/>
                </a:solidFill>
              </a:endParaRPr>
            </a:p>
          </p:txBody>
        </p:sp>
      </p:grpSp>
      <p:graphicFrame>
        <p:nvGraphicFramePr>
          <p:cNvPr id="19" name="Object 17"/>
          <p:cNvGraphicFramePr>
            <a:graphicFrameLocks noChangeAspect="1"/>
          </p:cNvGraphicFramePr>
          <p:nvPr/>
        </p:nvGraphicFramePr>
        <p:xfrm>
          <a:off x="4953000" y="1143000"/>
          <a:ext cx="2927350" cy="243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553" name="Worksheet" r:id="rId6" imgW="0" imgH="0" progId="Excel.Sheet.8">
                  <p:embed/>
                </p:oleObj>
              </mc:Choice>
              <mc:Fallback>
                <p:oleObj name="Worksheet" r:id="rId6" imgW="0" imgH="0" progId="Excel.Sheet.8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1143000"/>
                        <a:ext cx="2927350" cy="2438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B2B2B2">
                                <a:alpha val="50195"/>
                              </a:srgbClr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3333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45791" dir="2021404" algn="ctr" rotWithShape="0">
                                <a:srgbClr val="9999FF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0" name="Group 18"/>
          <p:cNvGrpSpPr>
            <a:grpSpLocks/>
          </p:cNvGrpSpPr>
          <p:nvPr/>
        </p:nvGrpSpPr>
        <p:grpSpPr bwMode="auto">
          <a:xfrm>
            <a:off x="4495800" y="3962400"/>
            <a:ext cx="3683000" cy="2430463"/>
            <a:chOff x="2353" y="2537"/>
            <a:chExt cx="2320" cy="1531"/>
          </a:xfrm>
        </p:grpSpPr>
        <p:graphicFrame>
          <p:nvGraphicFramePr>
            <p:cNvPr id="107534" name="Object 19"/>
            <p:cNvGraphicFramePr>
              <a:graphicFrameLocks noChangeAspect="1"/>
            </p:cNvGraphicFramePr>
            <p:nvPr/>
          </p:nvGraphicFramePr>
          <p:xfrm>
            <a:off x="2353" y="2537"/>
            <a:ext cx="2320" cy="15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7554" name="Worksheet" r:id="rId8" imgW="0" imgH="0" progId="Excel.Sheet.8">
                    <p:embed/>
                  </p:oleObj>
                </mc:Choice>
                <mc:Fallback>
                  <p:oleObj name="Worksheet" r:id="rId8" imgW="0" imgH="0" progId="Excel.Sheet.8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53" y="2537"/>
                          <a:ext cx="2320" cy="153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B2B2B2">
                                  <a:alpha val="50195"/>
                                </a:srgbClr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rgbClr val="3333CC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45791" dir="2021404" algn="ctr" rotWithShape="0">
                                  <a:srgbClr val="9999FF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07535" name="Group 20"/>
            <p:cNvGrpSpPr>
              <a:grpSpLocks/>
            </p:cNvGrpSpPr>
            <p:nvPr/>
          </p:nvGrpSpPr>
          <p:grpSpPr bwMode="auto">
            <a:xfrm>
              <a:off x="2964" y="2822"/>
              <a:ext cx="1077" cy="147"/>
              <a:chOff x="1200" y="2448"/>
              <a:chExt cx="816" cy="144"/>
            </a:xfrm>
          </p:grpSpPr>
          <p:sp>
            <p:nvSpPr>
              <p:cNvPr id="107536" name="Line 21"/>
              <p:cNvSpPr>
                <a:spLocks noChangeShapeType="1"/>
              </p:cNvSpPr>
              <p:nvPr/>
            </p:nvSpPr>
            <p:spPr bwMode="auto">
              <a:xfrm flipV="1">
                <a:off x="1200" y="2448"/>
                <a:ext cx="0" cy="14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b"/>
              <a:lstStyle/>
              <a:p>
                <a:endParaRPr lang="en-GB"/>
              </a:p>
            </p:txBody>
          </p:sp>
          <p:sp>
            <p:nvSpPr>
              <p:cNvPr id="107537" name="Line 22"/>
              <p:cNvSpPr>
                <a:spLocks noChangeShapeType="1"/>
              </p:cNvSpPr>
              <p:nvPr/>
            </p:nvSpPr>
            <p:spPr bwMode="auto">
              <a:xfrm flipH="1">
                <a:off x="1200" y="2448"/>
                <a:ext cx="81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b"/>
              <a:lstStyle/>
              <a:p>
                <a:endParaRPr lang="en-GB"/>
              </a:p>
            </p:txBody>
          </p:sp>
          <p:sp>
            <p:nvSpPr>
              <p:cNvPr id="107538" name="Line 23"/>
              <p:cNvSpPr>
                <a:spLocks noChangeShapeType="1"/>
              </p:cNvSpPr>
              <p:nvPr/>
            </p:nvSpPr>
            <p:spPr bwMode="auto">
              <a:xfrm>
                <a:off x="2016" y="2448"/>
                <a:ext cx="0" cy="14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b"/>
              <a:lstStyle/>
              <a:p>
                <a:endParaRPr lang="en-GB"/>
              </a:p>
            </p:txBody>
          </p:sp>
        </p:grpSp>
      </p:grpSp>
      <p:grpSp>
        <p:nvGrpSpPr>
          <p:cNvPr id="26" name="Group 24"/>
          <p:cNvGrpSpPr>
            <a:grpSpLocks/>
          </p:cNvGrpSpPr>
          <p:nvPr/>
        </p:nvGrpSpPr>
        <p:grpSpPr bwMode="auto">
          <a:xfrm>
            <a:off x="914400" y="4043363"/>
            <a:ext cx="2779713" cy="2344737"/>
            <a:chOff x="203" y="2522"/>
            <a:chExt cx="1751" cy="1477"/>
          </a:xfrm>
        </p:grpSpPr>
        <p:graphicFrame>
          <p:nvGraphicFramePr>
            <p:cNvPr id="107529" name="Object 25"/>
            <p:cNvGraphicFramePr>
              <a:graphicFrameLocks noChangeAspect="1"/>
            </p:cNvGraphicFramePr>
            <p:nvPr/>
          </p:nvGraphicFramePr>
          <p:xfrm>
            <a:off x="203" y="2522"/>
            <a:ext cx="1751" cy="14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7555" name="Worksheet" r:id="rId10" imgW="0" imgH="0" progId="Excel.Sheet.8">
                    <p:embed/>
                  </p:oleObj>
                </mc:Choice>
                <mc:Fallback>
                  <p:oleObj name="Worksheet" r:id="rId10" imgW="0" imgH="0" progId="Excel.Sheet.8">
                    <p:embed/>
                    <p:pic>
                      <p:nvPicPr>
                        <p:cNvPr id="0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3" y="2522"/>
                          <a:ext cx="1751" cy="14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B2B2B2">
                                  <a:alpha val="50195"/>
                                </a:srgbClr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rgbClr val="3333CC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45791" dir="2021404" algn="ctr" rotWithShape="0">
                                  <a:srgbClr val="9999FF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07530" name="Group 26"/>
            <p:cNvGrpSpPr>
              <a:grpSpLocks/>
            </p:cNvGrpSpPr>
            <p:nvPr/>
          </p:nvGrpSpPr>
          <p:grpSpPr bwMode="auto">
            <a:xfrm>
              <a:off x="541" y="2789"/>
              <a:ext cx="1076" cy="147"/>
              <a:chOff x="1200" y="2448"/>
              <a:chExt cx="816" cy="144"/>
            </a:xfrm>
          </p:grpSpPr>
          <p:sp>
            <p:nvSpPr>
              <p:cNvPr id="107531" name="Line 27"/>
              <p:cNvSpPr>
                <a:spLocks noChangeShapeType="1"/>
              </p:cNvSpPr>
              <p:nvPr/>
            </p:nvSpPr>
            <p:spPr bwMode="auto">
              <a:xfrm flipV="1">
                <a:off x="1200" y="2448"/>
                <a:ext cx="0" cy="14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b"/>
              <a:lstStyle/>
              <a:p>
                <a:endParaRPr lang="en-GB"/>
              </a:p>
            </p:txBody>
          </p:sp>
          <p:sp>
            <p:nvSpPr>
              <p:cNvPr id="107532" name="Line 28"/>
              <p:cNvSpPr>
                <a:spLocks noChangeShapeType="1"/>
              </p:cNvSpPr>
              <p:nvPr/>
            </p:nvSpPr>
            <p:spPr bwMode="auto">
              <a:xfrm flipH="1">
                <a:off x="1200" y="2448"/>
                <a:ext cx="81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b"/>
              <a:lstStyle/>
              <a:p>
                <a:endParaRPr lang="en-GB"/>
              </a:p>
            </p:txBody>
          </p:sp>
          <p:sp>
            <p:nvSpPr>
              <p:cNvPr id="107533" name="Line 29"/>
              <p:cNvSpPr>
                <a:spLocks noChangeShapeType="1"/>
              </p:cNvSpPr>
              <p:nvPr/>
            </p:nvSpPr>
            <p:spPr bwMode="auto">
              <a:xfrm>
                <a:off x="2016" y="2448"/>
                <a:ext cx="0" cy="14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b"/>
              <a:lstStyle/>
              <a:p>
                <a:endParaRPr lang="en-GB"/>
              </a:p>
            </p:txBody>
          </p:sp>
        </p:grpSp>
      </p:grp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smtClean="0">
                <a:solidFill>
                  <a:srgbClr val="990033"/>
                </a:solidFill>
              </a:rPr>
              <a:t>Slide 10- </a:t>
            </a:r>
            <a:fld id="{1FE01E11-7B0E-48F1-BF4A-211C6BF31ECC}" type="slidenum">
              <a:rPr lang="en-US" altLang="en-US" sz="1400" smtClean="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52</a:t>
            </a:fld>
            <a:endParaRPr lang="en-CA" altLang="en-US" sz="1400" smtClean="0">
              <a:solidFill>
                <a:srgbClr val="990033"/>
              </a:solidFill>
            </a:endParaRPr>
          </a:p>
        </p:txBody>
      </p:sp>
      <p:sp>
        <p:nvSpPr>
          <p:cNvPr id="109571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3.4 Third Normal Form (1)</a:t>
            </a:r>
          </a:p>
        </p:txBody>
      </p:sp>
      <p:sp>
        <p:nvSpPr>
          <p:cNvPr id="109572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mtClean="0"/>
              <a:t>Definition: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b="1" smtClean="0"/>
              <a:t>Transitive functional dependency:</a:t>
            </a:r>
            <a:r>
              <a:rPr lang="en-US" altLang="en-US" smtClean="0"/>
              <a:t> a FD  X -&gt; Z that can be derived from two FDs   X -&gt; Y and Y -&gt; Z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mtClean="0"/>
              <a:t>Examples: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mtClean="0"/>
              <a:t>SSN -&gt; DMGRSSN is a </a:t>
            </a:r>
            <a:r>
              <a:rPr lang="en-US" altLang="en-US" b="1" smtClean="0"/>
              <a:t>transitive</a:t>
            </a:r>
            <a:r>
              <a:rPr lang="en-US" altLang="en-US" smtClean="0"/>
              <a:t> FD 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mtClean="0"/>
              <a:t>Since SSN -&gt; DNUMBER and DNUMBER -&gt; DMGRSSN hold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mtClean="0"/>
              <a:t>SSN -&gt; ENAME is </a:t>
            </a:r>
            <a:r>
              <a:rPr lang="en-US" altLang="en-US" b="1" smtClean="0"/>
              <a:t>non-transitive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mtClean="0"/>
              <a:t>Since there is no set of attributes X where SSN -&gt; X and X -&gt; ENAME 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smtClean="0">
                <a:solidFill>
                  <a:srgbClr val="990033"/>
                </a:solidFill>
              </a:rPr>
              <a:t>Slide 10- </a:t>
            </a:r>
            <a:fld id="{202F0596-74BD-4165-9609-F137990211F1}" type="slidenum">
              <a:rPr lang="en-US" altLang="en-US" sz="1400" smtClean="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53</a:t>
            </a:fld>
            <a:endParaRPr lang="en-CA" altLang="en-US" sz="1400" smtClean="0">
              <a:solidFill>
                <a:srgbClr val="990033"/>
              </a:solidFill>
            </a:endParaRPr>
          </a:p>
        </p:txBody>
      </p:sp>
      <p:sp>
        <p:nvSpPr>
          <p:cNvPr id="111619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Third Normal Form (2)</a:t>
            </a:r>
          </a:p>
        </p:txBody>
      </p:sp>
      <p:sp>
        <p:nvSpPr>
          <p:cNvPr id="111620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400" smtClean="0"/>
              <a:t>A relation schema R is in </a:t>
            </a:r>
            <a:r>
              <a:rPr lang="en-US" altLang="en-US" sz="2400" b="1" smtClean="0"/>
              <a:t>third normal form (3NF)</a:t>
            </a:r>
            <a:r>
              <a:rPr lang="en-US" altLang="en-US" sz="2400" smtClean="0"/>
              <a:t> if it is in 2NF </a:t>
            </a:r>
            <a:r>
              <a:rPr lang="en-US" altLang="en-US" sz="2400" i="1" smtClean="0"/>
              <a:t>and</a:t>
            </a:r>
            <a:r>
              <a:rPr lang="en-US" altLang="en-US" sz="2400" smtClean="0"/>
              <a:t> no non-prime attribute A in R is transitively dependent on the primary key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smtClean="0"/>
              <a:t>R can be decomposed into 3NF relations via the process of 3NF normalization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smtClean="0"/>
              <a:t>NOTE: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200" smtClean="0"/>
              <a:t>In X -&gt; Y and Y -&gt; Z, with X as the primary key, we consider this a problem only if Y is not a candidate key.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200" smtClean="0"/>
              <a:t>When Y is a candidate key, there is no problem with the transitive dependency 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200" smtClean="0"/>
              <a:t>E.g., Consider EMP (SSN, Emp#, Salary ). 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2000" smtClean="0"/>
              <a:t>Here, SSN -&gt; Emp# -&gt; Salary and Emp# is a candidate key. 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Bringing a Relation to 3NF</a:t>
            </a:r>
          </a:p>
        </p:txBody>
      </p:sp>
      <p:sp>
        <p:nvSpPr>
          <p:cNvPr id="113667" name="Content Placeholder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Goal: Get rid of transitive dependencies.</a:t>
            </a:r>
          </a:p>
          <a:p>
            <a:endParaRPr lang="en-US" altLang="en-US" smtClean="0"/>
          </a:p>
        </p:txBody>
      </p:sp>
      <p:sp>
        <p:nvSpPr>
          <p:cNvPr id="11366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smtClean="0">
                <a:solidFill>
                  <a:srgbClr val="990033"/>
                </a:solidFill>
              </a:rPr>
              <a:t>Slide 10- </a:t>
            </a:r>
            <a:fld id="{57FA0896-21D0-412B-8E27-B231F716E2C4}" type="slidenum">
              <a:rPr lang="en-US" altLang="en-US" sz="1400" smtClean="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54</a:t>
            </a:fld>
            <a:endParaRPr lang="en-CA" altLang="en-US" sz="1400" smtClean="0">
              <a:solidFill>
                <a:srgbClr val="990033"/>
              </a:solidFill>
            </a:endParaRPr>
          </a:p>
        </p:txBody>
      </p:sp>
      <p:grpSp>
        <p:nvGrpSpPr>
          <p:cNvPr id="26" name="Group 4"/>
          <p:cNvGrpSpPr>
            <a:grpSpLocks/>
          </p:cNvGrpSpPr>
          <p:nvPr/>
        </p:nvGrpSpPr>
        <p:grpSpPr bwMode="auto">
          <a:xfrm>
            <a:off x="685800" y="3533775"/>
            <a:ext cx="7629525" cy="2062163"/>
            <a:chOff x="486" y="2352"/>
            <a:chExt cx="4752" cy="1218"/>
          </a:xfrm>
        </p:grpSpPr>
        <p:graphicFrame>
          <p:nvGraphicFramePr>
            <p:cNvPr id="113672" name="Object 5"/>
            <p:cNvGraphicFramePr>
              <a:graphicFrameLocks noChangeAspect="1"/>
            </p:cNvGraphicFramePr>
            <p:nvPr/>
          </p:nvGraphicFramePr>
          <p:xfrm>
            <a:off x="486" y="2352"/>
            <a:ext cx="4752" cy="12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3690" name="Worksheet" r:id="rId4" imgW="0" imgH="0" progId="Excel.Sheet.8">
                    <p:embed/>
                  </p:oleObj>
                </mc:Choice>
                <mc:Fallback>
                  <p:oleObj name="Worksheet" r:id="rId4" imgW="0" imgH="0" progId="Excel.Sheet.8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6" y="2352"/>
                          <a:ext cx="4752" cy="12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B2B2B2">
                                  <a:alpha val="50195"/>
                                </a:srgbClr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rgbClr val="3333CC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45791" dir="2021404" algn="ctr" rotWithShape="0">
                                  <a:srgbClr val="9999FF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13673" name="Group 6"/>
            <p:cNvGrpSpPr>
              <a:grpSpLocks/>
            </p:cNvGrpSpPr>
            <p:nvPr/>
          </p:nvGrpSpPr>
          <p:grpSpPr bwMode="auto">
            <a:xfrm>
              <a:off x="870" y="2592"/>
              <a:ext cx="2736" cy="192"/>
              <a:chOff x="816" y="2592"/>
              <a:chExt cx="2736" cy="192"/>
            </a:xfrm>
          </p:grpSpPr>
          <p:grpSp>
            <p:nvGrpSpPr>
              <p:cNvPr id="113678" name="Group 7"/>
              <p:cNvGrpSpPr>
                <a:grpSpLocks/>
              </p:cNvGrpSpPr>
              <p:nvPr/>
            </p:nvGrpSpPr>
            <p:grpSpPr bwMode="auto">
              <a:xfrm>
                <a:off x="816" y="2592"/>
                <a:ext cx="1008" cy="192"/>
                <a:chOff x="1200" y="2448"/>
                <a:chExt cx="816" cy="144"/>
              </a:xfrm>
            </p:grpSpPr>
            <p:sp>
              <p:nvSpPr>
                <p:cNvPr id="42" name="Line 8">
                  <a:extLst>
                    <a:ext uri="{FF2B5EF4-FFF2-40B4-BE49-F238E27FC236}">
                      <a16:creationId xmlns:a16="http://schemas.microsoft.com/office/drawing/2014/main" id="{4E329F5F-B378-F146-B28E-28F8C2851FC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1200" y="2448"/>
                  <a:ext cx="0" cy="144"/>
                </a:xfrm>
                <a:prstGeom prst="line">
                  <a:avLst/>
                </a:prstGeom>
                <a:noFill/>
                <a:ln w="28575">
                  <a:solidFill>
                    <a:sysClr val="windowText" lastClr="000000"/>
                  </a:solidFill>
                  <a:round/>
                  <a:headEnd/>
                  <a:tailEnd/>
                </a:ln>
                <a:effectLst/>
              </p:spPr>
              <p:txBody>
                <a:bodyPr anchor="b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1800" i="0" kern="0">
                    <a:solidFill>
                      <a:prstClr val="black"/>
                    </a:solidFill>
                    <a:latin typeface="Century Schoolbook"/>
                  </a:endParaRPr>
                </a:p>
              </p:txBody>
            </p:sp>
            <p:sp>
              <p:nvSpPr>
                <p:cNvPr id="43" name="Line 9">
                  <a:extLst>
                    <a:ext uri="{FF2B5EF4-FFF2-40B4-BE49-F238E27FC236}">
                      <a16:creationId xmlns:a16="http://schemas.microsoft.com/office/drawing/2014/main" id="{27C240CF-79CE-6A43-98A5-AD31F9D1522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200" y="2448"/>
                  <a:ext cx="816" cy="0"/>
                </a:xfrm>
                <a:prstGeom prst="line">
                  <a:avLst/>
                </a:prstGeom>
                <a:noFill/>
                <a:ln w="28575">
                  <a:solidFill>
                    <a:sysClr val="windowText" lastClr="000000"/>
                  </a:solidFill>
                  <a:round/>
                  <a:headEnd/>
                  <a:tailEnd/>
                </a:ln>
                <a:effectLst/>
              </p:spPr>
              <p:txBody>
                <a:bodyPr anchor="b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1800" i="0" kern="0">
                    <a:solidFill>
                      <a:prstClr val="black"/>
                    </a:solidFill>
                    <a:latin typeface="Century Schoolbook"/>
                  </a:endParaRPr>
                </a:p>
              </p:txBody>
            </p:sp>
            <p:sp>
              <p:nvSpPr>
                <p:cNvPr id="44" name="Line 10">
                  <a:extLst>
                    <a:ext uri="{FF2B5EF4-FFF2-40B4-BE49-F238E27FC236}">
                      <a16:creationId xmlns:a16="http://schemas.microsoft.com/office/drawing/2014/main" id="{6E8EE025-0AA1-2F40-A318-574B74CFA7D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015" y="2448"/>
                  <a:ext cx="0" cy="144"/>
                </a:xfrm>
                <a:prstGeom prst="line">
                  <a:avLst/>
                </a:prstGeom>
                <a:noFill/>
                <a:ln w="28575">
                  <a:solidFill>
                    <a:sysClr val="windowText" lastClr="000000"/>
                  </a:solidFill>
                  <a:round/>
                  <a:headEnd/>
                  <a:tailEnd type="triangle" w="med" len="med"/>
                </a:ln>
                <a:effectLst/>
              </p:spPr>
              <p:txBody>
                <a:bodyPr anchor="b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1800" i="0" kern="0">
                    <a:solidFill>
                      <a:prstClr val="black"/>
                    </a:solidFill>
                    <a:latin typeface="Century Schoolbook"/>
                  </a:endParaRPr>
                </a:p>
              </p:txBody>
            </p:sp>
          </p:grpSp>
          <p:grpSp>
            <p:nvGrpSpPr>
              <p:cNvPr id="113679" name="Group 11"/>
              <p:cNvGrpSpPr>
                <a:grpSpLocks/>
              </p:cNvGrpSpPr>
              <p:nvPr/>
            </p:nvGrpSpPr>
            <p:grpSpPr bwMode="auto">
              <a:xfrm>
                <a:off x="2832" y="2592"/>
                <a:ext cx="720" cy="192"/>
                <a:chOff x="1200" y="2448"/>
                <a:chExt cx="816" cy="144"/>
              </a:xfrm>
            </p:grpSpPr>
            <p:sp>
              <p:nvSpPr>
                <p:cNvPr id="39" name="Line 12">
                  <a:extLst>
                    <a:ext uri="{FF2B5EF4-FFF2-40B4-BE49-F238E27FC236}">
                      <a16:creationId xmlns:a16="http://schemas.microsoft.com/office/drawing/2014/main" id="{9FBC08BC-6B63-7E4A-AA05-8ED911ED066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1200" y="2448"/>
                  <a:ext cx="0" cy="144"/>
                </a:xfrm>
                <a:prstGeom prst="line">
                  <a:avLst/>
                </a:prstGeom>
                <a:noFill/>
                <a:ln w="28575">
                  <a:solidFill>
                    <a:sysClr val="windowText" lastClr="000000"/>
                  </a:solidFill>
                  <a:round/>
                  <a:headEnd/>
                  <a:tailEnd/>
                </a:ln>
                <a:effectLst/>
              </p:spPr>
              <p:txBody>
                <a:bodyPr anchor="b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1800" i="0" kern="0">
                    <a:solidFill>
                      <a:prstClr val="black"/>
                    </a:solidFill>
                    <a:latin typeface="Century Schoolbook"/>
                  </a:endParaRPr>
                </a:p>
              </p:txBody>
            </p:sp>
            <p:sp>
              <p:nvSpPr>
                <p:cNvPr id="40" name="Line 13">
                  <a:extLst>
                    <a:ext uri="{FF2B5EF4-FFF2-40B4-BE49-F238E27FC236}">
                      <a16:creationId xmlns:a16="http://schemas.microsoft.com/office/drawing/2014/main" id="{513431A7-CD51-774C-A8FC-455E2FCAE31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200" y="2448"/>
                  <a:ext cx="816" cy="0"/>
                </a:xfrm>
                <a:prstGeom prst="line">
                  <a:avLst/>
                </a:prstGeom>
                <a:noFill/>
                <a:ln w="28575">
                  <a:solidFill>
                    <a:sysClr val="windowText" lastClr="000000"/>
                  </a:solidFill>
                  <a:round/>
                  <a:headEnd/>
                  <a:tailEnd/>
                </a:ln>
                <a:effectLst/>
              </p:spPr>
              <p:txBody>
                <a:bodyPr anchor="b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1800" i="0" kern="0">
                    <a:solidFill>
                      <a:prstClr val="black"/>
                    </a:solidFill>
                    <a:latin typeface="Century Schoolbook"/>
                  </a:endParaRPr>
                </a:p>
              </p:txBody>
            </p:sp>
            <p:sp>
              <p:nvSpPr>
                <p:cNvPr id="41" name="Line 14">
                  <a:extLst>
                    <a:ext uri="{FF2B5EF4-FFF2-40B4-BE49-F238E27FC236}">
                      <a16:creationId xmlns:a16="http://schemas.microsoft.com/office/drawing/2014/main" id="{DEAE41B2-6E27-894F-9969-FDE1C05E15F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011" y="2448"/>
                  <a:ext cx="0" cy="144"/>
                </a:xfrm>
                <a:prstGeom prst="line">
                  <a:avLst/>
                </a:prstGeom>
                <a:noFill/>
                <a:ln w="28575">
                  <a:solidFill>
                    <a:sysClr val="windowText" lastClr="000000"/>
                  </a:solidFill>
                  <a:round/>
                  <a:headEnd/>
                  <a:tailEnd type="triangle" w="med" len="med"/>
                </a:ln>
                <a:effectLst/>
              </p:spPr>
              <p:txBody>
                <a:bodyPr anchor="b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1800" i="0" kern="0">
                    <a:solidFill>
                      <a:prstClr val="black"/>
                    </a:solidFill>
                    <a:latin typeface="Century Schoolbook"/>
                  </a:endParaRPr>
                </a:p>
              </p:txBody>
            </p:sp>
          </p:grpSp>
          <p:grpSp>
            <p:nvGrpSpPr>
              <p:cNvPr id="113680" name="Group 15"/>
              <p:cNvGrpSpPr>
                <a:grpSpLocks/>
              </p:cNvGrpSpPr>
              <p:nvPr/>
            </p:nvGrpSpPr>
            <p:grpSpPr bwMode="auto">
              <a:xfrm>
                <a:off x="1824" y="2592"/>
                <a:ext cx="1008" cy="192"/>
                <a:chOff x="1200" y="2448"/>
                <a:chExt cx="816" cy="144"/>
              </a:xfrm>
            </p:grpSpPr>
            <p:sp>
              <p:nvSpPr>
                <p:cNvPr id="36" name="Line 16">
                  <a:extLst>
                    <a:ext uri="{FF2B5EF4-FFF2-40B4-BE49-F238E27FC236}">
                      <a16:creationId xmlns:a16="http://schemas.microsoft.com/office/drawing/2014/main" id="{91E0787E-2647-F043-B20B-440A74C79D8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1199" y="2448"/>
                  <a:ext cx="0" cy="144"/>
                </a:xfrm>
                <a:prstGeom prst="line">
                  <a:avLst/>
                </a:prstGeom>
                <a:noFill/>
                <a:ln w="28575">
                  <a:solidFill>
                    <a:sysClr val="windowText" lastClr="000000"/>
                  </a:solidFill>
                  <a:round/>
                  <a:headEnd/>
                  <a:tailEnd/>
                </a:ln>
                <a:effectLst/>
              </p:spPr>
              <p:txBody>
                <a:bodyPr anchor="b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1800" i="0" kern="0">
                    <a:solidFill>
                      <a:prstClr val="black"/>
                    </a:solidFill>
                    <a:latin typeface="Century Schoolbook"/>
                  </a:endParaRPr>
                </a:p>
              </p:txBody>
            </p:sp>
            <p:sp>
              <p:nvSpPr>
                <p:cNvPr id="37" name="Line 17">
                  <a:extLst>
                    <a:ext uri="{FF2B5EF4-FFF2-40B4-BE49-F238E27FC236}">
                      <a16:creationId xmlns:a16="http://schemas.microsoft.com/office/drawing/2014/main" id="{F3403F6E-2394-234A-B7FF-8B0C3FE0E06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199" y="2448"/>
                  <a:ext cx="816" cy="0"/>
                </a:xfrm>
                <a:prstGeom prst="line">
                  <a:avLst/>
                </a:prstGeom>
                <a:noFill/>
                <a:ln w="28575">
                  <a:solidFill>
                    <a:sysClr val="windowText" lastClr="000000"/>
                  </a:solidFill>
                  <a:round/>
                  <a:headEnd/>
                  <a:tailEnd/>
                </a:ln>
                <a:effectLst/>
              </p:spPr>
              <p:txBody>
                <a:bodyPr anchor="b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1800" i="0" kern="0">
                    <a:solidFill>
                      <a:prstClr val="black"/>
                    </a:solidFill>
                    <a:latin typeface="Century Schoolbook"/>
                  </a:endParaRPr>
                </a:p>
              </p:txBody>
            </p:sp>
            <p:sp>
              <p:nvSpPr>
                <p:cNvPr id="38" name="Line 18">
                  <a:extLst>
                    <a:ext uri="{FF2B5EF4-FFF2-40B4-BE49-F238E27FC236}">
                      <a16:creationId xmlns:a16="http://schemas.microsoft.com/office/drawing/2014/main" id="{5BBEAC41-CF89-1645-8091-88AA305D7C3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016" y="2448"/>
                  <a:ext cx="0" cy="144"/>
                </a:xfrm>
                <a:prstGeom prst="line">
                  <a:avLst/>
                </a:prstGeom>
                <a:noFill/>
                <a:ln w="28575">
                  <a:solidFill>
                    <a:sysClr val="windowText" lastClr="000000"/>
                  </a:solidFill>
                  <a:round/>
                  <a:headEnd/>
                  <a:tailEnd type="triangle" w="med" len="med"/>
                </a:ln>
                <a:effectLst/>
              </p:spPr>
              <p:txBody>
                <a:bodyPr anchor="b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1800" i="0" kern="0">
                    <a:solidFill>
                      <a:prstClr val="black"/>
                    </a:solidFill>
                    <a:latin typeface="Century Schoolbook"/>
                  </a:endParaRPr>
                </a:p>
              </p:txBody>
            </p:sp>
          </p:grpSp>
        </p:grpSp>
        <p:grpSp>
          <p:nvGrpSpPr>
            <p:cNvPr id="113674" name="Group 19"/>
            <p:cNvGrpSpPr>
              <a:grpSpLocks/>
            </p:cNvGrpSpPr>
            <p:nvPr/>
          </p:nvGrpSpPr>
          <p:grpSpPr bwMode="auto">
            <a:xfrm>
              <a:off x="3894" y="2592"/>
              <a:ext cx="768" cy="192"/>
              <a:chOff x="1200" y="2448"/>
              <a:chExt cx="816" cy="144"/>
            </a:xfrm>
          </p:grpSpPr>
          <p:sp>
            <p:nvSpPr>
              <p:cNvPr id="30" name="Line 20">
                <a:extLst>
                  <a:ext uri="{FF2B5EF4-FFF2-40B4-BE49-F238E27FC236}">
                    <a16:creationId xmlns:a16="http://schemas.microsoft.com/office/drawing/2014/main" id="{144E712F-5AD8-FE4F-B73B-224D0DCEE62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200" y="2448"/>
                <a:ext cx="0" cy="144"/>
              </a:xfrm>
              <a:prstGeom prst="line">
                <a:avLst/>
              </a:prstGeom>
              <a:noFill/>
              <a:ln w="28575">
                <a:solidFill>
                  <a:sysClr val="windowText" lastClr="000000"/>
                </a:solidFill>
                <a:round/>
                <a:headEnd/>
                <a:tailEnd/>
              </a:ln>
              <a:effectLst/>
            </p:spPr>
            <p:txBody>
              <a:bodyPr anchor="b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800" i="0" kern="0">
                  <a:solidFill>
                    <a:prstClr val="black"/>
                  </a:solidFill>
                  <a:latin typeface="Century Schoolbook"/>
                </a:endParaRPr>
              </a:p>
            </p:txBody>
          </p:sp>
          <p:sp>
            <p:nvSpPr>
              <p:cNvPr id="31" name="Line 21">
                <a:extLst>
                  <a:ext uri="{FF2B5EF4-FFF2-40B4-BE49-F238E27FC236}">
                    <a16:creationId xmlns:a16="http://schemas.microsoft.com/office/drawing/2014/main" id="{38FF90FE-897D-A045-B1A9-623FF8B653C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200" y="2448"/>
                <a:ext cx="806" cy="0"/>
              </a:xfrm>
              <a:prstGeom prst="line">
                <a:avLst/>
              </a:prstGeom>
              <a:noFill/>
              <a:ln w="28575">
                <a:solidFill>
                  <a:sysClr val="windowText" lastClr="000000"/>
                </a:solidFill>
                <a:round/>
                <a:headEnd/>
                <a:tailEnd/>
              </a:ln>
              <a:effectLst/>
            </p:spPr>
            <p:txBody>
              <a:bodyPr anchor="b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800" i="0" kern="0">
                  <a:solidFill>
                    <a:prstClr val="black"/>
                  </a:solidFill>
                  <a:latin typeface="Century Schoolbook"/>
                </a:endParaRPr>
              </a:p>
            </p:txBody>
          </p:sp>
          <p:sp>
            <p:nvSpPr>
              <p:cNvPr id="32" name="Line 22">
                <a:extLst>
                  <a:ext uri="{FF2B5EF4-FFF2-40B4-BE49-F238E27FC236}">
                    <a16:creationId xmlns:a16="http://schemas.microsoft.com/office/drawing/2014/main" id="{23599D2F-3773-B442-8586-998CB118827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16" y="2448"/>
                <a:ext cx="0" cy="144"/>
              </a:xfrm>
              <a:prstGeom prst="line">
                <a:avLst/>
              </a:prstGeom>
              <a:noFill/>
              <a:ln w="28575">
                <a:solidFill>
                  <a:sysClr val="windowText" lastClr="000000"/>
                </a:solidFill>
                <a:round/>
                <a:headEnd/>
                <a:tailEnd type="triangle" w="med" len="med"/>
              </a:ln>
              <a:effectLst/>
            </p:spPr>
            <p:txBody>
              <a:bodyPr anchor="b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800" i="0" kern="0">
                  <a:solidFill>
                    <a:prstClr val="black"/>
                  </a:solidFill>
                  <a:latin typeface="Century Schoolbook"/>
                </a:endParaRPr>
              </a:p>
            </p:txBody>
          </p:sp>
        </p:grpSp>
      </p:grpSp>
      <p:sp>
        <p:nvSpPr>
          <p:cNvPr id="45" name="Oval 23">
            <a:extLst>
              <a:ext uri="{FF2B5EF4-FFF2-40B4-BE49-F238E27FC236}">
                <a16:creationId xmlns:a16="http://schemas.microsoft.com/office/drawing/2014/main" id="{3805969F-A699-4341-9B7A-FA3D4FE36B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05488" y="3524250"/>
            <a:ext cx="1981200" cy="914400"/>
          </a:xfrm>
          <a:prstGeom prst="ellipse">
            <a:avLst/>
          </a:prstGeom>
          <a:noFill/>
          <a:ln w="28575">
            <a:solidFill>
              <a:srgbClr val="575F6D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800" i="0" kern="0">
              <a:solidFill>
                <a:prstClr val="black"/>
              </a:solidFill>
              <a:latin typeface="Century Schoolbook"/>
            </a:endParaRPr>
          </a:p>
        </p:txBody>
      </p:sp>
      <p:sp>
        <p:nvSpPr>
          <p:cNvPr id="46" name="AutoShape 24">
            <a:extLst>
              <a:ext uri="{FF2B5EF4-FFF2-40B4-BE49-F238E27FC236}">
                <a16:creationId xmlns:a16="http://schemas.microsoft.com/office/drawing/2014/main" id="{27943909-348C-2241-98C7-D63DAB2F18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6138" y="2800350"/>
            <a:ext cx="3186112" cy="809625"/>
          </a:xfrm>
          <a:prstGeom prst="wedgeEllipseCallout">
            <a:avLst>
              <a:gd name="adj1" fmla="val 30120"/>
              <a:gd name="adj2" fmla="val 61176"/>
            </a:avLst>
          </a:prstGeom>
          <a:solidFill>
            <a:srgbClr val="FFF39D">
              <a:alpha val="50000"/>
            </a:srgbClr>
          </a:solidFill>
          <a:ln w="12700">
            <a:solidFill>
              <a:srgbClr val="575F6D"/>
            </a:solidFill>
            <a:miter lim="800000"/>
            <a:headEnd/>
            <a:tailEnd/>
          </a:ln>
          <a:effectLst/>
        </p:spPr>
        <p:txBody>
          <a:bodyPr anchor="b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 b="1" i="0" kern="0">
                <a:solidFill>
                  <a:srgbClr val="575F6D"/>
                </a:solidFill>
                <a:latin typeface="Century Schoolbook"/>
              </a:rPr>
              <a:t>Transitive Dependency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animBg="1"/>
      <p:bldP spid="46" grpId="0" animBg="1" autoUpdateAnimBg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Bringing a Relation to 3NF</a:t>
            </a:r>
          </a:p>
        </p:txBody>
      </p:sp>
      <p:sp>
        <p:nvSpPr>
          <p:cNvPr id="115715" name="Content Placeholder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1600" smtClean="0"/>
              <a:t>Remove the attributes, which are dependent on a non-key attribute, from the original relation. </a:t>
            </a:r>
          </a:p>
          <a:p>
            <a:pPr>
              <a:lnSpc>
                <a:spcPct val="90000"/>
              </a:lnSpc>
            </a:pPr>
            <a:r>
              <a:rPr lang="en-US" altLang="en-US" sz="1600" smtClean="0"/>
              <a:t>For each transitive dependency, </a:t>
            </a:r>
          </a:p>
          <a:p>
            <a:pPr lvl="1">
              <a:lnSpc>
                <a:spcPct val="90000"/>
              </a:lnSpc>
            </a:pPr>
            <a:r>
              <a:rPr lang="en-US" altLang="en-US" sz="1800" smtClean="0"/>
              <a:t>create a new relation with the non-key attribute which is a determinant in the transitive dependency as a primary key, </a:t>
            </a:r>
          </a:p>
          <a:p>
            <a:pPr lvl="1">
              <a:lnSpc>
                <a:spcPct val="90000"/>
              </a:lnSpc>
            </a:pPr>
            <a:r>
              <a:rPr lang="en-US" altLang="en-US" sz="1800" smtClean="0"/>
              <a:t>and the dependent non-key attribute as a dependent. </a:t>
            </a:r>
          </a:p>
          <a:p>
            <a:endParaRPr lang="en-US" altLang="en-US" smtClean="0"/>
          </a:p>
        </p:txBody>
      </p:sp>
      <p:sp>
        <p:nvSpPr>
          <p:cNvPr id="11571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smtClean="0">
                <a:solidFill>
                  <a:srgbClr val="990033"/>
                </a:solidFill>
              </a:rPr>
              <a:t>Slide 10- </a:t>
            </a:r>
            <a:fld id="{2E05A762-7F26-409F-9755-4858FC3ECF97}" type="slidenum">
              <a:rPr lang="en-US" altLang="en-US" sz="1400" smtClean="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55</a:t>
            </a:fld>
            <a:endParaRPr lang="en-CA" altLang="en-US" sz="1400" smtClean="0">
              <a:solidFill>
                <a:srgbClr val="990033"/>
              </a:solidFill>
            </a:endParaRPr>
          </a:p>
        </p:txBody>
      </p:sp>
      <p:grpSp>
        <p:nvGrpSpPr>
          <p:cNvPr id="115717" name="Group 4"/>
          <p:cNvGrpSpPr>
            <a:grpSpLocks/>
          </p:cNvGrpSpPr>
          <p:nvPr/>
        </p:nvGrpSpPr>
        <p:grpSpPr bwMode="auto">
          <a:xfrm>
            <a:off x="700088" y="3738563"/>
            <a:ext cx="7629525" cy="2071687"/>
            <a:chOff x="441" y="2355"/>
            <a:chExt cx="4806" cy="1305"/>
          </a:xfrm>
        </p:grpSpPr>
        <p:grpSp>
          <p:nvGrpSpPr>
            <p:cNvPr id="115718" name="Group 5"/>
            <p:cNvGrpSpPr>
              <a:grpSpLocks/>
            </p:cNvGrpSpPr>
            <p:nvPr/>
          </p:nvGrpSpPr>
          <p:grpSpPr bwMode="auto">
            <a:xfrm>
              <a:off x="441" y="2361"/>
              <a:ext cx="4806" cy="1299"/>
              <a:chOff x="486" y="2352"/>
              <a:chExt cx="4752" cy="1218"/>
            </a:xfrm>
          </p:grpSpPr>
          <p:graphicFrame>
            <p:nvGraphicFramePr>
              <p:cNvPr id="115720" name="Object 6"/>
              <p:cNvGraphicFramePr>
                <a:graphicFrameLocks noChangeAspect="1"/>
              </p:cNvGraphicFramePr>
              <p:nvPr/>
            </p:nvGraphicFramePr>
            <p:xfrm>
              <a:off x="486" y="2352"/>
              <a:ext cx="4752" cy="121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5738" name="Worksheet" r:id="rId4" imgW="0" imgH="0" progId="Excel.Sheet.8">
                      <p:embed/>
                    </p:oleObj>
                  </mc:Choice>
                  <mc:Fallback>
                    <p:oleObj name="Worksheet" r:id="rId4" imgW="0" imgH="0" progId="Excel.Sheet.8">
                      <p:embed/>
                      <p:pic>
                        <p:nvPicPr>
                          <p:cNvPr id="0" name="Object 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86" y="2352"/>
                            <a:ext cx="4752" cy="121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B2B2B2">
                                    <a:alpha val="50195"/>
                                  </a:srgbClr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12700">
                                <a:solidFill>
                                  <a:srgbClr val="3333CC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45791" dir="2021404" algn="ctr" rotWithShape="0">
                                    <a:srgbClr val="9999FF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115721" name="Group 7"/>
              <p:cNvGrpSpPr>
                <a:grpSpLocks/>
              </p:cNvGrpSpPr>
              <p:nvPr/>
            </p:nvGrpSpPr>
            <p:grpSpPr bwMode="auto">
              <a:xfrm>
                <a:off x="870" y="2592"/>
                <a:ext cx="2736" cy="192"/>
                <a:chOff x="816" y="2592"/>
                <a:chExt cx="2736" cy="192"/>
              </a:xfrm>
            </p:grpSpPr>
            <p:grpSp>
              <p:nvGrpSpPr>
                <p:cNvPr id="115726" name="Group 8"/>
                <p:cNvGrpSpPr>
                  <a:grpSpLocks/>
                </p:cNvGrpSpPr>
                <p:nvPr/>
              </p:nvGrpSpPr>
              <p:grpSpPr bwMode="auto">
                <a:xfrm>
                  <a:off x="816" y="2592"/>
                  <a:ext cx="1008" cy="192"/>
                  <a:chOff x="1200" y="2448"/>
                  <a:chExt cx="816" cy="144"/>
                </a:xfrm>
              </p:grpSpPr>
              <p:sp>
                <p:nvSpPr>
                  <p:cNvPr id="115735" name="Line 9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200" y="2448"/>
                    <a:ext cx="0" cy="144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anchor="b"/>
                  <a:lstStyle/>
                  <a:p>
                    <a:endParaRPr lang="en-GB"/>
                  </a:p>
                </p:txBody>
              </p:sp>
              <p:sp>
                <p:nvSpPr>
                  <p:cNvPr id="115736" name="Line 10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200" y="2448"/>
                    <a:ext cx="816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anchor="b"/>
                  <a:lstStyle/>
                  <a:p>
                    <a:endParaRPr lang="en-GB"/>
                  </a:p>
                </p:txBody>
              </p:sp>
              <p:sp>
                <p:nvSpPr>
                  <p:cNvPr id="115737" name="Line 11"/>
                  <p:cNvSpPr>
                    <a:spLocks noChangeShapeType="1"/>
                  </p:cNvSpPr>
                  <p:nvPr/>
                </p:nvSpPr>
                <p:spPr bwMode="auto">
                  <a:xfrm>
                    <a:off x="2016" y="2448"/>
                    <a:ext cx="0" cy="144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anchor="b"/>
                  <a:lstStyle/>
                  <a:p>
                    <a:endParaRPr lang="en-GB"/>
                  </a:p>
                </p:txBody>
              </p:sp>
            </p:grpSp>
            <p:grpSp>
              <p:nvGrpSpPr>
                <p:cNvPr id="115727" name="Group 12"/>
                <p:cNvGrpSpPr>
                  <a:grpSpLocks/>
                </p:cNvGrpSpPr>
                <p:nvPr/>
              </p:nvGrpSpPr>
              <p:grpSpPr bwMode="auto">
                <a:xfrm>
                  <a:off x="2832" y="2592"/>
                  <a:ext cx="720" cy="192"/>
                  <a:chOff x="1200" y="2448"/>
                  <a:chExt cx="816" cy="144"/>
                </a:xfrm>
              </p:grpSpPr>
              <p:sp>
                <p:nvSpPr>
                  <p:cNvPr id="115732" name="Line 13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200" y="2448"/>
                    <a:ext cx="0" cy="144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anchor="b"/>
                  <a:lstStyle/>
                  <a:p>
                    <a:endParaRPr lang="en-GB"/>
                  </a:p>
                </p:txBody>
              </p:sp>
              <p:sp>
                <p:nvSpPr>
                  <p:cNvPr id="115733" name="Line 14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200" y="2448"/>
                    <a:ext cx="816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anchor="b"/>
                  <a:lstStyle/>
                  <a:p>
                    <a:endParaRPr lang="en-GB"/>
                  </a:p>
                </p:txBody>
              </p:sp>
              <p:sp>
                <p:nvSpPr>
                  <p:cNvPr id="115734" name="Line 15"/>
                  <p:cNvSpPr>
                    <a:spLocks noChangeShapeType="1"/>
                  </p:cNvSpPr>
                  <p:nvPr/>
                </p:nvSpPr>
                <p:spPr bwMode="auto">
                  <a:xfrm>
                    <a:off x="2016" y="2448"/>
                    <a:ext cx="0" cy="144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anchor="b"/>
                  <a:lstStyle/>
                  <a:p>
                    <a:endParaRPr lang="en-GB"/>
                  </a:p>
                </p:txBody>
              </p:sp>
            </p:grpSp>
            <p:grpSp>
              <p:nvGrpSpPr>
                <p:cNvPr id="115728" name="Group 16"/>
                <p:cNvGrpSpPr>
                  <a:grpSpLocks/>
                </p:cNvGrpSpPr>
                <p:nvPr/>
              </p:nvGrpSpPr>
              <p:grpSpPr bwMode="auto">
                <a:xfrm>
                  <a:off x="1824" y="2592"/>
                  <a:ext cx="1008" cy="192"/>
                  <a:chOff x="1200" y="2448"/>
                  <a:chExt cx="816" cy="144"/>
                </a:xfrm>
              </p:grpSpPr>
              <p:sp>
                <p:nvSpPr>
                  <p:cNvPr id="115729" name="Line 17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200" y="2448"/>
                    <a:ext cx="0" cy="144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anchor="b"/>
                  <a:lstStyle/>
                  <a:p>
                    <a:endParaRPr lang="en-GB"/>
                  </a:p>
                </p:txBody>
              </p:sp>
              <p:sp>
                <p:nvSpPr>
                  <p:cNvPr id="115730" name="Line 18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200" y="2448"/>
                    <a:ext cx="816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anchor="b"/>
                  <a:lstStyle/>
                  <a:p>
                    <a:endParaRPr lang="en-GB"/>
                  </a:p>
                </p:txBody>
              </p:sp>
              <p:sp>
                <p:nvSpPr>
                  <p:cNvPr id="115731" name="Line 19"/>
                  <p:cNvSpPr>
                    <a:spLocks noChangeShapeType="1"/>
                  </p:cNvSpPr>
                  <p:nvPr/>
                </p:nvSpPr>
                <p:spPr bwMode="auto">
                  <a:xfrm>
                    <a:off x="2016" y="2448"/>
                    <a:ext cx="0" cy="144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anchor="b"/>
                  <a:lstStyle/>
                  <a:p>
                    <a:endParaRPr lang="en-GB"/>
                  </a:p>
                </p:txBody>
              </p:sp>
            </p:grpSp>
          </p:grpSp>
          <p:grpSp>
            <p:nvGrpSpPr>
              <p:cNvPr id="115722" name="Group 20"/>
              <p:cNvGrpSpPr>
                <a:grpSpLocks/>
              </p:cNvGrpSpPr>
              <p:nvPr/>
            </p:nvGrpSpPr>
            <p:grpSpPr bwMode="auto">
              <a:xfrm>
                <a:off x="3894" y="2592"/>
                <a:ext cx="768" cy="192"/>
                <a:chOff x="1200" y="2448"/>
                <a:chExt cx="816" cy="144"/>
              </a:xfrm>
            </p:grpSpPr>
            <p:sp>
              <p:nvSpPr>
                <p:cNvPr id="115723" name="Line 21"/>
                <p:cNvSpPr>
                  <a:spLocks noChangeShapeType="1"/>
                </p:cNvSpPr>
                <p:nvPr/>
              </p:nvSpPr>
              <p:spPr bwMode="auto">
                <a:xfrm flipV="1">
                  <a:off x="1200" y="2448"/>
                  <a:ext cx="0" cy="144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anchor="b"/>
                <a:lstStyle/>
                <a:p>
                  <a:endParaRPr lang="en-GB"/>
                </a:p>
              </p:txBody>
            </p:sp>
            <p:sp>
              <p:nvSpPr>
                <p:cNvPr id="115724" name="Line 22"/>
                <p:cNvSpPr>
                  <a:spLocks noChangeShapeType="1"/>
                </p:cNvSpPr>
                <p:nvPr/>
              </p:nvSpPr>
              <p:spPr bwMode="auto">
                <a:xfrm flipH="1">
                  <a:off x="1200" y="2448"/>
                  <a:ext cx="816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anchor="b"/>
                <a:lstStyle/>
                <a:p>
                  <a:endParaRPr lang="en-GB"/>
                </a:p>
              </p:txBody>
            </p:sp>
            <p:sp>
              <p:nvSpPr>
                <p:cNvPr id="115725" name="Line 23"/>
                <p:cNvSpPr>
                  <a:spLocks noChangeShapeType="1"/>
                </p:cNvSpPr>
                <p:nvPr/>
              </p:nvSpPr>
              <p:spPr bwMode="auto">
                <a:xfrm>
                  <a:off x="2016" y="2448"/>
                  <a:ext cx="0" cy="144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anchor="b"/>
                <a:lstStyle/>
                <a:p>
                  <a:endParaRPr lang="en-GB"/>
                </a:p>
              </p:txBody>
            </p:sp>
          </p:grpSp>
        </p:grpSp>
        <p:sp>
          <p:nvSpPr>
            <p:cNvPr id="115719" name="Oval 24"/>
            <p:cNvSpPr>
              <a:spLocks noChangeArrowheads="1"/>
            </p:cNvSpPr>
            <p:nvPr/>
          </p:nvSpPr>
          <p:spPr bwMode="auto">
            <a:xfrm>
              <a:off x="3666" y="2355"/>
              <a:ext cx="1248" cy="576"/>
            </a:xfrm>
            <a:prstGeom prst="ellips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990033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600">
                  <a:solidFill>
                    <a:srgbClr val="80000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Title 1"/>
          <p:cNvSpPr>
            <a:spLocks noGrp="1" noChangeArrowheads="1"/>
          </p:cNvSpPr>
          <p:nvPr>
            <p:ph type="title"/>
          </p:nvPr>
        </p:nvSpPr>
        <p:spPr>
          <a:xfrm>
            <a:off x="215900" y="254000"/>
            <a:ext cx="7796213" cy="544513"/>
          </a:xfrm>
        </p:spPr>
        <p:txBody>
          <a:bodyPr/>
          <a:lstStyle/>
          <a:p>
            <a:r>
              <a:rPr lang="en-US" altLang="en-US" smtClean="0"/>
              <a:t>Bringing a Relation to 3NF</a:t>
            </a:r>
          </a:p>
        </p:txBody>
      </p:sp>
      <p:sp>
        <p:nvSpPr>
          <p:cNvPr id="117763" name="Content Placeholder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en-US" altLang="en-US" smtClean="0"/>
          </a:p>
        </p:txBody>
      </p:sp>
      <p:sp>
        <p:nvSpPr>
          <p:cNvPr id="11776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smtClean="0">
                <a:solidFill>
                  <a:srgbClr val="990033"/>
                </a:solidFill>
              </a:rPr>
              <a:t>Slide 10- </a:t>
            </a:r>
            <a:fld id="{4D289FF5-0CB6-44BC-B49E-30D3E2E4E1B5}" type="slidenum">
              <a:rPr lang="en-US" altLang="en-US" sz="1400" smtClean="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56</a:t>
            </a:fld>
            <a:endParaRPr lang="en-CA" altLang="en-US" sz="1400" smtClean="0">
              <a:solidFill>
                <a:srgbClr val="990033"/>
              </a:solidFill>
            </a:endParaRPr>
          </a:p>
        </p:txBody>
      </p:sp>
      <p:grpSp>
        <p:nvGrpSpPr>
          <p:cNvPr id="5" name="Group 3"/>
          <p:cNvGrpSpPr>
            <a:grpSpLocks/>
          </p:cNvGrpSpPr>
          <p:nvPr/>
        </p:nvGrpSpPr>
        <p:grpSpPr bwMode="auto">
          <a:xfrm>
            <a:off x="1676400" y="2133600"/>
            <a:ext cx="5872163" cy="1947863"/>
            <a:chOff x="555" y="2803"/>
            <a:chExt cx="3699" cy="1227"/>
          </a:xfrm>
        </p:grpSpPr>
        <p:graphicFrame>
          <p:nvGraphicFramePr>
            <p:cNvPr id="117793" name="Object 4"/>
            <p:cNvGraphicFramePr>
              <a:graphicFrameLocks noChangeAspect="1"/>
            </p:cNvGraphicFramePr>
            <p:nvPr/>
          </p:nvGraphicFramePr>
          <p:xfrm>
            <a:off x="555" y="2803"/>
            <a:ext cx="3699" cy="12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7807" name="Worksheet" r:id="rId4" imgW="0" imgH="0" progId="Excel.Sheet.8">
                    <p:embed/>
                  </p:oleObj>
                </mc:Choice>
                <mc:Fallback>
                  <p:oleObj name="Worksheet" r:id="rId4" imgW="0" imgH="0" progId="Excel.Sheet.8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55" y="2803"/>
                          <a:ext cx="3699" cy="12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B2B2B2">
                                  <a:alpha val="50195"/>
                                </a:srgbClr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rgbClr val="3333CC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45791" dir="2021404" algn="ctr" rotWithShape="0">
                                  <a:srgbClr val="9999FF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17794" name="Group 5"/>
            <p:cNvGrpSpPr>
              <a:grpSpLocks/>
            </p:cNvGrpSpPr>
            <p:nvPr/>
          </p:nvGrpSpPr>
          <p:grpSpPr bwMode="auto">
            <a:xfrm>
              <a:off x="943" y="3055"/>
              <a:ext cx="2767" cy="205"/>
              <a:chOff x="816" y="2592"/>
              <a:chExt cx="2736" cy="192"/>
            </a:xfrm>
          </p:grpSpPr>
          <p:grpSp>
            <p:nvGrpSpPr>
              <p:cNvPr id="117795" name="Group 6"/>
              <p:cNvGrpSpPr>
                <a:grpSpLocks/>
              </p:cNvGrpSpPr>
              <p:nvPr/>
            </p:nvGrpSpPr>
            <p:grpSpPr bwMode="auto">
              <a:xfrm>
                <a:off x="816" y="2592"/>
                <a:ext cx="1008" cy="192"/>
                <a:chOff x="1200" y="2448"/>
                <a:chExt cx="816" cy="144"/>
              </a:xfrm>
            </p:grpSpPr>
            <p:sp>
              <p:nvSpPr>
                <p:cNvPr id="117804" name="Line 7"/>
                <p:cNvSpPr>
                  <a:spLocks noChangeShapeType="1"/>
                </p:cNvSpPr>
                <p:nvPr/>
              </p:nvSpPr>
              <p:spPr bwMode="auto">
                <a:xfrm flipV="1">
                  <a:off x="1200" y="2448"/>
                  <a:ext cx="0" cy="144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anchor="b"/>
                <a:lstStyle/>
                <a:p>
                  <a:endParaRPr lang="en-GB"/>
                </a:p>
              </p:txBody>
            </p:sp>
            <p:sp>
              <p:nvSpPr>
                <p:cNvPr id="117805" name="Line 8"/>
                <p:cNvSpPr>
                  <a:spLocks noChangeShapeType="1"/>
                </p:cNvSpPr>
                <p:nvPr/>
              </p:nvSpPr>
              <p:spPr bwMode="auto">
                <a:xfrm flipH="1">
                  <a:off x="1200" y="2448"/>
                  <a:ext cx="816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anchor="b"/>
                <a:lstStyle/>
                <a:p>
                  <a:endParaRPr lang="en-GB"/>
                </a:p>
              </p:txBody>
            </p:sp>
            <p:sp>
              <p:nvSpPr>
                <p:cNvPr id="117806" name="Line 9"/>
                <p:cNvSpPr>
                  <a:spLocks noChangeShapeType="1"/>
                </p:cNvSpPr>
                <p:nvPr/>
              </p:nvSpPr>
              <p:spPr bwMode="auto">
                <a:xfrm>
                  <a:off x="2016" y="2448"/>
                  <a:ext cx="0" cy="144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anchor="b"/>
                <a:lstStyle/>
                <a:p>
                  <a:endParaRPr lang="en-GB"/>
                </a:p>
              </p:txBody>
            </p:sp>
          </p:grpSp>
          <p:grpSp>
            <p:nvGrpSpPr>
              <p:cNvPr id="117796" name="Group 10"/>
              <p:cNvGrpSpPr>
                <a:grpSpLocks/>
              </p:cNvGrpSpPr>
              <p:nvPr/>
            </p:nvGrpSpPr>
            <p:grpSpPr bwMode="auto">
              <a:xfrm>
                <a:off x="2832" y="2592"/>
                <a:ext cx="720" cy="192"/>
                <a:chOff x="1200" y="2448"/>
                <a:chExt cx="816" cy="144"/>
              </a:xfrm>
            </p:grpSpPr>
            <p:sp>
              <p:nvSpPr>
                <p:cNvPr id="117801" name="Line 11"/>
                <p:cNvSpPr>
                  <a:spLocks noChangeShapeType="1"/>
                </p:cNvSpPr>
                <p:nvPr/>
              </p:nvSpPr>
              <p:spPr bwMode="auto">
                <a:xfrm flipV="1">
                  <a:off x="1200" y="2448"/>
                  <a:ext cx="0" cy="144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anchor="b"/>
                <a:lstStyle/>
                <a:p>
                  <a:endParaRPr lang="en-GB"/>
                </a:p>
              </p:txBody>
            </p:sp>
            <p:sp>
              <p:nvSpPr>
                <p:cNvPr id="117802" name="Line 12"/>
                <p:cNvSpPr>
                  <a:spLocks noChangeShapeType="1"/>
                </p:cNvSpPr>
                <p:nvPr/>
              </p:nvSpPr>
              <p:spPr bwMode="auto">
                <a:xfrm flipH="1">
                  <a:off x="1200" y="2448"/>
                  <a:ext cx="816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anchor="b"/>
                <a:lstStyle/>
                <a:p>
                  <a:endParaRPr lang="en-GB"/>
                </a:p>
              </p:txBody>
            </p:sp>
            <p:sp>
              <p:nvSpPr>
                <p:cNvPr id="117803" name="Line 13"/>
                <p:cNvSpPr>
                  <a:spLocks noChangeShapeType="1"/>
                </p:cNvSpPr>
                <p:nvPr/>
              </p:nvSpPr>
              <p:spPr bwMode="auto">
                <a:xfrm>
                  <a:off x="2016" y="2448"/>
                  <a:ext cx="0" cy="144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anchor="b"/>
                <a:lstStyle/>
                <a:p>
                  <a:endParaRPr lang="en-GB"/>
                </a:p>
              </p:txBody>
            </p:sp>
          </p:grpSp>
          <p:grpSp>
            <p:nvGrpSpPr>
              <p:cNvPr id="117797" name="Group 14"/>
              <p:cNvGrpSpPr>
                <a:grpSpLocks/>
              </p:cNvGrpSpPr>
              <p:nvPr/>
            </p:nvGrpSpPr>
            <p:grpSpPr bwMode="auto">
              <a:xfrm>
                <a:off x="1824" y="2592"/>
                <a:ext cx="1008" cy="192"/>
                <a:chOff x="1200" y="2448"/>
                <a:chExt cx="816" cy="144"/>
              </a:xfrm>
            </p:grpSpPr>
            <p:sp>
              <p:nvSpPr>
                <p:cNvPr id="117798" name="Line 15"/>
                <p:cNvSpPr>
                  <a:spLocks noChangeShapeType="1"/>
                </p:cNvSpPr>
                <p:nvPr/>
              </p:nvSpPr>
              <p:spPr bwMode="auto">
                <a:xfrm flipV="1">
                  <a:off x="1200" y="2448"/>
                  <a:ext cx="0" cy="144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anchor="b"/>
                <a:lstStyle/>
                <a:p>
                  <a:endParaRPr lang="en-GB"/>
                </a:p>
              </p:txBody>
            </p:sp>
            <p:sp>
              <p:nvSpPr>
                <p:cNvPr id="117799" name="Line 16"/>
                <p:cNvSpPr>
                  <a:spLocks noChangeShapeType="1"/>
                </p:cNvSpPr>
                <p:nvPr/>
              </p:nvSpPr>
              <p:spPr bwMode="auto">
                <a:xfrm flipH="1">
                  <a:off x="1200" y="2448"/>
                  <a:ext cx="816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anchor="b"/>
                <a:lstStyle/>
                <a:p>
                  <a:endParaRPr lang="en-GB"/>
                </a:p>
              </p:txBody>
            </p:sp>
            <p:sp>
              <p:nvSpPr>
                <p:cNvPr id="117800" name="Line 17"/>
                <p:cNvSpPr>
                  <a:spLocks noChangeShapeType="1"/>
                </p:cNvSpPr>
                <p:nvPr/>
              </p:nvSpPr>
              <p:spPr bwMode="auto">
                <a:xfrm>
                  <a:off x="2016" y="2448"/>
                  <a:ext cx="0" cy="144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anchor="b"/>
                <a:lstStyle/>
                <a:p>
                  <a:endParaRPr lang="en-GB"/>
                </a:p>
              </p:txBody>
            </p:sp>
          </p:grpSp>
        </p:grpSp>
      </p:grpSp>
      <p:grpSp>
        <p:nvGrpSpPr>
          <p:cNvPr id="20" name="Group 18"/>
          <p:cNvGrpSpPr>
            <a:grpSpLocks/>
          </p:cNvGrpSpPr>
          <p:nvPr/>
        </p:nvGrpSpPr>
        <p:grpSpPr bwMode="auto">
          <a:xfrm>
            <a:off x="533400" y="990600"/>
            <a:ext cx="3186113" cy="990600"/>
            <a:chOff x="414" y="993"/>
            <a:chExt cx="4806" cy="1299"/>
          </a:xfrm>
        </p:grpSpPr>
        <p:grpSp>
          <p:nvGrpSpPr>
            <p:cNvPr id="117773" name="Group 19"/>
            <p:cNvGrpSpPr>
              <a:grpSpLocks/>
            </p:cNvGrpSpPr>
            <p:nvPr/>
          </p:nvGrpSpPr>
          <p:grpSpPr bwMode="auto">
            <a:xfrm>
              <a:off x="414" y="993"/>
              <a:ext cx="4806" cy="1299"/>
              <a:chOff x="486" y="2352"/>
              <a:chExt cx="4752" cy="1218"/>
            </a:xfrm>
          </p:grpSpPr>
          <p:graphicFrame>
            <p:nvGraphicFramePr>
              <p:cNvPr id="117775" name="Object 20"/>
              <p:cNvGraphicFramePr>
                <a:graphicFrameLocks noChangeAspect="1"/>
              </p:cNvGraphicFramePr>
              <p:nvPr/>
            </p:nvGraphicFramePr>
            <p:xfrm>
              <a:off x="486" y="2352"/>
              <a:ext cx="4752" cy="121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7808" name="Worksheet" r:id="rId6" imgW="0" imgH="0" progId="Excel.Sheet.8">
                      <p:embed/>
                    </p:oleObj>
                  </mc:Choice>
                  <mc:Fallback>
                    <p:oleObj name="Worksheet" r:id="rId6" imgW="0" imgH="0" progId="Excel.Sheet.8">
                      <p:embed/>
                      <p:pic>
                        <p:nvPicPr>
                          <p:cNvPr id="0" name="Object 2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86" y="2352"/>
                            <a:ext cx="4752" cy="121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B2B2B2">
                                    <a:alpha val="50195"/>
                                  </a:srgbClr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12700">
                                <a:solidFill>
                                  <a:srgbClr val="3333CC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45791" dir="2021404" algn="ctr" rotWithShape="0">
                                    <a:srgbClr val="9999FF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117776" name="Group 21"/>
              <p:cNvGrpSpPr>
                <a:grpSpLocks/>
              </p:cNvGrpSpPr>
              <p:nvPr/>
            </p:nvGrpSpPr>
            <p:grpSpPr bwMode="auto">
              <a:xfrm>
                <a:off x="870" y="2592"/>
                <a:ext cx="2736" cy="192"/>
                <a:chOff x="816" y="2592"/>
                <a:chExt cx="2736" cy="192"/>
              </a:xfrm>
            </p:grpSpPr>
            <p:grpSp>
              <p:nvGrpSpPr>
                <p:cNvPr id="117781" name="Group 22"/>
                <p:cNvGrpSpPr>
                  <a:grpSpLocks/>
                </p:cNvGrpSpPr>
                <p:nvPr/>
              </p:nvGrpSpPr>
              <p:grpSpPr bwMode="auto">
                <a:xfrm>
                  <a:off x="816" y="2592"/>
                  <a:ext cx="1008" cy="192"/>
                  <a:chOff x="1200" y="2448"/>
                  <a:chExt cx="816" cy="144"/>
                </a:xfrm>
              </p:grpSpPr>
              <p:sp>
                <p:nvSpPr>
                  <p:cNvPr id="117790" name="Line 23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200" y="2448"/>
                    <a:ext cx="0" cy="144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anchor="b"/>
                  <a:lstStyle/>
                  <a:p>
                    <a:endParaRPr lang="en-GB"/>
                  </a:p>
                </p:txBody>
              </p:sp>
              <p:sp>
                <p:nvSpPr>
                  <p:cNvPr id="117791" name="Line 24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200" y="2448"/>
                    <a:ext cx="816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anchor="b"/>
                  <a:lstStyle/>
                  <a:p>
                    <a:endParaRPr lang="en-GB"/>
                  </a:p>
                </p:txBody>
              </p:sp>
              <p:sp>
                <p:nvSpPr>
                  <p:cNvPr id="117792" name="Line 25"/>
                  <p:cNvSpPr>
                    <a:spLocks noChangeShapeType="1"/>
                  </p:cNvSpPr>
                  <p:nvPr/>
                </p:nvSpPr>
                <p:spPr bwMode="auto">
                  <a:xfrm>
                    <a:off x="2016" y="2448"/>
                    <a:ext cx="0" cy="144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anchor="b"/>
                  <a:lstStyle/>
                  <a:p>
                    <a:endParaRPr lang="en-GB"/>
                  </a:p>
                </p:txBody>
              </p:sp>
            </p:grpSp>
            <p:grpSp>
              <p:nvGrpSpPr>
                <p:cNvPr id="117782" name="Group 26"/>
                <p:cNvGrpSpPr>
                  <a:grpSpLocks/>
                </p:cNvGrpSpPr>
                <p:nvPr/>
              </p:nvGrpSpPr>
              <p:grpSpPr bwMode="auto">
                <a:xfrm>
                  <a:off x="2832" y="2592"/>
                  <a:ext cx="720" cy="192"/>
                  <a:chOff x="1200" y="2448"/>
                  <a:chExt cx="816" cy="144"/>
                </a:xfrm>
              </p:grpSpPr>
              <p:sp>
                <p:nvSpPr>
                  <p:cNvPr id="117787" name="Line 27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200" y="2448"/>
                    <a:ext cx="0" cy="144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anchor="b"/>
                  <a:lstStyle/>
                  <a:p>
                    <a:endParaRPr lang="en-GB"/>
                  </a:p>
                </p:txBody>
              </p:sp>
              <p:sp>
                <p:nvSpPr>
                  <p:cNvPr id="117788" name="Line 28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200" y="2448"/>
                    <a:ext cx="816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anchor="b"/>
                  <a:lstStyle/>
                  <a:p>
                    <a:endParaRPr lang="en-GB"/>
                  </a:p>
                </p:txBody>
              </p:sp>
              <p:sp>
                <p:nvSpPr>
                  <p:cNvPr id="117789" name="Line 29"/>
                  <p:cNvSpPr>
                    <a:spLocks noChangeShapeType="1"/>
                  </p:cNvSpPr>
                  <p:nvPr/>
                </p:nvSpPr>
                <p:spPr bwMode="auto">
                  <a:xfrm>
                    <a:off x="2016" y="2448"/>
                    <a:ext cx="0" cy="144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anchor="b"/>
                  <a:lstStyle/>
                  <a:p>
                    <a:endParaRPr lang="en-GB"/>
                  </a:p>
                </p:txBody>
              </p:sp>
            </p:grpSp>
            <p:grpSp>
              <p:nvGrpSpPr>
                <p:cNvPr id="117783" name="Group 30"/>
                <p:cNvGrpSpPr>
                  <a:grpSpLocks/>
                </p:cNvGrpSpPr>
                <p:nvPr/>
              </p:nvGrpSpPr>
              <p:grpSpPr bwMode="auto">
                <a:xfrm>
                  <a:off x="1824" y="2592"/>
                  <a:ext cx="1008" cy="192"/>
                  <a:chOff x="1200" y="2448"/>
                  <a:chExt cx="816" cy="144"/>
                </a:xfrm>
              </p:grpSpPr>
              <p:sp>
                <p:nvSpPr>
                  <p:cNvPr id="117784" name="Line 31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200" y="2448"/>
                    <a:ext cx="0" cy="144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anchor="b"/>
                  <a:lstStyle/>
                  <a:p>
                    <a:endParaRPr lang="en-GB"/>
                  </a:p>
                </p:txBody>
              </p:sp>
              <p:sp>
                <p:nvSpPr>
                  <p:cNvPr id="117785" name="Line 32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200" y="2448"/>
                    <a:ext cx="816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anchor="b"/>
                  <a:lstStyle/>
                  <a:p>
                    <a:endParaRPr lang="en-GB"/>
                  </a:p>
                </p:txBody>
              </p:sp>
              <p:sp>
                <p:nvSpPr>
                  <p:cNvPr id="117786" name="Line 33"/>
                  <p:cNvSpPr>
                    <a:spLocks noChangeShapeType="1"/>
                  </p:cNvSpPr>
                  <p:nvPr/>
                </p:nvSpPr>
                <p:spPr bwMode="auto">
                  <a:xfrm>
                    <a:off x="2016" y="2448"/>
                    <a:ext cx="0" cy="144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anchor="b"/>
                  <a:lstStyle/>
                  <a:p>
                    <a:endParaRPr lang="en-GB"/>
                  </a:p>
                </p:txBody>
              </p:sp>
            </p:grpSp>
          </p:grpSp>
          <p:grpSp>
            <p:nvGrpSpPr>
              <p:cNvPr id="117777" name="Group 34"/>
              <p:cNvGrpSpPr>
                <a:grpSpLocks/>
              </p:cNvGrpSpPr>
              <p:nvPr/>
            </p:nvGrpSpPr>
            <p:grpSpPr bwMode="auto">
              <a:xfrm>
                <a:off x="3894" y="2592"/>
                <a:ext cx="768" cy="192"/>
                <a:chOff x="1200" y="2448"/>
                <a:chExt cx="816" cy="144"/>
              </a:xfrm>
            </p:grpSpPr>
            <p:sp>
              <p:nvSpPr>
                <p:cNvPr id="117778" name="Line 35"/>
                <p:cNvSpPr>
                  <a:spLocks noChangeShapeType="1"/>
                </p:cNvSpPr>
                <p:nvPr/>
              </p:nvSpPr>
              <p:spPr bwMode="auto">
                <a:xfrm flipV="1">
                  <a:off x="1200" y="2448"/>
                  <a:ext cx="0" cy="144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anchor="b"/>
                <a:lstStyle/>
                <a:p>
                  <a:endParaRPr lang="en-GB"/>
                </a:p>
              </p:txBody>
            </p:sp>
            <p:sp>
              <p:nvSpPr>
                <p:cNvPr id="117779" name="Line 36"/>
                <p:cNvSpPr>
                  <a:spLocks noChangeShapeType="1"/>
                </p:cNvSpPr>
                <p:nvPr/>
              </p:nvSpPr>
              <p:spPr bwMode="auto">
                <a:xfrm flipH="1">
                  <a:off x="1200" y="2448"/>
                  <a:ext cx="816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anchor="b"/>
                <a:lstStyle/>
                <a:p>
                  <a:endParaRPr lang="en-GB"/>
                </a:p>
              </p:txBody>
            </p:sp>
            <p:sp>
              <p:nvSpPr>
                <p:cNvPr id="117780" name="Line 37"/>
                <p:cNvSpPr>
                  <a:spLocks noChangeShapeType="1"/>
                </p:cNvSpPr>
                <p:nvPr/>
              </p:nvSpPr>
              <p:spPr bwMode="auto">
                <a:xfrm>
                  <a:off x="2016" y="2448"/>
                  <a:ext cx="0" cy="144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anchor="b"/>
                <a:lstStyle/>
                <a:p>
                  <a:endParaRPr lang="en-GB"/>
                </a:p>
              </p:txBody>
            </p:sp>
          </p:grpSp>
        </p:grpSp>
        <p:sp>
          <p:nvSpPr>
            <p:cNvPr id="117774" name="Oval 38"/>
            <p:cNvSpPr>
              <a:spLocks noChangeArrowheads="1"/>
            </p:cNvSpPr>
            <p:nvPr/>
          </p:nvSpPr>
          <p:spPr bwMode="auto">
            <a:xfrm>
              <a:off x="3621" y="1059"/>
              <a:ext cx="1248" cy="576"/>
            </a:xfrm>
            <a:prstGeom prst="ellips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990033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600">
                  <a:solidFill>
                    <a:srgbClr val="80000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solidFill>
                  <a:schemeClr val="tx1"/>
                </a:solidFill>
              </a:endParaRPr>
            </a:p>
          </p:txBody>
        </p:sp>
      </p:grpSp>
      <p:grpSp>
        <p:nvGrpSpPr>
          <p:cNvPr id="41" name="Group 39"/>
          <p:cNvGrpSpPr>
            <a:grpSpLocks/>
          </p:cNvGrpSpPr>
          <p:nvPr/>
        </p:nvGrpSpPr>
        <p:grpSpPr bwMode="auto">
          <a:xfrm>
            <a:off x="2971800" y="4267200"/>
            <a:ext cx="2997200" cy="1960563"/>
            <a:chOff x="3391" y="2786"/>
            <a:chExt cx="1888" cy="1235"/>
          </a:xfrm>
        </p:grpSpPr>
        <p:graphicFrame>
          <p:nvGraphicFramePr>
            <p:cNvPr id="117768" name="Object 40"/>
            <p:cNvGraphicFramePr>
              <a:graphicFrameLocks noChangeAspect="1"/>
            </p:cNvGraphicFramePr>
            <p:nvPr/>
          </p:nvGraphicFramePr>
          <p:xfrm>
            <a:off x="3391" y="2786"/>
            <a:ext cx="1888" cy="12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7809" name="Worksheet" r:id="rId8" imgW="0" imgH="0" progId="Excel.Sheet.8">
                    <p:embed/>
                  </p:oleObj>
                </mc:Choice>
                <mc:Fallback>
                  <p:oleObj name="Worksheet" r:id="rId8" imgW="0" imgH="0" progId="Excel.Sheet.8">
                    <p:embed/>
                    <p:pic>
                      <p:nvPicPr>
                        <p:cNvPr id="0" name="Object 4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91" y="2786"/>
                          <a:ext cx="1888" cy="12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B2B2B2">
                                  <a:alpha val="50195"/>
                                </a:srgbClr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rgbClr val="3333CC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45791" dir="2021404" algn="ctr" rotWithShape="0">
                                  <a:srgbClr val="9999FF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17769" name="Group 41"/>
            <p:cNvGrpSpPr>
              <a:grpSpLocks/>
            </p:cNvGrpSpPr>
            <p:nvPr/>
          </p:nvGrpSpPr>
          <p:grpSpPr bwMode="auto">
            <a:xfrm>
              <a:off x="3912" y="3019"/>
              <a:ext cx="776" cy="151"/>
              <a:chOff x="1200" y="2448"/>
              <a:chExt cx="816" cy="144"/>
            </a:xfrm>
          </p:grpSpPr>
          <p:sp>
            <p:nvSpPr>
              <p:cNvPr id="117770" name="Line 42"/>
              <p:cNvSpPr>
                <a:spLocks noChangeShapeType="1"/>
              </p:cNvSpPr>
              <p:nvPr/>
            </p:nvSpPr>
            <p:spPr bwMode="auto">
              <a:xfrm flipV="1">
                <a:off x="1200" y="2448"/>
                <a:ext cx="0" cy="14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b"/>
              <a:lstStyle/>
              <a:p>
                <a:endParaRPr lang="en-GB"/>
              </a:p>
            </p:txBody>
          </p:sp>
          <p:sp>
            <p:nvSpPr>
              <p:cNvPr id="117771" name="Line 43"/>
              <p:cNvSpPr>
                <a:spLocks noChangeShapeType="1"/>
              </p:cNvSpPr>
              <p:nvPr/>
            </p:nvSpPr>
            <p:spPr bwMode="auto">
              <a:xfrm flipH="1">
                <a:off x="1200" y="2448"/>
                <a:ext cx="81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b"/>
              <a:lstStyle/>
              <a:p>
                <a:endParaRPr lang="en-GB"/>
              </a:p>
            </p:txBody>
          </p:sp>
          <p:sp>
            <p:nvSpPr>
              <p:cNvPr id="117772" name="Line 44"/>
              <p:cNvSpPr>
                <a:spLocks noChangeShapeType="1"/>
              </p:cNvSpPr>
              <p:nvPr/>
            </p:nvSpPr>
            <p:spPr bwMode="auto">
              <a:xfrm>
                <a:off x="2016" y="2448"/>
                <a:ext cx="0" cy="14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b"/>
              <a:lstStyle/>
              <a:p>
                <a:endParaRPr lang="en-GB"/>
              </a:p>
            </p:txBody>
          </p:sp>
        </p:grpSp>
      </p:grp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-228600"/>
            <a:ext cx="7543800" cy="1295400"/>
          </a:xfrm>
        </p:spPr>
        <p:txBody>
          <a:bodyPr/>
          <a:lstStyle/>
          <a:p>
            <a:r>
              <a:rPr lang="en-US" altLang="zh-CN" smtClean="0">
                <a:ea typeface="SimSun" panose="02010600030101010101" pitchFamily="2" charset="-122"/>
              </a:rPr>
              <a:t>Example</a:t>
            </a:r>
            <a:endParaRPr lang="en-US" altLang="zh-CN" sz="3000" smtClean="0">
              <a:ea typeface="SimSun" panose="02010600030101010101" pitchFamily="2" charset="-122"/>
            </a:endParaRPr>
          </a:p>
        </p:txBody>
      </p:sp>
      <p:sp>
        <p:nvSpPr>
          <p:cNvPr id="1198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3657600"/>
            <a:ext cx="7958138" cy="25908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sz="2100" smtClean="0">
                <a:solidFill>
                  <a:srgbClr val="FF0066"/>
                </a:solidFill>
                <a:ea typeface="SimSun" panose="02010600030101010101" pitchFamily="2" charset="-122"/>
              </a:rPr>
              <a:t>Insert </a:t>
            </a:r>
            <a:r>
              <a:rPr lang="en-US" altLang="zh-CN" sz="2100" smtClean="0">
                <a:ea typeface="SimSun" panose="02010600030101010101" pitchFamily="2" charset="-122"/>
              </a:rPr>
              <a:t>- cannot insert the fact that a supplier is located in a particular city until supplier supplies at least one part</a:t>
            </a:r>
          </a:p>
          <a:p>
            <a:pPr>
              <a:lnSpc>
                <a:spcPct val="90000"/>
              </a:lnSpc>
            </a:pPr>
            <a:r>
              <a:rPr lang="en-US" altLang="zh-CN" sz="2100" smtClean="0">
                <a:solidFill>
                  <a:srgbClr val="FF0066"/>
                </a:solidFill>
                <a:ea typeface="SimSun" panose="02010600030101010101" pitchFamily="2" charset="-122"/>
              </a:rPr>
              <a:t>Delete</a:t>
            </a:r>
            <a:r>
              <a:rPr lang="en-US" altLang="zh-CN" sz="2100" smtClean="0">
                <a:ea typeface="SimSun" panose="02010600030101010101" pitchFamily="2" charset="-122"/>
              </a:rPr>
              <a:t> - delete the value P3, and we also lose the information that S3 is located  in London</a:t>
            </a:r>
          </a:p>
          <a:p>
            <a:pPr>
              <a:lnSpc>
                <a:spcPct val="90000"/>
              </a:lnSpc>
            </a:pPr>
            <a:r>
              <a:rPr lang="en-US" altLang="zh-CN" sz="2100" smtClean="0">
                <a:solidFill>
                  <a:srgbClr val="FF0066"/>
                </a:solidFill>
                <a:ea typeface="SimSun" panose="02010600030101010101" pitchFamily="2" charset="-122"/>
              </a:rPr>
              <a:t>Update</a:t>
            </a:r>
            <a:r>
              <a:rPr lang="en-US" altLang="zh-CN" sz="2100" smtClean="0">
                <a:ea typeface="SimSun" panose="02010600030101010101" pitchFamily="2" charset="-122"/>
              </a:rPr>
              <a:t> - S1 appears in the table more than once, and we must change all of them </a:t>
            </a:r>
            <a:r>
              <a:rPr lang="en-US" altLang="zh-CN" sz="2100" smtClean="0">
                <a:solidFill>
                  <a:srgbClr val="00B050"/>
                </a:solidFill>
                <a:ea typeface="SimSun" panose="02010600030101010101" pitchFamily="2" charset="-122"/>
              </a:rPr>
              <a:t>-- Possibility of producing an inconsistent result.</a:t>
            </a:r>
          </a:p>
        </p:txBody>
      </p:sp>
      <p:grpSp>
        <p:nvGrpSpPr>
          <p:cNvPr id="119812" name="Group 4"/>
          <p:cNvGrpSpPr>
            <a:grpSpLocks/>
          </p:cNvGrpSpPr>
          <p:nvPr/>
        </p:nvGrpSpPr>
        <p:grpSpPr bwMode="auto">
          <a:xfrm>
            <a:off x="914400" y="1066800"/>
            <a:ext cx="6781800" cy="2438400"/>
            <a:chOff x="1008" y="1056"/>
            <a:chExt cx="4128" cy="1440"/>
          </a:xfrm>
        </p:grpSpPr>
        <p:sp>
          <p:nvSpPr>
            <p:cNvPr id="119813" name="Rectangle 5"/>
            <p:cNvSpPr>
              <a:spLocks noChangeArrowheads="1"/>
            </p:cNvSpPr>
            <p:nvPr/>
          </p:nvSpPr>
          <p:spPr bwMode="auto">
            <a:xfrm>
              <a:off x="1008" y="1296"/>
              <a:ext cx="4128" cy="230"/>
            </a:xfrm>
            <a:prstGeom prst="rect">
              <a:avLst/>
            </a:prstGeom>
            <a:solidFill>
              <a:srgbClr val="DBFFB8"/>
            </a:solidFill>
            <a:ln w="12700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990033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600">
                  <a:solidFill>
                    <a:srgbClr val="80000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600">
                <a:solidFill>
                  <a:srgbClr val="00279F"/>
                </a:solidFill>
                <a:latin typeface="Times New Roman" panose="02020603050405020304" pitchFamily="18" charset="0"/>
                <a:ea typeface="SimSun" panose="02010600030101010101" pitchFamily="2" charset="-122"/>
              </a:endParaRPr>
            </a:p>
          </p:txBody>
        </p:sp>
        <p:sp>
          <p:nvSpPr>
            <p:cNvPr id="119814" name="Rectangle 6"/>
            <p:cNvSpPr>
              <a:spLocks noChangeArrowheads="1"/>
            </p:cNvSpPr>
            <p:nvPr/>
          </p:nvSpPr>
          <p:spPr bwMode="auto">
            <a:xfrm>
              <a:off x="1008" y="1540"/>
              <a:ext cx="4128" cy="956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990033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600">
                  <a:solidFill>
                    <a:srgbClr val="80000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solidFill>
                  <a:schemeClr val="tx1"/>
                </a:solidFill>
              </a:endParaRPr>
            </a:p>
          </p:txBody>
        </p:sp>
        <p:sp>
          <p:nvSpPr>
            <p:cNvPr id="119815" name="Line 7"/>
            <p:cNvSpPr>
              <a:spLocks noChangeShapeType="1"/>
            </p:cNvSpPr>
            <p:nvPr/>
          </p:nvSpPr>
          <p:spPr bwMode="auto">
            <a:xfrm>
              <a:off x="1008" y="1296"/>
              <a:ext cx="4128" cy="1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19816" name="Line 8"/>
            <p:cNvSpPr>
              <a:spLocks noChangeShapeType="1"/>
            </p:cNvSpPr>
            <p:nvPr/>
          </p:nvSpPr>
          <p:spPr bwMode="auto">
            <a:xfrm>
              <a:off x="1008" y="1536"/>
              <a:ext cx="4128" cy="1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19817" name="Line 9"/>
            <p:cNvSpPr>
              <a:spLocks noChangeShapeType="1"/>
            </p:cNvSpPr>
            <p:nvPr/>
          </p:nvSpPr>
          <p:spPr bwMode="auto">
            <a:xfrm>
              <a:off x="1008" y="1728"/>
              <a:ext cx="4128" cy="1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19818" name="Line 10"/>
            <p:cNvSpPr>
              <a:spLocks noChangeShapeType="1"/>
            </p:cNvSpPr>
            <p:nvPr/>
          </p:nvSpPr>
          <p:spPr bwMode="auto">
            <a:xfrm>
              <a:off x="2448" y="1296"/>
              <a:ext cx="0" cy="1200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19819" name="Line 11"/>
            <p:cNvSpPr>
              <a:spLocks noChangeShapeType="1"/>
            </p:cNvSpPr>
            <p:nvPr/>
          </p:nvSpPr>
          <p:spPr bwMode="auto">
            <a:xfrm>
              <a:off x="3312" y="1296"/>
              <a:ext cx="0" cy="1200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19820" name="Line 12"/>
            <p:cNvSpPr>
              <a:spLocks noChangeShapeType="1"/>
            </p:cNvSpPr>
            <p:nvPr/>
          </p:nvSpPr>
          <p:spPr bwMode="auto">
            <a:xfrm>
              <a:off x="4176" y="1296"/>
              <a:ext cx="0" cy="1200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19821" name="Text Box 13"/>
            <p:cNvSpPr txBox="1">
              <a:spLocks noChangeArrowheads="1"/>
            </p:cNvSpPr>
            <p:nvPr/>
          </p:nvSpPr>
          <p:spPr bwMode="auto">
            <a:xfrm>
              <a:off x="1824" y="1344"/>
              <a:ext cx="451" cy="1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990033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600">
                  <a:solidFill>
                    <a:srgbClr val="80000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GB" altLang="zh-CN" sz="1600">
                  <a:solidFill>
                    <a:srgbClr val="00279F"/>
                  </a:solidFill>
                  <a:latin typeface="Times New Roman" panose="02020603050405020304" pitchFamily="18" charset="0"/>
                  <a:ea typeface="SimSun" panose="02010600030101010101" pitchFamily="2" charset="-122"/>
                </a:rPr>
                <a:t>Status</a:t>
              </a:r>
            </a:p>
          </p:txBody>
        </p:sp>
        <p:sp>
          <p:nvSpPr>
            <p:cNvPr id="119822" name="Text Box 14"/>
            <p:cNvSpPr txBox="1">
              <a:spLocks noChangeArrowheads="1"/>
            </p:cNvSpPr>
            <p:nvPr/>
          </p:nvSpPr>
          <p:spPr bwMode="auto">
            <a:xfrm>
              <a:off x="2688" y="1344"/>
              <a:ext cx="620" cy="1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990033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600">
                  <a:solidFill>
                    <a:srgbClr val="80000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GB" altLang="zh-CN" sz="1600">
                  <a:solidFill>
                    <a:srgbClr val="00279F"/>
                  </a:solidFill>
                  <a:latin typeface="Times New Roman" panose="02020603050405020304" pitchFamily="18" charset="0"/>
                  <a:ea typeface="SimSun" panose="02010600030101010101" pitchFamily="2" charset="-122"/>
                </a:rPr>
                <a:t>City</a:t>
              </a:r>
            </a:p>
          </p:txBody>
        </p:sp>
        <p:sp>
          <p:nvSpPr>
            <p:cNvPr id="119823" name="Text Box 15"/>
            <p:cNvSpPr txBox="1">
              <a:spLocks noChangeArrowheads="1"/>
            </p:cNvSpPr>
            <p:nvPr/>
          </p:nvSpPr>
          <p:spPr bwMode="auto">
            <a:xfrm>
              <a:off x="3552" y="1344"/>
              <a:ext cx="250" cy="1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990033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600">
                  <a:solidFill>
                    <a:srgbClr val="80000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GB" altLang="zh-CN" sz="1600" u="sng">
                  <a:solidFill>
                    <a:srgbClr val="00279F"/>
                  </a:solidFill>
                  <a:latin typeface="Times New Roman" panose="02020603050405020304" pitchFamily="18" charset="0"/>
                  <a:ea typeface="SimSun" panose="02010600030101010101" pitchFamily="2" charset="-122"/>
                </a:rPr>
                <a:t>P#</a:t>
              </a:r>
            </a:p>
          </p:txBody>
        </p:sp>
        <p:sp>
          <p:nvSpPr>
            <p:cNvPr id="119824" name="Text Box 16"/>
            <p:cNvSpPr txBox="1">
              <a:spLocks noChangeArrowheads="1"/>
            </p:cNvSpPr>
            <p:nvPr/>
          </p:nvSpPr>
          <p:spPr bwMode="auto">
            <a:xfrm>
              <a:off x="4368" y="1344"/>
              <a:ext cx="312" cy="1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990033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600">
                  <a:solidFill>
                    <a:srgbClr val="80000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GB" altLang="zh-CN" sz="1600">
                  <a:solidFill>
                    <a:srgbClr val="00279F"/>
                  </a:solidFill>
                  <a:latin typeface="Times New Roman" panose="02020603050405020304" pitchFamily="18" charset="0"/>
                  <a:ea typeface="SimSun" panose="02010600030101010101" pitchFamily="2" charset="-122"/>
                </a:rPr>
                <a:t>Qty</a:t>
              </a:r>
            </a:p>
          </p:txBody>
        </p:sp>
        <p:sp>
          <p:nvSpPr>
            <p:cNvPr id="119825" name="Text Box 17"/>
            <p:cNvSpPr txBox="1">
              <a:spLocks noChangeArrowheads="1"/>
            </p:cNvSpPr>
            <p:nvPr/>
          </p:nvSpPr>
          <p:spPr bwMode="auto">
            <a:xfrm>
              <a:off x="1872" y="1536"/>
              <a:ext cx="528" cy="1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990033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600">
                  <a:solidFill>
                    <a:srgbClr val="80000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GB" sz="1600">
                  <a:solidFill>
                    <a:srgbClr val="00279F"/>
                  </a:solidFill>
                  <a:latin typeface="Times New Roman" panose="02020603050405020304" pitchFamily="18" charset="0"/>
                  <a:ea typeface="SimSun" panose="02010600030101010101" pitchFamily="2" charset="-122"/>
                </a:rPr>
                <a:t>20</a:t>
              </a:r>
            </a:p>
          </p:txBody>
        </p:sp>
        <p:sp>
          <p:nvSpPr>
            <p:cNvPr id="119826" name="Text Box 18"/>
            <p:cNvSpPr txBox="1">
              <a:spLocks noChangeArrowheads="1"/>
            </p:cNvSpPr>
            <p:nvPr/>
          </p:nvSpPr>
          <p:spPr bwMode="auto">
            <a:xfrm>
              <a:off x="2592" y="1536"/>
              <a:ext cx="523" cy="1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990033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600">
                  <a:solidFill>
                    <a:srgbClr val="80000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GB" altLang="zh-CN" sz="1600">
                  <a:solidFill>
                    <a:srgbClr val="00279F"/>
                  </a:solidFill>
                  <a:latin typeface="Times New Roman" panose="02020603050405020304" pitchFamily="18" charset="0"/>
                  <a:ea typeface="SimSun" panose="02010600030101010101" pitchFamily="2" charset="-122"/>
                </a:rPr>
                <a:t>London</a:t>
              </a:r>
            </a:p>
          </p:txBody>
        </p:sp>
        <p:sp>
          <p:nvSpPr>
            <p:cNvPr id="119827" name="Text Box 19"/>
            <p:cNvSpPr txBox="1">
              <a:spLocks noChangeArrowheads="1"/>
            </p:cNvSpPr>
            <p:nvPr/>
          </p:nvSpPr>
          <p:spPr bwMode="auto">
            <a:xfrm>
              <a:off x="3648" y="1536"/>
              <a:ext cx="249" cy="1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990033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600">
                  <a:solidFill>
                    <a:srgbClr val="80000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GB" altLang="zh-CN" sz="1600">
                  <a:solidFill>
                    <a:srgbClr val="00279F"/>
                  </a:solidFill>
                  <a:latin typeface="Times New Roman" panose="02020603050405020304" pitchFamily="18" charset="0"/>
                  <a:ea typeface="SimSun" panose="02010600030101010101" pitchFamily="2" charset="-122"/>
                </a:rPr>
                <a:t>P1</a:t>
              </a:r>
            </a:p>
          </p:txBody>
        </p:sp>
        <p:sp>
          <p:nvSpPr>
            <p:cNvPr id="119828" name="Text Box 20"/>
            <p:cNvSpPr txBox="1">
              <a:spLocks noChangeArrowheads="1"/>
            </p:cNvSpPr>
            <p:nvPr/>
          </p:nvSpPr>
          <p:spPr bwMode="auto">
            <a:xfrm>
              <a:off x="4416" y="1536"/>
              <a:ext cx="624" cy="1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990033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600">
                  <a:solidFill>
                    <a:srgbClr val="80000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GB" sz="1600">
                  <a:solidFill>
                    <a:srgbClr val="00279F"/>
                  </a:solidFill>
                  <a:latin typeface="Times New Roman" panose="02020603050405020304" pitchFamily="18" charset="0"/>
                  <a:ea typeface="SimSun" panose="02010600030101010101" pitchFamily="2" charset="-122"/>
                </a:rPr>
                <a:t>1600</a:t>
              </a:r>
            </a:p>
          </p:txBody>
        </p:sp>
        <p:sp>
          <p:nvSpPr>
            <p:cNvPr id="119829" name="Text Box 21"/>
            <p:cNvSpPr txBox="1">
              <a:spLocks noChangeArrowheads="1"/>
            </p:cNvSpPr>
            <p:nvPr/>
          </p:nvSpPr>
          <p:spPr bwMode="auto">
            <a:xfrm>
              <a:off x="1776" y="1776"/>
              <a:ext cx="720" cy="1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990033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600">
                  <a:solidFill>
                    <a:srgbClr val="80000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GB" sz="1600">
                  <a:solidFill>
                    <a:srgbClr val="00279F"/>
                  </a:solidFill>
                  <a:latin typeface="Times New Roman" panose="02020603050405020304" pitchFamily="18" charset="0"/>
                  <a:ea typeface="SimSun" panose="02010600030101010101" pitchFamily="2" charset="-122"/>
                </a:rPr>
                <a:t>   20</a:t>
              </a:r>
            </a:p>
          </p:txBody>
        </p:sp>
        <p:sp>
          <p:nvSpPr>
            <p:cNvPr id="119830" name="Text Box 22"/>
            <p:cNvSpPr txBox="1">
              <a:spLocks noChangeArrowheads="1"/>
            </p:cNvSpPr>
            <p:nvPr/>
          </p:nvSpPr>
          <p:spPr bwMode="auto">
            <a:xfrm>
              <a:off x="2592" y="1776"/>
              <a:ext cx="528" cy="1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990033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600">
                  <a:solidFill>
                    <a:srgbClr val="80000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GB" altLang="zh-CN" sz="1600">
                  <a:solidFill>
                    <a:srgbClr val="00279F"/>
                  </a:solidFill>
                  <a:latin typeface="Times New Roman" panose="02020603050405020304" pitchFamily="18" charset="0"/>
                  <a:ea typeface="SimSun" panose="02010600030101010101" pitchFamily="2" charset="-122"/>
                </a:rPr>
                <a:t>London</a:t>
              </a:r>
            </a:p>
          </p:txBody>
        </p:sp>
        <p:sp>
          <p:nvSpPr>
            <p:cNvPr id="119831" name="Text Box 23"/>
            <p:cNvSpPr txBox="1">
              <a:spLocks noChangeArrowheads="1"/>
            </p:cNvSpPr>
            <p:nvPr/>
          </p:nvSpPr>
          <p:spPr bwMode="auto">
            <a:xfrm>
              <a:off x="3648" y="1776"/>
              <a:ext cx="768" cy="1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990033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600">
                  <a:solidFill>
                    <a:srgbClr val="80000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GB" altLang="zh-CN" sz="1600">
                  <a:solidFill>
                    <a:srgbClr val="00279F"/>
                  </a:solidFill>
                  <a:latin typeface="Times New Roman" panose="02020603050405020304" pitchFamily="18" charset="0"/>
                  <a:ea typeface="SimSun" panose="02010600030101010101" pitchFamily="2" charset="-122"/>
                </a:rPr>
                <a:t>P2</a:t>
              </a:r>
            </a:p>
          </p:txBody>
        </p:sp>
        <p:sp>
          <p:nvSpPr>
            <p:cNvPr id="119832" name="Text Box 24"/>
            <p:cNvSpPr txBox="1">
              <a:spLocks noChangeArrowheads="1"/>
            </p:cNvSpPr>
            <p:nvPr/>
          </p:nvSpPr>
          <p:spPr bwMode="auto">
            <a:xfrm>
              <a:off x="4416" y="1776"/>
              <a:ext cx="372" cy="1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990033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600">
                  <a:solidFill>
                    <a:srgbClr val="80000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GB" sz="1600">
                  <a:solidFill>
                    <a:srgbClr val="00279F"/>
                  </a:solidFill>
                  <a:latin typeface="Times New Roman" panose="02020603050405020304" pitchFamily="18" charset="0"/>
                  <a:ea typeface="SimSun" panose="02010600030101010101" pitchFamily="2" charset="-122"/>
                </a:rPr>
                <a:t>2000</a:t>
              </a:r>
            </a:p>
          </p:txBody>
        </p:sp>
        <p:sp>
          <p:nvSpPr>
            <p:cNvPr id="119833" name="Line 25"/>
            <p:cNvSpPr>
              <a:spLocks noChangeShapeType="1"/>
            </p:cNvSpPr>
            <p:nvPr/>
          </p:nvSpPr>
          <p:spPr bwMode="auto">
            <a:xfrm>
              <a:off x="1680" y="1296"/>
              <a:ext cx="0" cy="1200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19834" name="Text Box 26"/>
            <p:cNvSpPr txBox="1">
              <a:spLocks noChangeArrowheads="1"/>
            </p:cNvSpPr>
            <p:nvPr/>
          </p:nvSpPr>
          <p:spPr bwMode="auto">
            <a:xfrm>
              <a:off x="1056" y="1344"/>
              <a:ext cx="634" cy="1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990033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600">
                  <a:solidFill>
                    <a:srgbClr val="80000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GB" altLang="zh-CN" sz="1600" u="sng">
                  <a:solidFill>
                    <a:srgbClr val="00279F"/>
                  </a:solidFill>
                  <a:latin typeface="Times New Roman" panose="02020603050405020304" pitchFamily="18" charset="0"/>
                  <a:ea typeface="SimSun" panose="02010600030101010101" pitchFamily="2" charset="-122"/>
                </a:rPr>
                <a:t>S#</a:t>
              </a:r>
              <a:endParaRPr lang="en-GB" altLang="zh-CN" sz="1600">
                <a:solidFill>
                  <a:srgbClr val="00279F"/>
                </a:solidFill>
                <a:latin typeface="Times New Roman" panose="02020603050405020304" pitchFamily="18" charset="0"/>
                <a:ea typeface="SimSun" panose="02010600030101010101" pitchFamily="2" charset="-122"/>
              </a:endParaRPr>
            </a:p>
          </p:txBody>
        </p:sp>
        <p:sp>
          <p:nvSpPr>
            <p:cNvPr id="119835" name="Text Box 27"/>
            <p:cNvSpPr txBox="1">
              <a:spLocks noChangeArrowheads="1"/>
            </p:cNvSpPr>
            <p:nvPr/>
          </p:nvSpPr>
          <p:spPr bwMode="auto">
            <a:xfrm>
              <a:off x="1248" y="1536"/>
              <a:ext cx="251" cy="1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990033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600">
                  <a:solidFill>
                    <a:srgbClr val="80000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GB" altLang="zh-CN" sz="1600">
                  <a:solidFill>
                    <a:srgbClr val="00279F"/>
                  </a:solidFill>
                  <a:latin typeface="Times New Roman" panose="02020603050405020304" pitchFamily="18" charset="0"/>
                  <a:ea typeface="SimSun" panose="02010600030101010101" pitchFamily="2" charset="-122"/>
                </a:rPr>
                <a:t>S1</a:t>
              </a:r>
            </a:p>
          </p:txBody>
        </p:sp>
        <p:sp>
          <p:nvSpPr>
            <p:cNvPr id="119836" name="Text Box 28"/>
            <p:cNvSpPr txBox="1">
              <a:spLocks noChangeArrowheads="1"/>
            </p:cNvSpPr>
            <p:nvPr/>
          </p:nvSpPr>
          <p:spPr bwMode="auto">
            <a:xfrm>
              <a:off x="1248" y="1776"/>
              <a:ext cx="242" cy="1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990033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600">
                  <a:solidFill>
                    <a:srgbClr val="80000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GB" altLang="zh-CN" sz="1600">
                  <a:solidFill>
                    <a:srgbClr val="00279F"/>
                  </a:solidFill>
                  <a:latin typeface="Times New Roman" panose="02020603050405020304" pitchFamily="18" charset="0"/>
                  <a:ea typeface="SimSun" panose="02010600030101010101" pitchFamily="2" charset="-122"/>
                </a:rPr>
                <a:t>S1</a:t>
              </a:r>
            </a:p>
          </p:txBody>
        </p:sp>
        <p:sp>
          <p:nvSpPr>
            <p:cNvPr id="119837" name="Line 29"/>
            <p:cNvSpPr>
              <a:spLocks noChangeShapeType="1"/>
            </p:cNvSpPr>
            <p:nvPr/>
          </p:nvSpPr>
          <p:spPr bwMode="auto">
            <a:xfrm>
              <a:off x="1008" y="1968"/>
              <a:ext cx="4128" cy="1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19838" name="Text Box 30"/>
            <p:cNvSpPr txBox="1">
              <a:spLocks noChangeArrowheads="1"/>
            </p:cNvSpPr>
            <p:nvPr/>
          </p:nvSpPr>
          <p:spPr bwMode="auto">
            <a:xfrm>
              <a:off x="1248" y="2016"/>
              <a:ext cx="242" cy="1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990033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600">
                  <a:solidFill>
                    <a:srgbClr val="80000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GB" altLang="zh-CN" sz="1600">
                  <a:solidFill>
                    <a:srgbClr val="00279F"/>
                  </a:solidFill>
                  <a:latin typeface="Times New Roman" panose="02020603050405020304" pitchFamily="18" charset="0"/>
                  <a:ea typeface="SimSun" panose="02010600030101010101" pitchFamily="2" charset="-122"/>
                </a:rPr>
                <a:t>S2</a:t>
              </a:r>
            </a:p>
          </p:txBody>
        </p:sp>
        <p:sp>
          <p:nvSpPr>
            <p:cNvPr id="119839" name="Text Box 31"/>
            <p:cNvSpPr txBox="1">
              <a:spLocks noChangeArrowheads="1"/>
            </p:cNvSpPr>
            <p:nvPr/>
          </p:nvSpPr>
          <p:spPr bwMode="auto">
            <a:xfrm>
              <a:off x="1248" y="2256"/>
              <a:ext cx="242" cy="1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990033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600">
                  <a:solidFill>
                    <a:srgbClr val="80000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GB" altLang="zh-CN" sz="1600">
                  <a:solidFill>
                    <a:srgbClr val="00279F"/>
                  </a:solidFill>
                  <a:latin typeface="Times New Roman" panose="02020603050405020304" pitchFamily="18" charset="0"/>
                  <a:ea typeface="SimSun" panose="02010600030101010101" pitchFamily="2" charset="-122"/>
                </a:rPr>
                <a:t>S3</a:t>
              </a:r>
            </a:p>
          </p:txBody>
        </p:sp>
        <p:sp>
          <p:nvSpPr>
            <p:cNvPr id="119840" name="Text Box 32"/>
            <p:cNvSpPr txBox="1">
              <a:spLocks noChangeArrowheads="1"/>
            </p:cNvSpPr>
            <p:nvPr/>
          </p:nvSpPr>
          <p:spPr bwMode="auto">
            <a:xfrm>
              <a:off x="1872" y="2016"/>
              <a:ext cx="244" cy="1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990033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600">
                  <a:solidFill>
                    <a:srgbClr val="80000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GB" sz="1600">
                  <a:solidFill>
                    <a:srgbClr val="00279F"/>
                  </a:solidFill>
                  <a:latin typeface="Times New Roman" panose="02020603050405020304" pitchFamily="18" charset="0"/>
                  <a:ea typeface="SimSun" panose="02010600030101010101" pitchFamily="2" charset="-122"/>
                </a:rPr>
                <a:t>10</a:t>
              </a:r>
            </a:p>
          </p:txBody>
        </p:sp>
        <p:sp>
          <p:nvSpPr>
            <p:cNvPr id="119841" name="Text Box 33"/>
            <p:cNvSpPr txBox="1">
              <a:spLocks noChangeArrowheads="1"/>
            </p:cNvSpPr>
            <p:nvPr/>
          </p:nvSpPr>
          <p:spPr bwMode="auto">
            <a:xfrm>
              <a:off x="1872" y="2256"/>
              <a:ext cx="236" cy="1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990033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600">
                  <a:solidFill>
                    <a:srgbClr val="80000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GB" sz="1600">
                  <a:solidFill>
                    <a:srgbClr val="00279F"/>
                  </a:solidFill>
                  <a:latin typeface="Times New Roman" panose="02020603050405020304" pitchFamily="18" charset="0"/>
                  <a:ea typeface="SimSun" panose="02010600030101010101" pitchFamily="2" charset="-122"/>
                </a:rPr>
                <a:t>20</a:t>
              </a:r>
            </a:p>
          </p:txBody>
        </p:sp>
        <p:sp>
          <p:nvSpPr>
            <p:cNvPr id="119842" name="Text Box 34"/>
            <p:cNvSpPr txBox="1">
              <a:spLocks noChangeArrowheads="1"/>
            </p:cNvSpPr>
            <p:nvPr/>
          </p:nvSpPr>
          <p:spPr bwMode="auto">
            <a:xfrm>
              <a:off x="2630" y="2019"/>
              <a:ext cx="388" cy="1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990033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600">
                  <a:solidFill>
                    <a:srgbClr val="80000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GB" altLang="zh-CN" sz="1600">
                  <a:solidFill>
                    <a:srgbClr val="00279F"/>
                  </a:solidFill>
                  <a:latin typeface="Times New Roman" panose="02020603050405020304" pitchFamily="18" charset="0"/>
                  <a:ea typeface="SimSun" panose="02010600030101010101" pitchFamily="2" charset="-122"/>
                </a:rPr>
                <a:t>Paris</a:t>
              </a:r>
            </a:p>
          </p:txBody>
        </p:sp>
        <p:sp>
          <p:nvSpPr>
            <p:cNvPr id="119843" name="Text Box 35"/>
            <p:cNvSpPr txBox="1">
              <a:spLocks noChangeArrowheads="1"/>
            </p:cNvSpPr>
            <p:nvPr/>
          </p:nvSpPr>
          <p:spPr bwMode="auto">
            <a:xfrm>
              <a:off x="2582" y="2259"/>
              <a:ext cx="524" cy="1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990033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600">
                  <a:solidFill>
                    <a:srgbClr val="80000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GB" altLang="zh-CN" sz="1600">
                  <a:solidFill>
                    <a:srgbClr val="00279F"/>
                  </a:solidFill>
                  <a:latin typeface="Times New Roman" panose="02020603050405020304" pitchFamily="18" charset="0"/>
                  <a:ea typeface="SimSun" panose="02010600030101010101" pitchFamily="2" charset="-122"/>
                </a:rPr>
                <a:t>London</a:t>
              </a:r>
            </a:p>
          </p:txBody>
        </p:sp>
        <p:sp>
          <p:nvSpPr>
            <p:cNvPr id="119844" name="Text Box 36"/>
            <p:cNvSpPr txBox="1">
              <a:spLocks noChangeArrowheads="1"/>
            </p:cNvSpPr>
            <p:nvPr/>
          </p:nvSpPr>
          <p:spPr bwMode="auto">
            <a:xfrm>
              <a:off x="3638" y="2019"/>
              <a:ext cx="250" cy="1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990033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600">
                  <a:solidFill>
                    <a:srgbClr val="80000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GB" altLang="zh-CN" sz="1600">
                  <a:solidFill>
                    <a:srgbClr val="00279F"/>
                  </a:solidFill>
                  <a:latin typeface="Times New Roman" panose="02020603050405020304" pitchFamily="18" charset="0"/>
                  <a:ea typeface="SimSun" panose="02010600030101010101" pitchFamily="2" charset="-122"/>
                </a:rPr>
                <a:t>P2</a:t>
              </a:r>
            </a:p>
          </p:txBody>
        </p:sp>
        <p:sp>
          <p:nvSpPr>
            <p:cNvPr id="119845" name="Text Box 37"/>
            <p:cNvSpPr txBox="1">
              <a:spLocks noChangeArrowheads="1"/>
            </p:cNvSpPr>
            <p:nvPr/>
          </p:nvSpPr>
          <p:spPr bwMode="auto">
            <a:xfrm>
              <a:off x="3638" y="2259"/>
              <a:ext cx="250" cy="1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990033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600">
                  <a:solidFill>
                    <a:srgbClr val="80000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GB" altLang="zh-CN" sz="1600">
                  <a:solidFill>
                    <a:srgbClr val="00279F"/>
                  </a:solidFill>
                  <a:latin typeface="Times New Roman" panose="02020603050405020304" pitchFamily="18" charset="0"/>
                  <a:ea typeface="SimSun" panose="02010600030101010101" pitchFamily="2" charset="-122"/>
                </a:rPr>
                <a:t>P3</a:t>
              </a:r>
            </a:p>
          </p:txBody>
        </p:sp>
        <p:sp>
          <p:nvSpPr>
            <p:cNvPr id="119846" name="Text Box 38"/>
            <p:cNvSpPr txBox="1">
              <a:spLocks noChangeArrowheads="1"/>
            </p:cNvSpPr>
            <p:nvPr/>
          </p:nvSpPr>
          <p:spPr bwMode="auto">
            <a:xfrm>
              <a:off x="4454" y="2019"/>
              <a:ext cx="297" cy="1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990033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600">
                  <a:solidFill>
                    <a:srgbClr val="80000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GB" sz="1600">
                  <a:solidFill>
                    <a:srgbClr val="00279F"/>
                  </a:solidFill>
                  <a:latin typeface="Times New Roman" panose="02020603050405020304" pitchFamily="18" charset="0"/>
                  <a:ea typeface="SimSun" panose="02010600030101010101" pitchFamily="2" charset="-122"/>
                </a:rPr>
                <a:t>500</a:t>
              </a:r>
            </a:p>
          </p:txBody>
        </p:sp>
        <p:sp>
          <p:nvSpPr>
            <p:cNvPr id="119847" name="Text Box 39"/>
            <p:cNvSpPr txBox="1">
              <a:spLocks noChangeArrowheads="1"/>
            </p:cNvSpPr>
            <p:nvPr/>
          </p:nvSpPr>
          <p:spPr bwMode="auto">
            <a:xfrm>
              <a:off x="4416" y="2256"/>
              <a:ext cx="360" cy="1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990033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600">
                  <a:solidFill>
                    <a:srgbClr val="80000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GB" sz="1600">
                  <a:solidFill>
                    <a:srgbClr val="00279F"/>
                  </a:solidFill>
                  <a:latin typeface="Times New Roman" panose="02020603050405020304" pitchFamily="18" charset="0"/>
                  <a:ea typeface="SimSun" panose="02010600030101010101" pitchFamily="2" charset="-122"/>
                </a:rPr>
                <a:t>3000</a:t>
              </a:r>
            </a:p>
          </p:txBody>
        </p:sp>
        <p:sp>
          <p:nvSpPr>
            <p:cNvPr id="119848" name="Text Box 40"/>
            <p:cNvSpPr txBox="1">
              <a:spLocks noChangeArrowheads="1"/>
            </p:cNvSpPr>
            <p:nvPr/>
          </p:nvSpPr>
          <p:spPr bwMode="auto">
            <a:xfrm>
              <a:off x="1008" y="1056"/>
              <a:ext cx="1792" cy="1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990033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600">
                  <a:solidFill>
                    <a:srgbClr val="80000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GB" altLang="zh-CN" sz="1600">
                  <a:solidFill>
                    <a:srgbClr val="00279F"/>
                  </a:solidFill>
                  <a:latin typeface="Times New Roman" panose="02020603050405020304" pitchFamily="18" charset="0"/>
                  <a:ea typeface="SimSun" panose="02010600030101010101" pitchFamily="2" charset="-122"/>
                </a:rPr>
                <a:t>Primary Key (Supplier#, Part#)</a:t>
              </a:r>
            </a:p>
          </p:txBody>
        </p:sp>
        <p:sp>
          <p:nvSpPr>
            <p:cNvPr id="119849" name="Line 41"/>
            <p:cNvSpPr>
              <a:spLocks noChangeShapeType="1"/>
            </p:cNvSpPr>
            <p:nvPr/>
          </p:nvSpPr>
          <p:spPr bwMode="auto">
            <a:xfrm>
              <a:off x="1008" y="2256"/>
              <a:ext cx="4128" cy="1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719263"/>
            <a:ext cx="8229600" cy="1992312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sz="2300" smtClean="0">
                <a:ea typeface="SimSun" panose="02010600030101010101" pitchFamily="2" charset="-122"/>
              </a:rPr>
              <a:t>By analyzing a given relation, we can identify some dependencies between its attributes.</a:t>
            </a:r>
          </a:p>
          <a:p>
            <a:pPr>
              <a:lnSpc>
                <a:spcPct val="90000"/>
              </a:lnSpc>
            </a:pPr>
            <a:r>
              <a:rPr lang="en-US" altLang="zh-CN" sz="2300" smtClean="0">
                <a:ea typeface="SimSun" panose="02010600030101010101" pitchFamily="2" charset="-122"/>
              </a:rPr>
              <a:t>In principle, we want to make attributes independent of each other as far as possible, so that updating one attribute will have no impact on the others. </a:t>
            </a:r>
          </a:p>
        </p:txBody>
      </p:sp>
      <p:grpSp>
        <p:nvGrpSpPr>
          <p:cNvPr id="17411" name="Group 4"/>
          <p:cNvGrpSpPr>
            <a:grpSpLocks/>
          </p:cNvGrpSpPr>
          <p:nvPr/>
        </p:nvGrpSpPr>
        <p:grpSpPr bwMode="auto">
          <a:xfrm>
            <a:off x="914400" y="3657600"/>
            <a:ext cx="7467600" cy="2286000"/>
            <a:chOff x="576" y="2064"/>
            <a:chExt cx="4704" cy="1440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17413" name="Rectangle 5"/>
            <p:cNvSpPr>
              <a:spLocks noChangeArrowheads="1"/>
            </p:cNvSpPr>
            <p:nvPr/>
          </p:nvSpPr>
          <p:spPr bwMode="auto">
            <a:xfrm>
              <a:off x="2160" y="2064"/>
              <a:ext cx="1440" cy="1440"/>
            </a:xfrm>
            <a:prstGeom prst="rect">
              <a:avLst/>
            </a:prstGeom>
            <a:grpFill/>
            <a:ln w="12700">
              <a:solidFill>
                <a:srgbClr val="00206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 b="1" spc="50" smtClean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endParaRPr>
            </a:p>
          </p:txBody>
        </p:sp>
        <p:sp>
          <p:nvSpPr>
            <p:cNvPr id="17414" name="Rectangle 6"/>
            <p:cNvSpPr>
              <a:spLocks noChangeArrowheads="1"/>
            </p:cNvSpPr>
            <p:nvPr/>
          </p:nvSpPr>
          <p:spPr bwMode="auto">
            <a:xfrm>
              <a:off x="2400" y="2256"/>
              <a:ext cx="912" cy="384"/>
            </a:xfrm>
            <a:prstGeom prst="rect">
              <a:avLst/>
            </a:prstGeom>
            <a:grpFill/>
            <a:ln w="12700">
              <a:solidFill>
                <a:srgbClr val="00206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  <a:defRPr/>
              </a:pPr>
              <a:r>
                <a:rPr lang="en-GB" altLang="zh-CN" sz="1600" b="1" spc="50" smtClean="0">
                  <a:ln w="0"/>
                  <a:solidFill>
                    <a:schemeClr val="bg2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  <a:latin typeface="Times New Roman" panose="02020603050405020304" pitchFamily="18" charset="0"/>
                  <a:ea typeface="SimSun" panose="02010600030101010101" pitchFamily="2" charset="-122"/>
                </a:rPr>
                <a:t>Supplier#</a:t>
              </a:r>
            </a:p>
          </p:txBody>
        </p:sp>
        <p:sp>
          <p:nvSpPr>
            <p:cNvPr id="17415" name="Rectangle 7"/>
            <p:cNvSpPr>
              <a:spLocks noChangeArrowheads="1"/>
            </p:cNvSpPr>
            <p:nvPr/>
          </p:nvSpPr>
          <p:spPr bwMode="auto">
            <a:xfrm>
              <a:off x="2400" y="2880"/>
              <a:ext cx="912" cy="384"/>
            </a:xfrm>
            <a:prstGeom prst="rect">
              <a:avLst/>
            </a:prstGeom>
            <a:grpFill/>
            <a:ln w="12700">
              <a:solidFill>
                <a:srgbClr val="00206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  <a:defRPr/>
              </a:pPr>
              <a:r>
                <a:rPr lang="en-GB" altLang="zh-CN" sz="1600" b="1" spc="50" smtClean="0">
                  <a:ln w="0"/>
                  <a:solidFill>
                    <a:schemeClr val="bg2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  <a:latin typeface="Times New Roman" panose="02020603050405020304" pitchFamily="18" charset="0"/>
                  <a:ea typeface="SimSun" panose="02010600030101010101" pitchFamily="2" charset="-122"/>
                </a:rPr>
                <a:t>Part#</a:t>
              </a:r>
            </a:p>
          </p:txBody>
        </p:sp>
        <p:sp>
          <p:nvSpPr>
            <p:cNvPr id="17416" name="Rectangle 8"/>
            <p:cNvSpPr>
              <a:spLocks noChangeArrowheads="1"/>
            </p:cNvSpPr>
            <p:nvPr/>
          </p:nvSpPr>
          <p:spPr bwMode="auto">
            <a:xfrm>
              <a:off x="4368" y="2928"/>
              <a:ext cx="912" cy="384"/>
            </a:xfrm>
            <a:prstGeom prst="rect">
              <a:avLst/>
            </a:prstGeom>
            <a:grpFill/>
            <a:ln w="12700">
              <a:solidFill>
                <a:srgbClr val="00206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  <a:defRPr/>
              </a:pPr>
              <a:r>
                <a:rPr lang="en-GB" altLang="zh-CN" sz="1600" b="1" spc="50" smtClean="0">
                  <a:ln w="0"/>
                  <a:solidFill>
                    <a:schemeClr val="bg2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  <a:latin typeface="Times New Roman" panose="02020603050405020304" pitchFamily="18" charset="0"/>
                  <a:ea typeface="SimSun" panose="02010600030101010101" pitchFamily="2" charset="-122"/>
                </a:rPr>
                <a:t>Status</a:t>
              </a:r>
            </a:p>
          </p:txBody>
        </p:sp>
        <p:sp>
          <p:nvSpPr>
            <p:cNvPr id="17417" name="Rectangle 9"/>
            <p:cNvSpPr>
              <a:spLocks noChangeArrowheads="1"/>
            </p:cNvSpPr>
            <p:nvPr/>
          </p:nvSpPr>
          <p:spPr bwMode="auto">
            <a:xfrm>
              <a:off x="4368" y="2256"/>
              <a:ext cx="912" cy="384"/>
            </a:xfrm>
            <a:prstGeom prst="rect">
              <a:avLst/>
            </a:prstGeom>
            <a:grpFill/>
            <a:ln w="12700">
              <a:solidFill>
                <a:srgbClr val="00206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  <a:defRPr/>
              </a:pPr>
              <a:r>
                <a:rPr lang="en-GB" altLang="zh-CN" sz="1600" b="1" spc="50" smtClean="0">
                  <a:ln w="0"/>
                  <a:solidFill>
                    <a:schemeClr val="bg2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  <a:latin typeface="Times New Roman" panose="02020603050405020304" pitchFamily="18" charset="0"/>
                  <a:ea typeface="SimSun" panose="02010600030101010101" pitchFamily="2" charset="-122"/>
                </a:rPr>
                <a:t>City</a:t>
              </a:r>
            </a:p>
          </p:txBody>
        </p:sp>
        <p:sp>
          <p:nvSpPr>
            <p:cNvPr id="17418" name="Rectangle 10"/>
            <p:cNvSpPr>
              <a:spLocks noChangeArrowheads="1"/>
            </p:cNvSpPr>
            <p:nvPr/>
          </p:nvSpPr>
          <p:spPr bwMode="auto">
            <a:xfrm>
              <a:off x="576" y="2592"/>
              <a:ext cx="912" cy="384"/>
            </a:xfrm>
            <a:prstGeom prst="rect">
              <a:avLst/>
            </a:prstGeom>
            <a:grpFill/>
            <a:ln w="12700">
              <a:solidFill>
                <a:srgbClr val="00206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  <a:defRPr/>
              </a:pPr>
              <a:r>
                <a:rPr lang="en-GB" altLang="zh-CN" sz="1600" b="1" spc="50" smtClean="0">
                  <a:ln w="0"/>
                  <a:solidFill>
                    <a:schemeClr val="bg2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  <a:latin typeface="Times New Roman" panose="02020603050405020304" pitchFamily="18" charset="0"/>
                  <a:ea typeface="SimSun" panose="02010600030101010101" pitchFamily="2" charset="-122"/>
                </a:rPr>
                <a:t>Quantity</a:t>
              </a:r>
            </a:p>
          </p:txBody>
        </p:sp>
        <p:sp>
          <p:nvSpPr>
            <p:cNvPr id="17419" name="Line 11"/>
            <p:cNvSpPr>
              <a:spLocks noChangeShapeType="1"/>
            </p:cNvSpPr>
            <p:nvPr/>
          </p:nvSpPr>
          <p:spPr bwMode="auto">
            <a:xfrm flipH="1">
              <a:off x="1488" y="2736"/>
              <a:ext cx="672" cy="0"/>
            </a:xfrm>
            <a:prstGeom prst="line">
              <a:avLst/>
            </a:prstGeom>
            <a:grpFill/>
            <a:ln w="12700">
              <a:solidFill>
                <a:srgbClr val="002060"/>
              </a:solidFill>
              <a:round/>
              <a:headEnd/>
              <a:tailEnd type="triangle" w="med" len="med"/>
            </a:ln>
            <a:extLst/>
          </p:spPr>
          <p:txBody>
            <a:bodyPr wrap="none" anchor="ctr"/>
            <a:lstStyle/>
            <a:p>
              <a:pPr>
                <a:defRPr/>
              </a:pPr>
              <a:endParaRPr lang="en-US" b="1" spc="5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endParaRPr>
            </a:p>
          </p:txBody>
        </p:sp>
        <p:sp>
          <p:nvSpPr>
            <p:cNvPr id="17420" name="Line 12"/>
            <p:cNvSpPr>
              <a:spLocks noChangeShapeType="1"/>
            </p:cNvSpPr>
            <p:nvPr/>
          </p:nvSpPr>
          <p:spPr bwMode="auto">
            <a:xfrm>
              <a:off x="3312" y="2400"/>
              <a:ext cx="1056" cy="0"/>
            </a:xfrm>
            <a:prstGeom prst="line">
              <a:avLst/>
            </a:prstGeom>
            <a:grpFill/>
            <a:ln w="12700">
              <a:solidFill>
                <a:srgbClr val="002060"/>
              </a:solidFill>
              <a:round/>
              <a:headEnd/>
              <a:tailEnd type="triangle" w="med" len="med"/>
            </a:ln>
            <a:extLst/>
          </p:spPr>
          <p:txBody>
            <a:bodyPr wrap="none" anchor="ctr"/>
            <a:lstStyle/>
            <a:p>
              <a:pPr>
                <a:defRPr/>
              </a:pPr>
              <a:endParaRPr lang="en-US" b="1" spc="5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endParaRPr>
            </a:p>
          </p:txBody>
        </p:sp>
        <p:sp>
          <p:nvSpPr>
            <p:cNvPr id="17421" name="Line 13"/>
            <p:cNvSpPr>
              <a:spLocks noChangeShapeType="1"/>
            </p:cNvSpPr>
            <p:nvPr/>
          </p:nvSpPr>
          <p:spPr bwMode="auto">
            <a:xfrm>
              <a:off x="4848" y="2640"/>
              <a:ext cx="0" cy="288"/>
            </a:xfrm>
            <a:prstGeom prst="line">
              <a:avLst/>
            </a:prstGeom>
            <a:grpFill/>
            <a:ln w="12700">
              <a:solidFill>
                <a:srgbClr val="002060"/>
              </a:solidFill>
              <a:round/>
              <a:headEnd/>
              <a:tailEnd type="triangle" w="med" len="med"/>
            </a:ln>
            <a:extLst/>
          </p:spPr>
          <p:txBody>
            <a:bodyPr wrap="none" anchor="ctr"/>
            <a:lstStyle/>
            <a:p>
              <a:pPr>
                <a:defRPr/>
              </a:pPr>
              <a:endParaRPr lang="en-US" b="1" spc="5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endParaRPr>
            </a:p>
          </p:txBody>
        </p:sp>
        <p:sp>
          <p:nvSpPr>
            <p:cNvPr id="17422" name="Line 14"/>
            <p:cNvSpPr>
              <a:spLocks noChangeShapeType="1"/>
            </p:cNvSpPr>
            <p:nvPr/>
          </p:nvSpPr>
          <p:spPr bwMode="auto">
            <a:xfrm>
              <a:off x="3888" y="2400"/>
              <a:ext cx="0" cy="672"/>
            </a:xfrm>
            <a:prstGeom prst="line">
              <a:avLst/>
            </a:prstGeom>
            <a:grpFill/>
            <a:ln w="12700">
              <a:solidFill>
                <a:srgbClr val="002060"/>
              </a:solidFill>
              <a:round/>
              <a:headEnd/>
              <a:tailEnd/>
            </a:ln>
            <a:extLst/>
          </p:spPr>
          <p:txBody>
            <a:bodyPr wrap="none" anchor="ctr"/>
            <a:lstStyle/>
            <a:p>
              <a:pPr>
                <a:defRPr/>
              </a:pPr>
              <a:endParaRPr lang="en-US" b="1" spc="5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endParaRPr>
            </a:p>
          </p:txBody>
        </p:sp>
        <p:sp>
          <p:nvSpPr>
            <p:cNvPr id="17423" name="Line 15"/>
            <p:cNvSpPr>
              <a:spLocks noChangeShapeType="1"/>
            </p:cNvSpPr>
            <p:nvPr/>
          </p:nvSpPr>
          <p:spPr bwMode="auto">
            <a:xfrm>
              <a:off x="3888" y="3072"/>
              <a:ext cx="480" cy="0"/>
            </a:xfrm>
            <a:prstGeom prst="line">
              <a:avLst/>
            </a:prstGeom>
            <a:grpFill/>
            <a:ln w="12700">
              <a:solidFill>
                <a:srgbClr val="002060"/>
              </a:solidFill>
              <a:round/>
              <a:headEnd/>
              <a:tailEnd type="triangle" w="med" len="med"/>
            </a:ln>
            <a:extLst/>
          </p:spPr>
          <p:txBody>
            <a:bodyPr wrap="none" anchor="ctr"/>
            <a:lstStyle/>
            <a:p>
              <a:pPr>
                <a:defRPr/>
              </a:pPr>
              <a:endParaRPr lang="en-US" b="1" spc="5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endParaRPr>
            </a:p>
          </p:txBody>
        </p:sp>
      </p:grpSp>
      <p:sp>
        <p:nvSpPr>
          <p:cNvPr id="121860" name="Rectangle 17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altLang="zh-CN" smtClean="0">
                <a:ea typeface="SimSun" panose="02010600030101010101" pitchFamily="2" charset="-122"/>
              </a:rPr>
              <a:t>Example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22238"/>
            <a:ext cx="7543800" cy="1020762"/>
          </a:xfrm>
        </p:spPr>
        <p:txBody>
          <a:bodyPr/>
          <a:lstStyle/>
          <a:p>
            <a:r>
              <a:rPr lang="en-US" altLang="en-US" smtClean="0"/>
              <a:t>2NF Example</a:t>
            </a:r>
          </a:p>
        </p:txBody>
      </p:sp>
      <p:sp>
        <p:nvSpPr>
          <p:cNvPr id="1239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684338"/>
            <a:ext cx="8229600" cy="4411662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mtClean="0"/>
              <a:t>FIRST {</a:t>
            </a:r>
            <a:r>
              <a:rPr lang="en-US" altLang="en-US" u="sng" smtClean="0"/>
              <a:t>S#</a:t>
            </a:r>
            <a:r>
              <a:rPr lang="en-US" altLang="en-US" smtClean="0"/>
              <a:t>, STATUS, CITY, </a:t>
            </a:r>
            <a:r>
              <a:rPr lang="en-US" altLang="en-US" u="sng" smtClean="0"/>
              <a:t>P#</a:t>
            </a:r>
            <a:r>
              <a:rPr lang="en-US" altLang="en-US" smtClean="0"/>
              <a:t>, QTY}</a:t>
            </a:r>
          </a:p>
          <a:p>
            <a:pPr lvl="1">
              <a:lnSpc>
                <a:spcPct val="90000"/>
              </a:lnSpc>
            </a:pPr>
            <a:r>
              <a:rPr lang="en-US" altLang="en-US" sz="2400" smtClean="0"/>
              <a:t>Primary key: {S#, P#}</a:t>
            </a:r>
          </a:p>
          <a:p>
            <a:pPr lvl="1">
              <a:lnSpc>
                <a:spcPct val="90000"/>
              </a:lnSpc>
            </a:pPr>
            <a:r>
              <a:rPr lang="en-US" altLang="en-US" sz="2400" smtClean="0"/>
              <a:t>{S#} -&gt; {CITY}, {CITY} -&gt; {STATUS}</a:t>
            </a:r>
          </a:p>
          <a:p>
            <a:pPr lvl="1">
              <a:lnSpc>
                <a:spcPct val="90000"/>
              </a:lnSpc>
            </a:pPr>
            <a:endParaRPr lang="en-US" altLang="en-US" sz="2400" smtClean="0"/>
          </a:p>
          <a:p>
            <a:pPr>
              <a:lnSpc>
                <a:spcPct val="90000"/>
              </a:lnSpc>
            </a:pPr>
            <a:r>
              <a:rPr lang="en-US" altLang="en-US" smtClean="0"/>
              <a:t>Test of 2NF</a:t>
            </a:r>
          </a:p>
          <a:p>
            <a:pPr lvl="1">
              <a:lnSpc>
                <a:spcPct val="90000"/>
              </a:lnSpc>
            </a:pPr>
            <a:r>
              <a:rPr lang="en-US" altLang="en-US" sz="2400" smtClean="0"/>
              <a:t>{S#} -&gt; {STATUS, CITY}: </a:t>
            </a:r>
            <a:r>
              <a:rPr lang="en-US" altLang="en-US" sz="2400" i="1" smtClean="0"/>
              <a:t>partial dependencies.</a:t>
            </a:r>
          </a:p>
          <a:p>
            <a:pPr lvl="1">
              <a:lnSpc>
                <a:spcPct val="90000"/>
              </a:lnSpc>
            </a:pPr>
            <a:r>
              <a:rPr lang="en-US" altLang="en-US" sz="2400" smtClean="0"/>
              <a:t>FIRST is in 1NF, but not in 2NF.</a:t>
            </a:r>
          </a:p>
          <a:p>
            <a:pPr lvl="1">
              <a:lnSpc>
                <a:spcPct val="90000"/>
              </a:lnSpc>
            </a:pPr>
            <a:endParaRPr lang="en-US" altLang="en-US" sz="2400" smtClean="0"/>
          </a:p>
          <a:p>
            <a:pPr>
              <a:lnSpc>
                <a:spcPct val="90000"/>
              </a:lnSpc>
            </a:pPr>
            <a:r>
              <a:rPr lang="en-US" altLang="en-US" smtClean="0"/>
              <a:t>Decomposition:</a:t>
            </a:r>
          </a:p>
          <a:p>
            <a:pPr lvl="1">
              <a:lnSpc>
                <a:spcPct val="90000"/>
              </a:lnSpc>
            </a:pPr>
            <a:r>
              <a:rPr lang="en-US" altLang="en-US" sz="2400" smtClean="0"/>
              <a:t>SECOND {</a:t>
            </a:r>
            <a:r>
              <a:rPr lang="en-US" altLang="en-US" sz="2400" u="sng" smtClean="0"/>
              <a:t>S#</a:t>
            </a:r>
            <a:r>
              <a:rPr lang="en-US" altLang="en-US" sz="2400" smtClean="0"/>
              <a:t>, STATUS, CITY}</a:t>
            </a:r>
            <a:endParaRPr lang="en-US" altLang="en-US" sz="2400" i="1" smtClean="0"/>
          </a:p>
          <a:p>
            <a:pPr lvl="1">
              <a:lnSpc>
                <a:spcPct val="90000"/>
              </a:lnSpc>
            </a:pPr>
            <a:r>
              <a:rPr lang="en-US" altLang="en-US" sz="2400" smtClean="0"/>
              <a:t>SP {</a:t>
            </a:r>
            <a:r>
              <a:rPr lang="en-US" altLang="en-US" sz="2400" u="sng" smtClean="0"/>
              <a:t>S#</a:t>
            </a:r>
            <a:r>
              <a:rPr lang="en-US" altLang="en-US" sz="2400" smtClean="0"/>
              <a:t> (FK: references SECOND), </a:t>
            </a:r>
            <a:r>
              <a:rPr lang="en-US" altLang="en-US" sz="2400" u="sng" smtClean="0"/>
              <a:t>P#</a:t>
            </a:r>
            <a:r>
              <a:rPr lang="en-US" altLang="en-US" sz="2400" smtClean="0"/>
              <a:t>, QTY}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SimSun" panose="02010600030101010101" pitchFamily="2" charset="-122"/>
              </a:rPr>
              <a:t>2NF-Solution to Problems</a:t>
            </a:r>
          </a:p>
        </p:txBody>
      </p:sp>
      <p:sp>
        <p:nvSpPr>
          <p:cNvPr id="1259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719263"/>
            <a:ext cx="8229600" cy="85407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sz="2600" smtClean="0">
                <a:ea typeface="SimSun" panose="02010600030101010101" pitchFamily="2" charset="-122"/>
              </a:rPr>
              <a:t>The solution is to replace the relation by two new relations (called One and Two)</a:t>
            </a:r>
          </a:p>
        </p:txBody>
      </p:sp>
      <p:grpSp>
        <p:nvGrpSpPr>
          <p:cNvPr id="125956" name="Group 4"/>
          <p:cNvGrpSpPr>
            <a:grpSpLocks/>
          </p:cNvGrpSpPr>
          <p:nvPr/>
        </p:nvGrpSpPr>
        <p:grpSpPr bwMode="auto">
          <a:xfrm>
            <a:off x="838200" y="2425700"/>
            <a:ext cx="7467600" cy="2146300"/>
            <a:chOff x="528" y="1296"/>
            <a:chExt cx="4704" cy="1352"/>
          </a:xfrm>
        </p:grpSpPr>
        <p:sp>
          <p:nvSpPr>
            <p:cNvPr id="125958" name="Rectangle 5"/>
            <p:cNvSpPr>
              <a:spLocks noChangeArrowheads="1"/>
            </p:cNvSpPr>
            <p:nvPr/>
          </p:nvSpPr>
          <p:spPr bwMode="auto">
            <a:xfrm>
              <a:off x="528" y="1488"/>
              <a:ext cx="2304" cy="240"/>
            </a:xfrm>
            <a:prstGeom prst="rect">
              <a:avLst/>
            </a:prstGeom>
            <a:solidFill>
              <a:srgbClr val="DBFFB8"/>
            </a:solidFill>
            <a:ln w="12700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990033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600">
                  <a:solidFill>
                    <a:srgbClr val="80000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600">
                <a:solidFill>
                  <a:srgbClr val="00279F"/>
                </a:solidFill>
                <a:latin typeface="Times New Roman" panose="02020603050405020304" pitchFamily="18" charset="0"/>
                <a:ea typeface="SimSun" panose="02010600030101010101" pitchFamily="2" charset="-122"/>
              </a:endParaRPr>
            </a:p>
          </p:txBody>
        </p:sp>
        <p:sp>
          <p:nvSpPr>
            <p:cNvPr id="125959" name="Rectangle 6"/>
            <p:cNvSpPr>
              <a:spLocks noChangeArrowheads="1"/>
            </p:cNvSpPr>
            <p:nvPr/>
          </p:nvSpPr>
          <p:spPr bwMode="auto">
            <a:xfrm>
              <a:off x="528" y="1732"/>
              <a:ext cx="2304" cy="66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990033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600">
                  <a:solidFill>
                    <a:srgbClr val="80000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solidFill>
                  <a:schemeClr val="tx1"/>
                </a:solidFill>
              </a:endParaRPr>
            </a:p>
          </p:txBody>
        </p:sp>
        <p:sp>
          <p:nvSpPr>
            <p:cNvPr id="125960" name="Line 7"/>
            <p:cNvSpPr>
              <a:spLocks noChangeShapeType="1"/>
            </p:cNvSpPr>
            <p:nvPr/>
          </p:nvSpPr>
          <p:spPr bwMode="auto">
            <a:xfrm>
              <a:off x="528" y="1488"/>
              <a:ext cx="2304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25961" name="Line 8"/>
            <p:cNvSpPr>
              <a:spLocks noChangeShapeType="1"/>
            </p:cNvSpPr>
            <p:nvPr/>
          </p:nvSpPr>
          <p:spPr bwMode="auto">
            <a:xfrm>
              <a:off x="528" y="1728"/>
              <a:ext cx="2304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25962" name="Line 9"/>
            <p:cNvSpPr>
              <a:spLocks noChangeShapeType="1"/>
            </p:cNvSpPr>
            <p:nvPr/>
          </p:nvSpPr>
          <p:spPr bwMode="auto">
            <a:xfrm>
              <a:off x="528" y="1920"/>
              <a:ext cx="2304" cy="0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25963" name="Line 10"/>
            <p:cNvSpPr>
              <a:spLocks noChangeShapeType="1"/>
            </p:cNvSpPr>
            <p:nvPr/>
          </p:nvSpPr>
          <p:spPr bwMode="auto">
            <a:xfrm>
              <a:off x="1968" y="1488"/>
              <a:ext cx="0" cy="912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25964" name="Line 11"/>
            <p:cNvSpPr>
              <a:spLocks noChangeShapeType="1"/>
            </p:cNvSpPr>
            <p:nvPr/>
          </p:nvSpPr>
          <p:spPr bwMode="auto">
            <a:xfrm>
              <a:off x="2832" y="1488"/>
              <a:ext cx="0" cy="912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25965" name="Text Box 12"/>
            <p:cNvSpPr txBox="1">
              <a:spLocks noChangeArrowheads="1"/>
            </p:cNvSpPr>
            <p:nvPr/>
          </p:nvSpPr>
          <p:spPr bwMode="auto">
            <a:xfrm>
              <a:off x="1344" y="1536"/>
              <a:ext cx="451" cy="1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990033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600">
                  <a:solidFill>
                    <a:srgbClr val="80000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GB" altLang="zh-CN" sz="1600">
                  <a:solidFill>
                    <a:srgbClr val="00279F"/>
                  </a:solidFill>
                  <a:latin typeface="Times New Roman" panose="02020603050405020304" pitchFamily="18" charset="0"/>
                  <a:ea typeface="SimSun" panose="02010600030101010101" pitchFamily="2" charset="-122"/>
                </a:rPr>
                <a:t>Status</a:t>
              </a:r>
            </a:p>
          </p:txBody>
        </p:sp>
        <p:sp>
          <p:nvSpPr>
            <p:cNvPr id="125966" name="Text Box 13"/>
            <p:cNvSpPr txBox="1">
              <a:spLocks noChangeArrowheads="1"/>
            </p:cNvSpPr>
            <p:nvPr/>
          </p:nvSpPr>
          <p:spPr bwMode="auto">
            <a:xfrm>
              <a:off x="2208" y="1536"/>
              <a:ext cx="620" cy="1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990033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600">
                  <a:solidFill>
                    <a:srgbClr val="80000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GB" altLang="zh-CN" sz="1600">
                  <a:solidFill>
                    <a:srgbClr val="00279F"/>
                  </a:solidFill>
                  <a:latin typeface="Times New Roman" panose="02020603050405020304" pitchFamily="18" charset="0"/>
                  <a:ea typeface="SimSun" panose="02010600030101010101" pitchFamily="2" charset="-122"/>
                </a:rPr>
                <a:t>City</a:t>
              </a:r>
            </a:p>
          </p:txBody>
        </p:sp>
        <p:sp>
          <p:nvSpPr>
            <p:cNvPr id="125967" name="Text Box 14"/>
            <p:cNvSpPr txBox="1">
              <a:spLocks noChangeArrowheads="1"/>
            </p:cNvSpPr>
            <p:nvPr/>
          </p:nvSpPr>
          <p:spPr bwMode="auto">
            <a:xfrm>
              <a:off x="1392" y="1728"/>
              <a:ext cx="528" cy="1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990033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600">
                  <a:solidFill>
                    <a:srgbClr val="80000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GB" sz="1600">
                  <a:solidFill>
                    <a:srgbClr val="00279F"/>
                  </a:solidFill>
                  <a:latin typeface="Times New Roman" panose="02020603050405020304" pitchFamily="18" charset="0"/>
                  <a:ea typeface="SimSun" panose="02010600030101010101" pitchFamily="2" charset="-122"/>
                </a:rPr>
                <a:t>20</a:t>
              </a:r>
            </a:p>
          </p:txBody>
        </p:sp>
        <p:sp>
          <p:nvSpPr>
            <p:cNvPr id="125968" name="Text Box 15"/>
            <p:cNvSpPr txBox="1">
              <a:spLocks noChangeArrowheads="1"/>
            </p:cNvSpPr>
            <p:nvPr/>
          </p:nvSpPr>
          <p:spPr bwMode="auto">
            <a:xfrm>
              <a:off x="2112" y="1728"/>
              <a:ext cx="514" cy="1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990033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600">
                  <a:solidFill>
                    <a:srgbClr val="80000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GB" altLang="zh-CN" sz="1600">
                  <a:solidFill>
                    <a:srgbClr val="00279F"/>
                  </a:solidFill>
                  <a:latin typeface="Times New Roman" panose="02020603050405020304" pitchFamily="18" charset="0"/>
                  <a:ea typeface="SimSun" panose="02010600030101010101" pitchFamily="2" charset="-122"/>
                </a:rPr>
                <a:t>London</a:t>
              </a:r>
            </a:p>
          </p:txBody>
        </p:sp>
        <p:sp>
          <p:nvSpPr>
            <p:cNvPr id="125969" name="Text Box 16"/>
            <p:cNvSpPr txBox="1">
              <a:spLocks noChangeArrowheads="1"/>
            </p:cNvSpPr>
            <p:nvPr/>
          </p:nvSpPr>
          <p:spPr bwMode="auto">
            <a:xfrm>
              <a:off x="1296" y="1968"/>
              <a:ext cx="720" cy="1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990033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600">
                  <a:solidFill>
                    <a:srgbClr val="80000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GB" sz="1600">
                  <a:solidFill>
                    <a:srgbClr val="00279F"/>
                  </a:solidFill>
                  <a:latin typeface="Times New Roman" panose="02020603050405020304" pitchFamily="18" charset="0"/>
                  <a:ea typeface="SimSun" panose="02010600030101010101" pitchFamily="2" charset="-122"/>
                </a:rPr>
                <a:t>   10</a:t>
              </a:r>
            </a:p>
          </p:txBody>
        </p:sp>
        <p:sp>
          <p:nvSpPr>
            <p:cNvPr id="125970" name="Text Box 17"/>
            <p:cNvSpPr txBox="1">
              <a:spLocks noChangeArrowheads="1"/>
            </p:cNvSpPr>
            <p:nvPr/>
          </p:nvSpPr>
          <p:spPr bwMode="auto">
            <a:xfrm>
              <a:off x="2160" y="1968"/>
              <a:ext cx="528" cy="1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990033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600">
                  <a:solidFill>
                    <a:srgbClr val="80000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GB" altLang="zh-CN" sz="1600">
                  <a:solidFill>
                    <a:srgbClr val="00279F"/>
                  </a:solidFill>
                  <a:latin typeface="Times New Roman" panose="02020603050405020304" pitchFamily="18" charset="0"/>
                  <a:ea typeface="SimSun" panose="02010600030101010101" pitchFamily="2" charset="-122"/>
                </a:rPr>
                <a:t>Paris</a:t>
              </a:r>
            </a:p>
          </p:txBody>
        </p:sp>
        <p:sp>
          <p:nvSpPr>
            <p:cNvPr id="125971" name="Line 18"/>
            <p:cNvSpPr>
              <a:spLocks noChangeShapeType="1"/>
            </p:cNvSpPr>
            <p:nvPr/>
          </p:nvSpPr>
          <p:spPr bwMode="auto">
            <a:xfrm>
              <a:off x="1200" y="1488"/>
              <a:ext cx="0" cy="912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25972" name="Text Box 19"/>
            <p:cNvSpPr txBox="1">
              <a:spLocks noChangeArrowheads="1"/>
            </p:cNvSpPr>
            <p:nvPr/>
          </p:nvSpPr>
          <p:spPr bwMode="auto">
            <a:xfrm>
              <a:off x="576" y="1536"/>
              <a:ext cx="634" cy="1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990033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600">
                  <a:solidFill>
                    <a:srgbClr val="80000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GB" altLang="zh-CN" sz="1600">
                  <a:solidFill>
                    <a:srgbClr val="00279F"/>
                  </a:solidFill>
                  <a:latin typeface="Times New Roman" panose="02020603050405020304" pitchFamily="18" charset="0"/>
                  <a:ea typeface="SimSun" panose="02010600030101010101" pitchFamily="2" charset="-122"/>
                </a:rPr>
                <a:t>Supplier#</a:t>
              </a:r>
            </a:p>
          </p:txBody>
        </p:sp>
        <p:sp>
          <p:nvSpPr>
            <p:cNvPr id="125973" name="Text Box 20"/>
            <p:cNvSpPr txBox="1">
              <a:spLocks noChangeArrowheads="1"/>
            </p:cNvSpPr>
            <p:nvPr/>
          </p:nvSpPr>
          <p:spPr bwMode="auto">
            <a:xfrm>
              <a:off x="768" y="1728"/>
              <a:ext cx="251" cy="1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990033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600">
                  <a:solidFill>
                    <a:srgbClr val="80000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GB" altLang="zh-CN" sz="1600">
                  <a:solidFill>
                    <a:srgbClr val="00279F"/>
                  </a:solidFill>
                  <a:latin typeface="Times New Roman" panose="02020603050405020304" pitchFamily="18" charset="0"/>
                  <a:ea typeface="SimSun" panose="02010600030101010101" pitchFamily="2" charset="-122"/>
                </a:rPr>
                <a:t>S1</a:t>
              </a:r>
            </a:p>
          </p:txBody>
        </p:sp>
        <p:sp>
          <p:nvSpPr>
            <p:cNvPr id="125974" name="Text Box 21"/>
            <p:cNvSpPr txBox="1">
              <a:spLocks noChangeArrowheads="1"/>
            </p:cNvSpPr>
            <p:nvPr/>
          </p:nvSpPr>
          <p:spPr bwMode="auto">
            <a:xfrm>
              <a:off x="768" y="1968"/>
              <a:ext cx="251" cy="1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990033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600">
                  <a:solidFill>
                    <a:srgbClr val="80000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GB" altLang="zh-CN" sz="1600">
                  <a:solidFill>
                    <a:srgbClr val="00279F"/>
                  </a:solidFill>
                  <a:latin typeface="Times New Roman" panose="02020603050405020304" pitchFamily="18" charset="0"/>
                  <a:ea typeface="SimSun" panose="02010600030101010101" pitchFamily="2" charset="-122"/>
                </a:rPr>
                <a:t>S2</a:t>
              </a:r>
            </a:p>
          </p:txBody>
        </p:sp>
        <p:sp>
          <p:nvSpPr>
            <p:cNvPr id="125975" name="Line 22"/>
            <p:cNvSpPr>
              <a:spLocks noChangeShapeType="1"/>
            </p:cNvSpPr>
            <p:nvPr/>
          </p:nvSpPr>
          <p:spPr bwMode="auto">
            <a:xfrm>
              <a:off x="528" y="2400"/>
              <a:ext cx="2304" cy="0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25976" name="Line 23"/>
            <p:cNvSpPr>
              <a:spLocks noChangeShapeType="1"/>
            </p:cNvSpPr>
            <p:nvPr/>
          </p:nvSpPr>
          <p:spPr bwMode="auto">
            <a:xfrm>
              <a:off x="528" y="2160"/>
              <a:ext cx="2304" cy="0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25977" name="Text Box 24"/>
            <p:cNvSpPr txBox="1">
              <a:spLocks noChangeArrowheads="1"/>
            </p:cNvSpPr>
            <p:nvPr/>
          </p:nvSpPr>
          <p:spPr bwMode="auto">
            <a:xfrm>
              <a:off x="768" y="2208"/>
              <a:ext cx="251" cy="1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990033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600">
                  <a:solidFill>
                    <a:srgbClr val="80000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GB" altLang="zh-CN" sz="1600">
                  <a:solidFill>
                    <a:srgbClr val="00279F"/>
                  </a:solidFill>
                  <a:latin typeface="Times New Roman" panose="02020603050405020304" pitchFamily="18" charset="0"/>
                  <a:ea typeface="SimSun" panose="02010600030101010101" pitchFamily="2" charset="-122"/>
                </a:rPr>
                <a:t>S3</a:t>
              </a:r>
            </a:p>
          </p:txBody>
        </p:sp>
        <p:sp>
          <p:nvSpPr>
            <p:cNvPr id="125978" name="Text Box 25"/>
            <p:cNvSpPr txBox="1">
              <a:spLocks noChangeArrowheads="1"/>
            </p:cNvSpPr>
            <p:nvPr/>
          </p:nvSpPr>
          <p:spPr bwMode="auto">
            <a:xfrm>
              <a:off x="1392" y="2208"/>
              <a:ext cx="244" cy="1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990033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600">
                  <a:solidFill>
                    <a:srgbClr val="80000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GB" sz="1600">
                  <a:solidFill>
                    <a:srgbClr val="00279F"/>
                  </a:solidFill>
                  <a:latin typeface="Times New Roman" panose="02020603050405020304" pitchFamily="18" charset="0"/>
                  <a:ea typeface="SimSun" panose="02010600030101010101" pitchFamily="2" charset="-122"/>
                </a:rPr>
                <a:t>20</a:t>
              </a:r>
            </a:p>
          </p:txBody>
        </p:sp>
        <p:sp>
          <p:nvSpPr>
            <p:cNvPr id="125979" name="Text Box 26"/>
            <p:cNvSpPr txBox="1">
              <a:spLocks noChangeArrowheads="1"/>
            </p:cNvSpPr>
            <p:nvPr/>
          </p:nvSpPr>
          <p:spPr bwMode="auto">
            <a:xfrm>
              <a:off x="2150" y="2211"/>
              <a:ext cx="514" cy="1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990033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600">
                  <a:solidFill>
                    <a:srgbClr val="80000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GB" altLang="zh-CN" sz="1600">
                  <a:solidFill>
                    <a:srgbClr val="00279F"/>
                  </a:solidFill>
                  <a:latin typeface="Times New Roman" panose="02020603050405020304" pitchFamily="18" charset="0"/>
                  <a:ea typeface="SimSun" panose="02010600030101010101" pitchFamily="2" charset="-122"/>
                </a:rPr>
                <a:t>London</a:t>
              </a:r>
            </a:p>
          </p:txBody>
        </p:sp>
        <p:sp>
          <p:nvSpPr>
            <p:cNvPr id="125980" name="Rectangle 27"/>
            <p:cNvSpPr>
              <a:spLocks noChangeArrowheads="1"/>
            </p:cNvSpPr>
            <p:nvPr/>
          </p:nvSpPr>
          <p:spPr bwMode="auto">
            <a:xfrm>
              <a:off x="528" y="1296"/>
              <a:ext cx="1787" cy="1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990033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600">
                  <a:solidFill>
                    <a:srgbClr val="80000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GB" altLang="zh-CN" sz="1600">
                  <a:solidFill>
                    <a:schemeClr val="hlink"/>
                  </a:solidFill>
                  <a:latin typeface="Times New Roman" panose="02020603050405020304" pitchFamily="18" charset="0"/>
                  <a:ea typeface="SimSun" panose="02010600030101010101" pitchFamily="2" charset="-122"/>
                </a:rPr>
                <a:t>One:</a:t>
              </a:r>
              <a:r>
                <a:rPr lang="en-GB" altLang="zh-CN" sz="1600">
                  <a:solidFill>
                    <a:srgbClr val="00279F"/>
                  </a:solidFill>
                  <a:latin typeface="Times New Roman" panose="02020603050405020304" pitchFamily="18" charset="0"/>
                  <a:ea typeface="SimSun" panose="02010600030101010101" pitchFamily="2" charset="-122"/>
                </a:rPr>
                <a:t> Primary Key (Supplier#)</a:t>
              </a:r>
            </a:p>
          </p:txBody>
        </p:sp>
        <p:sp>
          <p:nvSpPr>
            <p:cNvPr id="125981" name="Rectangle 28"/>
            <p:cNvSpPr>
              <a:spLocks noChangeArrowheads="1"/>
            </p:cNvSpPr>
            <p:nvPr/>
          </p:nvSpPr>
          <p:spPr bwMode="auto">
            <a:xfrm>
              <a:off x="3120" y="1488"/>
              <a:ext cx="2064" cy="240"/>
            </a:xfrm>
            <a:prstGeom prst="rect">
              <a:avLst/>
            </a:prstGeom>
            <a:solidFill>
              <a:srgbClr val="DBFFB8"/>
            </a:solidFill>
            <a:ln w="12700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990033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600">
                  <a:solidFill>
                    <a:srgbClr val="80000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600">
                <a:solidFill>
                  <a:srgbClr val="00279F"/>
                </a:solidFill>
                <a:latin typeface="Times New Roman" panose="02020603050405020304" pitchFamily="18" charset="0"/>
                <a:ea typeface="SimSun" panose="02010600030101010101" pitchFamily="2" charset="-122"/>
              </a:endParaRPr>
            </a:p>
          </p:txBody>
        </p:sp>
        <p:sp>
          <p:nvSpPr>
            <p:cNvPr id="125982" name="Rectangle 29"/>
            <p:cNvSpPr>
              <a:spLocks noChangeArrowheads="1"/>
            </p:cNvSpPr>
            <p:nvPr/>
          </p:nvSpPr>
          <p:spPr bwMode="auto">
            <a:xfrm>
              <a:off x="3120" y="1732"/>
              <a:ext cx="2064" cy="90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990033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600">
                  <a:solidFill>
                    <a:srgbClr val="80000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solidFill>
                  <a:schemeClr val="tx1"/>
                </a:solidFill>
              </a:endParaRPr>
            </a:p>
          </p:txBody>
        </p:sp>
        <p:sp>
          <p:nvSpPr>
            <p:cNvPr id="125983" name="Line 30"/>
            <p:cNvSpPr>
              <a:spLocks noChangeShapeType="1"/>
            </p:cNvSpPr>
            <p:nvPr/>
          </p:nvSpPr>
          <p:spPr bwMode="auto">
            <a:xfrm>
              <a:off x="3120" y="1488"/>
              <a:ext cx="2064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25984" name="Line 31"/>
            <p:cNvSpPr>
              <a:spLocks noChangeShapeType="1"/>
            </p:cNvSpPr>
            <p:nvPr/>
          </p:nvSpPr>
          <p:spPr bwMode="auto">
            <a:xfrm>
              <a:off x="3120" y="1728"/>
              <a:ext cx="2064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25985" name="Line 32"/>
            <p:cNvSpPr>
              <a:spLocks noChangeShapeType="1"/>
            </p:cNvSpPr>
            <p:nvPr/>
          </p:nvSpPr>
          <p:spPr bwMode="auto">
            <a:xfrm>
              <a:off x="3120" y="1920"/>
              <a:ext cx="2064" cy="0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25986" name="Line 33"/>
            <p:cNvSpPr>
              <a:spLocks noChangeShapeType="1"/>
            </p:cNvSpPr>
            <p:nvPr/>
          </p:nvSpPr>
          <p:spPr bwMode="auto">
            <a:xfrm>
              <a:off x="4463" y="1488"/>
              <a:ext cx="1" cy="1152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25987" name="Text Box 34"/>
            <p:cNvSpPr txBox="1">
              <a:spLocks noChangeArrowheads="1"/>
            </p:cNvSpPr>
            <p:nvPr/>
          </p:nvSpPr>
          <p:spPr bwMode="auto">
            <a:xfrm>
              <a:off x="3936" y="1536"/>
              <a:ext cx="387" cy="1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990033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600">
                  <a:solidFill>
                    <a:srgbClr val="80000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GB" altLang="zh-CN" sz="1600">
                  <a:solidFill>
                    <a:srgbClr val="00279F"/>
                  </a:solidFill>
                  <a:latin typeface="Times New Roman" panose="02020603050405020304" pitchFamily="18" charset="0"/>
                  <a:ea typeface="SimSun" panose="02010600030101010101" pitchFamily="2" charset="-122"/>
                </a:rPr>
                <a:t>Part#</a:t>
              </a:r>
            </a:p>
          </p:txBody>
        </p:sp>
        <p:sp>
          <p:nvSpPr>
            <p:cNvPr id="125988" name="Text Box 35"/>
            <p:cNvSpPr txBox="1">
              <a:spLocks noChangeArrowheads="1"/>
            </p:cNvSpPr>
            <p:nvPr/>
          </p:nvSpPr>
          <p:spPr bwMode="auto">
            <a:xfrm>
              <a:off x="4560" y="1536"/>
              <a:ext cx="565" cy="1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990033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600">
                  <a:solidFill>
                    <a:srgbClr val="80000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GB" altLang="zh-CN" sz="1600">
                  <a:solidFill>
                    <a:srgbClr val="00279F"/>
                  </a:solidFill>
                  <a:latin typeface="Times New Roman" panose="02020603050405020304" pitchFamily="18" charset="0"/>
                  <a:ea typeface="SimSun" panose="02010600030101010101" pitchFamily="2" charset="-122"/>
                </a:rPr>
                <a:t>Quantity</a:t>
              </a:r>
            </a:p>
          </p:txBody>
        </p:sp>
        <p:sp>
          <p:nvSpPr>
            <p:cNvPr id="125989" name="Text Box 36"/>
            <p:cNvSpPr txBox="1">
              <a:spLocks noChangeArrowheads="1"/>
            </p:cNvSpPr>
            <p:nvPr/>
          </p:nvSpPr>
          <p:spPr bwMode="auto">
            <a:xfrm>
              <a:off x="3984" y="1728"/>
              <a:ext cx="251" cy="1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990033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600">
                  <a:solidFill>
                    <a:srgbClr val="80000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GB" altLang="zh-CN" sz="1600">
                  <a:solidFill>
                    <a:srgbClr val="00279F"/>
                  </a:solidFill>
                  <a:latin typeface="Times New Roman" panose="02020603050405020304" pitchFamily="18" charset="0"/>
                  <a:ea typeface="SimSun" panose="02010600030101010101" pitchFamily="2" charset="-122"/>
                </a:rPr>
                <a:t>P1</a:t>
              </a:r>
            </a:p>
          </p:txBody>
        </p:sp>
        <p:sp>
          <p:nvSpPr>
            <p:cNvPr id="125990" name="Text Box 37"/>
            <p:cNvSpPr txBox="1">
              <a:spLocks noChangeArrowheads="1"/>
            </p:cNvSpPr>
            <p:nvPr/>
          </p:nvSpPr>
          <p:spPr bwMode="auto">
            <a:xfrm>
              <a:off x="4608" y="1728"/>
              <a:ext cx="624" cy="1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990033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600">
                  <a:solidFill>
                    <a:srgbClr val="80000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GB" sz="1600">
                  <a:solidFill>
                    <a:srgbClr val="00279F"/>
                  </a:solidFill>
                  <a:latin typeface="Times New Roman" panose="02020603050405020304" pitchFamily="18" charset="0"/>
                  <a:ea typeface="SimSun" panose="02010600030101010101" pitchFamily="2" charset="-122"/>
                </a:rPr>
                <a:t>1600</a:t>
              </a:r>
            </a:p>
          </p:txBody>
        </p:sp>
        <p:sp>
          <p:nvSpPr>
            <p:cNvPr id="125991" name="Text Box 38"/>
            <p:cNvSpPr txBox="1">
              <a:spLocks noChangeArrowheads="1"/>
            </p:cNvSpPr>
            <p:nvPr/>
          </p:nvSpPr>
          <p:spPr bwMode="auto">
            <a:xfrm>
              <a:off x="3984" y="1968"/>
              <a:ext cx="768" cy="1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990033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600">
                  <a:solidFill>
                    <a:srgbClr val="80000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GB" altLang="zh-CN" sz="1600">
                  <a:solidFill>
                    <a:srgbClr val="00279F"/>
                  </a:solidFill>
                  <a:latin typeface="Times New Roman" panose="02020603050405020304" pitchFamily="18" charset="0"/>
                  <a:ea typeface="SimSun" panose="02010600030101010101" pitchFamily="2" charset="-122"/>
                </a:rPr>
                <a:t>P2</a:t>
              </a:r>
            </a:p>
          </p:txBody>
        </p:sp>
        <p:sp>
          <p:nvSpPr>
            <p:cNvPr id="125992" name="Text Box 39"/>
            <p:cNvSpPr txBox="1">
              <a:spLocks noChangeArrowheads="1"/>
            </p:cNvSpPr>
            <p:nvPr/>
          </p:nvSpPr>
          <p:spPr bwMode="auto">
            <a:xfrm>
              <a:off x="4608" y="1968"/>
              <a:ext cx="372" cy="1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990033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600">
                  <a:solidFill>
                    <a:srgbClr val="80000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GB" sz="1600">
                  <a:solidFill>
                    <a:srgbClr val="00279F"/>
                  </a:solidFill>
                  <a:latin typeface="Times New Roman" panose="02020603050405020304" pitchFamily="18" charset="0"/>
                  <a:ea typeface="SimSun" panose="02010600030101010101" pitchFamily="2" charset="-122"/>
                </a:rPr>
                <a:t>2000</a:t>
              </a:r>
            </a:p>
          </p:txBody>
        </p:sp>
        <p:sp>
          <p:nvSpPr>
            <p:cNvPr id="125993" name="Line 40"/>
            <p:cNvSpPr>
              <a:spLocks noChangeShapeType="1"/>
            </p:cNvSpPr>
            <p:nvPr/>
          </p:nvSpPr>
          <p:spPr bwMode="auto">
            <a:xfrm>
              <a:off x="3792" y="1488"/>
              <a:ext cx="0" cy="1152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25994" name="Text Box 41"/>
            <p:cNvSpPr txBox="1">
              <a:spLocks noChangeArrowheads="1"/>
            </p:cNvSpPr>
            <p:nvPr/>
          </p:nvSpPr>
          <p:spPr bwMode="auto">
            <a:xfrm>
              <a:off x="3168" y="1536"/>
              <a:ext cx="634" cy="1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990033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600">
                  <a:solidFill>
                    <a:srgbClr val="80000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GB" altLang="zh-CN" sz="1600">
                  <a:solidFill>
                    <a:srgbClr val="00279F"/>
                  </a:solidFill>
                  <a:latin typeface="Times New Roman" panose="02020603050405020304" pitchFamily="18" charset="0"/>
                  <a:ea typeface="SimSun" panose="02010600030101010101" pitchFamily="2" charset="-122"/>
                </a:rPr>
                <a:t>Supplier#</a:t>
              </a:r>
            </a:p>
          </p:txBody>
        </p:sp>
        <p:sp>
          <p:nvSpPr>
            <p:cNvPr id="125995" name="Text Box 42"/>
            <p:cNvSpPr txBox="1">
              <a:spLocks noChangeArrowheads="1"/>
            </p:cNvSpPr>
            <p:nvPr/>
          </p:nvSpPr>
          <p:spPr bwMode="auto">
            <a:xfrm>
              <a:off x="3360" y="1728"/>
              <a:ext cx="251" cy="1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990033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600">
                  <a:solidFill>
                    <a:srgbClr val="80000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GB" altLang="zh-CN" sz="1600">
                  <a:solidFill>
                    <a:srgbClr val="00279F"/>
                  </a:solidFill>
                  <a:latin typeface="Times New Roman" panose="02020603050405020304" pitchFamily="18" charset="0"/>
                  <a:ea typeface="SimSun" panose="02010600030101010101" pitchFamily="2" charset="-122"/>
                </a:rPr>
                <a:t>S1</a:t>
              </a:r>
            </a:p>
          </p:txBody>
        </p:sp>
        <p:sp>
          <p:nvSpPr>
            <p:cNvPr id="125996" name="Text Box 43"/>
            <p:cNvSpPr txBox="1">
              <a:spLocks noChangeArrowheads="1"/>
            </p:cNvSpPr>
            <p:nvPr/>
          </p:nvSpPr>
          <p:spPr bwMode="auto">
            <a:xfrm>
              <a:off x="3360" y="1968"/>
              <a:ext cx="251" cy="1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990033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600">
                  <a:solidFill>
                    <a:srgbClr val="80000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GB" altLang="zh-CN" sz="1600">
                  <a:solidFill>
                    <a:srgbClr val="00279F"/>
                  </a:solidFill>
                  <a:latin typeface="Times New Roman" panose="02020603050405020304" pitchFamily="18" charset="0"/>
                  <a:ea typeface="SimSun" panose="02010600030101010101" pitchFamily="2" charset="-122"/>
                </a:rPr>
                <a:t>S1</a:t>
              </a:r>
            </a:p>
          </p:txBody>
        </p:sp>
        <p:sp>
          <p:nvSpPr>
            <p:cNvPr id="125997" name="Line 44"/>
            <p:cNvSpPr>
              <a:spLocks noChangeShapeType="1"/>
            </p:cNvSpPr>
            <p:nvPr/>
          </p:nvSpPr>
          <p:spPr bwMode="auto">
            <a:xfrm>
              <a:off x="3120" y="2400"/>
              <a:ext cx="2064" cy="0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25998" name="Line 45"/>
            <p:cNvSpPr>
              <a:spLocks noChangeShapeType="1"/>
            </p:cNvSpPr>
            <p:nvPr/>
          </p:nvSpPr>
          <p:spPr bwMode="auto">
            <a:xfrm>
              <a:off x="3120" y="2160"/>
              <a:ext cx="2064" cy="0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25999" name="Text Box 46"/>
            <p:cNvSpPr txBox="1">
              <a:spLocks noChangeArrowheads="1"/>
            </p:cNvSpPr>
            <p:nvPr/>
          </p:nvSpPr>
          <p:spPr bwMode="auto">
            <a:xfrm>
              <a:off x="3360" y="2208"/>
              <a:ext cx="251" cy="1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990033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600">
                  <a:solidFill>
                    <a:srgbClr val="80000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GB" altLang="zh-CN" sz="1600">
                  <a:solidFill>
                    <a:srgbClr val="00279F"/>
                  </a:solidFill>
                  <a:latin typeface="Times New Roman" panose="02020603050405020304" pitchFamily="18" charset="0"/>
                  <a:ea typeface="SimSun" panose="02010600030101010101" pitchFamily="2" charset="-122"/>
                </a:rPr>
                <a:t>S2</a:t>
              </a:r>
            </a:p>
          </p:txBody>
        </p:sp>
        <p:sp>
          <p:nvSpPr>
            <p:cNvPr id="126000" name="Text Box 47"/>
            <p:cNvSpPr txBox="1">
              <a:spLocks noChangeArrowheads="1"/>
            </p:cNvSpPr>
            <p:nvPr/>
          </p:nvSpPr>
          <p:spPr bwMode="auto">
            <a:xfrm>
              <a:off x="3360" y="2448"/>
              <a:ext cx="251" cy="1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990033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600">
                  <a:solidFill>
                    <a:srgbClr val="80000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GB" altLang="zh-CN" sz="1600">
                  <a:solidFill>
                    <a:srgbClr val="00279F"/>
                  </a:solidFill>
                  <a:latin typeface="Times New Roman" panose="02020603050405020304" pitchFamily="18" charset="0"/>
                  <a:ea typeface="SimSun" panose="02010600030101010101" pitchFamily="2" charset="-122"/>
                </a:rPr>
                <a:t>S3</a:t>
              </a:r>
            </a:p>
          </p:txBody>
        </p:sp>
        <p:sp>
          <p:nvSpPr>
            <p:cNvPr id="126001" name="Text Box 48"/>
            <p:cNvSpPr txBox="1">
              <a:spLocks noChangeArrowheads="1"/>
            </p:cNvSpPr>
            <p:nvPr/>
          </p:nvSpPr>
          <p:spPr bwMode="auto">
            <a:xfrm>
              <a:off x="3974" y="2211"/>
              <a:ext cx="251" cy="1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990033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600">
                  <a:solidFill>
                    <a:srgbClr val="80000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GB" altLang="zh-CN" sz="1600">
                  <a:solidFill>
                    <a:srgbClr val="00279F"/>
                  </a:solidFill>
                  <a:latin typeface="Times New Roman" panose="02020603050405020304" pitchFamily="18" charset="0"/>
                  <a:ea typeface="SimSun" panose="02010600030101010101" pitchFamily="2" charset="-122"/>
                </a:rPr>
                <a:t>P2</a:t>
              </a:r>
            </a:p>
          </p:txBody>
        </p:sp>
        <p:sp>
          <p:nvSpPr>
            <p:cNvPr id="126002" name="Text Box 49"/>
            <p:cNvSpPr txBox="1">
              <a:spLocks noChangeArrowheads="1"/>
            </p:cNvSpPr>
            <p:nvPr/>
          </p:nvSpPr>
          <p:spPr bwMode="auto">
            <a:xfrm>
              <a:off x="3974" y="2451"/>
              <a:ext cx="251" cy="1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990033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600">
                  <a:solidFill>
                    <a:srgbClr val="80000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GB" altLang="zh-CN" sz="1600">
                  <a:solidFill>
                    <a:srgbClr val="00279F"/>
                  </a:solidFill>
                  <a:latin typeface="Times New Roman" panose="02020603050405020304" pitchFamily="18" charset="0"/>
                  <a:ea typeface="SimSun" panose="02010600030101010101" pitchFamily="2" charset="-122"/>
                </a:rPr>
                <a:t>P3</a:t>
              </a:r>
            </a:p>
          </p:txBody>
        </p:sp>
        <p:sp>
          <p:nvSpPr>
            <p:cNvPr id="126003" name="Text Box 50"/>
            <p:cNvSpPr txBox="1">
              <a:spLocks noChangeArrowheads="1"/>
            </p:cNvSpPr>
            <p:nvPr/>
          </p:nvSpPr>
          <p:spPr bwMode="auto">
            <a:xfrm>
              <a:off x="4694" y="2208"/>
              <a:ext cx="308" cy="1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990033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600">
                  <a:solidFill>
                    <a:srgbClr val="80000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GB" sz="1600">
                  <a:solidFill>
                    <a:srgbClr val="00279F"/>
                  </a:solidFill>
                  <a:latin typeface="Times New Roman" panose="02020603050405020304" pitchFamily="18" charset="0"/>
                  <a:ea typeface="SimSun" panose="02010600030101010101" pitchFamily="2" charset="-122"/>
                </a:rPr>
                <a:t>500</a:t>
              </a:r>
            </a:p>
          </p:txBody>
        </p:sp>
        <p:sp>
          <p:nvSpPr>
            <p:cNvPr id="126004" name="Text Box 51"/>
            <p:cNvSpPr txBox="1">
              <a:spLocks noChangeArrowheads="1"/>
            </p:cNvSpPr>
            <p:nvPr/>
          </p:nvSpPr>
          <p:spPr bwMode="auto">
            <a:xfrm>
              <a:off x="4656" y="2448"/>
              <a:ext cx="372" cy="1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990033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600">
                  <a:solidFill>
                    <a:srgbClr val="80000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GB" sz="1600">
                  <a:solidFill>
                    <a:srgbClr val="00279F"/>
                  </a:solidFill>
                  <a:latin typeface="Times New Roman" panose="02020603050405020304" pitchFamily="18" charset="0"/>
                  <a:ea typeface="SimSun" panose="02010600030101010101" pitchFamily="2" charset="-122"/>
                </a:rPr>
                <a:t>3000</a:t>
              </a:r>
            </a:p>
          </p:txBody>
        </p:sp>
        <p:sp>
          <p:nvSpPr>
            <p:cNvPr id="126005" name="Rectangle 52"/>
            <p:cNvSpPr>
              <a:spLocks noChangeArrowheads="1"/>
            </p:cNvSpPr>
            <p:nvPr/>
          </p:nvSpPr>
          <p:spPr bwMode="auto">
            <a:xfrm>
              <a:off x="3024" y="1296"/>
              <a:ext cx="2170" cy="1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990033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600">
                  <a:solidFill>
                    <a:srgbClr val="80000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GB" altLang="zh-CN" sz="1600">
                  <a:solidFill>
                    <a:schemeClr val="hlink"/>
                  </a:solidFill>
                  <a:latin typeface="Times New Roman" panose="02020603050405020304" pitchFamily="18" charset="0"/>
                  <a:ea typeface="SimSun" panose="02010600030101010101" pitchFamily="2" charset="-122"/>
                </a:rPr>
                <a:t>Two:</a:t>
              </a:r>
              <a:r>
                <a:rPr lang="en-GB" altLang="zh-CN" sz="1600">
                  <a:solidFill>
                    <a:srgbClr val="00279F"/>
                  </a:solidFill>
                  <a:latin typeface="Times New Roman" panose="02020603050405020304" pitchFamily="18" charset="0"/>
                  <a:ea typeface="SimSun" panose="02010600030101010101" pitchFamily="2" charset="-122"/>
                </a:rPr>
                <a:t> Primary Key (Supplier#, Part#)</a:t>
              </a:r>
            </a:p>
          </p:txBody>
        </p:sp>
      </p:grpSp>
      <p:sp>
        <p:nvSpPr>
          <p:cNvPr id="143413" name="Rectangle 53"/>
          <p:cNvSpPr>
            <a:spLocks noChangeArrowheads="1"/>
          </p:cNvSpPr>
          <p:nvPr/>
        </p:nvSpPr>
        <p:spPr bwMode="auto">
          <a:xfrm>
            <a:off x="381000" y="4572000"/>
            <a:ext cx="8077200" cy="198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 algn="just">
              <a:lnSpc>
                <a:spcPct val="90000"/>
              </a:lnSpc>
              <a:spcBef>
                <a:spcPct val="20000"/>
              </a:spcBef>
              <a:buClr>
                <a:srgbClr val="FF6600"/>
              </a:buClr>
              <a:buFont typeface="Wingdings" pitchFamily="2" charset="2"/>
              <a:buChar char="§"/>
              <a:defRPr/>
            </a:pPr>
            <a:r>
              <a:rPr kumimoji="1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This revised structure overcomes all the problems sketched earlier, but:</a:t>
            </a:r>
          </a:p>
          <a:p>
            <a:pPr marL="742950" lvl="1" indent="-285750" algn="just">
              <a:lnSpc>
                <a:spcPct val="90000"/>
              </a:lnSpc>
              <a:spcBef>
                <a:spcPct val="20000"/>
              </a:spcBef>
              <a:buClr>
                <a:srgbClr val="00CC00"/>
              </a:buClr>
              <a:buFontTx/>
              <a:buChar char="•"/>
              <a:defRPr/>
            </a:pPr>
            <a:r>
              <a:rPr kumimoji="1" lang="en-US" altLang="zh-CN" sz="2000" dirty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</a:rPr>
              <a:t>Insert</a:t>
            </a:r>
            <a:r>
              <a:rPr kumimoji="1" lang="en-US" altLang="zh-CN" sz="2000" dirty="0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 </a:t>
            </a:r>
            <a:r>
              <a:rPr kumimoji="1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- cannot insert the fact that a particular city has a status until a supplier is actually located in that city.</a:t>
            </a:r>
          </a:p>
          <a:p>
            <a:pPr marL="742950" lvl="1" indent="-285750" algn="just">
              <a:lnSpc>
                <a:spcPct val="90000"/>
              </a:lnSpc>
              <a:spcBef>
                <a:spcPct val="20000"/>
              </a:spcBef>
              <a:buClr>
                <a:srgbClr val="00CC00"/>
              </a:buClr>
              <a:buFontTx/>
              <a:buChar char="•"/>
              <a:defRPr/>
            </a:pPr>
            <a:r>
              <a:rPr kumimoji="1" lang="en-US" altLang="zh-CN" sz="20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Delete </a:t>
            </a:r>
            <a:r>
              <a:rPr kumimoji="1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- delete the value S2, and we also lose the information that Paris has the status value 10.</a:t>
            </a:r>
          </a:p>
          <a:p>
            <a:pPr marL="742950" lvl="1" indent="-285750" algn="just">
              <a:lnSpc>
                <a:spcPct val="90000"/>
              </a:lnSpc>
              <a:spcBef>
                <a:spcPct val="20000"/>
              </a:spcBef>
              <a:buClr>
                <a:srgbClr val="00CC00"/>
              </a:buClr>
              <a:buFontTx/>
              <a:buChar char="•"/>
              <a:defRPr/>
            </a:pPr>
            <a:r>
              <a:rPr kumimoji="1" lang="en-US" altLang="zh-CN" sz="20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Update</a:t>
            </a:r>
            <a:r>
              <a:rPr kumimoji="1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 - Status value 20 appears in the table more than once.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7543800" cy="1295400"/>
          </a:xfrm>
        </p:spPr>
        <p:txBody>
          <a:bodyPr/>
          <a:lstStyle/>
          <a:p>
            <a:r>
              <a:rPr lang="en-US" altLang="en-US" smtClean="0"/>
              <a:t>Third Normal Form (3NF)</a:t>
            </a:r>
          </a:p>
        </p:txBody>
      </p:sp>
      <p:sp>
        <p:nvSpPr>
          <p:cNvPr id="1280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719263"/>
            <a:ext cx="8229600" cy="4411662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mtClean="0"/>
              <a:t>A table is in 3NF if and only if </a:t>
            </a:r>
          </a:p>
          <a:p>
            <a:pPr lvl="1">
              <a:lnSpc>
                <a:spcPct val="90000"/>
              </a:lnSpc>
            </a:pPr>
            <a:r>
              <a:rPr lang="en-US" altLang="en-US" sz="2400" smtClean="0"/>
              <a:t>it is in 2NF and</a:t>
            </a:r>
          </a:p>
          <a:p>
            <a:pPr lvl="1">
              <a:lnSpc>
                <a:spcPct val="90000"/>
              </a:lnSpc>
            </a:pPr>
            <a:r>
              <a:rPr lang="en-US" altLang="en-US" sz="2400" smtClean="0"/>
              <a:t>every non-key attribute is </a:t>
            </a:r>
            <a:r>
              <a:rPr lang="en-US" altLang="en-US" sz="2400" i="1" smtClean="0"/>
              <a:t>non-transitively</a:t>
            </a:r>
            <a:r>
              <a:rPr lang="en-US" altLang="en-US" sz="2400" smtClean="0"/>
              <a:t> dependent on the primary key.</a:t>
            </a:r>
          </a:p>
          <a:p>
            <a:pPr lvl="1">
              <a:lnSpc>
                <a:spcPct val="90000"/>
              </a:lnSpc>
            </a:pPr>
            <a:endParaRPr lang="en-US" altLang="en-US" sz="2400" smtClean="0"/>
          </a:p>
          <a:p>
            <a:pPr>
              <a:lnSpc>
                <a:spcPct val="90000"/>
              </a:lnSpc>
            </a:pPr>
            <a:r>
              <a:rPr lang="en-US" altLang="en-US" smtClean="0"/>
              <a:t>3NF prohibits </a:t>
            </a:r>
            <a:r>
              <a:rPr lang="en-US" altLang="en-US" i="1" smtClean="0"/>
              <a:t>transitive dependencies</a:t>
            </a:r>
            <a:r>
              <a:rPr lang="en-US" altLang="en-US" smtClean="0"/>
              <a:t>.</a:t>
            </a:r>
          </a:p>
          <a:p>
            <a:pPr>
              <a:lnSpc>
                <a:spcPct val="90000"/>
              </a:lnSpc>
            </a:pPr>
            <a:endParaRPr lang="en-US" altLang="en-US" smtClean="0"/>
          </a:p>
          <a:p>
            <a:pPr>
              <a:lnSpc>
                <a:spcPct val="90000"/>
              </a:lnSpc>
            </a:pPr>
            <a:r>
              <a:rPr lang="en-US" altLang="en-US" smtClean="0"/>
              <a:t>If A -&gt; B and B -&gt; C, C is </a:t>
            </a:r>
            <a:r>
              <a:rPr lang="en-US" altLang="en-US" i="1" smtClean="0"/>
              <a:t>transitively dependent</a:t>
            </a:r>
            <a:r>
              <a:rPr lang="en-US" altLang="en-US" smtClean="0"/>
              <a:t> on A.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228600"/>
            <a:ext cx="7543800" cy="1295400"/>
          </a:xfrm>
        </p:spPr>
        <p:txBody>
          <a:bodyPr/>
          <a:lstStyle/>
          <a:p>
            <a:r>
              <a:rPr lang="en-US" altLang="en-US" smtClean="0"/>
              <a:t>3NF Example</a:t>
            </a:r>
          </a:p>
        </p:txBody>
      </p:sp>
      <p:sp>
        <p:nvSpPr>
          <p:cNvPr id="1300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719263"/>
            <a:ext cx="8229600" cy="4411662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mtClean="0"/>
              <a:t>SECOND {</a:t>
            </a:r>
            <a:r>
              <a:rPr lang="en-US" altLang="en-US" u="sng" smtClean="0"/>
              <a:t>S#</a:t>
            </a:r>
            <a:r>
              <a:rPr lang="en-US" altLang="en-US" smtClean="0"/>
              <a:t>, STATUS, CITY}</a:t>
            </a:r>
          </a:p>
          <a:p>
            <a:pPr lvl="1">
              <a:lnSpc>
                <a:spcPct val="90000"/>
              </a:lnSpc>
            </a:pPr>
            <a:r>
              <a:rPr lang="en-US" altLang="en-US" sz="2400" smtClean="0"/>
              <a:t>Primary key: {S#}</a:t>
            </a:r>
          </a:p>
          <a:p>
            <a:pPr lvl="1">
              <a:lnSpc>
                <a:spcPct val="90000"/>
              </a:lnSpc>
            </a:pPr>
            <a:r>
              <a:rPr lang="en-US" altLang="en-US" sz="2400" smtClean="0"/>
              <a:t>{S#} -&gt; {CITY}, {CITY} -&gt; {STATUS}</a:t>
            </a:r>
          </a:p>
          <a:p>
            <a:pPr>
              <a:lnSpc>
                <a:spcPct val="90000"/>
              </a:lnSpc>
            </a:pPr>
            <a:endParaRPr lang="en-US" altLang="en-US" smtClean="0"/>
          </a:p>
          <a:p>
            <a:pPr>
              <a:lnSpc>
                <a:spcPct val="90000"/>
              </a:lnSpc>
            </a:pPr>
            <a:r>
              <a:rPr lang="en-US" altLang="en-US" smtClean="0"/>
              <a:t>Test of 3NF:</a:t>
            </a:r>
          </a:p>
          <a:p>
            <a:pPr lvl="1">
              <a:lnSpc>
                <a:spcPct val="90000"/>
              </a:lnSpc>
            </a:pPr>
            <a:r>
              <a:rPr lang="en-US" altLang="en-US" sz="2400" smtClean="0"/>
              <a:t>{S#} -&gt; {CITY} -&gt; {STATUS}: </a:t>
            </a:r>
            <a:r>
              <a:rPr lang="en-US" altLang="en-US" sz="2400" i="1" smtClean="0"/>
              <a:t>transitive dependency</a:t>
            </a:r>
          </a:p>
          <a:p>
            <a:pPr lvl="1">
              <a:lnSpc>
                <a:spcPct val="90000"/>
              </a:lnSpc>
            </a:pPr>
            <a:r>
              <a:rPr lang="en-US" altLang="en-US" sz="2400" smtClean="0"/>
              <a:t>SECOND is in 2NF, but not 3NF.</a:t>
            </a:r>
          </a:p>
          <a:p>
            <a:pPr lvl="1">
              <a:lnSpc>
                <a:spcPct val="90000"/>
              </a:lnSpc>
            </a:pPr>
            <a:endParaRPr lang="en-US" altLang="en-US" sz="2400" smtClean="0"/>
          </a:p>
          <a:p>
            <a:pPr>
              <a:lnSpc>
                <a:spcPct val="90000"/>
              </a:lnSpc>
            </a:pPr>
            <a:r>
              <a:rPr lang="en-US" altLang="en-US" smtClean="0"/>
              <a:t>Decomposition:</a:t>
            </a:r>
          </a:p>
          <a:p>
            <a:pPr lvl="1">
              <a:lnSpc>
                <a:spcPct val="90000"/>
              </a:lnSpc>
            </a:pPr>
            <a:r>
              <a:rPr lang="en-US" altLang="en-US" sz="2400" smtClean="0"/>
              <a:t>CS {</a:t>
            </a:r>
            <a:r>
              <a:rPr lang="en-US" altLang="en-US" sz="2400" u="sng" smtClean="0"/>
              <a:t>CITY</a:t>
            </a:r>
            <a:r>
              <a:rPr lang="en-US" altLang="en-US" sz="2400" smtClean="0"/>
              <a:t>, STATUS}</a:t>
            </a:r>
            <a:endParaRPr lang="en-US" altLang="en-US" sz="2400" i="1" smtClean="0"/>
          </a:p>
          <a:p>
            <a:pPr lvl="1">
              <a:lnSpc>
                <a:spcPct val="90000"/>
              </a:lnSpc>
            </a:pPr>
            <a:r>
              <a:rPr lang="en-US" altLang="en-US" sz="2400" smtClean="0"/>
              <a:t>SC {</a:t>
            </a:r>
            <a:r>
              <a:rPr lang="en-US" altLang="en-US" sz="2400" u="sng" smtClean="0"/>
              <a:t>S#</a:t>
            </a:r>
            <a:r>
              <a:rPr lang="en-US" altLang="en-US" sz="2400" smtClean="0"/>
              <a:t>, CITY (FK: references CS)}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SimSun" panose="02010600030101010101" pitchFamily="2" charset="-122"/>
              </a:rPr>
              <a:t>Third Normal Form (3NF)</a:t>
            </a:r>
          </a:p>
        </p:txBody>
      </p:sp>
      <p:sp>
        <p:nvSpPr>
          <p:cNvPr id="132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719263"/>
            <a:ext cx="8229600" cy="85407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sz="2600" smtClean="0">
                <a:ea typeface="SimSun" panose="02010600030101010101" pitchFamily="2" charset="-122"/>
              </a:rPr>
              <a:t>A relation is in 3NF if and only if it is 2NF and all non-key fields are mutually independent.</a:t>
            </a:r>
          </a:p>
        </p:txBody>
      </p:sp>
      <p:grpSp>
        <p:nvGrpSpPr>
          <p:cNvPr id="132100" name="Group 4"/>
          <p:cNvGrpSpPr>
            <a:grpSpLocks/>
          </p:cNvGrpSpPr>
          <p:nvPr/>
        </p:nvGrpSpPr>
        <p:grpSpPr bwMode="auto">
          <a:xfrm>
            <a:off x="838200" y="2425700"/>
            <a:ext cx="7543800" cy="2146300"/>
            <a:chOff x="576" y="1584"/>
            <a:chExt cx="4752" cy="1352"/>
          </a:xfrm>
        </p:grpSpPr>
        <p:sp>
          <p:nvSpPr>
            <p:cNvPr id="132102" name="Rectangle 5"/>
            <p:cNvSpPr>
              <a:spLocks noChangeArrowheads="1"/>
            </p:cNvSpPr>
            <p:nvPr/>
          </p:nvSpPr>
          <p:spPr bwMode="auto">
            <a:xfrm>
              <a:off x="576" y="1824"/>
              <a:ext cx="2304" cy="240"/>
            </a:xfrm>
            <a:prstGeom prst="rect">
              <a:avLst/>
            </a:prstGeom>
            <a:solidFill>
              <a:srgbClr val="DBFFB8"/>
            </a:solidFill>
            <a:ln w="12700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990033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600">
                  <a:solidFill>
                    <a:srgbClr val="80000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600">
                <a:solidFill>
                  <a:srgbClr val="00279F"/>
                </a:solidFill>
                <a:latin typeface="Times New Roman" panose="02020603050405020304" pitchFamily="18" charset="0"/>
                <a:ea typeface="SimSun" panose="02010600030101010101" pitchFamily="2" charset="-122"/>
              </a:endParaRPr>
            </a:p>
          </p:txBody>
        </p:sp>
        <p:sp>
          <p:nvSpPr>
            <p:cNvPr id="132103" name="Rectangle 6"/>
            <p:cNvSpPr>
              <a:spLocks noChangeArrowheads="1"/>
            </p:cNvSpPr>
            <p:nvPr/>
          </p:nvSpPr>
          <p:spPr bwMode="auto">
            <a:xfrm>
              <a:off x="576" y="2068"/>
              <a:ext cx="2304" cy="66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990033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600">
                  <a:solidFill>
                    <a:srgbClr val="80000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solidFill>
                  <a:schemeClr val="tx1"/>
                </a:solidFill>
              </a:endParaRPr>
            </a:p>
          </p:txBody>
        </p:sp>
        <p:sp>
          <p:nvSpPr>
            <p:cNvPr id="132104" name="Line 7"/>
            <p:cNvSpPr>
              <a:spLocks noChangeShapeType="1"/>
            </p:cNvSpPr>
            <p:nvPr/>
          </p:nvSpPr>
          <p:spPr bwMode="auto">
            <a:xfrm>
              <a:off x="576" y="1824"/>
              <a:ext cx="2304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32105" name="Line 8"/>
            <p:cNvSpPr>
              <a:spLocks noChangeShapeType="1"/>
            </p:cNvSpPr>
            <p:nvPr/>
          </p:nvSpPr>
          <p:spPr bwMode="auto">
            <a:xfrm>
              <a:off x="576" y="2064"/>
              <a:ext cx="2304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32106" name="Line 9"/>
            <p:cNvSpPr>
              <a:spLocks noChangeShapeType="1"/>
            </p:cNvSpPr>
            <p:nvPr/>
          </p:nvSpPr>
          <p:spPr bwMode="auto">
            <a:xfrm>
              <a:off x="576" y="2256"/>
              <a:ext cx="2304" cy="0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32107" name="Line 10"/>
            <p:cNvSpPr>
              <a:spLocks noChangeShapeType="1"/>
            </p:cNvSpPr>
            <p:nvPr/>
          </p:nvSpPr>
          <p:spPr bwMode="auto">
            <a:xfrm>
              <a:off x="2016" y="1824"/>
              <a:ext cx="0" cy="912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32108" name="Line 11"/>
            <p:cNvSpPr>
              <a:spLocks noChangeShapeType="1"/>
            </p:cNvSpPr>
            <p:nvPr/>
          </p:nvSpPr>
          <p:spPr bwMode="auto">
            <a:xfrm>
              <a:off x="2880" y="1824"/>
              <a:ext cx="0" cy="912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32109" name="Text Box 12"/>
            <p:cNvSpPr txBox="1">
              <a:spLocks noChangeArrowheads="1"/>
            </p:cNvSpPr>
            <p:nvPr/>
          </p:nvSpPr>
          <p:spPr bwMode="auto">
            <a:xfrm>
              <a:off x="1392" y="1872"/>
              <a:ext cx="451" cy="1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990033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600">
                  <a:solidFill>
                    <a:srgbClr val="80000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GB" altLang="zh-CN" sz="1600">
                  <a:solidFill>
                    <a:srgbClr val="00279F"/>
                  </a:solidFill>
                  <a:latin typeface="Times New Roman" panose="02020603050405020304" pitchFamily="18" charset="0"/>
                  <a:ea typeface="SimSun" panose="02010600030101010101" pitchFamily="2" charset="-122"/>
                </a:rPr>
                <a:t>Status</a:t>
              </a:r>
            </a:p>
          </p:txBody>
        </p:sp>
        <p:sp>
          <p:nvSpPr>
            <p:cNvPr id="132110" name="Text Box 13"/>
            <p:cNvSpPr txBox="1">
              <a:spLocks noChangeArrowheads="1"/>
            </p:cNvSpPr>
            <p:nvPr/>
          </p:nvSpPr>
          <p:spPr bwMode="auto">
            <a:xfrm>
              <a:off x="2256" y="1872"/>
              <a:ext cx="620" cy="1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990033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600">
                  <a:solidFill>
                    <a:srgbClr val="80000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GB" altLang="zh-CN" sz="1600">
                  <a:solidFill>
                    <a:srgbClr val="00279F"/>
                  </a:solidFill>
                  <a:latin typeface="Times New Roman" panose="02020603050405020304" pitchFamily="18" charset="0"/>
                  <a:ea typeface="SimSun" panose="02010600030101010101" pitchFamily="2" charset="-122"/>
                </a:rPr>
                <a:t>City</a:t>
              </a:r>
            </a:p>
          </p:txBody>
        </p:sp>
        <p:sp>
          <p:nvSpPr>
            <p:cNvPr id="132111" name="Text Box 14"/>
            <p:cNvSpPr txBox="1">
              <a:spLocks noChangeArrowheads="1"/>
            </p:cNvSpPr>
            <p:nvPr/>
          </p:nvSpPr>
          <p:spPr bwMode="auto">
            <a:xfrm>
              <a:off x="1440" y="2064"/>
              <a:ext cx="528" cy="1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990033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600">
                  <a:solidFill>
                    <a:srgbClr val="80000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GB" sz="1600">
                  <a:solidFill>
                    <a:srgbClr val="00279F"/>
                  </a:solidFill>
                  <a:latin typeface="Times New Roman" panose="02020603050405020304" pitchFamily="18" charset="0"/>
                  <a:ea typeface="SimSun" panose="02010600030101010101" pitchFamily="2" charset="-122"/>
                </a:rPr>
                <a:t>20</a:t>
              </a:r>
            </a:p>
          </p:txBody>
        </p:sp>
        <p:sp>
          <p:nvSpPr>
            <p:cNvPr id="132112" name="Text Box 15"/>
            <p:cNvSpPr txBox="1">
              <a:spLocks noChangeArrowheads="1"/>
            </p:cNvSpPr>
            <p:nvPr/>
          </p:nvSpPr>
          <p:spPr bwMode="auto">
            <a:xfrm>
              <a:off x="2160" y="2064"/>
              <a:ext cx="514" cy="1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990033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600">
                  <a:solidFill>
                    <a:srgbClr val="80000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GB" altLang="zh-CN" sz="1600">
                  <a:solidFill>
                    <a:srgbClr val="00279F"/>
                  </a:solidFill>
                  <a:latin typeface="Times New Roman" panose="02020603050405020304" pitchFamily="18" charset="0"/>
                  <a:ea typeface="SimSun" panose="02010600030101010101" pitchFamily="2" charset="-122"/>
                </a:rPr>
                <a:t>London</a:t>
              </a:r>
            </a:p>
          </p:txBody>
        </p:sp>
        <p:sp>
          <p:nvSpPr>
            <p:cNvPr id="132113" name="Text Box 16"/>
            <p:cNvSpPr txBox="1">
              <a:spLocks noChangeArrowheads="1"/>
            </p:cNvSpPr>
            <p:nvPr/>
          </p:nvSpPr>
          <p:spPr bwMode="auto">
            <a:xfrm>
              <a:off x="1344" y="2304"/>
              <a:ext cx="720" cy="1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990033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600">
                  <a:solidFill>
                    <a:srgbClr val="80000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GB" sz="1600">
                  <a:solidFill>
                    <a:srgbClr val="00279F"/>
                  </a:solidFill>
                  <a:latin typeface="Times New Roman" panose="02020603050405020304" pitchFamily="18" charset="0"/>
                  <a:ea typeface="SimSun" panose="02010600030101010101" pitchFamily="2" charset="-122"/>
                </a:rPr>
                <a:t>   10</a:t>
              </a:r>
            </a:p>
          </p:txBody>
        </p:sp>
        <p:sp>
          <p:nvSpPr>
            <p:cNvPr id="132114" name="Text Box 17"/>
            <p:cNvSpPr txBox="1">
              <a:spLocks noChangeArrowheads="1"/>
            </p:cNvSpPr>
            <p:nvPr/>
          </p:nvSpPr>
          <p:spPr bwMode="auto">
            <a:xfrm>
              <a:off x="2208" y="2304"/>
              <a:ext cx="528" cy="1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990033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600">
                  <a:solidFill>
                    <a:srgbClr val="80000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GB" altLang="zh-CN" sz="1600">
                  <a:solidFill>
                    <a:srgbClr val="00279F"/>
                  </a:solidFill>
                  <a:latin typeface="Times New Roman" panose="02020603050405020304" pitchFamily="18" charset="0"/>
                  <a:ea typeface="SimSun" panose="02010600030101010101" pitchFamily="2" charset="-122"/>
                </a:rPr>
                <a:t>Paris</a:t>
              </a:r>
            </a:p>
          </p:txBody>
        </p:sp>
        <p:sp>
          <p:nvSpPr>
            <p:cNvPr id="132115" name="Line 18"/>
            <p:cNvSpPr>
              <a:spLocks noChangeShapeType="1"/>
            </p:cNvSpPr>
            <p:nvPr/>
          </p:nvSpPr>
          <p:spPr bwMode="auto">
            <a:xfrm>
              <a:off x="1248" y="1824"/>
              <a:ext cx="0" cy="912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32116" name="Text Box 19"/>
            <p:cNvSpPr txBox="1">
              <a:spLocks noChangeArrowheads="1"/>
            </p:cNvSpPr>
            <p:nvPr/>
          </p:nvSpPr>
          <p:spPr bwMode="auto">
            <a:xfrm>
              <a:off x="624" y="1872"/>
              <a:ext cx="634" cy="1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990033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600">
                  <a:solidFill>
                    <a:srgbClr val="80000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GB" altLang="zh-CN" sz="1600">
                  <a:solidFill>
                    <a:srgbClr val="00279F"/>
                  </a:solidFill>
                  <a:latin typeface="Times New Roman" panose="02020603050405020304" pitchFamily="18" charset="0"/>
                  <a:ea typeface="SimSun" panose="02010600030101010101" pitchFamily="2" charset="-122"/>
                </a:rPr>
                <a:t>Supplier#</a:t>
              </a:r>
            </a:p>
          </p:txBody>
        </p:sp>
        <p:sp>
          <p:nvSpPr>
            <p:cNvPr id="132117" name="Text Box 20"/>
            <p:cNvSpPr txBox="1">
              <a:spLocks noChangeArrowheads="1"/>
            </p:cNvSpPr>
            <p:nvPr/>
          </p:nvSpPr>
          <p:spPr bwMode="auto">
            <a:xfrm>
              <a:off x="816" y="2064"/>
              <a:ext cx="251" cy="1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990033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600">
                  <a:solidFill>
                    <a:srgbClr val="80000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GB" altLang="zh-CN" sz="1600">
                  <a:solidFill>
                    <a:srgbClr val="00279F"/>
                  </a:solidFill>
                  <a:latin typeface="Times New Roman" panose="02020603050405020304" pitchFamily="18" charset="0"/>
                  <a:ea typeface="SimSun" panose="02010600030101010101" pitchFamily="2" charset="-122"/>
                </a:rPr>
                <a:t>S1</a:t>
              </a:r>
            </a:p>
          </p:txBody>
        </p:sp>
        <p:sp>
          <p:nvSpPr>
            <p:cNvPr id="132118" name="Text Box 21"/>
            <p:cNvSpPr txBox="1">
              <a:spLocks noChangeArrowheads="1"/>
            </p:cNvSpPr>
            <p:nvPr/>
          </p:nvSpPr>
          <p:spPr bwMode="auto">
            <a:xfrm>
              <a:off x="816" y="2304"/>
              <a:ext cx="251" cy="1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990033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600">
                  <a:solidFill>
                    <a:srgbClr val="80000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GB" altLang="zh-CN" sz="1600">
                  <a:solidFill>
                    <a:srgbClr val="00279F"/>
                  </a:solidFill>
                  <a:latin typeface="Times New Roman" panose="02020603050405020304" pitchFamily="18" charset="0"/>
                  <a:ea typeface="SimSun" panose="02010600030101010101" pitchFamily="2" charset="-122"/>
                </a:rPr>
                <a:t>S2</a:t>
              </a:r>
            </a:p>
          </p:txBody>
        </p:sp>
        <p:sp>
          <p:nvSpPr>
            <p:cNvPr id="132119" name="Line 22"/>
            <p:cNvSpPr>
              <a:spLocks noChangeShapeType="1"/>
            </p:cNvSpPr>
            <p:nvPr/>
          </p:nvSpPr>
          <p:spPr bwMode="auto">
            <a:xfrm>
              <a:off x="576" y="2736"/>
              <a:ext cx="2304" cy="0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32120" name="Line 23"/>
            <p:cNvSpPr>
              <a:spLocks noChangeShapeType="1"/>
            </p:cNvSpPr>
            <p:nvPr/>
          </p:nvSpPr>
          <p:spPr bwMode="auto">
            <a:xfrm>
              <a:off x="576" y="2496"/>
              <a:ext cx="2304" cy="0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32121" name="Text Box 24"/>
            <p:cNvSpPr txBox="1">
              <a:spLocks noChangeArrowheads="1"/>
            </p:cNvSpPr>
            <p:nvPr/>
          </p:nvSpPr>
          <p:spPr bwMode="auto">
            <a:xfrm>
              <a:off x="816" y="2544"/>
              <a:ext cx="251" cy="1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990033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600">
                  <a:solidFill>
                    <a:srgbClr val="80000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GB" altLang="zh-CN" sz="1600">
                  <a:solidFill>
                    <a:srgbClr val="00279F"/>
                  </a:solidFill>
                  <a:latin typeface="Times New Roman" panose="02020603050405020304" pitchFamily="18" charset="0"/>
                  <a:ea typeface="SimSun" panose="02010600030101010101" pitchFamily="2" charset="-122"/>
                </a:rPr>
                <a:t>S3</a:t>
              </a:r>
            </a:p>
          </p:txBody>
        </p:sp>
        <p:sp>
          <p:nvSpPr>
            <p:cNvPr id="132122" name="Text Box 25"/>
            <p:cNvSpPr txBox="1">
              <a:spLocks noChangeArrowheads="1"/>
            </p:cNvSpPr>
            <p:nvPr/>
          </p:nvSpPr>
          <p:spPr bwMode="auto">
            <a:xfrm>
              <a:off x="1440" y="2544"/>
              <a:ext cx="244" cy="1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990033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600">
                  <a:solidFill>
                    <a:srgbClr val="80000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GB" sz="1600">
                  <a:solidFill>
                    <a:srgbClr val="00279F"/>
                  </a:solidFill>
                  <a:latin typeface="Times New Roman" panose="02020603050405020304" pitchFamily="18" charset="0"/>
                  <a:ea typeface="SimSun" panose="02010600030101010101" pitchFamily="2" charset="-122"/>
                </a:rPr>
                <a:t>20</a:t>
              </a:r>
            </a:p>
          </p:txBody>
        </p:sp>
        <p:sp>
          <p:nvSpPr>
            <p:cNvPr id="132123" name="Text Box 26"/>
            <p:cNvSpPr txBox="1">
              <a:spLocks noChangeArrowheads="1"/>
            </p:cNvSpPr>
            <p:nvPr/>
          </p:nvSpPr>
          <p:spPr bwMode="auto">
            <a:xfrm>
              <a:off x="2198" y="2547"/>
              <a:ext cx="514" cy="1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990033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600">
                  <a:solidFill>
                    <a:srgbClr val="80000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GB" altLang="zh-CN" sz="1600">
                  <a:solidFill>
                    <a:srgbClr val="00279F"/>
                  </a:solidFill>
                  <a:latin typeface="Times New Roman" panose="02020603050405020304" pitchFamily="18" charset="0"/>
                  <a:ea typeface="SimSun" panose="02010600030101010101" pitchFamily="2" charset="-122"/>
                </a:rPr>
                <a:t>London</a:t>
              </a:r>
            </a:p>
          </p:txBody>
        </p:sp>
        <p:sp>
          <p:nvSpPr>
            <p:cNvPr id="132124" name="Rectangle 27"/>
            <p:cNvSpPr>
              <a:spLocks noChangeArrowheads="1"/>
            </p:cNvSpPr>
            <p:nvPr/>
          </p:nvSpPr>
          <p:spPr bwMode="auto">
            <a:xfrm>
              <a:off x="576" y="1632"/>
              <a:ext cx="1787" cy="1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990033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600">
                  <a:solidFill>
                    <a:srgbClr val="80000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GB" altLang="zh-CN" sz="1600">
                  <a:solidFill>
                    <a:schemeClr val="hlink"/>
                  </a:solidFill>
                  <a:latin typeface="Times New Roman" panose="02020603050405020304" pitchFamily="18" charset="0"/>
                  <a:ea typeface="SimSun" panose="02010600030101010101" pitchFamily="2" charset="-122"/>
                </a:rPr>
                <a:t>One:</a:t>
              </a:r>
              <a:r>
                <a:rPr lang="en-GB" altLang="zh-CN" sz="1600">
                  <a:solidFill>
                    <a:srgbClr val="00279F"/>
                  </a:solidFill>
                  <a:latin typeface="Times New Roman" panose="02020603050405020304" pitchFamily="18" charset="0"/>
                  <a:ea typeface="SimSun" panose="02010600030101010101" pitchFamily="2" charset="-122"/>
                </a:rPr>
                <a:t> Primary Key (Supplier#)</a:t>
              </a:r>
            </a:p>
          </p:txBody>
        </p:sp>
        <p:sp>
          <p:nvSpPr>
            <p:cNvPr id="132125" name="Rectangle 28"/>
            <p:cNvSpPr>
              <a:spLocks noChangeArrowheads="1"/>
            </p:cNvSpPr>
            <p:nvPr/>
          </p:nvSpPr>
          <p:spPr bwMode="auto">
            <a:xfrm>
              <a:off x="3216" y="1776"/>
              <a:ext cx="2064" cy="240"/>
            </a:xfrm>
            <a:prstGeom prst="rect">
              <a:avLst/>
            </a:prstGeom>
            <a:solidFill>
              <a:srgbClr val="DBFFB8"/>
            </a:solidFill>
            <a:ln w="12700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990033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600">
                  <a:solidFill>
                    <a:srgbClr val="80000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600">
                <a:solidFill>
                  <a:srgbClr val="00279F"/>
                </a:solidFill>
                <a:latin typeface="Times New Roman" panose="02020603050405020304" pitchFamily="18" charset="0"/>
                <a:ea typeface="SimSun" panose="02010600030101010101" pitchFamily="2" charset="-122"/>
              </a:endParaRPr>
            </a:p>
          </p:txBody>
        </p:sp>
        <p:sp>
          <p:nvSpPr>
            <p:cNvPr id="132126" name="Rectangle 29"/>
            <p:cNvSpPr>
              <a:spLocks noChangeArrowheads="1"/>
            </p:cNvSpPr>
            <p:nvPr/>
          </p:nvSpPr>
          <p:spPr bwMode="auto">
            <a:xfrm>
              <a:off x="3216" y="2020"/>
              <a:ext cx="2064" cy="90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990033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600">
                  <a:solidFill>
                    <a:srgbClr val="80000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solidFill>
                  <a:schemeClr val="tx1"/>
                </a:solidFill>
              </a:endParaRPr>
            </a:p>
          </p:txBody>
        </p:sp>
        <p:sp>
          <p:nvSpPr>
            <p:cNvPr id="132127" name="Line 30"/>
            <p:cNvSpPr>
              <a:spLocks noChangeShapeType="1"/>
            </p:cNvSpPr>
            <p:nvPr/>
          </p:nvSpPr>
          <p:spPr bwMode="auto">
            <a:xfrm>
              <a:off x="3216" y="1776"/>
              <a:ext cx="2064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32128" name="Line 31"/>
            <p:cNvSpPr>
              <a:spLocks noChangeShapeType="1"/>
            </p:cNvSpPr>
            <p:nvPr/>
          </p:nvSpPr>
          <p:spPr bwMode="auto">
            <a:xfrm>
              <a:off x="3216" y="2016"/>
              <a:ext cx="2064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32129" name="Line 32"/>
            <p:cNvSpPr>
              <a:spLocks noChangeShapeType="1"/>
            </p:cNvSpPr>
            <p:nvPr/>
          </p:nvSpPr>
          <p:spPr bwMode="auto">
            <a:xfrm>
              <a:off x="3216" y="2208"/>
              <a:ext cx="2064" cy="0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32130" name="Line 33"/>
            <p:cNvSpPr>
              <a:spLocks noChangeShapeType="1"/>
            </p:cNvSpPr>
            <p:nvPr/>
          </p:nvSpPr>
          <p:spPr bwMode="auto">
            <a:xfrm>
              <a:off x="4560" y="1776"/>
              <a:ext cx="1" cy="1152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32131" name="Text Box 34"/>
            <p:cNvSpPr txBox="1">
              <a:spLocks noChangeArrowheads="1"/>
            </p:cNvSpPr>
            <p:nvPr/>
          </p:nvSpPr>
          <p:spPr bwMode="auto">
            <a:xfrm>
              <a:off x="4032" y="1824"/>
              <a:ext cx="387" cy="1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990033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600">
                  <a:solidFill>
                    <a:srgbClr val="80000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GB" altLang="zh-CN" sz="1600">
                  <a:solidFill>
                    <a:srgbClr val="00279F"/>
                  </a:solidFill>
                  <a:latin typeface="Times New Roman" panose="02020603050405020304" pitchFamily="18" charset="0"/>
                  <a:ea typeface="SimSun" panose="02010600030101010101" pitchFamily="2" charset="-122"/>
                </a:rPr>
                <a:t>Part#</a:t>
              </a:r>
            </a:p>
          </p:txBody>
        </p:sp>
        <p:sp>
          <p:nvSpPr>
            <p:cNvPr id="132132" name="Text Box 35"/>
            <p:cNvSpPr txBox="1">
              <a:spLocks noChangeArrowheads="1"/>
            </p:cNvSpPr>
            <p:nvPr/>
          </p:nvSpPr>
          <p:spPr bwMode="auto">
            <a:xfrm>
              <a:off x="4656" y="1824"/>
              <a:ext cx="565" cy="1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990033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600">
                  <a:solidFill>
                    <a:srgbClr val="80000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GB" altLang="zh-CN" sz="1600">
                  <a:solidFill>
                    <a:srgbClr val="00279F"/>
                  </a:solidFill>
                  <a:latin typeface="Times New Roman" panose="02020603050405020304" pitchFamily="18" charset="0"/>
                  <a:ea typeface="SimSun" panose="02010600030101010101" pitchFamily="2" charset="-122"/>
                </a:rPr>
                <a:t>Quantity</a:t>
              </a:r>
            </a:p>
          </p:txBody>
        </p:sp>
        <p:sp>
          <p:nvSpPr>
            <p:cNvPr id="132133" name="Text Box 36"/>
            <p:cNvSpPr txBox="1">
              <a:spLocks noChangeArrowheads="1"/>
            </p:cNvSpPr>
            <p:nvPr/>
          </p:nvSpPr>
          <p:spPr bwMode="auto">
            <a:xfrm>
              <a:off x="4080" y="2016"/>
              <a:ext cx="251" cy="1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990033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600">
                  <a:solidFill>
                    <a:srgbClr val="80000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GB" altLang="zh-CN" sz="1600">
                  <a:solidFill>
                    <a:srgbClr val="00279F"/>
                  </a:solidFill>
                  <a:latin typeface="Times New Roman" panose="02020603050405020304" pitchFamily="18" charset="0"/>
                  <a:ea typeface="SimSun" panose="02010600030101010101" pitchFamily="2" charset="-122"/>
                </a:rPr>
                <a:t>P1</a:t>
              </a:r>
            </a:p>
          </p:txBody>
        </p:sp>
        <p:sp>
          <p:nvSpPr>
            <p:cNvPr id="132134" name="Text Box 37"/>
            <p:cNvSpPr txBox="1">
              <a:spLocks noChangeArrowheads="1"/>
            </p:cNvSpPr>
            <p:nvPr/>
          </p:nvSpPr>
          <p:spPr bwMode="auto">
            <a:xfrm>
              <a:off x="4704" y="2016"/>
              <a:ext cx="624" cy="1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990033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600">
                  <a:solidFill>
                    <a:srgbClr val="80000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GB" sz="1600">
                  <a:solidFill>
                    <a:srgbClr val="00279F"/>
                  </a:solidFill>
                  <a:latin typeface="Times New Roman" panose="02020603050405020304" pitchFamily="18" charset="0"/>
                  <a:ea typeface="SimSun" panose="02010600030101010101" pitchFamily="2" charset="-122"/>
                </a:rPr>
                <a:t>1600</a:t>
              </a:r>
            </a:p>
          </p:txBody>
        </p:sp>
        <p:sp>
          <p:nvSpPr>
            <p:cNvPr id="132135" name="Text Box 38"/>
            <p:cNvSpPr txBox="1">
              <a:spLocks noChangeArrowheads="1"/>
            </p:cNvSpPr>
            <p:nvPr/>
          </p:nvSpPr>
          <p:spPr bwMode="auto">
            <a:xfrm>
              <a:off x="4080" y="2256"/>
              <a:ext cx="768" cy="1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990033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600">
                  <a:solidFill>
                    <a:srgbClr val="80000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GB" altLang="zh-CN" sz="1600">
                  <a:solidFill>
                    <a:srgbClr val="00279F"/>
                  </a:solidFill>
                  <a:latin typeface="Times New Roman" panose="02020603050405020304" pitchFamily="18" charset="0"/>
                  <a:ea typeface="SimSun" panose="02010600030101010101" pitchFamily="2" charset="-122"/>
                </a:rPr>
                <a:t>P2</a:t>
              </a:r>
            </a:p>
          </p:txBody>
        </p:sp>
        <p:sp>
          <p:nvSpPr>
            <p:cNvPr id="132136" name="Text Box 39"/>
            <p:cNvSpPr txBox="1">
              <a:spLocks noChangeArrowheads="1"/>
            </p:cNvSpPr>
            <p:nvPr/>
          </p:nvSpPr>
          <p:spPr bwMode="auto">
            <a:xfrm>
              <a:off x="4704" y="2256"/>
              <a:ext cx="372" cy="1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990033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600">
                  <a:solidFill>
                    <a:srgbClr val="80000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GB" sz="1600">
                  <a:solidFill>
                    <a:srgbClr val="00279F"/>
                  </a:solidFill>
                  <a:latin typeface="Times New Roman" panose="02020603050405020304" pitchFamily="18" charset="0"/>
                  <a:ea typeface="SimSun" panose="02010600030101010101" pitchFamily="2" charset="-122"/>
                </a:rPr>
                <a:t>2000</a:t>
              </a:r>
            </a:p>
          </p:txBody>
        </p:sp>
        <p:sp>
          <p:nvSpPr>
            <p:cNvPr id="132137" name="Line 40"/>
            <p:cNvSpPr>
              <a:spLocks noChangeShapeType="1"/>
            </p:cNvSpPr>
            <p:nvPr/>
          </p:nvSpPr>
          <p:spPr bwMode="auto">
            <a:xfrm>
              <a:off x="3888" y="1776"/>
              <a:ext cx="0" cy="1152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32138" name="Text Box 41"/>
            <p:cNvSpPr txBox="1">
              <a:spLocks noChangeArrowheads="1"/>
            </p:cNvSpPr>
            <p:nvPr/>
          </p:nvSpPr>
          <p:spPr bwMode="auto">
            <a:xfrm>
              <a:off x="3264" y="1824"/>
              <a:ext cx="634" cy="1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990033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600">
                  <a:solidFill>
                    <a:srgbClr val="80000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GB" altLang="zh-CN" sz="1600">
                  <a:solidFill>
                    <a:srgbClr val="00279F"/>
                  </a:solidFill>
                  <a:latin typeface="Times New Roman" panose="02020603050405020304" pitchFamily="18" charset="0"/>
                  <a:ea typeface="SimSun" panose="02010600030101010101" pitchFamily="2" charset="-122"/>
                </a:rPr>
                <a:t>Supplier#</a:t>
              </a:r>
            </a:p>
          </p:txBody>
        </p:sp>
        <p:sp>
          <p:nvSpPr>
            <p:cNvPr id="132139" name="Text Box 42"/>
            <p:cNvSpPr txBox="1">
              <a:spLocks noChangeArrowheads="1"/>
            </p:cNvSpPr>
            <p:nvPr/>
          </p:nvSpPr>
          <p:spPr bwMode="auto">
            <a:xfrm>
              <a:off x="3456" y="2016"/>
              <a:ext cx="251" cy="1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990033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600">
                  <a:solidFill>
                    <a:srgbClr val="80000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GB" altLang="zh-CN" sz="1600">
                  <a:solidFill>
                    <a:srgbClr val="00279F"/>
                  </a:solidFill>
                  <a:latin typeface="Times New Roman" panose="02020603050405020304" pitchFamily="18" charset="0"/>
                  <a:ea typeface="SimSun" panose="02010600030101010101" pitchFamily="2" charset="-122"/>
                </a:rPr>
                <a:t>S1</a:t>
              </a:r>
            </a:p>
          </p:txBody>
        </p:sp>
        <p:sp>
          <p:nvSpPr>
            <p:cNvPr id="132140" name="Text Box 43"/>
            <p:cNvSpPr txBox="1">
              <a:spLocks noChangeArrowheads="1"/>
            </p:cNvSpPr>
            <p:nvPr/>
          </p:nvSpPr>
          <p:spPr bwMode="auto">
            <a:xfrm>
              <a:off x="3456" y="2256"/>
              <a:ext cx="251" cy="1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990033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600">
                  <a:solidFill>
                    <a:srgbClr val="80000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GB" altLang="zh-CN" sz="1600">
                  <a:solidFill>
                    <a:srgbClr val="00279F"/>
                  </a:solidFill>
                  <a:latin typeface="Times New Roman" panose="02020603050405020304" pitchFamily="18" charset="0"/>
                  <a:ea typeface="SimSun" panose="02010600030101010101" pitchFamily="2" charset="-122"/>
                </a:rPr>
                <a:t>S1</a:t>
              </a:r>
            </a:p>
          </p:txBody>
        </p:sp>
        <p:sp>
          <p:nvSpPr>
            <p:cNvPr id="132141" name="Line 44"/>
            <p:cNvSpPr>
              <a:spLocks noChangeShapeType="1"/>
            </p:cNvSpPr>
            <p:nvPr/>
          </p:nvSpPr>
          <p:spPr bwMode="auto">
            <a:xfrm>
              <a:off x="3216" y="2688"/>
              <a:ext cx="2064" cy="0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32142" name="Line 45"/>
            <p:cNvSpPr>
              <a:spLocks noChangeShapeType="1"/>
            </p:cNvSpPr>
            <p:nvPr/>
          </p:nvSpPr>
          <p:spPr bwMode="auto">
            <a:xfrm>
              <a:off x="3216" y="2448"/>
              <a:ext cx="2064" cy="0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32143" name="Text Box 46"/>
            <p:cNvSpPr txBox="1">
              <a:spLocks noChangeArrowheads="1"/>
            </p:cNvSpPr>
            <p:nvPr/>
          </p:nvSpPr>
          <p:spPr bwMode="auto">
            <a:xfrm>
              <a:off x="3456" y="2496"/>
              <a:ext cx="251" cy="1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990033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600">
                  <a:solidFill>
                    <a:srgbClr val="80000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GB" altLang="zh-CN" sz="1600">
                  <a:solidFill>
                    <a:srgbClr val="00279F"/>
                  </a:solidFill>
                  <a:latin typeface="Times New Roman" panose="02020603050405020304" pitchFamily="18" charset="0"/>
                  <a:ea typeface="SimSun" panose="02010600030101010101" pitchFamily="2" charset="-122"/>
                </a:rPr>
                <a:t>S2</a:t>
              </a:r>
            </a:p>
          </p:txBody>
        </p:sp>
        <p:sp>
          <p:nvSpPr>
            <p:cNvPr id="132144" name="Text Box 47"/>
            <p:cNvSpPr txBox="1">
              <a:spLocks noChangeArrowheads="1"/>
            </p:cNvSpPr>
            <p:nvPr/>
          </p:nvSpPr>
          <p:spPr bwMode="auto">
            <a:xfrm>
              <a:off x="3456" y="2736"/>
              <a:ext cx="251" cy="1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990033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600">
                  <a:solidFill>
                    <a:srgbClr val="80000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GB" altLang="zh-CN" sz="1600">
                  <a:solidFill>
                    <a:srgbClr val="00279F"/>
                  </a:solidFill>
                  <a:latin typeface="Times New Roman" panose="02020603050405020304" pitchFamily="18" charset="0"/>
                  <a:ea typeface="SimSun" panose="02010600030101010101" pitchFamily="2" charset="-122"/>
                </a:rPr>
                <a:t>S3</a:t>
              </a:r>
            </a:p>
          </p:txBody>
        </p:sp>
        <p:sp>
          <p:nvSpPr>
            <p:cNvPr id="132145" name="Text Box 48"/>
            <p:cNvSpPr txBox="1">
              <a:spLocks noChangeArrowheads="1"/>
            </p:cNvSpPr>
            <p:nvPr/>
          </p:nvSpPr>
          <p:spPr bwMode="auto">
            <a:xfrm>
              <a:off x="4070" y="2499"/>
              <a:ext cx="251" cy="1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990033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600">
                  <a:solidFill>
                    <a:srgbClr val="80000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GB" altLang="zh-CN" sz="1600">
                  <a:solidFill>
                    <a:srgbClr val="00279F"/>
                  </a:solidFill>
                  <a:latin typeface="Times New Roman" panose="02020603050405020304" pitchFamily="18" charset="0"/>
                  <a:ea typeface="SimSun" panose="02010600030101010101" pitchFamily="2" charset="-122"/>
                </a:rPr>
                <a:t>P2</a:t>
              </a:r>
            </a:p>
          </p:txBody>
        </p:sp>
        <p:sp>
          <p:nvSpPr>
            <p:cNvPr id="132146" name="Text Box 49"/>
            <p:cNvSpPr txBox="1">
              <a:spLocks noChangeArrowheads="1"/>
            </p:cNvSpPr>
            <p:nvPr/>
          </p:nvSpPr>
          <p:spPr bwMode="auto">
            <a:xfrm>
              <a:off x="4070" y="2739"/>
              <a:ext cx="251" cy="1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990033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600">
                  <a:solidFill>
                    <a:srgbClr val="80000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GB" altLang="zh-CN" sz="1600">
                  <a:solidFill>
                    <a:srgbClr val="00279F"/>
                  </a:solidFill>
                  <a:latin typeface="Times New Roman" panose="02020603050405020304" pitchFamily="18" charset="0"/>
                  <a:ea typeface="SimSun" panose="02010600030101010101" pitchFamily="2" charset="-122"/>
                </a:rPr>
                <a:t>P3</a:t>
              </a:r>
            </a:p>
          </p:txBody>
        </p:sp>
        <p:sp>
          <p:nvSpPr>
            <p:cNvPr id="132147" name="Text Box 50"/>
            <p:cNvSpPr txBox="1">
              <a:spLocks noChangeArrowheads="1"/>
            </p:cNvSpPr>
            <p:nvPr/>
          </p:nvSpPr>
          <p:spPr bwMode="auto">
            <a:xfrm>
              <a:off x="4790" y="2496"/>
              <a:ext cx="308" cy="1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990033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600">
                  <a:solidFill>
                    <a:srgbClr val="80000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GB" sz="1600">
                  <a:solidFill>
                    <a:srgbClr val="00279F"/>
                  </a:solidFill>
                  <a:latin typeface="Times New Roman" panose="02020603050405020304" pitchFamily="18" charset="0"/>
                  <a:ea typeface="SimSun" panose="02010600030101010101" pitchFamily="2" charset="-122"/>
                </a:rPr>
                <a:t>500</a:t>
              </a:r>
            </a:p>
          </p:txBody>
        </p:sp>
        <p:sp>
          <p:nvSpPr>
            <p:cNvPr id="132148" name="Text Box 51"/>
            <p:cNvSpPr txBox="1">
              <a:spLocks noChangeArrowheads="1"/>
            </p:cNvSpPr>
            <p:nvPr/>
          </p:nvSpPr>
          <p:spPr bwMode="auto">
            <a:xfrm>
              <a:off x="4752" y="2736"/>
              <a:ext cx="372" cy="1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990033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600">
                  <a:solidFill>
                    <a:srgbClr val="80000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GB" sz="1600">
                  <a:solidFill>
                    <a:srgbClr val="00279F"/>
                  </a:solidFill>
                  <a:latin typeface="Times New Roman" panose="02020603050405020304" pitchFamily="18" charset="0"/>
                  <a:ea typeface="SimSun" panose="02010600030101010101" pitchFamily="2" charset="-122"/>
                </a:rPr>
                <a:t>3000</a:t>
              </a:r>
            </a:p>
          </p:txBody>
        </p:sp>
        <p:sp>
          <p:nvSpPr>
            <p:cNvPr id="132149" name="Rectangle 52"/>
            <p:cNvSpPr>
              <a:spLocks noChangeArrowheads="1"/>
            </p:cNvSpPr>
            <p:nvPr/>
          </p:nvSpPr>
          <p:spPr bwMode="auto">
            <a:xfrm>
              <a:off x="3120" y="1584"/>
              <a:ext cx="2170" cy="1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990033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600">
                  <a:solidFill>
                    <a:srgbClr val="80000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GB" altLang="zh-CN" sz="1600">
                  <a:solidFill>
                    <a:schemeClr val="hlink"/>
                  </a:solidFill>
                  <a:latin typeface="Times New Roman" panose="02020603050405020304" pitchFamily="18" charset="0"/>
                  <a:ea typeface="SimSun" panose="02010600030101010101" pitchFamily="2" charset="-122"/>
                </a:rPr>
                <a:t>Two:</a:t>
              </a:r>
              <a:r>
                <a:rPr lang="en-GB" altLang="zh-CN" sz="1600">
                  <a:solidFill>
                    <a:srgbClr val="00279F"/>
                  </a:solidFill>
                  <a:latin typeface="Times New Roman" panose="02020603050405020304" pitchFamily="18" charset="0"/>
                  <a:ea typeface="SimSun" panose="02010600030101010101" pitchFamily="2" charset="-122"/>
                </a:rPr>
                <a:t> Primary Key (Supplier#, Part#)</a:t>
              </a:r>
            </a:p>
          </p:txBody>
        </p:sp>
      </p:grpSp>
      <p:sp>
        <p:nvSpPr>
          <p:cNvPr id="150581" name="Rectangle 53"/>
          <p:cNvSpPr>
            <a:spLocks noChangeArrowheads="1"/>
          </p:cNvSpPr>
          <p:nvPr/>
        </p:nvSpPr>
        <p:spPr bwMode="auto">
          <a:xfrm>
            <a:off x="609600" y="4495800"/>
            <a:ext cx="7958138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 algn="just">
              <a:lnSpc>
                <a:spcPct val="90000"/>
              </a:lnSpc>
              <a:spcBef>
                <a:spcPct val="20000"/>
              </a:spcBef>
              <a:buClr>
                <a:srgbClr val="FF6600"/>
              </a:buClr>
              <a:buFont typeface="Wingdings" pitchFamily="2" charset="2"/>
              <a:buChar char="§"/>
              <a:defRPr/>
            </a:pPr>
            <a:r>
              <a:rPr kumimoji="1" lang="en-US" altLang="zh-CN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Note: </a:t>
            </a:r>
            <a:r>
              <a:rPr kumimoji="1" lang="en-US" altLang="zh-CN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Relation Two is in 3NF (with only one non-key field), but relation One is not in 3NF because Status is dependent on City (both are non-key fields)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-152400"/>
            <a:ext cx="7543800" cy="1295400"/>
          </a:xfrm>
        </p:spPr>
        <p:txBody>
          <a:bodyPr/>
          <a:lstStyle/>
          <a:p>
            <a:r>
              <a:rPr lang="en-US" altLang="zh-CN" sz="3500" smtClean="0">
                <a:ea typeface="SimSun" panose="02010600030101010101" pitchFamily="2" charset="-122"/>
              </a:rPr>
              <a:t>3NF - Converting 2NF into 3NF</a:t>
            </a:r>
          </a:p>
        </p:txBody>
      </p:sp>
      <p:sp>
        <p:nvSpPr>
          <p:cNvPr id="134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752600"/>
            <a:ext cx="8382000" cy="990600"/>
          </a:xfrm>
        </p:spPr>
        <p:txBody>
          <a:bodyPr/>
          <a:lstStyle/>
          <a:p>
            <a:r>
              <a:rPr lang="en-US" altLang="zh-CN" sz="2600" smtClean="0">
                <a:ea typeface="SimSun" panose="02010600030101010101" pitchFamily="2" charset="-122"/>
              </a:rPr>
              <a:t>We can now normalize relation One into two new relations (called three and four), which both are in 3NF.</a:t>
            </a:r>
          </a:p>
        </p:txBody>
      </p:sp>
      <p:grpSp>
        <p:nvGrpSpPr>
          <p:cNvPr id="134148" name="Group 4"/>
          <p:cNvGrpSpPr>
            <a:grpSpLocks/>
          </p:cNvGrpSpPr>
          <p:nvPr/>
        </p:nvGrpSpPr>
        <p:grpSpPr bwMode="auto">
          <a:xfrm>
            <a:off x="1066800" y="2963863"/>
            <a:ext cx="6934200" cy="1836737"/>
            <a:chOff x="816" y="1680"/>
            <a:chExt cx="4368" cy="1157"/>
          </a:xfrm>
        </p:grpSpPr>
        <p:sp>
          <p:nvSpPr>
            <p:cNvPr id="134150" name="Rectangle 5"/>
            <p:cNvSpPr>
              <a:spLocks noChangeArrowheads="1"/>
            </p:cNvSpPr>
            <p:nvPr/>
          </p:nvSpPr>
          <p:spPr bwMode="auto">
            <a:xfrm>
              <a:off x="1008" y="1920"/>
              <a:ext cx="1344" cy="240"/>
            </a:xfrm>
            <a:prstGeom prst="rect">
              <a:avLst/>
            </a:prstGeom>
            <a:solidFill>
              <a:srgbClr val="DBFFB8"/>
            </a:solidFill>
            <a:ln w="12700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990033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600">
                  <a:solidFill>
                    <a:srgbClr val="80000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600">
                <a:solidFill>
                  <a:srgbClr val="00279F"/>
                </a:solidFill>
                <a:latin typeface="Times New Roman" panose="02020603050405020304" pitchFamily="18" charset="0"/>
                <a:ea typeface="SimSun" panose="02010600030101010101" pitchFamily="2" charset="-122"/>
              </a:endParaRPr>
            </a:p>
          </p:txBody>
        </p:sp>
        <p:sp>
          <p:nvSpPr>
            <p:cNvPr id="134151" name="Rectangle 6"/>
            <p:cNvSpPr>
              <a:spLocks noChangeArrowheads="1"/>
            </p:cNvSpPr>
            <p:nvPr/>
          </p:nvSpPr>
          <p:spPr bwMode="auto">
            <a:xfrm>
              <a:off x="1008" y="2164"/>
              <a:ext cx="1344" cy="66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990033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600">
                  <a:solidFill>
                    <a:srgbClr val="80000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solidFill>
                  <a:schemeClr val="tx1"/>
                </a:solidFill>
              </a:endParaRPr>
            </a:p>
          </p:txBody>
        </p:sp>
        <p:sp>
          <p:nvSpPr>
            <p:cNvPr id="134152" name="Line 7"/>
            <p:cNvSpPr>
              <a:spLocks noChangeShapeType="1"/>
            </p:cNvSpPr>
            <p:nvPr/>
          </p:nvSpPr>
          <p:spPr bwMode="auto">
            <a:xfrm>
              <a:off x="1008" y="1920"/>
              <a:ext cx="1344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34153" name="Line 8"/>
            <p:cNvSpPr>
              <a:spLocks noChangeShapeType="1"/>
            </p:cNvSpPr>
            <p:nvPr/>
          </p:nvSpPr>
          <p:spPr bwMode="auto">
            <a:xfrm>
              <a:off x="1008" y="2160"/>
              <a:ext cx="1344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34154" name="Line 9"/>
            <p:cNvSpPr>
              <a:spLocks noChangeShapeType="1"/>
            </p:cNvSpPr>
            <p:nvPr/>
          </p:nvSpPr>
          <p:spPr bwMode="auto">
            <a:xfrm>
              <a:off x="1008" y="2400"/>
              <a:ext cx="1344" cy="0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34155" name="Text Box 10"/>
            <p:cNvSpPr txBox="1">
              <a:spLocks noChangeArrowheads="1"/>
            </p:cNvSpPr>
            <p:nvPr/>
          </p:nvSpPr>
          <p:spPr bwMode="auto">
            <a:xfrm>
              <a:off x="1776" y="1968"/>
              <a:ext cx="620" cy="1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990033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600">
                  <a:solidFill>
                    <a:srgbClr val="80000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GB" altLang="zh-CN" sz="1600">
                  <a:solidFill>
                    <a:srgbClr val="00279F"/>
                  </a:solidFill>
                  <a:latin typeface="Times New Roman" panose="02020603050405020304" pitchFamily="18" charset="0"/>
                  <a:ea typeface="SimSun" panose="02010600030101010101" pitchFamily="2" charset="-122"/>
                </a:rPr>
                <a:t>City</a:t>
              </a:r>
            </a:p>
          </p:txBody>
        </p:sp>
        <p:sp>
          <p:nvSpPr>
            <p:cNvPr id="134156" name="Text Box 11"/>
            <p:cNvSpPr txBox="1">
              <a:spLocks noChangeArrowheads="1"/>
            </p:cNvSpPr>
            <p:nvPr/>
          </p:nvSpPr>
          <p:spPr bwMode="auto">
            <a:xfrm>
              <a:off x="1728" y="2160"/>
              <a:ext cx="514" cy="1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990033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600">
                  <a:solidFill>
                    <a:srgbClr val="80000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GB" altLang="zh-CN" sz="1600">
                  <a:solidFill>
                    <a:srgbClr val="00279F"/>
                  </a:solidFill>
                  <a:latin typeface="Times New Roman" panose="02020603050405020304" pitchFamily="18" charset="0"/>
                  <a:ea typeface="SimSun" panose="02010600030101010101" pitchFamily="2" charset="-122"/>
                </a:rPr>
                <a:t>London</a:t>
              </a:r>
            </a:p>
          </p:txBody>
        </p:sp>
        <p:sp>
          <p:nvSpPr>
            <p:cNvPr id="134157" name="Text Box 12"/>
            <p:cNvSpPr txBox="1">
              <a:spLocks noChangeArrowheads="1"/>
            </p:cNvSpPr>
            <p:nvPr/>
          </p:nvSpPr>
          <p:spPr bwMode="auto">
            <a:xfrm>
              <a:off x="1776" y="2400"/>
              <a:ext cx="720" cy="1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990033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600">
                  <a:solidFill>
                    <a:srgbClr val="80000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GB" sz="1600">
                  <a:solidFill>
                    <a:srgbClr val="00279F"/>
                  </a:solidFill>
                  <a:latin typeface="Times New Roman" panose="02020603050405020304" pitchFamily="18" charset="0"/>
                  <a:ea typeface="SimSun" panose="02010600030101010101" pitchFamily="2" charset="-122"/>
                </a:rPr>
                <a:t>   </a:t>
              </a:r>
            </a:p>
          </p:txBody>
        </p:sp>
        <p:sp>
          <p:nvSpPr>
            <p:cNvPr id="134158" name="Text Box 13"/>
            <p:cNvSpPr txBox="1">
              <a:spLocks noChangeArrowheads="1"/>
            </p:cNvSpPr>
            <p:nvPr/>
          </p:nvSpPr>
          <p:spPr bwMode="auto">
            <a:xfrm>
              <a:off x="1776" y="2400"/>
              <a:ext cx="528" cy="1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990033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600">
                  <a:solidFill>
                    <a:srgbClr val="80000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GB" altLang="zh-CN" sz="1600">
                  <a:solidFill>
                    <a:srgbClr val="00279F"/>
                  </a:solidFill>
                  <a:latin typeface="Times New Roman" panose="02020603050405020304" pitchFamily="18" charset="0"/>
                  <a:ea typeface="SimSun" panose="02010600030101010101" pitchFamily="2" charset="-122"/>
                </a:rPr>
                <a:t>Paris</a:t>
              </a:r>
            </a:p>
          </p:txBody>
        </p:sp>
        <p:sp>
          <p:nvSpPr>
            <p:cNvPr id="134159" name="Line 14"/>
            <p:cNvSpPr>
              <a:spLocks noChangeShapeType="1"/>
            </p:cNvSpPr>
            <p:nvPr/>
          </p:nvSpPr>
          <p:spPr bwMode="auto">
            <a:xfrm>
              <a:off x="1680" y="1920"/>
              <a:ext cx="0" cy="912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34160" name="Text Box 15"/>
            <p:cNvSpPr txBox="1">
              <a:spLocks noChangeArrowheads="1"/>
            </p:cNvSpPr>
            <p:nvPr/>
          </p:nvSpPr>
          <p:spPr bwMode="auto">
            <a:xfrm>
              <a:off x="1056" y="1968"/>
              <a:ext cx="634" cy="1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990033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600">
                  <a:solidFill>
                    <a:srgbClr val="80000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GB" altLang="zh-CN" sz="1600">
                  <a:solidFill>
                    <a:srgbClr val="00279F"/>
                  </a:solidFill>
                  <a:latin typeface="Times New Roman" panose="02020603050405020304" pitchFamily="18" charset="0"/>
                  <a:ea typeface="SimSun" panose="02010600030101010101" pitchFamily="2" charset="-122"/>
                </a:rPr>
                <a:t>Supplier#</a:t>
              </a:r>
            </a:p>
          </p:txBody>
        </p:sp>
        <p:sp>
          <p:nvSpPr>
            <p:cNvPr id="134161" name="Text Box 16"/>
            <p:cNvSpPr txBox="1">
              <a:spLocks noChangeArrowheads="1"/>
            </p:cNvSpPr>
            <p:nvPr/>
          </p:nvSpPr>
          <p:spPr bwMode="auto">
            <a:xfrm>
              <a:off x="1248" y="2160"/>
              <a:ext cx="251" cy="1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990033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600">
                  <a:solidFill>
                    <a:srgbClr val="80000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GB" altLang="zh-CN" sz="1600">
                  <a:solidFill>
                    <a:srgbClr val="00279F"/>
                  </a:solidFill>
                  <a:latin typeface="Times New Roman" panose="02020603050405020304" pitchFamily="18" charset="0"/>
                  <a:ea typeface="SimSun" panose="02010600030101010101" pitchFamily="2" charset="-122"/>
                </a:rPr>
                <a:t>S1</a:t>
              </a:r>
            </a:p>
          </p:txBody>
        </p:sp>
        <p:sp>
          <p:nvSpPr>
            <p:cNvPr id="134162" name="Text Box 17"/>
            <p:cNvSpPr txBox="1">
              <a:spLocks noChangeArrowheads="1"/>
            </p:cNvSpPr>
            <p:nvPr/>
          </p:nvSpPr>
          <p:spPr bwMode="auto">
            <a:xfrm>
              <a:off x="1248" y="2400"/>
              <a:ext cx="251" cy="1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990033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600">
                  <a:solidFill>
                    <a:srgbClr val="80000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GB" altLang="zh-CN" sz="1600">
                  <a:solidFill>
                    <a:srgbClr val="00279F"/>
                  </a:solidFill>
                  <a:latin typeface="Times New Roman" panose="02020603050405020304" pitchFamily="18" charset="0"/>
                  <a:ea typeface="SimSun" panose="02010600030101010101" pitchFamily="2" charset="-122"/>
                </a:rPr>
                <a:t>S2</a:t>
              </a:r>
            </a:p>
          </p:txBody>
        </p:sp>
        <p:sp>
          <p:nvSpPr>
            <p:cNvPr id="134163" name="Line 18"/>
            <p:cNvSpPr>
              <a:spLocks noChangeShapeType="1"/>
            </p:cNvSpPr>
            <p:nvPr/>
          </p:nvSpPr>
          <p:spPr bwMode="auto">
            <a:xfrm>
              <a:off x="1008" y="2832"/>
              <a:ext cx="1344" cy="0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34164" name="Line 19"/>
            <p:cNvSpPr>
              <a:spLocks noChangeShapeType="1"/>
            </p:cNvSpPr>
            <p:nvPr/>
          </p:nvSpPr>
          <p:spPr bwMode="auto">
            <a:xfrm>
              <a:off x="1008" y="2592"/>
              <a:ext cx="1344" cy="0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34165" name="Text Box 20"/>
            <p:cNvSpPr txBox="1">
              <a:spLocks noChangeArrowheads="1"/>
            </p:cNvSpPr>
            <p:nvPr/>
          </p:nvSpPr>
          <p:spPr bwMode="auto">
            <a:xfrm>
              <a:off x="1248" y="2640"/>
              <a:ext cx="251" cy="1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990033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600">
                  <a:solidFill>
                    <a:srgbClr val="80000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GB" altLang="zh-CN" sz="1600">
                  <a:solidFill>
                    <a:srgbClr val="00279F"/>
                  </a:solidFill>
                  <a:latin typeface="Times New Roman" panose="02020603050405020304" pitchFamily="18" charset="0"/>
                  <a:ea typeface="SimSun" panose="02010600030101010101" pitchFamily="2" charset="-122"/>
                </a:rPr>
                <a:t>S3</a:t>
              </a:r>
            </a:p>
          </p:txBody>
        </p:sp>
        <p:sp>
          <p:nvSpPr>
            <p:cNvPr id="134166" name="Text Box 21"/>
            <p:cNvSpPr txBox="1">
              <a:spLocks noChangeArrowheads="1"/>
            </p:cNvSpPr>
            <p:nvPr/>
          </p:nvSpPr>
          <p:spPr bwMode="auto">
            <a:xfrm>
              <a:off x="1728" y="2640"/>
              <a:ext cx="514" cy="1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990033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600">
                  <a:solidFill>
                    <a:srgbClr val="80000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GB" altLang="zh-CN" sz="1600">
                  <a:solidFill>
                    <a:srgbClr val="00279F"/>
                  </a:solidFill>
                  <a:latin typeface="Times New Roman" panose="02020603050405020304" pitchFamily="18" charset="0"/>
                  <a:ea typeface="SimSun" panose="02010600030101010101" pitchFamily="2" charset="-122"/>
                </a:rPr>
                <a:t>London</a:t>
              </a:r>
            </a:p>
          </p:txBody>
        </p:sp>
        <p:sp>
          <p:nvSpPr>
            <p:cNvPr id="134167" name="Rectangle 22"/>
            <p:cNvSpPr>
              <a:spLocks noChangeArrowheads="1"/>
            </p:cNvSpPr>
            <p:nvPr/>
          </p:nvSpPr>
          <p:spPr bwMode="auto">
            <a:xfrm>
              <a:off x="816" y="1680"/>
              <a:ext cx="1886" cy="1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990033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600">
                  <a:solidFill>
                    <a:srgbClr val="80000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GB" altLang="zh-CN" sz="1600">
                  <a:solidFill>
                    <a:schemeClr val="hlink"/>
                  </a:solidFill>
                  <a:latin typeface="Times New Roman" panose="02020603050405020304" pitchFamily="18" charset="0"/>
                  <a:ea typeface="SimSun" panose="02010600030101010101" pitchFamily="2" charset="-122"/>
                </a:rPr>
                <a:t>Three:</a:t>
              </a:r>
              <a:r>
                <a:rPr lang="en-GB" altLang="zh-CN" sz="1600">
                  <a:solidFill>
                    <a:srgbClr val="00279F"/>
                  </a:solidFill>
                  <a:latin typeface="Times New Roman" panose="02020603050405020304" pitchFamily="18" charset="0"/>
                  <a:ea typeface="SimSun" panose="02010600030101010101" pitchFamily="2" charset="-122"/>
                </a:rPr>
                <a:t> Primary Key (Supplier#)</a:t>
              </a:r>
            </a:p>
          </p:txBody>
        </p:sp>
        <p:sp>
          <p:nvSpPr>
            <p:cNvPr id="134168" name="Rectangle 23"/>
            <p:cNvSpPr>
              <a:spLocks noChangeArrowheads="1"/>
            </p:cNvSpPr>
            <p:nvPr/>
          </p:nvSpPr>
          <p:spPr bwMode="auto">
            <a:xfrm>
              <a:off x="3696" y="2064"/>
              <a:ext cx="1344" cy="240"/>
            </a:xfrm>
            <a:prstGeom prst="rect">
              <a:avLst/>
            </a:prstGeom>
            <a:solidFill>
              <a:srgbClr val="DBFFB8"/>
            </a:solidFill>
            <a:ln w="12700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990033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600">
                  <a:solidFill>
                    <a:srgbClr val="80000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600">
                <a:solidFill>
                  <a:srgbClr val="00279F"/>
                </a:solidFill>
                <a:latin typeface="Times New Roman" panose="02020603050405020304" pitchFamily="18" charset="0"/>
                <a:ea typeface="SimSun" panose="02010600030101010101" pitchFamily="2" charset="-122"/>
              </a:endParaRPr>
            </a:p>
          </p:txBody>
        </p:sp>
        <p:sp>
          <p:nvSpPr>
            <p:cNvPr id="134169" name="Rectangle 24"/>
            <p:cNvSpPr>
              <a:spLocks noChangeArrowheads="1"/>
            </p:cNvSpPr>
            <p:nvPr/>
          </p:nvSpPr>
          <p:spPr bwMode="auto">
            <a:xfrm>
              <a:off x="3696" y="2308"/>
              <a:ext cx="1344" cy="42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990033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600">
                  <a:solidFill>
                    <a:srgbClr val="80000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solidFill>
                  <a:schemeClr val="tx1"/>
                </a:solidFill>
              </a:endParaRPr>
            </a:p>
          </p:txBody>
        </p:sp>
        <p:sp>
          <p:nvSpPr>
            <p:cNvPr id="134170" name="Line 25"/>
            <p:cNvSpPr>
              <a:spLocks noChangeShapeType="1"/>
            </p:cNvSpPr>
            <p:nvPr/>
          </p:nvSpPr>
          <p:spPr bwMode="auto">
            <a:xfrm>
              <a:off x="3696" y="2064"/>
              <a:ext cx="1344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34171" name="Line 26"/>
            <p:cNvSpPr>
              <a:spLocks noChangeShapeType="1"/>
            </p:cNvSpPr>
            <p:nvPr/>
          </p:nvSpPr>
          <p:spPr bwMode="auto">
            <a:xfrm>
              <a:off x="3696" y="2304"/>
              <a:ext cx="1344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34172" name="Line 27"/>
            <p:cNvSpPr>
              <a:spLocks noChangeShapeType="1"/>
            </p:cNvSpPr>
            <p:nvPr/>
          </p:nvSpPr>
          <p:spPr bwMode="auto">
            <a:xfrm>
              <a:off x="3696" y="2544"/>
              <a:ext cx="1344" cy="0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34173" name="Text Box 28"/>
            <p:cNvSpPr txBox="1">
              <a:spLocks noChangeArrowheads="1"/>
            </p:cNvSpPr>
            <p:nvPr/>
          </p:nvSpPr>
          <p:spPr bwMode="auto">
            <a:xfrm>
              <a:off x="4464" y="2112"/>
              <a:ext cx="620" cy="1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990033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600">
                  <a:solidFill>
                    <a:srgbClr val="80000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GB" altLang="zh-CN" sz="1600">
                  <a:solidFill>
                    <a:srgbClr val="00279F"/>
                  </a:solidFill>
                  <a:latin typeface="Times New Roman" panose="02020603050405020304" pitchFamily="18" charset="0"/>
                  <a:ea typeface="SimSun" panose="02010600030101010101" pitchFamily="2" charset="-122"/>
                </a:rPr>
                <a:t>Status</a:t>
              </a:r>
            </a:p>
          </p:txBody>
        </p:sp>
        <p:sp>
          <p:nvSpPr>
            <p:cNvPr id="134174" name="Text Box 29"/>
            <p:cNvSpPr txBox="1">
              <a:spLocks noChangeArrowheads="1"/>
            </p:cNvSpPr>
            <p:nvPr/>
          </p:nvSpPr>
          <p:spPr bwMode="auto">
            <a:xfrm>
              <a:off x="4512" y="2304"/>
              <a:ext cx="244" cy="1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990033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600">
                  <a:solidFill>
                    <a:srgbClr val="80000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GB" sz="1600">
                  <a:solidFill>
                    <a:srgbClr val="00279F"/>
                  </a:solidFill>
                  <a:latin typeface="Times New Roman" panose="02020603050405020304" pitchFamily="18" charset="0"/>
                  <a:ea typeface="SimSun" panose="02010600030101010101" pitchFamily="2" charset="-122"/>
                </a:rPr>
                <a:t>20</a:t>
              </a:r>
            </a:p>
          </p:txBody>
        </p:sp>
        <p:sp>
          <p:nvSpPr>
            <p:cNvPr id="134175" name="Text Box 30"/>
            <p:cNvSpPr txBox="1">
              <a:spLocks noChangeArrowheads="1"/>
            </p:cNvSpPr>
            <p:nvPr/>
          </p:nvSpPr>
          <p:spPr bwMode="auto">
            <a:xfrm>
              <a:off x="4464" y="2544"/>
              <a:ext cx="720" cy="1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990033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600">
                  <a:solidFill>
                    <a:srgbClr val="80000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GB" sz="1600">
                  <a:solidFill>
                    <a:srgbClr val="00279F"/>
                  </a:solidFill>
                  <a:latin typeface="Times New Roman" panose="02020603050405020304" pitchFamily="18" charset="0"/>
                  <a:ea typeface="SimSun" panose="02010600030101010101" pitchFamily="2" charset="-122"/>
                </a:rPr>
                <a:t>   </a:t>
              </a:r>
            </a:p>
          </p:txBody>
        </p:sp>
        <p:sp>
          <p:nvSpPr>
            <p:cNvPr id="134176" name="Text Box 31"/>
            <p:cNvSpPr txBox="1">
              <a:spLocks noChangeArrowheads="1"/>
            </p:cNvSpPr>
            <p:nvPr/>
          </p:nvSpPr>
          <p:spPr bwMode="auto">
            <a:xfrm>
              <a:off x="4512" y="2544"/>
              <a:ext cx="528" cy="1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990033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600">
                  <a:solidFill>
                    <a:srgbClr val="80000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GB" sz="1600">
                  <a:solidFill>
                    <a:srgbClr val="00279F"/>
                  </a:solidFill>
                  <a:latin typeface="Times New Roman" panose="02020603050405020304" pitchFamily="18" charset="0"/>
                  <a:ea typeface="SimSun" panose="02010600030101010101" pitchFamily="2" charset="-122"/>
                </a:rPr>
                <a:t>10</a:t>
              </a:r>
            </a:p>
          </p:txBody>
        </p:sp>
        <p:sp>
          <p:nvSpPr>
            <p:cNvPr id="134177" name="Line 32"/>
            <p:cNvSpPr>
              <a:spLocks noChangeShapeType="1"/>
            </p:cNvSpPr>
            <p:nvPr/>
          </p:nvSpPr>
          <p:spPr bwMode="auto">
            <a:xfrm>
              <a:off x="4368" y="2064"/>
              <a:ext cx="0" cy="672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34178" name="Text Box 33"/>
            <p:cNvSpPr txBox="1">
              <a:spLocks noChangeArrowheads="1"/>
            </p:cNvSpPr>
            <p:nvPr/>
          </p:nvSpPr>
          <p:spPr bwMode="auto">
            <a:xfrm>
              <a:off x="3840" y="2112"/>
              <a:ext cx="634" cy="1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990033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600">
                  <a:solidFill>
                    <a:srgbClr val="80000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GB" altLang="zh-CN" sz="1600">
                  <a:solidFill>
                    <a:srgbClr val="00279F"/>
                  </a:solidFill>
                  <a:latin typeface="Times New Roman" panose="02020603050405020304" pitchFamily="18" charset="0"/>
                  <a:ea typeface="SimSun" panose="02010600030101010101" pitchFamily="2" charset="-122"/>
                </a:rPr>
                <a:t>City</a:t>
              </a:r>
            </a:p>
          </p:txBody>
        </p:sp>
        <p:sp>
          <p:nvSpPr>
            <p:cNvPr id="134179" name="Text Box 34"/>
            <p:cNvSpPr txBox="1">
              <a:spLocks noChangeArrowheads="1"/>
            </p:cNvSpPr>
            <p:nvPr/>
          </p:nvSpPr>
          <p:spPr bwMode="auto">
            <a:xfrm>
              <a:off x="3792" y="2304"/>
              <a:ext cx="576" cy="1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990033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600">
                  <a:solidFill>
                    <a:srgbClr val="80000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GB" altLang="zh-CN" sz="1600">
                  <a:solidFill>
                    <a:srgbClr val="00279F"/>
                  </a:solidFill>
                  <a:latin typeface="Times New Roman" panose="02020603050405020304" pitchFamily="18" charset="0"/>
                  <a:ea typeface="SimSun" panose="02010600030101010101" pitchFamily="2" charset="-122"/>
                </a:rPr>
                <a:t>London</a:t>
              </a:r>
            </a:p>
          </p:txBody>
        </p:sp>
        <p:sp>
          <p:nvSpPr>
            <p:cNvPr id="134180" name="Text Box 35"/>
            <p:cNvSpPr txBox="1">
              <a:spLocks noChangeArrowheads="1"/>
            </p:cNvSpPr>
            <p:nvPr/>
          </p:nvSpPr>
          <p:spPr bwMode="auto">
            <a:xfrm>
              <a:off x="3888" y="2544"/>
              <a:ext cx="373" cy="1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990033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600">
                  <a:solidFill>
                    <a:srgbClr val="80000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GB" altLang="zh-CN" sz="1600">
                  <a:solidFill>
                    <a:srgbClr val="00279F"/>
                  </a:solidFill>
                  <a:latin typeface="Times New Roman" panose="02020603050405020304" pitchFamily="18" charset="0"/>
                  <a:ea typeface="SimSun" panose="02010600030101010101" pitchFamily="2" charset="-122"/>
                </a:rPr>
                <a:t>Paris</a:t>
              </a:r>
            </a:p>
          </p:txBody>
        </p:sp>
        <p:sp>
          <p:nvSpPr>
            <p:cNvPr id="134181" name="Line 36"/>
            <p:cNvSpPr>
              <a:spLocks noChangeShapeType="1"/>
            </p:cNvSpPr>
            <p:nvPr/>
          </p:nvSpPr>
          <p:spPr bwMode="auto">
            <a:xfrm>
              <a:off x="3696" y="2736"/>
              <a:ext cx="1344" cy="0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34182" name="Rectangle 37"/>
            <p:cNvSpPr>
              <a:spLocks noChangeArrowheads="1"/>
            </p:cNvSpPr>
            <p:nvPr/>
          </p:nvSpPr>
          <p:spPr bwMode="auto">
            <a:xfrm>
              <a:off x="3600" y="1824"/>
              <a:ext cx="1530" cy="1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990033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600">
                  <a:solidFill>
                    <a:srgbClr val="80000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GB" altLang="zh-CN" sz="1600">
                  <a:solidFill>
                    <a:schemeClr val="hlink"/>
                  </a:solidFill>
                  <a:latin typeface="Times New Roman" panose="02020603050405020304" pitchFamily="18" charset="0"/>
                  <a:ea typeface="SimSun" panose="02010600030101010101" pitchFamily="2" charset="-122"/>
                </a:rPr>
                <a:t>Four:</a:t>
              </a:r>
              <a:r>
                <a:rPr lang="en-GB" altLang="zh-CN" sz="1600">
                  <a:solidFill>
                    <a:srgbClr val="00279F"/>
                  </a:solidFill>
                  <a:latin typeface="Times New Roman" panose="02020603050405020304" pitchFamily="18" charset="0"/>
                  <a:ea typeface="SimSun" panose="02010600030101010101" pitchFamily="2" charset="-122"/>
                </a:rPr>
                <a:t> Primary Key (City)</a:t>
              </a:r>
            </a:p>
          </p:txBody>
        </p:sp>
      </p:grpSp>
      <p:sp>
        <p:nvSpPr>
          <p:cNvPr id="151590" name="Rectangle 38"/>
          <p:cNvSpPr>
            <a:spLocks noChangeArrowheads="1"/>
          </p:cNvSpPr>
          <p:nvPr/>
        </p:nvSpPr>
        <p:spPr bwMode="auto">
          <a:xfrm>
            <a:off x="457200" y="4800600"/>
            <a:ext cx="8229600" cy="182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 algn="just">
              <a:spcBef>
                <a:spcPct val="20000"/>
              </a:spcBef>
              <a:buClr>
                <a:srgbClr val="FF6600"/>
              </a:buClr>
              <a:buFont typeface="Wingdings" pitchFamily="2" charset="2"/>
              <a:buChar char="§"/>
              <a:defRPr/>
            </a:pPr>
            <a:r>
              <a:rPr kumimoji="1" lang="en-US" altLang="zh-CN" sz="28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Higher Normal Forms (e.g. 4NF and 5NF) do exist, but they are mainly of interest in academic societies rather than in the practical applications of database design.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smtClean="0">
                <a:solidFill>
                  <a:srgbClr val="990033"/>
                </a:solidFill>
              </a:rPr>
              <a:t>Slide 10- </a:t>
            </a:r>
            <a:fld id="{767602CC-8EAB-4B30-B57B-C6F0712117F1}" type="slidenum">
              <a:rPr lang="en-US" altLang="en-US" sz="1400" smtClean="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65</a:t>
            </a:fld>
            <a:endParaRPr lang="en-CA" altLang="en-US" sz="1400" smtClean="0">
              <a:solidFill>
                <a:srgbClr val="990033"/>
              </a:solidFill>
            </a:endParaRPr>
          </a:p>
        </p:txBody>
      </p:sp>
      <p:sp>
        <p:nvSpPr>
          <p:cNvPr id="1361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Normal Forms Defined Informally	</a:t>
            </a:r>
          </a:p>
        </p:txBody>
      </p:sp>
      <p:sp>
        <p:nvSpPr>
          <p:cNvPr id="13619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1</a:t>
            </a:r>
            <a:r>
              <a:rPr lang="en-US" altLang="en-US" baseline="30000" smtClean="0"/>
              <a:t>st</a:t>
            </a:r>
            <a:r>
              <a:rPr lang="en-US" altLang="en-US" smtClean="0"/>
              <a:t> normal form</a:t>
            </a:r>
          </a:p>
          <a:p>
            <a:pPr lvl="1" eaLnBrk="1" hangingPunct="1"/>
            <a:r>
              <a:rPr lang="en-US" altLang="en-US" smtClean="0"/>
              <a:t>All attributes depend on </a:t>
            </a:r>
            <a:r>
              <a:rPr lang="en-US" altLang="en-US" b="1" smtClean="0"/>
              <a:t>the key</a:t>
            </a:r>
          </a:p>
          <a:p>
            <a:pPr eaLnBrk="1" hangingPunct="1"/>
            <a:r>
              <a:rPr lang="en-US" altLang="en-US" smtClean="0"/>
              <a:t>2</a:t>
            </a:r>
            <a:r>
              <a:rPr lang="en-US" altLang="en-US" baseline="30000" smtClean="0"/>
              <a:t>nd</a:t>
            </a:r>
            <a:r>
              <a:rPr lang="en-US" altLang="en-US" smtClean="0"/>
              <a:t> normal form</a:t>
            </a:r>
          </a:p>
          <a:p>
            <a:pPr lvl="1" eaLnBrk="1" hangingPunct="1"/>
            <a:r>
              <a:rPr lang="en-US" altLang="en-US" smtClean="0"/>
              <a:t>All attributes depend on </a:t>
            </a:r>
            <a:r>
              <a:rPr lang="en-US" altLang="en-US" b="1" smtClean="0"/>
              <a:t>the whole key</a:t>
            </a:r>
          </a:p>
          <a:p>
            <a:pPr eaLnBrk="1" hangingPunct="1"/>
            <a:r>
              <a:rPr lang="en-US" altLang="en-US" smtClean="0"/>
              <a:t>3</a:t>
            </a:r>
            <a:r>
              <a:rPr lang="en-US" altLang="en-US" baseline="30000" smtClean="0"/>
              <a:t>rd</a:t>
            </a:r>
            <a:r>
              <a:rPr lang="en-US" altLang="en-US" smtClean="0"/>
              <a:t> normal form</a:t>
            </a:r>
          </a:p>
          <a:p>
            <a:pPr lvl="1" eaLnBrk="1" hangingPunct="1"/>
            <a:r>
              <a:rPr lang="en-US" altLang="en-US" smtClean="0"/>
              <a:t>All attributes depend on </a:t>
            </a:r>
            <a:r>
              <a:rPr lang="en-US" altLang="en-US" b="1" smtClean="0"/>
              <a:t>nothing but the key</a:t>
            </a:r>
            <a:endParaRPr lang="en-US" altLang="en-US" smtClean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2"/>
          <p:cNvSpPr>
            <a:spLocks noChangeArrowheads="1"/>
          </p:cNvSpPr>
          <p:nvPr/>
        </p:nvSpPr>
        <p:spPr bwMode="auto">
          <a:xfrm>
            <a:off x="509588" y="2173288"/>
            <a:ext cx="2484437" cy="835025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2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en-US" sz="2400">
                <a:latin typeface="Times New Roman" panose="02020603050405020304" pitchFamily="18" charset="0"/>
              </a:rPr>
              <a:t>Unnormalised 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en-US" sz="2400">
                <a:solidFill>
                  <a:srgbClr val="0000FF"/>
                </a:solidFill>
                <a:latin typeface="Times New Roman" panose="02020603050405020304" pitchFamily="18" charset="0"/>
              </a:rPr>
              <a:t>(UDF)</a:t>
            </a:r>
            <a:endParaRPr lang="en-GB" altLang="en-US" sz="2400">
              <a:latin typeface="Times New Roman" panose="02020603050405020304" pitchFamily="18" charset="0"/>
            </a:endParaRP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498475" y="2252663"/>
            <a:ext cx="8359775" cy="1576387"/>
            <a:chOff x="1082" y="943"/>
            <a:chExt cx="4122" cy="678"/>
          </a:xfrm>
        </p:grpSpPr>
        <p:sp>
          <p:nvSpPr>
            <p:cNvPr id="138253" name="Rectangle 4"/>
            <p:cNvSpPr>
              <a:spLocks noChangeArrowheads="1"/>
            </p:cNvSpPr>
            <p:nvPr/>
          </p:nvSpPr>
          <p:spPr bwMode="auto">
            <a:xfrm>
              <a:off x="1082" y="1262"/>
              <a:ext cx="1225" cy="359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990033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600">
                  <a:solidFill>
                    <a:srgbClr val="80000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GB" altLang="en-US" sz="2400">
                  <a:latin typeface="Times New Roman" panose="02020603050405020304" pitchFamily="18" charset="0"/>
                </a:rPr>
                <a:t>First normal form</a:t>
              </a:r>
            </a:p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GB" altLang="en-US" sz="2400">
                  <a:solidFill>
                    <a:srgbClr val="0000FF"/>
                  </a:solidFill>
                  <a:latin typeface="Times New Roman" panose="02020603050405020304" pitchFamily="18" charset="0"/>
                </a:rPr>
                <a:t>(1NF)</a:t>
              </a:r>
              <a:endParaRPr lang="en-GB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38254" name="Oval 6"/>
            <p:cNvSpPr>
              <a:spLocks noChangeArrowheads="1"/>
            </p:cNvSpPr>
            <p:nvPr/>
          </p:nvSpPr>
          <p:spPr bwMode="auto">
            <a:xfrm>
              <a:off x="2821" y="943"/>
              <a:ext cx="2383" cy="418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990033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600">
                  <a:solidFill>
                    <a:srgbClr val="80000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GB" altLang="en-US" sz="1600">
                  <a:latin typeface="Times New Roman" panose="02020603050405020304" pitchFamily="18" charset="0"/>
                </a:rPr>
                <a:t>Remove </a:t>
              </a:r>
              <a:r>
                <a:rPr lang="en-GB" altLang="en-US" sz="1600">
                  <a:solidFill>
                    <a:srgbClr val="0000FF"/>
                  </a:solidFill>
                  <a:latin typeface="Times New Roman" panose="02020603050405020304" pitchFamily="18" charset="0"/>
                </a:rPr>
                <a:t>repeating groups</a:t>
              </a:r>
              <a:endParaRPr lang="en-GB" altLang="en-US" sz="1600">
                <a:latin typeface="Times New Roman" panose="02020603050405020304" pitchFamily="18" charset="0"/>
              </a:endParaRPr>
            </a:p>
          </p:txBody>
        </p:sp>
        <p:sp>
          <p:nvSpPr>
            <p:cNvPr id="11282" name="Line 7"/>
            <p:cNvSpPr>
              <a:spLocks noChangeShapeType="1"/>
            </p:cNvSpPr>
            <p:nvPr/>
          </p:nvSpPr>
          <p:spPr bwMode="auto">
            <a:xfrm>
              <a:off x="2312" y="1109"/>
              <a:ext cx="508" cy="56"/>
            </a:xfrm>
            <a:prstGeom prst="line">
              <a:avLst/>
            </a:prstGeom>
            <a:ln>
              <a:headEnd type="none" w="sm" len="sm"/>
              <a:tailEnd type="non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</p:grpSp>
      <p:grpSp>
        <p:nvGrpSpPr>
          <p:cNvPr id="3" name="Group 8"/>
          <p:cNvGrpSpPr>
            <a:grpSpLocks/>
          </p:cNvGrpSpPr>
          <p:nvPr/>
        </p:nvGrpSpPr>
        <p:grpSpPr bwMode="auto">
          <a:xfrm>
            <a:off x="482600" y="3108325"/>
            <a:ext cx="8399463" cy="1547813"/>
            <a:chOff x="1072" y="1476"/>
            <a:chExt cx="4142" cy="666"/>
          </a:xfrm>
        </p:grpSpPr>
        <p:sp>
          <p:nvSpPr>
            <p:cNvPr id="138250" name="Rectangle 9"/>
            <p:cNvSpPr>
              <a:spLocks noChangeArrowheads="1"/>
            </p:cNvSpPr>
            <p:nvPr/>
          </p:nvSpPr>
          <p:spPr bwMode="auto">
            <a:xfrm>
              <a:off x="1072" y="1783"/>
              <a:ext cx="1225" cy="359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990033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600">
                  <a:solidFill>
                    <a:srgbClr val="80000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GB" altLang="en-US" sz="2400">
                  <a:latin typeface="Times New Roman" panose="02020603050405020304" pitchFamily="18" charset="0"/>
                </a:rPr>
                <a:t>Second normal form</a:t>
              </a:r>
            </a:p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GB" altLang="en-US" sz="2400">
                  <a:solidFill>
                    <a:srgbClr val="0000FF"/>
                  </a:solidFill>
                  <a:latin typeface="Times New Roman" panose="02020603050405020304" pitchFamily="18" charset="0"/>
                </a:rPr>
                <a:t>(2NF)</a:t>
              </a:r>
              <a:endParaRPr lang="en-GB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38251" name="Oval 11"/>
            <p:cNvSpPr>
              <a:spLocks noChangeArrowheads="1"/>
            </p:cNvSpPr>
            <p:nvPr/>
          </p:nvSpPr>
          <p:spPr bwMode="auto">
            <a:xfrm>
              <a:off x="2831" y="1476"/>
              <a:ext cx="2383" cy="436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990033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600">
                  <a:solidFill>
                    <a:srgbClr val="80000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GB" altLang="en-US" sz="1600">
                  <a:latin typeface="Times New Roman" panose="02020603050405020304" pitchFamily="18" charset="0"/>
                </a:rPr>
                <a:t>Remove </a:t>
              </a:r>
              <a:r>
                <a:rPr lang="en-GB" altLang="en-US" sz="1600">
                  <a:solidFill>
                    <a:srgbClr val="0000FF"/>
                  </a:solidFill>
                  <a:latin typeface="Times New Roman" panose="02020603050405020304" pitchFamily="18" charset="0"/>
                </a:rPr>
                <a:t>partial dependencies</a:t>
              </a:r>
              <a:endParaRPr lang="en-GB" altLang="en-US" sz="1600">
                <a:latin typeface="Times New Roman" panose="02020603050405020304" pitchFamily="18" charset="0"/>
              </a:endParaRPr>
            </a:p>
          </p:txBody>
        </p:sp>
        <p:sp>
          <p:nvSpPr>
            <p:cNvPr id="11278" name="Line 12"/>
            <p:cNvSpPr>
              <a:spLocks noChangeShapeType="1"/>
            </p:cNvSpPr>
            <p:nvPr/>
          </p:nvSpPr>
          <p:spPr bwMode="auto">
            <a:xfrm>
              <a:off x="2326" y="1629"/>
              <a:ext cx="488" cy="61"/>
            </a:xfrm>
            <a:prstGeom prst="line">
              <a:avLst/>
            </a:prstGeom>
            <a:ln>
              <a:headEnd type="none" w="sm" len="sm"/>
              <a:tailEnd type="non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</p:grpSp>
      <p:grpSp>
        <p:nvGrpSpPr>
          <p:cNvPr id="4" name="Group 13"/>
          <p:cNvGrpSpPr>
            <a:grpSpLocks/>
          </p:cNvGrpSpPr>
          <p:nvPr/>
        </p:nvGrpSpPr>
        <p:grpSpPr bwMode="auto">
          <a:xfrm>
            <a:off x="457200" y="3962400"/>
            <a:ext cx="8382000" cy="1512888"/>
            <a:chOff x="1056" y="2007"/>
            <a:chExt cx="4133" cy="651"/>
          </a:xfrm>
        </p:grpSpPr>
        <p:sp>
          <p:nvSpPr>
            <p:cNvPr id="138247" name="Rectangle 14"/>
            <p:cNvSpPr>
              <a:spLocks noChangeArrowheads="1"/>
            </p:cNvSpPr>
            <p:nvPr/>
          </p:nvSpPr>
          <p:spPr bwMode="auto">
            <a:xfrm>
              <a:off x="1056" y="2299"/>
              <a:ext cx="1225" cy="359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990033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600">
                  <a:solidFill>
                    <a:srgbClr val="80000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GB" altLang="en-US" sz="2400">
                  <a:latin typeface="Times New Roman" panose="02020603050405020304" pitchFamily="18" charset="0"/>
                </a:rPr>
                <a:t>Third normal form</a:t>
              </a:r>
            </a:p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GB" altLang="en-US" sz="2400">
                  <a:solidFill>
                    <a:srgbClr val="0000FF"/>
                  </a:solidFill>
                  <a:latin typeface="Times New Roman" panose="02020603050405020304" pitchFamily="18" charset="0"/>
                </a:rPr>
                <a:t>(3NF)</a:t>
              </a:r>
              <a:endParaRPr lang="en-GB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38248" name="Oval 16"/>
            <p:cNvSpPr>
              <a:spLocks noChangeArrowheads="1"/>
            </p:cNvSpPr>
            <p:nvPr/>
          </p:nvSpPr>
          <p:spPr bwMode="auto">
            <a:xfrm>
              <a:off x="2806" y="2007"/>
              <a:ext cx="2383" cy="411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990033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600">
                  <a:solidFill>
                    <a:srgbClr val="80000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GB" altLang="en-US" sz="1600">
                  <a:latin typeface="Times New Roman" panose="02020603050405020304" pitchFamily="18" charset="0"/>
                </a:rPr>
                <a:t>Remove </a:t>
              </a:r>
              <a:r>
                <a:rPr lang="en-GB" altLang="en-US" sz="1600">
                  <a:solidFill>
                    <a:srgbClr val="0000FF"/>
                  </a:solidFill>
                  <a:latin typeface="Times New Roman" panose="02020603050405020304" pitchFamily="18" charset="0"/>
                </a:rPr>
                <a:t>transitive dependencies</a:t>
              </a:r>
              <a:endParaRPr lang="en-GB" altLang="en-US" sz="1600">
                <a:latin typeface="Times New Roman" panose="02020603050405020304" pitchFamily="18" charset="0"/>
              </a:endParaRPr>
            </a:p>
          </p:txBody>
        </p:sp>
        <p:sp>
          <p:nvSpPr>
            <p:cNvPr id="11274" name="Line 17"/>
            <p:cNvSpPr>
              <a:spLocks noChangeShapeType="1"/>
            </p:cNvSpPr>
            <p:nvPr/>
          </p:nvSpPr>
          <p:spPr bwMode="auto">
            <a:xfrm>
              <a:off x="2322" y="2152"/>
              <a:ext cx="483" cy="61"/>
            </a:xfrm>
            <a:prstGeom prst="line">
              <a:avLst/>
            </a:prstGeom>
            <a:ln>
              <a:headEnd type="none" w="sm" len="sm"/>
              <a:tailEnd type="non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</p:grpSp>
      <p:sp>
        <p:nvSpPr>
          <p:cNvPr id="528402" name="Rectangle 18"/>
          <p:cNvSpPr>
            <a:spLocks noChangeArrowheads="1"/>
          </p:cNvSpPr>
          <p:nvPr/>
        </p:nvSpPr>
        <p:spPr bwMode="auto">
          <a:xfrm>
            <a:off x="0" y="0"/>
            <a:ext cx="9144000" cy="1104900"/>
          </a:xfrm>
          <a:prstGeom prst="rect">
            <a:avLst/>
          </a:prstGeom>
          <a:noFill/>
          <a:ln w="50800">
            <a:noFill/>
            <a:miter lim="800000"/>
            <a:headEnd/>
            <a:tailEnd/>
          </a:ln>
          <a:effectLst/>
        </p:spPr>
        <p:txBody>
          <a:bodyPr lIns="90488" tIns="44450" rIns="90488" bIns="44450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AU" sz="4000" dirty="0">
                <a:solidFill>
                  <a:schemeClr val="accent4"/>
                </a:solidFill>
                <a:latin typeface="+mj-lt"/>
              </a:rPr>
              <a:t>Stages of Normalisation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22238"/>
            <a:ext cx="8001000" cy="1295400"/>
          </a:xfrm>
        </p:spPr>
        <p:txBody>
          <a:bodyPr/>
          <a:lstStyle/>
          <a:p>
            <a:r>
              <a:rPr lang="en-US" altLang="en-US" sz="4000" smtClean="0"/>
              <a:t>Example 2: University Database Table</a:t>
            </a:r>
          </a:p>
        </p:txBody>
      </p:sp>
      <p:graphicFrame>
        <p:nvGraphicFramePr>
          <p:cNvPr id="140291" name="Object 2"/>
          <p:cNvGraphicFramePr>
            <a:graphicFrameLocks noChangeAspect="1"/>
          </p:cNvGraphicFramePr>
          <p:nvPr/>
        </p:nvGraphicFramePr>
        <p:xfrm>
          <a:off x="417513" y="1600200"/>
          <a:ext cx="8386762" cy="2684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0292" name="Document" r:id="rId4" imgW="11801515" imgH="2606815" progId="Word.Document.8">
                  <p:embed/>
                </p:oleObj>
              </mc:Choice>
              <mc:Fallback>
                <p:oleObj name="Document" r:id="rId4" imgW="11801515" imgH="2606815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7513" y="1600200"/>
                        <a:ext cx="8386762" cy="2684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2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22238"/>
            <a:ext cx="8001000" cy="1295400"/>
          </a:xfrm>
        </p:spPr>
        <p:txBody>
          <a:bodyPr/>
          <a:lstStyle/>
          <a:p>
            <a:r>
              <a:rPr lang="en-US" altLang="en-US" sz="4000" smtClean="0"/>
              <a:t>Example 2: University Database Table</a:t>
            </a:r>
          </a:p>
        </p:txBody>
      </p:sp>
      <p:graphicFrame>
        <p:nvGraphicFramePr>
          <p:cNvPr id="142339" name="Object 2"/>
          <p:cNvGraphicFramePr>
            <a:graphicFrameLocks noChangeAspect="1"/>
          </p:cNvGraphicFramePr>
          <p:nvPr/>
        </p:nvGraphicFramePr>
        <p:xfrm>
          <a:off x="417513" y="1600200"/>
          <a:ext cx="8386762" cy="2684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2341" name="Document" r:id="rId4" imgW="11801515" imgH="2606815" progId="Word.Document.8">
                  <p:embed/>
                </p:oleObj>
              </mc:Choice>
              <mc:Fallback>
                <p:oleObj name="Document" r:id="rId4" imgW="11801515" imgH="2606815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7513" y="1600200"/>
                        <a:ext cx="8386762" cy="2684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2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2340" name="Text Box 5"/>
          <p:cNvSpPr txBox="1">
            <a:spLocks noChangeArrowheads="1"/>
          </p:cNvSpPr>
          <p:nvPr/>
        </p:nvSpPr>
        <p:spPr bwMode="auto">
          <a:xfrm>
            <a:off x="457200" y="3962400"/>
            <a:ext cx="8077200" cy="2443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>
                <a:solidFill>
                  <a:schemeClr val="tx1"/>
                </a:solidFill>
                <a:latin typeface="Times New Roman" panose="02020603050405020304" pitchFamily="18" charset="0"/>
              </a:rPr>
              <a:t>StdSSN </a:t>
            </a:r>
            <a:r>
              <a:rPr lang="en-US" altLang="en-US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en-US">
                <a:solidFill>
                  <a:schemeClr val="tx1"/>
                </a:solidFill>
                <a:latin typeface="Times New Roman" panose="02020603050405020304" pitchFamily="18" charset="0"/>
              </a:rPr>
              <a:t> StdCity, StdClass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>
                <a:solidFill>
                  <a:schemeClr val="tx1"/>
                </a:solidFill>
                <a:latin typeface="Times New Roman" panose="02020603050405020304" pitchFamily="18" charset="0"/>
              </a:rPr>
              <a:t>OfferNo </a:t>
            </a:r>
            <a:r>
              <a:rPr lang="en-US" altLang="en-US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en-US">
                <a:solidFill>
                  <a:schemeClr val="tx1"/>
                </a:solidFill>
                <a:latin typeface="Times New Roman" panose="02020603050405020304" pitchFamily="18" charset="0"/>
              </a:rPr>
              <a:t> OffTerm, OffYear, CourseNo, CrsDesc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>
                <a:solidFill>
                  <a:schemeClr val="tx1"/>
                </a:solidFill>
                <a:latin typeface="Times New Roman" panose="02020603050405020304" pitchFamily="18" charset="0"/>
              </a:rPr>
              <a:t>CourseNo </a:t>
            </a:r>
            <a:r>
              <a:rPr lang="en-US" altLang="en-US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en-US">
                <a:solidFill>
                  <a:schemeClr val="tx1"/>
                </a:solidFill>
                <a:latin typeface="Times New Roman" panose="02020603050405020304" pitchFamily="18" charset="0"/>
              </a:rPr>
              <a:t> CrsDesc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>
                <a:solidFill>
                  <a:schemeClr val="tx1"/>
                </a:solidFill>
                <a:latin typeface="Times New Roman" panose="02020603050405020304" pitchFamily="18" charset="0"/>
              </a:rPr>
              <a:t>StdSSN, OfferNo </a:t>
            </a:r>
            <a:r>
              <a:rPr lang="en-US" altLang="en-US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en-US">
                <a:solidFill>
                  <a:schemeClr val="tx1"/>
                </a:solidFill>
                <a:latin typeface="Times New Roman" panose="02020603050405020304" pitchFamily="18" charset="0"/>
              </a:rPr>
              <a:t> EnrGrade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8229600" cy="825500"/>
          </a:xfrm>
        </p:spPr>
        <p:txBody>
          <a:bodyPr/>
          <a:lstStyle/>
          <a:p>
            <a:r>
              <a:rPr lang="en-US" altLang="en-US" smtClean="0"/>
              <a:t>Problems</a:t>
            </a:r>
          </a:p>
        </p:txBody>
      </p:sp>
      <p:sp>
        <p:nvSpPr>
          <p:cNvPr id="144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01763"/>
            <a:ext cx="8229600" cy="41148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mtClean="0"/>
              <a:t>Anomalies: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400" smtClean="0"/>
              <a:t> - PK: combination of StdSSN and OfferNo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400" smtClean="0"/>
              <a:t> - Insert: cannot insert a new student without enrolling in an offering (OfferNo part of PK)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400" smtClean="0"/>
              <a:t> - Update: change a course description; change every enrollment of the course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400" smtClean="0"/>
              <a:t> - Delete: remove third row; lose information about course C3</a:t>
            </a:r>
          </a:p>
          <a:p>
            <a:pPr>
              <a:lnSpc>
                <a:spcPct val="90000"/>
              </a:lnSpc>
            </a:pPr>
            <a:r>
              <a:rPr lang="en-US" altLang="en-US" smtClean="0"/>
              <a:t>Table has obvious redundancies</a:t>
            </a:r>
          </a:p>
          <a:p>
            <a:pPr>
              <a:lnSpc>
                <a:spcPct val="90000"/>
              </a:lnSpc>
            </a:pPr>
            <a:r>
              <a:rPr lang="en-US" altLang="en-US" smtClean="0"/>
              <a:t>Easier to query: no joins</a:t>
            </a:r>
          </a:p>
          <a:p>
            <a:pPr>
              <a:lnSpc>
                <a:spcPct val="90000"/>
              </a:lnSpc>
            </a:pPr>
            <a:r>
              <a:rPr lang="en-US" altLang="en-US" smtClean="0"/>
              <a:t>More difficult to change: can work around problems (dummy PK) but tedious to do</a:t>
            </a:r>
          </a:p>
          <a:p>
            <a:pPr>
              <a:lnSpc>
                <a:spcPct val="90000"/>
              </a:lnSpc>
            </a:pPr>
            <a:endParaRPr lang="en-US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8915400" cy="1143000"/>
          </a:xfrm>
        </p:spPr>
        <p:txBody>
          <a:bodyPr/>
          <a:lstStyle/>
          <a:p>
            <a:r>
              <a:rPr lang="en-US" altLang="en-US" smtClean="0"/>
              <a:t>FD Diagrams and Lists</a:t>
            </a:r>
          </a:p>
        </p:txBody>
      </p:sp>
      <p:sp>
        <p:nvSpPr>
          <p:cNvPr id="146435" name="Text Box 3"/>
          <p:cNvSpPr txBox="1">
            <a:spLocks noChangeArrowheads="1"/>
          </p:cNvSpPr>
          <p:nvPr/>
        </p:nvSpPr>
        <p:spPr bwMode="auto">
          <a:xfrm>
            <a:off x="381000" y="5638800"/>
            <a:ext cx="8458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en-US" altLang="en-US" sz="2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146436" name="Object 2"/>
          <p:cNvGraphicFramePr>
            <a:graphicFrameLocks noChangeAspect="1"/>
          </p:cNvGraphicFramePr>
          <p:nvPr/>
        </p:nvGraphicFramePr>
        <p:xfrm>
          <a:off x="381000" y="1462088"/>
          <a:ext cx="8534400" cy="167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438" name="VISIO" r:id="rId4" imgW="5382260" imgH="1061720" progId="">
                  <p:embed/>
                </p:oleObj>
              </mc:Choice>
              <mc:Fallback>
                <p:oleObj name="VISIO" r:id="rId4" imgW="5382260" imgH="1061720" progId="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1462088"/>
                        <a:ext cx="8534400" cy="1679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2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6437" name="Text Box 5"/>
          <p:cNvSpPr txBox="1">
            <a:spLocks noChangeArrowheads="1"/>
          </p:cNvSpPr>
          <p:nvPr/>
        </p:nvSpPr>
        <p:spPr bwMode="auto">
          <a:xfrm>
            <a:off x="381000" y="3429000"/>
            <a:ext cx="8077200" cy="2443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>
                <a:solidFill>
                  <a:schemeClr val="tx1"/>
                </a:solidFill>
                <a:latin typeface="Times New Roman" panose="02020603050405020304" pitchFamily="18" charset="0"/>
              </a:rPr>
              <a:t>StdSSN </a:t>
            </a:r>
            <a:r>
              <a:rPr lang="en-US" altLang="en-US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en-US">
                <a:solidFill>
                  <a:schemeClr val="tx1"/>
                </a:solidFill>
                <a:latin typeface="Times New Roman" panose="02020603050405020304" pitchFamily="18" charset="0"/>
              </a:rPr>
              <a:t> StdCity, StdClass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>
                <a:solidFill>
                  <a:schemeClr val="tx1"/>
                </a:solidFill>
                <a:latin typeface="Times New Roman" panose="02020603050405020304" pitchFamily="18" charset="0"/>
              </a:rPr>
              <a:t>OfferNo </a:t>
            </a:r>
            <a:r>
              <a:rPr lang="en-US" altLang="en-US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en-US">
                <a:solidFill>
                  <a:schemeClr val="tx1"/>
                </a:solidFill>
                <a:latin typeface="Times New Roman" panose="02020603050405020304" pitchFamily="18" charset="0"/>
              </a:rPr>
              <a:t> OffTerm, OffYear, CourseNo, CrsDesc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>
                <a:solidFill>
                  <a:schemeClr val="tx1"/>
                </a:solidFill>
                <a:latin typeface="Times New Roman" panose="02020603050405020304" pitchFamily="18" charset="0"/>
              </a:rPr>
              <a:t>CourseNo </a:t>
            </a:r>
            <a:r>
              <a:rPr lang="en-US" altLang="en-US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en-US">
                <a:solidFill>
                  <a:schemeClr val="tx1"/>
                </a:solidFill>
                <a:latin typeface="Times New Roman" panose="02020603050405020304" pitchFamily="18" charset="0"/>
              </a:rPr>
              <a:t> CrsDesc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>
                <a:solidFill>
                  <a:schemeClr val="tx1"/>
                </a:solidFill>
                <a:latin typeface="Times New Roman" panose="02020603050405020304" pitchFamily="18" charset="0"/>
              </a:rPr>
              <a:t>StdSSN, OfferNo </a:t>
            </a:r>
            <a:r>
              <a:rPr lang="en-US" altLang="en-US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en-US">
                <a:solidFill>
                  <a:schemeClr val="tx1"/>
                </a:solidFill>
                <a:latin typeface="Times New Roman" panose="02020603050405020304" pitchFamily="18" charset="0"/>
              </a:rPr>
              <a:t> EnrGrade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8229600" cy="825500"/>
          </a:xfrm>
        </p:spPr>
        <p:txBody>
          <a:bodyPr/>
          <a:lstStyle/>
          <a:p>
            <a:r>
              <a:rPr lang="en-US" altLang="en-US" smtClean="0"/>
              <a:t>Normalization</a:t>
            </a:r>
          </a:p>
        </p:txBody>
      </p:sp>
      <p:sp>
        <p:nvSpPr>
          <p:cNvPr id="148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47800"/>
            <a:ext cx="8229600" cy="3276600"/>
          </a:xfrm>
        </p:spPr>
        <p:txBody>
          <a:bodyPr/>
          <a:lstStyle/>
          <a:p>
            <a:r>
              <a:rPr lang="en-US" altLang="en-US" smtClean="0"/>
              <a:t>Process of removing unwanted redundancies</a:t>
            </a:r>
          </a:p>
          <a:p>
            <a:endParaRPr lang="en-US" altLang="en-US" smtClean="0"/>
          </a:p>
          <a:p>
            <a:r>
              <a:rPr lang="en-US" altLang="en-US" smtClean="0"/>
              <a:t>Apply normal forms</a:t>
            </a:r>
          </a:p>
          <a:p>
            <a:pPr lvl="1"/>
            <a:endParaRPr lang="en-US" altLang="en-US" smtClean="0"/>
          </a:p>
          <a:p>
            <a:pPr lvl="1"/>
            <a:r>
              <a:rPr lang="en-US" altLang="en-US" smtClean="0"/>
              <a:t>Identify FDs</a:t>
            </a:r>
          </a:p>
          <a:p>
            <a:pPr lvl="1"/>
            <a:r>
              <a:rPr lang="en-US" altLang="en-US" smtClean="0"/>
              <a:t>Determine whether FDs meet normal form</a:t>
            </a:r>
          </a:p>
          <a:p>
            <a:pPr lvl="1"/>
            <a:r>
              <a:rPr lang="en-US" altLang="en-US" smtClean="0"/>
              <a:t>Split the table to meet the normal form if there is a violation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0"/>
            <a:ext cx="7543800" cy="1295400"/>
          </a:xfrm>
        </p:spPr>
        <p:txBody>
          <a:bodyPr/>
          <a:lstStyle/>
          <a:p>
            <a:r>
              <a:rPr lang="en-US" altLang="en-US" smtClean="0"/>
              <a:t>1NF</a:t>
            </a:r>
          </a:p>
        </p:txBody>
      </p:sp>
      <p:sp>
        <p:nvSpPr>
          <p:cNvPr id="150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1677988"/>
          </a:xfrm>
        </p:spPr>
        <p:txBody>
          <a:bodyPr/>
          <a:lstStyle/>
          <a:p>
            <a:endParaRPr lang="en-US" altLang="en-US" smtClean="0"/>
          </a:p>
          <a:p>
            <a:r>
              <a:rPr lang="en-US" altLang="en-US" smtClean="0"/>
              <a:t>No repeating groups: flat rows</a:t>
            </a:r>
          </a:p>
        </p:txBody>
      </p:sp>
      <p:graphicFrame>
        <p:nvGraphicFramePr>
          <p:cNvPr id="150532" name="Object 2"/>
          <p:cNvGraphicFramePr>
            <a:graphicFrameLocks noChangeAspect="1"/>
          </p:cNvGraphicFramePr>
          <p:nvPr/>
        </p:nvGraphicFramePr>
        <p:xfrm>
          <a:off x="225425" y="3727450"/>
          <a:ext cx="8524875" cy="2279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533" name="Document" r:id="rId4" imgW="8039153" imgH="1806723" progId="Word.Document.8">
                  <p:embed/>
                </p:oleObj>
              </mc:Choice>
              <mc:Fallback>
                <p:oleObj name="Document" r:id="rId4" imgW="8039153" imgH="1806723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5425" y="3727450"/>
                        <a:ext cx="8524875" cy="2279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2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22238"/>
            <a:ext cx="7543800" cy="1295400"/>
          </a:xfrm>
        </p:spPr>
        <p:txBody>
          <a:bodyPr/>
          <a:lstStyle/>
          <a:p>
            <a:r>
              <a:rPr lang="en-US" altLang="en-US" smtClean="0"/>
              <a:t>Combined Definition of 2NF/3NF</a:t>
            </a:r>
          </a:p>
        </p:txBody>
      </p:sp>
      <p:sp>
        <p:nvSpPr>
          <p:cNvPr id="152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1719263"/>
            <a:ext cx="8229600" cy="4411662"/>
          </a:xfrm>
        </p:spPr>
        <p:txBody>
          <a:bodyPr/>
          <a:lstStyle/>
          <a:p>
            <a:r>
              <a:rPr lang="en-US" altLang="en-US" smtClean="0"/>
              <a:t>Key column: candidate key or part of candidate key</a:t>
            </a:r>
          </a:p>
          <a:p>
            <a:r>
              <a:rPr lang="en-US" altLang="en-US" smtClean="0"/>
              <a:t>Analogy to the traditional justice oath</a:t>
            </a:r>
          </a:p>
          <a:p>
            <a:r>
              <a:rPr lang="en-US" altLang="en-US" smtClean="0"/>
              <a:t>Every non key depends on a key, the whole key, and nothing but the key</a:t>
            </a:r>
          </a:p>
          <a:p>
            <a:r>
              <a:rPr lang="en-US" altLang="en-US" smtClean="0"/>
              <a:t>Usually taught as separate definitions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-76200"/>
            <a:ext cx="7543800" cy="1295400"/>
          </a:xfrm>
        </p:spPr>
        <p:txBody>
          <a:bodyPr/>
          <a:lstStyle/>
          <a:p>
            <a:r>
              <a:rPr lang="en-US" altLang="en-US" smtClean="0"/>
              <a:t>2NF</a:t>
            </a:r>
          </a:p>
        </p:txBody>
      </p:sp>
      <p:sp>
        <p:nvSpPr>
          <p:cNvPr id="154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752600"/>
            <a:ext cx="8229600" cy="4114800"/>
          </a:xfrm>
        </p:spPr>
        <p:txBody>
          <a:bodyPr/>
          <a:lstStyle/>
          <a:p>
            <a:r>
              <a:rPr lang="en-US" altLang="en-US" smtClean="0"/>
              <a:t>Every nonkey column depends on a whole key, not part of a key</a:t>
            </a:r>
          </a:p>
          <a:p>
            <a:r>
              <a:rPr lang="en-US" altLang="en-US" smtClean="0"/>
              <a:t>Violations</a:t>
            </a:r>
          </a:p>
          <a:p>
            <a:pPr lvl="1"/>
            <a:r>
              <a:rPr lang="en-US" altLang="en-US" smtClean="0"/>
              <a:t>Part of key </a:t>
            </a:r>
            <a:r>
              <a:rPr lang="en-US" altLang="en-US" smtClean="0">
                <a:sym typeface="Symbol" panose="05050102010706020507" pitchFamily="18" charset="2"/>
              </a:rPr>
              <a:t></a:t>
            </a:r>
            <a:r>
              <a:rPr lang="en-US" altLang="en-US" smtClean="0"/>
              <a:t> nonkey</a:t>
            </a:r>
          </a:p>
          <a:p>
            <a:pPr lvl="1"/>
            <a:r>
              <a:rPr lang="en-US" altLang="en-US" smtClean="0"/>
              <a:t>Violations only for combined keys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304800"/>
            <a:ext cx="8080375" cy="762000"/>
          </a:xfrm>
        </p:spPr>
        <p:txBody>
          <a:bodyPr/>
          <a:lstStyle/>
          <a:p>
            <a:r>
              <a:rPr lang="en-US" altLang="en-US" smtClean="0"/>
              <a:t>2NF Example</a:t>
            </a:r>
          </a:p>
        </p:txBody>
      </p:sp>
      <p:sp>
        <p:nvSpPr>
          <p:cNvPr id="156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743075"/>
            <a:ext cx="7299325" cy="343852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mtClean="0"/>
              <a:t>Many violations for the big university database table</a:t>
            </a:r>
          </a:p>
          <a:p>
            <a:pPr lvl="1">
              <a:lnSpc>
                <a:spcPct val="90000"/>
              </a:lnSpc>
            </a:pPr>
            <a:r>
              <a:rPr lang="en-US" altLang="en-US" sz="2400" smtClean="0"/>
              <a:t>StdSSN </a:t>
            </a:r>
            <a:r>
              <a:rPr lang="en-US" altLang="en-US" sz="2400" smtClean="0">
                <a:sym typeface="Symbol" panose="05050102010706020507" pitchFamily="18" charset="2"/>
              </a:rPr>
              <a:t></a:t>
            </a:r>
            <a:r>
              <a:rPr lang="en-US" altLang="en-US" sz="2400" smtClean="0"/>
              <a:t> StdCity, StdClass</a:t>
            </a:r>
          </a:p>
          <a:p>
            <a:pPr lvl="1">
              <a:lnSpc>
                <a:spcPct val="90000"/>
              </a:lnSpc>
            </a:pPr>
            <a:r>
              <a:rPr lang="en-US" altLang="en-US" sz="2400" smtClean="0"/>
              <a:t>OfferNo </a:t>
            </a:r>
            <a:r>
              <a:rPr lang="en-US" altLang="en-US" sz="2400" smtClean="0">
                <a:sym typeface="Symbol" panose="05050102010706020507" pitchFamily="18" charset="2"/>
              </a:rPr>
              <a:t></a:t>
            </a:r>
            <a:r>
              <a:rPr lang="en-US" altLang="en-US" sz="2400" smtClean="0"/>
              <a:t> OffTerm, OffYear, CourseNo, CrsDesc</a:t>
            </a:r>
          </a:p>
          <a:p>
            <a:pPr>
              <a:lnSpc>
                <a:spcPct val="90000"/>
              </a:lnSpc>
            </a:pPr>
            <a:r>
              <a:rPr lang="en-US" altLang="en-US" smtClean="0"/>
              <a:t>Splitting the table</a:t>
            </a:r>
          </a:p>
          <a:p>
            <a:pPr lvl="1">
              <a:lnSpc>
                <a:spcPct val="90000"/>
              </a:lnSpc>
            </a:pPr>
            <a:r>
              <a:rPr lang="en-US" altLang="en-US" sz="2400" b="1" smtClean="0">
                <a:cs typeface="Times New Roman" panose="02020603050405020304" pitchFamily="18" charset="0"/>
              </a:rPr>
              <a:t>UnivTable1</a:t>
            </a:r>
            <a:r>
              <a:rPr lang="en-US" altLang="en-US" sz="2400" smtClean="0">
                <a:cs typeface="Times New Roman" panose="02020603050405020304" pitchFamily="18" charset="0"/>
              </a:rPr>
              <a:t> (</a:t>
            </a:r>
            <a:r>
              <a:rPr lang="en-US" altLang="en-US" sz="2400" u="sng" smtClean="0">
                <a:cs typeface="Times New Roman" panose="02020603050405020304" pitchFamily="18" charset="0"/>
              </a:rPr>
              <a:t>StdSSN</a:t>
            </a:r>
            <a:r>
              <a:rPr lang="en-US" altLang="en-US" sz="2400" smtClean="0">
                <a:cs typeface="Times New Roman" panose="02020603050405020304" pitchFamily="18" charset="0"/>
              </a:rPr>
              <a:t>, StdCity, StdClass)</a:t>
            </a:r>
            <a:r>
              <a:rPr lang="en-US" altLang="en-US" sz="2400" smtClean="0"/>
              <a:t> </a:t>
            </a:r>
          </a:p>
          <a:p>
            <a:pPr lvl="1">
              <a:lnSpc>
                <a:spcPct val="90000"/>
              </a:lnSpc>
            </a:pPr>
            <a:r>
              <a:rPr lang="en-US" altLang="en-US" sz="2400" b="1" smtClean="0">
                <a:cs typeface="Times New Roman" panose="02020603050405020304" pitchFamily="18" charset="0"/>
              </a:rPr>
              <a:t>UnivTable2</a:t>
            </a:r>
            <a:r>
              <a:rPr lang="en-US" altLang="en-US" sz="2400" smtClean="0">
                <a:cs typeface="Times New Roman" panose="02020603050405020304" pitchFamily="18" charset="0"/>
              </a:rPr>
              <a:t> (</a:t>
            </a:r>
            <a:r>
              <a:rPr lang="en-US" altLang="en-US" sz="2400" u="sng" smtClean="0">
                <a:cs typeface="Times New Roman" panose="02020603050405020304" pitchFamily="18" charset="0"/>
              </a:rPr>
              <a:t>OfferNo</a:t>
            </a:r>
            <a:r>
              <a:rPr lang="en-US" altLang="en-US" sz="2400" smtClean="0">
                <a:cs typeface="Times New Roman" panose="02020603050405020304" pitchFamily="18" charset="0"/>
              </a:rPr>
              <a:t>, OffTerm, OffYear, CourseNo, CrsDesc)</a:t>
            </a:r>
            <a:r>
              <a:rPr lang="en-US" altLang="en-US" sz="2400" smtClean="0"/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152400"/>
            <a:ext cx="8229600" cy="763588"/>
          </a:xfrm>
        </p:spPr>
        <p:txBody>
          <a:bodyPr/>
          <a:lstStyle/>
          <a:p>
            <a:r>
              <a:rPr lang="en-US" altLang="en-US" smtClean="0"/>
              <a:t>3NF</a:t>
            </a:r>
          </a:p>
        </p:txBody>
      </p:sp>
      <p:sp>
        <p:nvSpPr>
          <p:cNvPr id="1587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1752600"/>
            <a:ext cx="8229600" cy="41148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mtClean="0"/>
              <a:t>Every nonkey column depends only on a key not on non key columns</a:t>
            </a:r>
          </a:p>
          <a:p>
            <a:pPr>
              <a:lnSpc>
                <a:spcPct val="90000"/>
              </a:lnSpc>
            </a:pPr>
            <a:r>
              <a:rPr lang="en-US" altLang="en-US" smtClean="0"/>
              <a:t>Violations: Nonkey </a:t>
            </a:r>
            <a:r>
              <a:rPr lang="en-US" altLang="en-US" smtClean="0">
                <a:sym typeface="Symbol" panose="05050102010706020507" pitchFamily="18" charset="2"/>
              </a:rPr>
              <a:t></a:t>
            </a:r>
            <a:r>
              <a:rPr lang="en-US" altLang="en-US" smtClean="0"/>
              <a:t> Nonkey</a:t>
            </a:r>
          </a:p>
          <a:p>
            <a:pPr>
              <a:lnSpc>
                <a:spcPct val="90000"/>
              </a:lnSpc>
            </a:pPr>
            <a:r>
              <a:rPr lang="en-US" altLang="en-US" smtClean="0"/>
              <a:t>Alterative formulation</a:t>
            </a:r>
          </a:p>
          <a:p>
            <a:pPr lvl="1">
              <a:lnSpc>
                <a:spcPct val="90000"/>
              </a:lnSpc>
            </a:pPr>
            <a:r>
              <a:rPr lang="en-US" altLang="en-US" smtClean="0"/>
              <a:t>No transitive FDs</a:t>
            </a:r>
          </a:p>
          <a:p>
            <a:pPr lvl="1">
              <a:lnSpc>
                <a:spcPct val="90000"/>
              </a:lnSpc>
            </a:pPr>
            <a:r>
              <a:rPr lang="en-US" altLang="en-US" smtClean="0"/>
              <a:t>A </a:t>
            </a:r>
            <a:r>
              <a:rPr lang="en-US" altLang="en-US" smtClean="0">
                <a:sym typeface="Symbol" panose="05050102010706020507" pitchFamily="18" charset="2"/>
              </a:rPr>
              <a:t></a:t>
            </a:r>
            <a:r>
              <a:rPr lang="en-US" altLang="en-US" smtClean="0"/>
              <a:t> B, B </a:t>
            </a:r>
            <a:r>
              <a:rPr lang="en-US" altLang="en-US" smtClean="0">
                <a:sym typeface="Symbol" panose="05050102010706020507" pitchFamily="18" charset="2"/>
              </a:rPr>
              <a:t></a:t>
            </a:r>
            <a:r>
              <a:rPr lang="en-US" altLang="en-US" smtClean="0"/>
              <a:t> C then A </a:t>
            </a:r>
            <a:r>
              <a:rPr lang="en-US" altLang="en-US" smtClean="0">
                <a:sym typeface="Symbol" panose="05050102010706020507" pitchFamily="18" charset="2"/>
              </a:rPr>
              <a:t></a:t>
            </a:r>
            <a:r>
              <a:rPr lang="en-US" altLang="en-US" smtClean="0"/>
              <a:t> C</a:t>
            </a:r>
          </a:p>
          <a:p>
            <a:pPr lvl="1">
              <a:lnSpc>
                <a:spcPct val="90000"/>
              </a:lnSpc>
            </a:pPr>
            <a:r>
              <a:rPr lang="en-US" altLang="en-US" smtClean="0"/>
              <a:t>OfferNo </a:t>
            </a:r>
            <a:r>
              <a:rPr lang="en-US" altLang="en-US" smtClean="0">
                <a:sym typeface="Symbol" panose="05050102010706020507" pitchFamily="18" charset="2"/>
              </a:rPr>
              <a:t></a:t>
            </a:r>
            <a:r>
              <a:rPr lang="en-US" altLang="en-US" smtClean="0"/>
              <a:t> CourseNo, CourseNo </a:t>
            </a:r>
            <a:r>
              <a:rPr lang="en-US" altLang="en-US" smtClean="0">
                <a:sym typeface="Symbol" panose="05050102010706020507" pitchFamily="18" charset="2"/>
              </a:rPr>
              <a:t></a:t>
            </a:r>
            <a:r>
              <a:rPr lang="en-US" altLang="en-US" smtClean="0"/>
              <a:t> CrsDesc then OfferNo </a:t>
            </a:r>
            <a:r>
              <a:rPr lang="en-US" altLang="en-US" smtClean="0">
                <a:sym typeface="Symbol" panose="05050102010706020507" pitchFamily="18" charset="2"/>
              </a:rPr>
              <a:t></a:t>
            </a:r>
            <a:r>
              <a:rPr lang="en-US" altLang="en-US" smtClean="0"/>
              <a:t> CrsDesc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76200"/>
            <a:ext cx="7543800" cy="1295400"/>
          </a:xfrm>
        </p:spPr>
        <p:txBody>
          <a:bodyPr/>
          <a:lstStyle/>
          <a:p>
            <a:r>
              <a:rPr lang="en-US" altLang="en-US" smtClean="0"/>
              <a:t>3NF Example</a:t>
            </a:r>
          </a:p>
        </p:txBody>
      </p:sp>
      <p:sp>
        <p:nvSpPr>
          <p:cNvPr id="1607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836738"/>
            <a:ext cx="8229600" cy="4411662"/>
          </a:xfrm>
        </p:spPr>
        <p:txBody>
          <a:bodyPr/>
          <a:lstStyle/>
          <a:p>
            <a:r>
              <a:rPr lang="en-US" altLang="en-US" smtClean="0"/>
              <a:t>One violation in UnivTable2</a:t>
            </a:r>
          </a:p>
          <a:p>
            <a:pPr lvl="1"/>
            <a:r>
              <a:rPr lang="en-US" altLang="en-US" smtClean="0"/>
              <a:t>CourseNo </a:t>
            </a:r>
            <a:r>
              <a:rPr lang="en-US" altLang="en-US" smtClean="0">
                <a:sym typeface="Symbol" panose="05050102010706020507" pitchFamily="18" charset="2"/>
              </a:rPr>
              <a:t></a:t>
            </a:r>
            <a:r>
              <a:rPr lang="en-US" altLang="en-US" smtClean="0"/>
              <a:t> CrsDesc</a:t>
            </a:r>
          </a:p>
          <a:p>
            <a:r>
              <a:rPr lang="en-US" altLang="en-US" smtClean="0"/>
              <a:t>Splitting the table</a:t>
            </a:r>
          </a:p>
          <a:p>
            <a:pPr lvl="1"/>
            <a:r>
              <a:rPr lang="en-US" altLang="en-US" smtClean="0"/>
              <a:t>UnivTable2-1 (OfferNo, OffTerm, OffYear, CourseNo)</a:t>
            </a:r>
          </a:p>
          <a:p>
            <a:pPr lvl="1"/>
            <a:r>
              <a:rPr lang="en-US" altLang="en-US" smtClean="0"/>
              <a:t>UnivTable2-2 (CourseNo, CrsDesc)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-152400"/>
            <a:ext cx="7543800" cy="1295400"/>
          </a:xfrm>
        </p:spPr>
        <p:txBody>
          <a:bodyPr lIns="90488" tIns="44450" rIns="90488" bIns="44450"/>
          <a:lstStyle/>
          <a:p>
            <a:r>
              <a:rPr lang="en-GB" altLang="en-US" smtClean="0">
                <a:latin typeface="Times" panose="02020603050405020304" pitchFamily="18" charset="0"/>
              </a:rPr>
              <a:t>Example 2 </a:t>
            </a:r>
          </a:p>
        </p:txBody>
      </p:sp>
      <p:pic>
        <p:nvPicPr>
          <p:cNvPr id="162819" name="Picture 3" descr="DS3-Figure 13-0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676400"/>
            <a:ext cx="85344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76200"/>
            <a:ext cx="9144000" cy="1104900"/>
          </a:xfrm>
        </p:spPr>
        <p:txBody>
          <a:bodyPr/>
          <a:lstStyle/>
          <a:p>
            <a:r>
              <a:rPr lang="en-US" altLang="en-US" sz="4000" smtClean="0">
                <a:latin typeface="Times New Roman" panose="02020603050405020304" pitchFamily="18" charset="0"/>
              </a:rPr>
              <a:t>Unnormalised Normal Form (UNF)</a:t>
            </a:r>
            <a:endParaRPr lang="en-US" altLang="en-US" smtClean="0"/>
          </a:p>
        </p:txBody>
      </p:sp>
      <p:pic>
        <p:nvPicPr>
          <p:cNvPr id="16486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1263" y="1431925"/>
            <a:ext cx="6561137" cy="413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609600" y="5818188"/>
            <a:ext cx="8472488" cy="735012"/>
            <a:chOff x="440" y="3411"/>
            <a:chExt cx="5046" cy="463"/>
          </a:xfrm>
        </p:grpSpPr>
        <p:sp>
          <p:nvSpPr>
            <p:cNvPr id="164869" name="Rectangle 5"/>
            <p:cNvSpPr>
              <a:spLocks noChangeArrowheads="1"/>
            </p:cNvSpPr>
            <p:nvPr/>
          </p:nvSpPr>
          <p:spPr bwMode="auto">
            <a:xfrm>
              <a:off x="454" y="3411"/>
              <a:ext cx="4937" cy="463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990033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600">
                  <a:solidFill>
                    <a:srgbClr val="80000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solidFill>
                  <a:schemeClr val="tx1"/>
                </a:solidFill>
              </a:endParaRPr>
            </a:p>
          </p:txBody>
        </p:sp>
        <p:sp>
          <p:nvSpPr>
            <p:cNvPr id="517126" name="Text Box 6"/>
            <p:cNvSpPr txBox="1">
              <a:spLocks noChangeArrowheads="1"/>
            </p:cNvSpPr>
            <p:nvPr/>
          </p:nvSpPr>
          <p:spPr bwMode="auto">
            <a:xfrm>
              <a:off x="440" y="3414"/>
              <a:ext cx="5046" cy="442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000" dirty="0">
                  <a:solidFill>
                    <a:schemeClr val="accent4"/>
                  </a:solidFill>
                  <a:latin typeface="Times New Roman" pitchFamily="18" charset="0"/>
                </a:rPr>
                <a:t>ORDER</a:t>
              </a:r>
              <a:r>
                <a:rPr lang="en-GB" sz="2000" dirty="0">
                  <a:solidFill>
                    <a:schemeClr val="tx2"/>
                  </a:solidFill>
                  <a:latin typeface="Times New Roman" pitchFamily="18" charset="0"/>
                </a:rPr>
                <a:t> (</a:t>
              </a:r>
              <a:r>
                <a:rPr lang="en-GB" sz="2000" u="sng" dirty="0">
                  <a:solidFill>
                    <a:srgbClr val="0000FF"/>
                  </a:solidFill>
                  <a:latin typeface="Times New Roman" pitchFamily="18" charset="0"/>
                </a:rPr>
                <a:t>order-no</a:t>
              </a:r>
              <a:r>
                <a:rPr lang="en-GB" sz="2000" dirty="0">
                  <a:solidFill>
                    <a:schemeClr val="tx2"/>
                  </a:solidFill>
                  <a:latin typeface="Times New Roman" pitchFamily="18" charset="0"/>
                </a:rPr>
                <a:t>, order-date, </a:t>
              </a:r>
              <a:r>
                <a:rPr lang="en-GB" sz="2000" dirty="0" err="1">
                  <a:solidFill>
                    <a:schemeClr val="tx2"/>
                  </a:solidFill>
                  <a:latin typeface="Times New Roman" pitchFamily="18" charset="0"/>
                </a:rPr>
                <a:t>cust</a:t>
              </a:r>
              <a:r>
                <a:rPr lang="en-GB" sz="2000" dirty="0">
                  <a:solidFill>
                    <a:schemeClr val="tx2"/>
                  </a:solidFill>
                  <a:latin typeface="Times New Roman" pitchFamily="18" charset="0"/>
                </a:rPr>
                <a:t>-no, </a:t>
              </a:r>
              <a:r>
                <a:rPr lang="en-GB" sz="2000" dirty="0" err="1">
                  <a:solidFill>
                    <a:schemeClr val="tx2"/>
                  </a:solidFill>
                  <a:latin typeface="Times New Roman" pitchFamily="18" charset="0"/>
                </a:rPr>
                <a:t>cust</a:t>
              </a:r>
              <a:r>
                <a:rPr lang="en-GB" sz="2000" dirty="0">
                  <a:solidFill>
                    <a:schemeClr val="tx2"/>
                  </a:solidFill>
                  <a:latin typeface="Times New Roman" pitchFamily="18" charset="0"/>
                </a:rPr>
                <a:t>-name, </a:t>
              </a:r>
              <a:r>
                <a:rPr lang="en-GB" sz="2000" dirty="0" err="1">
                  <a:solidFill>
                    <a:schemeClr val="tx2"/>
                  </a:solidFill>
                  <a:latin typeface="Times New Roman" pitchFamily="18" charset="0"/>
                </a:rPr>
                <a:t>cust</a:t>
              </a:r>
              <a:r>
                <a:rPr lang="en-GB" sz="2000" dirty="0">
                  <a:solidFill>
                    <a:schemeClr val="tx2"/>
                  </a:solidFill>
                  <a:latin typeface="Times New Roman" pitchFamily="18" charset="0"/>
                </a:rPr>
                <a:t>-add, </a:t>
              </a:r>
            </a:p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000" dirty="0">
                  <a:solidFill>
                    <a:schemeClr val="tx2"/>
                  </a:solidFill>
                  <a:latin typeface="Times New Roman" pitchFamily="18" charset="0"/>
                </a:rPr>
                <a:t>	   (prod-no, prod-</a:t>
              </a:r>
              <a:r>
                <a:rPr lang="en-GB" sz="2000" dirty="0" err="1">
                  <a:solidFill>
                    <a:schemeClr val="tx2"/>
                  </a:solidFill>
                  <a:latin typeface="Times New Roman" pitchFamily="18" charset="0"/>
                </a:rPr>
                <a:t>desc</a:t>
              </a:r>
              <a:r>
                <a:rPr lang="en-GB" sz="2000" dirty="0">
                  <a:solidFill>
                    <a:schemeClr val="tx2"/>
                  </a:solidFill>
                  <a:latin typeface="Times New Roman" pitchFamily="18" charset="0"/>
                </a:rPr>
                <a:t>, unit-price, </a:t>
              </a:r>
              <a:r>
                <a:rPr lang="en-GB" sz="2000" dirty="0" err="1">
                  <a:solidFill>
                    <a:schemeClr val="tx2"/>
                  </a:solidFill>
                  <a:latin typeface="Times New Roman" pitchFamily="18" charset="0"/>
                </a:rPr>
                <a:t>ord</a:t>
              </a:r>
              <a:r>
                <a:rPr lang="en-GB" sz="2000" dirty="0">
                  <a:solidFill>
                    <a:schemeClr val="tx2"/>
                  </a:solidFill>
                  <a:latin typeface="Times New Roman" pitchFamily="18" charset="0"/>
                </a:rPr>
                <a:t>-qty, line-total)*, order-total</a:t>
              </a: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2"/>
          <p:cNvSpPr>
            <a:spLocks noChangeArrowheads="1"/>
          </p:cNvSpPr>
          <p:nvPr/>
        </p:nvSpPr>
        <p:spPr bwMode="auto">
          <a:xfrm>
            <a:off x="611188" y="1866900"/>
            <a:ext cx="7762875" cy="1366838"/>
          </a:xfrm>
          <a:prstGeom prst="rect">
            <a:avLst/>
          </a:prstGeom>
          <a:solidFill>
            <a:srgbClr val="F0F5FE"/>
          </a:solidFill>
          <a:ln w="12700">
            <a:solidFill>
              <a:schemeClr val="tx2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solidFill>
                <a:schemeClr val="tx1"/>
              </a:solidFill>
            </a:endParaRPr>
          </a:p>
        </p:txBody>
      </p:sp>
      <p:sp>
        <p:nvSpPr>
          <p:cNvPr id="166915" name="Rectangle 3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04900"/>
          </a:xfrm>
        </p:spPr>
        <p:txBody>
          <a:bodyPr/>
          <a:lstStyle/>
          <a:p>
            <a:r>
              <a:rPr lang="en-US" altLang="en-US" sz="4000" smtClean="0">
                <a:latin typeface="Times New Roman" panose="02020603050405020304" pitchFamily="18" charset="0"/>
              </a:rPr>
              <a:t>First Normal Form (1NF)</a:t>
            </a:r>
            <a:endParaRPr lang="en-US" altLang="en-US" smtClean="0"/>
          </a:p>
        </p:txBody>
      </p:sp>
      <p:sp>
        <p:nvSpPr>
          <p:cNvPr id="518148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631825" y="1893888"/>
            <a:ext cx="7810500" cy="1069975"/>
          </a:xfrm>
        </p:spPr>
        <p:txBody>
          <a:bodyPr lIns="92075" tIns="46038" rIns="92075" bIns="46038"/>
          <a:lstStyle/>
          <a:p>
            <a:pPr marL="0" indent="0">
              <a:lnSpc>
                <a:spcPct val="90000"/>
              </a:lnSpc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r>
              <a:rPr lang="en-US" sz="2600" b="1" dirty="0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Definition</a:t>
            </a:r>
            <a:r>
              <a:rPr lang="en-US" sz="2600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: A relation is in 1NF if, and only if, all its underlying attributes contain atomic values only.</a:t>
            </a:r>
          </a:p>
          <a:p>
            <a:pPr marL="0" indent="0">
              <a:lnSpc>
                <a:spcPct val="90000"/>
              </a:lnSpc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endParaRPr lang="en-US" sz="500" dirty="0">
              <a:effectLst>
                <a:outerShdw blurRad="38100" dist="38100" dir="2700000" algn="tl">
                  <a:srgbClr val="FFFFFF"/>
                </a:outerShdw>
              </a:effectLst>
              <a:latin typeface="Times New Roman" pitchFamily="18" charset="0"/>
            </a:endParaRPr>
          </a:p>
          <a:p>
            <a:pPr marL="0" indent="0">
              <a:lnSpc>
                <a:spcPct val="90000"/>
              </a:lnSpc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endParaRPr lang="en-US" sz="2400" dirty="0">
              <a:effectLst>
                <a:outerShdw blurRad="38100" dist="38100" dir="2700000" algn="tl">
                  <a:srgbClr val="FFFFFF"/>
                </a:outerShdw>
              </a:effectLst>
              <a:latin typeface="Times New Roman" pitchFamily="18" charset="0"/>
            </a:endParaRPr>
          </a:p>
        </p:txBody>
      </p:sp>
      <p:grpSp>
        <p:nvGrpSpPr>
          <p:cNvPr id="166917" name="Group 5"/>
          <p:cNvGrpSpPr>
            <a:grpSpLocks/>
          </p:cNvGrpSpPr>
          <p:nvPr/>
        </p:nvGrpSpPr>
        <p:grpSpPr bwMode="auto">
          <a:xfrm>
            <a:off x="1428750" y="2617788"/>
            <a:ext cx="6122988" cy="479425"/>
            <a:chOff x="497" y="1190"/>
            <a:chExt cx="3857" cy="302"/>
          </a:xfrm>
        </p:grpSpPr>
        <p:sp>
          <p:nvSpPr>
            <p:cNvPr id="166923" name="Rectangle 6"/>
            <p:cNvSpPr>
              <a:spLocks noChangeArrowheads="1"/>
            </p:cNvSpPr>
            <p:nvPr/>
          </p:nvSpPr>
          <p:spPr bwMode="auto">
            <a:xfrm>
              <a:off x="497" y="1209"/>
              <a:ext cx="3857" cy="283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990033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600">
                  <a:solidFill>
                    <a:srgbClr val="80000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/>
            </a:p>
          </p:txBody>
        </p:sp>
        <p:sp>
          <p:nvSpPr>
            <p:cNvPr id="166924" name="Rectangle 7"/>
            <p:cNvSpPr>
              <a:spLocks noChangeArrowheads="1"/>
            </p:cNvSpPr>
            <p:nvPr/>
          </p:nvSpPr>
          <p:spPr bwMode="auto">
            <a:xfrm>
              <a:off x="514" y="1190"/>
              <a:ext cx="379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990033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600">
                  <a:solidFill>
                    <a:srgbClr val="80000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>
                  <a:latin typeface="Times New Roman" panose="02020603050405020304" pitchFamily="18" charset="0"/>
                </a:rPr>
                <a:t>Remove repeating groups into a new relation</a:t>
              </a:r>
              <a:endParaRPr lang="en-GB" altLang="en-US" sz="24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" name="Group 8"/>
          <p:cNvGrpSpPr>
            <a:grpSpLocks/>
          </p:cNvGrpSpPr>
          <p:nvPr/>
        </p:nvGrpSpPr>
        <p:grpSpPr bwMode="auto">
          <a:xfrm>
            <a:off x="304800" y="3843338"/>
            <a:ext cx="8839200" cy="2405062"/>
            <a:chOff x="382" y="1680"/>
            <a:chExt cx="5046" cy="697"/>
          </a:xfrm>
        </p:grpSpPr>
        <p:sp>
          <p:nvSpPr>
            <p:cNvPr id="166919" name="Rectangle 9"/>
            <p:cNvSpPr>
              <a:spLocks noChangeArrowheads="1"/>
            </p:cNvSpPr>
            <p:nvPr/>
          </p:nvSpPr>
          <p:spPr bwMode="auto">
            <a:xfrm>
              <a:off x="383" y="1680"/>
              <a:ext cx="4923" cy="2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990033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600">
                  <a:solidFill>
                    <a:srgbClr val="80000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/>
                <a:t>A repeating group is shown by a pair of brackets within the relational schema.</a:t>
              </a:r>
            </a:p>
          </p:txBody>
        </p:sp>
        <p:grpSp>
          <p:nvGrpSpPr>
            <p:cNvPr id="166920" name="Group 10"/>
            <p:cNvGrpSpPr>
              <a:grpSpLocks/>
            </p:cNvGrpSpPr>
            <p:nvPr/>
          </p:nvGrpSpPr>
          <p:grpSpPr bwMode="auto">
            <a:xfrm>
              <a:off x="382" y="1954"/>
              <a:ext cx="5046" cy="423"/>
              <a:chOff x="347" y="3479"/>
              <a:chExt cx="5046" cy="463"/>
            </a:xfrm>
          </p:grpSpPr>
          <p:sp>
            <p:nvSpPr>
              <p:cNvPr id="166921" name="Rectangle 11"/>
              <p:cNvSpPr>
                <a:spLocks noChangeArrowheads="1"/>
              </p:cNvSpPr>
              <p:nvPr/>
            </p:nvSpPr>
            <p:spPr bwMode="auto">
              <a:xfrm>
                <a:off x="360" y="3479"/>
                <a:ext cx="4937" cy="463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990033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2"/>
                  </a:buClr>
                  <a:buSzPct val="55000"/>
                  <a:buFont typeface="Wingdings" panose="05000000000000000000" pitchFamily="2" charset="2"/>
                  <a:buChar char="n"/>
                  <a:defRPr sz="2600">
                    <a:solidFill>
                      <a:srgbClr val="8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rgbClr val="8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</a:endParaRPr>
              </a:p>
            </p:txBody>
          </p:sp>
          <p:sp>
            <p:nvSpPr>
              <p:cNvPr id="166922" name="Text Box 12"/>
              <p:cNvSpPr txBox="1">
                <a:spLocks noChangeArrowheads="1"/>
              </p:cNvSpPr>
              <p:nvPr/>
            </p:nvSpPr>
            <p:spPr bwMode="auto">
              <a:xfrm>
                <a:off x="347" y="3529"/>
                <a:ext cx="5046" cy="32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990033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2"/>
                  </a:buClr>
                  <a:buSzPct val="55000"/>
                  <a:buFont typeface="Wingdings" panose="05000000000000000000" pitchFamily="2" charset="2"/>
                  <a:buChar char="n"/>
                  <a:defRPr sz="2600">
                    <a:solidFill>
                      <a:srgbClr val="8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rgbClr val="8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GB" altLang="en-US" sz="2000"/>
                  <a:t>ORDER (</a:t>
                </a:r>
                <a:r>
                  <a:rPr lang="en-GB" altLang="en-US" sz="2000" u="sng">
                    <a:solidFill>
                      <a:srgbClr val="0000FF"/>
                    </a:solidFill>
                  </a:rPr>
                  <a:t>order-no</a:t>
                </a:r>
                <a:r>
                  <a:rPr lang="en-GB" altLang="en-US" sz="2000"/>
                  <a:t>, order-date, cust-no, cust-name, cust-add, </a:t>
                </a:r>
              </a:p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GB" altLang="en-US" sz="2000"/>
                  <a:t>	</a:t>
                </a:r>
                <a:r>
                  <a:rPr lang="en-GB" altLang="en-US" sz="2000">
                    <a:solidFill>
                      <a:srgbClr val="C00000"/>
                    </a:solidFill>
                  </a:rPr>
                  <a:t>   (prod-no, prod-desc, unit-price, ord-qty, line-total)*, </a:t>
                </a:r>
                <a:r>
                  <a:rPr lang="en-GB" altLang="en-US" sz="2000"/>
                  <a:t>order-total</a:t>
                </a:r>
              </a:p>
            </p:txBody>
          </p:sp>
        </p:grpSp>
      </p:grp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122238"/>
            <a:ext cx="7543800" cy="1295400"/>
          </a:xfrm>
        </p:spPr>
        <p:txBody>
          <a:bodyPr/>
          <a:lstStyle/>
          <a:p>
            <a:r>
              <a:rPr lang="en-US" altLang="en-US" smtClean="0"/>
              <a:t> </a:t>
            </a:r>
          </a:p>
        </p:txBody>
      </p:sp>
      <p:sp>
        <p:nvSpPr>
          <p:cNvPr id="519171" name="Rectangle 3"/>
          <p:cNvSpPr>
            <a:spLocks noChangeArrowheads="1"/>
          </p:cNvSpPr>
          <p:nvPr/>
        </p:nvSpPr>
        <p:spPr bwMode="auto">
          <a:xfrm>
            <a:off x="76200" y="381000"/>
            <a:ext cx="72263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/>
          <a:lstStyle/>
          <a:p>
            <a:pPr marL="381000" indent="-381000" fontAlgn="auto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chemeClr val="accent2"/>
              </a:buClr>
              <a:buSzPct val="75000"/>
              <a:buFont typeface="Wingdings" pitchFamily="2" charset="2"/>
              <a:buNone/>
              <a:defRPr/>
            </a:pPr>
            <a:r>
              <a:rPr lang="en-US" sz="4000" dirty="0">
                <a:solidFill>
                  <a:schemeClr val="tx2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</a:rPr>
              <a:t>Steps from UNF to 1NF: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1890713"/>
            <a:ext cx="7543800" cy="37480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81000" indent="-381000" fontAlgn="auto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/>
            </a:pPr>
            <a:r>
              <a:rPr lang="en-US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</a:rPr>
              <a:t>Remove the outermost repeating group (and any nested repeated groups it may contain) and create a new relation to contain it.</a:t>
            </a:r>
          </a:p>
          <a:p>
            <a:pPr marL="381000" indent="-381000" fontAlgn="auto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/>
            </a:pPr>
            <a:r>
              <a:rPr lang="en-US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</a:rPr>
              <a:t>Add to this relation a copy of the PK of the relation immediately enclosing it.</a:t>
            </a:r>
          </a:p>
          <a:p>
            <a:pPr marL="381000" indent="-381000" fontAlgn="auto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/>
            </a:pPr>
            <a:r>
              <a:rPr lang="en-US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</a:rPr>
              <a:t>Name the new entity (appending the number 1 to indicate 1NF)</a:t>
            </a:r>
          </a:p>
          <a:p>
            <a:pPr marL="381000" indent="-381000" fontAlgn="auto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/>
            </a:pPr>
            <a:r>
              <a:rPr lang="en-US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</a:rPr>
              <a:t>Determine the PK of the new entity</a:t>
            </a:r>
          </a:p>
          <a:p>
            <a:pPr marL="381000" indent="-381000" fontAlgn="auto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chemeClr val="accent2"/>
              </a:buClr>
              <a:buSzPct val="75000"/>
              <a:buFont typeface="Wingdings" pitchFamily="2" charset="2"/>
              <a:buChar char="l"/>
              <a:defRPr/>
            </a:pPr>
            <a:r>
              <a:rPr lang="en-US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</a:rPr>
              <a:t>Repeat steps until no more repeating groups.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04900"/>
          </a:xfrm>
        </p:spPr>
        <p:txBody>
          <a:bodyPr/>
          <a:lstStyle/>
          <a:p>
            <a:r>
              <a:rPr lang="en-US" altLang="en-US" sz="4000" smtClean="0"/>
              <a:t>Example - UNF to 1NF</a:t>
            </a:r>
            <a:endParaRPr lang="en-US" altLang="en-US" smtClean="0"/>
          </a:p>
        </p:txBody>
      </p:sp>
      <p:grpSp>
        <p:nvGrpSpPr>
          <p:cNvPr id="171011" name="Group 3"/>
          <p:cNvGrpSpPr>
            <a:grpSpLocks/>
          </p:cNvGrpSpPr>
          <p:nvPr/>
        </p:nvGrpSpPr>
        <p:grpSpPr bwMode="auto">
          <a:xfrm>
            <a:off x="344488" y="1192213"/>
            <a:ext cx="8010525" cy="715962"/>
            <a:chOff x="347" y="3448"/>
            <a:chExt cx="5046" cy="494"/>
          </a:xfrm>
        </p:grpSpPr>
        <p:sp>
          <p:nvSpPr>
            <p:cNvPr id="171039" name="Rectangle 4"/>
            <p:cNvSpPr>
              <a:spLocks noChangeArrowheads="1"/>
            </p:cNvSpPr>
            <p:nvPr/>
          </p:nvSpPr>
          <p:spPr bwMode="auto">
            <a:xfrm>
              <a:off x="360" y="3479"/>
              <a:ext cx="4937" cy="463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990033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600">
                  <a:solidFill>
                    <a:srgbClr val="80000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solidFill>
                  <a:schemeClr val="tx1"/>
                </a:solidFill>
              </a:endParaRPr>
            </a:p>
          </p:txBody>
        </p:sp>
        <p:sp>
          <p:nvSpPr>
            <p:cNvPr id="171040" name="Text Box 5"/>
            <p:cNvSpPr txBox="1">
              <a:spLocks noChangeArrowheads="1"/>
            </p:cNvSpPr>
            <p:nvPr/>
          </p:nvSpPr>
          <p:spPr bwMode="auto">
            <a:xfrm>
              <a:off x="347" y="3448"/>
              <a:ext cx="5046" cy="4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990033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600">
                  <a:solidFill>
                    <a:srgbClr val="80000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GB" altLang="en-US" sz="2000">
                  <a:solidFill>
                    <a:schemeClr val="tx1"/>
                  </a:solidFill>
                  <a:latin typeface="Times New Roman" panose="02020603050405020304" pitchFamily="18" charset="0"/>
                </a:rPr>
                <a:t>ORDER </a:t>
              </a:r>
              <a:r>
                <a:rPr lang="en-GB" altLang="en-US" sz="2000">
                  <a:latin typeface="Times New Roman" panose="02020603050405020304" pitchFamily="18" charset="0"/>
                </a:rPr>
                <a:t>(</a:t>
              </a:r>
              <a:r>
                <a:rPr lang="en-GB" altLang="en-US" sz="2000" u="sng">
                  <a:solidFill>
                    <a:srgbClr val="0000FF"/>
                  </a:solidFill>
                  <a:latin typeface="Times New Roman" panose="02020603050405020304" pitchFamily="18" charset="0"/>
                </a:rPr>
                <a:t>order-no</a:t>
              </a:r>
              <a:r>
                <a:rPr lang="en-GB" altLang="en-US" sz="2000">
                  <a:latin typeface="Times New Roman" panose="02020603050405020304" pitchFamily="18" charset="0"/>
                </a:rPr>
                <a:t>, order-date, cust-no, cust-name, cust-add, 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GB" altLang="en-US" sz="2000">
                  <a:latin typeface="Times New Roman" panose="02020603050405020304" pitchFamily="18" charset="0"/>
                </a:rPr>
                <a:t>	   </a:t>
              </a:r>
              <a:r>
                <a:rPr lang="en-GB" altLang="en-US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(prod-no, prod-desc, unit-price, ord-qty, line-total)*, </a:t>
              </a:r>
              <a:r>
                <a:rPr lang="en-GB" altLang="en-US" sz="2000">
                  <a:latin typeface="Times New Roman" panose="02020603050405020304" pitchFamily="18" charset="0"/>
                </a:rPr>
                <a:t>order-total</a:t>
              </a:r>
            </a:p>
          </p:txBody>
        </p:sp>
      </p:grpSp>
      <p:grpSp>
        <p:nvGrpSpPr>
          <p:cNvPr id="3" name="Group 6"/>
          <p:cNvGrpSpPr>
            <a:grpSpLocks/>
          </p:cNvGrpSpPr>
          <p:nvPr/>
        </p:nvGrpSpPr>
        <p:grpSpPr bwMode="auto">
          <a:xfrm>
            <a:off x="282575" y="2055813"/>
            <a:ext cx="8612188" cy="1539875"/>
            <a:chOff x="335" y="1225"/>
            <a:chExt cx="5070" cy="970"/>
          </a:xfrm>
        </p:grpSpPr>
        <p:sp>
          <p:nvSpPr>
            <p:cNvPr id="171032" name="Rectangle 7"/>
            <p:cNvSpPr>
              <a:spLocks noChangeArrowheads="1"/>
            </p:cNvSpPr>
            <p:nvPr/>
          </p:nvSpPr>
          <p:spPr bwMode="auto">
            <a:xfrm>
              <a:off x="335" y="1225"/>
              <a:ext cx="5008" cy="5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990033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600">
                  <a:solidFill>
                    <a:srgbClr val="80000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>
                  <a:latin typeface="Times New Roman" panose="02020603050405020304" pitchFamily="18" charset="0"/>
                </a:rPr>
                <a:t>1. Remove the outermost repeating group (and any nested repeated groups it may contain) and create a new relation to contain it. </a:t>
              </a:r>
              <a:r>
                <a:rPr lang="en-US" altLang="en-US" sz="1600">
                  <a:solidFill>
                    <a:srgbClr val="0000FF"/>
                  </a:solidFill>
                  <a:latin typeface="Times New Roman" panose="02020603050405020304" pitchFamily="18" charset="0"/>
                </a:rPr>
                <a:t>(rename original to indicate 1NF)</a:t>
              </a:r>
              <a:endParaRPr lang="en-GB" altLang="en-US" sz="16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grpSp>
          <p:nvGrpSpPr>
            <p:cNvPr id="171033" name="Group 8"/>
            <p:cNvGrpSpPr>
              <a:grpSpLocks/>
            </p:cNvGrpSpPr>
            <p:nvPr/>
          </p:nvGrpSpPr>
          <p:grpSpPr bwMode="auto">
            <a:xfrm>
              <a:off x="359" y="1643"/>
              <a:ext cx="5046" cy="446"/>
              <a:chOff x="359" y="1643"/>
              <a:chExt cx="5046" cy="446"/>
            </a:xfrm>
          </p:grpSpPr>
          <p:sp>
            <p:nvSpPr>
              <p:cNvPr id="171037" name="Rectangle 9"/>
              <p:cNvSpPr>
                <a:spLocks noChangeArrowheads="1"/>
              </p:cNvSpPr>
              <p:nvPr/>
            </p:nvSpPr>
            <p:spPr bwMode="auto">
              <a:xfrm>
                <a:off x="372" y="1660"/>
                <a:ext cx="4937" cy="254"/>
              </a:xfrm>
              <a:prstGeom prst="rect">
                <a:avLst/>
              </a:prstGeom>
              <a:solidFill>
                <a:srgbClr val="F0F5FE"/>
              </a:solid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990033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2"/>
                  </a:buClr>
                  <a:buSzPct val="55000"/>
                  <a:buFont typeface="Wingdings" panose="05000000000000000000" pitchFamily="2" charset="2"/>
                  <a:buChar char="n"/>
                  <a:defRPr sz="2600">
                    <a:solidFill>
                      <a:srgbClr val="8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rgbClr val="8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</a:endParaRPr>
              </a:p>
            </p:txBody>
          </p:sp>
          <p:sp>
            <p:nvSpPr>
              <p:cNvPr id="171038" name="Text Box 10"/>
              <p:cNvSpPr txBox="1">
                <a:spLocks noChangeArrowheads="1"/>
              </p:cNvSpPr>
              <p:nvPr/>
            </p:nvSpPr>
            <p:spPr bwMode="auto">
              <a:xfrm>
                <a:off x="359" y="1643"/>
                <a:ext cx="5046" cy="4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990033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2"/>
                  </a:buClr>
                  <a:buSzPct val="55000"/>
                  <a:buFont typeface="Wingdings" panose="05000000000000000000" pitchFamily="2" charset="2"/>
                  <a:buChar char="n"/>
                  <a:defRPr sz="2600">
                    <a:solidFill>
                      <a:srgbClr val="8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rgbClr val="8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GB" altLang="en-US" sz="200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ORDER-1</a:t>
                </a:r>
                <a:r>
                  <a:rPr lang="en-GB" altLang="en-US" sz="2000">
                    <a:latin typeface="Times New Roman" panose="02020603050405020304" pitchFamily="18" charset="0"/>
                  </a:rPr>
                  <a:t> (</a:t>
                </a:r>
                <a:r>
                  <a:rPr lang="en-GB" altLang="en-US" sz="2000" u="sng">
                    <a:solidFill>
                      <a:srgbClr val="0000FF"/>
                    </a:solidFill>
                    <a:latin typeface="Times New Roman" panose="02020603050405020304" pitchFamily="18" charset="0"/>
                  </a:rPr>
                  <a:t>order-no</a:t>
                </a:r>
                <a:r>
                  <a:rPr lang="en-GB" altLang="en-US" sz="2000">
                    <a:latin typeface="Times New Roman" panose="02020603050405020304" pitchFamily="18" charset="0"/>
                  </a:rPr>
                  <a:t>, order-date, cust-no, cust-name, cust-add, order-total</a:t>
                </a:r>
              </a:p>
            </p:txBody>
          </p:sp>
        </p:grpSp>
        <p:grpSp>
          <p:nvGrpSpPr>
            <p:cNvPr id="171034" name="Group 11"/>
            <p:cNvGrpSpPr>
              <a:grpSpLocks/>
            </p:cNvGrpSpPr>
            <p:nvPr/>
          </p:nvGrpSpPr>
          <p:grpSpPr bwMode="auto">
            <a:xfrm>
              <a:off x="367" y="1940"/>
              <a:ext cx="3588" cy="255"/>
              <a:chOff x="359" y="1991"/>
              <a:chExt cx="3588" cy="255"/>
            </a:xfrm>
          </p:grpSpPr>
          <p:sp>
            <p:nvSpPr>
              <p:cNvPr id="171035" name="Rectangle 12"/>
              <p:cNvSpPr>
                <a:spLocks noChangeArrowheads="1"/>
              </p:cNvSpPr>
              <p:nvPr/>
            </p:nvSpPr>
            <p:spPr bwMode="auto">
              <a:xfrm>
                <a:off x="359" y="1997"/>
                <a:ext cx="3318" cy="249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990033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2"/>
                  </a:buClr>
                  <a:buSzPct val="55000"/>
                  <a:buFont typeface="Wingdings" panose="05000000000000000000" pitchFamily="2" charset="2"/>
                  <a:buChar char="n"/>
                  <a:defRPr sz="2600">
                    <a:solidFill>
                      <a:srgbClr val="8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rgbClr val="8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</a:endParaRPr>
              </a:p>
            </p:txBody>
          </p:sp>
          <p:sp>
            <p:nvSpPr>
              <p:cNvPr id="171036" name="Rectangle 13"/>
              <p:cNvSpPr>
                <a:spLocks noChangeArrowheads="1"/>
              </p:cNvSpPr>
              <p:nvPr/>
            </p:nvSpPr>
            <p:spPr bwMode="auto">
              <a:xfrm>
                <a:off x="360" y="1991"/>
                <a:ext cx="3587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990033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2"/>
                  </a:buClr>
                  <a:buSzPct val="55000"/>
                  <a:buFont typeface="Wingdings" panose="05000000000000000000" pitchFamily="2" charset="2"/>
                  <a:buChar char="n"/>
                  <a:defRPr sz="2600">
                    <a:solidFill>
                      <a:srgbClr val="8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rgbClr val="8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GB" altLang="en-US" sz="2000">
                    <a:latin typeface="Times New Roman" panose="02020603050405020304" pitchFamily="18" charset="0"/>
                  </a:rPr>
                  <a:t>(prod-no, prod-desc, unit-price, ord-qty, line-total)</a:t>
                </a:r>
              </a:p>
            </p:txBody>
          </p:sp>
        </p:grpSp>
      </p:grpSp>
      <p:grpSp>
        <p:nvGrpSpPr>
          <p:cNvPr id="6" name="Group 14"/>
          <p:cNvGrpSpPr>
            <a:grpSpLocks/>
          </p:cNvGrpSpPr>
          <p:nvPr/>
        </p:nvGrpSpPr>
        <p:grpSpPr bwMode="auto">
          <a:xfrm>
            <a:off x="280988" y="3676650"/>
            <a:ext cx="8613775" cy="1254125"/>
            <a:chOff x="334" y="2246"/>
            <a:chExt cx="5055" cy="790"/>
          </a:xfrm>
        </p:grpSpPr>
        <p:sp>
          <p:nvSpPr>
            <p:cNvPr id="171024" name="Rectangle 15"/>
            <p:cNvSpPr>
              <a:spLocks noChangeArrowheads="1"/>
            </p:cNvSpPr>
            <p:nvPr/>
          </p:nvSpPr>
          <p:spPr bwMode="auto">
            <a:xfrm>
              <a:off x="334" y="2246"/>
              <a:ext cx="4459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990033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600">
                  <a:solidFill>
                    <a:srgbClr val="80000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>
                  <a:latin typeface="Times New Roman" panose="02020603050405020304" pitchFamily="18" charset="0"/>
                </a:rPr>
                <a:t>2. </a:t>
              </a:r>
              <a:r>
                <a:rPr lang="en-US" altLang="en-US" sz="1800">
                  <a:latin typeface="Times New Roman" panose="02020603050405020304" pitchFamily="18" charset="0"/>
                </a:rPr>
                <a:t>Add to this relation a copy of the PK of the relation immediately enclosing it.</a:t>
              </a:r>
              <a:endParaRPr lang="en-GB" altLang="en-US" sz="1800">
                <a:latin typeface="Times New Roman" panose="02020603050405020304" pitchFamily="18" charset="0"/>
              </a:endParaRPr>
            </a:p>
          </p:txBody>
        </p:sp>
        <p:grpSp>
          <p:nvGrpSpPr>
            <p:cNvPr id="171025" name="Group 16"/>
            <p:cNvGrpSpPr>
              <a:grpSpLocks/>
            </p:cNvGrpSpPr>
            <p:nvPr/>
          </p:nvGrpSpPr>
          <p:grpSpPr bwMode="auto">
            <a:xfrm>
              <a:off x="343" y="2476"/>
              <a:ext cx="5046" cy="446"/>
              <a:chOff x="347" y="3448"/>
              <a:chExt cx="5046" cy="813"/>
            </a:xfrm>
          </p:grpSpPr>
          <p:sp>
            <p:nvSpPr>
              <p:cNvPr id="171030" name="Rectangle 17"/>
              <p:cNvSpPr>
                <a:spLocks noChangeArrowheads="1"/>
              </p:cNvSpPr>
              <p:nvPr/>
            </p:nvSpPr>
            <p:spPr bwMode="auto">
              <a:xfrm>
                <a:off x="360" y="3479"/>
                <a:ext cx="4937" cy="463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990033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2"/>
                  </a:buClr>
                  <a:buSzPct val="55000"/>
                  <a:buFont typeface="Wingdings" panose="05000000000000000000" pitchFamily="2" charset="2"/>
                  <a:buChar char="n"/>
                  <a:defRPr sz="2600">
                    <a:solidFill>
                      <a:srgbClr val="8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rgbClr val="8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</a:endParaRPr>
              </a:p>
            </p:txBody>
          </p:sp>
          <p:sp>
            <p:nvSpPr>
              <p:cNvPr id="171031" name="Text Box 18"/>
              <p:cNvSpPr txBox="1">
                <a:spLocks noChangeArrowheads="1"/>
              </p:cNvSpPr>
              <p:nvPr/>
            </p:nvSpPr>
            <p:spPr bwMode="auto">
              <a:xfrm>
                <a:off x="347" y="3448"/>
                <a:ext cx="5046" cy="8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990033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2"/>
                  </a:buClr>
                  <a:buSzPct val="55000"/>
                  <a:buFont typeface="Wingdings" panose="05000000000000000000" pitchFamily="2" charset="2"/>
                  <a:buChar char="n"/>
                  <a:defRPr sz="2600">
                    <a:solidFill>
                      <a:srgbClr val="8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rgbClr val="8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GB" altLang="en-US" sz="200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ORDER-1</a:t>
                </a:r>
                <a:r>
                  <a:rPr lang="en-GB" altLang="en-US" sz="2000">
                    <a:latin typeface="Times New Roman" panose="02020603050405020304" pitchFamily="18" charset="0"/>
                  </a:rPr>
                  <a:t> (</a:t>
                </a:r>
                <a:r>
                  <a:rPr lang="en-GB" altLang="en-US" sz="2000" u="sng">
                    <a:solidFill>
                      <a:srgbClr val="0000FF"/>
                    </a:solidFill>
                    <a:latin typeface="Times New Roman" panose="02020603050405020304" pitchFamily="18" charset="0"/>
                  </a:rPr>
                  <a:t>order-no</a:t>
                </a:r>
                <a:r>
                  <a:rPr lang="en-GB" altLang="en-US" sz="2000">
                    <a:latin typeface="Times New Roman" panose="02020603050405020304" pitchFamily="18" charset="0"/>
                  </a:rPr>
                  <a:t>, order-date, cust-no, cust-name, cust-add, order-total</a:t>
                </a:r>
              </a:p>
            </p:txBody>
          </p:sp>
        </p:grpSp>
        <p:grpSp>
          <p:nvGrpSpPr>
            <p:cNvPr id="171026" name="Group 19"/>
            <p:cNvGrpSpPr>
              <a:grpSpLocks/>
            </p:cNvGrpSpPr>
            <p:nvPr/>
          </p:nvGrpSpPr>
          <p:grpSpPr bwMode="auto">
            <a:xfrm>
              <a:off x="361" y="2780"/>
              <a:ext cx="4272" cy="256"/>
              <a:chOff x="344" y="2943"/>
              <a:chExt cx="4272" cy="256"/>
            </a:xfrm>
          </p:grpSpPr>
          <p:sp>
            <p:nvSpPr>
              <p:cNvPr id="171028" name="Rectangle 20"/>
              <p:cNvSpPr>
                <a:spLocks noChangeArrowheads="1"/>
              </p:cNvSpPr>
              <p:nvPr/>
            </p:nvSpPr>
            <p:spPr bwMode="auto">
              <a:xfrm>
                <a:off x="344" y="2950"/>
                <a:ext cx="4098" cy="249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990033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2"/>
                  </a:buClr>
                  <a:buSzPct val="55000"/>
                  <a:buFont typeface="Wingdings" panose="05000000000000000000" pitchFamily="2" charset="2"/>
                  <a:buChar char="n"/>
                  <a:defRPr sz="2600">
                    <a:solidFill>
                      <a:srgbClr val="8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rgbClr val="8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</a:endParaRPr>
              </a:p>
            </p:txBody>
          </p:sp>
          <p:sp>
            <p:nvSpPr>
              <p:cNvPr id="171029" name="Rectangle 21"/>
              <p:cNvSpPr>
                <a:spLocks noChangeArrowheads="1"/>
              </p:cNvSpPr>
              <p:nvPr/>
            </p:nvSpPr>
            <p:spPr bwMode="auto">
              <a:xfrm>
                <a:off x="344" y="2943"/>
                <a:ext cx="4272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990033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2"/>
                  </a:buClr>
                  <a:buSzPct val="55000"/>
                  <a:buFont typeface="Wingdings" panose="05000000000000000000" pitchFamily="2" charset="2"/>
                  <a:buChar char="n"/>
                  <a:defRPr sz="2600">
                    <a:solidFill>
                      <a:srgbClr val="8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rgbClr val="8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GB" altLang="en-US" sz="2000">
                    <a:latin typeface="Times New Roman" panose="02020603050405020304" pitchFamily="18" charset="0"/>
                  </a:rPr>
                  <a:t>(</a:t>
                </a:r>
                <a:r>
                  <a:rPr lang="en-GB" altLang="en-US" sz="2000">
                    <a:solidFill>
                      <a:srgbClr val="0000FF"/>
                    </a:solidFill>
                    <a:latin typeface="Times New Roman" panose="02020603050405020304" pitchFamily="18" charset="0"/>
                  </a:rPr>
                  <a:t>order-no</a:t>
                </a:r>
                <a:r>
                  <a:rPr lang="en-GB" altLang="en-US" sz="2000">
                    <a:latin typeface="Times New Roman" panose="02020603050405020304" pitchFamily="18" charset="0"/>
                  </a:rPr>
                  <a:t>, prod-no, prod-desc, unit-price, ord-qty, line-total)</a:t>
                </a:r>
              </a:p>
            </p:txBody>
          </p:sp>
        </p:grpSp>
        <p:sp>
          <p:nvSpPr>
            <p:cNvPr id="23571" name="Line 22"/>
            <p:cNvSpPr>
              <a:spLocks noChangeShapeType="1"/>
            </p:cNvSpPr>
            <p:nvPr/>
          </p:nvSpPr>
          <p:spPr bwMode="auto">
            <a:xfrm flipV="1">
              <a:off x="892" y="2700"/>
              <a:ext cx="480" cy="180"/>
            </a:xfrm>
            <a:prstGeom prst="line">
              <a:avLst/>
            </a:prstGeom>
            <a:ln>
              <a:headEnd type="triangle" w="med" len="med"/>
              <a:tailEnd type="none" w="sm" len="sm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</p:grpSp>
      <p:grpSp>
        <p:nvGrpSpPr>
          <p:cNvPr id="9" name="Group 23"/>
          <p:cNvGrpSpPr>
            <a:grpSpLocks/>
          </p:cNvGrpSpPr>
          <p:nvPr/>
        </p:nvGrpSpPr>
        <p:grpSpPr bwMode="auto">
          <a:xfrm>
            <a:off x="252413" y="5045075"/>
            <a:ext cx="8789987" cy="731838"/>
            <a:chOff x="316" y="3108"/>
            <a:chExt cx="5537" cy="461"/>
          </a:xfrm>
        </p:grpSpPr>
        <p:sp>
          <p:nvSpPr>
            <p:cNvPr id="171020" name="Rectangle 24"/>
            <p:cNvSpPr>
              <a:spLocks noChangeArrowheads="1"/>
            </p:cNvSpPr>
            <p:nvPr/>
          </p:nvSpPr>
          <p:spPr bwMode="auto">
            <a:xfrm>
              <a:off x="316" y="3108"/>
              <a:ext cx="3828" cy="2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990033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600">
                  <a:solidFill>
                    <a:srgbClr val="80000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>
                  <a:latin typeface="Times New Roman" panose="02020603050405020304" pitchFamily="18" charset="0"/>
                </a:rPr>
                <a:t>3. Name the new entity </a:t>
              </a:r>
              <a:r>
                <a:rPr lang="en-US" altLang="en-US" sz="1600">
                  <a:solidFill>
                    <a:srgbClr val="0000FF"/>
                  </a:solidFill>
                  <a:latin typeface="Times New Roman" panose="02020603050405020304" pitchFamily="18" charset="0"/>
                </a:rPr>
                <a:t>(appending the number 1 to indicate 1NF)</a:t>
              </a:r>
            </a:p>
          </p:txBody>
        </p:sp>
        <p:grpSp>
          <p:nvGrpSpPr>
            <p:cNvPr id="171021" name="Group 25"/>
            <p:cNvGrpSpPr>
              <a:grpSpLocks/>
            </p:cNvGrpSpPr>
            <p:nvPr/>
          </p:nvGrpSpPr>
          <p:grpSpPr bwMode="auto">
            <a:xfrm>
              <a:off x="372" y="3313"/>
              <a:ext cx="5481" cy="256"/>
              <a:chOff x="372" y="3313"/>
              <a:chExt cx="5481" cy="256"/>
            </a:xfrm>
          </p:grpSpPr>
          <p:sp>
            <p:nvSpPr>
              <p:cNvPr id="171022" name="Rectangle 26"/>
              <p:cNvSpPr>
                <a:spLocks noChangeArrowheads="1"/>
              </p:cNvSpPr>
              <p:nvPr/>
            </p:nvSpPr>
            <p:spPr bwMode="auto">
              <a:xfrm>
                <a:off x="372" y="3320"/>
                <a:ext cx="5084" cy="249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990033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2"/>
                  </a:buClr>
                  <a:buSzPct val="55000"/>
                  <a:buFont typeface="Wingdings" panose="05000000000000000000" pitchFamily="2" charset="2"/>
                  <a:buChar char="n"/>
                  <a:defRPr sz="2600">
                    <a:solidFill>
                      <a:srgbClr val="8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rgbClr val="8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</a:endParaRPr>
              </a:p>
            </p:txBody>
          </p:sp>
          <p:sp>
            <p:nvSpPr>
              <p:cNvPr id="171023" name="Rectangle 27"/>
              <p:cNvSpPr>
                <a:spLocks noChangeArrowheads="1"/>
              </p:cNvSpPr>
              <p:nvPr/>
            </p:nvSpPr>
            <p:spPr bwMode="auto">
              <a:xfrm>
                <a:off x="372" y="3313"/>
                <a:ext cx="5481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990033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2"/>
                  </a:buClr>
                  <a:buSzPct val="55000"/>
                  <a:buFont typeface="Wingdings" panose="05000000000000000000" pitchFamily="2" charset="2"/>
                  <a:buChar char="n"/>
                  <a:defRPr sz="2600">
                    <a:solidFill>
                      <a:srgbClr val="8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rgbClr val="8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GB" altLang="en-US" sz="200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ORDER-LINE-1</a:t>
                </a:r>
                <a:r>
                  <a:rPr lang="en-GB" altLang="en-US" sz="2000">
                    <a:latin typeface="Times New Roman" panose="02020603050405020304" pitchFamily="18" charset="0"/>
                  </a:rPr>
                  <a:t> (order-no, prod-no, prod-desc, unit-price, ord-qty, line-total)</a:t>
                </a:r>
              </a:p>
            </p:txBody>
          </p:sp>
        </p:grpSp>
      </p:grpSp>
      <p:grpSp>
        <p:nvGrpSpPr>
          <p:cNvPr id="11" name="Group 28"/>
          <p:cNvGrpSpPr>
            <a:grpSpLocks/>
          </p:cNvGrpSpPr>
          <p:nvPr/>
        </p:nvGrpSpPr>
        <p:grpSpPr bwMode="auto">
          <a:xfrm>
            <a:off x="228600" y="5894388"/>
            <a:ext cx="8789988" cy="735012"/>
            <a:chOff x="301" y="3643"/>
            <a:chExt cx="5537" cy="463"/>
          </a:xfrm>
        </p:grpSpPr>
        <p:sp>
          <p:nvSpPr>
            <p:cNvPr id="171016" name="Rectangle 29"/>
            <p:cNvSpPr>
              <a:spLocks noChangeArrowheads="1"/>
            </p:cNvSpPr>
            <p:nvPr/>
          </p:nvSpPr>
          <p:spPr bwMode="auto">
            <a:xfrm>
              <a:off x="301" y="3643"/>
              <a:ext cx="2451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990033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600">
                  <a:solidFill>
                    <a:srgbClr val="80000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>
                  <a:latin typeface="Times New Roman" panose="02020603050405020304" pitchFamily="18" charset="0"/>
                </a:rPr>
                <a:t>4. Determine the PK of the new entity</a:t>
              </a:r>
              <a:endParaRPr lang="en-GB" altLang="en-US" sz="2400">
                <a:latin typeface="Times New Roman" panose="02020603050405020304" pitchFamily="18" charset="0"/>
              </a:endParaRPr>
            </a:p>
          </p:txBody>
        </p:sp>
        <p:grpSp>
          <p:nvGrpSpPr>
            <p:cNvPr id="171017" name="Group 30"/>
            <p:cNvGrpSpPr>
              <a:grpSpLocks/>
            </p:cNvGrpSpPr>
            <p:nvPr/>
          </p:nvGrpSpPr>
          <p:grpSpPr bwMode="auto">
            <a:xfrm>
              <a:off x="357" y="3850"/>
              <a:ext cx="5481" cy="256"/>
              <a:chOff x="357" y="3850"/>
              <a:chExt cx="5481" cy="256"/>
            </a:xfrm>
          </p:grpSpPr>
          <p:sp>
            <p:nvSpPr>
              <p:cNvPr id="171018" name="Rectangle 31"/>
              <p:cNvSpPr>
                <a:spLocks noChangeArrowheads="1"/>
              </p:cNvSpPr>
              <p:nvPr/>
            </p:nvSpPr>
            <p:spPr bwMode="auto">
              <a:xfrm>
                <a:off x="357" y="3857"/>
                <a:ext cx="5102" cy="249"/>
              </a:xfrm>
              <a:prstGeom prst="rect">
                <a:avLst/>
              </a:prstGeom>
              <a:solidFill>
                <a:srgbClr val="F0F5FE"/>
              </a:solid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990033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2"/>
                  </a:buClr>
                  <a:buSzPct val="55000"/>
                  <a:buFont typeface="Wingdings" panose="05000000000000000000" pitchFamily="2" charset="2"/>
                  <a:buChar char="n"/>
                  <a:defRPr sz="2600">
                    <a:solidFill>
                      <a:srgbClr val="8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rgbClr val="8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</a:endParaRPr>
              </a:p>
            </p:txBody>
          </p:sp>
          <p:sp>
            <p:nvSpPr>
              <p:cNvPr id="171019" name="Rectangle 32"/>
              <p:cNvSpPr>
                <a:spLocks noChangeArrowheads="1"/>
              </p:cNvSpPr>
              <p:nvPr/>
            </p:nvSpPr>
            <p:spPr bwMode="auto">
              <a:xfrm>
                <a:off x="357" y="3850"/>
                <a:ext cx="5481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990033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2"/>
                  </a:buClr>
                  <a:buSzPct val="55000"/>
                  <a:buFont typeface="Wingdings" panose="05000000000000000000" pitchFamily="2" charset="2"/>
                  <a:buChar char="n"/>
                  <a:defRPr sz="2600">
                    <a:solidFill>
                      <a:srgbClr val="8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rgbClr val="8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GB" altLang="en-US" sz="200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ORDER-LINE-1</a:t>
                </a:r>
                <a:r>
                  <a:rPr lang="en-GB" altLang="en-US" sz="2000">
                    <a:latin typeface="Times New Roman" panose="02020603050405020304" pitchFamily="18" charset="0"/>
                  </a:rPr>
                  <a:t> (</a:t>
                </a:r>
                <a:r>
                  <a:rPr lang="en-GB" altLang="en-US" sz="2000" u="sng">
                    <a:solidFill>
                      <a:srgbClr val="0000FF"/>
                    </a:solidFill>
                    <a:latin typeface="Times New Roman" panose="02020603050405020304" pitchFamily="18" charset="0"/>
                  </a:rPr>
                  <a:t>order-no, prod-no</a:t>
                </a:r>
                <a:r>
                  <a:rPr lang="en-GB" altLang="en-US" sz="2000">
                    <a:latin typeface="Times New Roman" panose="02020603050405020304" pitchFamily="18" charset="0"/>
                  </a:rPr>
                  <a:t>, prod-desc, unit-price, ord-qty, line-total)</a:t>
                </a:r>
              </a:p>
            </p:txBody>
          </p:sp>
        </p:grpSp>
      </p:grp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04900"/>
          </a:xfrm>
        </p:spPr>
        <p:txBody>
          <a:bodyPr/>
          <a:lstStyle/>
          <a:p>
            <a:r>
              <a:rPr lang="en-US" altLang="en-US" sz="4000" smtClean="0">
                <a:latin typeface="Times New Roman" panose="02020603050405020304" pitchFamily="18" charset="0"/>
              </a:rPr>
              <a:t>Second Normal Form (2NF)</a:t>
            </a:r>
            <a:endParaRPr lang="en-US" altLang="en-US" smtClean="0"/>
          </a:p>
        </p:txBody>
      </p:sp>
      <p:sp>
        <p:nvSpPr>
          <p:cNvPr id="173059" name="Rectangle 3"/>
          <p:cNvSpPr>
            <a:spLocks noChangeArrowheads="1"/>
          </p:cNvSpPr>
          <p:nvPr/>
        </p:nvSpPr>
        <p:spPr bwMode="auto">
          <a:xfrm>
            <a:off x="153988" y="1806575"/>
            <a:ext cx="8104187" cy="1381125"/>
          </a:xfrm>
          <a:prstGeom prst="rect">
            <a:avLst/>
          </a:prstGeom>
          <a:solidFill>
            <a:srgbClr val="F0F5FE"/>
          </a:solidFill>
          <a:ln w="12700">
            <a:solidFill>
              <a:schemeClr val="tx2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solidFill>
                <a:schemeClr val="tx1"/>
              </a:solidFill>
            </a:endParaRPr>
          </a:p>
        </p:txBody>
      </p:sp>
      <p:sp>
        <p:nvSpPr>
          <p:cNvPr id="521220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174625" y="1965325"/>
            <a:ext cx="8248650" cy="1069975"/>
          </a:xfrm>
        </p:spPr>
        <p:txBody>
          <a:bodyPr lIns="92075" tIns="46038" rIns="92075" bIns="46038"/>
          <a:lstStyle/>
          <a:p>
            <a:pPr marL="0" indent="0">
              <a:lnSpc>
                <a:spcPct val="90000"/>
              </a:lnSpc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r>
              <a:rPr lang="en-US" sz="2600" b="1" dirty="0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Definition</a:t>
            </a:r>
            <a:r>
              <a:rPr lang="en-US" sz="2600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: A relation is in 2NF if, and only if, it is in 1NF and every non-key attribute is fully dependent on the primary key.</a:t>
            </a:r>
          </a:p>
          <a:p>
            <a:pPr marL="0" indent="0">
              <a:lnSpc>
                <a:spcPct val="90000"/>
              </a:lnSpc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endParaRPr lang="en-US" sz="500" dirty="0">
              <a:effectLst>
                <a:outerShdw blurRad="38100" dist="38100" dir="2700000" algn="tl">
                  <a:srgbClr val="FFFFFF"/>
                </a:outerShdw>
              </a:effectLst>
              <a:latin typeface="Times New Roman" pitchFamily="18" charset="0"/>
            </a:endParaRPr>
          </a:p>
          <a:p>
            <a:pPr marL="0" indent="0">
              <a:lnSpc>
                <a:spcPct val="90000"/>
              </a:lnSpc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endParaRPr lang="en-US" sz="2600" dirty="0">
              <a:effectLst>
                <a:outerShdw blurRad="38100" dist="38100" dir="2700000" algn="tl">
                  <a:srgbClr val="FFFFFF"/>
                </a:outerShdw>
              </a:effectLst>
              <a:latin typeface="Times New Roman" pitchFamily="18" charset="0"/>
            </a:endParaRPr>
          </a:p>
        </p:txBody>
      </p:sp>
      <p:sp>
        <p:nvSpPr>
          <p:cNvPr id="173061" name="Rectangle 5"/>
          <p:cNvSpPr>
            <a:spLocks noChangeArrowheads="1"/>
          </p:cNvSpPr>
          <p:nvPr/>
        </p:nvSpPr>
        <p:spPr bwMode="auto">
          <a:xfrm>
            <a:off x="152400" y="3416300"/>
            <a:ext cx="7907338" cy="4699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Remove partial functional dependencies into a new relation</a:t>
            </a:r>
            <a:endParaRPr lang="en-GB" altLang="en-US" sz="2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600200"/>
            <a:ext cx="8229600" cy="4530725"/>
          </a:xfrm>
        </p:spPr>
        <p:txBody>
          <a:bodyPr/>
          <a:lstStyle/>
          <a:p>
            <a:endParaRPr lang="en-US" altLang="en-US" smtClean="0"/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454025" y="909638"/>
            <a:ext cx="7648575" cy="5643562"/>
            <a:chOff x="336" y="1321"/>
            <a:chExt cx="4818" cy="2263"/>
          </a:xfrm>
        </p:grpSpPr>
        <p:sp>
          <p:nvSpPr>
            <p:cNvPr id="522245" name="Rectangle 5"/>
            <p:cNvSpPr>
              <a:spLocks noChangeArrowheads="1"/>
            </p:cNvSpPr>
            <p:nvPr/>
          </p:nvSpPr>
          <p:spPr bwMode="auto">
            <a:xfrm>
              <a:off x="386" y="1646"/>
              <a:ext cx="4719" cy="1938"/>
            </a:xfrm>
            <a:prstGeom prst="rect">
              <a:avLst/>
            </a:prstGeom>
            <a:solidFill>
              <a:srgbClr val="F0F5FE"/>
            </a:solidFill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j-lt"/>
              </a:endParaRPr>
            </a:p>
          </p:txBody>
        </p:sp>
        <p:sp>
          <p:nvSpPr>
            <p:cNvPr id="522246" name="Rectangle 6"/>
            <p:cNvSpPr>
              <a:spLocks noChangeArrowheads="1"/>
            </p:cNvSpPr>
            <p:nvPr/>
          </p:nvSpPr>
          <p:spPr bwMode="auto">
            <a:xfrm>
              <a:off x="336" y="1321"/>
              <a:ext cx="4818" cy="8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92075" tIns="46038" rIns="92075" bIns="46038"/>
            <a:lstStyle/>
            <a:p>
              <a:pPr marL="381000" indent="-381000" fontAlgn="auto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chemeClr val="accent2"/>
                </a:buClr>
                <a:buSzPct val="75000"/>
                <a:buFont typeface="Wingdings" pitchFamily="2" charset="2"/>
                <a:buNone/>
                <a:defRPr/>
              </a:pPr>
              <a:r>
                <a:rPr lang="en-US" sz="3600" b="1" dirty="0">
                  <a:solidFill>
                    <a:schemeClr val="tx2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+mj-lt"/>
                </a:rPr>
                <a:t>Steps from 1NF to 2NF: </a:t>
              </a:r>
            </a:p>
            <a:p>
              <a:pPr marL="381000" indent="-381000" fontAlgn="auto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chemeClr val="accent2"/>
                </a:buClr>
                <a:buSzPct val="75000"/>
                <a:buFont typeface="Wingdings" pitchFamily="2" charset="2"/>
                <a:buChar char="l"/>
                <a:defRPr/>
              </a:pPr>
              <a:r>
                <a:rPr lang="en-US" dirty="0">
                  <a:effectLst>
                    <a:outerShdw blurRad="38100" dist="38100" dir="2700000" algn="tl">
                      <a:srgbClr val="FFFFFF"/>
                    </a:outerShdw>
                  </a:effectLst>
                  <a:latin typeface="+mj-lt"/>
                </a:rPr>
                <a:t>Remove the offending attributes that are only partially functionally dependent on the composite key, and place them in a new relation.</a:t>
              </a:r>
            </a:p>
            <a:p>
              <a:pPr marL="381000" indent="-381000" fontAlgn="auto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chemeClr val="accent2"/>
                </a:buClr>
                <a:buSzPct val="75000"/>
                <a:buFont typeface="Wingdings" pitchFamily="2" charset="2"/>
                <a:buChar char="l"/>
                <a:defRPr/>
              </a:pPr>
              <a:endParaRPr lang="en-US" sz="900" dirty="0">
                <a:effectLst>
                  <a:outerShdw blurRad="38100" dist="38100" dir="2700000" algn="tl">
                    <a:srgbClr val="FFFFFF"/>
                  </a:outerShdw>
                </a:effectLst>
                <a:latin typeface="+mj-lt"/>
              </a:endParaRPr>
            </a:p>
            <a:p>
              <a:pPr marL="381000" indent="-381000" fontAlgn="auto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chemeClr val="accent2"/>
                </a:buClr>
                <a:buSzPct val="75000"/>
                <a:buFont typeface="Wingdings" pitchFamily="2" charset="2"/>
                <a:buChar char="l"/>
                <a:defRPr/>
              </a:pPr>
              <a:r>
                <a:rPr lang="en-US" dirty="0">
                  <a:effectLst>
                    <a:outerShdw blurRad="38100" dist="38100" dir="2700000" algn="tl">
                      <a:srgbClr val="FFFFFF"/>
                    </a:outerShdw>
                  </a:effectLst>
                  <a:latin typeface="+mj-lt"/>
                </a:rPr>
                <a:t>Add to this relation a copy of the attribute(s) which are the determinants of these offending attributes. These will automatically become the primary key of this new relation.</a:t>
              </a:r>
            </a:p>
            <a:p>
              <a:pPr marL="381000" indent="-381000" fontAlgn="auto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chemeClr val="accent2"/>
                </a:buClr>
                <a:buSzPct val="75000"/>
                <a:buFont typeface="Wingdings" pitchFamily="2" charset="2"/>
                <a:buChar char="l"/>
                <a:defRPr/>
              </a:pPr>
              <a:endParaRPr lang="en-US" sz="900" dirty="0">
                <a:effectLst>
                  <a:outerShdw blurRad="38100" dist="38100" dir="2700000" algn="tl">
                    <a:srgbClr val="FFFFFF"/>
                  </a:outerShdw>
                </a:effectLst>
                <a:latin typeface="+mj-lt"/>
              </a:endParaRPr>
            </a:p>
            <a:p>
              <a:pPr marL="381000" indent="-381000" fontAlgn="auto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chemeClr val="accent2"/>
                </a:buClr>
                <a:buSzPct val="75000"/>
                <a:buFont typeface="Wingdings" pitchFamily="2" charset="2"/>
                <a:buChar char="l"/>
                <a:defRPr/>
              </a:pPr>
              <a:r>
                <a:rPr lang="en-US" dirty="0">
                  <a:effectLst>
                    <a:outerShdw blurRad="38100" dist="38100" dir="2700000" algn="tl">
                      <a:srgbClr val="FFFFFF"/>
                    </a:outerShdw>
                  </a:effectLst>
                  <a:latin typeface="+mj-lt"/>
                </a:rPr>
                <a:t>Name the new entity </a:t>
              </a:r>
              <a:r>
                <a:rPr lang="en-US" sz="2000" dirty="0">
                  <a:solidFill>
                    <a:schemeClr val="tx2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+mj-lt"/>
                </a:rPr>
                <a:t>(appending the number 2 to indicate 2NF)</a:t>
              </a:r>
            </a:p>
            <a:p>
              <a:pPr marL="381000" indent="-381000" fontAlgn="auto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chemeClr val="accent2"/>
                </a:buClr>
                <a:buSzPct val="75000"/>
                <a:buFont typeface="Wingdings" pitchFamily="2" charset="2"/>
                <a:buChar char="l"/>
                <a:defRPr/>
              </a:pPr>
              <a:endParaRPr lang="en-US" sz="900" dirty="0">
                <a:effectLst>
                  <a:outerShdw blurRad="38100" dist="38100" dir="2700000" algn="tl">
                    <a:srgbClr val="FFFFFF"/>
                  </a:outerShdw>
                </a:effectLst>
                <a:latin typeface="+mj-lt"/>
              </a:endParaRPr>
            </a:p>
            <a:p>
              <a:pPr marL="381000" indent="-381000" fontAlgn="auto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chemeClr val="accent2"/>
                </a:buClr>
                <a:buSzPct val="75000"/>
                <a:buFont typeface="Wingdings" pitchFamily="2" charset="2"/>
                <a:buChar char="l"/>
                <a:defRPr/>
              </a:pPr>
              <a:r>
                <a:rPr lang="en-US" dirty="0">
                  <a:effectLst>
                    <a:outerShdw blurRad="38100" dist="38100" dir="2700000" algn="tl">
                      <a:srgbClr val="FFFFFF"/>
                    </a:outerShdw>
                  </a:effectLst>
                  <a:latin typeface="+mj-lt"/>
                </a:rPr>
                <a:t>Rename the original entity </a:t>
              </a:r>
              <a:r>
                <a:rPr lang="en-US" sz="2000" dirty="0">
                  <a:effectLst>
                    <a:outerShdw blurRad="38100" dist="38100" dir="2700000" algn="tl">
                      <a:srgbClr val="FFFFFF"/>
                    </a:outerShdw>
                  </a:effectLst>
                  <a:latin typeface="+mj-lt"/>
                </a:rPr>
                <a:t>(</a:t>
              </a:r>
              <a:r>
                <a:rPr lang="en-US" sz="2000" dirty="0">
                  <a:solidFill>
                    <a:schemeClr val="tx2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+mj-lt"/>
                </a:rPr>
                <a:t>ending with a 2 to indicate 2NF)</a:t>
              </a:r>
              <a:endParaRPr lang="en-US" dirty="0">
                <a:solidFill>
                  <a:schemeClr val="tx2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j-lt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04900"/>
          </a:xfrm>
        </p:spPr>
        <p:txBody>
          <a:bodyPr/>
          <a:lstStyle/>
          <a:p>
            <a:r>
              <a:rPr lang="en-US" altLang="en-US" sz="4000" smtClean="0"/>
              <a:t>Example - 1NF to 2NF</a:t>
            </a:r>
            <a:endParaRPr lang="en-US" altLang="en-US" smtClean="0"/>
          </a:p>
        </p:txBody>
      </p:sp>
      <p:sp>
        <p:nvSpPr>
          <p:cNvPr id="177155" name="Rectangle 3"/>
          <p:cNvSpPr>
            <a:spLocks noChangeArrowheads="1"/>
          </p:cNvSpPr>
          <p:nvPr/>
        </p:nvSpPr>
        <p:spPr bwMode="auto">
          <a:xfrm>
            <a:off x="244475" y="1239838"/>
            <a:ext cx="8099425" cy="395287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solidFill>
                <a:schemeClr val="tx1"/>
              </a:solidFill>
            </a:endParaRPr>
          </a:p>
        </p:txBody>
      </p:sp>
      <p:sp>
        <p:nvSpPr>
          <p:cNvPr id="177156" name="Rectangle 4"/>
          <p:cNvSpPr>
            <a:spLocks noChangeArrowheads="1"/>
          </p:cNvSpPr>
          <p:nvPr/>
        </p:nvSpPr>
        <p:spPr bwMode="auto">
          <a:xfrm>
            <a:off x="195263" y="1295400"/>
            <a:ext cx="98298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en-US" sz="2000">
                <a:solidFill>
                  <a:schemeClr val="tx1"/>
                </a:solidFill>
                <a:latin typeface="Times New Roman" panose="02020603050405020304" pitchFamily="18" charset="0"/>
              </a:rPr>
              <a:t>ORDER-LINE-1</a:t>
            </a:r>
            <a:r>
              <a:rPr lang="en-GB" altLang="en-US" sz="2000">
                <a:latin typeface="Times New Roman" panose="02020603050405020304" pitchFamily="18" charset="0"/>
              </a:rPr>
              <a:t> (</a:t>
            </a:r>
            <a:r>
              <a:rPr lang="en-GB" altLang="en-US" sz="2000" u="sng">
                <a:solidFill>
                  <a:srgbClr val="0000FF"/>
                </a:solidFill>
                <a:latin typeface="Times New Roman" panose="02020603050405020304" pitchFamily="18" charset="0"/>
              </a:rPr>
              <a:t>order-no, prod-no</a:t>
            </a:r>
            <a:r>
              <a:rPr lang="en-GB" altLang="en-US" sz="2000">
                <a:latin typeface="Times New Roman" panose="02020603050405020304" pitchFamily="18" charset="0"/>
              </a:rPr>
              <a:t>, prod-desc, unit-price, ord-qty, line-total)</a:t>
            </a: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220663" y="1700213"/>
            <a:ext cx="8585200" cy="1574800"/>
            <a:chOff x="352" y="1071"/>
            <a:chExt cx="5008" cy="992"/>
          </a:xfrm>
        </p:grpSpPr>
        <p:sp>
          <p:nvSpPr>
            <p:cNvPr id="177177" name="Rectangle 6"/>
            <p:cNvSpPr>
              <a:spLocks noChangeArrowheads="1"/>
            </p:cNvSpPr>
            <p:nvPr/>
          </p:nvSpPr>
          <p:spPr bwMode="auto">
            <a:xfrm>
              <a:off x="379" y="1804"/>
              <a:ext cx="1545" cy="249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990033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600">
                  <a:solidFill>
                    <a:srgbClr val="80000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solidFill>
                  <a:schemeClr val="tx1"/>
                </a:solidFill>
              </a:endParaRPr>
            </a:p>
          </p:txBody>
        </p:sp>
        <p:sp>
          <p:nvSpPr>
            <p:cNvPr id="177178" name="Rectangle 7"/>
            <p:cNvSpPr>
              <a:spLocks noChangeArrowheads="1"/>
            </p:cNvSpPr>
            <p:nvPr/>
          </p:nvSpPr>
          <p:spPr bwMode="auto">
            <a:xfrm>
              <a:off x="352" y="1071"/>
              <a:ext cx="5008" cy="4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990033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600">
                  <a:solidFill>
                    <a:srgbClr val="80000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>
                  <a:latin typeface="Times New Roman" panose="02020603050405020304" pitchFamily="18" charset="0"/>
                </a:rPr>
                <a:t>1. </a:t>
              </a:r>
              <a:r>
                <a:rPr lang="en-US" altLang="en-US" sz="1800">
                  <a:latin typeface="Times New Roman" panose="02020603050405020304" pitchFamily="18" charset="0"/>
                </a:rPr>
                <a:t>Remove the offending attributes that are only partially functionally dependent on the composite key, and place them in a new relation. </a:t>
              </a:r>
              <a:endParaRPr lang="en-GB" altLang="en-US" sz="18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grpSp>
          <p:nvGrpSpPr>
            <p:cNvPr id="177179" name="Group 8"/>
            <p:cNvGrpSpPr>
              <a:grpSpLocks/>
            </p:cNvGrpSpPr>
            <p:nvPr/>
          </p:nvGrpSpPr>
          <p:grpSpPr bwMode="auto">
            <a:xfrm>
              <a:off x="377" y="1487"/>
              <a:ext cx="3960" cy="256"/>
              <a:chOff x="377" y="1487"/>
              <a:chExt cx="3960" cy="256"/>
            </a:xfrm>
          </p:grpSpPr>
          <p:sp>
            <p:nvSpPr>
              <p:cNvPr id="177181" name="Rectangle 9"/>
              <p:cNvSpPr>
                <a:spLocks noChangeArrowheads="1"/>
              </p:cNvSpPr>
              <p:nvPr/>
            </p:nvSpPr>
            <p:spPr bwMode="auto">
              <a:xfrm>
                <a:off x="377" y="1494"/>
                <a:ext cx="3705" cy="249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990033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2"/>
                  </a:buClr>
                  <a:buSzPct val="55000"/>
                  <a:buFont typeface="Wingdings" panose="05000000000000000000" pitchFamily="2" charset="2"/>
                  <a:buChar char="n"/>
                  <a:defRPr sz="2600">
                    <a:solidFill>
                      <a:srgbClr val="8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rgbClr val="8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</a:endParaRPr>
              </a:p>
            </p:txBody>
          </p:sp>
          <p:sp>
            <p:nvSpPr>
              <p:cNvPr id="177182" name="Rectangle 10"/>
              <p:cNvSpPr>
                <a:spLocks noChangeArrowheads="1"/>
              </p:cNvSpPr>
              <p:nvPr/>
            </p:nvSpPr>
            <p:spPr bwMode="auto">
              <a:xfrm>
                <a:off x="377" y="1487"/>
                <a:ext cx="3960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990033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2"/>
                  </a:buClr>
                  <a:buSzPct val="55000"/>
                  <a:buFont typeface="Wingdings" panose="05000000000000000000" pitchFamily="2" charset="2"/>
                  <a:buChar char="n"/>
                  <a:defRPr sz="2600">
                    <a:solidFill>
                      <a:srgbClr val="8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rgbClr val="8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GB" altLang="en-US" sz="200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ORDER-LINE-1</a:t>
                </a:r>
                <a:r>
                  <a:rPr lang="en-GB" altLang="en-US" sz="2000">
                    <a:latin typeface="Times New Roman" panose="02020603050405020304" pitchFamily="18" charset="0"/>
                  </a:rPr>
                  <a:t> (</a:t>
                </a:r>
                <a:r>
                  <a:rPr lang="en-GB" altLang="en-US" sz="2000" u="sng">
                    <a:solidFill>
                      <a:srgbClr val="0000FF"/>
                    </a:solidFill>
                    <a:latin typeface="Times New Roman" panose="02020603050405020304" pitchFamily="18" charset="0"/>
                  </a:rPr>
                  <a:t>order-no, prod-no</a:t>
                </a:r>
                <a:r>
                  <a:rPr lang="en-GB" altLang="en-US" sz="2000">
                    <a:latin typeface="Times New Roman" panose="02020603050405020304" pitchFamily="18" charset="0"/>
                  </a:rPr>
                  <a:t>, ord-qty, line-total)</a:t>
                </a:r>
              </a:p>
            </p:txBody>
          </p:sp>
        </p:grpSp>
        <p:sp>
          <p:nvSpPr>
            <p:cNvPr id="177180" name="Rectangle 11"/>
            <p:cNvSpPr>
              <a:spLocks noChangeArrowheads="1"/>
            </p:cNvSpPr>
            <p:nvPr/>
          </p:nvSpPr>
          <p:spPr bwMode="auto">
            <a:xfrm>
              <a:off x="385" y="1811"/>
              <a:ext cx="1663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990033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600">
                  <a:solidFill>
                    <a:srgbClr val="80000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GB" altLang="en-US" sz="2000">
                  <a:latin typeface="Times New Roman" panose="02020603050405020304" pitchFamily="18" charset="0"/>
                </a:rPr>
                <a:t>(prod-desc, unit-price)</a:t>
              </a:r>
            </a:p>
          </p:txBody>
        </p:sp>
      </p:grpSp>
      <p:grpSp>
        <p:nvGrpSpPr>
          <p:cNvPr id="4" name="Group 12"/>
          <p:cNvGrpSpPr>
            <a:grpSpLocks/>
          </p:cNvGrpSpPr>
          <p:nvPr/>
        </p:nvGrpSpPr>
        <p:grpSpPr bwMode="auto">
          <a:xfrm>
            <a:off x="204788" y="3357563"/>
            <a:ext cx="8601075" cy="1554162"/>
            <a:chOff x="342" y="2134"/>
            <a:chExt cx="5119" cy="979"/>
          </a:xfrm>
        </p:grpSpPr>
        <p:sp>
          <p:nvSpPr>
            <p:cNvPr id="177169" name="Rectangle 13"/>
            <p:cNvSpPr>
              <a:spLocks noChangeArrowheads="1"/>
            </p:cNvSpPr>
            <p:nvPr/>
          </p:nvSpPr>
          <p:spPr bwMode="auto">
            <a:xfrm>
              <a:off x="342" y="2134"/>
              <a:ext cx="5119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990033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600">
                  <a:solidFill>
                    <a:srgbClr val="80000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2. Add to this relation a copy of the attribute(s) which determines these offending attributes. These will automatically become the primary key of this new relation..</a:t>
              </a:r>
              <a:endParaRPr lang="en-GB" altLang="en-US" sz="1800">
                <a:latin typeface="Times New Roman" panose="02020603050405020304" pitchFamily="18" charset="0"/>
              </a:endParaRPr>
            </a:p>
          </p:txBody>
        </p:sp>
        <p:grpSp>
          <p:nvGrpSpPr>
            <p:cNvPr id="177170" name="Group 14"/>
            <p:cNvGrpSpPr>
              <a:grpSpLocks/>
            </p:cNvGrpSpPr>
            <p:nvPr/>
          </p:nvGrpSpPr>
          <p:grpSpPr bwMode="auto">
            <a:xfrm>
              <a:off x="369" y="2857"/>
              <a:ext cx="2297" cy="256"/>
              <a:chOff x="344" y="2943"/>
              <a:chExt cx="4408" cy="256"/>
            </a:xfrm>
          </p:grpSpPr>
          <p:sp>
            <p:nvSpPr>
              <p:cNvPr id="177175" name="Rectangle 15"/>
              <p:cNvSpPr>
                <a:spLocks noChangeArrowheads="1"/>
              </p:cNvSpPr>
              <p:nvPr/>
            </p:nvSpPr>
            <p:spPr bwMode="auto">
              <a:xfrm>
                <a:off x="344" y="2950"/>
                <a:ext cx="4098" cy="249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990033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2"/>
                  </a:buClr>
                  <a:buSzPct val="55000"/>
                  <a:buFont typeface="Wingdings" panose="05000000000000000000" pitchFamily="2" charset="2"/>
                  <a:buChar char="n"/>
                  <a:defRPr sz="2600">
                    <a:solidFill>
                      <a:srgbClr val="8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rgbClr val="8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</a:endParaRPr>
              </a:p>
            </p:txBody>
          </p:sp>
          <p:sp>
            <p:nvSpPr>
              <p:cNvPr id="177176" name="Rectangle 16"/>
              <p:cNvSpPr>
                <a:spLocks noChangeArrowheads="1"/>
              </p:cNvSpPr>
              <p:nvPr/>
            </p:nvSpPr>
            <p:spPr bwMode="auto">
              <a:xfrm>
                <a:off x="344" y="2943"/>
                <a:ext cx="4408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990033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2"/>
                  </a:buClr>
                  <a:buSzPct val="55000"/>
                  <a:buFont typeface="Wingdings" panose="05000000000000000000" pitchFamily="2" charset="2"/>
                  <a:buChar char="n"/>
                  <a:defRPr sz="2600">
                    <a:solidFill>
                      <a:srgbClr val="8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rgbClr val="8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GB" altLang="en-US" sz="2000">
                    <a:latin typeface="Times New Roman" panose="02020603050405020304" pitchFamily="18" charset="0"/>
                  </a:rPr>
                  <a:t>(</a:t>
                </a:r>
                <a:r>
                  <a:rPr lang="en-GB" altLang="en-US" sz="2000" u="sng">
                    <a:solidFill>
                      <a:srgbClr val="0000FF"/>
                    </a:solidFill>
                    <a:latin typeface="Times New Roman" panose="02020603050405020304" pitchFamily="18" charset="0"/>
                  </a:rPr>
                  <a:t>prod-no</a:t>
                </a:r>
                <a:r>
                  <a:rPr lang="en-GB" altLang="en-US" sz="2000">
                    <a:latin typeface="Times New Roman" panose="02020603050405020304" pitchFamily="18" charset="0"/>
                  </a:rPr>
                  <a:t>, prod-desc, unit-price)</a:t>
                </a:r>
              </a:p>
            </p:txBody>
          </p:sp>
        </p:grpSp>
        <p:grpSp>
          <p:nvGrpSpPr>
            <p:cNvPr id="177171" name="Group 17"/>
            <p:cNvGrpSpPr>
              <a:grpSpLocks/>
            </p:cNvGrpSpPr>
            <p:nvPr/>
          </p:nvGrpSpPr>
          <p:grpSpPr bwMode="auto">
            <a:xfrm>
              <a:off x="370" y="2542"/>
              <a:ext cx="3960" cy="253"/>
              <a:chOff x="377" y="1486"/>
              <a:chExt cx="3960" cy="253"/>
            </a:xfrm>
          </p:grpSpPr>
          <p:sp>
            <p:nvSpPr>
              <p:cNvPr id="177173" name="Rectangle 18"/>
              <p:cNvSpPr>
                <a:spLocks noChangeArrowheads="1"/>
              </p:cNvSpPr>
              <p:nvPr/>
            </p:nvSpPr>
            <p:spPr bwMode="auto">
              <a:xfrm>
                <a:off x="377" y="1486"/>
                <a:ext cx="3705" cy="249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990033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2"/>
                  </a:buClr>
                  <a:buSzPct val="55000"/>
                  <a:buFont typeface="Wingdings" panose="05000000000000000000" pitchFamily="2" charset="2"/>
                  <a:buChar char="n"/>
                  <a:defRPr sz="2600">
                    <a:solidFill>
                      <a:srgbClr val="8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rgbClr val="8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</a:endParaRPr>
              </a:p>
            </p:txBody>
          </p:sp>
          <p:sp>
            <p:nvSpPr>
              <p:cNvPr id="177174" name="Rectangle 19"/>
              <p:cNvSpPr>
                <a:spLocks noChangeArrowheads="1"/>
              </p:cNvSpPr>
              <p:nvPr/>
            </p:nvSpPr>
            <p:spPr bwMode="auto">
              <a:xfrm>
                <a:off x="377" y="1487"/>
                <a:ext cx="3960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990033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2"/>
                  </a:buClr>
                  <a:buSzPct val="55000"/>
                  <a:buFont typeface="Wingdings" panose="05000000000000000000" pitchFamily="2" charset="2"/>
                  <a:buChar char="n"/>
                  <a:defRPr sz="2600">
                    <a:solidFill>
                      <a:srgbClr val="8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rgbClr val="8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GB" altLang="en-US" sz="200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ORDER-LINE-1</a:t>
                </a:r>
                <a:r>
                  <a:rPr lang="en-GB" altLang="en-US" sz="2000">
                    <a:latin typeface="Times New Roman" panose="02020603050405020304" pitchFamily="18" charset="0"/>
                  </a:rPr>
                  <a:t> (</a:t>
                </a:r>
                <a:r>
                  <a:rPr lang="en-GB" altLang="en-US" sz="2000" u="sng">
                    <a:solidFill>
                      <a:srgbClr val="0000FF"/>
                    </a:solidFill>
                    <a:latin typeface="Times New Roman" panose="02020603050405020304" pitchFamily="18" charset="0"/>
                  </a:rPr>
                  <a:t>order-no, prod-no</a:t>
                </a:r>
                <a:r>
                  <a:rPr lang="en-GB" altLang="en-US" sz="2000">
                    <a:latin typeface="Times New Roman" panose="02020603050405020304" pitchFamily="18" charset="0"/>
                  </a:rPr>
                  <a:t>, ord-qty, line-total)</a:t>
                </a:r>
              </a:p>
            </p:txBody>
          </p:sp>
        </p:grpSp>
        <p:sp>
          <p:nvSpPr>
            <p:cNvPr id="26644" name="Line 20"/>
            <p:cNvSpPr>
              <a:spLocks noChangeShapeType="1"/>
            </p:cNvSpPr>
            <p:nvPr/>
          </p:nvSpPr>
          <p:spPr bwMode="auto">
            <a:xfrm flipV="1">
              <a:off x="840" y="2767"/>
              <a:ext cx="1526" cy="146"/>
            </a:xfrm>
            <a:prstGeom prst="line">
              <a:avLst/>
            </a:prstGeom>
            <a:ln>
              <a:headEnd type="triangle" w="med" len="med"/>
              <a:tailEnd type="none" w="sm" len="sm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</p:grpSp>
      <p:grpSp>
        <p:nvGrpSpPr>
          <p:cNvPr id="7" name="Group 21"/>
          <p:cNvGrpSpPr>
            <a:grpSpLocks/>
          </p:cNvGrpSpPr>
          <p:nvPr/>
        </p:nvGrpSpPr>
        <p:grpSpPr bwMode="auto">
          <a:xfrm>
            <a:off x="163513" y="5029200"/>
            <a:ext cx="6889750" cy="771525"/>
            <a:chOff x="316" y="3168"/>
            <a:chExt cx="3828" cy="486"/>
          </a:xfrm>
        </p:grpSpPr>
        <p:sp>
          <p:nvSpPr>
            <p:cNvPr id="177165" name="Rectangle 22"/>
            <p:cNvSpPr>
              <a:spLocks noChangeArrowheads="1"/>
            </p:cNvSpPr>
            <p:nvPr/>
          </p:nvSpPr>
          <p:spPr bwMode="auto">
            <a:xfrm>
              <a:off x="354" y="3405"/>
              <a:ext cx="3061" cy="249"/>
            </a:xfrm>
            <a:prstGeom prst="rect">
              <a:avLst/>
            </a:prstGeom>
            <a:solidFill>
              <a:srgbClr val="F0F5FE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990033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600">
                  <a:solidFill>
                    <a:srgbClr val="80000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solidFill>
                  <a:schemeClr val="tx1"/>
                </a:solidFill>
              </a:endParaRPr>
            </a:p>
          </p:txBody>
        </p:sp>
        <p:grpSp>
          <p:nvGrpSpPr>
            <p:cNvPr id="177166" name="Group 23"/>
            <p:cNvGrpSpPr>
              <a:grpSpLocks/>
            </p:cNvGrpSpPr>
            <p:nvPr/>
          </p:nvGrpSpPr>
          <p:grpSpPr bwMode="auto">
            <a:xfrm>
              <a:off x="316" y="3168"/>
              <a:ext cx="3828" cy="482"/>
              <a:chOff x="316" y="3168"/>
              <a:chExt cx="3828" cy="482"/>
            </a:xfrm>
          </p:grpSpPr>
          <p:sp>
            <p:nvSpPr>
              <p:cNvPr id="177167" name="Rectangle 24"/>
              <p:cNvSpPr>
                <a:spLocks noChangeArrowheads="1"/>
              </p:cNvSpPr>
              <p:nvPr/>
            </p:nvSpPr>
            <p:spPr bwMode="auto">
              <a:xfrm>
                <a:off x="316" y="3168"/>
                <a:ext cx="3828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990033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2"/>
                  </a:buClr>
                  <a:buSzPct val="55000"/>
                  <a:buFont typeface="Wingdings" panose="05000000000000000000" pitchFamily="2" charset="2"/>
                  <a:buChar char="n"/>
                  <a:defRPr sz="2600">
                    <a:solidFill>
                      <a:srgbClr val="8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rgbClr val="8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lnSpc>
                    <a:spcPct val="9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Times New Roman" panose="02020603050405020304" pitchFamily="18" charset="0"/>
                  </a:rPr>
                  <a:t>3. Name the new entity </a:t>
                </a:r>
                <a:r>
                  <a:rPr lang="en-US" altLang="en-US" sz="1600">
                    <a:solidFill>
                      <a:srgbClr val="0000FF"/>
                    </a:solidFill>
                    <a:latin typeface="Times New Roman" panose="02020603050405020304" pitchFamily="18" charset="0"/>
                  </a:rPr>
                  <a:t>(appending the number 2 to indicate 2NF)</a:t>
                </a:r>
              </a:p>
            </p:txBody>
          </p:sp>
          <p:sp>
            <p:nvSpPr>
              <p:cNvPr id="177168" name="Rectangle 25"/>
              <p:cNvSpPr>
                <a:spLocks noChangeArrowheads="1"/>
              </p:cNvSpPr>
              <p:nvPr/>
            </p:nvSpPr>
            <p:spPr bwMode="auto">
              <a:xfrm>
                <a:off x="354" y="3398"/>
                <a:ext cx="3258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990033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2"/>
                  </a:buClr>
                  <a:buSzPct val="55000"/>
                  <a:buFont typeface="Wingdings" panose="05000000000000000000" pitchFamily="2" charset="2"/>
                  <a:buChar char="n"/>
                  <a:defRPr sz="2600">
                    <a:solidFill>
                      <a:srgbClr val="8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rgbClr val="8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GB" altLang="en-US" sz="200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PRODUCT-2</a:t>
                </a:r>
                <a:r>
                  <a:rPr lang="en-GB" altLang="en-US" sz="2000">
                    <a:latin typeface="Times New Roman" panose="02020603050405020304" pitchFamily="18" charset="0"/>
                  </a:rPr>
                  <a:t> (</a:t>
                </a:r>
                <a:r>
                  <a:rPr lang="en-GB" altLang="en-US" sz="2000" u="sng">
                    <a:solidFill>
                      <a:srgbClr val="0000FF"/>
                    </a:solidFill>
                    <a:latin typeface="Times New Roman" panose="02020603050405020304" pitchFamily="18" charset="0"/>
                  </a:rPr>
                  <a:t>prod-no</a:t>
                </a:r>
                <a:r>
                  <a:rPr lang="en-GB" altLang="en-US" sz="2000">
                    <a:latin typeface="Times New Roman" panose="02020603050405020304" pitchFamily="18" charset="0"/>
                  </a:rPr>
                  <a:t>, prod-desc, unit-price)</a:t>
                </a:r>
              </a:p>
            </p:txBody>
          </p:sp>
        </p:grpSp>
      </p:grpSp>
      <p:grpSp>
        <p:nvGrpSpPr>
          <p:cNvPr id="9" name="Group 26"/>
          <p:cNvGrpSpPr>
            <a:grpSpLocks/>
          </p:cNvGrpSpPr>
          <p:nvPr/>
        </p:nvGrpSpPr>
        <p:grpSpPr bwMode="auto">
          <a:xfrm>
            <a:off x="152400" y="5865813"/>
            <a:ext cx="7358063" cy="754062"/>
            <a:chOff x="309" y="3695"/>
            <a:chExt cx="4004" cy="475"/>
          </a:xfrm>
        </p:grpSpPr>
        <p:sp>
          <p:nvSpPr>
            <p:cNvPr id="177161" name="Rectangle 27"/>
            <p:cNvSpPr>
              <a:spLocks noChangeArrowheads="1"/>
            </p:cNvSpPr>
            <p:nvPr/>
          </p:nvSpPr>
          <p:spPr bwMode="auto">
            <a:xfrm>
              <a:off x="353" y="3921"/>
              <a:ext cx="3705" cy="249"/>
            </a:xfrm>
            <a:prstGeom prst="rect">
              <a:avLst/>
            </a:prstGeom>
            <a:solidFill>
              <a:srgbClr val="F0F5FE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990033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600">
                  <a:solidFill>
                    <a:srgbClr val="80000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solidFill>
                  <a:schemeClr val="tx1"/>
                </a:solidFill>
              </a:endParaRPr>
            </a:p>
          </p:txBody>
        </p:sp>
        <p:grpSp>
          <p:nvGrpSpPr>
            <p:cNvPr id="177162" name="Group 28"/>
            <p:cNvGrpSpPr>
              <a:grpSpLocks/>
            </p:cNvGrpSpPr>
            <p:nvPr/>
          </p:nvGrpSpPr>
          <p:grpSpPr bwMode="auto">
            <a:xfrm>
              <a:off x="309" y="3695"/>
              <a:ext cx="4004" cy="471"/>
              <a:chOff x="309" y="3695"/>
              <a:chExt cx="4004" cy="471"/>
            </a:xfrm>
          </p:grpSpPr>
          <p:sp>
            <p:nvSpPr>
              <p:cNvPr id="177163" name="Rectangle 29"/>
              <p:cNvSpPr>
                <a:spLocks noChangeArrowheads="1"/>
              </p:cNvSpPr>
              <p:nvPr/>
            </p:nvSpPr>
            <p:spPr bwMode="auto">
              <a:xfrm>
                <a:off x="309" y="3695"/>
                <a:ext cx="3726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990033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2"/>
                  </a:buClr>
                  <a:buSzPct val="55000"/>
                  <a:buFont typeface="Wingdings" panose="05000000000000000000" pitchFamily="2" charset="2"/>
                  <a:buChar char="n"/>
                  <a:defRPr sz="2600">
                    <a:solidFill>
                      <a:srgbClr val="8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rgbClr val="8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Times New Roman" panose="02020603050405020304" pitchFamily="18" charset="0"/>
                  </a:rPr>
                  <a:t>4. Rename the original entity </a:t>
                </a:r>
                <a:r>
                  <a:rPr lang="en-US" altLang="en-US" sz="1600">
                    <a:solidFill>
                      <a:srgbClr val="0000FF"/>
                    </a:solidFill>
                    <a:latin typeface="Times New Roman" panose="02020603050405020304" pitchFamily="18" charset="0"/>
                  </a:rPr>
                  <a:t>(ending with a 2 to indicate 2NF)</a:t>
                </a:r>
                <a:endParaRPr lang="en-GB" altLang="en-US" sz="1600">
                  <a:solidFill>
                    <a:srgbClr val="0000FF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77164" name="Rectangle 30"/>
              <p:cNvSpPr>
                <a:spLocks noChangeArrowheads="1"/>
              </p:cNvSpPr>
              <p:nvPr/>
            </p:nvSpPr>
            <p:spPr bwMode="auto">
              <a:xfrm>
                <a:off x="353" y="3914"/>
                <a:ext cx="3960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990033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2"/>
                  </a:buClr>
                  <a:buSzPct val="55000"/>
                  <a:buFont typeface="Wingdings" panose="05000000000000000000" pitchFamily="2" charset="2"/>
                  <a:buChar char="n"/>
                  <a:defRPr sz="2600">
                    <a:solidFill>
                      <a:srgbClr val="8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rgbClr val="8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GB" altLang="en-US" sz="200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ORDER-LINE-2</a:t>
                </a:r>
                <a:r>
                  <a:rPr lang="en-GB" altLang="en-US" sz="2000">
                    <a:latin typeface="Times New Roman" panose="02020603050405020304" pitchFamily="18" charset="0"/>
                  </a:rPr>
                  <a:t> (</a:t>
                </a:r>
                <a:r>
                  <a:rPr lang="en-GB" altLang="en-US" sz="2000" u="sng">
                    <a:solidFill>
                      <a:srgbClr val="0000FF"/>
                    </a:solidFill>
                    <a:latin typeface="Times New Roman" panose="02020603050405020304" pitchFamily="18" charset="0"/>
                  </a:rPr>
                  <a:t>order-no, prod-no</a:t>
                </a:r>
                <a:r>
                  <a:rPr lang="en-GB" altLang="en-US" sz="2000">
                    <a:latin typeface="Times New Roman" panose="02020603050405020304" pitchFamily="18" charset="0"/>
                  </a:rPr>
                  <a:t>, ord-qty, line-total)</a:t>
                </a:r>
              </a:p>
            </p:txBody>
          </p:sp>
        </p:grpSp>
      </p:grp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04900"/>
          </a:xfrm>
        </p:spPr>
        <p:txBody>
          <a:bodyPr/>
          <a:lstStyle/>
          <a:p>
            <a:r>
              <a:rPr lang="en-US" altLang="en-US" sz="4000" smtClean="0"/>
              <a:t>Third Normal Form (3NF)</a:t>
            </a:r>
            <a:endParaRPr lang="en-US" altLang="en-US" smtClean="0"/>
          </a:p>
        </p:txBody>
      </p:sp>
      <p:sp>
        <p:nvSpPr>
          <p:cNvPr id="179203" name="Rectangle 3"/>
          <p:cNvSpPr>
            <a:spLocks noChangeArrowheads="1"/>
          </p:cNvSpPr>
          <p:nvPr/>
        </p:nvSpPr>
        <p:spPr bwMode="auto">
          <a:xfrm>
            <a:off x="228600" y="2089150"/>
            <a:ext cx="8131175" cy="1517650"/>
          </a:xfrm>
          <a:prstGeom prst="rect">
            <a:avLst/>
          </a:prstGeom>
          <a:solidFill>
            <a:srgbClr val="F0F5FE"/>
          </a:solidFill>
          <a:ln w="12700">
            <a:solidFill>
              <a:schemeClr val="tx2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solidFill>
                <a:schemeClr val="tx1"/>
              </a:solidFill>
            </a:endParaRPr>
          </a:p>
        </p:txBody>
      </p:sp>
      <p:sp>
        <p:nvSpPr>
          <p:cNvPr id="524292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249238" y="2116138"/>
            <a:ext cx="8248650" cy="1069975"/>
          </a:xfrm>
        </p:spPr>
        <p:txBody>
          <a:bodyPr lIns="92075" tIns="46038" rIns="92075" bIns="46038"/>
          <a:lstStyle/>
          <a:p>
            <a:pPr marL="0" indent="0">
              <a:lnSpc>
                <a:spcPct val="90000"/>
              </a:lnSpc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r>
              <a:rPr lang="en-US" sz="2600" b="1" dirty="0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Definition</a:t>
            </a:r>
            <a:r>
              <a:rPr lang="en-US" sz="2600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: A relation is in 3NF if, and only if, it is in 2NF and every non-key attribute is non-transitively dependent on the primary key.</a:t>
            </a:r>
          </a:p>
          <a:p>
            <a:pPr marL="0" indent="0">
              <a:lnSpc>
                <a:spcPct val="90000"/>
              </a:lnSpc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endParaRPr lang="en-US" sz="500" dirty="0">
              <a:effectLst>
                <a:outerShdw blurRad="38100" dist="38100" dir="2700000" algn="tl">
                  <a:srgbClr val="FFFFFF"/>
                </a:outerShdw>
              </a:effectLst>
              <a:latin typeface="Times New Roman" pitchFamily="18" charset="0"/>
            </a:endParaRPr>
          </a:p>
          <a:p>
            <a:pPr marL="0" indent="0">
              <a:lnSpc>
                <a:spcPct val="90000"/>
              </a:lnSpc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endParaRPr lang="en-US" sz="2600" dirty="0">
              <a:effectLst>
                <a:outerShdw blurRad="38100" dist="38100" dir="2700000" algn="tl">
                  <a:srgbClr val="FFFFFF"/>
                </a:outerShdw>
              </a:effectLst>
              <a:latin typeface="Times New Roman" pitchFamily="18" charset="0"/>
            </a:endParaRP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379412" y="3797300"/>
            <a:ext cx="6865938" cy="469900"/>
            <a:chOff x="462" y="1463"/>
            <a:chExt cx="4325" cy="296"/>
          </a:xfrm>
          <a:noFill/>
        </p:grpSpPr>
        <p:sp>
          <p:nvSpPr>
            <p:cNvPr id="524294" name="Rectangle 6"/>
            <p:cNvSpPr>
              <a:spLocks noChangeArrowheads="1"/>
            </p:cNvSpPr>
            <p:nvPr/>
          </p:nvSpPr>
          <p:spPr bwMode="auto">
            <a:xfrm>
              <a:off x="463" y="1474"/>
              <a:ext cx="4319" cy="283"/>
            </a:xfrm>
            <a:prstGeom prst="rect">
              <a:avLst/>
            </a:prstGeom>
            <a:grp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</a:endParaRPr>
            </a:p>
          </p:txBody>
        </p:sp>
        <p:sp>
          <p:nvSpPr>
            <p:cNvPr id="524295" name="Rectangle 7"/>
            <p:cNvSpPr>
              <a:spLocks noChangeArrowheads="1"/>
            </p:cNvSpPr>
            <p:nvPr/>
          </p:nvSpPr>
          <p:spPr bwMode="auto">
            <a:xfrm>
              <a:off x="462" y="1463"/>
              <a:ext cx="4325" cy="296"/>
            </a:xfrm>
            <a:prstGeom prst="rect">
              <a:avLst/>
            </a:prstGeom>
            <a:grp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latin typeface="Times New Roman" pitchFamily="18" charset="0"/>
                </a:rPr>
                <a:t>Remove transitive dependencies into a new relation</a:t>
              </a:r>
              <a:endParaRPr lang="en-GB" dirty="0">
                <a:latin typeface="Times New Roman" pitchFamily="18" charset="0"/>
              </a:endParaRP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228600" y="990600"/>
            <a:ext cx="8915400" cy="5791200"/>
            <a:chOff x="350" y="1792"/>
            <a:chExt cx="4818" cy="2157"/>
          </a:xfrm>
        </p:grpSpPr>
        <p:sp>
          <p:nvSpPr>
            <p:cNvPr id="525317" name="Rectangle 5"/>
            <p:cNvSpPr>
              <a:spLocks noChangeArrowheads="1"/>
            </p:cNvSpPr>
            <p:nvPr/>
          </p:nvSpPr>
          <p:spPr bwMode="auto">
            <a:xfrm>
              <a:off x="361" y="1792"/>
              <a:ext cx="4718" cy="2157"/>
            </a:xfrm>
            <a:prstGeom prst="rect">
              <a:avLst/>
            </a:prstGeom>
            <a:solidFill>
              <a:srgbClr val="F0F5FE"/>
            </a:solidFill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j-lt"/>
              </a:endParaRPr>
            </a:p>
          </p:txBody>
        </p:sp>
        <p:sp>
          <p:nvSpPr>
            <p:cNvPr id="525318" name="Rectangle 6"/>
            <p:cNvSpPr>
              <a:spLocks noChangeArrowheads="1"/>
            </p:cNvSpPr>
            <p:nvPr/>
          </p:nvSpPr>
          <p:spPr bwMode="auto">
            <a:xfrm>
              <a:off x="350" y="1798"/>
              <a:ext cx="4818" cy="6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92075" tIns="46038" rIns="92075" bIns="46038"/>
            <a:lstStyle/>
            <a:p>
              <a:pPr marL="381000" indent="-381000" fontAlgn="auto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chemeClr val="accent2"/>
                </a:buClr>
                <a:buSzPct val="75000"/>
                <a:buFont typeface="Wingdings" pitchFamily="2" charset="2"/>
                <a:buNone/>
                <a:defRPr/>
              </a:pPr>
              <a:r>
                <a:rPr lang="en-US" sz="2600" dirty="0">
                  <a:solidFill>
                    <a:schemeClr val="tx2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itchFamily="18" charset="0"/>
                </a:rPr>
                <a:t>Steps from 2NF to 3NF: </a:t>
              </a:r>
            </a:p>
            <a:p>
              <a:pPr marL="381000" indent="-381000" fontAlgn="auto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chemeClr val="accent2"/>
                </a:buClr>
                <a:buSzPct val="75000"/>
                <a:buFont typeface="Wingdings" pitchFamily="2" charset="2"/>
                <a:buChar char="l"/>
                <a:defRPr/>
              </a:pPr>
              <a:r>
                <a:rPr lang="en-US" dirty="0"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itchFamily="18" charset="0"/>
                </a:rPr>
                <a:t>Remove the offending attributes that are transitively dependent on non-key attribute(s), and place them in a new relation.</a:t>
              </a:r>
            </a:p>
            <a:p>
              <a:pPr marL="381000" indent="-381000" fontAlgn="auto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chemeClr val="accent2"/>
                </a:buClr>
                <a:buSzPct val="75000"/>
                <a:buFont typeface="Wingdings" pitchFamily="2" charset="2"/>
                <a:buChar char="l"/>
                <a:defRPr/>
              </a:pPr>
              <a:endParaRPr lang="en-US" sz="900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endParaRPr>
            </a:p>
            <a:p>
              <a:pPr marL="381000" indent="-381000" fontAlgn="auto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chemeClr val="accent2"/>
                </a:buClr>
                <a:buSzPct val="75000"/>
                <a:buFont typeface="Wingdings" pitchFamily="2" charset="2"/>
                <a:buChar char="l"/>
                <a:defRPr/>
              </a:pPr>
              <a:r>
                <a:rPr lang="en-US" dirty="0"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itchFamily="18" charset="0"/>
                </a:rPr>
                <a:t>Add to this relation a copy of the attribute(s) which are the determinants of these offending attributes. These will automatically become the primary key of this new relation.</a:t>
              </a:r>
            </a:p>
            <a:p>
              <a:pPr marL="381000" indent="-381000" fontAlgn="auto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chemeClr val="accent2"/>
                </a:buClr>
                <a:buSzPct val="75000"/>
                <a:buFont typeface="Wingdings" pitchFamily="2" charset="2"/>
                <a:buChar char="l"/>
                <a:defRPr/>
              </a:pPr>
              <a:endParaRPr lang="en-US" sz="900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endParaRPr>
            </a:p>
            <a:p>
              <a:pPr marL="381000" indent="-381000" fontAlgn="auto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chemeClr val="accent2"/>
                </a:buClr>
                <a:buSzPct val="75000"/>
                <a:buFont typeface="Wingdings" pitchFamily="2" charset="2"/>
                <a:buChar char="l"/>
                <a:defRPr/>
              </a:pPr>
              <a:r>
                <a:rPr lang="en-US" dirty="0"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itchFamily="18" charset="0"/>
                </a:rPr>
                <a:t>Name the new entity </a:t>
              </a:r>
              <a:r>
                <a:rPr lang="en-US" sz="2000" dirty="0">
                  <a:solidFill>
                    <a:srgbClr val="0000FF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itchFamily="18" charset="0"/>
                </a:rPr>
                <a:t>(appending the number 3 to indicate 3NF)</a:t>
              </a:r>
            </a:p>
            <a:p>
              <a:pPr marL="381000" indent="-381000" fontAlgn="auto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chemeClr val="accent2"/>
                </a:buClr>
                <a:buSzPct val="75000"/>
                <a:buFont typeface="Wingdings" pitchFamily="2" charset="2"/>
                <a:buChar char="l"/>
                <a:defRPr/>
              </a:pPr>
              <a:endParaRPr lang="en-US" sz="900" dirty="0">
                <a:solidFill>
                  <a:schemeClr val="tx2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endParaRPr>
            </a:p>
            <a:p>
              <a:pPr marL="381000" indent="-381000" fontAlgn="auto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chemeClr val="accent2"/>
                </a:buClr>
                <a:buSzPct val="75000"/>
                <a:buFont typeface="Wingdings" pitchFamily="2" charset="2"/>
                <a:buChar char="l"/>
                <a:defRPr/>
              </a:pPr>
              <a:r>
                <a:rPr lang="en-US" dirty="0"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itchFamily="18" charset="0"/>
                </a:rPr>
                <a:t>Rename the original entity </a:t>
              </a:r>
              <a:r>
                <a:rPr lang="en-US" sz="2000" dirty="0">
                  <a:solidFill>
                    <a:srgbClr val="0000FF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itchFamily="18" charset="0"/>
                </a:rPr>
                <a:t>(ending with a 3 to indicate 3NF)</a:t>
              </a:r>
              <a:endParaRPr lang="en-US" dirty="0">
                <a:solidFill>
                  <a:schemeClr val="tx2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04900"/>
          </a:xfrm>
        </p:spPr>
        <p:txBody>
          <a:bodyPr/>
          <a:lstStyle/>
          <a:p>
            <a:r>
              <a:rPr lang="en-US" altLang="en-US" sz="4000" smtClean="0"/>
              <a:t>Example - 2NF to 3NF</a:t>
            </a:r>
            <a:endParaRPr lang="en-US" altLang="en-US" smtClean="0"/>
          </a:p>
        </p:txBody>
      </p:sp>
      <p:grpSp>
        <p:nvGrpSpPr>
          <p:cNvPr id="183299" name="Group 3"/>
          <p:cNvGrpSpPr>
            <a:grpSpLocks/>
          </p:cNvGrpSpPr>
          <p:nvPr/>
        </p:nvGrpSpPr>
        <p:grpSpPr bwMode="auto">
          <a:xfrm>
            <a:off x="300038" y="1223963"/>
            <a:ext cx="8505825" cy="430212"/>
            <a:chOff x="347" y="3448"/>
            <a:chExt cx="5046" cy="494"/>
          </a:xfrm>
        </p:grpSpPr>
        <p:sp>
          <p:nvSpPr>
            <p:cNvPr id="183324" name="Rectangle 4"/>
            <p:cNvSpPr>
              <a:spLocks noChangeArrowheads="1"/>
            </p:cNvSpPr>
            <p:nvPr/>
          </p:nvSpPr>
          <p:spPr bwMode="auto">
            <a:xfrm>
              <a:off x="360" y="3479"/>
              <a:ext cx="4937" cy="463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990033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600">
                  <a:solidFill>
                    <a:srgbClr val="80000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solidFill>
                  <a:schemeClr val="tx1"/>
                </a:solidFill>
              </a:endParaRPr>
            </a:p>
          </p:txBody>
        </p:sp>
        <p:sp>
          <p:nvSpPr>
            <p:cNvPr id="183325" name="Text Box 5"/>
            <p:cNvSpPr txBox="1">
              <a:spLocks noChangeArrowheads="1"/>
            </p:cNvSpPr>
            <p:nvPr/>
          </p:nvSpPr>
          <p:spPr bwMode="auto">
            <a:xfrm>
              <a:off x="347" y="3448"/>
              <a:ext cx="5046" cy="4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990033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600">
                  <a:solidFill>
                    <a:srgbClr val="80000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GB" altLang="en-US" sz="2000">
                  <a:solidFill>
                    <a:schemeClr val="tx1"/>
                  </a:solidFill>
                  <a:latin typeface="Times New Roman" panose="02020603050405020304" pitchFamily="18" charset="0"/>
                </a:rPr>
                <a:t>ORDER-2</a:t>
              </a:r>
              <a:r>
                <a:rPr lang="en-GB" altLang="en-US" sz="2000">
                  <a:latin typeface="Times New Roman" panose="02020603050405020304" pitchFamily="18" charset="0"/>
                </a:rPr>
                <a:t> (</a:t>
              </a:r>
              <a:r>
                <a:rPr lang="en-GB" altLang="en-US" sz="2000" u="sng">
                  <a:solidFill>
                    <a:srgbClr val="0000FF"/>
                  </a:solidFill>
                  <a:latin typeface="Times New Roman" panose="02020603050405020304" pitchFamily="18" charset="0"/>
                </a:rPr>
                <a:t>order-no</a:t>
              </a:r>
              <a:r>
                <a:rPr lang="en-GB" altLang="en-US" sz="2000">
                  <a:latin typeface="Times New Roman" panose="02020603050405020304" pitchFamily="18" charset="0"/>
                </a:rPr>
                <a:t>, order-date, cust-no, cust-name, cust-add, order-total</a:t>
              </a:r>
            </a:p>
          </p:txBody>
        </p:sp>
      </p:grpSp>
      <p:grpSp>
        <p:nvGrpSpPr>
          <p:cNvPr id="3" name="Group 6"/>
          <p:cNvGrpSpPr>
            <a:grpSpLocks/>
          </p:cNvGrpSpPr>
          <p:nvPr/>
        </p:nvGrpSpPr>
        <p:grpSpPr bwMode="auto">
          <a:xfrm>
            <a:off x="220663" y="1700213"/>
            <a:ext cx="8585200" cy="1574800"/>
            <a:chOff x="352" y="1071"/>
            <a:chExt cx="5008" cy="992"/>
          </a:xfrm>
        </p:grpSpPr>
        <p:sp>
          <p:nvSpPr>
            <p:cNvPr id="183317" name="Rectangle 7"/>
            <p:cNvSpPr>
              <a:spLocks noChangeArrowheads="1"/>
            </p:cNvSpPr>
            <p:nvPr/>
          </p:nvSpPr>
          <p:spPr bwMode="auto">
            <a:xfrm>
              <a:off x="379" y="1804"/>
              <a:ext cx="1545" cy="249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990033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600">
                  <a:solidFill>
                    <a:srgbClr val="80000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solidFill>
                  <a:schemeClr val="tx1"/>
                </a:solidFill>
              </a:endParaRPr>
            </a:p>
          </p:txBody>
        </p:sp>
        <p:grpSp>
          <p:nvGrpSpPr>
            <p:cNvPr id="183318" name="Group 8"/>
            <p:cNvGrpSpPr>
              <a:grpSpLocks/>
            </p:cNvGrpSpPr>
            <p:nvPr/>
          </p:nvGrpSpPr>
          <p:grpSpPr bwMode="auto">
            <a:xfrm>
              <a:off x="352" y="1071"/>
              <a:ext cx="5008" cy="992"/>
              <a:chOff x="352" y="1071"/>
              <a:chExt cx="5008" cy="992"/>
            </a:xfrm>
          </p:grpSpPr>
          <p:sp>
            <p:nvSpPr>
              <p:cNvPr id="183319" name="Rectangle 9"/>
              <p:cNvSpPr>
                <a:spLocks noChangeArrowheads="1"/>
              </p:cNvSpPr>
              <p:nvPr/>
            </p:nvSpPr>
            <p:spPr bwMode="auto">
              <a:xfrm>
                <a:off x="352" y="1071"/>
                <a:ext cx="5008" cy="4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990033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2"/>
                  </a:buClr>
                  <a:buSzPct val="55000"/>
                  <a:buFont typeface="Wingdings" panose="05000000000000000000" pitchFamily="2" charset="2"/>
                  <a:buChar char="n"/>
                  <a:defRPr sz="2600">
                    <a:solidFill>
                      <a:srgbClr val="8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rgbClr val="8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Times New Roman" panose="02020603050405020304" pitchFamily="18" charset="0"/>
                  </a:rPr>
                  <a:t>1</a:t>
                </a:r>
                <a:r>
                  <a:rPr lang="en-US" altLang="en-US" sz="1800">
                    <a:latin typeface="Times New Roman" panose="02020603050405020304" pitchFamily="18" charset="0"/>
                  </a:rPr>
                  <a:t>. Remove the offending attributes that are transitively dependent on non-key attributes, and place them in a new relation. </a:t>
                </a:r>
                <a:endParaRPr lang="en-GB" altLang="en-US" sz="1800">
                  <a:solidFill>
                    <a:srgbClr val="0000FF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83320" name="Rectangle 10"/>
              <p:cNvSpPr>
                <a:spLocks noChangeArrowheads="1"/>
              </p:cNvSpPr>
              <p:nvPr/>
            </p:nvSpPr>
            <p:spPr bwMode="auto">
              <a:xfrm>
                <a:off x="385" y="1811"/>
                <a:ext cx="1644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990033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2"/>
                  </a:buClr>
                  <a:buSzPct val="55000"/>
                  <a:buFont typeface="Wingdings" panose="05000000000000000000" pitchFamily="2" charset="2"/>
                  <a:buChar char="n"/>
                  <a:defRPr sz="2600">
                    <a:solidFill>
                      <a:srgbClr val="8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rgbClr val="8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GB" altLang="en-US" sz="2000">
                    <a:latin typeface="Times New Roman" panose="02020603050405020304" pitchFamily="18" charset="0"/>
                  </a:rPr>
                  <a:t>(cust-name, cust-add )</a:t>
                </a:r>
              </a:p>
            </p:txBody>
          </p:sp>
          <p:grpSp>
            <p:nvGrpSpPr>
              <p:cNvPr id="183321" name="Group 11"/>
              <p:cNvGrpSpPr>
                <a:grpSpLocks/>
              </p:cNvGrpSpPr>
              <p:nvPr/>
            </p:nvGrpSpPr>
            <p:grpSpPr bwMode="auto">
              <a:xfrm>
                <a:off x="370" y="1476"/>
                <a:ext cx="3521" cy="446"/>
                <a:chOff x="347" y="3448"/>
                <a:chExt cx="5046" cy="813"/>
              </a:xfrm>
            </p:grpSpPr>
            <p:sp>
              <p:nvSpPr>
                <p:cNvPr id="183322" name="Rectangle 12"/>
                <p:cNvSpPr>
                  <a:spLocks noChangeArrowheads="1"/>
                </p:cNvSpPr>
                <p:nvPr/>
              </p:nvSpPr>
              <p:spPr bwMode="auto">
                <a:xfrm>
                  <a:off x="360" y="3479"/>
                  <a:ext cx="4937" cy="463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990033"/>
                    </a:buClr>
                    <a:buSzPct val="60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2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tx2"/>
                    </a:buClr>
                    <a:buSzPct val="55000"/>
                    <a:buFont typeface="Wingdings" panose="05000000000000000000" pitchFamily="2" charset="2"/>
                    <a:buChar char="n"/>
                    <a:defRPr sz="2600">
                      <a:solidFill>
                        <a:srgbClr val="800000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990033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2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rgbClr val="800000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990033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2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990033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2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990033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2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990033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2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990033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2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83323" name="Text Box 13"/>
                <p:cNvSpPr txBox="1">
                  <a:spLocks noChangeArrowheads="1"/>
                </p:cNvSpPr>
                <p:nvPr/>
              </p:nvSpPr>
              <p:spPr bwMode="auto">
                <a:xfrm>
                  <a:off x="347" y="3448"/>
                  <a:ext cx="5046" cy="81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990033"/>
                    </a:buClr>
                    <a:buSzPct val="60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2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tx2"/>
                    </a:buClr>
                    <a:buSzPct val="55000"/>
                    <a:buFont typeface="Wingdings" panose="05000000000000000000" pitchFamily="2" charset="2"/>
                    <a:buChar char="n"/>
                    <a:defRPr sz="2600">
                      <a:solidFill>
                        <a:srgbClr val="800000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990033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2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rgbClr val="800000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990033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2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990033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2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990033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2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990033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2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990033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2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GB" altLang="en-US" sz="2000">
                      <a:solidFill>
                        <a:schemeClr val="tx1"/>
                      </a:solidFill>
                      <a:latin typeface="Times New Roman" panose="02020603050405020304" pitchFamily="18" charset="0"/>
                    </a:rPr>
                    <a:t>ORDER-2</a:t>
                  </a:r>
                  <a:r>
                    <a:rPr lang="en-GB" altLang="en-US" sz="2000">
                      <a:latin typeface="Times New Roman" panose="02020603050405020304" pitchFamily="18" charset="0"/>
                    </a:rPr>
                    <a:t> (</a:t>
                  </a:r>
                  <a:r>
                    <a:rPr lang="en-GB" altLang="en-US" sz="2000" u="sng">
                      <a:solidFill>
                        <a:srgbClr val="0000FF"/>
                      </a:solidFill>
                      <a:latin typeface="Times New Roman" panose="02020603050405020304" pitchFamily="18" charset="0"/>
                    </a:rPr>
                    <a:t>order-no</a:t>
                  </a:r>
                  <a:r>
                    <a:rPr lang="en-GB" altLang="en-US" sz="2000">
                      <a:latin typeface="Times New Roman" panose="02020603050405020304" pitchFamily="18" charset="0"/>
                    </a:rPr>
                    <a:t>, order-date, cust-no, order-total</a:t>
                  </a:r>
                </a:p>
              </p:txBody>
            </p:sp>
          </p:grpSp>
        </p:grpSp>
      </p:grpSp>
      <p:grpSp>
        <p:nvGrpSpPr>
          <p:cNvPr id="6" name="Group 14"/>
          <p:cNvGrpSpPr>
            <a:grpSpLocks/>
          </p:cNvGrpSpPr>
          <p:nvPr/>
        </p:nvGrpSpPr>
        <p:grpSpPr bwMode="auto">
          <a:xfrm>
            <a:off x="204788" y="3284538"/>
            <a:ext cx="8601075" cy="1654175"/>
            <a:chOff x="342" y="2069"/>
            <a:chExt cx="5119" cy="1042"/>
          </a:xfrm>
        </p:grpSpPr>
        <p:sp>
          <p:nvSpPr>
            <p:cNvPr id="183310" name="Rectangle 15"/>
            <p:cNvSpPr>
              <a:spLocks noChangeArrowheads="1"/>
            </p:cNvSpPr>
            <p:nvPr/>
          </p:nvSpPr>
          <p:spPr bwMode="auto">
            <a:xfrm>
              <a:off x="398" y="2860"/>
              <a:ext cx="2085" cy="249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990033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600">
                  <a:solidFill>
                    <a:srgbClr val="80000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solidFill>
                  <a:schemeClr val="tx1"/>
                </a:solidFill>
              </a:endParaRPr>
            </a:p>
          </p:txBody>
        </p:sp>
        <p:grpSp>
          <p:nvGrpSpPr>
            <p:cNvPr id="183311" name="Group 16"/>
            <p:cNvGrpSpPr>
              <a:grpSpLocks/>
            </p:cNvGrpSpPr>
            <p:nvPr/>
          </p:nvGrpSpPr>
          <p:grpSpPr bwMode="auto">
            <a:xfrm>
              <a:off x="342" y="2069"/>
              <a:ext cx="5119" cy="1042"/>
              <a:chOff x="342" y="2069"/>
              <a:chExt cx="5119" cy="1042"/>
            </a:xfrm>
          </p:grpSpPr>
          <p:sp>
            <p:nvSpPr>
              <p:cNvPr id="183312" name="Rectangle 17"/>
              <p:cNvSpPr>
                <a:spLocks noChangeArrowheads="1"/>
              </p:cNvSpPr>
              <p:nvPr/>
            </p:nvSpPr>
            <p:spPr bwMode="auto">
              <a:xfrm>
                <a:off x="342" y="2069"/>
                <a:ext cx="5119" cy="4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990033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2"/>
                  </a:buClr>
                  <a:buSzPct val="55000"/>
                  <a:buFont typeface="Wingdings" panose="05000000000000000000" pitchFamily="2" charset="2"/>
                  <a:buChar char="n"/>
                  <a:defRPr sz="2600">
                    <a:solidFill>
                      <a:srgbClr val="8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rgbClr val="8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Times New Roman" panose="02020603050405020304" pitchFamily="18" charset="0"/>
                  </a:rPr>
                  <a:t>2. </a:t>
                </a:r>
                <a:r>
                  <a:rPr lang="en-US" altLang="en-US" sz="1800">
                    <a:latin typeface="Times New Roman" panose="02020603050405020304" pitchFamily="18" charset="0"/>
                  </a:rPr>
                  <a:t>Add to this relation a copy of the attribute(s) which determines these offending attributes. These will automatically become the primary key of this new relation..</a:t>
                </a:r>
                <a:endParaRPr lang="en-GB" altLang="en-US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83313" name="Rectangle 18"/>
              <p:cNvSpPr>
                <a:spLocks noChangeArrowheads="1"/>
              </p:cNvSpPr>
              <p:nvPr/>
            </p:nvSpPr>
            <p:spPr bwMode="auto">
              <a:xfrm>
                <a:off x="413" y="2859"/>
                <a:ext cx="2227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990033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2"/>
                  </a:buClr>
                  <a:buSzPct val="55000"/>
                  <a:buFont typeface="Wingdings" panose="05000000000000000000" pitchFamily="2" charset="2"/>
                  <a:buChar char="n"/>
                  <a:defRPr sz="2600">
                    <a:solidFill>
                      <a:srgbClr val="8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rgbClr val="8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GB" altLang="en-US" sz="2000">
                    <a:latin typeface="Times New Roman" panose="02020603050405020304" pitchFamily="18" charset="0"/>
                  </a:rPr>
                  <a:t>(</a:t>
                </a:r>
                <a:r>
                  <a:rPr lang="en-GB" altLang="en-US" sz="2000" u="sng">
                    <a:solidFill>
                      <a:srgbClr val="0000FF"/>
                    </a:solidFill>
                    <a:latin typeface="Times New Roman" panose="02020603050405020304" pitchFamily="18" charset="0"/>
                  </a:rPr>
                  <a:t>cust-no</a:t>
                </a:r>
                <a:r>
                  <a:rPr lang="en-GB" altLang="en-US" sz="2000">
                    <a:latin typeface="Times New Roman" panose="02020603050405020304" pitchFamily="18" charset="0"/>
                  </a:rPr>
                  <a:t>, cust-name, cust-add )</a:t>
                </a:r>
              </a:p>
            </p:txBody>
          </p:sp>
          <p:sp>
            <p:nvSpPr>
              <p:cNvPr id="183314" name="Rectangle 19"/>
              <p:cNvSpPr>
                <a:spLocks noChangeArrowheads="1"/>
              </p:cNvSpPr>
              <p:nvPr/>
            </p:nvSpPr>
            <p:spPr bwMode="auto">
              <a:xfrm>
                <a:off x="407" y="2541"/>
                <a:ext cx="3445" cy="254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990033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2"/>
                  </a:buClr>
                  <a:buSzPct val="55000"/>
                  <a:buFont typeface="Wingdings" panose="05000000000000000000" pitchFamily="2" charset="2"/>
                  <a:buChar char="n"/>
                  <a:defRPr sz="2600">
                    <a:solidFill>
                      <a:srgbClr val="8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rgbClr val="8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</a:endParaRPr>
              </a:p>
            </p:txBody>
          </p:sp>
          <p:sp>
            <p:nvSpPr>
              <p:cNvPr id="183315" name="Text Box 20"/>
              <p:cNvSpPr txBox="1">
                <a:spLocks noChangeArrowheads="1"/>
              </p:cNvSpPr>
              <p:nvPr/>
            </p:nvSpPr>
            <p:spPr bwMode="auto">
              <a:xfrm>
                <a:off x="398" y="2524"/>
                <a:ext cx="3521" cy="4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990033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2"/>
                  </a:buClr>
                  <a:buSzPct val="55000"/>
                  <a:buFont typeface="Wingdings" panose="05000000000000000000" pitchFamily="2" charset="2"/>
                  <a:buChar char="n"/>
                  <a:defRPr sz="2600">
                    <a:solidFill>
                      <a:srgbClr val="8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rgbClr val="8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GB" altLang="en-US" sz="200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ORDER-2</a:t>
                </a:r>
                <a:r>
                  <a:rPr lang="en-GB" altLang="en-US" sz="2000">
                    <a:latin typeface="Times New Roman" panose="02020603050405020304" pitchFamily="18" charset="0"/>
                  </a:rPr>
                  <a:t> (</a:t>
                </a:r>
                <a:r>
                  <a:rPr lang="en-GB" altLang="en-US" sz="2000" u="sng">
                    <a:solidFill>
                      <a:srgbClr val="0000FF"/>
                    </a:solidFill>
                    <a:latin typeface="Times New Roman" panose="02020603050405020304" pitchFamily="18" charset="0"/>
                  </a:rPr>
                  <a:t>order-no</a:t>
                </a:r>
                <a:r>
                  <a:rPr lang="en-GB" altLang="en-US" sz="2000">
                    <a:latin typeface="Times New Roman" panose="02020603050405020304" pitchFamily="18" charset="0"/>
                  </a:rPr>
                  <a:t>, order-date, cust-no, order-total</a:t>
                </a:r>
              </a:p>
            </p:txBody>
          </p:sp>
          <p:sp>
            <p:nvSpPr>
              <p:cNvPr id="29716" name="Line 21"/>
              <p:cNvSpPr>
                <a:spLocks noChangeShapeType="1"/>
              </p:cNvSpPr>
              <p:nvPr/>
            </p:nvSpPr>
            <p:spPr bwMode="auto">
              <a:xfrm flipV="1">
                <a:off x="840" y="2742"/>
                <a:ext cx="1843" cy="171"/>
              </a:xfrm>
              <a:prstGeom prst="line">
                <a:avLst/>
              </a:prstGeom>
              <a:ln>
                <a:headEnd type="triangle" w="med" len="med"/>
                <a:tailEnd type="none" w="sm" len="sm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</p:grpSp>
      </p:grpSp>
      <p:grpSp>
        <p:nvGrpSpPr>
          <p:cNvPr id="8" name="Group 22"/>
          <p:cNvGrpSpPr>
            <a:grpSpLocks/>
          </p:cNvGrpSpPr>
          <p:nvPr/>
        </p:nvGrpSpPr>
        <p:grpSpPr bwMode="auto">
          <a:xfrm>
            <a:off x="163513" y="5029200"/>
            <a:ext cx="7042150" cy="771525"/>
            <a:chOff x="316" y="3168"/>
            <a:chExt cx="3828" cy="486"/>
          </a:xfrm>
        </p:grpSpPr>
        <p:sp>
          <p:nvSpPr>
            <p:cNvPr id="183307" name="Rectangle 23"/>
            <p:cNvSpPr>
              <a:spLocks noChangeArrowheads="1"/>
            </p:cNvSpPr>
            <p:nvPr/>
          </p:nvSpPr>
          <p:spPr bwMode="auto">
            <a:xfrm>
              <a:off x="316" y="3168"/>
              <a:ext cx="3828" cy="2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990033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600">
                  <a:solidFill>
                    <a:srgbClr val="80000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>
                  <a:latin typeface="Times New Roman" panose="02020603050405020304" pitchFamily="18" charset="0"/>
                </a:rPr>
                <a:t>3. Name the new entity </a:t>
              </a:r>
              <a:r>
                <a:rPr lang="en-US" altLang="en-US" sz="1600">
                  <a:solidFill>
                    <a:srgbClr val="0000FF"/>
                  </a:solidFill>
                  <a:latin typeface="Times New Roman" panose="02020603050405020304" pitchFamily="18" charset="0"/>
                </a:rPr>
                <a:t>(appending the number 3 to indicate 3NF)</a:t>
              </a:r>
            </a:p>
          </p:txBody>
        </p:sp>
        <p:sp>
          <p:nvSpPr>
            <p:cNvPr id="183308" name="Rectangle 24"/>
            <p:cNvSpPr>
              <a:spLocks noChangeArrowheads="1"/>
            </p:cNvSpPr>
            <p:nvPr/>
          </p:nvSpPr>
          <p:spPr bwMode="auto">
            <a:xfrm>
              <a:off x="397" y="3405"/>
              <a:ext cx="3121" cy="249"/>
            </a:xfrm>
            <a:prstGeom prst="rect">
              <a:avLst/>
            </a:prstGeom>
            <a:solidFill>
              <a:srgbClr val="F0F5FE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990033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600">
                  <a:solidFill>
                    <a:srgbClr val="80000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solidFill>
                  <a:schemeClr val="tx1"/>
                </a:solidFill>
              </a:endParaRPr>
            </a:p>
          </p:txBody>
        </p:sp>
        <p:sp>
          <p:nvSpPr>
            <p:cNvPr id="183309" name="Rectangle 25"/>
            <p:cNvSpPr>
              <a:spLocks noChangeArrowheads="1"/>
            </p:cNvSpPr>
            <p:nvPr/>
          </p:nvSpPr>
          <p:spPr bwMode="auto">
            <a:xfrm>
              <a:off x="397" y="3401"/>
              <a:ext cx="3334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990033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600">
                  <a:solidFill>
                    <a:srgbClr val="80000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GB" altLang="en-US" sz="2000">
                  <a:solidFill>
                    <a:schemeClr val="tx1"/>
                  </a:solidFill>
                  <a:latin typeface="Times New Roman" panose="02020603050405020304" pitchFamily="18" charset="0"/>
                </a:rPr>
                <a:t>CUSTOMER-3</a:t>
              </a:r>
              <a:r>
                <a:rPr lang="en-GB" altLang="en-US" sz="2000">
                  <a:latin typeface="Times New Roman" panose="02020603050405020304" pitchFamily="18" charset="0"/>
                </a:rPr>
                <a:t> (</a:t>
              </a:r>
              <a:r>
                <a:rPr lang="en-GB" altLang="en-US" sz="2000" u="sng">
                  <a:solidFill>
                    <a:srgbClr val="0000FF"/>
                  </a:solidFill>
                  <a:latin typeface="Times New Roman" panose="02020603050405020304" pitchFamily="18" charset="0"/>
                </a:rPr>
                <a:t>cust-no</a:t>
              </a:r>
              <a:r>
                <a:rPr lang="en-GB" altLang="en-US" sz="2000">
                  <a:latin typeface="Times New Roman" panose="02020603050405020304" pitchFamily="18" charset="0"/>
                </a:rPr>
                <a:t>, cust-name, cust-add )</a:t>
              </a:r>
            </a:p>
          </p:txBody>
        </p:sp>
      </p:grpSp>
      <p:grpSp>
        <p:nvGrpSpPr>
          <p:cNvPr id="9" name="Group 26"/>
          <p:cNvGrpSpPr>
            <a:grpSpLocks/>
          </p:cNvGrpSpPr>
          <p:nvPr/>
        </p:nvGrpSpPr>
        <p:grpSpPr bwMode="auto">
          <a:xfrm>
            <a:off x="152400" y="5865813"/>
            <a:ext cx="7205663" cy="1069975"/>
            <a:chOff x="309" y="3695"/>
            <a:chExt cx="3726" cy="674"/>
          </a:xfrm>
        </p:grpSpPr>
        <p:sp>
          <p:nvSpPr>
            <p:cNvPr id="183304" name="Rectangle 27"/>
            <p:cNvSpPr>
              <a:spLocks noChangeArrowheads="1"/>
            </p:cNvSpPr>
            <p:nvPr/>
          </p:nvSpPr>
          <p:spPr bwMode="auto">
            <a:xfrm>
              <a:off x="309" y="3695"/>
              <a:ext cx="3726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990033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600">
                  <a:solidFill>
                    <a:srgbClr val="80000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>
                  <a:latin typeface="Times New Roman" panose="02020603050405020304" pitchFamily="18" charset="0"/>
                </a:rPr>
                <a:t>4. Rename the original entity </a:t>
              </a:r>
              <a:r>
                <a:rPr lang="en-US" altLang="en-US" sz="1600">
                  <a:solidFill>
                    <a:srgbClr val="0000FF"/>
                  </a:solidFill>
                  <a:latin typeface="Times New Roman" panose="02020603050405020304" pitchFamily="18" charset="0"/>
                </a:rPr>
                <a:t>(ending with a 3 to indicate 3NF)</a:t>
              </a:r>
              <a:endParaRPr lang="en-GB" altLang="en-US" sz="16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83305" name="Rectangle 28"/>
            <p:cNvSpPr>
              <a:spLocks noChangeArrowheads="1"/>
            </p:cNvSpPr>
            <p:nvPr/>
          </p:nvSpPr>
          <p:spPr bwMode="auto">
            <a:xfrm>
              <a:off x="387" y="3921"/>
              <a:ext cx="3507" cy="249"/>
            </a:xfrm>
            <a:prstGeom prst="rect">
              <a:avLst/>
            </a:prstGeom>
            <a:solidFill>
              <a:srgbClr val="F0F5FE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990033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600">
                  <a:solidFill>
                    <a:srgbClr val="80000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solidFill>
                  <a:schemeClr val="tx1"/>
                </a:solidFill>
              </a:endParaRPr>
            </a:p>
          </p:txBody>
        </p:sp>
        <p:sp>
          <p:nvSpPr>
            <p:cNvPr id="183306" name="Text Box 29"/>
            <p:cNvSpPr txBox="1">
              <a:spLocks noChangeArrowheads="1"/>
            </p:cNvSpPr>
            <p:nvPr/>
          </p:nvSpPr>
          <p:spPr bwMode="auto">
            <a:xfrm>
              <a:off x="391" y="3923"/>
              <a:ext cx="3521" cy="4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990033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600">
                  <a:solidFill>
                    <a:srgbClr val="80000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GB" altLang="en-US" sz="2000">
                  <a:solidFill>
                    <a:schemeClr val="tx1"/>
                  </a:solidFill>
                  <a:latin typeface="Times New Roman" panose="02020603050405020304" pitchFamily="18" charset="0"/>
                </a:rPr>
                <a:t>ORDER-3</a:t>
              </a:r>
              <a:r>
                <a:rPr lang="en-GB" altLang="en-US" sz="2000">
                  <a:latin typeface="Times New Roman" panose="02020603050405020304" pitchFamily="18" charset="0"/>
                </a:rPr>
                <a:t> (</a:t>
              </a:r>
              <a:r>
                <a:rPr lang="en-GB" altLang="en-US" sz="2000" u="sng">
                  <a:solidFill>
                    <a:srgbClr val="0000FF"/>
                  </a:solidFill>
                  <a:latin typeface="Times New Roman" panose="02020603050405020304" pitchFamily="18" charset="0"/>
                </a:rPr>
                <a:t>order-no</a:t>
              </a:r>
              <a:r>
                <a:rPr lang="en-GB" altLang="en-US" sz="2000">
                  <a:latin typeface="Times New Roman" panose="02020603050405020304" pitchFamily="18" charset="0"/>
                </a:rPr>
                <a:t>, order-date, cust-no, order-total</a:t>
              </a: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4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04900"/>
          </a:xfrm>
        </p:spPr>
        <p:txBody>
          <a:bodyPr/>
          <a:lstStyle/>
          <a:p>
            <a:r>
              <a:rPr lang="en-US" altLang="en-US" sz="4000" smtClean="0"/>
              <a:t>Example - Relations in 3NF</a:t>
            </a:r>
            <a:endParaRPr lang="en-US" altLang="en-US" smtClean="0"/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820738" y="1338263"/>
            <a:ext cx="7002462" cy="1989137"/>
            <a:chOff x="517" y="843"/>
            <a:chExt cx="3705" cy="1253"/>
          </a:xfrm>
        </p:grpSpPr>
        <p:grpSp>
          <p:nvGrpSpPr>
            <p:cNvPr id="185374" name="Group 4"/>
            <p:cNvGrpSpPr>
              <a:grpSpLocks/>
            </p:cNvGrpSpPr>
            <p:nvPr/>
          </p:nvGrpSpPr>
          <p:grpSpPr bwMode="auto">
            <a:xfrm>
              <a:off x="526" y="1182"/>
              <a:ext cx="3121" cy="253"/>
              <a:chOff x="397" y="3401"/>
              <a:chExt cx="3121" cy="253"/>
            </a:xfrm>
          </p:grpSpPr>
          <p:sp>
            <p:nvSpPr>
              <p:cNvPr id="185384" name="Rectangle 5"/>
              <p:cNvSpPr>
                <a:spLocks noChangeArrowheads="1"/>
              </p:cNvSpPr>
              <p:nvPr/>
            </p:nvSpPr>
            <p:spPr bwMode="auto">
              <a:xfrm>
                <a:off x="397" y="3405"/>
                <a:ext cx="3121" cy="249"/>
              </a:xfrm>
              <a:prstGeom prst="rect">
                <a:avLst/>
              </a:prstGeom>
              <a:solidFill>
                <a:srgbClr val="F0F5FE"/>
              </a:solid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990033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2"/>
                  </a:buClr>
                  <a:buSzPct val="55000"/>
                  <a:buFont typeface="Wingdings" panose="05000000000000000000" pitchFamily="2" charset="2"/>
                  <a:buChar char="n"/>
                  <a:defRPr sz="2600">
                    <a:solidFill>
                      <a:srgbClr val="8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rgbClr val="8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</a:endParaRPr>
              </a:p>
            </p:txBody>
          </p:sp>
          <p:sp>
            <p:nvSpPr>
              <p:cNvPr id="185385" name="Rectangle 6"/>
              <p:cNvSpPr>
                <a:spLocks noChangeArrowheads="1"/>
              </p:cNvSpPr>
              <p:nvPr/>
            </p:nvSpPr>
            <p:spPr bwMode="auto">
              <a:xfrm>
                <a:off x="397" y="3401"/>
                <a:ext cx="2800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990033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2"/>
                  </a:buClr>
                  <a:buSzPct val="55000"/>
                  <a:buFont typeface="Wingdings" panose="05000000000000000000" pitchFamily="2" charset="2"/>
                  <a:buChar char="n"/>
                  <a:defRPr sz="2600">
                    <a:solidFill>
                      <a:srgbClr val="8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rgbClr val="8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GB" altLang="en-US" sz="200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CUSTOMER-3</a:t>
                </a:r>
                <a:r>
                  <a:rPr lang="en-GB" altLang="en-US" sz="2000">
                    <a:latin typeface="Times New Roman" panose="02020603050405020304" pitchFamily="18" charset="0"/>
                  </a:rPr>
                  <a:t> (</a:t>
                </a:r>
                <a:r>
                  <a:rPr lang="en-GB" altLang="en-US" sz="2000" u="sng">
                    <a:solidFill>
                      <a:srgbClr val="0000FF"/>
                    </a:solidFill>
                    <a:latin typeface="Times New Roman" panose="02020603050405020304" pitchFamily="18" charset="0"/>
                  </a:rPr>
                  <a:t>cust-no</a:t>
                </a:r>
                <a:r>
                  <a:rPr lang="en-GB" altLang="en-US" sz="2000">
                    <a:latin typeface="Times New Roman" panose="02020603050405020304" pitchFamily="18" charset="0"/>
                  </a:rPr>
                  <a:t>, cust-name, cust-add )</a:t>
                </a:r>
              </a:p>
            </p:txBody>
          </p:sp>
        </p:grpSp>
        <p:grpSp>
          <p:nvGrpSpPr>
            <p:cNvPr id="185375" name="Group 7"/>
            <p:cNvGrpSpPr>
              <a:grpSpLocks/>
            </p:cNvGrpSpPr>
            <p:nvPr/>
          </p:nvGrpSpPr>
          <p:grpSpPr bwMode="auto">
            <a:xfrm>
              <a:off x="524" y="843"/>
              <a:ext cx="3525" cy="254"/>
              <a:chOff x="387" y="3921"/>
              <a:chExt cx="3525" cy="254"/>
            </a:xfrm>
          </p:grpSpPr>
          <p:sp>
            <p:nvSpPr>
              <p:cNvPr id="185382" name="Rectangle 8"/>
              <p:cNvSpPr>
                <a:spLocks noChangeArrowheads="1"/>
              </p:cNvSpPr>
              <p:nvPr/>
            </p:nvSpPr>
            <p:spPr bwMode="auto">
              <a:xfrm>
                <a:off x="387" y="3921"/>
                <a:ext cx="3507" cy="249"/>
              </a:xfrm>
              <a:prstGeom prst="rect">
                <a:avLst/>
              </a:prstGeom>
              <a:solidFill>
                <a:srgbClr val="F0F5FE"/>
              </a:solid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990033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2"/>
                  </a:buClr>
                  <a:buSzPct val="55000"/>
                  <a:buFont typeface="Wingdings" panose="05000000000000000000" pitchFamily="2" charset="2"/>
                  <a:buChar char="n"/>
                  <a:defRPr sz="2600">
                    <a:solidFill>
                      <a:srgbClr val="8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rgbClr val="8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</a:endParaRPr>
              </a:p>
            </p:txBody>
          </p:sp>
          <p:sp>
            <p:nvSpPr>
              <p:cNvPr id="185383" name="Text Box 9"/>
              <p:cNvSpPr txBox="1">
                <a:spLocks noChangeArrowheads="1"/>
              </p:cNvSpPr>
              <p:nvPr/>
            </p:nvSpPr>
            <p:spPr bwMode="auto">
              <a:xfrm>
                <a:off x="391" y="3923"/>
                <a:ext cx="3521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990033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2"/>
                  </a:buClr>
                  <a:buSzPct val="55000"/>
                  <a:buFont typeface="Wingdings" panose="05000000000000000000" pitchFamily="2" charset="2"/>
                  <a:buChar char="n"/>
                  <a:defRPr sz="2600">
                    <a:solidFill>
                      <a:srgbClr val="8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rgbClr val="8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GB" altLang="en-US" sz="200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ORDER-3 </a:t>
                </a:r>
                <a:r>
                  <a:rPr lang="en-GB" altLang="en-US" sz="2000">
                    <a:latin typeface="Times New Roman" panose="02020603050405020304" pitchFamily="18" charset="0"/>
                  </a:rPr>
                  <a:t>(</a:t>
                </a:r>
                <a:r>
                  <a:rPr lang="en-GB" altLang="en-US" sz="2000" u="sng">
                    <a:solidFill>
                      <a:srgbClr val="0000FF"/>
                    </a:solidFill>
                    <a:latin typeface="Times New Roman" panose="02020603050405020304" pitchFamily="18" charset="0"/>
                  </a:rPr>
                  <a:t>order-no</a:t>
                </a:r>
                <a:r>
                  <a:rPr lang="en-GB" altLang="en-US" sz="2000">
                    <a:latin typeface="Times New Roman" panose="02020603050405020304" pitchFamily="18" charset="0"/>
                  </a:rPr>
                  <a:t>, order-date, </a:t>
                </a:r>
                <a:r>
                  <a:rPr lang="en-GB" altLang="en-US" sz="2000">
                    <a:solidFill>
                      <a:srgbClr val="C00000"/>
                    </a:solidFill>
                    <a:latin typeface="Times New Roman" panose="02020603050405020304" pitchFamily="18" charset="0"/>
                  </a:rPr>
                  <a:t>cust-no</a:t>
                </a:r>
                <a:r>
                  <a:rPr lang="en-GB" altLang="en-US" sz="2000">
                    <a:latin typeface="Times New Roman" panose="02020603050405020304" pitchFamily="18" charset="0"/>
                  </a:rPr>
                  <a:t>, order-total</a:t>
                </a:r>
              </a:p>
            </p:txBody>
          </p:sp>
        </p:grpSp>
        <p:grpSp>
          <p:nvGrpSpPr>
            <p:cNvPr id="185376" name="Group 10"/>
            <p:cNvGrpSpPr>
              <a:grpSpLocks/>
            </p:cNvGrpSpPr>
            <p:nvPr/>
          </p:nvGrpSpPr>
          <p:grpSpPr bwMode="auto">
            <a:xfrm>
              <a:off x="517" y="1840"/>
              <a:ext cx="3705" cy="256"/>
              <a:chOff x="353" y="3914"/>
              <a:chExt cx="3705" cy="256"/>
            </a:xfrm>
          </p:grpSpPr>
          <p:sp>
            <p:nvSpPr>
              <p:cNvPr id="185380" name="Rectangle 11"/>
              <p:cNvSpPr>
                <a:spLocks noChangeArrowheads="1"/>
              </p:cNvSpPr>
              <p:nvPr/>
            </p:nvSpPr>
            <p:spPr bwMode="auto">
              <a:xfrm>
                <a:off x="353" y="3921"/>
                <a:ext cx="3705" cy="249"/>
              </a:xfrm>
              <a:prstGeom prst="rect">
                <a:avLst/>
              </a:prstGeom>
              <a:solidFill>
                <a:srgbClr val="F0F5FE"/>
              </a:solid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990033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2"/>
                  </a:buClr>
                  <a:buSzPct val="55000"/>
                  <a:buFont typeface="Wingdings" panose="05000000000000000000" pitchFamily="2" charset="2"/>
                  <a:buChar char="n"/>
                  <a:defRPr sz="2600">
                    <a:solidFill>
                      <a:srgbClr val="8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rgbClr val="8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</a:endParaRPr>
              </a:p>
            </p:txBody>
          </p:sp>
          <p:sp>
            <p:nvSpPr>
              <p:cNvPr id="185381" name="Rectangle 12"/>
              <p:cNvSpPr>
                <a:spLocks noChangeArrowheads="1"/>
              </p:cNvSpPr>
              <p:nvPr/>
            </p:nvSpPr>
            <p:spPr bwMode="auto">
              <a:xfrm>
                <a:off x="353" y="3914"/>
                <a:ext cx="3326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990033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2"/>
                  </a:buClr>
                  <a:buSzPct val="55000"/>
                  <a:buFont typeface="Wingdings" panose="05000000000000000000" pitchFamily="2" charset="2"/>
                  <a:buChar char="n"/>
                  <a:defRPr sz="2600">
                    <a:solidFill>
                      <a:srgbClr val="8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rgbClr val="8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GB" altLang="en-US" sz="200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ORDER-LINE-2</a:t>
                </a:r>
                <a:r>
                  <a:rPr lang="en-GB" altLang="en-US" sz="2000">
                    <a:latin typeface="Times New Roman" panose="02020603050405020304" pitchFamily="18" charset="0"/>
                  </a:rPr>
                  <a:t> (</a:t>
                </a:r>
                <a:r>
                  <a:rPr lang="en-GB" altLang="en-US" sz="2000" u="sng">
                    <a:solidFill>
                      <a:srgbClr val="0000FF"/>
                    </a:solidFill>
                    <a:latin typeface="Times New Roman" panose="02020603050405020304" pitchFamily="18" charset="0"/>
                  </a:rPr>
                  <a:t>order-no, prod-no</a:t>
                </a:r>
                <a:r>
                  <a:rPr lang="en-GB" altLang="en-US" sz="2000">
                    <a:latin typeface="Times New Roman" panose="02020603050405020304" pitchFamily="18" charset="0"/>
                  </a:rPr>
                  <a:t>, ord-qty, line-total)</a:t>
                </a:r>
              </a:p>
            </p:txBody>
          </p:sp>
        </p:grpSp>
        <p:grpSp>
          <p:nvGrpSpPr>
            <p:cNvPr id="185377" name="Group 13"/>
            <p:cNvGrpSpPr>
              <a:grpSpLocks/>
            </p:cNvGrpSpPr>
            <p:nvPr/>
          </p:nvGrpSpPr>
          <p:grpSpPr bwMode="auto">
            <a:xfrm>
              <a:off x="517" y="1514"/>
              <a:ext cx="3061" cy="256"/>
              <a:chOff x="354" y="3398"/>
              <a:chExt cx="3061" cy="256"/>
            </a:xfrm>
          </p:grpSpPr>
          <p:sp>
            <p:nvSpPr>
              <p:cNvPr id="185378" name="Rectangle 14"/>
              <p:cNvSpPr>
                <a:spLocks noChangeArrowheads="1"/>
              </p:cNvSpPr>
              <p:nvPr/>
            </p:nvSpPr>
            <p:spPr bwMode="auto">
              <a:xfrm>
                <a:off x="354" y="3405"/>
                <a:ext cx="3061" cy="249"/>
              </a:xfrm>
              <a:prstGeom prst="rect">
                <a:avLst/>
              </a:prstGeom>
              <a:solidFill>
                <a:srgbClr val="F0F5FE"/>
              </a:solid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990033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2"/>
                  </a:buClr>
                  <a:buSzPct val="55000"/>
                  <a:buFont typeface="Wingdings" panose="05000000000000000000" pitchFamily="2" charset="2"/>
                  <a:buChar char="n"/>
                  <a:defRPr sz="2600">
                    <a:solidFill>
                      <a:srgbClr val="8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rgbClr val="8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</a:endParaRPr>
              </a:p>
            </p:txBody>
          </p:sp>
          <p:sp>
            <p:nvSpPr>
              <p:cNvPr id="185379" name="Rectangle 15"/>
              <p:cNvSpPr>
                <a:spLocks noChangeArrowheads="1"/>
              </p:cNvSpPr>
              <p:nvPr/>
            </p:nvSpPr>
            <p:spPr bwMode="auto">
              <a:xfrm>
                <a:off x="354" y="3398"/>
                <a:ext cx="2737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990033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2"/>
                  </a:buClr>
                  <a:buSzPct val="55000"/>
                  <a:buFont typeface="Wingdings" panose="05000000000000000000" pitchFamily="2" charset="2"/>
                  <a:buChar char="n"/>
                  <a:defRPr sz="2600">
                    <a:solidFill>
                      <a:srgbClr val="8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rgbClr val="8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GB" altLang="en-US" sz="200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PRODUCT-2</a:t>
                </a:r>
                <a:r>
                  <a:rPr lang="en-GB" altLang="en-US" sz="2000">
                    <a:latin typeface="Times New Roman" panose="02020603050405020304" pitchFamily="18" charset="0"/>
                  </a:rPr>
                  <a:t> (</a:t>
                </a:r>
                <a:r>
                  <a:rPr lang="en-GB" altLang="en-US" sz="2000" u="sng">
                    <a:solidFill>
                      <a:srgbClr val="0000FF"/>
                    </a:solidFill>
                    <a:latin typeface="Times New Roman" panose="02020603050405020304" pitchFamily="18" charset="0"/>
                  </a:rPr>
                  <a:t>prod-no</a:t>
                </a:r>
                <a:r>
                  <a:rPr lang="en-GB" altLang="en-US" sz="2000">
                    <a:latin typeface="Times New Roman" panose="02020603050405020304" pitchFamily="18" charset="0"/>
                  </a:rPr>
                  <a:t>, prod-desc, unit-price)</a:t>
                </a:r>
              </a:p>
            </p:txBody>
          </p:sp>
        </p:grpSp>
      </p:grpSp>
      <p:grpSp>
        <p:nvGrpSpPr>
          <p:cNvPr id="7" name="Group 16"/>
          <p:cNvGrpSpPr>
            <a:grpSpLocks/>
          </p:cNvGrpSpPr>
          <p:nvPr/>
        </p:nvGrpSpPr>
        <p:grpSpPr bwMode="auto">
          <a:xfrm>
            <a:off x="741363" y="3608388"/>
            <a:ext cx="7143750" cy="2628900"/>
            <a:chOff x="476" y="2342"/>
            <a:chExt cx="4500" cy="1731"/>
          </a:xfrm>
        </p:grpSpPr>
        <p:sp>
          <p:nvSpPr>
            <p:cNvPr id="185349" name="Rectangle 17"/>
            <p:cNvSpPr>
              <a:spLocks noChangeArrowheads="1"/>
            </p:cNvSpPr>
            <p:nvPr/>
          </p:nvSpPr>
          <p:spPr bwMode="auto">
            <a:xfrm>
              <a:off x="476" y="2342"/>
              <a:ext cx="4500" cy="1731"/>
            </a:xfrm>
            <a:prstGeom prst="rect">
              <a:avLst/>
            </a:prstGeom>
            <a:solidFill>
              <a:srgbClr val="CEE9FE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990033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600">
                  <a:solidFill>
                    <a:srgbClr val="80000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0033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solidFill>
                  <a:schemeClr val="tx1"/>
                </a:solidFill>
              </a:endParaRPr>
            </a:p>
          </p:txBody>
        </p:sp>
        <p:grpSp>
          <p:nvGrpSpPr>
            <p:cNvPr id="185350" name="Group 18"/>
            <p:cNvGrpSpPr>
              <a:grpSpLocks/>
            </p:cNvGrpSpPr>
            <p:nvPr/>
          </p:nvGrpSpPr>
          <p:grpSpPr bwMode="auto">
            <a:xfrm>
              <a:off x="712" y="2404"/>
              <a:ext cx="4122" cy="1549"/>
              <a:chOff x="746" y="2550"/>
              <a:chExt cx="4122" cy="1549"/>
            </a:xfrm>
          </p:grpSpPr>
          <p:sp>
            <p:nvSpPr>
              <p:cNvPr id="185351" name="Rectangle 19"/>
              <p:cNvSpPr>
                <a:spLocks noChangeArrowheads="1"/>
              </p:cNvSpPr>
              <p:nvPr/>
            </p:nvSpPr>
            <p:spPr bwMode="auto">
              <a:xfrm>
                <a:off x="771" y="3507"/>
                <a:ext cx="1174" cy="592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990033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2"/>
                  </a:buClr>
                  <a:buSzPct val="55000"/>
                  <a:buFont typeface="Wingdings" panose="05000000000000000000" pitchFamily="2" charset="2"/>
                  <a:buChar char="n"/>
                  <a:defRPr sz="2600">
                    <a:solidFill>
                      <a:srgbClr val="8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rgbClr val="8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GB" altLang="en-US" sz="2000">
                    <a:solidFill>
                      <a:srgbClr val="CF0E30"/>
                    </a:solidFill>
                    <a:latin typeface="Times New Roman" panose="02020603050405020304" pitchFamily="18" charset="0"/>
                  </a:rPr>
                  <a:t>CUSTOMER</a:t>
                </a:r>
                <a:endParaRPr lang="en-GB" altLang="en-US" sz="2400">
                  <a:solidFill>
                    <a:srgbClr val="CF0E3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85352" name="Rectangle 20"/>
              <p:cNvSpPr>
                <a:spLocks noChangeArrowheads="1"/>
              </p:cNvSpPr>
              <p:nvPr/>
            </p:nvSpPr>
            <p:spPr bwMode="auto">
              <a:xfrm>
                <a:off x="1553" y="2599"/>
                <a:ext cx="1174" cy="592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990033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2"/>
                  </a:buClr>
                  <a:buSzPct val="55000"/>
                  <a:buFont typeface="Wingdings" panose="05000000000000000000" pitchFamily="2" charset="2"/>
                  <a:buChar char="n"/>
                  <a:defRPr sz="2600">
                    <a:solidFill>
                      <a:srgbClr val="8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rgbClr val="8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GB" altLang="en-US" sz="2000">
                    <a:solidFill>
                      <a:srgbClr val="CF0E30"/>
                    </a:solidFill>
                    <a:latin typeface="Times New Roman" panose="02020603050405020304" pitchFamily="18" charset="0"/>
                  </a:rPr>
                  <a:t>ORDER</a:t>
                </a:r>
                <a:endParaRPr lang="en-GB" altLang="en-US" sz="2400">
                  <a:solidFill>
                    <a:srgbClr val="CF0E3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85353" name="Rectangle 21"/>
              <p:cNvSpPr>
                <a:spLocks noChangeArrowheads="1"/>
              </p:cNvSpPr>
              <p:nvPr/>
            </p:nvSpPr>
            <p:spPr bwMode="auto">
              <a:xfrm>
                <a:off x="2709" y="3497"/>
                <a:ext cx="1234" cy="592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990033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2"/>
                  </a:buClr>
                  <a:buSzPct val="55000"/>
                  <a:buFont typeface="Wingdings" panose="05000000000000000000" pitchFamily="2" charset="2"/>
                  <a:buChar char="n"/>
                  <a:defRPr sz="2600">
                    <a:solidFill>
                      <a:srgbClr val="8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rgbClr val="8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GB" altLang="en-US" sz="2000">
                    <a:solidFill>
                      <a:srgbClr val="CF0E30"/>
                    </a:solidFill>
                    <a:latin typeface="Times New Roman" panose="02020603050405020304" pitchFamily="18" charset="0"/>
                  </a:rPr>
                  <a:t>ORDER-LINE</a:t>
                </a:r>
                <a:endParaRPr lang="en-GB" altLang="en-US" sz="2400">
                  <a:solidFill>
                    <a:srgbClr val="CF0E3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85354" name="Rectangle 22"/>
              <p:cNvSpPr>
                <a:spLocks noChangeArrowheads="1"/>
              </p:cNvSpPr>
              <p:nvPr/>
            </p:nvSpPr>
            <p:spPr bwMode="auto">
              <a:xfrm>
                <a:off x="3694" y="2579"/>
                <a:ext cx="1174" cy="592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990033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2"/>
                  </a:buClr>
                  <a:buSzPct val="55000"/>
                  <a:buFont typeface="Wingdings" panose="05000000000000000000" pitchFamily="2" charset="2"/>
                  <a:buChar char="n"/>
                  <a:defRPr sz="2600">
                    <a:solidFill>
                      <a:srgbClr val="8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rgbClr val="8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GB" altLang="en-US" sz="2000">
                    <a:solidFill>
                      <a:srgbClr val="CF0E30"/>
                    </a:solidFill>
                    <a:latin typeface="Times New Roman" panose="02020603050405020304" pitchFamily="18" charset="0"/>
                  </a:rPr>
                  <a:t>PRODUCT</a:t>
                </a:r>
                <a:endParaRPr lang="en-GB" altLang="en-US" sz="2400">
                  <a:solidFill>
                    <a:srgbClr val="CF0E3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85355" name="Line 23"/>
              <p:cNvSpPr>
                <a:spLocks noChangeShapeType="1"/>
              </p:cNvSpPr>
              <p:nvPr/>
            </p:nvSpPr>
            <p:spPr bwMode="auto">
              <a:xfrm flipV="1">
                <a:off x="1431" y="3198"/>
                <a:ext cx="488" cy="30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85356" name="Line 24"/>
              <p:cNvSpPr>
                <a:spLocks noChangeShapeType="1"/>
              </p:cNvSpPr>
              <p:nvPr/>
            </p:nvSpPr>
            <p:spPr bwMode="auto">
              <a:xfrm>
                <a:off x="2323" y="3197"/>
                <a:ext cx="386" cy="549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85357" name="Line 25"/>
              <p:cNvSpPr>
                <a:spLocks noChangeShapeType="1"/>
              </p:cNvSpPr>
              <p:nvPr/>
            </p:nvSpPr>
            <p:spPr bwMode="auto">
              <a:xfrm flipV="1">
                <a:off x="3351" y="3171"/>
                <a:ext cx="900" cy="31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85358" name="Line 26"/>
              <p:cNvSpPr>
                <a:spLocks noChangeShapeType="1"/>
              </p:cNvSpPr>
              <p:nvPr/>
            </p:nvSpPr>
            <p:spPr bwMode="auto">
              <a:xfrm>
                <a:off x="2649" y="3677"/>
                <a:ext cx="51" cy="17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85359" name="Line 27"/>
              <p:cNvSpPr>
                <a:spLocks noChangeShapeType="1"/>
              </p:cNvSpPr>
              <p:nvPr/>
            </p:nvSpPr>
            <p:spPr bwMode="auto">
              <a:xfrm flipV="1">
                <a:off x="2649" y="3651"/>
                <a:ext cx="68" cy="1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85360" name="Line 28"/>
              <p:cNvSpPr>
                <a:spLocks noChangeShapeType="1"/>
              </p:cNvSpPr>
              <p:nvPr/>
            </p:nvSpPr>
            <p:spPr bwMode="auto">
              <a:xfrm>
                <a:off x="1783" y="3197"/>
                <a:ext cx="0" cy="7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85361" name="Line 29"/>
              <p:cNvSpPr>
                <a:spLocks noChangeShapeType="1"/>
              </p:cNvSpPr>
              <p:nvPr/>
            </p:nvSpPr>
            <p:spPr bwMode="auto">
              <a:xfrm flipV="1">
                <a:off x="1800" y="3197"/>
                <a:ext cx="266" cy="7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85362" name="Line 30"/>
              <p:cNvSpPr>
                <a:spLocks noChangeShapeType="1"/>
              </p:cNvSpPr>
              <p:nvPr/>
            </p:nvSpPr>
            <p:spPr bwMode="auto">
              <a:xfrm flipV="1">
                <a:off x="3197" y="3437"/>
                <a:ext cx="274" cy="5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85363" name="Line 31"/>
              <p:cNvSpPr>
                <a:spLocks noChangeShapeType="1"/>
              </p:cNvSpPr>
              <p:nvPr/>
            </p:nvSpPr>
            <p:spPr bwMode="auto">
              <a:xfrm>
                <a:off x="3471" y="3437"/>
                <a:ext cx="9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85364" name="Text Box 32"/>
              <p:cNvSpPr txBox="1">
                <a:spLocks noChangeArrowheads="1"/>
              </p:cNvSpPr>
              <p:nvPr/>
            </p:nvSpPr>
            <p:spPr bwMode="auto">
              <a:xfrm>
                <a:off x="791" y="3209"/>
                <a:ext cx="476" cy="24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990033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2"/>
                  </a:buClr>
                  <a:buSzPct val="55000"/>
                  <a:buFont typeface="Wingdings" panose="05000000000000000000" pitchFamily="2" charset="2"/>
                  <a:buChar char="n"/>
                  <a:defRPr sz="2600">
                    <a:solidFill>
                      <a:srgbClr val="8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rgbClr val="8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GB" altLang="en-US" sz="2400">
                    <a:solidFill>
                      <a:srgbClr val="CF0E30"/>
                    </a:solidFill>
                    <a:latin typeface="Times New Roman" panose="02020603050405020304" pitchFamily="18" charset="0"/>
                  </a:rPr>
                  <a:t>places</a:t>
                </a:r>
              </a:p>
            </p:txBody>
          </p:sp>
          <p:sp>
            <p:nvSpPr>
              <p:cNvPr id="185365" name="Text Box 33"/>
              <p:cNvSpPr txBox="1">
                <a:spLocks noChangeArrowheads="1"/>
              </p:cNvSpPr>
              <p:nvPr/>
            </p:nvSpPr>
            <p:spPr bwMode="auto">
              <a:xfrm>
                <a:off x="1615" y="3223"/>
                <a:ext cx="672" cy="24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990033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2"/>
                  </a:buClr>
                  <a:buSzPct val="55000"/>
                  <a:buFont typeface="Wingdings" panose="05000000000000000000" pitchFamily="2" charset="2"/>
                  <a:buChar char="n"/>
                  <a:defRPr sz="2600">
                    <a:solidFill>
                      <a:srgbClr val="8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rgbClr val="8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GB" altLang="en-US" sz="2400">
                    <a:solidFill>
                      <a:srgbClr val="CF0E30"/>
                    </a:solidFill>
                    <a:latin typeface="Times New Roman" panose="02020603050405020304" pitchFamily="18" charset="0"/>
                  </a:rPr>
                  <a:t>placed by</a:t>
                </a:r>
              </a:p>
            </p:txBody>
          </p:sp>
          <p:sp>
            <p:nvSpPr>
              <p:cNvPr id="185366" name="Text Box 34"/>
              <p:cNvSpPr txBox="1">
                <a:spLocks noChangeArrowheads="1"/>
              </p:cNvSpPr>
              <p:nvPr/>
            </p:nvSpPr>
            <p:spPr bwMode="auto">
              <a:xfrm>
                <a:off x="2508" y="3176"/>
                <a:ext cx="596" cy="2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990033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2"/>
                  </a:buClr>
                  <a:buSzPct val="55000"/>
                  <a:buFont typeface="Wingdings" panose="05000000000000000000" pitchFamily="2" charset="2"/>
                  <a:buChar char="n"/>
                  <a:defRPr sz="2600">
                    <a:solidFill>
                      <a:srgbClr val="8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rgbClr val="8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GB" altLang="en-US" sz="2400">
                    <a:solidFill>
                      <a:srgbClr val="CF0E30"/>
                    </a:solidFill>
                    <a:latin typeface="Times New Roman" panose="02020603050405020304" pitchFamily="18" charset="0"/>
                  </a:rPr>
                  <a:t>contains</a:t>
                </a:r>
              </a:p>
            </p:txBody>
          </p:sp>
          <p:sp>
            <p:nvSpPr>
              <p:cNvPr id="185367" name="Text Box 35"/>
              <p:cNvSpPr txBox="1">
                <a:spLocks noChangeArrowheads="1"/>
              </p:cNvSpPr>
              <p:nvPr/>
            </p:nvSpPr>
            <p:spPr bwMode="auto">
              <a:xfrm>
                <a:off x="2064" y="3550"/>
                <a:ext cx="496" cy="2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990033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2"/>
                  </a:buClr>
                  <a:buSzPct val="55000"/>
                  <a:buFont typeface="Wingdings" panose="05000000000000000000" pitchFamily="2" charset="2"/>
                  <a:buChar char="n"/>
                  <a:defRPr sz="2600">
                    <a:solidFill>
                      <a:srgbClr val="8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rgbClr val="8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GB" altLang="en-US" sz="2400">
                    <a:solidFill>
                      <a:srgbClr val="CF0E30"/>
                    </a:solidFill>
                    <a:latin typeface="Times New Roman" panose="02020603050405020304" pitchFamily="18" charset="0"/>
                  </a:rPr>
                  <a:t>part of</a:t>
                </a:r>
              </a:p>
            </p:txBody>
          </p:sp>
          <p:sp>
            <p:nvSpPr>
              <p:cNvPr id="185368" name="Text Box 36"/>
              <p:cNvSpPr txBox="1">
                <a:spLocks noChangeArrowheads="1"/>
              </p:cNvSpPr>
              <p:nvPr/>
            </p:nvSpPr>
            <p:spPr bwMode="auto">
              <a:xfrm>
                <a:off x="3331" y="3081"/>
                <a:ext cx="476" cy="2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990033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2"/>
                  </a:buClr>
                  <a:buSzPct val="55000"/>
                  <a:buFont typeface="Wingdings" panose="05000000000000000000" pitchFamily="2" charset="2"/>
                  <a:buChar char="n"/>
                  <a:defRPr sz="2600">
                    <a:solidFill>
                      <a:srgbClr val="8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rgbClr val="8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GB" altLang="en-US" sz="2400">
                    <a:solidFill>
                      <a:srgbClr val="CF0E30"/>
                    </a:solidFill>
                    <a:latin typeface="Times New Roman" panose="02020603050405020304" pitchFamily="18" charset="0"/>
                  </a:rPr>
                  <a:t>shows</a:t>
                </a:r>
              </a:p>
            </p:txBody>
          </p:sp>
          <p:sp>
            <p:nvSpPr>
              <p:cNvPr id="185369" name="Text Box 37"/>
              <p:cNvSpPr txBox="1">
                <a:spLocks noChangeArrowheads="1"/>
              </p:cNvSpPr>
              <p:nvPr/>
            </p:nvSpPr>
            <p:spPr bwMode="auto">
              <a:xfrm>
                <a:off x="4071" y="3223"/>
                <a:ext cx="712" cy="24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990033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2"/>
                  </a:buClr>
                  <a:buSzPct val="55000"/>
                  <a:buFont typeface="Wingdings" panose="05000000000000000000" pitchFamily="2" charset="2"/>
                  <a:buChar char="n"/>
                  <a:defRPr sz="2600">
                    <a:solidFill>
                      <a:srgbClr val="8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rgbClr val="8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GB" altLang="en-US" sz="2400">
                    <a:solidFill>
                      <a:srgbClr val="CF0E30"/>
                    </a:solidFill>
                    <a:latin typeface="Times New Roman" panose="02020603050405020304" pitchFamily="18" charset="0"/>
                  </a:rPr>
                  <a:t>belongs to</a:t>
                </a:r>
              </a:p>
            </p:txBody>
          </p:sp>
          <p:sp>
            <p:nvSpPr>
              <p:cNvPr id="185370" name="Rectangle 38"/>
              <p:cNvSpPr>
                <a:spLocks noChangeArrowheads="1"/>
              </p:cNvSpPr>
              <p:nvPr/>
            </p:nvSpPr>
            <p:spPr bwMode="auto">
              <a:xfrm>
                <a:off x="746" y="3474"/>
                <a:ext cx="586" cy="26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990033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2"/>
                  </a:buClr>
                  <a:buSzPct val="55000"/>
                  <a:buFont typeface="Wingdings" panose="05000000000000000000" pitchFamily="2" charset="2"/>
                  <a:buChar char="n"/>
                  <a:defRPr sz="2600">
                    <a:solidFill>
                      <a:srgbClr val="8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rgbClr val="8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GB" altLang="en-US" sz="2000" u="sng">
                    <a:solidFill>
                      <a:srgbClr val="0000FF"/>
                    </a:solidFill>
                    <a:latin typeface="Times New Roman" panose="02020603050405020304" pitchFamily="18" charset="0"/>
                  </a:rPr>
                  <a:t>cust-no</a:t>
                </a:r>
              </a:p>
            </p:txBody>
          </p:sp>
          <p:sp>
            <p:nvSpPr>
              <p:cNvPr id="185371" name="Rectangle 39"/>
              <p:cNvSpPr>
                <a:spLocks noChangeArrowheads="1"/>
              </p:cNvSpPr>
              <p:nvPr/>
            </p:nvSpPr>
            <p:spPr bwMode="auto">
              <a:xfrm>
                <a:off x="1527" y="2584"/>
                <a:ext cx="666" cy="2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990033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2"/>
                  </a:buClr>
                  <a:buSzPct val="55000"/>
                  <a:buFont typeface="Wingdings" panose="05000000000000000000" pitchFamily="2" charset="2"/>
                  <a:buChar char="n"/>
                  <a:defRPr sz="2600">
                    <a:solidFill>
                      <a:srgbClr val="8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rgbClr val="8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GB" altLang="en-US" sz="2000" u="sng">
                    <a:solidFill>
                      <a:srgbClr val="0000FF"/>
                    </a:solidFill>
                    <a:latin typeface="Times New Roman" panose="02020603050405020304" pitchFamily="18" charset="0"/>
                  </a:rPr>
                  <a:t>order-no</a:t>
                </a:r>
              </a:p>
            </p:txBody>
          </p:sp>
          <p:sp>
            <p:nvSpPr>
              <p:cNvPr id="185372" name="Rectangle 40"/>
              <p:cNvSpPr>
                <a:spLocks noChangeArrowheads="1"/>
              </p:cNvSpPr>
              <p:nvPr/>
            </p:nvSpPr>
            <p:spPr bwMode="auto">
              <a:xfrm>
                <a:off x="3678" y="2550"/>
                <a:ext cx="622" cy="26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990033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2"/>
                  </a:buClr>
                  <a:buSzPct val="55000"/>
                  <a:buFont typeface="Wingdings" panose="05000000000000000000" pitchFamily="2" charset="2"/>
                  <a:buChar char="n"/>
                  <a:defRPr sz="2600">
                    <a:solidFill>
                      <a:srgbClr val="8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rgbClr val="8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GB" altLang="en-US" sz="2000" u="sng">
                    <a:solidFill>
                      <a:srgbClr val="0000FF"/>
                    </a:solidFill>
                    <a:latin typeface="Times New Roman" panose="02020603050405020304" pitchFamily="18" charset="0"/>
                  </a:rPr>
                  <a:t>prod-no</a:t>
                </a:r>
              </a:p>
            </p:txBody>
          </p:sp>
          <p:sp>
            <p:nvSpPr>
              <p:cNvPr id="185373" name="Rectangle 41"/>
              <p:cNvSpPr>
                <a:spLocks noChangeArrowheads="1"/>
              </p:cNvSpPr>
              <p:nvPr/>
            </p:nvSpPr>
            <p:spPr bwMode="auto">
              <a:xfrm>
                <a:off x="2693" y="3467"/>
                <a:ext cx="1252" cy="26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990033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2"/>
                  </a:buClr>
                  <a:buSzPct val="55000"/>
                  <a:buFont typeface="Wingdings" panose="05000000000000000000" pitchFamily="2" charset="2"/>
                  <a:buChar char="n"/>
                  <a:defRPr sz="2600">
                    <a:solidFill>
                      <a:srgbClr val="8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rgbClr val="8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0033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GB" altLang="en-US" sz="2000" u="sng">
                    <a:solidFill>
                      <a:srgbClr val="0000FF"/>
                    </a:solidFill>
                    <a:latin typeface="Times New Roman" panose="02020603050405020304" pitchFamily="18" charset="0"/>
                  </a:rPr>
                  <a:t>order-no, prod-no</a:t>
                </a:r>
              </a:p>
            </p:txBody>
          </p:sp>
        </p:grpSp>
      </p:grp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Reference</a:t>
            </a:r>
          </a:p>
        </p:txBody>
      </p:sp>
      <p:sp>
        <p:nvSpPr>
          <p:cNvPr id="18739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b="1" smtClean="0"/>
              <a:t>Chapter # 14</a:t>
            </a:r>
          </a:p>
          <a:p>
            <a:r>
              <a:rPr lang="en-US" altLang="en-US" b="1" smtClean="0"/>
              <a:t>Fundamentals of database systems</a:t>
            </a:r>
          </a:p>
          <a:p>
            <a:r>
              <a:rPr lang="en-US" altLang="en-US" b="1" smtClean="0"/>
              <a:t>7</a:t>
            </a:r>
            <a:r>
              <a:rPr lang="en-US" altLang="en-US" b="1" baseline="30000" smtClean="0"/>
              <a:t>th</a:t>
            </a:r>
            <a:r>
              <a:rPr lang="en-US" altLang="en-US" b="1" smtClean="0"/>
              <a:t> Edition</a:t>
            </a:r>
          </a:p>
          <a:p>
            <a:endParaRPr lang="en-US" altLang="en-US" smtClean="0"/>
          </a:p>
        </p:txBody>
      </p:sp>
      <p:sp>
        <p:nvSpPr>
          <p:cNvPr id="18739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smtClean="0">
                <a:solidFill>
                  <a:srgbClr val="990033"/>
                </a:solidFill>
              </a:rPr>
              <a:t>Slide 10- </a:t>
            </a:r>
            <a:fld id="{D7DD3786-BA0C-4D0A-B308-5C63B8D130F1}" type="slidenum">
              <a:rPr lang="en-US" altLang="en-US" sz="1400" smtClean="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90</a:t>
            </a:fld>
            <a:endParaRPr lang="en-CA" altLang="en-US" sz="1400" smtClean="0">
              <a:solidFill>
                <a:srgbClr val="990033"/>
              </a:solidFill>
            </a:endParaRPr>
          </a:p>
        </p:txBody>
      </p:sp>
    </p:spTree>
  </p:cSld>
  <p:clrMapOvr>
    <a:masterClrMapping/>
  </p:clrMapOvr>
  <p:transition spd="med"/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CA" altLang="en-US" sz="24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CA" altLang="en-US" sz="24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Designs\Blends.pot</Template>
  <TotalTime>3035</TotalTime>
  <Words>5762</Words>
  <Application>Microsoft Office PowerPoint</Application>
  <PresentationFormat>Letter Paper (8.5x11 in)</PresentationFormat>
  <Paragraphs>908</Paragraphs>
  <Slides>90</Slides>
  <Notes>89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3</vt:i4>
      </vt:variant>
      <vt:variant>
        <vt:lpstr>Slide Titles</vt:lpstr>
      </vt:variant>
      <vt:variant>
        <vt:i4>90</vt:i4>
      </vt:variant>
    </vt:vector>
  </HeadingPairs>
  <TitlesOfParts>
    <vt:vector size="103" baseType="lpstr">
      <vt:lpstr>Arial</vt:lpstr>
      <vt:lpstr>Wingdings</vt:lpstr>
      <vt:lpstr>Tahoma</vt:lpstr>
      <vt:lpstr>Times New Roman</vt:lpstr>
      <vt:lpstr>Symbol</vt:lpstr>
      <vt:lpstr>Century Schoolbook</vt:lpstr>
      <vt:lpstr>SimSun</vt:lpstr>
      <vt:lpstr>Times</vt:lpstr>
      <vt:lpstr>Calibri</vt:lpstr>
      <vt:lpstr>Blends</vt:lpstr>
      <vt:lpstr>Worksheet</vt:lpstr>
      <vt:lpstr>Document</vt:lpstr>
      <vt:lpstr>VISIO</vt:lpstr>
      <vt:lpstr>PowerPoint Presentation</vt:lpstr>
      <vt:lpstr>Chapter 10</vt:lpstr>
      <vt:lpstr>Chapter Outline</vt:lpstr>
      <vt:lpstr>Chapter Outline</vt:lpstr>
      <vt:lpstr>1 Informal Design Guidelines for Relational Databases (1)</vt:lpstr>
      <vt:lpstr>Informal Design Guidelines for Relational Databases (2)</vt:lpstr>
      <vt:lpstr>1.1 Semantics of the Relation Attributes </vt:lpstr>
      <vt:lpstr>Figure 10.1 A simplified COMPANY relational database schema</vt:lpstr>
      <vt:lpstr>1.2 Redundant Information in Tuples and Update Anomalies </vt:lpstr>
      <vt:lpstr>EXAMPLE OF AN UPDATE ANOMALY</vt:lpstr>
      <vt:lpstr>EXAMPLE OF AN INSERT ANOMALY</vt:lpstr>
      <vt:lpstr>EXAMPLE OF AN DELETE ANOMALY</vt:lpstr>
      <vt:lpstr>Figure 10.3 Two relation schemas suffering from update anomalies</vt:lpstr>
      <vt:lpstr>Figure 10.4 Example States for EMP_DEPT and EMP_PROJ</vt:lpstr>
      <vt:lpstr>Guideline to Redundant Information in Tuples and Update Anomalies</vt:lpstr>
      <vt:lpstr>1.3 Null Values in Tuples </vt:lpstr>
      <vt:lpstr>2.1  Functional Dependencies (1) </vt:lpstr>
      <vt:lpstr>Functional Dependencies (2)</vt:lpstr>
      <vt:lpstr>Examples of FD constraints (1) </vt:lpstr>
      <vt:lpstr>Examples of FD constraints (2)</vt:lpstr>
      <vt:lpstr>2.2 Inference Rules for FDs (1) </vt:lpstr>
      <vt:lpstr>Inference Rules for FDs (2)</vt:lpstr>
      <vt:lpstr>Inference Rules for FDs (3)</vt:lpstr>
      <vt:lpstr>Example</vt:lpstr>
      <vt:lpstr>Example (Cont..)</vt:lpstr>
      <vt:lpstr>Example (Cont..)</vt:lpstr>
      <vt:lpstr>Full Functional Dependency</vt:lpstr>
      <vt:lpstr>Partial Functional Dependency</vt:lpstr>
      <vt:lpstr>Functional Dependency: Exercise</vt:lpstr>
      <vt:lpstr>Functional Dependency: Exercise</vt:lpstr>
      <vt:lpstr>Solution</vt:lpstr>
      <vt:lpstr>2.3 Equivalence of Sets of FDs </vt:lpstr>
      <vt:lpstr>Functional Dependency</vt:lpstr>
      <vt:lpstr>Functional Dependency</vt:lpstr>
      <vt:lpstr>PowerPoint Presentation</vt:lpstr>
      <vt:lpstr>3 Normal Forms Based on Primary Keys </vt:lpstr>
      <vt:lpstr>3.1 Normalization of Relations (1)</vt:lpstr>
      <vt:lpstr>Normalization of Relations (2)</vt:lpstr>
      <vt:lpstr>3.2 Practical Use of Normal Forms</vt:lpstr>
      <vt:lpstr>3.2 First Normal Form </vt:lpstr>
      <vt:lpstr>Figure 10.8 Normalization into 1NF</vt:lpstr>
      <vt:lpstr>Figure 10.9 Normalization nested relations into 1NF</vt:lpstr>
      <vt:lpstr>Another Example: Bringing a Relation to 1NF</vt:lpstr>
      <vt:lpstr>Another Example: Bringing a Relation to 1NF</vt:lpstr>
      <vt:lpstr>Another Example: Bringing a Relation to 1NF</vt:lpstr>
      <vt:lpstr>3.3 Second Normal Form (1) </vt:lpstr>
      <vt:lpstr>Second Normal Form (2)</vt:lpstr>
      <vt:lpstr>Bringing a Relation to 2NF</vt:lpstr>
      <vt:lpstr>Bringing a Relation to 2NF</vt:lpstr>
      <vt:lpstr>Bringing a Relation to 2NF</vt:lpstr>
      <vt:lpstr>Bringing a Relation to 2NF</vt:lpstr>
      <vt:lpstr>3.4 Third Normal Form (1)</vt:lpstr>
      <vt:lpstr>Third Normal Form (2)</vt:lpstr>
      <vt:lpstr>Bringing a Relation to 3NF</vt:lpstr>
      <vt:lpstr>Bringing a Relation to 3NF</vt:lpstr>
      <vt:lpstr>Bringing a Relation to 3NF</vt:lpstr>
      <vt:lpstr>Example</vt:lpstr>
      <vt:lpstr>Example</vt:lpstr>
      <vt:lpstr>2NF Example</vt:lpstr>
      <vt:lpstr>2NF-Solution to Problems</vt:lpstr>
      <vt:lpstr>Third Normal Form (3NF)</vt:lpstr>
      <vt:lpstr>3NF Example</vt:lpstr>
      <vt:lpstr>Third Normal Form (3NF)</vt:lpstr>
      <vt:lpstr>3NF - Converting 2NF into 3NF</vt:lpstr>
      <vt:lpstr>Normal Forms Defined Informally </vt:lpstr>
      <vt:lpstr>PowerPoint Presentation</vt:lpstr>
      <vt:lpstr>Example 2: University Database Table</vt:lpstr>
      <vt:lpstr>Example 2: University Database Table</vt:lpstr>
      <vt:lpstr>Problems</vt:lpstr>
      <vt:lpstr>FD Diagrams and Lists</vt:lpstr>
      <vt:lpstr>Normalization</vt:lpstr>
      <vt:lpstr>1NF</vt:lpstr>
      <vt:lpstr>Combined Definition of 2NF/3NF</vt:lpstr>
      <vt:lpstr>2NF</vt:lpstr>
      <vt:lpstr>2NF Example</vt:lpstr>
      <vt:lpstr>3NF</vt:lpstr>
      <vt:lpstr>3NF Example</vt:lpstr>
      <vt:lpstr>Example 2 </vt:lpstr>
      <vt:lpstr>Unnormalised Normal Form (UNF)</vt:lpstr>
      <vt:lpstr>First Normal Form (1NF)</vt:lpstr>
      <vt:lpstr> </vt:lpstr>
      <vt:lpstr>Example - UNF to 1NF</vt:lpstr>
      <vt:lpstr>Second Normal Form (2NF)</vt:lpstr>
      <vt:lpstr>PowerPoint Presentation</vt:lpstr>
      <vt:lpstr>Example - 1NF to 2NF</vt:lpstr>
      <vt:lpstr>Third Normal Form (3NF)</vt:lpstr>
      <vt:lpstr>PowerPoint Presentation</vt:lpstr>
      <vt:lpstr>Example - 2NF to 3NF</vt:lpstr>
      <vt:lpstr>Example - Relations in 3NF</vt:lpstr>
      <vt:lpstr>Reference</vt:lpstr>
    </vt:vector>
  </TitlesOfParts>
  <Manager/>
  <Company>Copyright © 2007 Ramez Elmasri and Shamkant B. Navathe 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10</dc:title>
  <dc:subject>Functional Dependencies and Normalization for Relational Databases</dc:subject>
  <dc:creator>Elmasri/Navathe</dc:creator>
  <cp:keywords/>
  <dc:description/>
  <cp:lastModifiedBy>user1</cp:lastModifiedBy>
  <cp:revision>287</cp:revision>
  <cp:lastPrinted>2021-11-30T07:57:08Z</cp:lastPrinted>
  <dcterms:created xsi:type="dcterms:W3CDTF">2005-02-25T19:46:41Z</dcterms:created>
  <dcterms:modified xsi:type="dcterms:W3CDTF">2025-07-28T10:25:52Z</dcterms:modified>
  <cp:category/>
</cp:coreProperties>
</file>