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51"/>
  </p:notesMasterIdLst>
  <p:handoutMasterIdLst>
    <p:handoutMasterId r:id="rId52"/>
  </p:handoutMasterIdLst>
  <p:sldIdLst>
    <p:sldId id="282" r:id="rId2"/>
    <p:sldId id="324" r:id="rId3"/>
    <p:sldId id="374" r:id="rId4"/>
    <p:sldId id="327" r:id="rId5"/>
    <p:sldId id="399" r:id="rId6"/>
    <p:sldId id="375" r:id="rId7"/>
    <p:sldId id="328" r:id="rId8"/>
    <p:sldId id="376" r:id="rId9"/>
    <p:sldId id="389" r:id="rId10"/>
    <p:sldId id="329" r:id="rId11"/>
    <p:sldId id="330" r:id="rId12"/>
    <p:sldId id="377" r:id="rId13"/>
    <p:sldId id="400" r:id="rId14"/>
    <p:sldId id="332" r:id="rId15"/>
    <p:sldId id="398" r:id="rId16"/>
    <p:sldId id="333" r:id="rId17"/>
    <p:sldId id="378" r:id="rId18"/>
    <p:sldId id="334" r:id="rId19"/>
    <p:sldId id="379" r:id="rId20"/>
    <p:sldId id="391" r:id="rId21"/>
    <p:sldId id="335" r:id="rId22"/>
    <p:sldId id="380" r:id="rId23"/>
    <p:sldId id="381" r:id="rId24"/>
    <p:sldId id="336" r:id="rId25"/>
    <p:sldId id="337" r:id="rId26"/>
    <p:sldId id="397" r:id="rId27"/>
    <p:sldId id="338" r:id="rId28"/>
    <p:sldId id="396" r:id="rId29"/>
    <p:sldId id="382" r:id="rId30"/>
    <p:sldId id="383" r:id="rId31"/>
    <p:sldId id="339" r:id="rId32"/>
    <p:sldId id="340" r:id="rId33"/>
    <p:sldId id="403" r:id="rId34"/>
    <p:sldId id="385" r:id="rId35"/>
    <p:sldId id="341" r:id="rId36"/>
    <p:sldId id="404" r:id="rId37"/>
    <p:sldId id="342" r:id="rId38"/>
    <p:sldId id="407" r:id="rId39"/>
    <p:sldId id="408" r:id="rId40"/>
    <p:sldId id="406" r:id="rId41"/>
    <p:sldId id="386" r:id="rId42"/>
    <p:sldId id="343" r:id="rId43"/>
    <p:sldId id="387" r:id="rId44"/>
    <p:sldId id="393" r:id="rId45"/>
    <p:sldId id="344" r:id="rId46"/>
    <p:sldId id="345" r:id="rId47"/>
    <p:sldId id="367" r:id="rId48"/>
    <p:sldId id="401" r:id="rId49"/>
    <p:sldId id="402" r:id="rId50"/>
  </p:sldIdLst>
  <p:sldSz cx="9144000" cy="6858000" type="letter"/>
  <p:notesSz cx="6858000" cy="9144000"/>
  <p:defaultTextStyle>
    <a:defPPr>
      <a:defRPr lang="en-CA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4"/>
    <p:restoredTop sz="95082"/>
  </p:normalViewPr>
  <p:slideViewPr>
    <p:cSldViewPr snapToObjects="1">
      <p:cViewPr varScale="1">
        <p:scale>
          <a:sx n="94" d="100"/>
          <a:sy n="94" d="100"/>
        </p:scale>
        <p:origin x="760" y="184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744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7AB70AAA-C275-A343-BCDB-9AEAC9F0015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FE3EA57-06B2-3F44-A704-C4103BF0F81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59D9C223-0E54-824E-A298-EFC7F8B6BAC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0421" name="Rectangle 5">
            <a:extLst>
              <a:ext uri="{FF2B5EF4-FFF2-40B4-BE49-F238E27FC236}">
                <a16:creationId xmlns:a16="http://schemas.microsoft.com/office/drawing/2014/main" id="{79D65AD9-8268-FC4E-83A9-32396039B47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8C24BF3F-3D49-44ED-BA09-03F4D88EE129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740D8AF7-746C-E547-96F8-E683EA92616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4E400073-DE8F-8340-AA6C-B08AB01865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331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>
            <a:extLst>
              <a:ext uri="{FF2B5EF4-FFF2-40B4-BE49-F238E27FC236}">
                <a16:creationId xmlns:a16="http://schemas.microsoft.com/office/drawing/2014/main" id="{E75AC251-E581-2D46-82E8-D4B5920791C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noProof="0"/>
              <a:t>Click to edit Master text styles</a:t>
            </a:r>
          </a:p>
          <a:p>
            <a:pPr lvl="1"/>
            <a:r>
              <a:rPr lang="en-CA" altLang="en-US" noProof="0"/>
              <a:t>Second level</a:t>
            </a:r>
          </a:p>
          <a:p>
            <a:pPr lvl="2"/>
            <a:r>
              <a:rPr lang="en-CA" altLang="en-US" noProof="0"/>
              <a:t>Third level</a:t>
            </a:r>
          </a:p>
          <a:p>
            <a:pPr lvl="3"/>
            <a:r>
              <a:rPr lang="en-CA" altLang="en-US" noProof="0"/>
              <a:t>Fourth level</a:t>
            </a:r>
          </a:p>
          <a:p>
            <a:pPr lvl="4"/>
            <a:r>
              <a:rPr lang="en-CA" altLang="en-US" noProof="0"/>
              <a:t>Fifth level</a:t>
            </a:r>
          </a:p>
        </p:txBody>
      </p:sp>
      <p:sp>
        <p:nvSpPr>
          <p:cNvPr id="61446" name="Rectangle 6">
            <a:extLst>
              <a:ext uri="{FF2B5EF4-FFF2-40B4-BE49-F238E27FC236}">
                <a16:creationId xmlns:a16="http://schemas.microsoft.com/office/drawing/2014/main" id="{76ADE687-9A8B-CE4C-882C-C627E2FFCB9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61447" name="Rectangle 7">
            <a:extLst>
              <a:ext uri="{FF2B5EF4-FFF2-40B4-BE49-F238E27FC236}">
                <a16:creationId xmlns:a16="http://schemas.microsoft.com/office/drawing/2014/main" id="{C5A85450-E87C-1640-AA0B-C86D1677B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D622ACAB-4D06-47C1-9255-C0405E55D01B}" type="slidenum">
              <a:rPr lang="en-CA" altLang="en-US"/>
              <a:pPr>
                <a:defRPr/>
              </a:pPr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547481-A11B-4E71-B6CA-478460089EB6}" type="slidenum">
              <a:rPr lang="en-CA" altLang="en-US" sz="1200" smtClean="0">
                <a:latin typeface="Tahoma" panose="020B0604030504040204" pitchFamily="34" charset="0"/>
              </a:rPr>
              <a:pPr/>
              <a:t>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6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10E8A1-C9C3-4B2A-ADE7-687C4F8D9B7C}" type="slidenum">
              <a:rPr lang="en-CA" altLang="en-US" sz="1200" smtClean="0">
                <a:latin typeface="Tahoma" panose="020B0604030504040204" pitchFamily="34" charset="0"/>
              </a:rPr>
              <a:pPr/>
              <a:t>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8434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5B0E1DD-98C6-451C-ADEE-708F28C4C8EB}" type="slidenum">
              <a:rPr lang="en-CA" altLang="en-US" sz="1200" smtClean="0">
                <a:latin typeface="Tahoma" panose="020B0604030504040204" pitchFamily="34" charset="0"/>
              </a:rPr>
              <a:pPr/>
              <a:t>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04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13E81E-85AB-4CFA-9341-586E46716CFE}" type="slidenum">
              <a:rPr lang="en-CA" altLang="en-US" sz="1200" smtClean="0">
                <a:latin typeface="Tahoma" panose="020B0604030504040204" pitchFamily="34" charset="0"/>
              </a:rPr>
              <a:pPr/>
              <a:t>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2530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4187D1-BB1B-4459-8A02-F0C813D318C9}" type="slidenum">
              <a:rPr lang="en-CA" altLang="en-US" sz="1200" smtClean="0">
                <a:latin typeface="Tahoma" panose="020B0604030504040204" pitchFamily="34" charset="0"/>
              </a:rPr>
              <a:pPr/>
              <a:t>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45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022270-B435-4A70-BFA8-776D78AB1F96}" type="slidenum">
              <a:rPr lang="en-CA" altLang="en-US" sz="1200" smtClean="0">
                <a:latin typeface="Tahoma" panose="020B0604030504040204" pitchFamily="34" charset="0"/>
              </a:rPr>
              <a:pPr/>
              <a:t>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6626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633051-A037-44F9-B2E1-3FB82101FE9D}" type="slidenum">
              <a:rPr lang="en-CA" altLang="en-US" sz="1200" smtClean="0">
                <a:latin typeface="Tahoma" panose="020B0604030504040204" pitchFamily="34" charset="0"/>
              </a:rPr>
              <a:pPr/>
              <a:t>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28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E55B9D-EC16-48FE-8191-C73EB61D1593}" type="slidenum">
              <a:rPr lang="en-CA" altLang="en-US" sz="1200" smtClean="0">
                <a:latin typeface="Tahoma" panose="020B0604030504040204" pitchFamily="34" charset="0"/>
              </a:rPr>
              <a:pPr/>
              <a:t>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0722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807A463-F46C-4D8E-BE1F-AE11CDD270D7}" type="slidenum">
              <a:rPr lang="en-CA" altLang="en-US" sz="1200" smtClean="0">
                <a:latin typeface="Tahoma" panose="020B0604030504040204" pitchFamily="34" charset="0"/>
              </a:rPr>
              <a:pPr/>
              <a:t>9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2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113D26-66F1-453A-8077-D9B4C4C90CDF}" type="slidenum">
              <a:rPr lang="en-CA" altLang="en-US" sz="1200" smtClean="0">
                <a:latin typeface="Tahoma" panose="020B0604030504040204" pitchFamily="34" charset="0"/>
              </a:rPr>
              <a:pPr/>
              <a:t>10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4818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C0C9664-A9D8-41F1-8790-55727D4953CE}" type="slidenum">
              <a:rPr lang="en-CA" altLang="en-US" sz="1200" smtClean="0">
                <a:latin typeface="Tahoma" panose="020B0604030504040204" pitchFamily="34" charset="0"/>
              </a:rPr>
              <a:pPr/>
              <a:t>11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6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74FD9DC-191B-46FE-86B3-2E9F2A258E20}" type="slidenum">
              <a:rPr lang="en-CA" altLang="en-US" sz="1200" smtClean="0">
                <a:latin typeface="Tahoma" panose="020B0604030504040204" pitchFamily="34" charset="0"/>
              </a:rPr>
              <a:pPr/>
              <a:t>12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38914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DFB76A-4ABD-475E-8C54-BC84DDC102C3}" type="slidenum">
              <a:rPr lang="en-CA" altLang="en-US" sz="1200" smtClean="0">
                <a:latin typeface="Tahoma" panose="020B0604030504040204" pitchFamily="34" charset="0"/>
              </a:rPr>
              <a:pPr/>
              <a:t>13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09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99F280-C928-491D-88DC-9E2FA9722ED3}" type="slidenum">
              <a:rPr lang="en-CA" altLang="en-US" sz="1200" smtClean="0">
                <a:latin typeface="Tahoma" panose="020B0604030504040204" pitchFamily="34" charset="0"/>
              </a:rPr>
              <a:pPr/>
              <a:t>14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3010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90ABDBF-7FCB-4D42-8D61-FAA1FAD28B15}" type="slidenum">
              <a:rPr lang="en-CA" altLang="en-US" sz="1200" smtClean="0">
                <a:latin typeface="Tahoma" panose="020B0604030504040204" pitchFamily="34" charset="0"/>
              </a:rPr>
              <a:pPr/>
              <a:t>15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50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EC309D8-015A-42A3-A70E-0C4CCB4AD78C}" type="slidenum">
              <a:rPr lang="en-CA" altLang="en-US" sz="1200" smtClean="0">
                <a:latin typeface="Tahoma" panose="020B0604030504040204" pitchFamily="34" charset="0"/>
              </a:rPr>
              <a:pPr/>
              <a:t>16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7106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97456B-D5E5-450F-B986-B46411D7793B}" type="slidenum">
              <a:rPr lang="en-CA" altLang="en-US" sz="1200" smtClean="0">
                <a:latin typeface="Tahoma" panose="020B0604030504040204" pitchFamily="34" charset="0"/>
              </a:rPr>
              <a:pPr/>
              <a:t>17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491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5A7985F-71EC-4282-98A6-3881AD768250}" type="slidenum">
              <a:rPr lang="en-CA" altLang="en-US" sz="1200" smtClean="0">
                <a:latin typeface="Tahoma" panose="020B0604030504040204" pitchFamily="34" charset="0"/>
              </a:rPr>
              <a:pPr/>
              <a:t>18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1202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94EE55-1269-44B8-831D-C035C8922653}" type="slidenum">
              <a:rPr lang="en-CA" altLang="en-US" sz="1200" smtClean="0">
                <a:latin typeface="Tahoma" panose="020B0604030504040204" pitchFamily="34" charset="0"/>
              </a:rPr>
              <a:pPr/>
              <a:t>19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32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B0C419-6BE2-49F6-A849-E8988BF4E992}" type="slidenum">
              <a:rPr lang="en-CA" altLang="en-US" sz="1200" smtClean="0">
                <a:latin typeface="Tahoma" panose="020B0604030504040204" pitchFamily="34" charset="0"/>
              </a:rPr>
              <a:pPr/>
              <a:t>21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6322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194259-0AFA-45DF-B5D6-BDFA8F9988C1}" type="slidenum">
              <a:rPr lang="en-CA" altLang="en-US" sz="1200" smtClean="0">
                <a:latin typeface="Tahoma" panose="020B0604030504040204" pitchFamily="34" charset="0"/>
              </a:rPr>
              <a:pPr/>
              <a:t>22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583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A50F837-347C-4E81-A868-3486D9246FA4}" type="slidenum">
              <a:rPr lang="en-CA" altLang="en-US" sz="1200" smtClean="0">
                <a:latin typeface="Tahoma" panose="020B0604030504040204" pitchFamily="34" charset="0"/>
              </a:rPr>
              <a:pPr/>
              <a:t>23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0418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694B03-55B9-435F-B70C-905E2E31C814}" type="slidenum">
              <a:rPr lang="en-CA" altLang="en-US" sz="1200" smtClean="0">
                <a:latin typeface="Tahoma" panose="020B0604030504040204" pitchFamily="34" charset="0"/>
              </a:rPr>
              <a:pPr/>
              <a:t>24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24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616845-449E-43D7-A9FF-F87410F7096B}" type="slidenum">
              <a:rPr lang="en-CA" altLang="en-US" sz="1200" smtClean="0">
                <a:latin typeface="Tahoma" panose="020B0604030504040204" pitchFamily="34" charset="0"/>
              </a:rPr>
              <a:pPr/>
              <a:t>25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4514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5395CB-E7FD-48C1-A2E5-953E20C5C05F}" type="slidenum">
              <a:rPr lang="en-CA" altLang="en-US" sz="1200" smtClean="0">
                <a:latin typeface="Tahoma" panose="020B0604030504040204" pitchFamily="34" charset="0"/>
              </a:rPr>
              <a:pPr/>
              <a:t>26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65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817DA2B-0296-47BB-BA43-99BCC345E8CA}" type="slidenum">
              <a:rPr lang="en-CA" altLang="en-US" sz="1200" smtClean="0">
                <a:latin typeface="Tahoma" panose="020B0604030504040204" pitchFamily="34" charset="0"/>
              </a:rPr>
              <a:pPr/>
              <a:t>27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686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50A9A1B-FE27-4C1C-9945-D26158F3F40C}" type="slidenum">
              <a:rPr lang="en-CA" altLang="en-US" sz="1200" smtClean="0">
                <a:latin typeface="Tahoma" panose="020B0604030504040204" pitchFamily="34" charset="0"/>
              </a:rPr>
              <a:pPr/>
              <a:t>28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06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4EA8DE-43A7-43B3-8C5D-AB6C6D88D60E}" type="slidenum">
              <a:rPr lang="en-CA" altLang="en-US" sz="1200" smtClean="0">
                <a:latin typeface="Tahoma" panose="020B0604030504040204" pitchFamily="34" charset="0"/>
              </a:rPr>
              <a:pPr/>
              <a:t>29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27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D3A1B07-363C-483C-92C1-1C4ECC777E18}" type="slidenum">
              <a:rPr lang="en-CA" altLang="en-US" sz="1200" smtClean="0">
                <a:latin typeface="Tahoma" panose="020B0604030504040204" pitchFamily="34" charset="0"/>
              </a:rPr>
              <a:pPr/>
              <a:t>30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47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C5885FB-B156-4888-89E9-89D900CB603E}" type="slidenum">
              <a:rPr lang="en-CA" altLang="en-US" sz="1200" smtClean="0">
                <a:latin typeface="Tahoma" panose="020B0604030504040204" pitchFamily="34" charset="0"/>
              </a:rPr>
              <a:pPr/>
              <a:t>31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68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8C1CB6-AFCB-4135-ACE9-D0E7E1CDC6E4}" type="slidenum">
              <a:rPr lang="en-CA" altLang="en-US" sz="1200" smtClean="0">
                <a:latin typeface="Tahoma" panose="020B0604030504040204" pitchFamily="34" charset="0"/>
              </a:rPr>
              <a:pPr/>
              <a:t>32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7885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20493B-EEC9-4FEB-8A3B-911252EB9858}" type="slidenum">
              <a:rPr lang="en-CA" altLang="en-US" sz="1200" smtClean="0">
                <a:latin typeface="Tahoma" panose="020B0604030504040204" pitchFamily="34" charset="0"/>
              </a:rPr>
              <a:pPr/>
              <a:t>34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819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E4ACF6-A3B8-4BA6-8E13-1353CB442BD9}" type="slidenum">
              <a:rPr lang="en-CA" altLang="en-US" sz="1200" smtClean="0">
                <a:latin typeface="Tahoma" panose="020B0604030504040204" pitchFamily="34" charset="0"/>
              </a:rPr>
              <a:pPr/>
              <a:t>35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839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FAC999-AAE5-4153-90A2-D6D49AC92CCE}" type="slidenum">
              <a:rPr lang="en-CA" altLang="en-US" sz="1200" smtClean="0">
                <a:latin typeface="Tahoma" panose="020B0604030504040204" pitchFamily="34" charset="0"/>
              </a:rPr>
              <a:pPr/>
              <a:t>36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860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FC8923-6D47-4AA6-ACB2-95181D969A30}" type="slidenum">
              <a:rPr lang="en-CA" altLang="en-US" sz="1200" smtClean="0">
                <a:latin typeface="Tahoma" panose="020B0604030504040204" pitchFamily="34" charset="0"/>
              </a:rPr>
              <a:pPr/>
              <a:t>37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880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696E33-C281-4F66-8248-E1D2F4BCC3BF}" type="slidenum">
              <a:rPr lang="en-CA" altLang="en-US" sz="1200" smtClean="0">
                <a:latin typeface="Tahoma" panose="020B0604030504040204" pitchFamily="34" charset="0"/>
              </a:rPr>
              <a:pPr/>
              <a:t>38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901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568D91-F730-42B8-AFF5-5AEA4897565E}" type="slidenum">
              <a:rPr lang="en-CA" altLang="en-US" sz="1200" smtClean="0">
                <a:latin typeface="Tahoma" panose="020B0604030504040204" pitchFamily="34" charset="0"/>
              </a:rPr>
              <a:pPr/>
              <a:t>39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921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E7674FC-1651-4863-8874-1A1BAEFB3349}" type="slidenum">
              <a:rPr lang="en-CA" altLang="en-US" sz="1200" smtClean="0">
                <a:latin typeface="Tahoma" panose="020B0604030504040204" pitchFamily="34" charset="0"/>
              </a:rPr>
              <a:pPr/>
              <a:t>40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942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8FB4FF-C4CC-4079-9BEF-A704BA36B9E3}" type="slidenum">
              <a:rPr lang="en-CA" altLang="en-US" sz="1200" smtClean="0">
                <a:latin typeface="Tahoma" panose="020B0604030504040204" pitchFamily="34" charset="0"/>
              </a:rPr>
              <a:pPr/>
              <a:t>41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962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C929278-EFC5-4394-95B5-632CB78541D0}" type="slidenum">
              <a:rPr lang="en-CA" altLang="en-US" sz="1200" smtClean="0">
                <a:latin typeface="Tahoma" panose="020B0604030504040204" pitchFamily="34" charset="0"/>
              </a:rPr>
              <a:pPr/>
              <a:t>42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9830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ACF059B-CC6D-4B42-9DCD-8FB8E9326B32}" type="slidenum">
              <a:rPr lang="en-CA" altLang="en-US" sz="1200" smtClean="0">
                <a:latin typeface="Tahoma" panose="020B0604030504040204" pitchFamily="34" charset="0"/>
              </a:rPr>
              <a:pPr/>
              <a:t>43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0035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3B49E4A-F699-406E-98CC-5E575039DC30}" type="slidenum">
              <a:rPr lang="en-CA" altLang="en-US" sz="1200" smtClean="0">
                <a:latin typeface="Tahoma" panose="020B0604030504040204" pitchFamily="34" charset="0"/>
              </a:rPr>
              <a:pPr/>
              <a:t>45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034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79B3EC-DC38-461F-BE5A-C6F0992853BE}" type="slidenum">
              <a:rPr lang="en-CA" altLang="en-US" sz="1200" smtClean="0">
                <a:latin typeface="Tahoma" panose="020B0604030504040204" pitchFamily="34" charset="0"/>
              </a:rPr>
              <a:pPr/>
              <a:t>46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054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712CD5F-2258-47A0-8F60-E27EBA86D61C}" type="slidenum">
              <a:rPr lang="en-CA" altLang="en-US" sz="1200" smtClean="0">
                <a:latin typeface="Tahoma" panose="020B0604030504040204" pitchFamily="34" charset="0"/>
              </a:rPr>
              <a:pPr/>
              <a:t>47</a:t>
            </a:fld>
            <a:endParaRPr lang="en-CA" altLang="en-US" sz="1200" smtClean="0">
              <a:latin typeface="Tahoma" panose="020B0604030504040204" pitchFamily="34" charset="0"/>
            </a:endParaRPr>
          </a:p>
        </p:txBody>
      </p:sp>
      <p:sp>
        <p:nvSpPr>
          <p:cNvPr id="1075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4">
            <a:extLst>
              <a:ext uri="{FF2B5EF4-FFF2-40B4-BE49-F238E27FC236}">
                <a16:creationId xmlns:a16="http://schemas.microsoft.com/office/drawing/2014/main" id="{1BCE8914-6308-7149-A65B-1A602DD79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3999"/>
                </a:srgbClr>
              </a:gs>
              <a:gs pos="100000">
                <a:srgbClr val="5A6423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5" name="Rectangle 47">
            <a:extLst>
              <a:ext uri="{FF2B5EF4-FFF2-40B4-BE49-F238E27FC236}">
                <a16:creationId xmlns:a16="http://schemas.microsoft.com/office/drawing/2014/main" id="{E4CC7C26-8AD2-1744-BFAA-1214B4C84158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3921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6" name="Rectangle 48">
            <a:extLst>
              <a:ext uri="{FF2B5EF4-FFF2-40B4-BE49-F238E27FC236}">
                <a16:creationId xmlns:a16="http://schemas.microsoft.com/office/drawing/2014/main" id="{F69F9DA3-6FBB-9D40-ABF1-F6D35976F4D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pic>
        <p:nvPicPr>
          <p:cNvPr id="7" name="Picture 35" descr="awtri_4c UPDATE_col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6" descr="elmasri_thumb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26" name="Rectangle 30" descr="Pink tissue paper">
            <a:extLst>
              <a:ext uri="{FF2B5EF4-FFF2-40B4-BE49-F238E27FC236}">
                <a16:creationId xmlns:a16="http://schemas.microsoft.com/office/drawing/2014/main" id="{9D766E37-3922-4A47-9A10-400C5B242C7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</a:extLst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134" name="Rectangle 38" descr="Pink tissue paper">
            <a:extLst>
              <a:ext uri="{FF2B5EF4-FFF2-40B4-BE49-F238E27FC236}">
                <a16:creationId xmlns:a16="http://schemas.microsoft.com/office/drawing/2014/main" id="{C9A9DE8C-8614-4A48-804F-89590B439CD9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>
              <a:buFont typeface="Wingdings" pitchFamily="2" charset="2"/>
              <a:buNone/>
              <a:defRPr sz="32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9" name="Rectangle 29">
            <a:extLst>
              <a:ext uri="{FF2B5EF4-FFF2-40B4-BE49-F238E27FC236}">
                <a16:creationId xmlns:a16="http://schemas.microsoft.com/office/drawing/2014/main" id="{78CCF8F8-9C8E-C24D-8C53-50DE2A30F95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>
              <a:defRPr/>
            </a:pPr>
            <a:r>
              <a:rPr lang="en-US" altLang="en-US"/>
              <a:t>Copyright © 2007 Ramez Elmasri and Shamkant B. Navathe</a:t>
            </a:r>
          </a:p>
        </p:txBody>
      </p:sp>
    </p:spTree>
    <p:extLst>
      <p:ext uri="{BB962C8B-B14F-4D97-AF65-F5344CB8AC3E}">
        <p14:creationId xmlns:p14="http://schemas.microsoft.com/office/powerpoint/2010/main" val="36408538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76F1-B629-D646-BBFF-9CA0C205A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8819F-EFDF-894F-9B86-583BCC6AD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5E89E3DF-3D4A-48B3-9D4E-1710BB274ED7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131565100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AD598-2134-8444-92BA-31A6B8BA9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7AE5E-3CF4-9B49-A31B-4C5675285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856B5243-9F85-4AA5-835C-346F844A50CF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18470349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099D-4260-5E49-AC3D-FD9F8AD9C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AF68E-0DA2-454B-B22E-E2449754F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A90CC6-97C7-7047-9534-371854E4A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D77AADBE-EDC8-4136-A7E6-574B2F07A829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88220910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40695-9E4C-AF47-8700-BFEB27E4D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6C8196-1CF7-F74C-A689-14A59E4B2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8801F-3B5F-024C-830B-DF60089B6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1A5BF-4E88-A647-98EF-AE86DE4ABB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586E81-27FF-EF4F-9CC6-60398FD99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A22D7925-C22B-430E-8F32-776A931DF99A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7143810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42295-036B-7541-819E-E28E6A9A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17F5DB9A-2F3A-4894-90A4-053249F317C3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2468550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70B214DC-0770-4999-9289-2DE34B6E702C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8537067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370F-51DB-5945-9D7B-6AEC30D27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0369E-AED8-914D-8486-005E933480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86A72-8B5A-6041-8F27-A0C28AE64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E5D32438-BA8A-4233-B4DA-6B84CD6CE5CB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15203799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847DE-ED96-C844-9CF0-613786822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0C4049-E616-FE44-B006-29313875D8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F04D6-3160-324B-A5AF-B71187B48F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FD3EF18B-299D-4AF3-81D0-805CEED01573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550815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A1B7-4E73-4C47-8E69-7D83DCBD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DBA35-072F-E448-A6BD-432282869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A9F25435-5B45-4FEC-8EED-1812246DFC76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01628948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1AE7BE-93C3-874F-80B1-FA9423738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8E5DD2-BFD0-9C42-80AB-6D8C51E5D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A886C237-57F4-45BF-9423-2795842F3CDC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40275609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1032" name="Rectangle 38">
              <a:extLst>
                <a:ext uri="{FF2B5EF4-FFF2-40B4-BE49-F238E27FC236}">
                  <a16:creationId xmlns:a16="http://schemas.microsoft.com/office/drawing/2014/main" id="{291EEB5D-D99C-8F4C-809E-632DA76F47C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 altLang="en-US" sz="3200">
                <a:latin typeface="Tahoma" panose="020B0604030504040204" pitchFamily="34" charset="0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>
                <a:extLst>
                  <a:ext uri="{FF2B5EF4-FFF2-40B4-BE49-F238E27FC236}">
                    <a16:creationId xmlns:a16="http://schemas.microsoft.com/office/drawing/2014/main" id="{86F75ED4-3F20-B64C-8E4A-C7BA21EA787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id="{C09D40D1-7FFD-0D46-90EF-BE85E6B049D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defRPr/>
                </a:pPr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1027" name="Rectangle 37">
            <a:extLst>
              <a:ext uri="{FF2B5EF4-FFF2-40B4-BE49-F238E27FC236}">
                <a16:creationId xmlns:a16="http://schemas.microsoft.com/office/drawing/2014/main" id="{718A9A55-39DF-D64C-883F-C86789DDE646}"/>
              </a:ext>
            </a:extLst>
          </p:cNvPr>
          <p:cNvSpPr>
            <a:spLocks noChangeArrowheads="1"/>
          </p:cNvSpPr>
          <p:nvPr userDrawn="1"/>
        </p:nvSpPr>
        <p:spPr bwMode="gray">
          <a:xfrm rot="-54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 sz="3200">
              <a:latin typeface="Tahoma" panose="020B0604030504040204" pitchFamily="34" charset="0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3AEB2043-16D1-1841-8A10-1393093D0BD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1">
                <a:solidFill>
                  <a:srgbClr val="990033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Slide 4- </a:t>
            </a:r>
            <a:fld id="{5E15AE03-1DFA-4B1D-884F-6DA5A34AD2F6}" type="slidenum">
              <a:rPr lang="en-US" altLang="en-US" smtClean="0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31" name="Rectangle 30">
            <a:extLst>
              <a:ext uri="{FF2B5EF4-FFF2-40B4-BE49-F238E27FC236}">
                <a16:creationId xmlns:a16="http://schemas.microsoft.com/office/drawing/2014/main" id="{34B3ADCD-FE76-1446-AC80-D738872DA9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900"/>
              <a:t>Copyright © 2007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 kern="1200">
          <a:solidFill>
            <a:srgbClr val="8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 kern="1200">
          <a:solidFill>
            <a:srgbClr val="8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C547A8D8-5F39-455D-9812-64FF4BCAAC0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altLang="en-US" smtClean="0"/>
          </a:p>
        </p:txBody>
      </p:sp>
      <p:pic>
        <p:nvPicPr>
          <p:cNvPr id="15363" name="Picture 11" descr="Elmasri_c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240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9"/>
          <p:cNvSpPr>
            <a:spLocks noGrp="1" noChangeArrowheads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900" smtClean="0">
                <a:solidFill>
                  <a:schemeClr val="tx1"/>
                </a:solidFill>
              </a:rPr>
              <a:t>Copyright © 2007 Ramez Elmasri and Shamkant B. Navathe</a:t>
            </a:r>
          </a:p>
        </p:txBody>
      </p:sp>
      <p:sp>
        <p:nvSpPr>
          <p:cNvPr id="17410" name="Rectangle 2" descr="Pink tissue paper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4</a:t>
            </a:r>
          </a:p>
        </p:txBody>
      </p:sp>
      <p:sp>
        <p:nvSpPr>
          <p:cNvPr id="17411" name="Rectangle 3" descr="Pink tissue paper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Enhanced Entity-Relationship (EER) Modeling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F5046146-9EEC-4176-9F93-27E6B600F06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Outline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EER stands for Enhanced ER or Extended 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EER Model Concepts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Includes all modeling concepts of basic ER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Additional concepts: 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smtClean="0"/>
              <a:t>subclasses/superclasses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smtClean="0"/>
              <a:t>specialization/generalization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smtClean="0"/>
              <a:t>categories (UNION types)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z="2000" smtClean="0"/>
              <a:t>attribute and relationship inheritance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These are fundamental to conceptual modeling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The additional EER concepts are used to model applications more completely and more accurately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EER includes some object-oriented concepts, such as inheritance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FC71803-709A-4619-8C05-B513DC5779E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(1)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An entity type may have additional meaningful subgroupings of its entities</a:t>
            </a:r>
          </a:p>
          <a:p>
            <a:pPr lvl="1" eaLnBrk="1" hangingPunct="1"/>
            <a:r>
              <a:rPr lang="en-US" altLang="en-US" sz="2200" smtClean="0"/>
              <a:t>Example: EMPLOYEE may be further grouped into: </a:t>
            </a:r>
          </a:p>
          <a:p>
            <a:pPr lvl="2" eaLnBrk="1" hangingPunct="1"/>
            <a:r>
              <a:rPr lang="en-US" altLang="en-US" sz="2000" smtClean="0"/>
              <a:t>SECRETARY, ENGINEER, TECHNICIAN, …</a:t>
            </a:r>
          </a:p>
          <a:p>
            <a:pPr lvl="3" eaLnBrk="1" hangingPunct="1"/>
            <a:r>
              <a:rPr lang="en-US" altLang="en-US" sz="1800" smtClean="0"/>
              <a:t>Based on the EMPLOYEE’s Job</a:t>
            </a:r>
          </a:p>
          <a:p>
            <a:pPr lvl="2" eaLnBrk="1" hangingPunct="1"/>
            <a:r>
              <a:rPr lang="en-US" altLang="en-US" sz="2000" smtClean="0"/>
              <a:t>MANAGER</a:t>
            </a:r>
          </a:p>
          <a:p>
            <a:pPr lvl="3" eaLnBrk="1" hangingPunct="1"/>
            <a:r>
              <a:rPr lang="en-US" altLang="en-US" sz="1800" smtClean="0"/>
              <a:t>EMPLOYEEs who are managers</a:t>
            </a:r>
          </a:p>
          <a:p>
            <a:pPr lvl="2" eaLnBrk="1" hangingPunct="1"/>
            <a:r>
              <a:rPr lang="en-US" altLang="en-US" sz="2000" smtClean="0"/>
              <a:t>SALARIED_EMPLOYEE, HOURLY_EMPLOYEE</a:t>
            </a:r>
          </a:p>
          <a:p>
            <a:pPr lvl="3" eaLnBrk="1" hangingPunct="1"/>
            <a:r>
              <a:rPr lang="en-US" altLang="en-US" sz="1800" smtClean="0"/>
              <a:t>Based on the EMPLOYEE’s method of pay</a:t>
            </a:r>
          </a:p>
          <a:p>
            <a:pPr eaLnBrk="1" hangingPunct="1"/>
            <a:r>
              <a:rPr lang="en-US" altLang="en-US" sz="2400" smtClean="0"/>
              <a:t>EER diagrams extend ER diagrams to represent these additional subgroupings, called </a:t>
            </a:r>
            <a:r>
              <a:rPr lang="en-US" altLang="en-US" sz="2400" i="1" smtClean="0"/>
              <a:t>subclasses</a:t>
            </a:r>
            <a:r>
              <a:rPr lang="en-US" altLang="en-US" sz="2400" smtClean="0"/>
              <a:t> or </a:t>
            </a:r>
            <a:r>
              <a:rPr lang="en-US" altLang="en-US" sz="2400" i="1" smtClean="0"/>
              <a:t>subtypes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4534905F-ED42-482B-A5B0-21AB49D8D01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pic>
        <p:nvPicPr>
          <p:cNvPr id="23554" name="Picture 3" descr="fig04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19250"/>
            <a:ext cx="7467600" cy="474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5" name="Text Box 4" descr="Pink tissue paper"/>
          <p:cNvSpPr txBox="1">
            <a:spLocks noChangeArrowheads="1"/>
          </p:cNvSpPr>
          <p:nvPr/>
        </p:nvSpPr>
        <p:spPr bwMode="auto">
          <a:xfrm>
            <a:off x="838200" y="593725"/>
            <a:ext cx="70104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rgbClr val="800000"/>
                </a:solidFill>
              </a:rPr>
              <a:t>Subclasses and Superclasses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F72D0999-4502-4975-B084-3976F9DCD128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(2)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Each of these subgroupings is a subset of EMPLOYEE entities </a:t>
            </a:r>
          </a:p>
          <a:p>
            <a:pPr eaLnBrk="1" hangingPunct="1"/>
            <a:r>
              <a:rPr lang="en-US" altLang="en-US" sz="2400" smtClean="0"/>
              <a:t>Each is called a subclass of EMPLOYEE </a:t>
            </a:r>
          </a:p>
          <a:p>
            <a:pPr eaLnBrk="1" hangingPunct="1"/>
            <a:r>
              <a:rPr lang="en-US" altLang="en-US" sz="2400" smtClean="0"/>
              <a:t>EMPLOYEE is the superclass for each of these subclasses </a:t>
            </a:r>
          </a:p>
          <a:p>
            <a:pPr eaLnBrk="1" hangingPunct="1"/>
            <a:r>
              <a:rPr lang="en-US" altLang="en-US" sz="2400" smtClean="0"/>
              <a:t>These are called superclass/subclass relationships:</a:t>
            </a:r>
          </a:p>
          <a:p>
            <a:pPr lvl="1" eaLnBrk="1" hangingPunct="1"/>
            <a:r>
              <a:rPr lang="en-US" altLang="en-US" sz="2200" smtClean="0"/>
              <a:t>EMPLOYEE/SECRETARY</a:t>
            </a:r>
          </a:p>
          <a:p>
            <a:pPr lvl="1" eaLnBrk="1" hangingPunct="1"/>
            <a:r>
              <a:rPr lang="en-US" altLang="en-US" sz="2200" smtClean="0"/>
              <a:t>EMPLOYEE/TECHNICIAN</a:t>
            </a:r>
          </a:p>
          <a:p>
            <a:pPr lvl="1" eaLnBrk="1" hangingPunct="1"/>
            <a:r>
              <a:rPr lang="en-US" altLang="en-US" sz="2200" smtClean="0"/>
              <a:t>EMPLOYEE/MANAGER</a:t>
            </a:r>
          </a:p>
          <a:p>
            <a:pPr lvl="1" eaLnBrk="1" hangingPunct="1"/>
            <a:r>
              <a:rPr lang="en-US" altLang="en-US" sz="2200" smtClean="0"/>
              <a:t>…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6972FD4B-57D1-4091-91B1-BCC17413C3B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(3)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These are also called IS-A relationships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SECRETARY IS-A EMPLOYEE, TECHNICIAN IS-A EMPLOYEE, ….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Note: An entity that is member of a subclass represents the same real-world entity as some member of the superclass: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The subclass member is the same entity in a </a:t>
            </a:r>
            <a:r>
              <a:rPr lang="en-US" altLang="en-US" sz="2200" i="1" smtClean="0"/>
              <a:t>distinct specific role</a:t>
            </a:r>
            <a:r>
              <a:rPr lang="en-US" altLang="en-US" sz="2200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An entity cannot exist in the database merely by being a member of a subclass; it must also be a member of the superclass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 member of the superclass can be optionally included as a member of any number of its subclasses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293EAA20-70CA-40FA-BFBC-E8C8470368B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296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Subclasses and Superclasses (4)</a:t>
            </a:r>
          </a:p>
        </p:txBody>
      </p:sp>
      <p:sp>
        <p:nvSpPr>
          <p:cNvPr id="29699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Examples:</a:t>
            </a:r>
          </a:p>
          <a:p>
            <a:pPr lvl="1" eaLnBrk="1" hangingPunct="1"/>
            <a:r>
              <a:rPr lang="en-US" altLang="en-US" sz="2200" smtClean="0"/>
              <a:t>A salaried employee who is also an engineer belongs to the two subclasses:</a:t>
            </a:r>
          </a:p>
          <a:p>
            <a:pPr lvl="2" eaLnBrk="1" hangingPunct="1"/>
            <a:r>
              <a:rPr lang="en-US" altLang="en-US" sz="2000" smtClean="0"/>
              <a:t>ENGINEER, and</a:t>
            </a:r>
          </a:p>
          <a:p>
            <a:pPr lvl="2" eaLnBrk="1" hangingPunct="1"/>
            <a:r>
              <a:rPr lang="en-US" altLang="en-US" sz="2000" smtClean="0"/>
              <a:t>SALARIED_EMPLOYEE </a:t>
            </a:r>
          </a:p>
          <a:p>
            <a:pPr lvl="1" eaLnBrk="1" hangingPunct="1"/>
            <a:r>
              <a:rPr lang="en-US" altLang="en-US" sz="2200" smtClean="0"/>
              <a:t>A salaried employee who is also an engineering manager belongs to the three subclasses:</a:t>
            </a:r>
          </a:p>
          <a:p>
            <a:pPr lvl="2" eaLnBrk="1" hangingPunct="1"/>
            <a:r>
              <a:rPr lang="en-US" altLang="en-US" sz="2000" smtClean="0"/>
              <a:t>MANAGER,</a:t>
            </a:r>
          </a:p>
          <a:p>
            <a:pPr lvl="2" eaLnBrk="1" hangingPunct="1"/>
            <a:r>
              <a:rPr lang="en-US" altLang="en-US" sz="2000" smtClean="0"/>
              <a:t>ENGINEER, and</a:t>
            </a:r>
          </a:p>
          <a:p>
            <a:pPr lvl="2" eaLnBrk="1" hangingPunct="1"/>
            <a:r>
              <a:rPr lang="en-US" altLang="en-US" sz="2000" smtClean="0"/>
              <a:t>SALARIED_EMPLOYEE </a:t>
            </a:r>
          </a:p>
          <a:p>
            <a:pPr eaLnBrk="1" hangingPunct="1"/>
            <a:r>
              <a:rPr lang="en-US" altLang="en-US" sz="2400" smtClean="0"/>
              <a:t>It is not necessary that every entity in a superclass be a member of some subclass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1B6D8622-798C-43CA-8014-B9CB6A6DC5E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Representing Specialization in EER Diagrams</a:t>
            </a:r>
          </a:p>
        </p:txBody>
      </p:sp>
      <p:pic>
        <p:nvPicPr>
          <p:cNvPr id="31747" name="Picture 4" descr="fig04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38" y="1820863"/>
            <a:ext cx="8285162" cy="385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FD73278C-BD02-475D-B2A5-00523A7A24EE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37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Attribute Inheritance in Superclass / Subclass Relationships </a:t>
            </a:r>
          </a:p>
        </p:txBody>
      </p:sp>
      <p:sp>
        <p:nvSpPr>
          <p:cNvPr id="337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An entity that is member of a subclass </a:t>
            </a:r>
            <a:r>
              <a:rPr lang="en-US" altLang="en-US" i="1" smtClean="0"/>
              <a:t>inherits</a:t>
            </a:r>
            <a:r>
              <a:rPr lang="en-US" altLang="en-US" smtClean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All attributes of the entity as a member of the superclass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All relationships of the entity as a member of the superclass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Example: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In the previous slide, SECRETARY (as well as TECHNICIAN and ENGINEER) inherit the attributes Name, SSN, …, from EMPLOYEE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Every SECRETARY entity will have values for the inherited attributes</a:t>
            </a:r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7CF7B2E0-A396-42B4-8095-75C3DC1C563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584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 (1)</a:t>
            </a:r>
          </a:p>
        </p:txBody>
      </p:sp>
      <p:sp>
        <p:nvSpPr>
          <p:cNvPr id="3584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Specialization is the process of defining a set of subclasses of a superclass </a:t>
            </a:r>
          </a:p>
          <a:p>
            <a:pPr eaLnBrk="1" hangingPunct="1"/>
            <a:r>
              <a:rPr lang="en-US" altLang="en-US" smtClean="0"/>
              <a:t>The set of subclasses is based upon some distinguishing characteristics of the entities in the superclass</a:t>
            </a:r>
          </a:p>
          <a:p>
            <a:pPr lvl="1" eaLnBrk="1" hangingPunct="1"/>
            <a:r>
              <a:rPr lang="en-US" altLang="en-US" smtClean="0"/>
              <a:t>Example: {SECRETARY, ENGINEER, TECHNICIAN} is a specialization of EMPLOYEE based upon </a:t>
            </a:r>
            <a:r>
              <a:rPr lang="en-US" altLang="en-US" i="1" smtClean="0"/>
              <a:t>job type.</a:t>
            </a:r>
          </a:p>
          <a:p>
            <a:pPr lvl="2" eaLnBrk="1" hangingPunct="1"/>
            <a:r>
              <a:rPr lang="en-US" altLang="en-US" smtClean="0"/>
              <a:t>May have several specializations of the same superclass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EB2DF76-63B6-4723-BF19-7437D8558A95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 (2)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Example: Another specialization of EMPLOYEE based on </a:t>
            </a:r>
            <a:r>
              <a:rPr lang="en-US" altLang="en-US" sz="2400" i="1" smtClean="0"/>
              <a:t>method of pay</a:t>
            </a:r>
            <a:r>
              <a:rPr lang="en-US" altLang="en-US" sz="2400" smtClean="0"/>
              <a:t> is {SALARIED_EMPLOYEE, HOURLY_EMPLOYEE}.</a:t>
            </a:r>
          </a:p>
          <a:p>
            <a:pPr lvl="1" eaLnBrk="1" hangingPunct="1"/>
            <a:r>
              <a:rPr lang="en-US" altLang="en-US" sz="2200" smtClean="0"/>
              <a:t>Superclass/subclass relationships and specialization can be diagrammatically represented in EER diagrams</a:t>
            </a:r>
          </a:p>
          <a:p>
            <a:pPr lvl="1" eaLnBrk="1" hangingPunct="1"/>
            <a:r>
              <a:rPr lang="en-US" altLang="en-US" sz="2200" smtClean="0"/>
              <a:t>Attributes of a subclass are called </a:t>
            </a:r>
            <a:r>
              <a:rPr lang="en-US" altLang="en-US" sz="2200" i="1" smtClean="0"/>
              <a:t>specific</a:t>
            </a:r>
            <a:r>
              <a:rPr lang="en-US" altLang="en-US" sz="2200" smtClean="0"/>
              <a:t> or </a:t>
            </a:r>
            <a:r>
              <a:rPr lang="en-US" altLang="en-US" sz="2200" i="1" smtClean="0"/>
              <a:t>local</a:t>
            </a:r>
            <a:r>
              <a:rPr lang="en-US" altLang="en-US" sz="2200" smtClean="0"/>
              <a:t> attributes.</a:t>
            </a:r>
          </a:p>
          <a:p>
            <a:pPr lvl="2" eaLnBrk="1" hangingPunct="1"/>
            <a:r>
              <a:rPr lang="en-US" altLang="en-US" sz="2000" smtClean="0"/>
              <a:t>For example, the attribute TypingSpeed of SECRETARY</a:t>
            </a:r>
          </a:p>
          <a:p>
            <a:pPr lvl="1" eaLnBrk="1" hangingPunct="1"/>
            <a:r>
              <a:rPr lang="en-US" altLang="en-US" sz="2200" smtClean="0"/>
              <a:t>The subclass can also participate in specific relationship types.</a:t>
            </a:r>
          </a:p>
          <a:p>
            <a:pPr lvl="2" eaLnBrk="1" hangingPunct="1"/>
            <a:r>
              <a:rPr lang="en-US" altLang="en-US" sz="2000" smtClean="0"/>
              <a:t>For example, a relationship BELONGS_TO of HOURLY_EMPLOYEE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E512054D-EDAD-436F-8F1C-34A181388D8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pic>
        <p:nvPicPr>
          <p:cNvPr id="39938" name="Picture 3" descr="fig04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524000"/>
            <a:ext cx="7772400" cy="493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4" descr="Pink tissue paper"/>
          <p:cNvSpPr txBox="1">
            <a:spLocks noChangeArrowheads="1"/>
          </p:cNvSpPr>
          <p:nvPr/>
        </p:nvSpPr>
        <p:spPr bwMode="auto">
          <a:xfrm>
            <a:off x="304800" y="822325"/>
            <a:ext cx="693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200">
                <a:solidFill>
                  <a:srgbClr val="800000"/>
                </a:solidFill>
              </a:rPr>
              <a:t>Specialization (3)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FD0638CA-2960-4680-8170-1E3C3A03BBF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198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Generalization</a:t>
            </a:r>
          </a:p>
        </p:txBody>
      </p:sp>
      <p:sp>
        <p:nvSpPr>
          <p:cNvPr id="419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Generalization is the reverse of the specialization process </a:t>
            </a:r>
          </a:p>
          <a:p>
            <a:pPr eaLnBrk="1" hangingPunct="1"/>
            <a:r>
              <a:rPr lang="en-US" altLang="en-US" sz="2400" smtClean="0"/>
              <a:t>Several classes with common features are generalized into a superclass; </a:t>
            </a:r>
          </a:p>
          <a:p>
            <a:pPr lvl="1" eaLnBrk="1" hangingPunct="1"/>
            <a:r>
              <a:rPr lang="en-US" altLang="en-US" sz="2200" smtClean="0"/>
              <a:t>original classes become its subclasses</a:t>
            </a:r>
          </a:p>
          <a:p>
            <a:pPr eaLnBrk="1" hangingPunct="1"/>
            <a:r>
              <a:rPr lang="en-US" altLang="en-US" sz="2400" smtClean="0"/>
              <a:t>Example: CAR, TRUCK generalized into VEHICLE; </a:t>
            </a:r>
          </a:p>
          <a:p>
            <a:pPr lvl="1" eaLnBrk="1" hangingPunct="1"/>
            <a:r>
              <a:rPr lang="en-US" altLang="en-US" sz="2200" smtClean="0"/>
              <a:t>both CAR, TRUCK become subclasses of the superclass VEHICLE.</a:t>
            </a:r>
          </a:p>
          <a:p>
            <a:pPr lvl="1" eaLnBrk="1" hangingPunct="1"/>
            <a:r>
              <a:rPr lang="en-US" altLang="en-US" sz="2200" smtClean="0"/>
              <a:t>We can view {CAR, TRUCK} as a specialization of VEHICLE </a:t>
            </a:r>
          </a:p>
          <a:p>
            <a:pPr lvl="1" eaLnBrk="1" hangingPunct="1"/>
            <a:r>
              <a:rPr lang="en-US" altLang="en-US" sz="2200" smtClean="0"/>
              <a:t>Alternatively, we can view VEHICLE as a generalization of CAR and TRUCK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BAC668DB-51FF-4BD5-91FE-2C632E40A19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pic>
        <p:nvPicPr>
          <p:cNvPr id="44034" name="Picture 3" descr="fig04_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00200"/>
            <a:ext cx="7239000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4" descr="Pink tissue paper"/>
          <p:cNvSpPr txBox="1">
            <a:spLocks noChangeArrowheads="1"/>
          </p:cNvSpPr>
          <p:nvPr/>
        </p:nvSpPr>
        <p:spPr bwMode="auto">
          <a:xfrm>
            <a:off x="533400" y="715963"/>
            <a:ext cx="563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800000"/>
                </a:solidFill>
              </a:rPr>
              <a:t>Generalization 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FCE1122-76A8-42E3-A4EC-47C13E7BDA1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60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Generalization and Specialization (1)</a:t>
            </a:r>
          </a:p>
        </p:txBody>
      </p:sp>
      <p:sp>
        <p:nvSpPr>
          <p:cNvPr id="4608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Diagrammatic notation are sometimes used to distinguish between generalization and specialization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Arrow pointing to the generalized superclass represents a generalization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Arrows pointing to the specialized subclasses represent a specialization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We </a:t>
            </a:r>
            <a:r>
              <a:rPr lang="en-US" altLang="en-US" i="1" smtClean="0"/>
              <a:t>do not use</a:t>
            </a:r>
            <a:r>
              <a:rPr lang="en-US" altLang="en-US" smtClean="0"/>
              <a:t> this notation because it is often subjective as to which process is more appropriate for a particular situation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We advocate not drawing any arrows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660B3879-BCB0-40F9-A811-467B4B455A75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Generalization and Specialization (2)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Data Modeling with Specialization and Generalization</a:t>
            </a:r>
          </a:p>
          <a:p>
            <a:pPr lvl="1" eaLnBrk="1" hangingPunct="1"/>
            <a:r>
              <a:rPr lang="en-US" altLang="en-US" smtClean="0"/>
              <a:t>A superclass or subclass represents a collection (or set or grouping) of entities</a:t>
            </a:r>
          </a:p>
          <a:p>
            <a:pPr lvl="1" eaLnBrk="1" hangingPunct="1"/>
            <a:r>
              <a:rPr lang="en-US" altLang="en-US" smtClean="0"/>
              <a:t>It also represents a particular </a:t>
            </a:r>
            <a:r>
              <a:rPr lang="en-US" altLang="en-US" i="1" smtClean="0"/>
              <a:t>type of entity</a:t>
            </a:r>
          </a:p>
          <a:p>
            <a:pPr lvl="1" eaLnBrk="1" hangingPunct="1"/>
            <a:r>
              <a:rPr lang="en-US" altLang="en-US" smtClean="0"/>
              <a:t>Shown in rectangles in EER diagrams (as are entity types) </a:t>
            </a:r>
          </a:p>
          <a:p>
            <a:pPr lvl="1" eaLnBrk="1" hangingPunct="1"/>
            <a:r>
              <a:rPr lang="en-US" altLang="en-US" smtClean="0"/>
              <a:t>We can call all entity types (and their corresponding collections) </a:t>
            </a:r>
            <a:r>
              <a:rPr lang="en-US" altLang="en-US" b="1" i="1" smtClean="0"/>
              <a:t>classes</a:t>
            </a:r>
            <a:r>
              <a:rPr lang="en-US" altLang="en-US" smtClean="0"/>
              <a:t>, whether they are entity types, superclasses, or subclasses</a:t>
            </a:r>
          </a:p>
          <a:p>
            <a:pPr eaLnBrk="1" hangingPunct="1"/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8A0CD01F-2802-4858-A71B-413F5EBE95AE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017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Constraints on Specialization and Generalization (1)</a:t>
            </a:r>
          </a:p>
        </p:txBody>
      </p:sp>
      <p:sp>
        <p:nvSpPr>
          <p:cNvPr id="5017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If we can determine exactly those entities that will become members of each subclass by a condition, the subclasses are called predicate-defined (or condition-defined) subclasses </a:t>
            </a:r>
          </a:p>
          <a:p>
            <a:pPr lvl="1" eaLnBrk="1" hangingPunct="1"/>
            <a:r>
              <a:rPr lang="en-US" altLang="en-US" smtClean="0"/>
              <a:t>Condition is a constraint that determines subclass members </a:t>
            </a:r>
          </a:p>
          <a:p>
            <a:pPr lvl="1" eaLnBrk="1" hangingPunct="1"/>
            <a:r>
              <a:rPr lang="en-US" altLang="en-US" smtClean="0"/>
              <a:t>Display a predicate-defined subclass by writing the predicate condition next to the line attaching the subclass to its superclass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A1A436B4-C87F-4388-84DD-B6206CFAD2D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22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Constraints on Specialization and Generalization (2)</a:t>
            </a:r>
          </a:p>
        </p:txBody>
      </p:sp>
      <p:sp>
        <p:nvSpPr>
          <p:cNvPr id="522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If all subclasses in a specialization have membership condition on same attribute of the superclass, specialization is called an attribute-defined specialization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Attribute is called the defining attribute of the specialization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Example: JobType is the defining attribute of the specialization {SECRETARY, TECHNICIAN, ENGINEER} of EMPLOYEE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 smtClean="0"/>
              <a:t>If no condition determines membership, the subclass is called user-defined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Membership in a subclass is determined by the database users by applying an operation to add an entity to the subclass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smtClean="0"/>
              <a:t>Membership in the subclass is specified individually for each entity in the superclass by the user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20F6D172-66AE-4D48-A489-462C1DB1FEEB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Displaying an attribute-defined specialization in EER diagrams</a:t>
            </a:r>
          </a:p>
        </p:txBody>
      </p:sp>
      <p:pic>
        <p:nvPicPr>
          <p:cNvPr id="54275" name="Picture 5" descr="fig04_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1962150"/>
            <a:ext cx="8413750" cy="391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6D4C22D3-6673-42A1-A33E-D11B906F37E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52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Constraints on Specialization and Generalization (3)</a:t>
            </a:r>
          </a:p>
        </p:txBody>
      </p:sp>
      <p:sp>
        <p:nvSpPr>
          <p:cNvPr id="55299" name="Rectangle 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Two basic constraints can apply to a specialization/generalization:</a:t>
            </a:r>
          </a:p>
          <a:p>
            <a:pPr lvl="1" eaLnBrk="1" hangingPunct="1"/>
            <a:r>
              <a:rPr lang="en-US" altLang="en-US" smtClean="0"/>
              <a:t>Disjointness Constraint: </a:t>
            </a:r>
          </a:p>
          <a:p>
            <a:pPr lvl="1" eaLnBrk="1" hangingPunct="1"/>
            <a:r>
              <a:rPr lang="en-US" altLang="en-US" smtClean="0"/>
              <a:t>Completeness Constraint: </a:t>
            </a:r>
          </a:p>
          <a:p>
            <a:pPr lvl="1" eaLnBrk="1" hangingPunct="1"/>
            <a:endParaRPr lang="en-US" altLang="en-US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BC8CCECA-4D87-4B93-B94E-7AEE952B655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Constraints on Specialization and Generalization (4)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Disjointness Constraint: </a:t>
            </a:r>
          </a:p>
          <a:p>
            <a:pPr lvl="1" eaLnBrk="1" hangingPunct="1"/>
            <a:r>
              <a:rPr lang="en-US" altLang="en-US" smtClean="0"/>
              <a:t>Specifies that the subclasses of the specialization must be </a:t>
            </a:r>
            <a:r>
              <a:rPr lang="en-US" altLang="en-US" i="1" smtClean="0"/>
              <a:t>disjoint</a:t>
            </a:r>
            <a:r>
              <a:rPr lang="en-US" altLang="en-US" smtClean="0"/>
              <a:t>:</a:t>
            </a:r>
            <a:endParaRPr lang="en-US" altLang="en-US" i="1" smtClean="0"/>
          </a:p>
          <a:p>
            <a:pPr lvl="2" eaLnBrk="1" hangingPunct="1"/>
            <a:r>
              <a:rPr lang="en-US" altLang="en-US" smtClean="0"/>
              <a:t>an entity can be a member of at most one of the subclasses of the specialization</a:t>
            </a:r>
          </a:p>
          <a:p>
            <a:pPr lvl="1" eaLnBrk="1" hangingPunct="1"/>
            <a:r>
              <a:rPr lang="en-US" altLang="en-US" smtClean="0"/>
              <a:t>Specified by </a:t>
            </a:r>
            <a:r>
              <a:rPr lang="en-US" altLang="en-US" b="1" i="1" u="sng" smtClean="0"/>
              <a:t>d</a:t>
            </a:r>
            <a:r>
              <a:rPr lang="en-US" altLang="en-US" smtClean="0"/>
              <a:t> in EER diagram </a:t>
            </a:r>
          </a:p>
          <a:p>
            <a:pPr lvl="1" eaLnBrk="1" hangingPunct="1"/>
            <a:r>
              <a:rPr lang="en-US" altLang="en-US" smtClean="0"/>
              <a:t>If not disjoint, specialization is </a:t>
            </a:r>
            <a:r>
              <a:rPr lang="en-US" altLang="en-US" i="1" smtClean="0"/>
              <a:t>overlapping</a:t>
            </a:r>
            <a:r>
              <a:rPr lang="en-US" altLang="en-US" smtClean="0"/>
              <a:t>:</a:t>
            </a:r>
          </a:p>
          <a:p>
            <a:pPr lvl="2" eaLnBrk="1" hangingPunct="1"/>
            <a:r>
              <a:rPr lang="en-US" altLang="en-US" smtClean="0"/>
              <a:t>that is the same entity may be a member of more than one subclass of the specialization</a:t>
            </a:r>
          </a:p>
          <a:p>
            <a:pPr lvl="1" eaLnBrk="1" hangingPunct="1"/>
            <a:r>
              <a:rPr lang="en-US" altLang="en-US" smtClean="0"/>
              <a:t>Specified by </a:t>
            </a:r>
            <a:r>
              <a:rPr lang="en-US" altLang="en-US" b="1" i="1" u="sng" smtClean="0"/>
              <a:t>o</a:t>
            </a:r>
            <a:r>
              <a:rPr lang="en-US" altLang="en-US" smtClean="0"/>
              <a:t> in EER diagram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EA5A5765-65D5-4664-9BFC-62AD2A2452B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Constraints on Specialization and Generalization (5)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Completeness Constraint: </a:t>
            </a:r>
          </a:p>
          <a:p>
            <a:pPr lvl="1" eaLnBrk="1" hangingPunct="1"/>
            <a:r>
              <a:rPr lang="en-US" altLang="en-US" i="1" smtClean="0"/>
              <a:t>Total</a:t>
            </a:r>
            <a:r>
              <a:rPr lang="en-US" altLang="en-US" smtClean="0"/>
              <a:t> specifies that every entity in the superclass must be a member of some subclass in the specialization/generalization </a:t>
            </a:r>
          </a:p>
          <a:p>
            <a:pPr lvl="1" eaLnBrk="1" hangingPunct="1"/>
            <a:r>
              <a:rPr lang="en-US" altLang="en-US" smtClean="0"/>
              <a:t>Shown in EER diagrams by a </a:t>
            </a:r>
            <a:r>
              <a:rPr lang="en-US" altLang="en-US" b="1" i="1" u="sng" smtClean="0"/>
              <a:t>double line</a:t>
            </a:r>
            <a:r>
              <a:rPr lang="en-US" altLang="en-US" smtClean="0"/>
              <a:t> </a:t>
            </a:r>
          </a:p>
          <a:p>
            <a:pPr lvl="1" eaLnBrk="1" hangingPunct="1"/>
            <a:r>
              <a:rPr lang="en-US" altLang="en-US" i="1" smtClean="0"/>
              <a:t>Partial</a:t>
            </a:r>
            <a:r>
              <a:rPr lang="en-US" altLang="en-US" smtClean="0"/>
              <a:t> allows an entity not to belong to any of the subclasses </a:t>
            </a:r>
          </a:p>
          <a:p>
            <a:pPr lvl="1" eaLnBrk="1" hangingPunct="1"/>
            <a:r>
              <a:rPr lang="en-US" altLang="en-US" smtClean="0"/>
              <a:t>Shown in EER diagrams by a single line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00ABECB2-EE50-405C-9FDB-712983101B88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6144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Constraints on Specialization and Generalization (6)</a:t>
            </a:r>
          </a:p>
        </p:txBody>
      </p:sp>
      <p:sp>
        <p:nvSpPr>
          <p:cNvPr id="6144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Hence, we have four types of specialization/generalization:</a:t>
            </a:r>
          </a:p>
          <a:p>
            <a:pPr lvl="1" eaLnBrk="1" hangingPunct="1"/>
            <a:r>
              <a:rPr lang="en-US" altLang="en-US" smtClean="0"/>
              <a:t>Disjoint, total </a:t>
            </a:r>
          </a:p>
          <a:p>
            <a:pPr lvl="1" eaLnBrk="1" hangingPunct="1"/>
            <a:r>
              <a:rPr lang="en-US" altLang="en-US" smtClean="0"/>
              <a:t>Disjoint, partial </a:t>
            </a:r>
          </a:p>
          <a:p>
            <a:pPr lvl="1" eaLnBrk="1" hangingPunct="1"/>
            <a:r>
              <a:rPr lang="en-US" altLang="en-US" smtClean="0"/>
              <a:t>Overlapping, total </a:t>
            </a:r>
          </a:p>
          <a:p>
            <a:pPr lvl="1" eaLnBrk="1" hangingPunct="1"/>
            <a:r>
              <a:rPr lang="en-US" altLang="en-US" smtClean="0"/>
              <a:t>Overlapping, partial</a:t>
            </a:r>
          </a:p>
          <a:p>
            <a:pPr eaLnBrk="1" hangingPunct="1"/>
            <a:r>
              <a:rPr lang="en-US" altLang="en-US" smtClean="0"/>
              <a:t>Note: Generalization usually is total because the superclass is derived from the subclasses.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BBEBC41F-CBD9-4763-BB8D-00935D0A292D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Example of disjoint partial Specialization</a:t>
            </a:r>
          </a:p>
        </p:txBody>
      </p:sp>
      <p:pic>
        <p:nvPicPr>
          <p:cNvPr id="63491" name="Picture 5" descr="fig04_0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47850"/>
            <a:ext cx="8305800" cy="3867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65E94F9A-47DF-4831-96E4-D50B3881103A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pic>
        <p:nvPicPr>
          <p:cNvPr id="65538" name="Picture 3" descr="fig04_0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8" y="2432050"/>
            <a:ext cx="8539162" cy="237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39" name="Text Box 4" descr="Pink tissue paper"/>
          <p:cNvSpPr txBox="1">
            <a:spLocks noChangeArrowheads="1"/>
          </p:cNvSpPr>
          <p:nvPr/>
        </p:nvSpPr>
        <p:spPr bwMode="auto">
          <a:xfrm>
            <a:off x="304800" y="868363"/>
            <a:ext cx="7239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800000"/>
                </a:solidFill>
              </a:rPr>
              <a:t>Example of overlapping total Specialization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7B6BC1DD-49F4-40CE-ABF7-8729E83AC74E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675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Specialization/Generalization Hierarchies, Lattices &amp; Shared Subclasses (1)</a:t>
            </a:r>
          </a:p>
        </p:txBody>
      </p:sp>
      <p:sp>
        <p:nvSpPr>
          <p:cNvPr id="67587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subclass may itself have further subclasses specified on it </a:t>
            </a:r>
          </a:p>
          <a:p>
            <a:pPr lvl="1" eaLnBrk="1" hangingPunct="1"/>
            <a:r>
              <a:rPr lang="en-US" altLang="en-US" smtClean="0"/>
              <a:t>forms a hierarchy or a lattice</a:t>
            </a:r>
          </a:p>
          <a:p>
            <a:pPr eaLnBrk="1" hangingPunct="1"/>
            <a:r>
              <a:rPr lang="en-US" altLang="en-US" b="1" i="1" smtClean="0"/>
              <a:t>Hierarchy</a:t>
            </a:r>
            <a:r>
              <a:rPr lang="en-US" altLang="en-US" smtClean="0"/>
              <a:t> has a constraint that every subclass has only one superclass (called </a:t>
            </a:r>
            <a:r>
              <a:rPr lang="en-US" altLang="en-US" b="1" i="1" smtClean="0"/>
              <a:t>single inheritance</a:t>
            </a:r>
            <a:r>
              <a:rPr lang="en-US" altLang="en-US" smtClean="0"/>
              <a:t>); this is basically a </a:t>
            </a:r>
            <a:r>
              <a:rPr lang="en-US" altLang="en-US" b="1" i="1" smtClean="0"/>
              <a:t>tree structure</a:t>
            </a:r>
          </a:p>
          <a:p>
            <a:pPr eaLnBrk="1" hangingPunct="1"/>
            <a:r>
              <a:rPr lang="en-US" altLang="en-US" smtClean="0"/>
              <a:t>In a </a:t>
            </a:r>
            <a:r>
              <a:rPr lang="en-US" altLang="en-US" b="1" i="1" smtClean="0"/>
              <a:t>lattice</a:t>
            </a:r>
            <a:r>
              <a:rPr lang="en-US" altLang="en-US" smtClean="0"/>
              <a:t>, a subclass can be subclass of more than one superclass (called </a:t>
            </a:r>
            <a:r>
              <a:rPr lang="en-US" altLang="en-US" b="1" i="1" smtClean="0"/>
              <a:t>multiple inheritance</a:t>
            </a:r>
            <a:r>
              <a:rPr lang="en-US" altLang="en-US" smtClean="0"/>
              <a:t>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E98011FA-94DD-4CFD-B566-EDA6A8DCF85F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pic>
        <p:nvPicPr>
          <p:cNvPr id="69634" name="Picture 3" descr="fig04_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92338"/>
            <a:ext cx="8440738" cy="342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635" name="Text Box 4" descr="Pink tissue paper"/>
          <p:cNvSpPr txBox="1">
            <a:spLocks noChangeArrowheads="1"/>
          </p:cNvSpPr>
          <p:nvPr/>
        </p:nvSpPr>
        <p:spPr bwMode="auto">
          <a:xfrm>
            <a:off x="457200" y="838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800000"/>
                </a:solidFill>
              </a:rPr>
              <a:t>Shared Subclass “Engineering_Manager”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0B96757B-CC2C-4F3C-B95B-4CE8105C4578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7168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Specialization/Generalization Hierarchies, Lattices &amp; Shared Subclasses (2)</a:t>
            </a:r>
          </a:p>
        </p:txBody>
      </p:sp>
      <p:sp>
        <p:nvSpPr>
          <p:cNvPr id="7168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In a lattice or hierarchy, a subclass inherits attributes not only of its direct superclass, but also of all its predecessor superclasses</a:t>
            </a:r>
          </a:p>
          <a:p>
            <a:pPr eaLnBrk="1" hangingPunct="1"/>
            <a:r>
              <a:rPr lang="en-US" altLang="en-US" sz="2400" smtClean="0"/>
              <a:t>A subclass with more than one superclass is called a shared subclass (multiple inheritance)</a:t>
            </a:r>
          </a:p>
          <a:p>
            <a:pPr eaLnBrk="1" hangingPunct="1"/>
            <a:r>
              <a:rPr lang="en-US" altLang="en-US" sz="2400" smtClean="0"/>
              <a:t>Can have:</a:t>
            </a:r>
          </a:p>
          <a:p>
            <a:pPr lvl="1" eaLnBrk="1" hangingPunct="1"/>
            <a:r>
              <a:rPr lang="en-US" altLang="en-US" sz="2200" i="1" smtClean="0"/>
              <a:t>specialization</a:t>
            </a:r>
            <a:r>
              <a:rPr lang="en-US" altLang="en-US" sz="2200" smtClean="0"/>
              <a:t> hierarchies or lattices, or </a:t>
            </a:r>
          </a:p>
          <a:p>
            <a:pPr lvl="1" eaLnBrk="1" hangingPunct="1"/>
            <a:r>
              <a:rPr lang="en-US" altLang="en-US" sz="2200" i="1" smtClean="0"/>
              <a:t>generalization</a:t>
            </a:r>
            <a:r>
              <a:rPr lang="en-US" altLang="en-US" sz="2200" smtClean="0"/>
              <a:t> hierarchies or lattices, </a:t>
            </a:r>
          </a:p>
          <a:p>
            <a:pPr lvl="1" eaLnBrk="1" hangingPunct="1"/>
            <a:r>
              <a:rPr lang="en-US" altLang="en-US" sz="2200" smtClean="0"/>
              <a:t>depending on how they were </a:t>
            </a:r>
            <a:r>
              <a:rPr lang="en-US" altLang="en-US" sz="2200" i="1" smtClean="0"/>
              <a:t>derived</a:t>
            </a:r>
          </a:p>
          <a:p>
            <a:pPr eaLnBrk="1" hangingPunct="1"/>
            <a:r>
              <a:rPr lang="en-US" altLang="en-US" sz="2400" smtClean="0"/>
              <a:t>We just use </a:t>
            </a:r>
            <a:r>
              <a:rPr lang="en-US" altLang="en-US" sz="2400" i="1" smtClean="0"/>
              <a:t>specialization</a:t>
            </a:r>
            <a:r>
              <a:rPr lang="en-US" altLang="en-US" sz="2400" smtClean="0"/>
              <a:t> (to stand for the end result of either specialization or generalization)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D6B1D15-522C-4545-A11C-98BA336C2909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7373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Specialization/Generalization Hierarchies, Lattices &amp; Shared Subclasses (3)</a:t>
            </a:r>
          </a:p>
        </p:txBody>
      </p:sp>
      <p:sp>
        <p:nvSpPr>
          <p:cNvPr id="7373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</a:t>
            </a:r>
            <a:r>
              <a:rPr lang="en-US" altLang="en-US" i="1" smtClean="0"/>
              <a:t>specialization</a:t>
            </a:r>
            <a:r>
              <a:rPr lang="en-US" altLang="en-US" smtClean="0"/>
              <a:t>, start with an entity type and then define subclasses of the entity type by successive specialization</a:t>
            </a:r>
          </a:p>
          <a:p>
            <a:pPr lvl="1" eaLnBrk="1" hangingPunct="1"/>
            <a:r>
              <a:rPr lang="en-US" altLang="en-US" smtClean="0"/>
              <a:t>called a </a:t>
            </a:r>
            <a:r>
              <a:rPr lang="en-US" altLang="en-US" i="1" smtClean="0"/>
              <a:t>top down</a:t>
            </a:r>
            <a:r>
              <a:rPr lang="en-US" altLang="en-US" smtClean="0"/>
              <a:t> conceptual refinement process</a:t>
            </a:r>
          </a:p>
          <a:p>
            <a:pPr eaLnBrk="1" hangingPunct="1"/>
            <a:r>
              <a:rPr lang="en-US" altLang="en-US" smtClean="0"/>
              <a:t>In </a:t>
            </a:r>
            <a:r>
              <a:rPr lang="en-US" altLang="en-US" i="1" smtClean="0"/>
              <a:t>generalization</a:t>
            </a:r>
            <a:r>
              <a:rPr lang="en-US" altLang="en-US" smtClean="0"/>
              <a:t>, start with many entity types and generalize those that have common properties</a:t>
            </a:r>
          </a:p>
          <a:p>
            <a:pPr lvl="1" eaLnBrk="1" hangingPunct="1"/>
            <a:r>
              <a:rPr lang="en-US" altLang="en-US" smtClean="0"/>
              <a:t>Called a </a:t>
            </a:r>
            <a:r>
              <a:rPr lang="en-US" altLang="en-US" i="1" smtClean="0"/>
              <a:t>bottom up</a:t>
            </a:r>
            <a:r>
              <a:rPr lang="en-US" altLang="en-US" smtClean="0"/>
              <a:t> conceptual synthesis process</a:t>
            </a:r>
          </a:p>
          <a:p>
            <a:pPr eaLnBrk="1" hangingPunct="1"/>
            <a:r>
              <a:rPr lang="en-US" altLang="en-US" smtClean="0"/>
              <a:t>In practice, a </a:t>
            </a:r>
            <a:r>
              <a:rPr lang="en-US" altLang="en-US" i="1" smtClean="0"/>
              <a:t>combination of both processes</a:t>
            </a:r>
            <a:r>
              <a:rPr lang="en-US" altLang="en-US" smtClean="0"/>
              <a:t> is usually employed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5FCD8C9D-74EE-418D-BAA1-B97C4DE7428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Specialization / Generalization Lattice Example </a:t>
            </a:r>
            <a:r>
              <a:rPr lang="en-US" altLang="en-US" sz="2400" smtClean="0"/>
              <a:t>(UNIVERSITY)</a:t>
            </a:r>
          </a:p>
        </p:txBody>
      </p:sp>
      <p:pic>
        <p:nvPicPr>
          <p:cNvPr id="75779" name="Picture 5" descr="fig04_0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5867400" cy="4875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03BA291-29AF-4AB9-BE36-6F37DB6D073E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7782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Categories (UNION TYPES) (1)</a:t>
            </a:r>
          </a:p>
        </p:txBody>
      </p:sp>
      <p:sp>
        <p:nvSpPr>
          <p:cNvPr id="7782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All of the </a:t>
            </a:r>
            <a:r>
              <a:rPr lang="en-US" altLang="en-US" sz="2400" i="1" smtClean="0"/>
              <a:t>superclass/subclass relationships</a:t>
            </a:r>
            <a:r>
              <a:rPr lang="en-US" altLang="en-US" sz="2400" smtClean="0"/>
              <a:t> we have seen thus far have a single superclass </a:t>
            </a:r>
          </a:p>
          <a:p>
            <a:pPr eaLnBrk="1" hangingPunct="1"/>
            <a:r>
              <a:rPr lang="en-US" altLang="en-US" sz="2400" smtClean="0"/>
              <a:t>A shared subclass is a subclass in:</a:t>
            </a:r>
          </a:p>
          <a:p>
            <a:pPr lvl="1" eaLnBrk="1" hangingPunct="1"/>
            <a:r>
              <a:rPr lang="en-US" altLang="en-US" sz="2200" i="1" smtClean="0"/>
              <a:t>more than one</a:t>
            </a:r>
            <a:r>
              <a:rPr lang="en-US" altLang="en-US" sz="2200" smtClean="0"/>
              <a:t> distinct superclass/subclass relationships</a:t>
            </a:r>
          </a:p>
          <a:p>
            <a:pPr lvl="1" eaLnBrk="1" hangingPunct="1"/>
            <a:r>
              <a:rPr lang="en-US" altLang="en-US" sz="2200" smtClean="0"/>
              <a:t>each relationships has a single superclass</a:t>
            </a:r>
          </a:p>
          <a:p>
            <a:pPr lvl="1" eaLnBrk="1" hangingPunct="1"/>
            <a:r>
              <a:rPr lang="en-US" altLang="en-US" sz="2200" smtClean="0"/>
              <a:t>shared subclass leads to multiple inheritance</a:t>
            </a:r>
          </a:p>
          <a:p>
            <a:pPr eaLnBrk="1" hangingPunct="1"/>
            <a:r>
              <a:rPr lang="en-US" altLang="en-US" sz="2400" smtClean="0"/>
              <a:t>In some cases, we need to model a </a:t>
            </a:r>
            <a:r>
              <a:rPr lang="en-US" altLang="en-US" sz="2400" i="1" smtClean="0"/>
              <a:t>single superclass/subclass relationship</a:t>
            </a:r>
            <a:r>
              <a:rPr lang="en-US" altLang="en-US" sz="2400" smtClean="0"/>
              <a:t> with </a:t>
            </a:r>
            <a:r>
              <a:rPr lang="en-US" altLang="en-US" sz="2400" i="1" smtClean="0"/>
              <a:t>more than one</a:t>
            </a:r>
            <a:r>
              <a:rPr lang="en-US" altLang="en-US" sz="2400" smtClean="0"/>
              <a:t> superclass </a:t>
            </a:r>
          </a:p>
          <a:p>
            <a:pPr eaLnBrk="1" hangingPunct="1"/>
            <a:r>
              <a:rPr lang="en-US" altLang="en-US" sz="2400" smtClean="0"/>
              <a:t>Superclasses can represent different entity types </a:t>
            </a:r>
          </a:p>
          <a:p>
            <a:pPr eaLnBrk="1" hangingPunct="1"/>
            <a:r>
              <a:rPr lang="en-US" altLang="en-US" sz="2400" smtClean="0"/>
              <a:t>Such a subclass is called a category or UNION TYPE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Title 1"/>
          <p:cNvSpPr>
            <a:spLocks noGrp="1" noChangeArrowheads="1"/>
          </p:cNvSpPr>
          <p:nvPr>
            <p:ph type="title"/>
          </p:nvPr>
        </p:nvSpPr>
        <p:spPr>
          <a:xfrm>
            <a:off x="228600" y="303213"/>
            <a:ext cx="8686800" cy="992187"/>
          </a:xfrm>
        </p:spPr>
        <p:txBody>
          <a:bodyPr/>
          <a:lstStyle/>
          <a:p>
            <a:pPr eaLnBrk="1" hangingPunct="1"/>
            <a:r>
              <a:rPr lang="en-US" altLang="en-US" smtClean="0"/>
              <a:t>Categories (UNION TYPES) (1) - Extended</a:t>
            </a:r>
          </a:p>
        </p:txBody>
      </p:sp>
      <p:sp>
        <p:nvSpPr>
          <p:cNvPr id="79874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 simple words</a:t>
            </a:r>
          </a:p>
          <a:p>
            <a:pPr lvl="1" eaLnBrk="1" hangingPunct="1"/>
            <a:r>
              <a:rPr lang="en-US" altLang="en-US" smtClean="0"/>
              <a:t>It is sometimes necessary to represent a collection of entities from </a:t>
            </a:r>
            <a:r>
              <a:rPr lang="en-US" altLang="en-US" b="1" smtClean="0"/>
              <a:t>different entity types</a:t>
            </a:r>
            <a:r>
              <a:rPr lang="en-US" altLang="en-US" smtClean="0"/>
              <a:t>. </a:t>
            </a:r>
          </a:p>
          <a:p>
            <a:pPr lvl="1" eaLnBrk="1" hangingPunct="1"/>
            <a:r>
              <a:rPr lang="en-US" altLang="en-US" smtClean="0"/>
              <a:t>In this case, a subclass will represent a collection of entities that is a subset of the UNION of entities from distinct entity types; we call such a </a:t>
            </a:r>
            <a:r>
              <a:rPr lang="en-US" altLang="en-US" i="1" smtClean="0"/>
              <a:t>subclass </a:t>
            </a:r>
            <a:r>
              <a:rPr lang="en-US" altLang="en-US" smtClean="0"/>
              <a:t>a </a:t>
            </a:r>
            <a:r>
              <a:rPr lang="en-US" altLang="en-US" b="1" smtClean="0"/>
              <a:t>union type </a:t>
            </a:r>
            <a:endParaRPr lang="en-US" altLang="en-US" smtClean="0"/>
          </a:p>
          <a:p>
            <a:pPr eaLnBrk="1" hangingPunct="1"/>
            <a:endParaRPr lang="en-US" altLang="en-US" smtClean="0"/>
          </a:p>
        </p:txBody>
      </p:sp>
      <p:sp>
        <p:nvSpPr>
          <p:cNvPr id="7987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79397DCB-A3E1-43B7-BBB4-493C126C6F4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BEFEB08-A797-4B51-B822-4F044C9F91D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Categories (UNION TYPES) (2)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smtClean="0"/>
              <a:t>Example: In a database for vehicle registration, a vehicle owner can be a PERSON, a BANK (holding a lien on a vehicle) or a COMPANY.</a:t>
            </a:r>
          </a:p>
          <a:p>
            <a:pPr lvl="1" eaLnBrk="1" hangingPunct="1"/>
            <a:r>
              <a:rPr lang="en-US" altLang="en-US" sz="2200" smtClean="0"/>
              <a:t>A </a:t>
            </a:r>
            <a:r>
              <a:rPr lang="en-US" altLang="en-US" sz="2200" i="1" smtClean="0"/>
              <a:t>category</a:t>
            </a:r>
            <a:r>
              <a:rPr lang="en-US" altLang="en-US" sz="2200" smtClean="0"/>
              <a:t> (UNION type) called OWNER is created to represent a subset of the </a:t>
            </a:r>
            <a:r>
              <a:rPr lang="en-US" altLang="en-US" sz="2200" i="1" smtClean="0"/>
              <a:t>union</a:t>
            </a:r>
            <a:r>
              <a:rPr lang="en-US" altLang="en-US" sz="2200" smtClean="0"/>
              <a:t> of the three superclasses COMPANY, BANK, and PERSON </a:t>
            </a:r>
          </a:p>
          <a:p>
            <a:pPr lvl="1" eaLnBrk="1" hangingPunct="1"/>
            <a:r>
              <a:rPr lang="en-US" altLang="en-US" sz="2200" smtClean="0"/>
              <a:t>A category member must exist in </a:t>
            </a:r>
            <a:r>
              <a:rPr lang="en-US" altLang="en-US" sz="2200" b="1" i="1" smtClean="0"/>
              <a:t>at least one</a:t>
            </a:r>
            <a:r>
              <a:rPr lang="en-US" altLang="en-US" sz="2200" smtClean="0"/>
              <a:t> of its superclasses</a:t>
            </a:r>
          </a:p>
          <a:p>
            <a:pPr eaLnBrk="1" hangingPunct="1"/>
            <a:r>
              <a:rPr lang="en-US" altLang="en-US" sz="2400" smtClean="0"/>
              <a:t>Difference from </a:t>
            </a:r>
            <a:r>
              <a:rPr lang="en-US" altLang="en-US" sz="2400" i="1" smtClean="0"/>
              <a:t>shared subclass</a:t>
            </a:r>
            <a:r>
              <a:rPr lang="en-US" altLang="en-US" sz="2400" smtClean="0"/>
              <a:t>, which is a:</a:t>
            </a:r>
            <a:endParaRPr lang="en-US" altLang="en-US" sz="2400" i="1" smtClean="0"/>
          </a:p>
          <a:p>
            <a:pPr lvl="1" eaLnBrk="1" hangingPunct="1"/>
            <a:r>
              <a:rPr lang="en-US" altLang="en-US" sz="2200" smtClean="0"/>
              <a:t>subset of the </a:t>
            </a:r>
            <a:r>
              <a:rPr lang="en-US" altLang="en-US" sz="2200" i="1" smtClean="0"/>
              <a:t>intersection</a:t>
            </a:r>
            <a:r>
              <a:rPr lang="en-US" altLang="en-US" sz="2200" smtClean="0"/>
              <a:t> of its superclasses</a:t>
            </a:r>
          </a:p>
          <a:p>
            <a:pPr lvl="1" eaLnBrk="1" hangingPunct="1"/>
            <a:r>
              <a:rPr lang="en-US" altLang="en-US" sz="2200" smtClean="0"/>
              <a:t>shared subclass member must exist in </a:t>
            </a:r>
            <a:r>
              <a:rPr lang="en-US" altLang="en-US" sz="2200" b="1" i="1" smtClean="0"/>
              <a:t>all</a:t>
            </a:r>
            <a:r>
              <a:rPr lang="en-US" altLang="en-US" sz="2200" smtClean="0"/>
              <a:t> of its superclasses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D5DBA82E-B885-47D6-B982-A7A1904DAA0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2946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Two categories (UNION types): OWNER, REGISTERED_VEHICLE</a:t>
            </a:r>
          </a:p>
        </p:txBody>
      </p:sp>
      <p:pic>
        <p:nvPicPr>
          <p:cNvPr id="829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24000"/>
            <a:ext cx="5499100" cy="509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62BB311-1CF1-4584-B8B1-92EA2F515172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pic>
        <p:nvPicPr>
          <p:cNvPr id="84994" name="Picture 3" descr="fig04_0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92338"/>
            <a:ext cx="8440738" cy="3424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5" name="Text Box 4" descr="Pink tissue paper"/>
          <p:cNvSpPr txBox="1">
            <a:spLocks noChangeArrowheads="1"/>
          </p:cNvSpPr>
          <p:nvPr/>
        </p:nvSpPr>
        <p:spPr bwMode="auto">
          <a:xfrm>
            <a:off x="457200" y="838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4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800000"/>
                </a:solidFill>
              </a:rPr>
              <a:t>Shared Subclass “Engineering_Manager”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4D5FC820-DDA0-4A72-AE6D-662F450955B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704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Difference from </a:t>
            </a:r>
            <a:r>
              <a:rPr lang="en-US" altLang="en-US" i="1" smtClean="0"/>
              <a:t>shared subclass – </a:t>
            </a:r>
            <a:r>
              <a:rPr lang="en-US" altLang="en-US" smtClean="0"/>
              <a:t>Example (1)</a:t>
            </a:r>
          </a:p>
        </p:txBody>
      </p:sp>
      <p:sp>
        <p:nvSpPr>
          <p:cNvPr id="87043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Example: ENGINEERING_MANAGER vs OWNER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ENGINEERING_MANAGER - Subclass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smtClean="0"/>
              <a:t>subclass of each of the three superclasses ENGINEER, MANAGER, and SALARIED_EMPLOYEE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smtClean="0"/>
              <a:t>an entity that is a member of ENGINEERING_MANAGER </a:t>
            </a:r>
            <a:r>
              <a:rPr lang="en-US" altLang="en-US" sz="1800" b="1" i="1" smtClean="0"/>
              <a:t>must exist in all</a:t>
            </a:r>
            <a:r>
              <a:rPr lang="en-US" altLang="en-US" sz="1800" smtClean="0"/>
              <a:t> three collections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smtClean="0"/>
              <a:t>Hence, ENGINEERING_MANAGER entity set is a subset of the intersection of the three entity sets.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OWNER – Category/Union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smtClean="0"/>
              <a:t>As a category is a subset of the union of its super-classes. Hence, an entity that is a member of OWNER </a:t>
            </a:r>
            <a:r>
              <a:rPr lang="en-US" altLang="en-US" sz="1800" b="1" i="1" smtClean="0"/>
              <a:t>must exist in only one</a:t>
            </a:r>
            <a:r>
              <a:rPr lang="en-US" altLang="en-US" sz="1800" smtClean="0"/>
              <a:t> of the superclasses</a:t>
            </a:r>
            <a:r>
              <a:rPr lang="en-US" altLang="en-US" smtClean="0"/>
              <a:t>. </a:t>
            </a:r>
            <a:endParaRPr lang="en-US" altLang="en-US" sz="2000" smtClean="0"/>
          </a:p>
          <a:p>
            <a:pPr lvl="2" eaLnBrk="1" hangingPunct="1">
              <a:lnSpc>
                <a:spcPct val="90000"/>
              </a:lnSpc>
            </a:pPr>
            <a:endParaRPr lang="en-US" altLang="en-US" sz="2000" smtClean="0">
              <a:solidFill>
                <a:srgbClr val="80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endParaRPr lang="en-US" altLang="en-US" sz="1800" smtClean="0"/>
          </a:p>
          <a:p>
            <a:pPr lvl="2" eaLnBrk="1" hangingPunct="1">
              <a:lnSpc>
                <a:spcPct val="90000"/>
              </a:lnSpc>
            </a:pPr>
            <a:endParaRPr lang="en-US" altLang="en-US" sz="1800" smtClean="0"/>
          </a:p>
          <a:p>
            <a:pPr lvl="1" eaLnBrk="1" hangingPunct="1">
              <a:lnSpc>
                <a:spcPct val="90000"/>
              </a:lnSpc>
            </a:pPr>
            <a:endParaRPr lang="en-US" altLang="en-US" sz="2200" smtClean="0"/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368F0F29-368A-48FF-A59A-F5983F281A91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89090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Difference from </a:t>
            </a:r>
            <a:r>
              <a:rPr lang="en-US" altLang="en-US" i="1" smtClean="0"/>
              <a:t>shared subclass – </a:t>
            </a:r>
            <a:r>
              <a:rPr lang="en-US" altLang="en-US" smtClean="0"/>
              <a:t>Example (2)</a:t>
            </a:r>
          </a:p>
        </p:txBody>
      </p:sp>
      <p:sp>
        <p:nvSpPr>
          <p:cNvPr id="89091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Attribute Inheritance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smtClean="0"/>
              <a:t>ENGINEERING_MANAGER - Subclass</a:t>
            </a:r>
            <a:endParaRPr lang="en-US" altLang="en-US" sz="1800" smtClean="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smtClean="0"/>
              <a:t>inherits all the attributes of its super-classes </a:t>
            </a:r>
          </a:p>
          <a:p>
            <a:pPr lvl="2" eaLnBrk="1" hangingPunct="1">
              <a:lnSpc>
                <a:spcPct val="90000"/>
              </a:lnSpc>
            </a:pPr>
            <a:endParaRPr lang="en-US" altLang="en-US" sz="18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OWNER – Category/Union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smtClean="0"/>
              <a:t>inherits the attributes of a COMPANY, a PERSON, or a BANK, depending on the superclass to which the entity belongs</a:t>
            </a:r>
            <a:endParaRPr lang="en-US" altLang="en-US" sz="2000" smtClean="0"/>
          </a:p>
          <a:p>
            <a:pPr lvl="2" eaLnBrk="1" hangingPunct="1">
              <a:lnSpc>
                <a:spcPct val="90000"/>
              </a:lnSpc>
            </a:pPr>
            <a:endParaRPr lang="en-US" altLang="en-US" sz="2000" smtClean="0">
              <a:solidFill>
                <a:srgbClr val="800000"/>
              </a:solidFill>
            </a:endParaRPr>
          </a:p>
          <a:p>
            <a:pPr lvl="2" eaLnBrk="1" hangingPunct="1">
              <a:lnSpc>
                <a:spcPct val="90000"/>
              </a:lnSpc>
            </a:pPr>
            <a:endParaRPr lang="en-US" altLang="en-US" sz="1800" smtClean="0"/>
          </a:p>
          <a:p>
            <a:pPr lvl="2" eaLnBrk="1" hangingPunct="1">
              <a:lnSpc>
                <a:spcPct val="90000"/>
              </a:lnSpc>
            </a:pPr>
            <a:endParaRPr lang="en-US" altLang="en-US" sz="1800" smtClean="0"/>
          </a:p>
          <a:p>
            <a:pPr lvl="1" eaLnBrk="1" hangingPunct="1">
              <a:lnSpc>
                <a:spcPct val="90000"/>
              </a:lnSpc>
            </a:pPr>
            <a:endParaRPr lang="en-US" altLang="en-US" sz="2200" smtClean="0"/>
          </a:p>
          <a:p>
            <a:pPr eaLnBrk="1" hangingPunct="1">
              <a:lnSpc>
                <a:spcPct val="90000"/>
              </a:lnSpc>
            </a:pPr>
            <a:endParaRPr lang="en-US" altLang="en-US" sz="20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C1026497-381B-46F8-B958-87076E894417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1138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Difference from </a:t>
            </a:r>
            <a:r>
              <a:rPr lang="en-US" altLang="en-US" i="1" smtClean="0"/>
              <a:t>shared subclass – </a:t>
            </a:r>
            <a:r>
              <a:rPr lang="en-US" altLang="en-US" smtClean="0"/>
              <a:t>Example (3)</a:t>
            </a:r>
          </a:p>
        </p:txBody>
      </p:sp>
      <p:sp>
        <p:nvSpPr>
          <p:cNvPr id="73731" name="Rectangle 1029">
            <a:extLst>
              <a:ext uri="{FF2B5EF4-FFF2-40B4-BE49-F238E27FC236}">
                <a16:creationId xmlns:a16="http://schemas.microsoft.com/office/drawing/2014/main" id="{17B12A1B-5857-374D-AC38-7E778EB79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9713" y="1600200"/>
            <a:ext cx="387985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1800" dirty="0"/>
              <a:t>VEHICLE - Subclass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every car and every truck is a VEHICLE; 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sz="1800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1800" dirty="0"/>
              <a:t>REGISTERED_VEHICLE </a:t>
            </a:r>
            <a:r>
              <a:rPr lang="en-US" sz="1800" dirty="0">
                <a:solidFill>
                  <a:srgbClr val="800000"/>
                </a:solidFill>
              </a:rPr>
              <a:t>– Category/Union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1800" dirty="0"/>
              <a:t>some cars and some trucks but not necessarily all of them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sz="1400" dirty="0">
                <a:solidFill>
                  <a:srgbClr val="800000"/>
                </a:solidFill>
              </a:rPr>
              <a:t>for example, some cars or trucks may not be registered</a:t>
            </a:r>
            <a:endParaRPr lang="en-US" sz="1400" dirty="0"/>
          </a:p>
          <a:p>
            <a:pPr marL="914400" lvl="2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16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sz="18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sz="1800" dirty="0"/>
          </a:p>
          <a:p>
            <a:pPr lvl="2" eaLnBrk="1" hangingPunct="1">
              <a:lnSpc>
                <a:spcPct val="90000"/>
              </a:lnSpc>
              <a:defRPr/>
            </a:pPr>
            <a:endParaRPr lang="en-US" sz="1800" dirty="0"/>
          </a:p>
          <a:p>
            <a:pPr lvl="2" eaLnBrk="1" hangingPunct="1">
              <a:lnSpc>
                <a:spcPct val="90000"/>
              </a:lnSpc>
              <a:defRPr/>
            </a:pPr>
            <a:endParaRPr lang="en-US" sz="1800" dirty="0"/>
          </a:p>
          <a:p>
            <a:pPr lvl="1" eaLnBrk="1" hangingPunct="1">
              <a:lnSpc>
                <a:spcPct val="90000"/>
              </a:lnSpc>
              <a:defRPr/>
            </a:pPr>
            <a:endParaRPr lang="en-US" sz="2200" dirty="0"/>
          </a:p>
          <a:p>
            <a:pPr eaLnBrk="1" hangingPunct="1">
              <a:lnSpc>
                <a:spcPct val="90000"/>
              </a:lnSpc>
              <a:defRPr/>
            </a:pPr>
            <a:endParaRPr lang="en-US" altLang="en-US" sz="2000" dirty="0"/>
          </a:p>
        </p:txBody>
      </p:sp>
      <p:pic>
        <p:nvPicPr>
          <p:cNvPr id="9114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600200"/>
            <a:ext cx="4729163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9563" y="4038600"/>
            <a:ext cx="4876800" cy="177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732ED65C-465D-49E8-B910-DFFCC07D7499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3186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Formal Definitions of EER Model (1)</a:t>
            </a:r>
          </a:p>
        </p:txBody>
      </p:sp>
      <p:sp>
        <p:nvSpPr>
          <p:cNvPr id="93187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Class C: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A type of entity with a corresponding set of entities: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could be entity type, subclass, superclass, or category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Note: The definition of </a:t>
            </a:r>
            <a:r>
              <a:rPr lang="en-US" altLang="en-US" sz="2400" i="1" smtClean="0"/>
              <a:t>relationship type</a:t>
            </a:r>
            <a:r>
              <a:rPr lang="en-US" altLang="en-US" sz="2400" smtClean="0"/>
              <a:t> in ER/EER should have 'entity type' replaced with 'class‘ to allow relationships among classes in general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Subclass S is a class whose: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Type inherits all the attributes and relationship of a class 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Set of entities must always be a subset of the set of entities of the other class C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1800" smtClean="0"/>
              <a:t>S </a:t>
            </a:r>
            <a:r>
              <a:rPr lang="en-US" altLang="en-US" sz="1800" smtClean="0">
                <a:ea typeface="ヒラギノ角ゴ Pro W3" pitchFamily="1" charset="-128"/>
              </a:rPr>
              <a:t>⊆</a:t>
            </a:r>
            <a:r>
              <a:rPr lang="en-US" altLang="en-US" sz="1800" smtClean="0"/>
              <a:t> C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C is called the superclass of 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smtClean="0"/>
              <a:t>A superclass/subclass relationship exists between S and C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3AFA4F5E-4AA1-468E-BFA0-4B9EF64A69D6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Formal Definitions of EER Model (2)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mtClean="0"/>
              <a:t>Specialization Z: Z = {S1, S2,…, Sn} is a set of subclasses with same superclass G; hence, G/Si is a superclass relationship for i = 1, …., 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/>
              <a:t>G is called a generalization of the subclasses {S1, S2,…, Sn}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/>
              <a:t>Z is total if we always have: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mtClean="0"/>
              <a:t>S1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S2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…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Sn = G;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mtClean="0"/>
              <a:t>Otherwise, Z is partial.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/>
              <a:t>Z is disjoint if we always have: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en-US" smtClean="0"/>
              <a:t>Si </a:t>
            </a:r>
            <a:r>
              <a:rPr lang="en-US" altLang="en-US" smtClean="0">
                <a:ea typeface="ヒラギノ角ゴ Pro W3" pitchFamily="1" charset="-128"/>
              </a:rPr>
              <a:t>∩</a:t>
            </a:r>
            <a:r>
              <a:rPr lang="en-US" altLang="en-US" smtClean="0"/>
              <a:t> S2 empty-set for i ≠ j;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mtClean="0"/>
              <a:t>Otherwise, Z is overlapping.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01315BD6-EC43-4AA4-90EC-4CDF224EA433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7282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Formal Definitions of EER Model (3)</a:t>
            </a:r>
          </a:p>
        </p:txBody>
      </p:sp>
      <p:sp>
        <p:nvSpPr>
          <p:cNvPr id="97283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Subclass S of C is predicate defined if predicate (condition)  p on attributes of C is used to specify membership in S;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that is, S = C[p], where C[p] is the set of entities in C that satisfy condition p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 subclass not defined by a predicate is called user-defined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Attribute-defined specialization: if a predicate A = ci (where A is an attribute of G and ci is a constant value from the domain of A) is used to specify membership in each subclass Si in Z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smtClean="0"/>
              <a:t>Note: If ci ≠ cj for i ≠ j, and A is single-valued, then the attribute-defined specialization will be disjoint.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EA52DE22-1244-499E-9C4D-EBCB3FDF80B9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Formal Definitions of EER Model (4)</a:t>
            </a: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Category or UNION type T</a:t>
            </a:r>
          </a:p>
          <a:p>
            <a:pPr lvl="1" eaLnBrk="1" hangingPunct="1"/>
            <a:r>
              <a:rPr lang="en-US" altLang="en-US" smtClean="0"/>
              <a:t>A class that is a subset of the </a:t>
            </a:r>
            <a:r>
              <a:rPr lang="en-US" altLang="en-US" i="1" smtClean="0"/>
              <a:t>union</a:t>
            </a:r>
            <a:r>
              <a:rPr lang="en-US" altLang="en-US" smtClean="0"/>
              <a:t> of n defining superclasses </a:t>
            </a:r>
            <a:br>
              <a:rPr lang="en-US" altLang="en-US" smtClean="0"/>
            </a:br>
            <a:r>
              <a:rPr lang="en-US" altLang="en-US" smtClean="0"/>
              <a:t>D1, D2,…Dn, n&gt;1:</a:t>
            </a:r>
          </a:p>
          <a:p>
            <a:pPr lvl="2" eaLnBrk="1" hangingPunct="1"/>
            <a:r>
              <a:rPr lang="en-US" altLang="en-US" smtClean="0"/>
              <a:t>T </a:t>
            </a:r>
            <a:r>
              <a:rPr lang="en-US" altLang="en-US" smtClean="0">
                <a:ea typeface="ヒラギノ角ゴ Pro W3" pitchFamily="1" charset="-128"/>
              </a:rPr>
              <a:t>⊆</a:t>
            </a:r>
            <a:r>
              <a:rPr lang="en-US" altLang="en-US" smtClean="0"/>
              <a:t> (D1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D2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…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Dn)</a:t>
            </a:r>
          </a:p>
          <a:p>
            <a:pPr lvl="1" eaLnBrk="1" hangingPunct="1"/>
            <a:r>
              <a:rPr lang="en-US" altLang="en-US" smtClean="0"/>
              <a:t>Can have a predicate pi on the attributes of Di to specify entities of Di that are members of T. </a:t>
            </a:r>
          </a:p>
          <a:p>
            <a:pPr lvl="1" eaLnBrk="1" hangingPunct="1"/>
            <a:r>
              <a:rPr lang="en-US" altLang="en-US" smtClean="0"/>
              <a:t>If a predicate is specified on every Di: T = (D1[p1]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D2[p2] 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…</a:t>
            </a:r>
            <a:r>
              <a:rPr lang="en-US" altLang="en-US" smtClean="0">
                <a:ea typeface="ヒラギノ角ゴ Pro W3" pitchFamily="1" charset="-128"/>
              </a:rPr>
              <a:t>∪</a:t>
            </a:r>
            <a:r>
              <a:rPr lang="en-US" altLang="en-US" smtClean="0"/>
              <a:t> Dn[pn])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25332B92-B631-4911-9520-B28A80A806DC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13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Alternative diagrammatic notations</a:t>
            </a:r>
          </a:p>
        </p:txBody>
      </p:sp>
      <p:sp>
        <p:nvSpPr>
          <p:cNvPr id="10137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ER/EER diagrams are a specific notation for displaying the concepts of the model diagrammatically</a:t>
            </a:r>
          </a:p>
          <a:p>
            <a:pPr eaLnBrk="1" hangingPunct="1"/>
            <a:r>
              <a:rPr lang="en-US" altLang="en-US" smtClean="0"/>
              <a:t>DB design tools use many alternative notations for the same or similar concepts</a:t>
            </a:r>
          </a:p>
          <a:p>
            <a:pPr eaLnBrk="1" hangingPunct="1"/>
            <a:r>
              <a:rPr lang="en-US" altLang="en-US" smtClean="0"/>
              <a:t>One popular alternative notation uses </a:t>
            </a:r>
            <a:r>
              <a:rPr lang="en-US" altLang="en-US" i="1" smtClean="0"/>
              <a:t>UML class diagrams</a:t>
            </a:r>
          </a:p>
          <a:p>
            <a:pPr eaLnBrk="1" hangingPunct="1"/>
            <a:r>
              <a:rPr lang="en-US" altLang="en-US" smtClean="0"/>
              <a:t>see next slides for UML class diagrams and other alternative notations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A5365A0D-0232-4CE9-AE0A-3FC8C7A0E3DB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24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UML Example for Displaying Specialization / Generalization</a:t>
            </a:r>
          </a:p>
        </p:txBody>
      </p:sp>
      <p:pic>
        <p:nvPicPr>
          <p:cNvPr id="102403" name="Picture 7" descr="fig04_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5" y="1590675"/>
            <a:ext cx="4645025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C1243DC9-11CD-4EF2-9A95-56546F22F02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4450" name="Rectangle 1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Alternative Diagrammatic Notations</a:t>
            </a:r>
          </a:p>
        </p:txBody>
      </p:sp>
      <p:pic>
        <p:nvPicPr>
          <p:cNvPr id="104451" name="Picture 16" descr="figA_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1524000"/>
            <a:ext cx="4041775" cy="508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121DB9DE-5FAF-40C5-B898-554D9469518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6498" name="Rectangle 103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smtClean="0"/>
              <a:t>General Conceptual Modeling Concepts</a:t>
            </a:r>
          </a:p>
        </p:txBody>
      </p:sp>
      <p:sp>
        <p:nvSpPr>
          <p:cNvPr id="106499" name="Rectangle 103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GENERAL DATA ABSTRACTIONS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CLASSIFICATION and INSTANTIATION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AGGREGATION and ASSOCIATION (relationships)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GENERALIZATION and SPECIALIZATION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IDENTIFICATION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CONSTRAINTS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CARDINALITY (Min and Max)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mtClean="0"/>
              <a:t>COVERAGE (Total vs. Partial, and Exclusive (disjoint) vs. Overlapping)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739286E6-B790-4B9F-8554-9CFBD9F0B9D0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Ontologies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mtClean="0"/>
              <a:t>Use conceptual modeling and other tools to develop “a specification of a conceptualization”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smtClean="0"/>
              <a:t>Specification </a:t>
            </a:r>
            <a:r>
              <a:rPr lang="en-US" altLang="en-US" smtClean="0"/>
              <a:t>refers to the language and vocabulary (data model concepts) used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b="1" smtClean="0"/>
              <a:t>Conceptualization</a:t>
            </a:r>
            <a:r>
              <a:rPr lang="en-US" altLang="en-US" smtClean="0"/>
              <a:t> refers to the description (schema) of the concepts of a particular field of knowledge and the relationships among these concepts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mtClean="0"/>
              <a:t>Many medical, scientific, and engineering ontologies are being developed as a means of standardizing concepts and terminology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600">
                <a:solidFill>
                  <a:srgbClr val="800000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2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rgbClr val="800000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2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smtClean="0">
                <a:solidFill>
                  <a:srgbClr val="990033"/>
                </a:solidFill>
              </a:rPr>
              <a:t>Slide 4- </a:t>
            </a:r>
            <a:fld id="{96CF021B-D381-4412-9392-0802451302F4}" type="slidenum">
              <a:rPr lang="en-US" altLang="en-US" sz="1400" smtClean="0">
                <a:solidFill>
                  <a:srgbClr val="990033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CA" altLang="en-US" sz="1400" smtClean="0">
              <a:solidFill>
                <a:srgbClr val="990033"/>
              </a:solidFill>
            </a:endParaRP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Summary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Introduced the EER model concepts</a:t>
            </a:r>
          </a:p>
          <a:p>
            <a:pPr lvl="1" eaLnBrk="1" hangingPunct="1"/>
            <a:r>
              <a:rPr lang="en-US" altLang="en-US" smtClean="0"/>
              <a:t>Class/subclass relationships</a:t>
            </a:r>
          </a:p>
          <a:p>
            <a:pPr lvl="1" eaLnBrk="1" hangingPunct="1"/>
            <a:r>
              <a:rPr lang="en-US" altLang="en-US" smtClean="0"/>
              <a:t>Specialization and generalization</a:t>
            </a:r>
          </a:p>
          <a:p>
            <a:pPr lvl="1" eaLnBrk="1" hangingPunct="1"/>
            <a:r>
              <a:rPr lang="en-US" altLang="en-US" smtClean="0"/>
              <a:t>Inheritance</a:t>
            </a:r>
          </a:p>
          <a:p>
            <a:pPr eaLnBrk="1" hangingPunct="1"/>
            <a:r>
              <a:rPr lang="en-US" altLang="en-US" smtClean="0"/>
              <a:t>These augment the basic ER model concepts introduced in Chapter 3</a:t>
            </a:r>
          </a:p>
          <a:p>
            <a:pPr eaLnBrk="1" hangingPunct="1"/>
            <a:r>
              <a:rPr lang="en-US" altLang="en-US" smtClean="0"/>
              <a:t>EER diagrams and alternative notations were presented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1700</TotalTime>
  <Words>2611</Words>
  <Application>Microsoft Office PowerPoint</Application>
  <PresentationFormat>Letter Paper (8.5x11 in)</PresentationFormat>
  <Paragraphs>361</Paragraphs>
  <Slides>49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Wingdings</vt:lpstr>
      <vt:lpstr>Tahoma</vt:lpstr>
      <vt:lpstr>ヒラギノ角ゴ Pro W3</vt:lpstr>
      <vt:lpstr>Blends</vt:lpstr>
      <vt:lpstr>PowerPoint Presentation</vt:lpstr>
      <vt:lpstr>Chapter 4</vt:lpstr>
      <vt:lpstr>Chapter Outline</vt:lpstr>
      <vt:lpstr>Subclasses and Superclasses (1)</vt:lpstr>
      <vt:lpstr>PowerPoint Presentation</vt:lpstr>
      <vt:lpstr>Subclasses and Superclasses (2)</vt:lpstr>
      <vt:lpstr>Subclasses and Superclasses (3)</vt:lpstr>
      <vt:lpstr>Subclasses and Superclasses (4)</vt:lpstr>
      <vt:lpstr>Representing Specialization in EER Diagrams</vt:lpstr>
      <vt:lpstr>Attribute Inheritance in Superclass / Subclass Relationships </vt:lpstr>
      <vt:lpstr>Specialization (1)</vt:lpstr>
      <vt:lpstr>Specialization (2)</vt:lpstr>
      <vt:lpstr>PowerPoint Presentation</vt:lpstr>
      <vt:lpstr>Generalization</vt:lpstr>
      <vt:lpstr>PowerPoint Presentation</vt:lpstr>
      <vt:lpstr>Generalization and Specialization (1)</vt:lpstr>
      <vt:lpstr>Generalization and Specialization (2)</vt:lpstr>
      <vt:lpstr>Constraints on Specialization and Generalization (1)</vt:lpstr>
      <vt:lpstr>Constraints on Specialization and Generalization (2)</vt:lpstr>
      <vt:lpstr>Displaying an attribute-defined specialization in EER diagrams</vt:lpstr>
      <vt:lpstr>Constraints on Specialization and Generalization (3)</vt:lpstr>
      <vt:lpstr>Constraints on Specialization and Generalization (4)</vt:lpstr>
      <vt:lpstr>Constraints on Specialization and Generalization (5)</vt:lpstr>
      <vt:lpstr>Constraints on Specialization and Generalization (6)</vt:lpstr>
      <vt:lpstr>Example of disjoint partial Specialization</vt:lpstr>
      <vt:lpstr>PowerPoint Presentation</vt:lpstr>
      <vt:lpstr>Specialization/Generalization Hierarchies, Lattices &amp; Shared Subclasses (1)</vt:lpstr>
      <vt:lpstr>PowerPoint Presentation</vt:lpstr>
      <vt:lpstr>Specialization/Generalization Hierarchies, Lattices &amp; Shared Subclasses (2)</vt:lpstr>
      <vt:lpstr>Specialization/Generalization Hierarchies, Lattices &amp; Shared Subclasses (3)</vt:lpstr>
      <vt:lpstr>Specialization / Generalization Lattice Example (UNIVERSITY)</vt:lpstr>
      <vt:lpstr>Categories (UNION TYPES) (1)</vt:lpstr>
      <vt:lpstr>Categories (UNION TYPES) (1) - Extended</vt:lpstr>
      <vt:lpstr>Categories (UNION TYPES) (2)</vt:lpstr>
      <vt:lpstr>Two categories (UNION types): OWNER, REGISTERED_VEHICLE</vt:lpstr>
      <vt:lpstr>PowerPoint Presentation</vt:lpstr>
      <vt:lpstr>Difference from shared subclass – Example (1)</vt:lpstr>
      <vt:lpstr>Difference from shared subclass – Example (2)</vt:lpstr>
      <vt:lpstr>Difference from shared subclass – Example (3)</vt:lpstr>
      <vt:lpstr>Formal Definitions of EER Model (1)</vt:lpstr>
      <vt:lpstr>Formal Definitions of EER Model (2)</vt:lpstr>
      <vt:lpstr>Formal Definitions of EER Model (3)</vt:lpstr>
      <vt:lpstr>Formal Definitions of EER Model (4)</vt:lpstr>
      <vt:lpstr>Alternative diagrammatic notations</vt:lpstr>
      <vt:lpstr>UML Example for Displaying Specialization / Generalization</vt:lpstr>
      <vt:lpstr>Alternative Diagrammatic Notations</vt:lpstr>
      <vt:lpstr>General Conceptual Modeling Concepts</vt:lpstr>
      <vt:lpstr>Ontologies</vt:lpstr>
      <vt:lpstr>Summary</vt:lpstr>
    </vt:vector>
  </TitlesOfParts>
  <Manager/>
  <Company>©2007 Pearson Addison-Wesley. All rights reserved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</dc:title>
  <dc:subject>Enhanced Entity-Relationship (EER) Modeling</dc:subject>
  <dc:creator>Elmasri/Navathe</dc:creator>
  <cp:keywords/>
  <dc:description/>
  <cp:lastModifiedBy>user1</cp:lastModifiedBy>
  <cp:revision>91</cp:revision>
  <cp:lastPrinted>2001-11-04T00:51:13Z</cp:lastPrinted>
  <dcterms:created xsi:type="dcterms:W3CDTF">2005-02-25T19:46:41Z</dcterms:created>
  <dcterms:modified xsi:type="dcterms:W3CDTF">2025-07-28T10:25:44Z</dcterms:modified>
  <cp:category/>
</cp:coreProperties>
</file>