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46"/>
  </p:notesMasterIdLst>
  <p:handoutMasterIdLst>
    <p:handoutMasterId r:id="rId47"/>
  </p:handoutMasterIdLst>
  <p:sldIdLst>
    <p:sldId id="282" r:id="rId2"/>
    <p:sldId id="324" r:id="rId3"/>
    <p:sldId id="327" r:id="rId4"/>
    <p:sldId id="328" r:id="rId5"/>
    <p:sldId id="329" r:id="rId6"/>
    <p:sldId id="330" r:id="rId7"/>
    <p:sldId id="331" r:id="rId8"/>
    <p:sldId id="363" r:id="rId9"/>
    <p:sldId id="332" r:id="rId10"/>
    <p:sldId id="359" r:id="rId11"/>
    <p:sldId id="333" r:id="rId12"/>
    <p:sldId id="360" r:id="rId13"/>
    <p:sldId id="334" r:id="rId14"/>
    <p:sldId id="361" r:id="rId15"/>
    <p:sldId id="335" r:id="rId16"/>
    <p:sldId id="362" r:id="rId17"/>
    <p:sldId id="336" r:id="rId18"/>
    <p:sldId id="337" r:id="rId19"/>
    <p:sldId id="338" r:id="rId20"/>
    <p:sldId id="364" r:id="rId21"/>
    <p:sldId id="366" r:id="rId22"/>
    <p:sldId id="365" r:id="rId23"/>
    <p:sldId id="339" r:id="rId24"/>
    <p:sldId id="340" r:id="rId25"/>
    <p:sldId id="357" r:id="rId26"/>
    <p:sldId id="341" r:id="rId27"/>
    <p:sldId id="342" r:id="rId28"/>
    <p:sldId id="367" r:id="rId29"/>
    <p:sldId id="343" r:id="rId30"/>
    <p:sldId id="344" r:id="rId31"/>
    <p:sldId id="345" r:id="rId32"/>
    <p:sldId id="346" r:id="rId33"/>
    <p:sldId id="347" r:id="rId34"/>
    <p:sldId id="368" r:id="rId35"/>
    <p:sldId id="348" r:id="rId36"/>
    <p:sldId id="349" r:id="rId37"/>
    <p:sldId id="350" r:id="rId38"/>
    <p:sldId id="351" r:id="rId39"/>
    <p:sldId id="352" r:id="rId40"/>
    <p:sldId id="353" r:id="rId41"/>
    <p:sldId id="354" r:id="rId42"/>
    <p:sldId id="355" r:id="rId43"/>
    <p:sldId id="356" r:id="rId44"/>
    <p:sldId id="358" r:id="rId45"/>
  </p:sldIdLst>
  <p:sldSz cx="9144000" cy="6858000" type="letter"/>
  <p:notesSz cx="6858000" cy="9144000"/>
  <p:defaultTextStyle>
    <a:defPPr>
      <a:defRPr lang="en-CA"/>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29"/>
    <p:restoredTop sz="94963"/>
  </p:normalViewPr>
  <p:slideViewPr>
    <p:cSldViewPr snapToObjects="1">
      <p:cViewPr varScale="1">
        <p:scale>
          <a:sx n="94" d="100"/>
          <a:sy n="94" d="100"/>
        </p:scale>
        <p:origin x="600" y="184"/>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100" d="100"/>
          <a:sy n="100" d="100"/>
        </p:scale>
        <p:origin x="-780" y="21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4633238-8ACA-A844-8604-09A445656E4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0419" name="Rectangle 3">
            <a:extLst>
              <a:ext uri="{FF2B5EF4-FFF2-40B4-BE49-F238E27FC236}">
                <a16:creationId xmlns:a16="http://schemas.microsoft.com/office/drawing/2014/main" id="{19A42F27-F264-F84C-AA4B-2FFC105B3765}"/>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ahoma" panose="020B0604030504040204" pitchFamily="34" charset="0"/>
              </a:defRPr>
            </a:lvl1pPr>
          </a:lstStyle>
          <a:p>
            <a:pPr>
              <a:defRPr/>
            </a:pPr>
            <a:endParaRPr lang="en-CA" altLang="en-US"/>
          </a:p>
        </p:txBody>
      </p:sp>
      <p:sp>
        <p:nvSpPr>
          <p:cNvPr id="60420" name="Rectangle 4">
            <a:extLst>
              <a:ext uri="{FF2B5EF4-FFF2-40B4-BE49-F238E27FC236}">
                <a16:creationId xmlns:a16="http://schemas.microsoft.com/office/drawing/2014/main" id="{017A0D13-0073-CF4F-BF67-4DD0F7944CE3}"/>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0421" name="Rectangle 5">
            <a:extLst>
              <a:ext uri="{FF2B5EF4-FFF2-40B4-BE49-F238E27FC236}">
                <a16:creationId xmlns:a16="http://schemas.microsoft.com/office/drawing/2014/main" id="{DD1A4EBB-B121-BA48-B0D8-5B88CE3B5D0D}"/>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03C87613-41BA-4101-A9E2-DA594E92E949}"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3C635ED-11B4-524E-BDBA-704AAF5B84B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1443" name="Rectangle 3">
            <a:extLst>
              <a:ext uri="{FF2B5EF4-FFF2-40B4-BE49-F238E27FC236}">
                <a16:creationId xmlns:a16="http://schemas.microsoft.com/office/drawing/2014/main" id="{411D9A38-4827-8942-819F-5C1A476C3668}"/>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Tahoma" panose="020B0604030504040204" pitchFamily="34" charset="0"/>
              </a:defRPr>
            </a:lvl1pPr>
          </a:lstStyle>
          <a:p>
            <a:pPr>
              <a:defRPr/>
            </a:pPr>
            <a:endParaRPr lang="en-CA" altLang="en-US"/>
          </a:p>
        </p:txBody>
      </p:sp>
      <p:sp>
        <p:nvSpPr>
          <p:cNvPr id="13316"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45" name="Rectangle 5">
            <a:extLst>
              <a:ext uri="{FF2B5EF4-FFF2-40B4-BE49-F238E27FC236}">
                <a16:creationId xmlns:a16="http://schemas.microsoft.com/office/drawing/2014/main" id="{EB5C3321-779E-264A-88D4-33543405CDB5}"/>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61446" name="Rectangle 6">
            <a:extLst>
              <a:ext uri="{FF2B5EF4-FFF2-40B4-BE49-F238E27FC236}">
                <a16:creationId xmlns:a16="http://schemas.microsoft.com/office/drawing/2014/main" id="{C375079E-4D8F-8F42-B861-59B1189ADA7E}"/>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Tahoma" panose="020B0604030504040204" pitchFamily="34" charset="0"/>
              </a:defRPr>
            </a:lvl1pPr>
          </a:lstStyle>
          <a:p>
            <a:pPr>
              <a:defRPr/>
            </a:pPr>
            <a:endParaRPr lang="en-CA" altLang="en-US"/>
          </a:p>
        </p:txBody>
      </p:sp>
      <p:sp>
        <p:nvSpPr>
          <p:cNvPr id="61447" name="Rectangle 7">
            <a:extLst>
              <a:ext uri="{FF2B5EF4-FFF2-40B4-BE49-F238E27FC236}">
                <a16:creationId xmlns:a16="http://schemas.microsoft.com/office/drawing/2014/main" id="{B3379F56-4B87-C64D-BC04-87F3D039B0E1}"/>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0E72B8A2-F0A9-40C9-8CA1-64DA222BDB6E}"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1B96197-90BA-4239-BE4F-1BF48CCC6F5E}" type="slidenum">
              <a:rPr lang="en-CA" altLang="en-US" sz="1200" smtClean="0">
                <a:latin typeface="Tahoma" panose="020B0604030504040204" pitchFamily="34" charset="0"/>
              </a:rPr>
              <a:pPr/>
              <a:t>1</a:t>
            </a:fld>
            <a:endParaRPr lang="en-CA" altLang="en-US" sz="1200" smtClean="0">
              <a:latin typeface="Tahoma" panose="020B0604030504040204" pitchFamily="34" charset="0"/>
            </a:endParaRPr>
          </a:p>
        </p:txBody>
      </p:sp>
      <p:sp>
        <p:nvSpPr>
          <p:cNvPr id="16386" name="Rectangle 2"/>
          <p:cNvSpPr>
            <a:spLocks noChangeArrowheads="1" noTextEdit="1"/>
          </p:cNvSpPr>
          <p:nvPr>
            <p:ph type="sldImg"/>
          </p:nvPr>
        </p:nvSpPr>
        <p:spPr>
          <a:ln/>
        </p:spPr>
      </p:sp>
      <p:sp>
        <p:nvSpPr>
          <p:cNvPr id="1638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CB633B9-FBB3-42A5-BCEF-5ADC8A2634CB}" type="slidenum">
              <a:rPr lang="en-CA" altLang="en-US" sz="1200" smtClean="0">
                <a:latin typeface="Tahoma" panose="020B0604030504040204" pitchFamily="34" charset="0"/>
              </a:rPr>
              <a:pPr/>
              <a:t>2</a:t>
            </a:fld>
            <a:endParaRPr lang="en-CA" altLang="en-US" sz="1200" smtClean="0">
              <a:latin typeface="Tahoma" panose="020B0604030504040204" pitchFamily="34" charset="0"/>
            </a:endParaRPr>
          </a:p>
        </p:txBody>
      </p:sp>
      <p:sp>
        <p:nvSpPr>
          <p:cNvPr id="18434" name="Rectangle 2"/>
          <p:cNvSpPr>
            <a:spLocks noChangeArrowheads="1" noTextEdit="1"/>
          </p:cNvSpPr>
          <p:nvPr>
            <p:ph type="sldImg"/>
          </p:nvPr>
        </p:nvSpPr>
        <p:spPr>
          <a:ln/>
        </p:spPr>
      </p:sp>
      <p:sp>
        <p:nvSpPr>
          <p:cNvPr id="1843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FD38C6A-4254-4A1D-8CF2-0A00C16C2B5F}" type="slidenum">
              <a:rPr lang="en-CA" altLang="en-US" sz="1200" smtClean="0">
                <a:latin typeface="Tahoma" panose="020B0604030504040204" pitchFamily="34" charset="0"/>
              </a:rPr>
              <a:pPr/>
              <a:t>3</a:t>
            </a:fld>
            <a:endParaRPr lang="en-CA" altLang="en-US" sz="1200" smtClean="0">
              <a:latin typeface="Tahoma" panose="020B0604030504040204" pitchFamily="34" charset="0"/>
            </a:endParaRPr>
          </a:p>
        </p:txBody>
      </p:sp>
      <p:sp>
        <p:nvSpPr>
          <p:cNvPr id="20482" name="Rectangle 2"/>
          <p:cNvSpPr>
            <a:spLocks noChangeArrowheads="1" noTextEdit="1"/>
          </p:cNvSpPr>
          <p:nvPr>
            <p:ph type="sldImg"/>
          </p:nvPr>
        </p:nvSpPr>
        <p:spPr>
          <a:ln/>
        </p:spPr>
      </p:sp>
      <p:sp>
        <p:nvSpPr>
          <p:cNvPr id="2048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1423A9E-F1D5-4461-868E-6BAA69151E50}" type="slidenum">
              <a:rPr lang="en-CA" altLang="en-US" sz="1200" smtClean="0">
                <a:latin typeface="Tahoma" panose="020B0604030504040204" pitchFamily="34" charset="0"/>
              </a:rPr>
              <a:pPr/>
              <a:t>4</a:t>
            </a:fld>
            <a:endParaRPr lang="en-CA" altLang="en-US" sz="1200" smtClean="0">
              <a:latin typeface="Tahoma" panose="020B0604030504040204" pitchFamily="34" charset="0"/>
            </a:endParaRPr>
          </a:p>
        </p:txBody>
      </p:sp>
      <p:sp>
        <p:nvSpPr>
          <p:cNvPr id="22530" name="Rectangle 2"/>
          <p:cNvSpPr>
            <a:spLocks noChangeArrowheads="1" noTextEdit="1"/>
          </p:cNvSpPr>
          <p:nvPr>
            <p:ph type="sldImg"/>
          </p:nvPr>
        </p:nvSpPr>
        <p:spPr>
          <a:ln/>
        </p:spPr>
      </p:sp>
      <p:sp>
        <p:nvSpPr>
          <p:cNvPr id="2253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C832B99-9401-4E1D-8321-2E78AFC8B12B}" type="slidenum">
              <a:rPr lang="en-CA" altLang="en-US" sz="1200" smtClean="0">
                <a:latin typeface="Tahoma" panose="020B0604030504040204" pitchFamily="34" charset="0"/>
              </a:rPr>
              <a:pPr/>
              <a:t>5</a:t>
            </a:fld>
            <a:endParaRPr lang="en-CA" altLang="en-US" sz="1200" smtClean="0">
              <a:latin typeface="Tahoma" panose="020B0604030504040204" pitchFamily="34" charset="0"/>
            </a:endParaRPr>
          </a:p>
        </p:txBody>
      </p:sp>
      <p:sp>
        <p:nvSpPr>
          <p:cNvPr id="24578" name="Rectangle 2"/>
          <p:cNvSpPr>
            <a:spLocks noChangeArrowheads="1" noTextEdit="1"/>
          </p:cNvSpPr>
          <p:nvPr>
            <p:ph type="sldImg"/>
          </p:nvPr>
        </p:nvSpPr>
        <p:spPr>
          <a:ln/>
        </p:spPr>
      </p:sp>
      <p:sp>
        <p:nvSpPr>
          <p:cNvPr id="2457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1E08C84-EEBC-49CF-9445-A0E6E5A8D3EA}" type="slidenum">
              <a:rPr lang="en-CA" altLang="en-US" sz="1200" smtClean="0">
                <a:latin typeface="Tahoma" panose="020B0604030504040204" pitchFamily="34" charset="0"/>
              </a:rPr>
              <a:pPr/>
              <a:t>6</a:t>
            </a:fld>
            <a:endParaRPr lang="en-CA" altLang="en-US" sz="1200" smtClean="0">
              <a:latin typeface="Tahoma" panose="020B0604030504040204" pitchFamily="34" charset="0"/>
            </a:endParaRPr>
          </a:p>
        </p:txBody>
      </p:sp>
      <p:sp>
        <p:nvSpPr>
          <p:cNvPr id="26626" name="Rectangle 2"/>
          <p:cNvSpPr>
            <a:spLocks noChangeArrowheads="1" noTextEdit="1"/>
          </p:cNvSpPr>
          <p:nvPr>
            <p:ph type="sldImg"/>
          </p:nvPr>
        </p:nvSpPr>
        <p:spPr>
          <a:ln/>
        </p:spPr>
      </p:sp>
      <p:sp>
        <p:nvSpPr>
          <p:cNvPr id="2662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0408C7D-ACD9-4CE9-94FF-AF2048A70A91}" type="slidenum">
              <a:rPr lang="en-CA" altLang="en-US" sz="1200" smtClean="0">
                <a:latin typeface="Tahoma" panose="020B0604030504040204" pitchFamily="34" charset="0"/>
              </a:rPr>
              <a:pPr/>
              <a:t>7</a:t>
            </a:fld>
            <a:endParaRPr lang="en-CA" altLang="en-US" sz="1200" smtClean="0">
              <a:latin typeface="Tahoma" panose="020B0604030504040204" pitchFamily="34" charset="0"/>
            </a:endParaRPr>
          </a:p>
        </p:txBody>
      </p:sp>
      <p:sp>
        <p:nvSpPr>
          <p:cNvPr id="28674" name="Rectangle 2"/>
          <p:cNvSpPr>
            <a:spLocks noChangeArrowheads="1" noTextEdit="1"/>
          </p:cNvSpPr>
          <p:nvPr>
            <p:ph type="sldImg"/>
          </p:nvPr>
        </p:nvSpPr>
        <p:spPr>
          <a:ln/>
        </p:spPr>
      </p:sp>
      <p:sp>
        <p:nvSpPr>
          <p:cNvPr id="2867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469D363-BA7D-469B-B074-85F00E164BC8}" type="slidenum">
              <a:rPr lang="en-CA" altLang="en-US" sz="1200" smtClean="0">
                <a:latin typeface="Tahoma" panose="020B0604030504040204" pitchFamily="34" charset="0"/>
              </a:rPr>
              <a:pPr/>
              <a:t>8</a:t>
            </a:fld>
            <a:endParaRPr lang="en-CA" altLang="en-US" sz="1200" smtClean="0">
              <a:latin typeface="Tahoma" panose="020B0604030504040204" pitchFamily="34" charset="0"/>
            </a:endParaRPr>
          </a:p>
        </p:txBody>
      </p:sp>
      <p:sp>
        <p:nvSpPr>
          <p:cNvPr id="30722" name="Rectangle 2"/>
          <p:cNvSpPr>
            <a:spLocks noChangeArrowheads="1" noTextEdit="1"/>
          </p:cNvSpPr>
          <p:nvPr>
            <p:ph type="sldImg"/>
          </p:nvPr>
        </p:nvSpPr>
        <p:spPr>
          <a:ln/>
        </p:spPr>
      </p:sp>
      <p:sp>
        <p:nvSpPr>
          <p:cNvPr id="3072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E628CCB-107A-46EE-824A-EBFC5CF2078C}" type="slidenum">
              <a:rPr lang="en-CA" altLang="en-US" sz="1200" smtClean="0">
                <a:latin typeface="Tahoma" panose="020B0604030504040204" pitchFamily="34" charset="0"/>
              </a:rPr>
              <a:pPr/>
              <a:t>9</a:t>
            </a:fld>
            <a:endParaRPr lang="en-CA" altLang="en-US" sz="1200" smtClean="0">
              <a:latin typeface="Tahoma" panose="020B0604030504040204" pitchFamily="34" charset="0"/>
            </a:endParaRPr>
          </a:p>
        </p:txBody>
      </p:sp>
      <p:sp>
        <p:nvSpPr>
          <p:cNvPr id="32770" name="Rectangle 2"/>
          <p:cNvSpPr>
            <a:spLocks noChangeArrowheads="1" noTextEdit="1"/>
          </p:cNvSpPr>
          <p:nvPr>
            <p:ph type="sldImg"/>
          </p:nvPr>
        </p:nvSpPr>
        <p:spPr>
          <a:ln/>
        </p:spPr>
      </p:sp>
      <p:sp>
        <p:nvSpPr>
          <p:cNvPr id="3277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3BFF228-B5A9-4326-86A6-E9E779D15FEF}" type="slidenum">
              <a:rPr lang="en-CA" altLang="en-US" sz="1200" smtClean="0">
                <a:latin typeface="Tahoma" panose="020B0604030504040204" pitchFamily="34" charset="0"/>
              </a:rPr>
              <a:pPr/>
              <a:t>10</a:t>
            </a:fld>
            <a:endParaRPr lang="en-CA" altLang="en-US" sz="1200" smtClean="0">
              <a:latin typeface="Tahoma" panose="020B0604030504040204" pitchFamily="34" charset="0"/>
            </a:endParaRPr>
          </a:p>
        </p:txBody>
      </p:sp>
      <p:sp>
        <p:nvSpPr>
          <p:cNvPr id="34818" name="Rectangle 2"/>
          <p:cNvSpPr>
            <a:spLocks noChangeArrowheads="1" noTextEdit="1"/>
          </p:cNvSpPr>
          <p:nvPr>
            <p:ph type="sldImg"/>
          </p:nvPr>
        </p:nvSpPr>
        <p:spPr>
          <a:ln/>
        </p:spPr>
      </p:sp>
      <p:sp>
        <p:nvSpPr>
          <p:cNvPr id="3481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91748E8-2A9A-4048-87A5-E838BA678EF1}" type="slidenum">
              <a:rPr lang="en-CA" altLang="en-US" sz="1200" smtClean="0">
                <a:latin typeface="Tahoma" panose="020B0604030504040204" pitchFamily="34" charset="0"/>
              </a:rPr>
              <a:pPr/>
              <a:t>11</a:t>
            </a:fld>
            <a:endParaRPr lang="en-CA" altLang="en-US" sz="1200" smtClean="0">
              <a:latin typeface="Tahoma" panose="020B0604030504040204" pitchFamily="34" charset="0"/>
            </a:endParaRPr>
          </a:p>
        </p:txBody>
      </p:sp>
      <p:sp>
        <p:nvSpPr>
          <p:cNvPr id="36866" name="Rectangle 2"/>
          <p:cNvSpPr>
            <a:spLocks noChangeArrowheads="1" noTextEdit="1"/>
          </p:cNvSpPr>
          <p:nvPr>
            <p:ph type="sldImg"/>
          </p:nvPr>
        </p:nvSpPr>
        <p:spPr>
          <a:ln/>
        </p:spPr>
      </p:sp>
      <p:sp>
        <p:nvSpPr>
          <p:cNvPr id="3686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0EA7F07-8F5C-40D9-9186-769B4A665D68}" type="slidenum">
              <a:rPr lang="en-CA" altLang="en-US" sz="1200" smtClean="0">
                <a:latin typeface="Tahoma" panose="020B0604030504040204" pitchFamily="34" charset="0"/>
              </a:rPr>
              <a:pPr/>
              <a:t>13</a:t>
            </a:fld>
            <a:endParaRPr lang="en-CA" altLang="en-US" sz="1200" smtClean="0">
              <a:latin typeface="Tahoma" panose="020B0604030504040204" pitchFamily="34" charset="0"/>
            </a:endParaRPr>
          </a:p>
        </p:txBody>
      </p:sp>
      <p:sp>
        <p:nvSpPr>
          <p:cNvPr id="39938" name="Rectangle 2"/>
          <p:cNvSpPr>
            <a:spLocks noChangeArrowheads="1" noTextEdit="1"/>
          </p:cNvSpPr>
          <p:nvPr>
            <p:ph type="sldImg"/>
          </p:nvPr>
        </p:nvSpPr>
        <p:spPr>
          <a:ln/>
        </p:spPr>
      </p:sp>
      <p:sp>
        <p:nvSpPr>
          <p:cNvPr id="3993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ED5C61E-CE60-4063-83E0-142B6F4A4DE1}" type="slidenum">
              <a:rPr lang="en-CA" altLang="en-US" sz="1200" smtClean="0">
                <a:latin typeface="Tahoma" panose="020B0604030504040204" pitchFamily="34" charset="0"/>
              </a:rPr>
              <a:pPr/>
              <a:t>15</a:t>
            </a:fld>
            <a:endParaRPr lang="en-CA" altLang="en-US" sz="1200" smtClean="0">
              <a:latin typeface="Tahoma" panose="020B0604030504040204" pitchFamily="34" charset="0"/>
            </a:endParaRPr>
          </a:p>
        </p:txBody>
      </p:sp>
      <p:sp>
        <p:nvSpPr>
          <p:cNvPr id="43010" name="Rectangle 2"/>
          <p:cNvSpPr>
            <a:spLocks noChangeArrowheads="1" noTextEdit="1"/>
          </p:cNvSpPr>
          <p:nvPr>
            <p:ph type="sldImg"/>
          </p:nvPr>
        </p:nvSpPr>
        <p:spPr>
          <a:ln/>
        </p:spPr>
      </p:sp>
      <p:sp>
        <p:nvSpPr>
          <p:cNvPr id="4301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D6A9394-23B6-4ED2-A9A6-97BA2842F135}" type="slidenum">
              <a:rPr lang="en-CA" altLang="en-US" sz="1200" smtClean="0">
                <a:latin typeface="Tahoma" panose="020B0604030504040204" pitchFamily="34" charset="0"/>
              </a:rPr>
              <a:pPr/>
              <a:t>17</a:t>
            </a:fld>
            <a:endParaRPr lang="en-CA" altLang="en-US" sz="1200" smtClean="0">
              <a:latin typeface="Tahoma" panose="020B0604030504040204" pitchFamily="34" charset="0"/>
            </a:endParaRPr>
          </a:p>
        </p:txBody>
      </p:sp>
      <p:sp>
        <p:nvSpPr>
          <p:cNvPr id="46082" name="Rectangle 2"/>
          <p:cNvSpPr>
            <a:spLocks noChangeArrowheads="1" noTextEdit="1"/>
          </p:cNvSpPr>
          <p:nvPr>
            <p:ph type="sldImg"/>
          </p:nvPr>
        </p:nvSpPr>
        <p:spPr>
          <a:ln/>
        </p:spPr>
      </p:sp>
      <p:sp>
        <p:nvSpPr>
          <p:cNvPr id="4608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F175BBE-E5FE-4E1B-8F0F-7762468EB445}" type="slidenum">
              <a:rPr lang="en-CA" altLang="en-US" sz="1200" smtClean="0">
                <a:latin typeface="Tahoma" panose="020B0604030504040204" pitchFamily="34" charset="0"/>
              </a:rPr>
              <a:pPr/>
              <a:t>18</a:t>
            </a:fld>
            <a:endParaRPr lang="en-CA" altLang="en-US" sz="1200" smtClean="0">
              <a:latin typeface="Tahoma" panose="020B0604030504040204" pitchFamily="34" charset="0"/>
            </a:endParaRPr>
          </a:p>
        </p:txBody>
      </p:sp>
      <p:sp>
        <p:nvSpPr>
          <p:cNvPr id="48130" name="Rectangle 2"/>
          <p:cNvSpPr>
            <a:spLocks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5B0410D-CE12-4DFB-942E-A6776ACF74D1}" type="slidenum">
              <a:rPr lang="en-CA" altLang="en-US" sz="1200" smtClean="0">
                <a:latin typeface="Tahoma" panose="020B0604030504040204" pitchFamily="34" charset="0"/>
              </a:rPr>
              <a:pPr/>
              <a:t>19</a:t>
            </a:fld>
            <a:endParaRPr lang="en-CA" altLang="en-US" sz="1200" smtClean="0">
              <a:latin typeface="Tahoma" panose="020B0604030504040204" pitchFamily="34" charset="0"/>
            </a:endParaRPr>
          </a:p>
        </p:txBody>
      </p:sp>
      <p:sp>
        <p:nvSpPr>
          <p:cNvPr id="50178" name="Rectangle 2"/>
          <p:cNvSpPr>
            <a:spLocks noChangeArrowheads="1" noTextEdit="1"/>
          </p:cNvSpPr>
          <p:nvPr>
            <p:ph type="sldImg"/>
          </p:nvPr>
        </p:nvSpPr>
        <p:spPr>
          <a:ln/>
        </p:spPr>
      </p:sp>
      <p:sp>
        <p:nvSpPr>
          <p:cNvPr id="5017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08073AB-30BF-4FEC-84BC-D839406F6377}" type="slidenum">
              <a:rPr lang="en-CA" altLang="en-US" sz="1200" smtClean="0">
                <a:latin typeface="Tahoma" panose="020B0604030504040204" pitchFamily="34" charset="0"/>
              </a:rPr>
              <a:pPr/>
              <a:t>23</a:t>
            </a:fld>
            <a:endParaRPr lang="en-CA" altLang="en-US" sz="1200" smtClean="0">
              <a:latin typeface="Tahoma" panose="020B0604030504040204" pitchFamily="34" charset="0"/>
            </a:endParaRPr>
          </a:p>
        </p:txBody>
      </p:sp>
      <p:sp>
        <p:nvSpPr>
          <p:cNvPr id="55298" name="Rectangle 2"/>
          <p:cNvSpPr>
            <a:spLocks noChangeArrowheads="1" noTextEdit="1"/>
          </p:cNvSpPr>
          <p:nvPr>
            <p:ph type="sldImg"/>
          </p:nvPr>
        </p:nvSpPr>
        <p:spPr>
          <a:ln/>
        </p:spPr>
      </p:sp>
      <p:sp>
        <p:nvSpPr>
          <p:cNvPr id="5529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AA3FAC30-095F-4C15-9A3B-498204034185}" type="slidenum">
              <a:rPr lang="en-CA" altLang="en-US" sz="1200" smtClean="0">
                <a:latin typeface="Tahoma" panose="020B0604030504040204" pitchFamily="34" charset="0"/>
              </a:rPr>
              <a:pPr/>
              <a:t>24</a:t>
            </a:fld>
            <a:endParaRPr lang="en-CA" altLang="en-US" sz="1200" smtClean="0">
              <a:latin typeface="Tahoma" panose="020B0604030504040204" pitchFamily="34" charset="0"/>
            </a:endParaRPr>
          </a:p>
        </p:txBody>
      </p:sp>
      <p:sp>
        <p:nvSpPr>
          <p:cNvPr id="57346" name="Rectangle 2"/>
          <p:cNvSpPr>
            <a:spLocks noChangeArrowheads="1" noTextEdit="1"/>
          </p:cNvSpPr>
          <p:nvPr>
            <p:ph type="sldImg"/>
          </p:nvPr>
        </p:nvSpPr>
        <p:spPr>
          <a:ln/>
        </p:spPr>
      </p:sp>
      <p:sp>
        <p:nvSpPr>
          <p:cNvPr id="5734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0E05187E-F04B-463A-98C4-75F7D2DE7072}" type="slidenum">
              <a:rPr lang="en-CA" altLang="en-US" sz="1200" smtClean="0">
                <a:latin typeface="Tahoma" panose="020B0604030504040204" pitchFamily="34" charset="0"/>
              </a:rPr>
              <a:pPr/>
              <a:t>25</a:t>
            </a:fld>
            <a:endParaRPr lang="en-CA" altLang="en-US" sz="1200" smtClean="0">
              <a:latin typeface="Tahoma" panose="020B0604030504040204" pitchFamily="34" charset="0"/>
            </a:endParaRPr>
          </a:p>
        </p:txBody>
      </p:sp>
      <p:sp>
        <p:nvSpPr>
          <p:cNvPr id="59394" name="Rectangle 2"/>
          <p:cNvSpPr>
            <a:spLocks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9157E5E-3629-4988-B763-B2A595DEE814}" type="slidenum">
              <a:rPr lang="en-CA" altLang="en-US" sz="1200" smtClean="0">
                <a:latin typeface="Tahoma" panose="020B0604030504040204" pitchFamily="34" charset="0"/>
              </a:rPr>
              <a:pPr/>
              <a:t>26</a:t>
            </a:fld>
            <a:endParaRPr lang="en-CA" altLang="en-US" sz="1200" smtClean="0">
              <a:latin typeface="Tahoma" panose="020B0604030504040204" pitchFamily="34" charset="0"/>
            </a:endParaRPr>
          </a:p>
        </p:txBody>
      </p:sp>
      <p:sp>
        <p:nvSpPr>
          <p:cNvPr id="61442" name="Rectangle 2"/>
          <p:cNvSpPr>
            <a:spLocks noChangeArrowheads="1" noTextEdit="1"/>
          </p:cNvSpPr>
          <p:nvPr>
            <p:ph type="sldImg"/>
          </p:nvPr>
        </p:nvSpPr>
        <p:spPr>
          <a:ln/>
        </p:spPr>
      </p:sp>
      <p:sp>
        <p:nvSpPr>
          <p:cNvPr id="6144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7A6073F6-7237-4F65-97A0-BF24EF32D81F}" type="slidenum">
              <a:rPr lang="en-CA" altLang="en-US" sz="1200" smtClean="0">
                <a:latin typeface="Tahoma" panose="020B0604030504040204" pitchFamily="34" charset="0"/>
              </a:rPr>
              <a:pPr/>
              <a:t>27</a:t>
            </a:fld>
            <a:endParaRPr lang="en-CA" altLang="en-US" sz="1200" smtClean="0">
              <a:latin typeface="Tahoma" panose="020B0604030504040204" pitchFamily="34" charset="0"/>
            </a:endParaRPr>
          </a:p>
        </p:txBody>
      </p:sp>
      <p:sp>
        <p:nvSpPr>
          <p:cNvPr id="63490" name="Rectangle 2"/>
          <p:cNvSpPr>
            <a:spLocks noChangeArrowheads="1" noTextEdit="1"/>
          </p:cNvSpPr>
          <p:nvPr>
            <p:ph type="sldImg"/>
          </p:nvPr>
        </p:nvSpPr>
        <p:spPr>
          <a:ln/>
        </p:spPr>
      </p:sp>
      <p:sp>
        <p:nvSpPr>
          <p:cNvPr id="6349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3228085-E0E8-4A56-A3FD-C049E3FE6C1C}" type="slidenum">
              <a:rPr lang="en-CA" altLang="en-US" sz="1200" smtClean="0">
                <a:latin typeface="Tahoma" panose="020B0604030504040204" pitchFamily="34" charset="0"/>
              </a:rPr>
              <a:pPr/>
              <a:t>28</a:t>
            </a:fld>
            <a:endParaRPr lang="en-CA" altLang="en-US" sz="1200" smtClean="0">
              <a:latin typeface="Tahoma" panose="020B0604030504040204" pitchFamily="34" charset="0"/>
            </a:endParaRPr>
          </a:p>
        </p:txBody>
      </p:sp>
      <p:sp>
        <p:nvSpPr>
          <p:cNvPr id="65538" name="Rectangle 2"/>
          <p:cNvSpPr>
            <a:spLocks noChangeArrowheads="1" noTextEdit="1"/>
          </p:cNvSpPr>
          <p:nvPr>
            <p:ph type="sldImg"/>
          </p:nvPr>
        </p:nvSpPr>
        <p:spPr>
          <a:ln/>
        </p:spPr>
      </p:sp>
      <p:sp>
        <p:nvSpPr>
          <p:cNvPr id="6553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E254B09-862F-46A4-A702-126795009BAE}" type="slidenum">
              <a:rPr lang="en-CA" altLang="en-US" sz="1200" smtClean="0">
                <a:latin typeface="Tahoma" panose="020B0604030504040204" pitchFamily="34" charset="0"/>
              </a:rPr>
              <a:pPr/>
              <a:t>29</a:t>
            </a:fld>
            <a:endParaRPr lang="en-CA" altLang="en-US" sz="1200" smtClean="0">
              <a:latin typeface="Tahoma" panose="020B0604030504040204" pitchFamily="34" charset="0"/>
            </a:endParaRPr>
          </a:p>
        </p:txBody>
      </p:sp>
      <p:sp>
        <p:nvSpPr>
          <p:cNvPr id="67586" name="Rectangle 2"/>
          <p:cNvSpPr>
            <a:spLocks noChangeArrowheads="1" noTextEdit="1"/>
          </p:cNvSpPr>
          <p:nvPr>
            <p:ph type="sldImg"/>
          </p:nvPr>
        </p:nvSpPr>
        <p:spPr>
          <a:ln/>
        </p:spPr>
      </p:sp>
      <p:sp>
        <p:nvSpPr>
          <p:cNvPr id="6758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505FA5BE-9E10-499C-BB63-26FEF920872D}" type="slidenum">
              <a:rPr lang="en-CA" altLang="en-US" sz="1200" smtClean="0">
                <a:latin typeface="Tahoma" panose="020B0604030504040204" pitchFamily="34" charset="0"/>
              </a:rPr>
              <a:pPr/>
              <a:t>30</a:t>
            </a:fld>
            <a:endParaRPr lang="en-CA" altLang="en-US" sz="1200" smtClean="0">
              <a:latin typeface="Tahoma" panose="020B0604030504040204" pitchFamily="34" charset="0"/>
            </a:endParaRPr>
          </a:p>
        </p:txBody>
      </p:sp>
      <p:sp>
        <p:nvSpPr>
          <p:cNvPr id="69634" name="Rectangle 2"/>
          <p:cNvSpPr>
            <a:spLocks noChangeArrowheads="1" noTextEdit="1"/>
          </p:cNvSpPr>
          <p:nvPr>
            <p:ph type="sldImg"/>
          </p:nvPr>
        </p:nvSpPr>
        <p:spPr>
          <a:ln/>
        </p:spPr>
      </p:sp>
      <p:sp>
        <p:nvSpPr>
          <p:cNvPr id="6963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6F470BE-16B0-404D-8CF9-470424AEC1E5}" type="slidenum">
              <a:rPr lang="en-CA" altLang="en-US" sz="1200" smtClean="0">
                <a:latin typeface="Tahoma" panose="020B0604030504040204" pitchFamily="34" charset="0"/>
              </a:rPr>
              <a:pPr/>
              <a:t>31</a:t>
            </a:fld>
            <a:endParaRPr lang="en-CA" altLang="en-US" sz="1200" smtClean="0">
              <a:latin typeface="Tahoma" panose="020B0604030504040204" pitchFamily="34" charset="0"/>
            </a:endParaRPr>
          </a:p>
        </p:txBody>
      </p:sp>
      <p:sp>
        <p:nvSpPr>
          <p:cNvPr id="71682" name="Rectangle 2"/>
          <p:cNvSpPr>
            <a:spLocks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393CF08D-BCE5-4B60-822A-08F1D425C779}" type="slidenum">
              <a:rPr lang="en-CA" altLang="en-US" sz="1200" smtClean="0">
                <a:latin typeface="Tahoma" panose="020B0604030504040204" pitchFamily="34" charset="0"/>
              </a:rPr>
              <a:pPr/>
              <a:t>32</a:t>
            </a:fld>
            <a:endParaRPr lang="en-CA" altLang="en-US" sz="1200" smtClean="0">
              <a:latin typeface="Tahoma" panose="020B0604030504040204" pitchFamily="34" charset="0"/>
            </a:endParaRPr>
          </a:p>
        </p:txBody>
      </p:sp>
      <p:sp>
        <p:nvSpPr>
          <p:cNvPr id="73730" name="Rectangle 2"/>
          <p:cNvSpPr>
            <a:spLocks noChangeArrowheads="1" noTextEdit="1"/>
          </p:cNvSpPr>
          <p:nvPr>
            <p:ph type="sldImg"/>
          </p:nvPr>
        </p:nvSpPr>
        <p:spPr>
          <a:ln/>
        </p:spPr>
      </p:sp>
      <p:sp>
        <p:nvSpPr>
          <p:cNvPr id="7373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622091F-CCB9-4093-9121-011CB7395FB5}" type="slidenum">
              <a:rPr lang="en-CA" altLang="en-US" sz="1200" smtClean="0">
                <a:latin typeface="Tahoma" panose="020B0604030504040204" pitchFamily="34" charset="0"/>
              </a:rPr>
              <a:pPr/>
              <a:t>33</a:t>
            </a:fld>
            <a:endParaRPr lang="en-CA" altLang="en-US" sz="1200" smtClean="0">
              <a:latin typeface="Tahoma" panose="020B0604030504040204" pitchFamily="34" charset="0"/>
            </a:endParaRPr>
          </a:p>
        </p:txBody>
      </p:sp>
      <p:sp>
        <p:nvSpPr>
          <p:cNvPr id="75778" name="Rectangle 2"/>
          <p:cNvSpPr>
            <a:spLocks noChangeArrowheads="1" noTextEdit="1"/>
          </p:cNvSpPr>
          <p:nvPr>
            <p:ph type="sldImg"/>
          </p:nvPr>
        </p:nvSpPr>
        <p:spPr>
          <a:ln/>
        </p:spPr>
      </p:sp>
      <p:sp>
        <p:nvSpPr>
          <p:cNvPr id="7577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F383FC74-FD46-422F-8208-7AF35796540E}" type="slidenum">
              <a:rPr lang="en-CA" altLang="en-US" sz="1200" smtClean="0">
                <a:latin typeface="Tahoma" panose="020B0604030504040204" pitchFamily="34" charset="0"/>
              </a:rPr>
              <a:pPr/>
              <a:t>34</a:t>
            </a:fld>
            <a:endParaRPr lang="en-CA" altLang="en-US" sz="1200" smtClean="0">
              <a:latin typeface="Tahoma" panose="020B0604030504040204" pitchFamily="34" charset="0"/>
            </a:endParaRPr>
          </a:p>
        </p:txBody>
      </p:sp>
      <p:sp>
        <p:nvSpPr>
          <p:cNvPr id="77826" name="Rectangle 2"/>
          <p:cNvSpPr>
            <a:spLocks noChangeArrowheads="1" noTextEdit="1"/>
          </p:cNvSpPr>
          <p:nvPr>
            <p:ph type="sldImg"/>
          </p:nvPr>
        </p:nvSpPr>
        <p:spPr>
          <a:ln/>
        </p:spPr>
      </p:sp>
      <p:sp>
        <p:nvSpPr>
          <p:cNvPr id="7782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88DA310E-15DA-4CA5-8849-C36902A883CA}" type="slidenum">
              <a:rPr lang="en-CA" altLang="en-US" sz="1200" smtClean="0">
                <a:latin typeface="Tahoma" panose="020B0604030504040204" pitchFamily="34" charset="0"/>
              </a:rPr>
              <a:pPr/>
              <a:t>35</a:t>
            </a:fld>
            <a:endParaRPr lang="en-CA" altLang="en-US" sz="1200" smtClean="0">
              <a:latin typeface="Tahoma" panose="020B0604030504040204" pitchFamily="34" charset="0"/>
            </a:endParaRPr>
          </a:p>
        </p:txBody>
      </p:sp>
      <p:sp>
        <p:nvSpPr>
          <p:cNvPr id="79874" name="Rectangle 2"/>
          <p:cNvSpPr>
            <a:spLocks noChangeArrowheads="1" noTextEdit="1"/>
          </p:cNvSpPr>
          <p:nvPr>
            <p:ph type="sldImg"/>
          </p:nvPr>
        </p:nvSpPr>
        <p:spPr>
          <a:ln/>
        </p:spPr>
      </p:sp>
      <p:sp>
        <p:nvSpPr>
          <p:cNvPr id="7987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285557D6-665E-40B4-B607-76377F42795B}" type="slidenum">
              <a:rPr lang="en-CA" altLang="en-US" sz="1200" smtClean="0">
                <a:latin typeface="Tahoma" panose="020B0604030504040204" pitchFamily="34" charset="0"/>
              </a:rPr>
              <a:pPr/>
              <a:t>36</a:t>
            </a:fld>
            <a:endParaRPr lang="en-CA" altLang="en-US" sz="1200" smtClean="0">
              <a:latin typeface="Tahoma" panose="020B0604030504040204" pitchFamily="34" charset="0"/>
            </a:endParaRPr>
          </a:p>
        </p:txBody>
      </p:sp>
      <p:sp>
        <p:nvSpPr>
          <p:cNvPr id="81922" name="Rectangle 2"/>
          <p:cNvSpPr>
            <a:spLocks noChangeArrowheads="1" noTextEdit="1"/>
          </p:cNvSpPr>
          <p:nvPr>
            <p:ph type="sldImg"/>
          </p:nvPr>
        </p:nvSpPr>
        <p:spPr>
          <a:ln/>
        </p:spPr>
      </p:sp>
      <p:sp>
        <p:nvSpPr>
          <p:cNvPr id="8192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1B7099C1-59C0-40F6-9221-8EEA3E206E65}" type="slidenum">
              <a:rPr lang="en-CA" altLang="en-US" sz="1200" smtClean="0">
                <a:latin typeface="Tahoma" panose="020B0604030504040204" pitchFamily="34" charset="0"/>
              </a:rPr>
              <a:pPr/>
              <a:t>37</a:t>
            </a:fld>
            <a:endParaRPr lang="en-CA" altLang="en-US" sz="1200" smtClean="0">
              <a:latin typeface="Tahoma" panose="020B0604030504040204" pitchFamily="34" charset="0"/>
            </a:endParaRPr>
          </a:p>
        </p:txBody>
      </p:sp>
      <p:sp>
        <p:nvSpPr>
          <p:cNvPr id="83970" name="Rectangle 2"/>
          <p:cNvSpPr>
            <a:spLocks noChangeArrowheads="1" noTextEdit="1"/>
          </p:cNvSpPr>
          <p:nvPr>
            <p:ph type="sldImg"/>
          </p:nvPr>
        </p:nvSpPr>
        <p:spPr>
          <a:ln/>
        </p:spPr>
      </p:sp>
      <p:sp>
        <p:nvSpPr>
          <p:cNvPr id="8397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3D754B6-802A-4433-9FF4-55907C5EFA66}" type="slidenum">
              <a:rPr lang="en-CA" altLang="en-US" sz="1200" smtClean="0">
                <a:latin typeface="Tahoma" panose="020B0604030504040204" pitchFamily="34" charset="0"/>
              </a:rPr>
              <a:pPr/>
              <a:t>38</a:t>
            </a:fld>
            <a:endParaRPr lang="en-CA" altLang="en-US" sz="1200" smtClean="0">
              <a:latin typeface="Tahoma" panose="020B0604030504040204" pitchFamily="34" charset="0"/>
            </a:endParaRPr>
          </a:p>
        </p:txBody>
      </p:sp>
      <p:sp>
        <p:nvSpPr>
          <p:cNvPr id="86018" name="Rectangle 2"/>
          <p:cNvSpPr>
            <a:spLocks noChangeArrowheads="1" noTextEdit="1"/>
          </p:cNvSpPr>
          <p:nvPr>
            <p:ph type="sldImg"/>
          </p:nvPr>
        </p:nvSpPr>
        <p:spPr>
          <a:ln/>
        </p:spPr>
      </p:sp>
      <p:sp>
        <p:nvSpPr>
          <p:cNvPr id="8601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ACB868A-010A-40BE-B95A-636E03E57DBF}" type="slidenum">
              <a:rPr lang="en-CA" altLang="en-US" sz="1200" smtClean="0">
                <a:latin typeface="Tahoma" panose="020B0604030504040204" pitchFamily="34" charset="0"/>
              </a:rPr>
              <a:pPr/>
              <a:t>39</a:t>
            </a:fld>
            <a:endParaRPr lang="en-CA" altLang="en-US" sz="1200" smtClean="0">
              <a:latin typeface="Tahoma" panose="020B0604030504040204" pitchFamily="34" charset="0"/>
            </a:endParaRPr>
          </a:p>
        </p:txBody>
      </p:sp>
      <p:sp>
        <p:nvSpPr>
          <p:cNvPr id="88066" name="Rectangle 2"/>
          <p:cNvSpPr>
            <a:spLocks noChangeArrowheads="1" noTextEdit="1"/>
          </p:cNvSpPr>
          <p:nvPr>
            <p:ph type="sldImg"/>
          </p:nvPr>
        </p:nvSpPr>
        <p:spPr>
          <a:ln/>
        </p:spPr>
      </p:sp>
      <p:sp>
        <p:nvSpPr>
          <p:cNvPr id="8806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B65C439E-9A40-4A70-930F-D341434DDC91}" type="slidenum">
              <a:rPr lang="en-CA" altLang="en-US" sz="1200" smtClean="0">
                <a:latin typeface="Tahoma" panose="020B0604030504040204" pitchFamily="34" charset="0"/>
              </a:rPr>
              <a:pPr/>
              <a:t>40</a:t>
            </a:fld>
            <a:endParaRPr lang="en-CA" altLang="en-US" sz="1200" smtClean="0">
              <a:latin typeface="Tahoma" panose="020B0604030504040204" pitchFamily="34" charset="0"/>
            </a:endParaRPr>
          </a:p>
        </p:txBody>
      </p:sp>
      <p:sp>
        <p:nvSpPr>
          <p:cNvPr id="90114" name="Rectangle 2"/>
          <p:cNvSpPr>
            <a:spLocks noChangeArrowheads="1" noTextEdit="1"/>
          </p:cNvSpPr>
          <p:nvPr>
            <p:ph type="sldImg"/>
          </p:nvPr>
        </p:nvSpPr>
        <p:spPr>
          <a:ln/>
        </p:spPr>
      </p:sp>
      <p:sp>
        <p:nvSpPr>
          <p:cNvPr id="90115"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6BAB3B4B-A78C-4B69-B312-1F396BDCCBA4}" type="slidenum">
              <a:rPr lang="en-CA" altLang="en-US" sz="1200" smtClean="0">
                <a:latin typeface="Tahoma" panose="020B0604030504040204" pitchFamily="34" charset="0"/>
              </a:rPr>
              <a:pPr/>
              <a:t>41</a:t>
            </a:fld>
            <a:endParaRPr lang="en-CA" altLang="en-US" sz="1200" smtClean="0">
              <a:latin typeface="Tahoma" panose="020B0604030504040204" pitchFamily="34" charset="0"/>
            </a:endParaRPr>
          </a:p>
        </p:txBody>
      </p:sp>
      <p:sp>
        <p:nvSpPr>
          <p:cNvPr id="92162" name="Rectangle 2"/>
          <p:cNvSpPr>
            <a:spLocks noChangeArrowheads="1" noTextEdit="1"/>
          </p:cNvSpPr>
          <p:nvPr>
            <p:ph type="sldImg"/>
          </p:nvPr>
        </p:nvSpPr>
        <p:spPr>
          <a:ln/>
        </p:spPr>
      </p:sp>
      <p:sp>
        <p:nvSpPr>
          <p:cNvPr id="92163"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2B88FD2-E309-4973-AC9F-8BB3B48B85DF}" type="slidenum">
              <a:rPr lang="en-CA" altLang="en-US" sz="1200" smtClean="0">
                <a:latin typeface="Tahoma" panose="020B0604030504040204" pitchFamily="34" charset="0"/>
              </a:rPr>
              <a:pPr/>
              <a:t>42</a:t>
            </a:fld>
            <a:endParaRPr lang="en-CA" altLang="en-US" sz="1200" smtClean="0">
              <a:latin typeface="Tahoma" panose="020B0604030504040204" pitchFamily="34" charset="0"/>
            </a:endParaRPr>
          </a:p>
        </p:txBody>
      </p:sp>
      <p:sp>
        <p:nvSpPr>
          <p:cNvPr id="94210" name="Rectangle 2"/>
          <p:cNvSpPr>
            <a:spLocks noChangeArrowheads="1" noTextEdit="1"/>
          </p:cNvSpPr>
          <p:nvPr>
            <p:ph type="sldImg"/>
          </p:nvPr>
        </p:nvSpPr>
        <p:spPr>
          <a:ln/>
        </p:spPr>
      </p:sp>
      <p:sp>
        <p:nvSpPr>
          <p:cNvPr id="94211"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451972F9-8F63-4E73-A4F7-7D4D9E19660E}" type="slidenum">
              <a:rPr lang="en-CA" altLang="en-US" sz="1200" smtClean="0">
                <a:latin typeface="Tahoma" panose="020B0604030504040204" pitchFamily="34" charset="0"/>
              </a:rPr>
              <a:pPr/>
              <a:t>43</a:t>
            </a:fld>
            <a:endParaRPr lang="en-CA" altLang="en-US" sz="1200" smtClean="0">
              <a:latin typeface="Tahoma" panose="020B0604030504040204" pitchFamily="34" charset="0"/>
            </a:endParaRPr>
          </a:p>
        </p:txBody>
      </p:sp>
      <p:sp>
        <p:nvSpPr>
          <p:cNvPr id="96258" name="Rectangle 2"/>
          <p:cNvSpPr>
            <a:spLocks noChangeArrowheads="1" noTextEdit="1"/>
          </p:cNvSpPr>
          <p:nvPr>
            <p:ph type="sldImg"/>
          </p:nvPr>
        </p:nvSpPr>
        <p:spPr>
          <a:ln/>
        </p:spPr>
      </p:sp>
      <p:sp>
        <p:nvSpPr>
          <p:cNvPr id="96259"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DB2C42A5-89DD-40A4-8A1B-65A8487D6CE9}" type="slidenum">
              <a:rPr lang="en-CA" altLang="en-US" sz="1200" smtClean="0">
                <a:latin typeface="Tahoma" panose="020B0604030504040204" pitchFamily="34" charset="0"/>
              </a:rPr>
              <a:pPr/>
              <a:t>44</a:t>
            </a:fld>
            <a:endParaRPr lang="en-CA" altLang="en-US" sz="1200" smtClean="0">
              <a:latin typeface="Tahoma" panose="020B0604030504040204" pitchFamily="34" charset="0"/>
            </a:endParaRPr>
          </a:p>
        </p:txBody>
      </p:sp>
      <p:sp>
        <p:nvSpPr>
          <p:cNvPr id="98306" name="Rectangle 2"/>
          <p:cNvSpPr>
            <a:spLocks noChangeArrowheads="1" noTextEdit="1"/>
          </p:cNvSpPr>
          <p:nvPr>
            <p:ph type="sldImg"/>
          </p:nvPr>
        </p:nvSpPr>
        <p:spPr>
          <a:ln/>
        </p:spPr>
      </p:sp>
      <p:sp>
        <p:nvSpPr>
          <p:cNvPr id="98307" name="Rectangle 3"/>
          <p:cNvSpPr>
            <a:spLocks noGrp="1" noChangeArrowheads="1"/>
          </p:cNvSpPr>
          <p:nvPr>
            <p:ph type="body" idx="1"/>
          </p:nvPr>
        </p:nvSpPr>
        <p:spPr>
          <a:noFill/>
        </p:spPr>
        <p:txBody>
          <a:bodyPr/>
          <a:lstStyle/>
          <a:p>
            <a:pPr eaLnBrk="1" hangingPunct="1"/>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44">
            <a:extLst>
              <a:ext uri="{FF2B5EF4-FFF2-40B4-BE49-F238E27FC236}">
                <a16:creationId xmlns:a16="http://schemas.microsoft.com/office/drawing/2014/main" id="{BC19CEDC-79EB-5D41-AC78-BCE9B5862346}"/>
              </a:ext>
            </a:extLst>
          </p:cNvPr>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p>
        </p:txBody>
      </p:sp>
      <p:sp>
        <p:nvSpPr>
          <p:cNvPr id="5" name="Rectangle 47">
            <a:extLst>
              <a:ext uri="{FF2B5EF4-FFF2-40B4-BE49-F238E27FC236}">
                <a16:creationId xmlns:a16="http://schemas.microsoft.com/office/drawing/2014/main" id="{811CF3A8-5E24-2B49-8E84-A7D7F5485E4E}"/>
              </a:ext>
            </a:extLst>
          </p:cNvPr>
          <p:cNvSpPr>
            <a:spLocks noChangeArrowheads="1"/>
          </p:cNvSpPr>
          <p:nvPr/>
        </p:nvSpPr>
        <p:spPr bwMode="auto">
          <a:xfrm rot="16200000">
            <a:off x="3500437" y="-985837"/>
            <a:ext cx="2143125" cy="9144000"/>
          </a:xfrm>
          <a:prstGeom prst="rect">
            <a:avLst/>
          </a:prstGeom>
          <a:solidFill>
            <a:srgbClr val="677228">
              <a:alpha val="4392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p>
        </p:txBody>
      </p:sp>
      <p:sp>
        <p:nvSpPr>
          <p:cNvPr id="6" name="Rectangle 48">
            <a:extLst>
              <a:ext uri="{FF2B5EF4-FFF2-40B4-BE49-F238E27FC236}">
                <a16:creationId xmlns:a16="http://schemas.microsoft.com/office/drawing/2014/main" id="{98D64021-E30A-6344-8787-6B4140224BFB}"/>
              </a:ext>
            </a:extLst>
          </p:cNvPr>
          <p:cNvSpPr>
            <a:spLocks noChangeArrowheads="1"/>
          </p:cNvSpPr>
          <p:nvPr/>
        </p:nvSpPr>
        <p:spPr bwMode="auto">
          <a:xfrm>
            <a:off x="7315200" y="2438400"/>
            <a:ext cx="1828800" cy="22907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a:p>
        </p:txBody>
      </p:sp>
      <p:pic>
        <p:nvPicPr>
          <p:cNvPr id="7" name="Picture 35" descr="awtri_4c UPDATE_col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6" descr="elmasri_thum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descr="Pink tissue paper">
            <a:extLst>
              <a:ext uri="{FF2B5EF4-FFF2-40B4-BE49-F238E27FC236}">
                <a16:creationId xmlns:a16="http://schemas.microsoft.com/office/drawing/2014/main" id="{D88440CA-881E-A94D-A82B-A4E06B7F6B14}"/>
              </a:ext>
            </a:extLst>
          </p:cNvPr>
          <p:cNvSpPr>
            <a:spLocks noGrp="1" noChangeArrowheads="1"/>
          </p:cNvSpPr>
          <p:nvPr>
            <p:ph type="ctrTitle" sz="quarter"/>
          </p:nvPr>
        </p:nvSpPr>
        <p:spPr>
          <a:xfrm>
            <a:off x="228600" y="152400"/>
            <a:ext cx="7086600" cy="2286000"/>
          </a:xfrm>
          <a:extLst>
            <a:ext uri="{909E8E84-426E-40DD-AFC4-6F175D3DCCD1}">
              <a14:hiddenFill xmlns:a14="http://schemas.microsoft.com/office/drawing/2010/main">
                <a:blipFill dpi="0" rotWithShape="0">
                  <a:blip r:embed="rId4"/>
                  <a:srcRect/>
                  <a:tile tx="0" ty="0" sx="100000" sy="100000" flip="none" algn="tl"/>
                </a:blipFill>
              </a14:hiddenFill>
            </a:ext>
          </a:extLst>
        </p:spPr>
        <p:txBody>
          <a:bodyPr wrap="none" anchor="ctr"/>
          <a:lstStyle>
            <a:lvl1pPr>
              <a:defRPr sz="6600">
                <a:solidFill>
                  <a:srgbClr val="990033"/>
                </a:solidFill>
              </a:defRPr>
            </a:lvl1pPr>
          </a:lstStyle>
          <a:p>
            <a:pPr lvl="0"/>
            <a:r>
              <a:rPr lang="en-US" altLang="en-US" noProof="0"/>
              <a:t>Click to edit Master title style</a:t>
            </a:r>
          </a:p>
        </p:txBody>
      </p:sp>
      <p:sp>
        <p:nvSpPr>
          <p:cNvPr id="4134" name="Rectangle 38" descr="Pink tissue paper">
            <a:extLst>
              <a:ext uri="{FF2B5EF4-FFF2-40B4-BE49-F238E27FC236}">
                <a16:creationId xmlns:a16="http://schemas.microsoft.com/office/drawing/2014/main" id="{5BBE9DFF-9445-C74D-9B7E-41B1ADFBB9B4}"/>
              </a:ext>
            </a:extLst>
          </p:cNvPr>
          <p:cNvSpPr>
            <a:spLocks noGrp="1" noChangeArrowheads="1"/>
          </p:cNvSpPr>
          <p:nvPr>
            <p:ph type="subTitle" sz="quarter" idx="1"/>
          </p:nvPr>
        </p:nvSpPr>
        <p:spPr>
          <a:xfrm>
            <a:off x="304800" y="2590800"/>
            <a:ext cx="6629400" cy="1905000"/>
          </a:xfrm>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0" indent="0">
              <a:buFont typeface="Wingdings" pitchFamily="2" charset="2"/>
              <a:buNone/>
              <a:defRPr sz="3200"/>
            </a:lvl1pPr>
          </a:lstStyle>
          <a:p>
            <a:pPr lvl="0"/>
            <a:r>
              <a:rPr lang="en-US" altLang="en-US" noProof="0"/>
              <a:t>Click to edit Master subtitle style</a:t>
            </a:r>
          </a:p>
        </p:txBody>
      </p:sp>
      <p:sp>
        <p:nvSpPr>
          <p:cNvPr id="9" name="Rectangle 29">
            <a:extLst>
              <a:ext uri="{FF2B5EF4-FFF2-40B4-BE49-F238E27FC236}">
                <a16:creationId xmlns:a16="http://schemas.microsoft.com/office/drawing/2014/main" id="{48A21401-9169-9741-AEE6-537BB3FE4023}"/>
              </a:ext>
            </a:extLst>
          </p:cNvPr>
          <p:cNvSpPr>
            <a:spLocks noGrp="1" noChangeArrowheads="1"/>
          </p:cNvSpPr>
          <p:nvPr>
            <p:ph type="ftr" sz="quarter" idx="10"/>
          </p:nvPr>
        </p:nvSpPr>
        <p:spPr bwMode="auto">
          <a:xfrm>
            <a:off x="838200" y="6397625"/>
            <a:ext cx="44958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900"/>
            </a:lvl1pPr>
          </a:lstStyle>
          <a:p>
            <a:pPr>
              <a:defRPr/>
            </a:pPr>
            <a:r>
              <a:rPr lang="en-US" altLang="en-US"/>
              <a:t>Copyright © 2007 </a:t>
            </a:r>
            <a:r>
              <a:rPr lang="en-US" altLang="en-US">
                <a:solidFill>
                  <a:srgbClr val="000000"/>
                </a:solidFill>
              </a:rPr>
              <a:t>Ramez Elmasri and Shamkant B. Navathe</a:t>
            </a:r>
          </a:p>
        </p:txBody>
      </p:sp>
    </p:spTree>
    <p:extLst>
      <p:ext uri="{BB962C8B-B14F-4D97-AF65-F5344CB8AC3E}">
        <p14:creationId xmlns:p14="http://schemas.microsoft.com/office/powerpoint/2010/main" val="221471698"/>
      </p:ext>
    </p:extLst>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B1772-6943-0C4B-B525-8DA8DB049A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8C3A8-61E5-484A-9671-F2A2925D9F5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9004AAF0-FBAA-4CB7-9971-FF22F89A6C63}" type="slidenum">
              <a:rPr lang="en-US" altLang="en-US" smtClean="0"/>
              <a:pPr>
                <a:defRPr/>
              </a:pPr>
              <a:t>‹#›</a:t>
            </a:fld>
            <a:endParaRPr lang="en-CA" altLang="en-US"/>
          </a:p>
        </p:txBody>
      </p:sp>
    </p:spTree>
    <p:extLst>
      <p:ext uri="{BB962C8B-B14F-4D97-AF65-F5344CB8AC3E}">
        <p14:creationId xmlns:p14="http://schemas.microsoft.com/office/powerpoint/2010/main" val="380444626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CDDB9-5483-574D-835D-4855AA6C7BDE}"/>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99E33C-DDFF-E642-815D-F9165C59A640}"/>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9D9C0DBE-AE6C-4A39-8715-F5839969197A}" type="slidenum">
              <a:rPr lang="en-US" altLang="en-US" smtClean="0"/>
              <a:pPr>
                <a:defRPr/>
              </a:pPr>
              <a:t>‹#›</a:t>
            </a:fld>
            <a:endParaRPr lang="en-CA" altLang="en-US"/>
          </a:p>
        </p:txBody>
      </p:sp>
    </p:spTree>
    <p:extLst>
      <p:ext uri="{BB962C8B-B14F-4D97-AF65-F5344CB8AC3E}">
        <p14:creationId xmlns:p14="http://schemas.microsoft.com/office/powerpoint/2010/main" val="176569549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7C291-1613-0849-BC95-FE71964078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2DEAA8-DB37-5148-8CDF-A52BFED051F7}"/>
              </a:ext>
            </a:extLst>
          </p:cNvPr>
          <p:cNvSpPr>
            <a:spLocks noGrp="1"/>
          </p:cNvSpPr>
          <p:nvPr>
            <p:ph sz="half" idx="1"/>
          </p:nvPr>
        </p:nvSpPr>
        <p:spPr>
          <a:xfrm>
            <a:off x="239713" y="1600200"/>
            <a:ext cx="4070350"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B0143E-CF7D-584A-B77A-9024B94C772E}"/>
              </a:ext>
            </a:extLst>
          </p:cNvPr>
          <p:cNvSpPr>
            <a:spLocks noGrp="1"/>
          </p:cNvSpPr>
          <p:nvPr>
            <p:ph sz="half" idx="2"/>
          </p:nvPr>
        </p:nvSpPr>
        <p:spPr>
          <a:xfrm>
            <a:off x="4462463" y="1600200"/>
            <a:ext cx="4071937"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0C4A810D-3A74-4BB1-8020-58A19D275B04}" type="slidenum">
              <a:rPr lang="en-US" altLang="en-US" smtClean="0"/>
              <a:pPr>
                <a:defRPr/>
              </a:pPr>
              <a:t>‹#›</a:t>
            </a:fld>
            <a:endParaRPr lang="en-CA" altLang="en-US"/>
          </a:p>
        </p:txBody>
      </p:sp>
    </p:spTree>
    <p:extLst>
      <p:ext uri="{BB962C8B-B14F-4D97-AF65-F5344CB8AC3E}">
        <p14:creationId xmlns:p14="http://schemas.microsoft.com/office/powerpoint/2010/main" val="189007184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884D7-7A1E-3C4D-888B-9E970288AB95}"/>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E86E42-3B49-C249-B853-8D2676331C8F}"/>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3FF02D6-A7F2-7E41-8333-3B42DAF923BA}"/>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C68277-66BA-BA47-BDA7-3ABAE39138D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0FFB5A4-BB67-134E-833E-EA30F5685A06}"/>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C6A0E563-B38D-42B1-B2C2-97CDCDBC5047}" type="slidenum">
              <a:rPr lang="en-US" altLang="en-US" smtClean="0"/>
              <a:pPr>
                <a:defRPr/>
              </a:pPr>
              <a:t>‹#›</a:t>
            </a:fld>
            <a:endParaRPr lang="en-CA" altLang="en-US"/>
          </a:p>
        </p:txBody>
      </p:sp>
    </p:spTree>
    <p:extLst>
      <p:ext uri="{BB962C8B-B14F-4D97-AF65-F5344CB8AC3E}">
        <p14:creationId xmlns:p14="http://schemas.microsoft.com/office/powerpoint/2010/main" val="229586525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01299-E0B7-5E45-BE8F-7963AC79E107}"/>
              </a:ext>
            </a:extLst>
          </p:cNvPr>
          <p:cNvSpPr>
            <a:spLocks noGrp="1"/>
          </p:cNvSpPr>
          <p:nvPr>
            <p:ph type="title"/>
          </p:nvPr>
        </p:nvSpPr>
        <p:spPr/>
        <p:txBody>
          <a:bodyPr/>
          <a:lstStyle/>
          <a:p>
            <a:r>
              <a:rPr lang="en-US"/>
              <a:t>Click to edit Master title style</a:t>
            </a:r>
          </a:p>
        </p:txBody>
      </p:sp>
      <p:sp>
        <p:nvSpPr>
          <p:cNvPr id="3"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867CB196-EA85-48BE-B11E-5BE267C549A8}" type="slidenum">
              <a:rPr lang="en-US" altLang="en-US" smtClean="0"/>
              <a:pPr>
                <a:defRPr/>
              </a:pPr>
              <a:t>‹#›</a:t>
            </a:fld>
            <a:endParaRPr lang="en-CA" altLang="en-US"/>
          </a:p>
        </p:txBody>
      </p:sp>
    </p:spTree>
    <p:extLst>
      <p:ext uri="{BB962C8B-B14F-4D97-AF65-F5344CB8AC3E}">
        <p14:creationId xmlns:p14="http://schemas.microsoft.com/office/powerpoint/2010/main" val="1884308734"/>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9AAA3942-1369-42E7-AA5B-CB3A670096A9}" type="slidenum">
              <a:rPr lang="en-US" altLang="en-US" smtClean="0"/>
              <a:pPr>
                <a:defRPr/>
              </a:pPr>
              <a:t>‹#›</a:t>
            </a:fld>
            <a:endParaRPr lang="en-CA" altLang="en-US"/>
          </a:p>
        </p:txBody>
      </p:sp>
    </p:spTree>
    <p:extLst>
      <p:ext uri="{BB962C8B-B14F-4D97-AF65-F5344CB8AC3E}">
        <p14:creationId xmlns:p14="http://schemas.microsoft.com/office/powerpoint/2010/main" val="358237856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CC515-86B3-EF45-9BF8-3FBB0F729822}"/>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3C5A0A-1334-4544-ACA7-DF32579055F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ECD5A6-9972-3343-B823-92D4271DA62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2402F814-3389-4D4B-B2EE-FB2D0580BCBA}" type="slidenum">
              <a:rPr lang="en-US" altLang="en-US" smtClean="0"/>
              <a:pPr>
                <a:defRPr/>
              </a:pPr>
              <a:t>‹#›</a:t>
            </a:fld>
            <a:endParaRPr lang="en-CA" altLang="en-US"/>
          </a:p>
        </p:txBody>
      </p:sp>
    </p:spTree>
    <p:extLst>
      <p:ext uri="{BB962C8B-B14F-4D97-AF65-F5344CB8AC3E}">
        <p14:creationId xmlns:p14="http://schemas.microsoft.com/office/powerpoint/2010/main" val="423349162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F5250-6CAB-424E-A138-B2D04AC621C6}"/>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65AB6F-383F-9C46-86D3-466DA83E8762}"/>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95124990-0759-A74D-9F60-932F8F7E0CA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CA0F0F9B-8864-4253-822E-AB9D4010B59B}" type="slidenum">
              <a:rPr lang="en-US" altLang="en-US" smtClean="0"/>
              <a:pPr>
                <a:defRPr/>
              </a:pPr>
              <a:t>‹#›</a:t>
            </a:fld>
            <a:endParaRPr lang="en-CA" altLang="en-US"/>
          </a:p>
        </p:txBody>
      </p:sp>
    </p:spTree>
    <p:extLst>
      <p:ext uri="{BB962C8B-B14F-4D97-AF65-F5344CB8AC3E}">
        <p14:creationId xmlns:p14="http://schemas.microsoft.com/office/powerpoint/2010/main" val="887024061"/>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2E55-4389-BD4F-A8CD-ECA33C4524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F5B8EE-E76F-9E43-A65D-21626CCDB6F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57DE76F2-3BF3-4487-8B66-666EF2354884}" type="slidenum">
              <a:rPr lang="en-US" altLang="en-US" smtClean="0"/>
              <a:pPr>
                <a:defRPr/>
              </a:pPr>
              <a:t>‹#›</a:t>
            </a:fld>
            <a:endParaRPr lang="en-CA" altLang="en-US"/>
          </a:p>
        </p:txBody>
      </p:sp>
    </p:spTree>
    <p:extLst>
      <p:ext uri="{BB962C8B-B14F-4D97-AF65-F5344CB8AC3E}">
        <p14:creationId xmlns:p14="http://schemas.microsoft.com/office/powerpoint/2010/main" val="3871209856"/>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809E3B-D3C0-DF4D-9B06-A161267A2CC5}"/>
              </a:ext>
            </a:extLst>
          </p:cNvPr>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87D52E-0A71-4E4D-BEF8-E799D7D7F8DC}"/>
              </a:ext>
            </a:extLst>
          </p:cNvPr>
          <p:cNvSpPr>
            <a:spLocks noGrp="1"/>
          </p:cNvSpPr>
          <p:nvPr>
            <p:ph type="body" orient="vert" idx="1"/>
          </p:nvPr>
        </p:nvSpPr>
        <p:spPr>
          <a:xfrm>
            <a:off x="228600" y="303213"/>
            <a:ext cx="6076950" cy="586898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873EE30E-0023-E64F-8CE3-D52AF26E3BDD}"/>
              </a:ext>
            </a:extLst>
          </p:cNvPr>
          <p:cNvSpPr>
            <a:spLocks noGrp="1" noChangeArrowheads="1"/>
          </p:cNvSpPr>
          <p:nvPr>
            <p:ph type="sldNum" sz="quarter" idx="10"/>
          </p:nvPr>
        </p:nvSpPr>
        <p:spPr>
          <a:ln/>
        </p:spPr>
        <p:txBody>
          <a:bodyPr/>
          <a:lstStyle>
            <a:lvl1pPr>
              <a:defRPr/>
            </a:lvl1pPr>
          </a:lstStyle>
          <a:p>
            <a:pPr>
              <a:defRPr/>
            </a:pPr>
            <a:r>
              <a:rPr lang="en-US" altLang="en-US"/>
              <a:t>Slide 7- </a:t>
            </a:r>
            <a:fld id="{3BB59E56-33DA-4E7F-B2F0-986104910721}" type="slidenum">
              <a:rPr lang="en-US" altLang="en-US" smtClean="0"/>
              <a:pPr>
                <a:defRPr/>
              </a:pPr>
              <a:t>‹#›</a:t>
            </a:fld>
            <a:endParaRPr lang="en-CA" altLang="en-US"/>
          </a:p>
        </p:txBody>
      </p:sp>
    </p:spTree>
    <p:extLst>
      <p:ext uri="{BB962C8B-B14F-4D97-AF65-F5344CB8AC3E}">
        <p14:creationId xmlns:p14="http://schemas.microsoft.com/office/powerpoint/2010/main" val="418735406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5"/>
          <p:cNvGrpSpPr>
            <a:grpSpLocks/>
          </p:cNvGrpSpPr>
          <p:nvPr/>
        </p:nvGrpSpPr>
        <p:grpSpPr bwMode="auto">
          <a:xfrm>
            <a:off x="8936038" y="1449388"/>
            <a:ext cx="207962" cy="5408612"/>
            <a:chOff x="5606" y="889"/>
            <a:chExt cx="154" cy="3431"/>
          </a:xfrm>
        </p:grpSpPr>
        <p:sp>
          <p:nvSpPr>
            <p:cNvPr id="1032" name="Rectangle 38">
              <a:extLst>
                <a:ext uri="{FF2B5EF4-FFF2-40B4-BE49-F238E27FC236}">
                  <a16:creationId xmlns:a16="http://schemas.microsoft.com/office/drawing/2014/main" id="{59F3B5FA-2ECD-D045-BC2F-846DE7B966C5}"/>
                </a:ext>
              </a:extLst>
            </p:cNvPr>
            <p:cNvSpPr>
              <a:spLocks noChangeArrowheads="1"/>
            </p:cNvSpPr>
            <p:nvPr userDrawn="1"/>
          </p:nvSpPr>
          <p:spPr bwMode="gray">
            <a:xfrm flipH="1">
              <a:off x="5685" y="889"/>
              <a:ext cx="75" cy="3431"/>
            </a:xfrm>
            <a:prstGeom prst="rect">
              <a:avLst/>
            </a:prstGeom>
            <a:solidFill>
              <a:srgbClr val="677228"/>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ndParaRPr>
            </a:p>
          </p:txBody>
        </p:sp>
        <p:grpSp>
          <p:nvGrpSpPr>
            <p:cNvPr id="1033" name="Group 44"/>
            <p:cNvGrpSpPr>
              <a:grpSpLocks/>
            </p:cNvGrpSpPr>
            <p:nvPr userDrawn="1"/>
          </p:nvGrpSpPr>
          <p:grpSpPr bwMode="auto">
            <a:xfrm>
              <a:off x="5606" y="889"/>
              <a:ext cx="106" cy="3431"/>
              <a:chOff x="5606" y="889"/>
              <a:chExt cx="106" cy="3431"/>
            </a:xfrm>
          </p:grpSpPr>
          <p:sp>
            <p:nvSpPr>
              <p:cNvPr id="1034" name="Rectangle 43">
                <a:extLst>
                  <a:ext uri="{FF2B5EF4-FFF2-40B4-BE49-F238E27FC236}">
                    <a16:creationId xmlns:a16="http://schemas.microsoft.com/office/drawing/2014/main" id="{75D02478-9E84-8E4A-92B3-35B109E29691}"/>
                  </a:ext>
                </a:extLst>
              </p:cNvPr>
              <p:cNvSpPr>
                <a:spLocks noChangeArrowheads="1"/>
              </p:cNvSpPr>
              <p:nvPr userDrawn="1"/>
            </p:nvSpPr>
            <p:spPr bwMode="gray">
              <a:xfrm rot="10800000" flipH="1">
                <a:off x="5606" y="889"/>
                <a:ext cx="58" cy="3431"/>
              </a:xfrm>
              <a:prstGeom prst="rect">
                <a:avLst/>
              </a:prstGeom>
              <a:solidFill>
                <a:schemeClr val="tx2"/>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ndParaRPr>
              </a:p>
            </p:txBody>
          </p:sp>
          <p:sp>
            <p:nvSpPr>
              <p:cNvPr id="1035" name="Rectangle 32">
                <a:extLst>
                  <a:ext uri="{FF2B5EF4-FFF2-40B4-BE49-F238E27FC236}">
                    <a16:creationId xmlns:a16="http://schemas.microsoft.com/office/drawing/2014/main" id="{44C3260A-415A-FB43-89E0-53D7352C0D24}"/>
                  </a:ext>
                </a:extLst>
              </p:cNvPr>
              <p:cNvSpPr>
                <a:spLocks noChangeArrowheads="1"/>
              </p:cNvSpPr>
              <p:nvPr userDrawn="1"/>
            </p:nvSpPr>
            <p:spPr bwMode="gray">
              <a:xfrm rot="10800000" flipH="1">
                <a:off x="5654" y="889"/>
                <a:ext cx="58" cy="3431"/>
              </a:xfrm>
              <a:prstGeom prst="rect">
                <a:avLst/>
              </a:prstGeom>
              <a:solidFill>
                <a:srgbClr val="990033"/>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ndParaRPr>
              </a:p>
            </p:txBody>
          </p:sp>
        </p:grpSp>
      </p:grpSp>
      <p:sp>
        <p:nvSpPr>
          <p:cNvPr id="1027" name="Rectangle 37">
            <a:extLst>
              <a:ext uri="{FF2B5EF4-FFF2-40B4-BE49-F238E27FC236}">
                <a16:creationId xmlns:a16="http://schemas.microsoft.com/office/drawing/2014/main" id="{019A9352-A07B-7E4B-BE71-0B00A14F3810}"/>
              </a:ext>
            </a:extLst>
          </p:cNvPr>
          <p:cNvSpPr>
            <a:spLocks noChangeArrowheads="1"/>
          </p:cNvSpPr>
          <p:nvPr/>
        </p:nvSpPr>
        <p:spPr bwMode="gray">
          <a:xfrm rot="-5400000">
            <a:off x="3845719" y="-3845719"/>
            <a:ext cx="1449388" cy="9140825"/>
          </a:xfrm>
          <a:prstGeom prst="rect">
            <a:avLst/>
          </a:prstGeom>
          <a:solidFill>
            <a:srgbClr val="677228">
              <a:alpha val="36078"/>
            </a:srgbClr>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a:latin typeface="Tahoma" panose="020B0604030504040204" pitchFamily="34" charset="0"/>
            </a:endParaRPr>
          </a:p>
        </p:txBody>
      </p:sp>
      <p:sp>
        <p:nvSpPr>
          <p:cNvPr id="1028" name="Rectangle 9"/>
          <p:cNvSpPr>
            <a:spLocks noGrp="1" noChangeArrowheads="1"/>
          </p:cNvSpPr>
          <p:nvPr>
            <p:ph type="title"/>
          </p:nvPr>
        </p:nvSpPr>
        <p:spPr bwMode="auto">
          <a:xfrm>
            <a:off x="228600" y="303213"/>
            <a:ext cx="7796213"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3085" name="Rectangle 13">
            <a:extLst>
              <a:ext uri="{FF2B5EF4-FFF2-40B4-BE49-F238E27FC236}">
                <a16:creationId xmlns:a16="http://schemas.microsoft.com/office/drawing/2014/main" id="{873EE30E-0023-E64F-8CE3-D52AF26E3BDD}"/>
              </a:ext>
            </a:extLst>
          </p:cNvPr>
          <p:cNvSpPr>
            <a:spLocks noGrp="1" noChangeArrowheads="1"/>
          </p:cNvSpPr>
          <p:nvPr>
            <p:ph type="sldNum" sz="quarter" idx="4"/>
          </p:nvPr>
        </p:nvSpPr>
        <p:spPr bwMode="auto">
          <a:xfrm>
            <a:off x="6934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400" b="1">
                <a:solidFill>
                  <a:srgbClr val="990033"/>
                </a:solidFill>
              </a:defRPr>
            </a:lvl1pPr>
          </a:lstStyle>
          <a:p>
            <a:pPr>
              <a:defRPr/>
            </a:pPr>
            <a:r>
              <a:rPr lang="en-US" altLang="en-US"/>
              <a:t>Slide 7- </a:t>
            </a:r>
            <a:fld id="{60E30C0C-920B-4E86-8D4D-BB8C47A30BB5}" type="slidenum">
              <a:rPr lang="en-US" altLang="en-US" smtClean="0"/>
              <a:pPr>
                <a:defRPr/>
              </a:pPr>
              <a:t>‹#›</a:t>
            </a:fld>
            <a:endParaRPr lang="en-CA" altLang="en-US"/>
          </a:p>
        </p:txBody>
      </p:sp>
      <p:sp>
        <p:nvSpPr>
          <p:cNvPr id="1030" name="Rectangle 21"/>
          <p:cNvSpPr>
            <a:spLocks noGrp="1" noChangeArrowheads="1"/>
          </p:cNvSpPr>
          <p:nvPr>
            <p:ph type="body" idx="1"/>
          </p:nvPr>
        </p:nvSpPr>
        <p:spPr bwMode="auto">
          <a:xfrm>
            <a:off x="239713" y="1600200"/>
            <a:ext cx="8294687"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1" name="Rectangle 30">
            <a:extLst>
              <a:ext uri="{FF2B5EF4-FFF2-40B4-BE49-F238E27FC236}">
                <a16:creationId xmlns:a16="http://schemas.microsoft.com/office/drawing/2014/main" id="{EE2E2294-6BDF-AE4B-AA5E-6F1465CDDE0D}"/>
              </a:ext>
            </a:extLst>
          </p:cNvPr>
          <p:cNvSpPr>
            <a:spLocks noChangeArrowheads="1"/>
          </p:cNvSpPr>
          <p:nvPr/>
        </p:nvSpPr>
        <p:spPr bwMode="auto">
          <a:xfrm>
            <a:off x="838200" y="6397625"/>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r>
              <a:rPr lang="en-US" altLang="en-US" sz="900"/>
              <a:t>Copyright © 2007 </a:t>
            </a:r>
            <a:r>
              <a:rPr lang="en-US" altLang="en-US" sz="900">
                <a:solidFill>
                  <a:srgbClr val="000000"/>
                </a:solidFill>
              </a:rPr>
              <a:t>Ramez Elmasri and Shamkant B. Navathe</a:t>
            </a:r>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hf hdr="0" ftr="0" dt="0"/>
  <p:txStyles>
    <p:titleStyle>
      <a:lvl1pPr algn="l" rtl="0" eaLnBrk="0" fontAlgn="base" hangingPunct="0">
        <a:spcBef>
          <a:spcPct val="0"/>
        </a:spcBef>
        <a:spcAft>
          <a:spcPct val="0"/>
        </a:spcAft>
        <a:defRPr sz="3600" kern="1200">
          <a:solidFill>
            <a:srgbClr val="800000"/>
          </a:solidFill>
          <a:latin typeface="+mj-lt"/>
          <a:ea typeface="+mj-ea"/>
          <a:cs typeface="+mj-cs"/>
        </a:defRPr>
      </a:lvl1pPr>
      <a:lvl2pPr algn="l" rtl="0" eaLnBrk="0" fontAlgn="base" hangingPunct="0">
        <a:spcBef>
          <a:spcPct val="0"/>
        </a:spcBef>
        <a:spcAft>
          <a:spcPct val="0"/>
        </a:spcAft>
        <a:defRPr sz="3600">
          <a:solidFill>
            <a:srgbClr val="800000"/>
          </a:solidFill>
          <a:latin typeface="Arial" panose="020B0604020202020204" pitchFamily="34" charset="0"/>
        </a:defRPr>
      </a:lvl2pPr>
      <a:lvl3pPr algn="l" rtl="0" eaLnBrk="0" fontAlgn="base" hangingPunct="0">
        <a:spcBef>
          <a:spcPct val="0"/>
        </a:spcBef>
        <a:spcAft>
          <a:spcPct val="0"/>
        </a:spcAft>
        <a:defRPr sz="3600">
          <a:solidFill>
            <a:srgbClr val="800000"/>
          </a:solidFill>
          <a:latin typeface="Arial" panose="020B0604020202020204" pitchFamily="34" charset="0"/>
        </a:defRPr>
      </a:lvl3pPr>
      <a:lvl4pPr algn="l" rtl="0" eaLnBrk="0" fontAlgn="base" hangingPunct="0">
        <a:spcBef>
          <a:spcPct val="0"/>
        </a:spcBef>
        <a:spcAft>
          <a:spcPct val="0"/>
        </a:spcAft>
        <a:defRPr sz="3600">
          <a:solidFill>
            <a:srgbClr val="800000"/>
          </a:solidFill>
          <a:latin typeface="Arial" panose="020B0604020202020204" pitchFamily="34" charset="0"/>
        </a:defRPr>
      </a:lvl4pPr>
      <a:lvl5pPr algn="l" rtl="0" eaLnBrk="0" fontAlgn="base" hangingPunct="0">
        <a:spcBef>
          <a:spcPct val="0"/>
        </a:spcBef>
        <a:spcAft>
          <a:spcPct val="0"/>
        </a:spcAft>
        <a:defRPr sz="3600">
          <a:solidFill>
            <a:srgbClr val="800000"/>
          </a:solidFill>
          <a:latin typeface="Arial" panose="020B0604020202020204" pitchFamily="34" charset="0"/>
        </a:defRPr>
      </a:lvl5pPr>
      <a:lvl6pPr marL="457200" algn="l" rtl="0" fontAlgn="base">
        <a:spcBef>
          <a:spcPct val="0"/>
        </a:spcBef>
        <a:spcAft>
          <a:spcPct val="0"/>
        </a:spcAft>
        <a:defRPr sz="3600">
          <a:solidFill>
            <a:srgbClr val="800000"/>
          </a:solidFill>
          <a:latin typeface="Arial" panose="020B0604020202020204" pitchFamily="34" charset="0"/>
        </a:defRPr>
      </a:lvl6pPr>
      <a:lvl7pPr marL="914400" algn="l" rtl="0" fontAlgn="base">
        <a:spcBef>
          <a:spcPct val="0"/>
        </a:spcBef>
        <a:spcAft>
          <a:spcPct val="0"/>
        </a:spcAft>
        <a:defRPr sz="3600">
          <a:solidFill>
            <a:srgbClr val="800000"/>
          </a:solidFill>
          <a:latin typeface="Arial" panose="020B0604020202020204" pitchFamily="34" charset="0"/>
        </a:defRPr>
      </a:lvl7pPr>
      <a:lvl8pPr marL="1371600" algn="l" rtl="0" fontAlgn="base">
        <a:spcBef>
          <a:spcPct val="0"/>
        </a:spcBef>
        <a:spcAft>
          <a:spcPct val="0"/>
        </a:spcAft>
        <a:defRPr sz="3600">
          <a:solidFill>
            <a:srgbClr val="800000"/>
          </a:solidFill>
          <a:latin typeface="Arial" panose="020B0604020202020204" pitchFamily="34" charset="0"/>
        </a:defRPr>
      </a:lvl8pPr>
      <a:lvl9pPr marL="1828800" algn="l" rtl="0" fontAlgn="base">
        <a:spcBef>
          <a:spcPct val="0"/>
        </a:spcBef>
        <a:spcAft>
          <a:spcPct val="0"/>
        </a:spcAft>
        <a:defRPr sz="3600">
          <a:solidFill>
            <a:srgbClr val="8000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kern="1200">
          <a:solidFill>
            <a:srgbClr val="800000"/>
          </a:solidFill>
          <a:latin typeface="+mn-lt"/>
          <a:ea typeface="+mn-ea"/>
          <a:cs typeface="+mn-cs"/>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kern="1200">
          <a:solidFill>
            <a:srgbClr val="800000"/>
          </a:solidFill>
          <a:latin typeface="+mn-lt"/>
          <a:ea typeface="+mn-ea"/>
          <a:cs typeface="+mn-cs"/>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FD200A8A-2439-4F76-976C-1138678BD9F2}" type="slidenum">
              <a:rPr lang="en-US" altLang="en-US" sz="1400" smtClean="0">
                <a:solidFill>
                  <a:srgbClr val="990033"/>
                </a:solidFill>
              </a:rPr>
              <a:pPr>
                <a:spcBef>
                  <a:spcPct val="0"/>
                </a:spcBef>
                <a:buClrTx/>
                <a:buSzTx/>
                <a:buFontTx/>
                <a:buNone/>
              </a:pPr>
              <a:t>1</a:t>
            </a:fld>
            <a:endParaRPr lang="en-CA" altLang="en-US" sz="1400" smtClean="0">
              <a:solidFill>
                <a:srgbClr val="990033"/>
              </a:solidFill>
            </a:endParaRPr>
          </a:p>
        </p:txBody>
      </p:sp>
      <p:sp>
        <p:nvSpPr>
          <p:cNvPr id="15362" name="Rectangle 3"/>
          <p:cNvSpPr>
            <a:spLocks noGrp="1" noChangeArrowheads="1"/>
          </p:cNvSpPr>
          <p:nvPr>
            <p:ph type="title"/>
          </p:nvPr>
        </p:nvSpPr>
        <p:spPr/>
        <p:txBody>
          <a:bodyPr/>
          <a:lstStyle/>
          <a:p>
            <a:pPr eaLnBrk="1" hangingPunct="1"/>
            <a:endParaRPr lang="en-US" altLang="en-US" smtClean="0"/>
          </a:p>
        </p:txBody>
      </p:sp>
      <p:pic>
        <p:nvPicPr>
          <p:cNvPr id="15363" name="Picture 11" descr="Elmasri_co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9"/>
          <p:cNvSpPr>
            <a:spLocks noGrp="1" noChangeArrowheads="1"/>
          </p:cNvSpPr>
          <p:nvPr>
            <p:ph type="ftr"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900" smtClean="0">
                <a:solidFill>
                  <a:schemeClr val="tx1"/>
                </a:solidFill>
              </a:rPr>
              <a:t>Copyright © 2007 </a:t>
            </a:r>
            <a:r>
              <a:rPr lang="en-US" altLang="en-US" sz="900" smtClean="0">
                <a:solidFill>
                  <a:srgbClr val="000000"/>
                </a:solidFill>
              </a:rPr>
              <a:t>Ramez Elmasri and Shamkant B. Navathe</a:t>
            </a:r>
          </a:p>
        </p:txBody>
      </p:sp>
      <p:sp>
        <p:nvSpPr>
          <p:cNvPr id="17410" name="Rectangle 2" descr="Pink tissue paper"/>
          <p:cNvSpPr>
            <a:spLocks noGrp="1" noChangeArrowheads="1"/>
          </p:cNvSpPr>
          <p:nvPr>
            <p:ph type="ctrTitle"/>
          </p:nvPr>
        </p:nvSpPr>
        <p:spPr/>
        <p:txBody>
          <a:bodyPr/>
          <a:lstStyle/>
          <a:p>
            <a:pPr eaLnBrk="1" hangingPunct="1"/>
            <a:r>
              <a:rPr lang="en-US" altLang="en-US" smtClean="0"/>
              <a:t>Chapter 7</a:t>
            </a:r>
          </a:p>
        </p:txBody>
      </p:sp>
      <p:sp>
        <p:nvSpPr>
          <p:cNvPr id="17411" name="Rectangle 3" descr="Pink tissue paper"/>
          <p:cNvSpPr>
            <a:spLocks noGrp="1" noChangeArrowheads="1"/>
          </p:cNvSpPr>
          <p:nvPr>
            <p:ph type="subTitle" idx="1"/>
          </p:nvPr>
        </p:nvSpPr>
        <p:spPr/>
        <p:txBody>
          <a:bodyPr/>
          <a:lstStyle/>
          <a:p>
            <a:pPr eaLnBrk="1" hangingPunct="1"/>
            <a:r>
              <a:rPr lang="en-US" altLang="en-US" smtClean="0"/>
              <a:t>Relational Database Design by ER- and EERR-to-Relational Mapping</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598FABE2-6D66-41A5-AFBB-280091FE7591}" type="slidenum">
              <a:rPr lang="en-US" altLang="en-US" sz="1400" smtClean="0">
                <a:solidFill>
                  <a:srgbClr val="990033"/>
                </a:solidFill>
              </a:rPr>
              <a:pPr>
                <a:spcBef>
                  <a:spcPct val="0"/>
                </a:spcBef>
                <a:buClrTx/>
                <a:buSzTx/>
                <a:buFontTx/>
                <a:buNone/>
              </a:pPr>
              <a:t>3</a:t>
            </a:fld>
            <a:endParaRPr lang="en-CA" altLang="en-US" sz="1400" smtClean="0">
              <a:solidFill>
                <a:srgbClr val="990033"/>
              </a:solidFill>
            </a:endParaRPr>
          </a:p>
        </p:txBody>
      </p:sp>
      <p:sp>
        <p:nvSpPr>
          <p:cNvPr id="19458" name="Rectangle 4"/>
          <p:cNvSpPr>
            <a:spLocks noGrp="1" noChangeArrowheads="1"/>
          </p:cNvSpPr>
          <p:nvPr>
            <p:ph type="title"/>
          </p:nvPr>
        </p:nvSpPr>
        <p:spPr/>
        <p:txBody>
          <a:bodyPr/>
          <a:lstStyle/>
          <a:p>
            <a:pPr eaLnBrk="1" hangingPunct="1"/>
            <a:r>
              <a:rPr lang="en-US" altLang="en-US" smtClean="0"/>
              <a:t>Chapter Outline</a:t>
            </a:r>
          </a:p>
        </p:txBody>
      </p:sp>
      <p:sp>
        <p:nvSpPr>
          <p:cNvPr id="19459" name="Rectangle 5"/>
          <p:cNvSpPr>
            <a:spLocks noGrp="1" noChangeArrowheads="1"/>
          </p:cNvSpPr>
          <p:nvPr>
            <p:ph type="body" idx="1"/>
          </p:nvPr>
        </p:nvSpPr>
        <p:spPr/>
        <p:txBody>
          <a:bodyPr/>
          <a:lstStyle/>
          <a:p>
            <a:pPr eaLnBrk="1" hangingPunct="1">
              <a:lnSpc>
                <a:spcPct val="80000"/>
              </a:lnSpc>
            </a:pPr>
            <a:r>
              <a:rPr lang="en-US" altLang="en-US" sz="2400" b="1" smtClean="0"/>
              <a:t>ER-to-Relational Mapping Algorithm </a:t>
            </a:r>
          </a:p>
          <a:p>
            <a:pPr lvl="1" eaLnBrk="1" hangingPunct="1">
              <a:lnSpc>
                <a:spcPct val="80000"/>
              </a:lnSpc>
            </a:pPr>
            <a:r>
              <a:rPr lang="en-US" altLang="en-US" sz="2100" smtClean="0"/>
              <a:t>Step 1: Mapping of Regular Entity Types</a:t>
            </a:r>
          </a:p>
          <a:p>
            <a:pPr lvl="1" eaLnBrk="1" hangingPunct="1">
              <a:lnSpc>
                <a:spcPct val="80000"/>
              </a:lnSpc>
            </a:pPr>
            <a:r>
              <a:rPr lang="en-US" altLang="en-US" sz="2100" smtClean="0"/>
              <a:t>Step 2: Mapping of Weak Entity Types</a:t>
            </a:r>
          </a:p>
          <a:p>
            <a:pPr lvl="1" eaLnBrk="1" hangingPunct="1">
              <a:lnSpc>
                <a:spcPct val="80000"/>
              </a:lnSpc>
            </a:pPr>
            <a:r>
              <a:rPr lang="en-US" altLang="en-US" sz="2100" smtClean="0"/>
              <a:t>Step 3: Mapping of Binary 1:1 Relation Types</a:t>
            </a:r>
          </a:p>
          <a:p>
            <a:pPr lvl="1" eaLnBrk="1" hangingPunct="1">
              <a:lnSpc>
                <a:spcPct val="80000"/>
              </a:lnSpc>
            </a:pPr>
            <a:r>
              <a:rPr lang="en-US" altLang="en-US" sz="2100" smtClean="0"/>
              <a:t>Step 4: Mapping of Binary 1:N Relationship Types.</a:t>
            </a:r>
          </a:p>
          <a:p>
            <a:pPr lvl="1" eaLnBrk="1" hangingPunct="1">
              <a:lnSpc>
                <a:spcPct val="80000"/>
              </a:lnSpc>
            </a:pPr>
            <a:r>
              <a:rPr lang="en-US" altLang="en-US" sz="2100" smtClean="0"/>
              <a:t>Step 5: Mapping of Binary M:N Relationship Types.</a:t>
            </a:r>
          </a:p>
          <a:p>
            <a:pPr lvl="1" eaLnBrk="1" hangingPunct="1">
              <a:lnSpc>
                <a:spcPct val="80000"/>
              </a:lnSpc>
            </a:pPr>
            <a:r>
              <a:rPr lang="en-US" altLang="en-US" sz="2100" smtClean="0"/>
              <a:t>Step 6: Mapping of Multivalued attributes.</a:t>
            </a:r>
          </a:p>
          <a:p>
            <a:pPr lvl="1" eaLnBrk="1" hangingPunct="1">
              <a:lnSpc>
                <a:spcPct val="80000"/>
              </a:lnSpc>
            </a:pPr>
            <a:r>
              <a:rPr lang="en-US" altLang="en-US" sz="2100" smtClean="0"/>
              <a:t>Step 7: Mapping of N-ary Relationship Types.</a:t>
            </a:r>
          </a:p>
          <a:p>
            <a:pPr lvl="1" eaLnBrk="1" hangingPunct="1">
              <a:lnSpc>
                <a:spcPct val="80000"/>
              </a:lnSpc>
            </a:pPr>
            <a:r>
              <a:rPr lang="en-US" altLang="en-US" sz="2100" u="sng" smtClean="0"/>
              <a:t>Mapping of Recursive Relationship Types.</a:t>
            </a:r>
          </a:p>
          <a:p>
            <a:pPr lvl="1" eaLnBrk="1" hangingPunct="1">
              <a:lnSpc>
                <a:spcPct val="80000"/>
              </a:lnSpc>
            </a:pPr>
            <a:endParaRPr lang="en-US" altLang="en-US" sz="2100" smtClean="0"/>
          </a:p>
          <a:p>
            <a:pPr eaLnBrk="1" hangingPunct="1">
              <a:lnSpc>
                <a:spcPct val="80000"/>
              </a:lnSpc>
            </a:pPr>
            <a:r>
              <a:rPr lang="en-US" altLang="en-US" sz="2400" b="1" smtClean="0"/>
              <a:t>Mapping EER Model Constructs to Relations </a:t>
            </a:r>
          </a:p>
          <a:p>
            <a:pPr lvl="1" eaLnBrk="1" hangingPunct="1">
              <a:lnSpc>
                <a:spcPct val="80000"/>
              </a:lnSpc>
            </a:pPr>
            <a:r>
              <a:rPr lang="en-US" altLang="en-US" sz="2100" smtClean="0"/>
              <a:t>Step 8: Options for Mapping Specialization or Generalization.</a:t>
            </a:r>
          </a:p>
          <a:p>
            <a:pPr lvl="1" eaLnBrk="1" hangingPunct="1">
              <a:lnSpc>
                <a:spcPct val="80000"/>
              </a:lnSpc>
            </a:pPr>
            <a:r>
              <a:rPr lang="en-US" altLang="en-US" sz="2100" smtClean="0"/>
              <a:t>Step 9: Mapping of Union Types (Categories).</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F3348BD5-0606-49D6-B3B4-115FA7B193D1}" type="slidenum">
              <a:rPr lang="en-US" altLang="en-US" sz="1400" smtClean="0">
                <a:solidFill>
                  <a:srgbClr val="990033"/>
                </a:solidFill>
              </a:rPr>
              <a:pPr>
                <a:spcBef>
                  <a:spcPct val="0"/>
                </a:spcBef>
                <a:buClrTx/>
                <a:buSzTx/>
                <a:buFontTx/>
                <a:buNone/>
              </a:pPr>
              <a:t>4</a:t>
            </a:fld>
            <a:endParaRPr lang="en-CA" altLang="en-US" sz="1400" smtClean="0">
              <a:solidFill>
                <a:srgbClr val="990033"/>
              </a:solidFill>
            </a:endParaRPr>
          </a:p>
        </p:txBody>
      </p:sp>
      <p:sp>
        <p:nvSpPr>
          <p:cNvPr id="21506" name="Rectangle 4"/>
          <p:cNvSpPr>
            <a:spLocks noGrp="1" noChangeArrowheads="1"/>
          </p:cNvSpPr>
          <p:nvPr>
            <p:ph type="title"/>
          </p:nvPr>
        </p:nvSpPr>
        <p:spPr/>
        <p:txBody>
          <a:bodyPr/>
          <a:lstStyle/>
          <a:p>
            <a:pPr eaLnBrk="1" hangingPunct="1"/>
            <a:r>
              <a:rPr lang="en-US" altLang="en-US" smtClean="0"/>
              <a:t/>
            </a:r>
            <a:br>
              <a:rPr lang="en-US" altLang="en-US" smtClean="0"/>
            </a:br>
            <a:r>
              <a:rPr lang="en-US" altLang="en-US" smtClean="0"/>
              <a:t>ER-to-Relational Mapping Algorithm</a:t>
            </a:r>
          </a:p>
        </p:txBody>
      </p:sp>
      <p:sp>
        <p:nvSpPr>
          <p:cNvPr id="21507" name="Rectangle 5"/>
          <p:cNvSpPr>
            <a:spLocks noGrp="1" noChangeArrowheads="1"/>
          </p:cNvSpPr>
          <p:nvPr>
            <p:ph type="body" idx="1"/>
          </p:nvPr>
        </p:nvSpPr>
        <p:spPr/>
        <p:txBody>
          <a:bodyPr/>
          <a:lstStyle/>
          <a:p>
            <a:pPr eaLnBrk="1" hangingPunct="1">
              <a:lnSpc>
                <a:spcPct val="80000"/>
              </a:lnSpc>
            </a:pPr>
            <a:r>
              <a:rPr lang="en-US" altLang="en-US" sz="2400" smtClean="0"/>
              <a:t>Step 1: Mapping of Regular Entity Types.</a:t>
            </a:r>
          </a:p>
          <a:p>
            <a:pPr lvl="1" eaLnBrk="1" hangingPunct="1">
              <a:lnSpc>
                <a:spcPct val="80000"/>
              </a:lnSpc>
            </a:pPr>
            <a:r>
              <a:rPr lang="en-US" altLang="en-US" sz="2200" smtClean="0"/>
              <a:t>For each regular (strong) entity type E in the ER schema, create a relation R that includes all the simple attributes of E.</a:t>
            </a:r>
          </a:p>
          <a:p>
            <a:pPr lvl="1" eaLnBrk="1" hangingPunct="1">
              <a:lnSpc>
                <a:spcPct val="80000"/>
              </a:lnSpc>
            </a:pPr>
            <a:r>
              <a:rPr lang="en-US" altLang="en-US" sz="2200" smtClean="0"/>
              <a:t>Choose one of the key attributes of E as the primary key for R.</a:t>
            </a:r>
          </a:p>
          <a:p>
            <a:pPr lvl="1" eaLnBrk="1" hangingPunct="1">
              <a:lnSpc>
                <a:spcPct val="80000"/>
              </a:lnSpc>
            </a:pPr>
            <a:r>
              <a:rPr lang="en-US" altLang="en-US" sz="2200" smtClean="0"/>
              <a:t>If the chosen key of E is composite, the set of simple attributes that form it will together form the primary key of R.</a:t>
            </a:r>
          </a:p>
          <a:p>
            <a:pPr eaLnBrk="1" hangingPunct="1">
              <a:lnSpc>
                <a:spcPct val="80000"/>
              </a:lnSpc>
            </a:pPr>
            <a:r>
              <a:rPr lang="en-US" altLang="en-US" sz="2400" smtClean="0"/>
              <a:t>Example: We create the relations EMPLOYEE, DEPARTMENT, and PROJECT in the relational schema corresponding to the regular entities in the ER diagram.</a:t>
            </a:r>
          </a:p>
          <a:p>
            <a:pPr lvl="1" eaLnBrk="1" hangingPunct="1">
              <a:lnSpc>
                <a:spcPct val="80000"/>
              </a:lnSpc>
            </a:pPr>
            <a:r>
              <a:rPr lang="en-US" altLang="en-US" sz="2200" smtClean="0"/>
              <a:t>SSN, DNUMBER, and PNUMBER are the primary keys for the relations EMPLOYEE, DEPARTMENT, and PROJECT as shown.</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5035B251-A60F-45BE-BA2F-2E82A7285BAC}" type="slidenum">
              <a:rPr lang="en-US" altLang="en-US" sz="1400" smtClean="0">
                <a:solidFill>
                  <a:srgbClr val="990033"/>
                </a:solidFill>
              </a:rPr>
              <a:pPr>
                <a:spcBef>
                  <a:spcPct val="0"/>
                </a:spcBef>
                <a:buClrTx/>
                <a:buSzTx/>
                <a:buFontTx/>
                <a:buNone/>
              </a:pPr>
              <a:t>5</a:t>
            </a:fld>
            <a:endParaRPr lang="en-CA" altLang="en-US" sz="1400" smtClean="0">
              <a:solidFill>
                <a:srgbClr val="990033"/>
              </a:solidFill>
            </a:endParaRPr>
          </a:p>
        </p:txBody>
      </p:sp>
      <p:sp>
        <p:nvSpPr>
          <p:cNvPr id="23554" name="Rectangle 2"/>
          <p:cNvSpPr>
            <a:spLocks noGrp="1" noChangeArrowheads="1"/>
          </p:cNvSpPr>
          <p:nvPr>
            <p:ph type="title"/>
          </p:nvPr>
        </p:nvSpPr>
        <p:spPr/>
        <p:txBody>
          <a:bodyPr anchor="t"/>
          <a:lstStyle/>
          <a:p>
            <a:pPr eaLnBrk="1" hangingPunct="1"/>
            <a:r>
              <a:rPr lang="en-US" altLang="en-US" sz="1800" b="1" smtClean="0"/>
              <a:t>FIGURE 7.1</a:t>
            </a:r>
            <a:r>
              <a:rPr lang="en-US" altLang="en-US" sz="1800" smtClean="0"/>
              <a:t/>
            </a:r>
            <a:br>
              <a:rPr lang="en-US" altLang="en-US" sz="1800" smtClean="0"/>
            </a:br>
            <a:r>
              <a:rPr lang="en-US" altLang="en-US" sz="1800" smtClean="0"/>
              <a:t>The ER conceptual schema diagram for the COMPANY database.</a:t>
            </a:r>
            <a:endParaRPr lang="en-US" altLang="en-US" smtClean="0"/>
          </a:p>
        </p:txBody>
      </p:sp>
      <p:pic>
        <p:nvPicPr>
          <p:cNvPr id="23555" name="Picture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1219200" y="1479550"/>
            <a:ext cx="5867400" cy="5064125"/>
          </a:xfrm>
        </p:spPr>
      </p:pic>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8DF7522E-D3E6-4A3E-AEEB-63A07A4EE52B}" type="slidenum">
              <a:rPr lang="en-US" altLang="en-US" sz="1400" smtClean="0">
                <a:solidFill>
                  <a:srgbClr val="990033"/>
                </a:solidFill>
              </a:rPr>
              <a:pPr>
                <a:spcBef>
                  <a:spcPct val="0"/>
                </a:spcBef>
                <a:buClrTx/>
                <a:buSzTx/>
                <a:buFontTx/>
                <a:buNone/>
              </a:pPr>
              <a:t>6</a:t>
            </a:fld>
            <a:endParaRPr lang="en-CA" altLang="en-US" sz="1400" smtClean="0">
              <a:solidFill>
                <a:srgbClr val="990033"/>
              </a:solidFill>
            </a:endParaRPr>
          </a:p>
        </p:txBody>
      </p:sp>
      <p:sp>
        <p:nvSpPr>
          <p:cNvPr id="25602" name="Rectangle 2"/>
          <p:cNvSpPr>
            <a:spLocks noGrp="1" noChangeArrowheads="1"/>
          </p:cNvSpPr>
          <p:nvPr>
            <p:ph type="title"/>
          </p:nvPr>
        </p:nvSpPr>
        <p:spPr/>
        <p:txBody>
          <a:bodyPr anchor="t"/>
          <a:lstStyle/>
          <a:p>
            <a:pPr eaLnBrk="1" hangingPunct="1"/>
            <a:r>
              <a:rPr lang="en-US" altLang="en-US" sz="1800" b="1" smtClean="0"/>
              <a:t>FIGURE 7.2</a:t>
            </a:r>
            <a:br>
              <a:rPr lang="en-US" altLang="en-US" sz="1800" b="1" smtClean="0"/>
            </a:br>
            <a:r>
              <a:rPr lang="en-US" altLang="en-US" sz="1800" smtClean="0"/>
              <a:t>Result of mapping the COMPANY ER schema into a relational schema.</a:t>
            </a:r>
            <a:endParaRPr lang="en-US" altLang="en-US" b="1" smtClean="0"/>
          </a:p>
        </p:txBody>
      </p:sp>
      <p:pic>
        <p:nvPicPr>
          <p:cNvPr id="25603" name="Picture 4" descr="fig07_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600200"/>
            <a:ext cx="7369175" cy="472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D3863AE0-8231-4AAA-8347-9AFF58A38448}" type="slidenum">
              <a:rPr lang="en-US" altLang="en-US" sz="1400" smtClean="0">
                <a:solidFill>
                  <a:srgbClr val="990033"/>
                </a:solidFill>
              </a:rPr>
              <a:pPr>
                <a:spcBef>
                  <a:spcPct val="0"/>
                </a:spcBef>
                <a:buClrTx/>
                <a:buSzTx/>
                <a:buFontTx/>
                <a:buNone/>
              </a:pPr>
              <a:t>7</a:t>
            </a:fld>
            <a:endParaRPr lang="en-CA" altLang="en-US" sz="1400" smtClean="0">
              <a:solidFill>
                <a:srgbClr val="990033"/>
              </a:solidFill>
            </a:endParaRPr>
          </a:p>
        </p:txBody>
      </p:sp>
      <p:sp>
        <p:nvSpPr>
          <p:cNvPr id="27650" name="Rectangle 2"/>
          <p:cNvSpPr>
            <a:spLocks noGrp="1" noChangeArrowheads="1"/>
          </p:cNvSpPr>
          <p:nvPr>
            <p:ph type="title"/>
          </p:nvPr>
        </p:nvSpPr>
        <p:spPr>
          <a:xfrm>
            <a:off x="685800" y="258763"/>
            <a:ext cx="7772400" cy="766762"/>
          </a:xfrm>
        </p:spPr>
        <p:txBody>
          <a:bodyPr/>
          <a:lstStyle/>
          <a:p>
            <a:pPr eaLnBrk="1" hangingPunct="1"/>
            <a:r>
              <a:rPr lang="en-US" altLang="en-US" b="1" smtClean="0"/>
              <a:t/>
            </a:r>
            <a:br>
              <a:rPr lang="en-US" altLang="en-US" b="1" smtClean="0"/>
            </a:br>
            <a:r>
              <a:rPr lang="en-US" altLang="en-US" sz="2800" b="1" smtClean="0"/>
              <a:t>ER-to-Relational Mapping Algorithm (contd.)</a:t>
            </a:r>
            <a:endParaRPr lang="en-US" altLang="en-US" sz="2800" smtClean="0"/>
          </a:p>
        </p:txBody>
      </p:sp>
      <p:sp>
        <p:nvSpPr>
          <p:cNvPr id="27651" name="Rectangle 3"/>
          <p:cNvSpPr>
            <a:spLocks noGrp="1" noChangeArrowheads="1"/>
          </p:cNvSpPr>
          <p:nvPr>
            <p:ph type="body" idx="1"/>
          </p:nvPr>
        </p:nvSpPr>
        <p:spPr>
          <a:xfrm>
            <a:off x="428625" y="1704975"/>
            <a:ext cx="8248650" cy="4886325"/>
          </a:xfrm>
        </p:spPr>
        <p:txBody>
          <a:bodyPr/>
          <a:lstStyle/>
          <a:p>
            <a:pPr eaLnBrk="1" hangingPunct="1">
              <a:lnSpc>
                <a:spcPct val="80000"/>
              </a:lnSpc>
            </a:pPr>
            <a:r>
              <a:rPr lang="en-US" altLang="en-US" sz="2400" b="1" smtClean="0"/>
              <a:t>Step 2: Mapping of Weak Entity Types</a:t>
            </a:r>
          </a:p>
          <a:p>
            <a:pPr lvl="1" eaLnBrk="1" hangingPunct="1">
              <a:lnSpc>
                <a:spcPct val="80000"/>
              </a:lnSpc>
            </a:pPr>
            <a:r>
              <a:rPr lang="en-US" altLang="en-US" sz="2000" smtClean="0"/>
              <a:t>For each weak entity type W in the ER schema with owner entity type E, create a relation R &amp; include all simple attributes (or simple components of composite attributes) of W as attributes of R.</a:t>
            </a:r>
          </a:p>
          <a:p>
            <a:pPr lvl="1" eaLnBrk="1" hangingPunct="1">
              <a:lnSpc>
                <a:spcPct val="80000"/>
              </a:lnSpc>
            </a:pPr>
            <a:r>
              <a:rPr lang="en-US" altLang="en-US" sz="2000" smtClean="0"/>
              <a:t>Also, include as foreign key attributes of R the primary key attribute(s) of the relation(s) that correspond to the owner entity type(s).</a:t>
            </a:r>
          </a:p>
          <a:p>
            <a:pPr lvl="1" eaLnBrk="1" hangingPunct="1">
              <a:lnSpc>
                <a:spcPct val="80000"/>
              </a:lnSpc>
            </a:pPr>
            <a:r>
              <a:rPr lang="en-US" altLang="en-US" sz="2000" smtClean="0"/>
              <a:t>The primary key of R is the </a:t>
            </a:r>
            <a:r>
              <a:rPr lang="en-US" altLang="en-US" sz="2000" i="1" smtClean="0"/>
              <a:t>combination of</a:t>
            </a:r>
            <a:r>
              <a:rPr lang="en-US" altLang="en-US" sz="2000" smtClean="0"/>
              <a:t> the primary key(s) of the owner(s) and the partial key of the weak entity type W, if any.</a:t>
            </a:r>
          </a:p>
          <a:p>
            <a:pPr eaLnBrk="1" hangingPunct="1">
              <a:lnSpc>
                <a:spcPct val="80000"/>
              </a:lnSpc>
            </a:pPr>
            <a:r>
              <a:rPr lang="en-US" altLang="en-US" sz="2400" b="1" smtClean="0"/>
              <a:t>Example:</a:t>
            </a:r>
            <a:r>
              <a:rPr lang="en-US" altLang="en-US" sz="2400" smtClean="0"/>
              <a:t> Create the relation DEPENDENT in this step to correspond to the weak entity type DEPENDENT.</a:t>
            </a:r>
          </a:p>
          <a:p>
            <a:pPr lvl="1" eaLnBrk="1" hangingPunct="1">
              <a:lnSpc>
                <a:spcPct val="80000"/>
              </a:lnSpc>
            </a:pPr>
            <a:r>
              <a:rPr lang="en-US" altLang="en-US" sz="2000" smtClean="0"/>
              <a:t>Include the primary key SSN of the EMPLOYEE relation as a foreign key attribute of DEPENDENT (renamed to ESSN). </a:t>
            </a:r>
          </a:p>
          <a:p>
            <a:pPr lvl="1" eaLnBrk="1" hangingPunct="1">
              <a:lnSpc>
                <a:spcPct val="80000"/>
              </a:lnSpc>
            </a:pPr>
            <a:r>
              <a:rPr lang="en-US" altLang="en-US" sz="2000" smtClean="0"/>
              <a:t>The primary key of the DEPENDENT relation is the combination {ESSN, DEPENDENT_NAME} because DEPENDENT_NAME is the partial key of DEPENDENT. </a:t>
            </a:r>
            <a:endParaRPr lang="en-US" altLang="en-US" sz="1700" smtClean="0"/>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3DEB59DF-8C00-4AAF-8DE5-FE8B48016704}" type="slidenum">
              <a:rPr lang="en-US" altLang="en-US" sz="1400" smtClean="0">
                <a:solidFill>
                  <a:srgbClr val="990033"/>
                </a:solidFill>
              </a:rPr>
              <a:pPr>
                <a:spcBef>
                  <a:spcPct val="0"/>
                </a:spcBef>
                <a:buClrTx/>
                <a:buSzTx/>
                <a:buFontTx/>
                <a:buNone/>
              </a:pPr>
              <a:t>8</a:t>
            </a:fld>
            <a:endParaRPr lang="en-CA" altLang="en-US" sz="1400" smtClean="0">
              <a:solidFill>
                <a:srgbClr val="990033"/>
              </a:solidFill>
            </a:endParaRPr>
          </a:p>
        </p:txBody>
      </p:sp>
      <p:sp>
        <p:nvSpPr>
          <p:cNvPr id="29698" name="Rectangle 2"/>
          <p:cNvSpPr>
            <a:spLocks noGrp="1" noChangeArrowheads="1"/>
          </p:cNvSpPr>
          <p:nvPr>
            <p:ph type="title"/>
          </p:nvPr>
        </p:nvSpPr>
        <p:spPr>
          <a:xfrm>
            <a:off x="685800" y="258763"/>
            <a:ext cx="7772400" cy="766762"/>
          </a:xfrm>
        </p:spPr>
        <p:txBody>
          <a:bodyPr/>
          <a:lstStyle/>
          <a:p>
            <a:pPr eaLnBrk="1" hangingPunct="1"/>
            <a:r>
              <a:rPr lang="en-US" altLang="en-US" b="1" smtClean="0"/>
              <a:t/>
            </a:r>
            <a:br>
              <a:rPr lang="en-US" altLang="en-US" b="1" smtClean="0"/>
            </a:br>
            <a:r>
              <a:rPr lang="en-US" altLang="en-US" sz="2800" b="1" smtClean="0"/>
              <a:t>ER-to-Relational Mapping Algorithm (contd.)</a:t>
            </a:r>
            <a:endParaRPr lang="en-US" altLang="en-US" sz="2800" smtClean="0"/>
          </a:p>
        </p:txBody>
      </p:sp>
      <p:sp>
        <p:nvSpPr>
          <p:cNvPr id="29699" name="Rectangle 3"/>
          <p:cNvSpPr>
            <a:spLocks noGrp="1" noChangeArrowheads="1"/>
          </p:cNvSpPr>
          <p:nvPr>
            <p:ph type="body" idx="1"/>
          </p:nvPr>
        </p:nvSpPr>
        <p:spPr>
          <a:xfrm>
            <a:off x="428625" y="1704975"/>
            <a:ext cx="8248650" cy="4886325"/>
          </a:xfrm>
        </p:spPr>
        <p:txBody>
          <a:bodyPr/>
          <a:lstStyle/>
          <a:p>
            <a:pPr eaLnBrk="1" hangingPunct="1">
              <a:lnSpc>
                <a:spcPct val="80000"/>
              </a:lnSpc>
            </a:pPr>
            <a:r>
              <a:rPr lang="en-US" altLang="en-US" sz="2400" b="1" smtClean="0"/>
              <a:t>Step 2: Mapping of Weak Entity Types</a:t>
            </a:r>
          </a:p>
        </p:txBody>
      </p:sp>
      <p:pic>
        <p:nvPicPr>
          <p:cNvPr id="2970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250" y="2746375"/>
            <a:ext cx="69215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86BA55E5-13C0-49AD-A111-FBB7158754A7}" type="slidenum">
              <a:rPr lang="en-US" altLang="en-US" sz="1400" smtClean="0">
                <a:solidFill>
                  <a:srgbClr val="990033"/>
                </a:solidFill>
              </a:rPr>
              <a:pPr>
                <a:spcBef>
                  <a:spcPct val="0"/>
                </a:spcBef>
                <a:buClrTx/>
                <a:buSzTx/>
                <a:buFontTx/>
                <a:buNone/>
              </a:pPr>
              <a:t>9</a:t>
            </a:fld>
            <a:endParaRPr lang="en-CA" altLang="en-US" sz="1400" smtClean="0">
              <a:solidFill>
                <a:srgbClr val="990033"/>
              </a:solidFill>
            </a:endParaRPr>
          </a:p>
        </p:txBody>
      </p:sp>
      <p:sp>
        <p:nvSpPr>
          <p:cNvPr id="31746" name="Rectangle 4"/>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en-US" sz="2800" b="1" smtClean="0"/>
              <a:t/>
            </a:r>
            <a:br>
              <a:rPr lang="en-US" altLang="en-US" sz="2800" b="1" smtClean="0"/>
            </a:br>
            <a:r>
              <a:rPr lang="en-US" altLang="en-US" sz="2800" b="1" smtClean="0"/>
              <a:t>ER-to-Relational Mapping Algorithm (contd.)</a:t>
            </a:r>
          </a:p>
        </p:txBody>
      </p:sp>
      <p:sp>
        <p:nvSpPr>
          <p:cNvPr id="31747" name="Rectangle 5"/>
          <p:cNvSpPr>
            <a:spLocks noGrp="1" noChangeArrowheads="1"/>
          </p:cNvSpPr>
          <p:nvPr>
            <p:ph type="body" idx="1"/>
          </p:nvPr>
        </p:nvSpPr>
        <p:spPr/>
        <p:txBody>
          <a:bodyPr/>
          <a:lstStyle/>
          <a:p>
            <a:pPr eaLnBrk="1" hangingPunct="1">
              <a:lnSpc>
                <a:spcPct val="80000"/>
              </a:lnSpc>
            </a:pPr>
            <a:r>
              <a:rPr lang="en-US" altLang="en-US" sz="2000" b="1" smtClean="0"/>
              <a:t>Step 3: Mapping of Binary 1:1 Relation Types</a:t>
            </a:r>
          </a:p>
          <a:p>
            <a:pPr marL="781050" lvl="1" indent="-323850" eaLnBrk="1" hangingPunct="1">
              <a:lnSpc>
                <a:spcPct val="80000"/>
              </a:lnSpc>
            </a:pPr>
            <a:r>
              <a:rPr lang="en-US" altLang="en-US" sz="1800" smtClean="0"/>
              <a:t>For each binary 1:1 relationship type R in the ER schema, identify the relations S and T that correspond to the entity types participating in R.</a:t>
            </a:r>
          </a:p>
          <a:p>
            <a:pPr eaLnBrk="1" hangingPunct="1">
              <a:lnSpc>
                <a:spcPct val="80000"/>
              </a:lnSpc>
            </a:pPr>
            <a:r>
              <a:rPr lang="en-US" altLang="en-US" sz="2000" smtClean="0"/>
              <a:t>There are three possible approaches:</a:t>
            </a:r>
          </a:p>
          <a:p>
            <a:pPr marL="781050" lvl="1" indent="-323850" eaLnBrk="1" hangingPunct="1">
              <a:lnSpc>
                <a:spcPct val="80000"/>
              </a:lnSpc>
              <a:buSzTx/>
              <a:buFont typeface="Wingdings" panose="05000000000000000000" pitchFamily="2" charset="2"/>
              <a:buAutoNum type="arabicPeriod"/>
            </a:pPr>
            <a:r>
              <a:rPr lang="en-US" altLang="en-US" sz="1800" b="1" smtClean="0"/>
              <a:t>Foreign Key approach:</a:t>
            </a:r>
            <a:r>
              <a:rPr lang="en-US" altLang="en-US" sz="1800" smtClean="0"/>
              <a:t> Choose one of the relations-say S-and include a foreign key in S the primary key of T. It is better to choose an entity type with total participation in R in the role of S. </a:t>
            </a:r>
          </a:p>
          <a:p>
            <a:pPr marL="1219200" lvl="2" indent="-304800" eaLnBrk="1" hangingPunct="1">
              <a:lnSpc>
                <a:spcPct val="80000"/>
              </a:lnSpc>
            </a:pPr>
            <a:r>
              <a:rPr lang="en-US" altLang="en-US" sz="1600" smtClean="0"/>
              <a:t>Example: 1:1 relation MANAGES is mapped by choosing the participating entity type DEPARTMENT to serve in the role of S, because its participation in the MANAGES relationship type is total.</a:t>
            </a:r>
          </a:p>
          <a:p>
            <a:pPr marL="781050" lvl="1" indent="-323850" eaLnBrk="1" hangingPunct="1">
              <a:lnSpc>
                <a:spcPct val="80000"/>
              </a:lnSpc>
              <a:buSzTx/>
              <a:buFont typeface="Wingdings" panose="05000000000000000000" pitchFamily="2" charset="2"/>
              <a:buAutoNum type="arabicPeriod"/>
            </a:pPr>
            <a:r>
              <a:rPr lang="en-US" altLang="en-US" sz="1800" b="1" smtClean="0"/>
              <a:t>Merged relation option:</a:t>
            </a:r>
            <a:r>
              <a:rPr lang="en-US" altLang="en-US" sz="1800" smtClean="0"/>
              <a:t> An alternate mapping of a 1:1 relationship type is possible by merging the two entity types and the relationship into a single relation. This may be appropriate when both participations are total.</a:t>
            </a:r>
          </a:p>
          <a:p>
            <a:pPr marL="781050" lvl="1" indent="-323850" eaLnBrk="1" hangingPunct="1">
              <a:lnSpc>
                <a:spcPct val="80000"/>
              </a:lnSpc>
              <a:buSzTx/>
              <a:buFont typeface="Wingdings" panose="05000000000000000000" pitchFamily="2" charset="2"/>
              <a:buAutoNum type="arabicPeriod"/>
            </a:pPr>
            <a:r>
              <a:rPr lang="en-US" altLang="en-US" sz="1800" b="1" smtClean="0"/>
              <a:t>Cross-reference</a:t>
            </a:r>
            <a:r>
              <a:rPr lang="en-US" altLang="en-US" sz="1800" smtClean="0"/>
              <a:t> </a:t>
            </a:r>
            <a:r>
              <a:rPr lang="en-US" altLang="en-US" sz="1800" b="1" smtClean="0"/>
              <a:t>or relationship relation option:</a:t>
            </a:r>
            <a:r>
              <a:rPr lang="en-US" altLang="en-US" sz="1800" smtClean="0"/>
              <a:t> The third alternative is to set up a third relation R for the purpose of cross-referencing the primary keys of the two relations S and T representing the entity types.</a:t>
            </a: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65F8B30E-B4BB-43CF-A4B4-41A39AEFEE88}" type="slidenum">
              <a:rPr lang="en-US" altLang="en-US" sz="1400" smtClean="0">
                <a:solidFill>
                  <a:srgbClr val="990033"/>
                </a:solidFill>
              </a:rPr>
              <a:pPr>
                <a:spcBef>
                  <a:spcPct val="0"/>
                </a:spcBef>
                <a:buClrTx/>
                <a:buSzTx/>
                <a:buFontTx/>
                <a:buNone/>
              </a:pPr>
              <a:t>10</a:t>
            </a:fld>
            <a:endParaRPr lang="en-CA" altLang="en-US" sz="1400" smtClean="0">
              <a:solidFill>
                <a:srgbClr val="990033"/>
              </a:solidFill>
            </a:endParaRPr>
          </a:p>
        </p:txBody>
      </p:sp>
      <p:sp>
        <p:nvSpPr>
          <p:cNvPr id="33794" name="Rectangle 4"/>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en-US" sz="2800" b="1" smtClean="0"/>
              <a:t/>
            </a:r>
            <a:br>
              <a:rPr lang="en-US" altLang="en-US" sz="2800" b="1" smtClean="0"/>
            </a:br>
            <a:r>
              <a:rPr lang="en-US" altLang="en-US" sz="2800" b="1" smtClean="0"/>
              <a:t>ER-to-Relational Mapping Algorithm (contd.)</a:t>
            </a:r>
          </a:p>
        </p:txBody>
      </p:sp>
      <p:sp>
        <p:nvSpPr>
          <p:cNvPr id="33795" name="Rectangle 5"/>
          <p:cNvSpPr>
            <a:spLocks noGrp="1" noChangeArrowheads="1"/>
          </p:cNvSpPr>
          <p:nvPr>
            <p:ph type="body" idx="1"/>
          </p:nvPr>
        </p:nvSpPr>
        <p:spPr/>
        <p:txBody>
          <a:bodyPr/>
          <a:lstStyle/>
          <a:p>
            <a:pPr marL="57150" indent="0" eaLnBrk="1" hangingPunct="1">
              <a:lnSpc>
                <a:spcPct val="80000"/>
              </a:lnSpc>
              <a:buSzTx/>
              <a:buFont typeface="Wingdings" panose="05000000000000000000" pitchFamily="2" charset="2"/>
              <a:buNone/>
            </a:pPr>
            <a:r>
              <a:rPr lang="en-US" altLang="en-US" sz="2000" b="1" smtClean="0"/>
              <a:t>Mapping of Binary 1:1 Relation Types using Foreign Key approach</a:t>
            </a:r>
            <a:endParaRPr lang="en-US" altLang="en-US" sz="2000" smtClean="0"/>
          </a:p>
        </p:txBody>
      </p:sp>
      <p:pic>
        <p:nvPicPr>
          <p:cNvPr id="3379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2781300"/>
            <a:ext cx="68580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49D2DBE5-65AB-4C44-A7A6-5F6D819C19A5}" type="slidenum">
              <a:rPr lang="en-US" altLang="en-US" sz="1400" smtClean="0">
                <a:solidFill>
                  <a:srgbClr val="990033"/>
                </a:solidFill>
              </a:rPr>
              <a:pPr>
                <a:spcBef>
                  <a:spcPct val="0"/>
                </a:spcBef>
                <a:buClrTx/>
                <a:buSzTx/>
                <a:buFontTx/>
                <a:buNone/>
              </a:pPr>
              <a:t>11</a:t>
            </a:fld>
            <a:endParaRPr lang="en-CA" altLang="en-US" sz="1400" smtClean="0">
              <a:solidFill>
                <a:srgbClr val="990033"/>
              </a:solidFill>
            </a:endParaRPr>
          </a:p>
        </p:txBody>
      </p:sp>
      <p:sp>
        <p:nvSpPr>
          <p:cNvPr id="35842" name="Rectangle 4"/>
          <p:cNvSpPr>
            <a:spLocks noGrp="1" noChangeArrowheads="1"/>
          </p:cNvSpPr>
          <p:nvPr>
            <p:ph type="title"/>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en-US" sz="2800" b="1" smtClean="0"/>
              <a:t/>
            </a:r>
            <a:br>
              <a:rPr lang="en-US" altLang="en-US" sz="2800" b="1" smtClean="0"/>
            </a:br>
            <a:r>
              <a:rPr lang="en-US" altLang="en-US" sz="2800" b="1" smtClean="0"/>
              <a:t>ER-to-Relational Mapping Algorithm (contd.)</a:t>
            </a:r>
          </a:p>
        </p:txBody>
      </p:sp>
      <p:sp>
        <p:nvSpPr>
          <p:cNvPr id="35843" name="Rectangle 5"/>
          <p:cNvSpPr>
            <a:spLocks noGrp="1" noChangeArrowheads="1"/>
          </p:cNvSpPr>
          <p:nvPr>
            <p:ph type="body" idx="1"/>
          </p:nvPr>
        </p:nvSpPr>
        <p:spPr/>
        <p:txBody>
          <a:bodyPr/>
          <a:lstStyle/>
          <a:p>
            <a:pPr eaLnBrk="1" hangingPunct="1">
              <a:lnSpc>
                <a:spcPct val="90000"/>
              </a:lnSpc>
            </a:pPr>
            <a:r>
              <a:rPr lang="en-US" altLang="en-US" sz="2400" smtClean="0"/>
              <a:t>Step 4: Mapping of Binary 1:N Relationship Types.</a:t>
            </a:r>
          </a:p>
          <a:p>
            <a:pPr lvl="1" eaLnBrk="1" hangingPunct="1">
              <a:lnSpc>
                <a:spcPct val="90000"/>
              </a:lnSpc>
            </a:pPr>
            <a:r>
              <a:rPr lang="en-US" altLang="en-US" sz="2200" smtClean="0"/>
              <a:t>For each regular binary 1:N relationship type R, identify the relation S that represent the participating entity type at the N-side of the relationship type. </a:t>
            </a:r>
          </a:p>
          <a:p>
            <a:pPr lvl="1" eaLnBrk="1" hangingPunct="1">
              <a:lnSpc>
                <a:spcPct val="90000"/>
              </a:lnSpc>
            </a:pPr>
            <a:r>
              <a:rPr lang="en-US" altLang="en-US" sz="2200" smtClean="0"/>
              <a:t>Include as foreign key in S the primary key of the relation T that represents the other entity type participating in R. </a:t>
            </a:r>
          </a:p>
          <a:p>
            <a:pPr lvl="1" eaLnBrk="1" hangingPunct="1">
              <a:lnSpc>
                <a:spcPct val="90000"/>
              </a:lnSpc>
            </a:pPr>
            <a:r>
              <a:rPr lang="en-US" altLang="en-US" sz="2200" smtClean="0"/>
              <a:t>Include any simple attributes of the 1:N relation type as attributes of S. </a:t>
            </a:r>
          </a:p>
          <a:p>
            <a:pPr eaLnBrk="1" hangingPunct="1">
              <a:lnSpc>
                <a:spcPct val="90000"/>
              </a:lnSpc>
            </a:pPr>
            <a:r>
              <a:rPr lang="en-US" altLang="en-US" sz="2400" smtClean="0"/>
              <a:t>Example: 1:N relationship types WORKS_FOR, CONTROLS, and SUPERVISION in the figure.</a:t>
            </a:r>
          </a:p>
          <a:p>
            <a:pPr lvl="1" eaLnBrk="1" hangingPunct="1">
              <a:lnSpc>
                <a:spcPct val="90000"/>
              </a:lnSpc>
            </a:pPr>
            <a:r>
              <a:rPr lang="en-US" altLang="en-US" sz="2200" smtClean="0"/>
              <a:t>For WORKS_FOR we include the primary key DNUMBER of the DEPARTMENT relation as foreign key in the EMPLOYEE relation and call it DNO. </a:t>
            </a: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noChangeArrowheads="1"/>
          </p:cNvSpPr>
          <p:nvPr>
            <p:ph type="title"/>
          </p:nvPr>
        </p:nvSpPr>
        <p:spPr/>
        <p:txBody>
          <a:bodyPr/>
          <a:lstStyle/>
          <a:p>
            <a:pPr eaLnBrk="1" hangingPunct="1"/>
            <a:r>
              <a:rPr lang="en-US" altLang="en-US" b="1" smtClean="0"/>
              <a:t/>
            </a:r>
            <a:br>
              <a:rPr lang="en-US" altLang="en-US" b="1" smtClean="0"/>
            </a:br>
            <a:r>
              <a:rPr lang="en-US" altLang="en-US" sz="2800" b="1" smtClean="0"/>
              <a:t>ER-to-Relational Mapping Algorithm (contd.)</a:t>
            </a:r>
            <a:endParaRPr lang="en-US" altLang="en-US" sz="2800" smtClean="0"/>
          </a:p>
        </p:txBody>
      </p:sp>
      <p:pic>
        <p:nvPicPr>
          <p:cNvPr id="37890" name="Content Placeholder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93763" y="2636838"/>
            <a:ext cx="7131050" cy="3763962"/>
          </a:xfrm>
        </p:spPr>
      </p:pic>
      <p:sp>
        <p:nvSpPr>
          <p:cNvPr id="3789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F1ABA5E7-47E7-414F-96FC-34BB51864E06}" type="slidenum">
              <a:rPr lang="en-US" altLang="en-US" sz="1400" smtClean="0">
                <a:solidFill>
                  <a:srgbClr val="990033"/>
                </a:solidFill>
              </a:rPr>
              <a:pPr>
                <a:spcBef>
                  <a:spcPct val="0"/>
                </a:spcBef>
                <a:buClrTx/>
                <a:buSzTx/>
                <a:buFontTx/>
                <a:buNone/>
              </a:pPr>
              <a:t>12</a:t>
            </a:fld>
            <a:endParaRPr lang="en-CA" altLang="en-US" sz="1400" smtClean="0">
              <a:solidFill>
                <a:srgbClr val="990033"/>
              </a:solidFill>
            </a:endParaRPr>
          </a:p>
        </p:txBody>
      </p:sp>
      <p:sp>
        <p:nvSpPr>
          <p:cNvPr id="37892" name="Rectangle 6"/>
          <p:cNvSpPr>
            <a:spLocks noChangeArrowheads="1"/>
          </p:cNvSpPr>
          <p:nvPr/>
        </p:nvSpPr>
        <p:spPr bwMode="auto">
          <a:xfrm>
            <a:off x="395288" y="1603375"/>
            <a:ext cx="74898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lnSpc>
                <a:spcPct val="90000"/>
              </a:lnSpc>
              <a:spcBef>
                <a:spcPct val="0"/>
              </a:spcBef>
              <a:buClrTx/>
              <a:buSzTx/>
              <a:buFontTx/>
              <a:buNone/>
            </a:pPr>
            <a:r>
              <a:rPr lang="en-US" altLang="en-US" sz="2000">
                <a:solidFill>
                  <a:schemeClr val="tx1"/>
                </a:solidFill>
              </a:rPr>
              <a:t>Step 4: Mapping of Binary 1:N Relationship Types: Another Example</a:t>
            </a: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2D692172-C2BF-4610-B43E-54687A5CBCB1}" type="slidenum">
              <a:rPr lang="en-US" altLang="en-US" sz="1400" smtClean="0">
                <a:solidFill>
                  <a:srgbClr val="990033"/>
                </a:solidFill>
              </a:rPr>
              <a:pPr>
                <a:spcBef>
                  <a:spcPct val="0"/>
                </a:spcBef>
                <a:buClrTx/>
                <a:buSzTx/>
                <a:buFontTx/>
                <a:buNone/>
              </a:pPr>
              <a:t>13</a:t>
            </a:fld>
            <a:endParaRPr lang="en-CA" altLang="en-US" sz="1400" smtClean="0">
              <a:solidFill>
                <a:srgbClr val="990033"/>
              </a:solidFill>
            </a:endParaRPr>
          </a:p>
        </p:txBody>
      </p:sp>
      <p:sp>
        <p:nvSpPr>
          <p:cNvPr id="38914" name="Rectangle 2"/>
          <p:cNvSpPr>
            <a:spLocks noGrp="1" noChangeArrowheads="1"/>
          </p:cNvSpPr>
          <p:nvPr>
            <p:ph type="title"/>
          </p:nvPr>
        </p:nvSpPr>
        <p:spPr>
          <a:xfrm>
            <a:off x="304800" y="528638"/>
            <a:ext cx="7772400" cy="766762"/>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en-US" sz="2800" b="1" smtClean="0"/>
              <a:t/>
            </a:r>
            <a:br>
              <a:rPr lang="en-US" altLang="en-US" sz="2800" b="1" smtClean="0"/>
            </a:br>
            <a:r>
              <a:rPr lang="en-US" altLang="en-US" sz="2800" b="1" smtClean="0"/>
              <a:t>ER-to-Relational Mapping Algorithm (contd.)</a:t>
            </a:r>
          </a:p>
        </p:txBody>
      </p:sp>
      <p:sp>
        <p:nvSpPr>
          <p:cNvPr id="38915" name="Rectangle 3"/>
          <p:cNvSpPr>
            <a:spLocks noGrp="1" noChangeArrowheads="1"/>
          </p:cNvSpPr>
          <p:nvPr>
            <p:ph type="body" idx="1"/>
          </p:nvPr>
        </p:nvSpPr>
        <p:spPr>
          <a:xfrm>
            <a:off x="333375" y="1504950"/>
            <a:ext cx="8582025" cy="5019675"/>
          </a:xfrm>
        </p:spPr>
        <p:txBody>
          <a:bodyPr/>
          <a:lstStyle/>
          <a:p>
            <a:pPr eaLnBrk="1" hangingPunct="1">
              <a:lnSpc>
                <a:spcPct val="80000"/>
              </a:lnSpc>
            </a:pPr>
            <a:r>
              <a:rPr lang="en-US" altLang="en-US" sz="2400" b="1" smtClean="0"/>
              <a:t>Step 5: Mapping of Binary M:N Relationship Types.</a:t>
            </a:r>
          </a:p>
          <a:p>
            <a:pPr lvl="1" eaLnBrk="1" hangingPunct="1">
              <a:lnSpc>
                <a:spcPct val="80000"/>
              </a:lnSpc>
            </a:pPr>
            <a:r>
              <a:rPr lang="en-US" altLang="en-US" sz="2100" smtClean="0"/>
              <a:t>For each regular binary M:N relationship type R, </a:t>
            </a:r>
            <a:r>
              <a:rPr lang="en-US" altLang="en-US" sz="2000" i="1" smtClean="0"/>
              <a:t>create a new relation</a:t>
            </a:r>
            <a:r>
              <a:rPr lang="en-US" altLang="en-US" sz="2000" smtClean="0"/>
              <a:t> S to represent R. </a:t>
            </a:r>
          </a:p>
          <a:p>
            <a:pPr lvl="1" eaLnBrk="1" hangingPunct="1">
              <a:lnSpc>
                <a:spcPct val="80000"/>
              </a:lnSpc>
            </a:pPr>
            <a:r>
              <a:rPr lang="en-US" altLang="en-US" sz="2000" smtClean="0"/>
              <a:t>Include as foreign key attributes in S the primary keys of the relations that represent the participating entity types; </a:t>
            </a:r>
            <a:r>
              <a:rPr lang="en-US" altLang="en-US" sz="2000" i="1" smtClean="0"/>
              <a:t>their combination will form the primary key</a:t>
            </a:r>
            <a:r>
              <a:rPr lang="en-US" altLang="en-US" sz="2000" smtClean="0"/>
              <a:t> of S. </a:t>
            </a:r>
          </a:p>
          <a:p>
            <a:pPr lvl="1" eaLnBrk="1" hangingPunct="1">
              <a:lnSpc>
                <a:spcPct val="80000"/>
              </a:lnSpc>
            </a:pPr>
            <a:r>
              <a:rPr lang="en-US" altLang="en-US" sz="2000" smtClean="0"/>
              <a:t>Also include any simple attributes of the M:N relationship type (or simple components of composite attributes) as attributes of S.</a:t>
            </a:r>
          </a:p>
          <a:p>
            <a:pPr eaLnBrk="1" hangingPunct="1">
              <a:lnSpc>
                <a:spcPct val="80000"/>
              </a:lnSpc>
            </a:pPr>
            <a:r>
              <a:rPr lang="en-US" altLang="en-US" sz="2400" smtClean="0"/>
              <a:t>Example: The M:N relationship type WORKS_ON from the ER  diagram is mapped by creating a relation WORKS_ON in the relational database schema.</a:t>
            </a:r>
          </a:p>
          <a:p>
            <a:pPr lvl="1" eaLnBrk="1" hangingPunct="1">
              <a:lnSpc>
                <a:spcPct val="80000"/>
              </a:lnSpc>
            </a:pPr>
            <a:r>
              <a:rPr lang="en-US" altLang="en-US" sz="2000" smtClean="0"/>
              <a:t>The primary keys of the PROJECT and EMPLOYEE relations are included as foreign keys in WORKS_ON and renamed PNO and ESSN, respectively. </a:t>
            </a:r>
          </a:p>
          <a:p>
            <a:pPr lvl="1" eaLnBrk="1" hangingPunct="1">
              <a:lnSpc>
                <a:spcPct val="80000"/>
              </a:lnSpc>
            </a:pPr>
            <a:r>
              <a:rPr lang="en-US" altLang="en-US" sz="2000" smtClean="0"/>
              <a:t>Attribute HOURS in WORKS_ON represents the HOURS attribute of the relation type. The primary key of the WORKS_ON relation is the combination of the foreign key attributes {ESSN, PNO}.</a:t>
            </a:r>
            <a:endParaRPr lang="en-US" altLang="en-US" sz="1300" smtClean="0"/>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noChangeArrowheads="1"/>
          </p:cNvSpPr>
          <p:nvPr>
            <p:ph type="title"/>
          </p:nvPr>
        </p:nvSpPr>
        <p:spPr/>
        <p:txBody>
          <a:bodyPr/>
          <a:lstStyle/>
          <a:p>
            <a:pPr eaLnBrk="1" hangingPunct="1"/>
            <a:r>
              <a:rPr lang="en-US" altLang="en-US" sz="2800" b="1" smtClean="0"/>
              <a:t/>
            </a:r>
            <a:br>
              <a:rPr lang="en-US" altLang="en-US" sz="2800" b="1" smtClean="0"/>
            </a:br>
            <a:r>
              <a:rPr lang="en-US" altLang="en-US" sz="2800" b="1" smtClean="0"/>
              <a:t>ER-to-Relational Mapping Algorithm (contd.)</a:t>
            </a:r>
            <a:endParaRPr lang="en-US" altLang="en-US" sz="2800" smtClean="0"/>
          </a:p>
        </p:txBody>
      </p:sp>
      <p:sp>
        <p:nvSpPr>
          <p:cNvPr id="40962" name="Content Placeholder 2"/>
          <p:cNvSpPr>
            <a:spLocks noGrp="1" noChangeArrowheads="1"/>
          </p:cNvSpPr>
          <p:nvPr>
            <p:ph idx="1"/>
          </p:nvPr>
        </p:nvSpPr>
        <p:spPr/>
        <p:txBody>
          <a:bodyPr/>
          <a:lstStyle/>
          <a:p>
            <a:pPr eaLnBrk="1" hangingPunct="1"/>
            <a:r>
              <a:rPr lang="en-US" altLang="en-US" sz="2400" b="1" smtClean="0"/>
              <a:t>Step 5: Mapping of Binary M:N Relationship Types.</a:t>
            </a:r>
          </a:p>
          <a:p>
            <a:pPr eaLnBrk="1" hangingPunct="1"/>
            <a:endParaRPr lang="en-US" altLang="en-US" smtClean="0"/>
          </a:p>
        </p:txBody>
      </p:sp>
      <p:sp>
        <p:nvSpPr>
          <p:cNvPr id="4096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841DEAF6-D1A1-420C-830E-0631EBE7CDA3}" type="slidenum">
              <a:rPr lang="en-US" altLang="en-US" sz="1400" smtClean="0">
                <a:solidFill>
                  <a:srgbClr val="990033"/>
                </a:solidFill>
              </a:rPr>
              <a:pPr>
                <a:spcBef>
                  <a:spcPct val="0"/>
                </a:spcBef>
                <a:buClrTx/>
                <a:buSzTx/>
                <a:buFontTx/>
                <a:buNone/>
              </a:pPr>
              <a:t>14</a:t>
            </a:fld>
            <a:endParaRPr lang="en-CA" altLang="en-US" sz="1400" smtClean="0">
              <a:solidFill>
                <a:srgbClr val="990033"/>
              </a:solidFill>
            </a:endParaRPr>
          </a:p>
        </p:txBody>
      </p:sp>
      <p:pic>
        <p:nvPicPr>
          <p:cNvPr id="4096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075" y="2416175"/>
            <a:ext cx="6804025" cy="375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EA422975-9F22-4008-A152-D1150B13C1FD}" type="slidenum">
              <a:rPr lang="en-US" altLang="en-US" sz="1400" smtClean="0">
                <a:solidFill>
                  <a:srgbClr val="990033"/>
                </a:solidFill>
              </a:rPr>
              <a:pPr>
                <a:spcBef>
                  <a:spcPct val="0"/>
                </a:spcBef>
                <a:buClrTx/>
                <a:buSzTx/>
                <a:buFontTx/>
                <a:buNone/>
              </a:pPr>
              <a:t>15</a:t>
            </a:fld>
            <a:endParaRPr lang="en-CA" altLang="en-US" sz="1400" smtClean="0">
              <a:solidFill>
                <a:srgbClr val="990033"/>
              </a:solidFill>
            </a:endParaRPr>
          </a:p>
        </p:txBody>
      </p:sp>
      <p:sp>
        <p:nvSpPr>
          <p:cNvPr id="41986" name="Rectangle 2"/>
          <p:cNvSpPr>
            <a:spLocks noGrp="1" noChangeArrowheads="1"/>
          </p:cNvSpPr>
          <p:nvPr>
            <p:ph type="title"/>
          </p:nvPr>
        </p:nvSpPr>
        <p:spPr>
          <a:xfrm>
            <a:off x="685800" y="258763"/>
            <a:ext cx="7772400" cy="766762"/>
          </a:xfrm>
        </p:spPr>
        <p:txBody>
          <a:bodyPr/>
          <a:lstStyle/>
          <a:p>
            <a:pPr eaLnBrk="1" hangingPunct="1"/>
            <a:r>
              <a:rPr lang="en-US" altLang="en-US" sz="2800" b="1" smtClean="0"/>
              <a:t/>
            </a:r>
            <a:br>
              <a:rPr lang="en-US" altLang="en-US" sz="2800" b="1" smtClean="0"/>
            </a:br>
            <a:r>
              <a:rPr lang="en-US" altLang="en-US" sz="2800" b="1" smtClean="0"/>
              <a:t>ER-to-Relational Mapping Algorithm (contd.)</a:t>
            </a:r>
            <a:endParaRPr lang="en-US" altLang="en-US" sz="2800" smtClean="0"/>
          </a:p>
        </p:txBody>
      </p:sp>
      <p:sp>
        <p:nvSpPr>
          <p:cNvPr id="41987" name="Rectangle 3"/>
          <p:cNvSpPr>
            <a:spLocks noGrp="1" noChangeArrowheads="1"/>
          </p:cNvSpPr>
          <p:nvPr>
            <p:ph type="body" idx="1"/>
          </p:nvPr>
        </p:nvSpPr>
        <p:spPr>
          <a:xfrm>
            <a:off x="323850" y="1533525"/>
            <a:ext cx="8562975" cy="4857750"/>
          </a:xfrm>
        </p:spPr>
        <p:txBody>
          <a:bodyPr/>
          <a:lstStyle/>
          <a:p>
            <a:pPr eaLnBrk="1" hangingPunct="1">
              <a:lnSpc>
                <a:spcPct val="90000"/>
              </a:lnSpc>
            </a:pPr>
            <a:r>
              <a:rPr lang="en-US" altLang="en-US" sz="2400" b="1" smtClean="0"/>
              <a:t>Step 6: Mapping of Multivalued attributes.</a:t>
            </a:r>
          </a:p>
          <a:p>
            <a:pPr lvl="1" eaLnBrk="1" hangingPunct="1">
              <a:lnSpc>
                <a:spcPct val="90000"/>
              </a:lnSpc>
            </a:pPr>
            <a:r>
              <a:rPr lang="en-US" altLang="en-US" sz="2000" smtClean="0"/>
              <a:t>For each multivalued attribute A, create a new relation R. </a:t>
            </a:r>
          </a:p>
          <a:p>
            <a:pPr lvl="1" eaLnBrk="1" hangingPunct="1">
              <a:lnSpc>
                <a:spcPct val="90000"/>
              </a:lnSpc>
            </a:pPr>
            <a:r>
              <a:rPr lang="en-US" altLang="en-US" sz="2000" smtClean="0"/>
              <a:t>This relation R will include an attribute corresponding to A, plus the primary key attribute K-as a foreign key in R-of the relation that represents the entity type of relationship type that has A as an attribute. </a:t>
            </a:r>
          </a:p>
          <a:p>
            <a:pPr lvl="1" eaLnBrk="1" hangingPunct="1">
              <a:lnSpc>
                <a:spcPct val="90000"/>
              </a:lnSpc>
            </a:pPr>
            <a:r>
              <a:rPr lang="en-US" altLang="en-US" sz="2000" smtClean="0"/>
              <a:t>The primary key of R is the combination of A and K. If the multivalued attribute is composite, we include its simple components.</a:t>
            </a:r>
          </a:p>
          <a:p>
            <a:pPr eaLnBrk="1" hangingPunct="1">
              <a:lnSpc>
                <a:spcPct val="90000"/>
              </a:lnSpc>
            </a:pPr>
            <a:r>
              <a:rPr lang="en-US" altLang="en-US" sz="2400" b="1" smtClean="0"/>
              <a:t>Example:</a:t>
            </a:r>
            <a:r>
              <a:rPr lang="en-US" altLang="en-US" sz="2400" smtClean="0"/>
              <a:t> The relation DEPT_LOCATIONS is created. </a:t>
            </a:r>
          </a:p>
          <a:p>
            <a:pPr lvl="1" eaLnBrk="1" hangingPunct="1">
              <a:lnSpc>
                <a:spcPct val="90000"/>
              </a:lnSpc>
            </a:pPr>
            <a:r>
              <a:rPr lang="en-US" altLang="en-US" sz="2000" smtClean="0"/>
              <a:t>The attribute DLOCATION represents the multivalued attribute LOCATIONS of DEPARTMENT, while DNUMBER-as foreign key-represents the primary key of the DEPARTMENT relation.</a:t>
            </a:r>
          </a:p>
          <a:p>
            <a:pPr lvl="1" eaLnBrk="1" hangingPunct="1">
              <a:lnSpc>
                <a:spcPct val="90000"/>
              </a:lnSpc>
            </a:pPr>
            <a:r>
              <a:rPr lang="en-US" altLang="en-US" sz="2000" smtClean="0"/>
              <a:t>The primary key of R is the combination of {DNUMBER, DLOCATION}.</a:t>
            </a: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noChangeArrowheads="1"/>
          </p:cNvSpPr>
          <p:nvPr>
            <p:ph type="title"/>
          </p:nvPr>
        </p:nvSpPr>
        <p:spPr/>
        <p:txBody>
          <a:bodyPr/>
          <a:lstStyle/>
          <a:p>
            <a:pPr eaLnBrk="1" hangingPunct="1"/>
            <a:r>
              <a:rPr lang="en-US" altLang="en-US" b="1" smtClean="0"/>
              <a:t/>
            </a:r>
            <a:br>
              <a:rPr lang="en-US" altLang="en-US" b="1" smtClean="0"/>
            </a:br>
            <a:r>
              <a:rPr lang="en-US" altLang="en-US" sz="2800" b="1" smtClean="0"/>
              <a:t>ER-to-Relational Mapping Algorithm (contd.)</a:t>
            </a:r>
            <a:endParaRPr lang="en-US" altLang="en-US" smtClean="0"/>
          </a:p>
        </p:txBody>
      </p:sp>
      <p:sp>
        <p:nvSpPr>
          <p:cNvPr id="44034" name="Content Placeholder 2"/>
          <p:cNvSpPr>
            <a:spLocks noGrp="1" noChangeArrowheads="1"/>
          </p:cNvSpPr>
          <p:nvPr>
            <p:ph idx="1"/>
          </p:nvPr>
        </p:nvSpPr>
        <p:spPr/>
        <p:txBody>
          <a:bodyPr/>
          <a:lstStyle/>
          <a:p>
            <a:pPr eaLnBrk="1" hangingPunct="1"/>
            <a:r>
              <a:rPr lang="en-US" altLang="en-US" sz="2000" b="1" smtClean="0"/>
              <a:t>Step 6: Mapping of Multivalued attributes.</a:t>
            </a:r>
          </a:p>
          <a:p>
            <a:pPr eaLnBrk="1" hangingPunct="1"/>
            <a:endParaRPr lang="en-US" altLang="en-US" smtClean="0"/>
          </a:p>
        </p:txBody>
      </p:sp>
      <p:sp>
        <p:nvSpPr>
          <p:cNvPr id="4403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B81533A7-02DC-4CB4-A668-4FEE3A38087B}" type="slidenum">
              <a:rPr lang="en-US" altLang="en-US" sz="1400" smtClean="0">
                <a:solidFill>
                  <a:srgbClr val="990033"/>
                </a:solidFill>
              </a:rPr>
              <a:pPr>
                <a:spcBef>
                  <a:spcPct val="0"/>
                </a:spcBef>
                <a:buClrTx/>
                <a:buSzTx/>
                <a:buFontTx/>
                <a:buNone/>
              </a:pPr>
              <a:t>16</a:t>
            </a:fld>
            <a:endParaRPr lang="en-CA" altLang="en-US" sz="1400" smtClean="0">
              <a:solidFill>
                <a:srgbClr val="990033"/>
              </a:solidFill>
            </a:endParaRPr>
          </a:p>
        </p:txBody>
      </p:sp>
      <p:pic>
        <p:nvPicPr>
          <p:cNvPr id="4403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3163" y="2247900"/>
            <a:ext cx="59055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E5D32331-F3A6-4121-AC2A-265601C327CF}" type="slidenum">
              <a:rPr lang="en-US" altLang="en-US" sz="1400" smtClean="0">
                <a:solidFill>
                  <a:srgbClr val="990033"/>
                </a:solidFill>
              </a:rPr>
              <a:pPr>
                <a:spcBef>
                  <a:spcPct val="0"/>
                </a:spcBef>
                <a:buClrTx/>
                <a:buSzTx/>
                <a:buFontTx/>
                <a:buNone/>
              </a:pPr>
              <a:t>17</a:t>
            </a:fld>
            <a:endParaRPr lang="en-CA" altLang="en-US" sz="1400" smtClean="0">
              <a:solidFill>
                <a:srgbClr val="990033"/>
              </a:solidFill>
            </a:endParaRPr>
          </a:p>
        </p:txBody>
      </p:sp>
      <p:sp>
        <p:nvSpPr>
          <p:cNvPr id="45058" name="Rectangle 2"/>
          <p:cNvSpPr>
            <a:spLocks noGrp="1" noChangeArrowheads="1"/>
          </p:cNvSpPr>
          <p:nvPr>
            <p:ph type="title"/>
          </p:nvPr>
        </p:nvSpPr>
        <p:spPr>
          <a:xfrm>
            <a:off x="685800" y="258763"/>
            <a:ext cx="7772400" cy="766762"/>
          </a:xfrm>
        </p:spPr>
        <p:txBody>
          <a:bodyPr/>
          <a:lstStyle/>
          <a:p>
            <a:pPr eaLnBrk="1" hangingPunct="1"/>
            <a:r>
              <a:rPr lang="en-US" altLang="en-US" sz="2800" b="1" smtClean="0"/>
              <a:t/>
            </a:r>
            <a:br>
              <a:rPr lang="en-US" altLang="en-US" sz="2800" b="1" smtClean="0"/>
            </a:br>
            <a:r>
              <a:rPr lang="en-US" altLang="en-US" sz="2800" b="1" smtClean="0"/>
              <a:t>ER-to-Relational Mapping Algorithm (contd.)</a:t>
            </a:r>
            <a:endParaRPr lang="en-US" altLang="en-US" sz="2800" smtClean="0"/>
          </a:p>
        </p:txBody>
      </p:sp>
      <p:sp>
        <p:nvSpPr>
          <p:cNvPr id="45059" name="Rectangle 3"/>
          <p:cNvSpPr>
            <a:spLocks noGrp="1" noChangeArrowheads="1"/>
          </p:cNvSpPr>
          <p:nvPr>
            <p:ph type="body" idx="1"/>
          </p:nvPr>
        </p:nvSpPr>
        <p:spPr>
          <a:xfrm>
            <a:off x="323850" y="1533525"/>
            <a:ext cx="8343900" cy="4724400"/>
          </a:xfrm>
        </p:spPr>
        <p:txBody>
          <a:bodyPr/>
          <a:lstStyle/>
          <a:p>
            <a:pPr eaLnBrk="1" hangingPunct="1">
              <a:lnSpc>
                <a:spcPct val="90000"/>
              </a:lnSpc>
            </a:pPr>
            <a:r>
              <a:rPr lang="en-US" altLang="en-US" sz="2400" b="1" smtClean="0"/>
              <a:t>Step 7: Mapping of N-ary Relationship Types.</a:t>
            </a:r>
            <a:endParaRPr lang="en-US" altLang="en-US" sz="2400" smtClean="0"/>
          </a:p>
          <a:p>
            <a:pPr lvl="1" eaLnBrk="1" hangingPunct="1">
              <a:lnSpc>
                <a:spcPct val="90000"/>
              </a:lnSpc>
            </a:pPr>
            <a:r>
              <a:rPr lang="en-US" altLang="en-US" sz="2200" smtClean="0"/>
              <a:t>For each n-ary relationship type R, where n&gt;2, create a new relationship S to represent R.</a:t>
            </a:r>
          </a:p>
          <a:p>
            <a:pPr lvl="1" eaLnBrk="1" hangingPunct="1">
              <a:lnSpc>
                <a:spcPct val="90000"/>
              </a:lnSpc>
            </a:pPr>
            <a:r>
              <a:rPr lang="en-US" altLang="en-US" sz="2200" smtClean="0"/>
              <a:t>Include as foreign key attributes in S the primary keys of the relations that represent the participating entity types. </a:t>
            </a:r>
          </a:p>
          <a:p>
            <a:pPr lvl="1" eaLnBrk="1" hangingPunct="1">
              <a:lnSpc>
                <a:spcPct val="90000"/>
              </a:lnSpc>
            </a:pPr>
            <a:r>
              <a:rPr lang="en-US" altLang="en-US" sz="2200" smtClean="0"/>
              <a:t>Also include any simple attributes of the n-ary relationship type (or simple components of composite attributes) as attributes of S.</a:t>
            </a:r>
            <a:r>
              <a:rPr lang="en-US" altLang="en-US" sz="1700" smtClean="0"/>
              <a:t> </a:t>
            </a:r>
          </a:p>
          <a:p>
            <a:pPr eaLnBrk="1" hangingPunct="1">
              <a:lnSpc>
                <a:spcPct val="90000"/>
              </a:lnSpc>
            </a:pPr>
            <a:r>
              <a:rPr lang="en-US" altLang="en-US" sz="2400" b="1" smtClean="0"/>
              <a:t>Example: </a:t>
            </a:r>
            <a:r>
              <a:rPr lang="en-US" altLang="en-US" sz="2400" smtClean="0"/>
              <a:t>The relationship type SUPPY in the ER on the next slide.</a:t>
            </a:r>
          </a:p>
          <a:p>
            <a:pPr lvl="1" eaLnBrk="1" hangingPunct="1">
              <a:lnSpc>
                <a:spcPct val="90000"/>
              </a:lnSpc>
            </a:pPr>
            <a:r>
              <a:rPr lang="en-US" altLang="en-US" sz="2000" smtClean="0"/>
              <a:t>This can be mapped to the relation SUPPLY shown in the relational schema, whose primary key is the combination of the three foreign keys {SNAME, PARTNO, PROJNAME}</a:t>
            </a:r>
            <a:endParaRPr lang="en-US" altLang="en-US" sz="2200" b="1" smtClean="0">
              <a:solidFill>
                <a:srgbClr val="FF0066"/>
              </a:solidFill>
            </a:endParaRP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A494451F-F42C-4908-A597-D0A6E1E09157}" type="slidenum">
              <a:rPr lang="en-US" altLang="en-US" sz="1400" smtClean="0">
                <a:solidFill>
                  <a:srgbClr val="990033"/>
                </a:solidFill>
              </a:rPr>
              <a:pPr>
                <a:spcBef>
                  <a:spcPct val="0"/>
                </a:spcBef>
                <a:buClrTx/>
                <a:buSzTx/>
                <a:buFontTx/>
                <a:buNone/>
              </a:pPr>
              <a:t>18</a:t>
            </a:fld>
            <a:endParaRPr lang="en-CA" altLang="en-US" sz="1400" smtClean="0">
              <a:solidFill>
                <a:srgbClr val="990033"/>
              </a:solidFill>
            </a:endParaRPr>
          </a:p>
        </p:txBody>
      </p:sp>
      <p:sp>
        <p:nvSpPr>
          <p:cNvPr id="47106" name="Rectangle 2"/>
          <p:cNvSpPr>
            <a:spLocks noGrp="1" noChangeArrowheads="1"/>
          </p:cNvSpPr>
          <p:nvPr>
            <p:ph type="title"/>
          </p:nvPr>
        </p:nvSpPr>
        <p:spPr>
          <a:xfrm>
            <a:off x="533400" y="304800"/>
            <a:ext cx="7924800" cy="1439863"/>
          </a:xfrm>
        </p:spPr>
        <p:txBody>
          <a:bodyPr anchor="t"/>
          <a:lstStyle/>
          <a:p>
            <a:pPr eaLnBrk="1" hangingPunct="1"/>
            <a:r>
              <a:rPr lang="en-US" altLang="en-US" sz="1800" b="1" smtClean="0"/>
              <a:t>FIGURE 4.11</a:t>
            </a:r>
            <a:r>
              <a:rPr lang="en-US" altLang="en-US" sz="1800" smtClean="0"/>
              <a:t/>
            </a:r>
            <a:br>
              <a:rPr lang="en-US" altLang="en-US" sz="1800" smtClean="0"/>
            </a:br>
            <a:r>
              <a:rPr lang="en-US" altLang="en-US" sz="1800" smtClean="0"/>
              <a:t>Ternary relationship types. (a) The SUPPLY relationship. </a:t>
            </a:r>
            <a:endParaRPr lang="en-US" altLang="en-US" smtClean="0"/>
          </a:p>
        </p:txBody>
      </p:sp>
      <p:pic>
        <p:nvPicPr>
          <p:cNvPr id="4710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1911350"/>
            <a:ext cx="7772400" cy="2654300"/>
          </a:xfrm>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5B0640DF-8E98-4024-983E-B6EF899E2EE0}" type="slidenum">
              <a:rPr lang="en-US" altLang="en-US" sz="1400" smtClean="0">
                <a:solidFill>
                  <a:srgbClr val="990033"/>
                </a:solidFill>
              </a:rPr>
              <a:pPr>
                <a:spcBef>
                  <a:spcPct val="0"/>
                </a:spcBef>
                <a:buClrTx/>
                <a:buSzTx/>
                <a:buFontTx/>
                <a:buNone/>
              </a:pPr>
              <a:t>19</a:t>
            </a:fld>
            <a:endParaRPr lang="en-CA" altLang="en-US" sz="1400" smtClean="0">
              <a:solidFill>
                <a:srgbClr val="990033"/>
              </a:solidFill>
            </a:endParaRPr>
          </a:p>
        </p:txBody>
      </p:sp>
      <p:sp>
        <p:nvSpPr>
          <p:cNvPr id="49154" name="Rectangle 2"/>
          <p:cNvSpPr>
            <a:spLocks noGrp="1" noChangeArrowheads="1"/>
          </p:cNvSpPr>
          <p:nvPr>
            <p:ph type="title"/>
          </p:nvPr>
        </p:nvSpPr>
        <p:spPr>
          <a:xfrm>
            <a:off x="492125" y="304800"/>
            <a:ext cx="7173913" cy="1143000"/>
          </a:xfrm>
        </p:spPr>
        <p:txBody>
          <a:bodyPr anchor="t"/>
          <a:lstStyle/>
          <a:p>
            <a:pPr eaLnBrk="1" hangingPunct="1"/>
            <a:r>
              <a:rPr lang="en-US" altLang="en-US" sz="1800" b="1" smtClean="0"/>
              <a:t>FIGURE 7.3</a:t>
            </a:r>
            <a:br>
              <a:rPr lang="en-US" altLang="en-US" sz="1800" b="1" smtClean="0"/>
            </a:br>
            <a:r>
              <a:rPr lang="en-US" altLang="en-US" sz="1800" smtClean="0"/>
              <a:t>Mapping the </a:t>
            </a:r>
            <a:r>
              <a:rPr lang="en-US" altLang="en-US" sz="1800" i="1" smtClean="0"/>
              <a:t>n</a:t>
            </a:r>
            <a:r>
              <a:rPr lang="en-US" altLang="en-US" sz="1800" smtClean="0"/>
              <a:t>-ary relationship type SUPPLY from Figure 4.11a.</a:t>
            </a:r>
            <a:endParaRPr lang="en-US" altLang="en-US" b="1" smtClean="0"/>
          </a:p>
        </p:txBody>
      </p:sp>
      <p:pic>
        <p:nvPicPr>
          <p:cNvPr id="49155"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76375" y="1752600"/>
            <a:ext cx="6189663" cy="4114800"/>
          </a:xfrm>
        </p:spPr>
      </p:pic>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noChangeArrowheads="1"/>
          </p:cNvSpPr>
          <p:nvPr>
            <p:ph type="title"/>
          </p:nvPr>
        </p:nvSpPr>
        <p:spPr/>
        <p:txBody>
          <a:bodyPr/>
          <a:lstStyle/>
          <a:p>
            <a:r>
              <a:rPr lang="en-US" altLang="en-US" smtClean="0"/>
              <a:t>Mapping of Recursive Relationship Types</a:t>
            </a:r>
          </a:p>
        </p:txBody>
      </p:sp>
      <p:sp>
        <p:nvSpPr>
          <p:cNvPr id="51202" name="Content Placeholder 2"/>
          <p:cNvSpPr>
            <a:spLocks noGrp="1" noChangeArrowheads="1"/>
          </p:cNvSpPr>
          <p:nvPr>
            <p:ph idx="1"/>
          </p:nvPr>
        </p:nvSpPr>
        <p:spPr/>
        <p:txBody>
          <a:bodyPr/>
          <a:lstStyle/>
          <a:p>
            <a:endParaRPr lang="en-US" altLang="en-US" smtClean="0"/>
          </a:p>
        </p:txBody>
      </p:sp>
      <p:sp>
        <p:nvSpPr>
          <p:cNvPr id="5120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5CE28871-936F-494A-ABC5-952F8ED24A85}" type="slidenum">
              <a:rPr lang="en-US" altLang="en-US" sz="1400" smtClean="0">
                <a:solidFill>
                  <a:srgbClr val="990033"/>
                </a:solidFill>
              </a:rPr>
              <a:pPr>
                <a:spcBef>
                  <a:spcPct val="0"/>
                </a:spcBef>
                <a:buClrTx/>
                <a:buSzTx/>
                <a:buFontTx/>
                <a:buNone/>
              </a:pPr>
              <a:t>20</a:t>
            </a:fld>
            <a:endParaRPr lang="en-CA" altLang="en-US" sz="1400" smtClean="0">
              <a:solidFill>
                <a:srgbClr val="990033"/>
              </a:solidFill>
            </a:endParaRPr>
          </a:p>
        </p:txBody>
      </p:sp>
      <p:sp>
        <p:nvSpPr>
          <p:cNvPr id="51204" name="Rectangle 3"/>
          <p:cNvSpPr>
            <a:spLocks noChangeArrowheads="1"/>
          </p:cNvSpPr>
          <p:nvPr/>
        </p:nvSpPr>
        <p:spPr bwMode="auto">
          <a:xfrm>
            <a:off x="304800" y="2743200"/>
            <a:ext cx="1981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1205" name="Text Box 4"/>
          <p:cNvSpPr txBox="1">
            <a:spLocks noChangeArrowheads="1"/>
          </p:cNvSpPr>
          <p:nvPr/>
        </p:nvSpPr>
        <p:spPr bwMode="auto">
          <a:xfrm>
            <a:off x="533400" y="2814638"/>
            <a:ext cx="1555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2000" b="1">
                <a:solidFill>
                  <a:schemeClr val="tx1"/>
                </a:solidFill>
                <a:latin typeface="Tahoma" panose="020B0604030504040204" pitchFamily="34" charset="0"/>
              </a:rPr>
              <a:t>EMPLOYEE</a:t>
            </a:r>
          </a:p>
        </p:txBody>
      </p:sp>
      <p:sp>
        <p:nvSpPr>
          <p:cNvPr id="51206" name="Oval 5"/>
          <p:cNvSpPr>
            <a:spLocks noChangeArrowheads="1"/>
          </p:cNvSpPr>
          <p:nvPr/>
        </p:nvSpPr>
        <p:spPr bwMode="auto">
          <a:xfrm>
            <a:off x="2133600" y="1828800"/>
            <a:ext cx="838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1207" name="Text Box 6"/>
          <p:cNvSpPr txBox="1">
            <a:spLocks noChangeArrowheads="1"/>
          </p:cNvSpPr>
          <p:nvPr/>
        </p:nvSpPr>
        <p:spPr bwMode="auto">
          <a:xfrm>
            <a:off x="2133600" y="1905000"/>
            <a:ext cx="10064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 Gender</a:t>
            </a:r>
          </a:p>
        </p:txBody>
      </p:sp>
      <p:sp>
        <p:nvSpPr>
          <p:cNvPr id="51208" name="Oval 7"/>
          <p:cNvSpPr>
            <a:spLocks noChangeArrowheads="1"/>
          </p:cNvSpPr>
          <p:nvPr/>
        </p:nvSpPr>
        <p:spPr bwMode="auto">
          <a:xfrm>
            <a:off x="152400" y="1828800"/>
            <a:ext cx="9906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1209" name="Text Box 8"/>
          <p:cNvSpPr txBox="1">
            <a:spLocks noChangeArrowheads="1"/>
          </p:cNvSpPr>
          <p:nvPr/>
        </p:nvSpPr>
        <p:spPr bwMode="auto">
          <a:xfrm>
            <a:off x="381000" y="1873250"/>
            <a:ext cx="5445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u="sng">
                <a:solidFill>
                  <a:schemeClr val="tx1"/>
                </a:solidFill>
                <a:latin typeface="Tahoma" panose="020B0604030504040204" pitchFamily="34" charset="0"/>
              </a:rPr>
              <a:t>SSN</a:t>
            </a:r>
          </a:p>
        </p:txBody>
      </p:sp>
      <p:sp>
        <p:nvSpPr>
          <p:cNvPr id="51210" name="Line 9"/>
          <p:cNvSpPr>
            <a:spLocks noChangeShapeType="1"/>
          </p:cNvSpPr>
          <p:nvPr/>
        </p:nvSpPr>
        <p:spPr bwMode="auto">
          <a:xfrm>
            <a:off x="609600" y="2286000"/>
            <a:ext cx="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1211" name="Line 10"/>
          <p:cNvSpPr>
            <a:spLocks noChangeShapeType="1"/>
          </p:cNvSpPr>
          <p:nvPr/>
        </p:nvSpPr>
        <p:spPr bwMode="auto">
          <a:xfrm flipV="1">
            <a:off x="1828800" y="2286000"/>
            <a:ext cx="5334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1212" name="Text Box 15"/>
          <p:cNvSpPr txBox="1">
            <a:spLocks noChangeArrowheads="1"/>
          </p:cNvSpPr>
          <p:nvPr/>
        </p:nvSpPr>
        <p:spPr bwMode="auto">
          <a:xfrm>
            <a:off x="2743200" y="1676400"/>
            <a:ext cx="6413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4400">
                <a:solidFill>
                  <a:schemeClr val="tx1"/>
                </a:solidFill>
                <a:latin typeface="Tahoma" panose="020B0604030504040204" pitchFamily="34" charset="0"/>
              </a:rPr>
              <a:t>…</a:t>
            </a:r>
          </a:p>
        </p:txBody>
      </p:sp>
      <p:sp>
        <p:nvSpPr>
          <p:cNvPr id="51213" name="Line 16"/>
          <p:cNvSpPr>
            <a:spLocks noChangeShapeType="1"/>
          </p:cNvSpPr>
          <p:nvPr/>
        </p:nvSpPr>
        <p:spPr bwMode="auto">
          <a:xfrm flipH="1">
            <a:off x="2286000" y="2590800"/>
            <a:ext cx="144780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1214" name="AutoShape 17"/>
          <p:cNvSpPr>
            <a:spLocks noChangeArrowheads="1"/>
          </p:cNvSpPr>
          <p:nvPr/>
        </p:nvSpPr>
        <p:spPr bwMode="auto">
          <a:xfrm>
            <a:off x="2895600" y="2590800"/>
            <a:ext cx="1600200" cy="9144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1215" name="Text Box 18"/>
          <p:cNvSpPr txBox="1">
            <a:spLocks noChangeArrowheads="1"/>
          </p:cNvSpPr>
          <p:nvPr/>
        </p:nvSpPr>
        <p:spPr bwMode="auto">
          <a:xfrm>
            <a:off x="3140075" y="2874963"/>
            <a:ext cx="1123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Supervisor</a:t>
            </a:r>
          </a:p>
        </p:txBody>
      </p:sp>
      <p:sp>
        <p:nvSpPr>
          <p:cNvPr id="51216" name="Text Box 19"/>
          <p:cNvSpPr txBox="1">
            <a:spLocks noChangeArrowheads="1"/>
          </p:cNvSpPr>
          <p:nvPr/>
        </p:nvSpPr>
        <p:spPr bwMode="auto">
          <a:xfrm>
            <a:off x="3581400" y="2286000"/>
            <a:ext cx="285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200">
                <a:solidFill>
                  <a:schemeClr val="tx1"/>
                </a:solidFill>
                <a:latin typeface="Tahoma" panose="020B0604030504040204" pitchFamily="34" charset="0"/>
              </a:rPr>
              <a:t>N</a:t>
            </a:r>
          </a:p>
        </p:txBody>
      </p:sp>
      <p:sp>
        <p:nvSpPr>
          <p:cNvPr id="51217" name="Line 43"/>
          <p:cNvSpPr>
            <a:spLocks noChangeShapeType="1"/>
          </p:cNvSpPr>
          <p:nvPr/>
        </p:nvSpPr>
        <p:spPr bwMode="auto">
          <a:xfrm>
            <a:off x="2286000" y="3276600"/>
            <a:ext cx="144780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1218" name="Text Box 44"/>
          <p:cNvSpPr txBox="1">
            <a:spLocks noChangeArrowheads="1"/>
          </p:cNvSpPr>
          <p:nvPr/>
        </p:nvSpPr>
        <p:spPr bwMode="auto">
          <a:xfrm>
            <a:off x="2057400" y="33528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50000"/>
              </a:spcBef>
              <a:buClrTx/>
              <a:buSzTx/>
              <a:buFontTx/>
              <a:buNone/>
            </a:pPr>
            <a:r>
              <a:rPr lang="en-US" altLang="en-US" sz="1600">
                <a:solidFill>
                  <a:schemeClr val="tx1"/>
                </a:solidFill>
                <a:latin typeface="Tahoma" panose="020B0604030504040204" pitchFamily="34" charset="0"/>
              </a:rPr>
              <a:t>Manages</a:t>
            </a:r>
          </a:p>
        </p:txBody>
      </p:sp>
      <p:sp>
        <p:nvSpPr>
          <p:cNvPr id="51219" name="Text Box 63"/>
          <p:cNvSpPr txBox="1">
            <a:spLocks noChangeArrowheads="1"/>
          </p:cNvSpPr>
          <p:nvPr/>
        </p:nvSpPr>
        <p:spPr bwMode="auto">
          <a:xfrm>
            <a:off x="1219200" y="1905000"/>
            <a:ext cx="868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 Name</a:t>
            </a:r>
          </a:p>
        </p:txBody>
      </p:sp>
      <p:sp>
        <p:nvSpPr>
          <p:cNvPr id="51220" name="Oval 64"/>
          <p:cNvSpPr>
            <a:spLocks noChangeArrowheads="1"/>
          </p:cNvSpPr>
          <p:nvPr/>
        </p:nvSpPr>
        <p:spPr bwMode="auto">
          <a:xfrm>
            <a:off x="1219200" y="1828800"/>
            <a:ext cx="838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1221" name="Line 65"/>
          <p:cNvSpPr>
            <a:spLocks noChangeShapeType="1"/>
          </p:cNvSpPr>
          <p:nvPr/>
        </p:nvSpPr>
        <p:spPr bwMode="auto">
          <a:xfrm flipV="1">
            <a:off x="990600" y="2209800"/>
            <a:ext cx="53340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noChangeArrowheads="1"/>
          </p:cNvSpPr>
          <p:nvPr>
            <p:ph type="title"/>
          </p:nvPr>
        </p:nvSpPr>
        <p:spPr/>
        <p:txBody>
          <a:bodyPr/>
          <a:lstStyle/>
          <a:p>
            <a:r>
              <a:rPr lang="en-US" altLang="en-US" smtClean="0"/>
              <a:t>Mapping of Recursive Relationship Types</a:t>
            </a:r>
          </a:p>
        </p:txBody>
      </p:sp>
      <p:sp>
        <p:nvSpPr>
          <p:cNvPr id="52226" name="Content Placeholder 2"/>
          <p:cNvSpPr>
            <a:spLocks noGrp="1" noChangeArrowheads="1"/>
          </p:cNvSpPr>
          <p:nvPr>
            <p:ph idx="1"/>
          </p:nvPr>
        </p:nvSpPr>
        <p:spPr/>
        <p:txBody>
          <a:bodyPr/>
          <a:lstStyle/>
          <a:p>
            <a:endParaRPr lang="en-US" altLang="en-US" smtClean="0"/>
          </a:p>
        </p:txBody>
      </p:sp>
      <p:sp>
        <p:nvSpPr>
          <p:cNvPr id="5222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28F839FC-4004-41AA-9DEC-13A732123AA7}" type="slidenum">
              <a:rPr lang="en-US" altLang="en-US" sz="1400" smtClean="0">
                <a:solidFill>
                  <a:srgbClr val="990033"/>
                </a:solidFill>
              </a:rPr>
              <a:pPr>
                <a:spcBef>
                  <a:spcPct val="0"/>
                </a:spcBef>
                <a:buClrTx/>
                <a:buSzTx/>
                <a:buFontTx/>
                <a:buNone/>
              </a:pPr>
              <a:t>21</a:t>
            </a:fld>
            <a:endParaRPr lang="en-CA" altLang="en-US" sz="1400" smtClean="0">
              <a:solidFill>
                <a:srgbClr val="990033"/>
              </a:solidFill>
            </a:endParaRPr>
          </a:p>
        </p:txBody>
      </p:sp>
      <p:sp>
        <p:nvSpPr>
          <p:cNvPr id="52228" name="Rectangle 3"/>
          <p:cNvSpPr>
            <a:spLocks noChangeArrowheads="1"/>
          </p:cNvSpPr>
          <p:nvPr/>
        </p:nvSpPr>
        <p:spPr bwMode="auto">
          <a:xfrm>
            <a:off x="304800" y="2743200"/>
            <a:ext cx="1981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2229" name="Text Box 4"/>
          <p:cNvSpPr txBox="1">
            <a:spLocks noChangeArrowheads="1"/>
          </p:cNvSpPr>
          <p:nvPr/>
        </p:nvSpPr>
        <p:spPr bwMode="auto">
          <a:xfrm>
            <a:off x="533400" y="2814638"/>
            <a:ext cx="1555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2000" b="1">
                <a:solidFill>
                  <a:schemeClr val="tx1"/>
                </a:solidFill>
                <a:latin typeface="Tahoma" panose="020B0604030504040204" pitchFamily="34" charset="0"/>
              </a:rPr>
              <a:t>EMPLOYEE</a:t>
            </a:r>
          </a:p>
        </p:txBody>
      </p:sp>
      <p:sp>
        <p:nvSpPr>
          <p:cNvPr id="52230" name="Oval 5"/>
          <p:cNvSpPr>
            <a:spLocks noChangeArrowheads="1"/>
          </p:cNvSpPr>
          <p:nvPr/>
        </p:nvSpPr>
        <p:spPr bwMode="auto">
          <a:xfrm>
            <a:off x="2133600" y="1828800"/>
            <a:ext cx="838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2231" name="Text Box 6"/>
          <p:cNvSpPr txBox="1">
            <a:spLocks noChangeArrowheads="1"/>
          </p:cNvSpPr>
          <p:nvPr/>
        </p:nvSpPr>
        <p:spPr bwMode="auto">
          <a:xfrm>
            <a:off x="2133600" y="1905000"/>
            <a:ext cx="10064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 Gender</a:t>
            </a:r>
          </a:p>
        </p:txBody>
      </p:sp>
      <p:sp>
        <p:nvSpPr>
          <p:cNvPr id="52232" name="Oval 7"/>
          <p:cNvSpPr>
            <a:spLocks noChangeArrowheads="1"/>
          </p:cNvSpPr>
          <p:nvPr/>
        </p:nvSpPr>
        <p:spPr bwMode="auto">
          <a:xfrm>
            <a:off x="152400" y="1828800"/>
            <a:ext cx="9906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2233" name="Text Box 8"/>
          <p:cNvSpPr txBox="1">
            <a:spLocks noChangeArrowheads="1"/>
          </p:cNvSpPr>
          <p:nvPr/>
        </p:nvSpPr>
        <p:spPr bwMode="auto">
          <a:xfrm>
            <a:off x="381000" y="1873250"/>
            <a:ext cx="5445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u="sng">
                <a:solidFill>
                  <a:schemeClr val="tx1"/>
                </a:solidFill>
                <a:latin typeface="Tahoma" panose="020B0604030504040204" pitchFamily="34" charset="0"/>
              </a:rPr>
              <a:t>SSN</a:t>
            </a:r>
          </a:p>
        </p:txBody>
      </p:sp>
      <p:sp>
        <p:nvSpPr>
          <p:cNvPr id="52234" name="Line 9"/>
          <p:cNvSpPr>
            <a:spLocks noChangeShapeType="1"/>
          </p:cNvSpPr>
          <p:nvPr/>
        </p:nvSpPr>
        <p:spPr bwMode="auto">
          <a:xfrm>
            <a:off x="609600" y="2286000"/>
            <a:ext cx="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35" name="Line 10"/>
          <p:cNvSpPr>
            <a:spLocks noChangeShapeType="1"/>
          </p:cNvSpPr>
          <p:nvPr/>
        </p:nvSpPr>
        <p:spPr bwMode="auto">
          <a:xfrm flipV="1">
            <a:off x="1828800" y="2286000"/>
            <a:ext cx="533400" cy="4572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36" name="Line 11"/>
          <p:cNvSpPr>
            <a:spLocks noChangeShapeType="1"/>
          </p:cNvSpPr>
          <p:nvPr/>
        </p:nvSpPr>
        <p:spPr bwMode="auto">
          <a:xfrm flipH="1">
            <a:off x="1143000" y="3810000"/>
            <a:ext cx="0" cy="762000"/>
          </a:xfrm>
          <a:prstGeom prst="line">
            <a:avLst/>
          </a:prstGeom>
          <a:noFill/>
          <a:ln w="7620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GB"/>
          </a:p>
        </p:txBody>
      </p:sp>
      <p:sp>
        <p:nvSpPr>
          <p:cNvPr id="52237" name="Line 12"/>
          <p:cNvSpPr>
            <a:spLocks noChangeShapeType="1"/>
          </p:cNvSpPr>
          <p:nvPr/>
        </p:nvSpPr>
        <p:spPr bwMode="auto">
          <a:xfrm>
            <a:off x="457200" y="4038600"/>
            <a:ext cx="82296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38" name="Text Box 13"/>
          <p:cNvSpPr txBox="1">
            <a:spLocks noChangeArrowheads="1"/>
          </p:cNvSpPr>
          <p:nvPr/>
        </p:nvSpPr>
        <p:spPr bwMode="auto">
          <a:xfrm>
            <a:off x="1219200" y="3671888"/>
            <a:ext cx="1187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2400">
                <a:solidFill>
                  <a:schemeClr val="hlink"/>
                </a:solidFill>
                <a:latin typeface="Tahoma" panose="020B0604030504040204" pitchFamily="34" charset="0"/>
              </a:rPr>
              <a:t>ER Model</a:t>
            </a:r>
          </a:p>
        </p:txBody>
      </p:sp>
      <p:sp>
        <p:nvSpPr>
          <p:cNvPr id="52239" name="Text Box 14"/>
          <p:cNvSpPr txBox="1">
            <a:spLocks noChangeArrowheads="1"/>
          </p:cNvSpPr>
          <p:nvPr/>
        </p:nvSpPr>
        <p:spPr bwMode="auto">
          <a:xfrm>
            <a:off x="1219200" y="4038600"/>
            <a:ext cx="487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2000">
                <a:solidFill>
                  <a:schemeClr val="hlink"/>
                </a:solidFill>
                <a:latin typeface="Tahoma" panose="020B0604030504040204" pitchFamily="34" charset="0"/>
              </a:rPr>
              <a:t>Relational Schema </a:t>
            </a:r>
            <a:r>
              <a:rPr lang="en-US" altLang="en-US" sz="2400">
                <a:solidFill>
                  <a:schemeClr val="hlink"/>
                </a:solidFill>
                <a:latin typeface="Tahoma" panose="020B0604030504040204" pitchFamily="34" charset="0"/>
              </a:rPr>
              <a:t>or ER Diagram</a:t>
            </a:r>
            <a:r>
              <a:rPr lang="en-US" altLang="en-US" sz="2000">
                <a:solidFill>
                  <a:schemeClr val="hlink"/>
                </a:solidFill>
                <a:latin typeface="Tahoma" panose="020B0604030504040204" pitchFamily="34" charset="0"/>
              </a:rPr>
              <a:t> </a:t>
            </a:r>
          </a:p>
        </p:txBody>
      </p:sp>
      <p:sp>
        <p:nvSpPr>
          <p:cNvPr id="52240" name="Text Box 15"/>
          <p:cNvSpPr txBox="1">
            <a:spLocks noChangeArrowheads="1"/>
          </p:cNvSpPr>
          <p:nvPr/>
        </p:nvSpPr>
        <p:spPr bwMode="auto">
          <a:xfrm>
            <a:off x="2743200" y="1676400"/>
            <a:ext cx="6413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4400">
                <a:solidFill>
                  <a:schemeClr val="tx1"/>
                </a:solidFill>
                <a:latin typeface="Tahoma" panose="020B0604030504040204" pitchFamily="34" charset="0"/>
              </a:rPr>
              <a:t>…</a:t>
            </a:r>
          </a:p>
        </p:txBody>
      </p:sp>
      <p:sp>
        <p:nvSpPr>
          <p:cNvPr id="52241" name="Line 16"/>
          <p:cNvSpPr>
            <a:spLocks noChangeShapeType="1"/>
          </p:cNvSpPr>
          <p:nvPr/>
        </p:nvSpPr>
        <p:spPr bwMode="auto">
          <a:xfrm flipH="1">
            <a:off x="2286000" y="2590800"/>
            <a:ext cx="144780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42" name="AutoShape 17"/>
          <p:cNvSpPr>
            <a:spLocks noChangeArrowheads="1"/>
          </p:cNvSpPr>
          <p:nvPr/>
        </p:nvSpPr>
        <p:spPr bwMode="auto">
          <a:xfrm>
            <a:off x="2895600" y="2590800"/>
            <a:ext cx="1600200" cy="91440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2243" name="Text Box 18"/>
          <p:cNvSpPr txBox="1">
            <a:spLocks noChangeArrowheads="1"/>
          </p:cNvSpPr>
          <p:nvPr/>
        </p:nvSpPr>
        <p:spPr bwMode="auto">
          <a:xfrm>
            <a:off x="3140075" y="2874963"/>
            <a:ext cx="1123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Supervisor</a:t>
            </a:r>
          </a:p>
        </p:txBody>
      </p:sp>
      <p:sp>
        <p:nvSpPr>
          <p:cNvPr id="52244" name="Text Box 19"/>
          <p:cNvSpPr txBox="1">
            <a:spLocks noChangeArrowheads="1"/>
          </p:cNvSpPr>
          <p:nvPr/>
        </p:nvSpPr>
        <p:spPr bwMode="auto">
          <a:xfrm>
            <a:off x="3581400" y="2286000"/>
            <a:ext cx="2857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200">
                <a:solidFill>
                  <a:schemeClr val="tx1"/>
                </a:solidFill>
                <a:latin typeface="Tahoma" panose="020B0604030504040204" pitchFamily="34" charset="0"/>
              </a:rPr>
              <a:t>N</a:t>
            </a:r>
          </a:p>
        </p:txBody>
      </p:sp>
      <p:sp>
        <p:nvSpPr>
          <p:cNvPr id="52245" name="Text Box 20"/>
          <p:cNvSpPr txBox="1">
            <a:spLocks noChangeArrowheads="1"/>
          </p:cNvSpPr>
          <p:nvPr/>
        </p:nvSpPr>
        <p:spPr bwMode="auto">
          <a:xfrm>
            <a:off x="3581400" y="3505200"/>
            <a:ext cx="266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200">
                <a:solidFill>
                  <a:schemeClr val="tx1"/>
                </a:solidFill>
                <a:latin typeface="Tahoma" panose="020B0604030504040204" pitchFamily="34" charset="0"/>
              </a:rPr>
              <a:t>1</a:t>
            </a:r>
          </a:p>
        </p:txBody>
      </p:sp>
      <p:sp>
        <p:nvSpPr>
          <p:cNvPr id="52246" name="Rectangle 21"/>
          <p:cNvSpPr>
            <a:spLocks noChangeArrowheads="1"/>
          </p:cNvSpPr>
          <p:nvPr/>
        </p:nvSpPr>
        <p:spPr bwMode="auto">
          <a:xfrm>
            <a:off x="762000" y="4724400"/>
            <a:ext cx="76200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2247" name="Text Box 22"/>
          <p:cNvSpPr txBox="1">
            <a:spLocks noChangeArrowheads="1"/>
          </p:cNvSpPr>
          <p:nvPr/>
        </p:nvSpPr>
        <p:spPr bwMode="auto">
          <a:xfrm>
            <a:off x="3276600" y="4845050"/>
            <a:ext cx="5445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u="sng">
                <a:solidFill>
                  <a:schemeClr val="hlink"/>
                </a:solidFill>
                <a:latin typeface="Tahoma" panose="020B0604030504040204" pitchFamily="34" charset="0"/>
              </a:rPr>
              <a:t>SSN</a:t>
            </a:r>
          </a:p>
        </p:txBody>
      </p:sp>
      <p:sp>
        <p:nvSpPr>
          <p:cNvPr id="52248" name="Text Box 23"/>
          <p:cNvSpPr txBox="1">
            <a:spLocks noChangeArrowheads="1"/>
          </p:cNvSpPr>
          <p:nvPr/>
        </p:nvSpPr>
        <p:spPr bwMode="auto">
          <a:xfrm>
            <a:off x="736600" y="4845050"/>
            <a:ext cx="787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Fname</a:t>
            </a:r>
          </a:p>
        </p:txBody>
      </p:sp>
      <p:sp>
        <p:nvSpPr>
          <p:cNvPr id="52249" name="Text Box 24"/>
          <p:cNvSpPr txBox="1">
            <a:spLocks noChangeArrowheads="1"/>
          </p:cNvSpPr>
          <p:nvPr/>
        </p:nvSpPr>
        <p:spPr bwMode="auto">
          <a:xfrm>
            <a:off x="1600200" y="4845050"/>
            <a:ext cx="614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Minit</a:t>
            </a:r>
          </a:p>
        </p:txBody>
      </p:sp>
      <p:sp>
        <p:nvSpPr>
          <p:cNvPr id="52250" name="Text Box 25"/>
          <p:cNvSpPr txBox="1">
            <a:spLocks noChangeArrowheads="1"/>
          </p:cNvSpPr>
          <p:nvPr/>
        </p:nvSpPr>
        <p:spPr bwMode="auto">
          <a:xfrm>
            <a:off x="2362200" y="4845050"/>
            <a:ext cx="7826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Lname</a:t>
            </a:r>
          </a:p>
        </p:txBody>
      </p:sp>
      <p:sp>
        <p:nvSpPr>
          <p:cNvPr id="52251" name="Text Box 26"/>
          <p:cNvSpPr txBox="1">
            <a:spLocks noChangeArrowheads="1"/>
          </p:cNvSpPr>
          <p:nvPr/>
        </p:nvSpPr>
        <p:spPr bwMode="auto">
          <a:xfrm>
            <a:off x="4038600" y="4845050"/>
            <a:ext cx="696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Bdate</a:t>
            </a:r>
          </a:p>
        </p:txBody>
      </p:sp>
      <p:sp>
        <p:nvSpPr>
          <p:cNvPr id="52252" name="Text Box 27"/>
          <p:cNvSpPr txBox="1">
            <a:spLocks noChangeArrowheads="1"/>
          </p:cNvSpPr>
          <p:nvPr/>
        </p:nvSpPr>
        <p:spPr bwMode="auto">
          <a:xfrm>
            <a:off x="6705600" y="4845050"/>
            <a:ext cx="730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Salary</a:t>
            </a:r>
          </a:p>
        </p:txBody>
      </p:sp>
      <p:sp>
        <p:nvSpPr>
          <p:cNvPr id="52253" name="Text Box 28"/>
          <p:cNvSpPr txBox="1">
            <a:spLocks noChangeArrowheads="1"/>
          </p:cNvSpPr>
          <p:nvPr/>
        </p:nvSpPr>
        <p:spPr bwMode="auto">
          <a:xfrm>
            <a:off x="4668838" y="4859338"/>
            <a:ext cx="9144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 Gender</a:t>
            </a:r>
          </a:p>
        </p:txBody>
      </p:sp>
      <p:sp>
        <p:nvSpPr>
          <p:cNvPr id="52254" name="Text Box 29"/>
          <p:cNvSpPr txBox="1">
            <a:spLocks noChangeArrowheads="1"/>
          </p:cNvSpPr>
          <p:nvPr/>
        </p:nvSpPr>
        <p:spPr bwMode="auto">
          <a:xfrm>
            <a:off x="5562600" y="4845050"/>
            <a:ext cx="892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Address</a:t>
            </a:r>
          </a:p>
        </p:txBody>
      </p:sp>
      <p:sp>
        <p:nvSpPr>
          <p:cNvPr id="52255" name="Line 30"/>
          <p:cNvSpPr>
            <a:spLocks noChangeShapeType="1"/>
          </p:cNvSpPr>
          <p:nvPr/>
        </p:nvSpPr>
        <p:spPr bwMode="auto">
          <a:xfrm>
            <a:off x="3962400" y="47244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56" name="Line 31"/>
          <p:cNvSpPr>
            <a:spLocks noChangeShapeType="1"/>
          </p:cNvSpPr>
          <p:nvPr/>
        </p:nvSpPr>
        <p:spPr bwMode="auto">
          <a:xfrm>
            <a:off x="5486400" y="47244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57" name="Line 32"/>
          <p:cNvSpPr>
            <a:spLocks noChangeShapeType="1"/>
          </p:cNvSpPr>
          <p:nvPr/>
        </p:nvSpPr>
        <p:spPr bwMode="auto">
          <a:xfrm>
            <a:off x="2286000" y="47244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58" name="Line 33"/>
          <p:cNvSpPr>
            <a:spLocks noChangeShapeType="1"/>
          </p:cNvSpPr>
          <p:nvPr/>
        </p:nvSpPr>
        <p:spPr bwMode="auto">
          <a:xfrm>
            <a:off x="1524000" y="47244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59" name="Line 34"/>
          <p:cNvSpPr>
            <a:spLocks noChangeShapeType="1"/>
          </p:cNvSpPr>
          <p:nvPr/>
        </p:nvSpPr>
        <p:spPr bwMode="auto">
          <a:xfrm>
            <a:off x="3124200" y="47244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60" name="Line 35"/>
          <p:cNvSpPr>
            <a:spLocks noChangeShapeType="1"/>
          </p:cNvSpPr>
          <p:nvPr/>
        </p:nvSpPr>
        <p:spPr bwMode="auto">
          <a:xfrm>
            <a:off x="4800600" y="47244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61" name="Line 36"/>
          <p:cNvSpPr>
            <a:spLocks noChangeShapeType="1"/>
          </p:cNvSpPr>
          <p:nvPr/>
        </p:nvSpPr>
        <p:spPr bwMode="auto">
          <a:xfrm>
            <a:off x="6553200" y="472440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62" name="Rectangle 37"/>
          <p:cNvSpPr>
            <a:spLocks noChangeArrowheads="1"/>
          </p:cNvSpPr>
          <p:nvPr/>
        </p:nvSpPr>
        <p:spPr bwMode="auto">
          <a:xfrm>
            <a:off x="762000" y="5562600"/>
            <a:ext cx="1831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2400" b="1">
                <a:solidFill>
                  <a:schemeClr val="tx1"/>
                </a:solidFill>
                <a:latin typeface="Tahoma" panose="020B0604030504040204" pitchFamily="34" charset="0"/>
              </a:rPr>
              <a:t>EMPLOYEE</a:t>
            </a:r>
          </a:p>
        </p:txBody>
      </p:sp>
      <p:sp>
        <p:nvSpPr>
          <p:cNvPr id="52263" name="Line 38"/>
          <p:cNvSpPr>
            <a:spLocks noChangeShapeType="1"/>
          </p:cNvSpPr>
          <p:nvPr/>
        </p:nvSpPr>
        <p:spPr bwMode="auto">
          <a:xfrm>
            <a:off x="7467600" y="4730750"/>
            <a:ext cx="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64" name="Text Box 39"/>
          <p:cNvSpPr txBox="1">
            <a:spLocks noChangeArrowheads="1"/>
          </p:cNvSpPr>
          <p:nvPr/>
        </p:nvSpPr>
        <p:spPr bwMode="auto">
          <a:xfrm>
            <a:off x="7467600" y="4876800"/>
            <a:ext cx="962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hlink"/>
                </a:solidFill>
                <a:latin typeface="Tahoma" panose="020B0604030504040204" pitchFamily="34" charset="0"/>
              </a:rPr>
              <a:t>MGRSSN</a:t>
            </a:r>
          </a:p>
        </p:txBody>
      </p:sp>
      <p:sp>
        <p:nvSpPr>
          <p:cNvPr id="52265" name="Line 40"/>
          <p:cNvSpPr>
            <a:spLocks noChangeShapeType="1"/>
          </p:cNvSpPr>
          <p:nvPr/>
        </p:nvSpPr>
        <p:spPr bwMode="auto">
          <a:xfrm>
            <a:off x="4648200" y="3505200"/>
            <a:ext cx="3124200" cy="1143000"/>
          </a:xfrm>
          <a:prstGeom prst="line">
            <a:avLst/>
          </a:prstGeom>
          <a:noFill/>
          <a:ln w="9525">
            <a:solidFill>
              <a:schemeClr val="tx1"/>
            </a:solidFill>
            <a:prstDash val="sysDot"/>
            <a:miter lim="800000"/>
            <a:headEnd/>
            <a:tailEnd type="triangle" w="med" len="med"/>
          </a:ln>
          <a:extLst>
            <a:ext uri="{909E8E84-426E-40DD-AFC4-6F175D3DCCD1}">
              <a14:hiddenFill xmlns:a14="http://schemas.microsoft.com/office/drawing/2010/main">
                <a:noFill/>
              </a14:hiddenFill>
            </a:ext>
          </a:extLst>
        </p:spPr>
        <p:txBody>
          <a:bodyPr wrap="none"/>
          <a:lstStyle/>
          <a:p>
            <a:endParaRPr lang="en-GB"/>
          </a:p>
        </p:txBody>
      </p:sp>
      <p:sp>
        <p:nvSpPr>
          <p:cNvPr id="52266" name="Text Box 41"/>
          <p:cNvSpPr txBox="1">
            <a:spLocks noChangeArrowheads="1"/>
          </p:cNvSpPr>
          <p:nvPr/>
        </p:nvSpPr>
        <p:spPr bwMode="auto">
          <a:xfrm>
            <a:off x="7215188" y="5607050"/>
            <a:ext cx="12430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Foreign Key</a:t>
            </a:r>
          </a:p>
        </p:txBody>
      </p:sp>
      <p:sp>
        <p:nvSpPr>
          <p:cNvPr id="52267" name="Line 42"/>
          <p:cNvSpPr>
            <a:spLocks noChangeShapeType="1"/>
          </p:cNvSpPr>
          <p:nvPr/>
        </p:nvSpPr>
        <p:spPr bwMode="auto">
          <a:xfrm flipV="1">
            <a:off x="7848600" y="5334000"/>
            <a:ext cx="0" cy="304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GB"/>
          </a:p>
        </p:txBody>
      </p:sp>
      <p:sp>
        <p:nvSpPr>
          <p:cNvPr id="52268" name="Line 43"/>
          <p:cNvSpPr>
            <a:spLocks noChangeShapeType="1"/>
          </p:cNvSpPr>
          <p:nvPr/>
        </p:nvSpPr>
        <p:spPr bwMode="auto">
          <a:xfrm>
            <a:off x="2286000" y="3276600"/>
            <a:ext cx="1447800" cy="2286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69" name="Text Box 44"/>
          <p:cNvSpPr txBox="1">
            <a:spLocks noChangeArrowheads="1"/>
          </p:cNvSpPr>
          <p:nvPr/>
        </p:nvSpPr>
        <p:spPr bwMode="auto">
          <a:xfrm>
            <a:off x="2057400" y="3352800"/>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50000"/>
              </a:spcBef>
              <a:buClrTx/>
              <a:buSzTx/>
              <a:buFontTx/>
              <a:buNone/>
            </a:pPr>
            <a:r>
              <a:rPr lang="en-US" altLang="en-US" sz="1600">
                <a:solidFill>
                  <a:schemeClr val="tx1"/>
                </a:solidFill>
                <a:latin typeface="Tahoma" panose="020B0604030504040204" pitchFamily="34" charset="0"/>
              </a:rPr>
              <a:t>Manages</a:t>
            </a:r>
          </a:p>
        </p:txBody>
      </p:sp>
      <p:sp>
        <p:nvSpPr>
          <p:cNvPr id="52270" name="Line 60"/>
          <p:cNvSpPr>
            <a:spLocks noChangeShapeType="1"/>
          </p:cNvSpPr>
          <p:nvPr/>
        </p:nvSpPr>
        <p:spPr bwMode="auto">
          <a:xfrm>
            <a:off x="3505200" y="5410200"/>
            <a:ext cx="41148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71" name="Line 61"/>
          <p:cNvSpPr>
            <a:spLocks noChangeShapeType="1"/>
          </p:cNvSpPr>
          <p:nvPr/>
        </p:nvSpPr>
        <p:spPr bwMode="auto">
          <a:xfrm flipV="1">
            <a:off x="7620000" y="5257800"/>
            <a:ext cx="0" cy="152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
        <p:nvSpPr>
          <p:cNvPr id="52272" name="Line 62"/>
          <p:cNvSpPr>
            <a:spLocks noChangeShapeType="1"/>
          </p:cNvSpPr>
          <p:nvPr/>
        </p:nvSpPr>
        <p:spPr bwMode="auto">
          <a:xfrm flipV="1">
            <a:off x="3505200" y="5257800"/>
            <a:ext cx="0" cy="1524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n-GB"/>
          </a:p>
        </p:txBody>
      </p:sp>
      <p:sp>
        <p:nvSpPr>
          <p:cNvPr id="52273" name="Text Box 63"/>
          <p:cNvSpPr txBox="1">
            <a:spLocks noChangeArrowheads="1"/>
          </p:cNvSpPr>
          <p:nvPr/>
        </p:nvSpPr>
        <p:spPr bwMode="auto">
          <a:xfrm>
            <a:off x="1219200" y="1905000"/>
            <a:ext cx="868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600">
                <a:solidFill>
                  <a:schemeClr val="tx1"/>
                </a:solidFill>
                <a:latin typeface="Tahoma" panose="020B0604030504040204" pitchFamily="34" charset="0"/>
              </a:rPr>
              <a:t> Name</a:t>
            </a:r>
          </a:p>
        </p:txBody>
      </p:sp>
      <p:sp>
        <p:nvSpPr>
          <p:cNvPr id="52274" name="Oval 64"/>
          <p:cNvSpPr>
            <a:spLocks noChangeArrowheads="1"/>
          </p:cNvSpPr>
          <p:nvPr/>
        </p:nvSpPr>
        <p:spPr bwMode="auto">
          <a:xfrm>
            <a:off x="1219200" y="1828800"/>
            <a:ext cx="838200" cy="457200"/>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endParaRPr lang="en-US" altLang="en-US" sz="2400">
              <a:solidFill>
                <a:schemeClr val="tx1"/>
              </a:solidFill>
              <a:latin typeface="Tahoma" panose="020B0604030504040204" pitchFamily="34" charset="0"/>
            </a:endParaRPr>
          </a:p>
        </p:txBody>
      </p:sp>
      <p:sp>
        <p:nvSpPr>
          <p:cNvPr id="52275" name="Line 65"/>
          <p:cNvSpPr>
            <a:spLocks noChangeShapeType="1"/>
          </p:cNvSpPr>
          <p:nvPr/>
        </p:nvSpPr>
        <p:spPr bwMode="auto">
          <a:xfrm flipV="1">
            <a:off x="990600" y="2209800"/>
            <a:ext cx="533400" cy="5334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GB"/>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noChangeArrowheads="1"/>
          </p:cNvSpPr>
          <p:nvPr>
            <p:ph type="title"/>
          </p:nvPr>
        </p:nvSpPr>
        <p:spPr/>
        <p:txBody>
          <a:bodyPr/>
          <a:lstStyle/>
          <a:p>
            <a:r>
              <a:rPr lang="en-US" altLang="en-US" smtClean="0"/>
              <a:t>Example: Recursive Relationship</a:t>
            </a:r>
          </a:p>
        </p:txBody>
      </p:sp>
      <p:sp>
        <p:nvSpPr>
          <p:cNvPr id="53250" name="Content Placeholder 2"/>
          <p:cNvSpPr>
            <a:spLocks noGrp="1" noChangeArrowheads="1"/>
          </p:cNvSpPr>
          <p:nvPr>
            <p:ph idx="1"/>
          </p:nvPr>
        </p:nvSpPr>
        <p:spPr/>
        <p:txBody>
          <a:bodyPr/>
          <a:lstStyle/>
          <a:p>
            <a:endParaRPr lang="en-US" altLang="en-US" smtClean="0"/>
          </a:p>
        </p:txBody>
      </p:sp>
      <p:sp>
        <p:nvSpPr>
          <p:cNvPr id="5325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0EF7EFB1-B9F5-4794-BE2D-EA593519119F}" type="slidenum">
              <a:rPr lang="en-US" altLang="en-US" sz="1400" smtClean="0">
                <a:solidFill>
                  <a:srgbClr val="990033"/>
                </a:solidFill>
              </a:rPr>
              <a:pPr>
                <a:spcBef>
                  <a:spcPct val="0"/>
                </a:spcBef>
                <a:buClrTx/>
                <a:buSzTx/>
                <a:buFontTx/>
                <a:buNone/>
              </a:pPr>
              <a:t>22</a:t>
            </a:fld>
            <a:endParaRPr lang="en-CA" altLang="en-US" sz="1400" smtClean="0">
              <a:solidFill>
                <a:srgbClr val="990033"/>
              </a:solidFill>
            </a:endParaRPr>
          </a:p>
        </p:txBody>
      </p:sp>
      <p:graphicFrame>
        <p:nvGraphicFramePr>
          <p:cNvPr id="53252" name="Object 2"/>
          <p:cNvGraphicFramePr>
            <a:graphicFrameLocks noChangeAspect="1"/>
          </p:cNvGraphicFramePr>
          <p:nvPr/>
        </p:nvGraphicFramePr>
        <p:xfrm>
          <a:off x="996950" y="1600200"/>
          <a:ext cx="7148513" cy="4525963"/>
        </p:xfrm>
        <a:graphic>
          <a:graphicData uri="http://schemas.openxmlformats.org/presentationml/2006/ole">
            <mc:AlternateContent xmlns:mc="http://schemas.openxmlformats.org/markup-compatibility/2006">
              <mc:Choice xmlns:v="urn:schemas-microsoft-com:vml" Requires="v">
                <p:oleObj spid="_x0000_s53253" name="Bitmap Image" r:id="rId3" imgW="7628571" imgH="4828571" progId="Paint.Picture">
                  <p:embed/>
                </p:oleObj>
              </mc:Choice>
              <mc:Fallback>
                <p:oleObj name="Bitmap Image" r:id="rId3" imgW="7628571" imgH="4828571" progId="Paint.Picture">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6950" y="1600200"/>
                        <a:ext cx="7148513"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A49EA3AF-9677-4AEE-947A-6EAB768CDB87}" type="slidenum">
              <a:rPr lang="en-US" altLang="en-US" sz="1400" smtClean="0">
                <a:solidFill>
                  <a:srgbClr val="990033"/>
                </a:solidFill>
              </a:rPr>
              <a:pPr>
                <a:spcBef>
                  <a:spcPct val="0"/>
                </a:spcBef>
                <a:buClrTx/>
                <a:buSzTx/>
                <a:buFontTx/>
                <a:buNone/>
              </a:pPr>
              <a:t>23</a:t>
            </a:fld>
            <a:endParaRPr lang="en-CA" altLang="en-US" sz="1400" smtClean="0">
              <a:solidFill>
                <a:srgbClr val="990033"/>
              </a:solidFill>
            </a:endParaRPr>
          </a:p>
        </p:txBody>
      </p:sp>
      <p:sp>
        <p:nvSpPr>
          <p:cNvPr id="54274" name="Rectangle 2"/>
          <p:cNvSpPr>
            <a:spLocks noGrp="1" noChangeArrowheads="1"/>
          </p:cNvSpPr>
          <p:nvPr>
            <p:ph type="title"/>
          </p:nvPr>
        </p:nvSpPr>
        <p:spPr>
          <a:xfrm>
            <a:off x="685800" y="258763"/>
            <a:ext cx="7772400" cy="766762"/>
          </a:xfrm>
        </p:spPr>
        <p:txBody>
          <a:bodyPr/>
          <a:lstStyle/>
          <a:p>
            <a:pPr eaLnBrk="1" hangingPunct="1"/>
            <a:r>
              <a:rPr lang="en-US" altLang="en-US" sz="2800" b="1" smtClean="0"/>
              <a:t/>
            </a:r>
            <a:br>
              <a:rPr lang="en-US" altLang="en-US" sz="2800" b="1" smtClean="0"/>
            </a:br>
            <a:r>
              <a:rPr lang="en-US" altLang="en-US" sz="2800" b="1" smtClean="0"/>
              <a:t>Summary of Mapping constructs and constraints</a:t>
            </a:r>
            <a:endParaRPr lang="en-US" altLang="en-US" sz="2800" smtClean="0"/>
          </a:p>
        </p:txBody>
      </p:sp>
      <p:sp>
        <p:nvSpPr>
          <p:cNvPr id="54275" name="Rectangle 3"/>
          <p:cNvSpPr>
            <a:spLocks noGrp="1" noChangeArrowheads="1"/>
          </p:cNvSpPr>
          <p:nvPr>
            <p:ph type="body" idx="1"/>
          </p:nvPr>
        </p:nvSpPr>
        <p:spPr>
          <a:xfrm>
            <a:off x="685800" y="1533525"/>
            <a:ext cx="7981950" cy="4724400"/>
          </a:xfrm>
        </p:spPr>
        <p:txBody>
          <a:bodyPr/>
          <a:lstStyle/>
          <a:p>
            <a:pPr eaLnBrk="1" hangingPunct="1">
              <a:buFont typeface="Wingdings" panose="05000000000000000000" pitchFamily="2" charset="2"/>
              <a:buNone/>
            </a:pPr>
            <a:endParaRPr lang="en-US" altLang="en-US" sz="2900" smtClean="0"/>
          </a:p>
          <a:p>
            <a:pPr eaLnBrk="1" hangingPunct="1">
              <a:buFont typeface="Wingdings" panose="05000000000000000000" pitchFamily="2" charset="2"/>
              <a:buNone/>
            </a:pPr>
            <a:r>
              <a:rPr lang="en-US" altLang="en-US" sz="2000" smtClean="0"/>
              <a:t>                               </a:t>
            </a:r>
            <a:endParaRPr lang="en-US" altLang="en-US" sz="2000" b="1" smtClean="0">
              <a:solidFill>
                <a:srgbClr val="FF0066"/>
              </a:solidFill>
            </a:endParaRPr>
          </a:p>
        </p:txBody>
      </p:sp>
      <p:sp>
        <p:nvSpPr>
          <p:cNvPr id="54276" name="Text Box 4"/>
          <p:cNvSpPr txBox="1">
            <a:spLocks noChangeArrowheads="1"/>
          </p:cNvSpPr>
          <p:nvPr/>
        </p:nvSpPr>
        <p:spPr bwMode="auto">
          <a:xfrm>
            <a:off x="922338" y="2043113"/>
            <a:ext cx="7324725"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2200" b="1" i="1">
                <a:latin typeface="Times New Roman" panose="02020603050405020304" pitchFamily="18" charset="0"/>
              </a:rPr>
              <a:t>Table 7.1 Correspondence between ER and Relational Models</a:t>
            </a:r>
            <a:endParaRPr lang="en-US" altLang="en-US" sz="1800">
              <a:latin typeface="Times New Roman" panose="02020603050405020304" pitchFamily="18" charset="0"/>
            </a:endParaRPr>
          </a:p>
          <a:p>
            <a:pPr eaLnBrk="1" hangingPunct="1">
              <a:spcBef>
                <a:spcPct val="0"/>
              </a:spcBef>
              <a:buClrTx/>
              <a:buSzTx/>
              <a:buFontTx/>
              <a:buNone/>
            </a:pPr>
            <a:endParaRPr lang="en-US" altLang="en-US" sz="1800">
              <a:latin typeface="Times New Roman" panose="02020603050405020304" pitchFamily="18" charset="0"/>
            </a:endParaRPr>
          </a:p>
          <a:p>
            <a:pPr eaLnBrk="1" hangingPunct="1">
              <a:spcBef>
                <a:spcPct val="0"/>
              </a:spcBef>
              <a:buClrTx/>
              <a:buSzTx/>
              <a:buFontTx/>
              <a:buNone/>
            </a:pPr>
            <a:r>
              <a:rPr lang="en-US" altLang="en-US" sz="1800" b="1"/>
              <a:t>ER Model		Relational Model</a:t>
            </a:r>
            <a:endParaRPr lang="en-US" altLang="en-US" sz="1800">
              <a:latin typeface="Times New Roman" panose="02020603050405020304" pitchFamily="18" charset="0"/>
            </a:endParaRPr>
          </a:p>
          <a:p>
            <a:pPr eaLnBrk="1" hangingPunct="1">
              <a:spcBef>
                <a:spcPct val="0"/>
              </a:spcBef>
              <a:buClrTx/>
              <a:buSzTx/>
              <a:buFontTx/>
              <a:buNone/>
            </a:pPr>
            <a:r>
              <a:rPr lang="en-US" altLang="en-US" sz="1800">
                <a:latin typeface="Times New Roman" panose="02020603050405020304" pitchFamily="18" charset="0"/>
              </a:rPr>
              <a:t>Entity type		“Entity” relation</a:t>
            </a:r>
          </a:p>
          <a:p>
            <a:pPr eaLnBrk="1" hangingPunct="1">
              <a:spcBef>
                <a:spcPct val="0"/>
              </a:spcBef>
              <a:buClrTx/>
              <a:buSzTx/>
              <a:buFontTx/>
              <a:buNone/>
            </a:pPr>
            <a:r>
              <a:rPr lang="en-US" altLang="en-US" sz="1800">
                <a:latin typeface="Times New Roman" panose="02020603050405020304" pitchFamily="18" charset="0"/>
              </a:rPr>
              <a:t>1:1 or 1:N relationship type	Foreign key (or “relationship” relation)</a:t>
            </a:r>
          </a:p>
          <a:p>
            <a:pPr eaLnBrk="1" hangingPunct="1">
              <a:spcBef>
                <a:spcPct val="0"/>
              </a:spcBef>
              <a:buClrTx/>
              <a:buSzTx/>
              <a:buFontTx/>
              <a:buNone/>
            </a:pPr>
            <a:r>
              <a:rPr lang="en-US" altLang="en-US" sz="1800">
                <a:latin typeface="Times New Roman" panose="02020603050405020304" pitchFamily="18" charset="0"/>
              </a:rPr>
              <a:t>M:N relationship type	“Relationship” relation and two foreign keys</a:t>
            </a:r>
          </a:p>
          <a:p>
            <a:pPr eaLnBrk="1" hangingPunct="1">
              <a:spcBef>
                <a:spcPct val="0"/>
              </a:spcBef>
              <a:buClrTx/>
              <a:buSzTx/>
              <a:buFontTx/>
              <a:buNone/>
            </a:pPr>
            <a:r>
              <a:rPr lang="en-US" altLang="en-US" sz="1800" i="1">
                <a:latin typeface="Times New Roman" panose="02020603050405020304" pitchFamily="18" charset="0"/>
              </a:rPr>
              <a:t>n</a:t>
            </a:r>
            <a:r>
              <a:rPr lang="en-US" altLang="en-US" sz="1800">
                <a:latin typeface="Times New Roman" panose="02020603050405020304" pitchFamily="18" charset="0"/>
              </a:rPr>
              <a:t>-ary relationship type	“Relationship” relation and n foreign keys</a:t>
            </a:r>
          </a:p>
          <a:p>
            <a:pPr eaLnBrk="1" hangingPunct="1">
              <a:spcBef>
                <a:spcPct val="0"/>
              </a:spcBef>
              <a:buClrTx/>
              <a:buSzTx/>
              <a:buFontTx/>
              <a:buNone/>
            </a:pPr>
            <a:r>
              <a:rPr lang="en-US" altLang="en-US" sz="1800">
                <a:latin typeface="Times New Roman" panose="02020603050405020304" pitchFamily="18" charset="0"/>
              </a:rPr>
              <a:t>Simple attribute		Attribute</a:t>
            </a:r>
          </a:p>
          <a:p>
            <a:pPr eaLnBrk="1" hangingPunct="1">
              <a:spcBef>
                <a:spcPct val="0"/>
              </a:spcBef>
              <a:buClrTx/>
              <a:buSzTx/>
              <a:buFontTx/>
              <a:buNone/>
            </a:pPr>
            <a:r>
              <a:rPr lang="en-US" altLang="en-US" sz="1800">
                <a:latin typeface="Times New Roman" panose="02020603050405020304" pitchFamily="18" charset="0"/>
              </a:rPr>
              <a:t>Composite attribute		Set of simple component attributes</a:t>
            </a:r>
          </a:p>
          <a:p>
            <a:pPr eaLnBrk="1" hangingPunct="1">
              <a:spcBef>
                <a:spcPct val="0"/>
              </a:spcBef>
              <a:buClrTx/>
              <a:buSzTx/>
              <a:buFontTx/>
              <a:buNone/>
            </a:pPr>
            <a:r>
              <a:rPr lang="en-US" altLang="en-US" sz="1800">
                <a:latin typeface="Times New Roman" panose="02020603050405020304" pitchFamily="18" charset="0"/>
              </a:rPr>
              <a:t>Multivalued attribute	Relation and foreign key</a:t>
            </a:r>
          </a:p>
          <a:p>
            <a:pPr eaLnBrk="1" hangingPunct="1">
              <a:spcBef>
                <a:spcPct val="0"/>
              </a:spcBef>
              <a:buClrTx/>
              <a:buSzTx/>
              <a:buFontTx/>
              <a:buNone/>
            </a:pPr>
            <a:r>
              <a:rPr lang="en-US" altLang="en-US" sz="1800">
                <a:latin typeface="Times New Roman" panose="02020603050405020304" pitchFamily="18" charset="0"/>
              </a:rPr>
              <a:t>Value set			Domain</a:t>
            </a:r>
          </a:p>
          <a:p>
            <a:pPr eaLnBrk="1" hangingPunct="1">
              <a:spcBef>
                <a:spcPct val="0"/>
              </a:spcBef>
              <a:buClrTx/>
              <a:buSzTx/>
              <a:buFontTx/>
              <a:buNone/>
            </a:pPr>
            <a:r>
              <a:rPr lang="en-US" altLang="en-US" sz="1800">
                <a:latin typeface="Times New Roman" panose="02020603050405020304" pitchFamily="18" charset="0"/>
              </a:rPr>
              <a:t>Key attribute		Primary (or secondary) key</a:t>
            </a:r>
            <a:endParaRPr lang="en-US" altLang="en-US" sz="2400">
              <a:latin typeface="Times New Roman" panose="02020603050405020304" pitchFamily="18" charset="0"/>
            </a:endParaRPr>
          </a:p>
        </p:txBody>
      </p:sp>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775B0C5D-E93D-4289-AF61-3F9398079B9B}" type="slidenum">
              <a:rPr lang="en-US" altLang="en-US" sz="1400" smtClean="0">
                <a:solidFill>
                  <a:srgbClr val="990033"/>
                </a:solidFill>
              </a:rPr>
              <a:pPr>
                <a:spcBef>
                  <a:spcPct val="0"/>
                </a:spcBef>
                <a:buClrTx/>
                <a:buSzTx/>
                <a:buFontTx/>
                <a:buNone/>
              </a:pPr>
              <a:t>24</a:t>
            </a:fld>
            <a:endParaRPr lang="en-CA" altLang="en-US" sz="1400" smtClean="0">
              <a:solidFill>
                <a:srgbClr val="990033"/>
              </a:solidFill>
            </a:endParaRPr>
          </a:p>
        </p:txBody>
      </p:sp>
      <p:sp>
        <p:nvSpPr>
          <p:cNvPr id="56322" name="Rectangle 4"/>
          <p:cNvSpPr>
            <a:spLocks noGrp="1" noChangeArrowheads="1"/>
          </p:cNvSpPr>
          <p:nvPr>
            <p:ph type="title"/>
          </p:nvPr>
        </p:nvSpPr>
        <p:spPr/>
        <p:txBody>
          <a:bodyPr/>
          <a:lstStyle/>
          <a:p>
            <a:pPr eaLnBrk="1" hangingPunct="1"/>
            <a:r>
              <a:rPr lang="en-US" altLang="en-US" sz="3200" smtClean="0"/>
              <a:t>Mapping EER Model Constructs to Relations </a:t>
            </a:r>
          </a:p>
        </p:txBody>
      </p:sp>
      <p:sp>
        <p:nvSpPr>
          <p:cNvPr id="56323" name="Rectangle 5"/>
          <p:cNvSpPr>
            <a:spLocks noGrp="1" noChangeArrowheads="1"/>
          </p:cNvSpPr>
          <p:nvPr>
            <p:ph type="body" idx="1"/>
          </p:nvPr>
        </p:nvSpPr>
        <p:spPr>
          <a:noFill/>
          <a:extLst>
            <a:ext uri="{91240B29-F687-4F45-9708-019B960494DF}">
              <a14:hiddenLine xmlns:a14="http://schemas.microsoft.com/office/drawing/2010/main" w="9525" cap="flat" cmpd="sng" algn="ctr">
                <a:solidFill>
                  <a:srgbClr val="CC0000"/>
                </a:solidFill>
                <a:prstDash val="solid"/>
                <a:miter lim="800000"/>
                <a:headEnd/>
                <a:tailEnd/>
              </a14:hiddenLine>
            </a:ext>
          </a:extLst>
        </p:spPr>
        <p:txBody>
          <a:bodyPr/>
          <a:lstStyle/>
          <a:p>
            <a:pPr eaLnBrk="1" hangingPunct="1">
              <a:lnSpc>
                <a:spcPct val="90000"/>
              </a:lnSpc>
            </a:pPr>
            <a:r>
              <a:rPr lang="en-US" altLang="en-US" b="1" smtClean="0"/>
              <a:t>Step8: Options for Mapping Specialization or Generalization.</a:t>
            </a:r>
          </a:p>
          <a:p>
            <a:pPr lvl="1" eaLnBrk="1" hangingPunct="1">
              <a:lnSpc>
                <a:spcPct val="90000"/>
              </a:lnSpc>
            </a:pPr>
            <a:r>
              <a:rPr lang="en-US" altLang="en-US" sz="2500" smtClean="0"/>
              <a:t>Convert each specialization with m subclasses {S1, S2,….,Sm} and generalized superclass C, where the attributes of C are {k,a1,…an} and k is the (primary) key, into relational schemas using one of the four following options:</a:t>
            </a:r>
          </a:p>
          <a:p>
            <a:pPr lvl="2" eaLnBrk="1" hangingPunct="1">
              <a:lnSpc>
                <a:spcPct val="90000"/>
              </a:lnSpc>
            </a:pPr>
            <a:r>
              <a:rPr lang="en-US" altLang="en-US" smtClean="0"/>
              <a:t>Option 8A: Multiple relations-Superclass and subclasses</a:t>
            </a:r>
          </a:p>
          <a:p>
            <a:pPr lvl="2" eaLnBrk="1" hangingPunct="1">
              <a:lnSpc>
                <a:spcPct val="90000"/>
              </a:lnSpc>
            </a:pPr>
            <a:r>
              <a:rPr lang="en-US" altLang="en-US" smtClean="0"/>
              <a:t>Option 8B: Multiple relations-Subclass relations only</a:t>
            </a:r>
          </a:p>
          <a:p>
            <a:pPr lvl="2" eaLnBrk="1" hangingPunct="1">
              <a:lnSpc>
                <a:spcPct val="80000"/>
              </a:lnSpc>
            </a:pPr>
            <a:r>
              <a:rPr lang="en-US" altLang="en-US" smtClean="0"/>
              <a:t>Option 8C: Single relation with one type attribute</a:t>
            </a:r>
          </a:p>
          <a:p>
            <a:pPr lvl="2" eaLnBrk="1" hangingPunct="1">
              <a:lnSpc>
                <a:spcPct val="80000"/>
              </a:lnSpc>
            </a:pPr>
            <a:r>
              <a:rPr lang="en-US" altLang="en-US" smtClean="0"/>
              <a:t>Option 8D: Single relation with multiple type attributes</a:t>
            </a:r>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1C5B2716-347F-4DFD-9139-C0194A841C8A}" type="slidenum">
              <a:rPr lang="en-US" altLang="en-US" sz="1400" smtClean="0">
                <a:solidFill>
                  <a:srgbClr val="990033"/>
                </a:solidFill>
              </a:rPr>
              <a:pPr>
                <a:spcBef>
                  <a:spcPct val="0"/>
                </a:spcBef>
                <a:buClrTx/>
                <a:buSzTx/>
                <a:buFontTx/>
                <a:buNone/>
              </a:pPr>
              <a:t>25</a:t>
            </a:fld>
            <a:endParaRPr lang="en-CA" altLang="en-US" sz="1400" smtClean="0">
              <a:solidFill>
                <a:srgbClr val="990033"/>
              </a:solidFill>
            </a:endParaRPr>
          </a:p>
        </p:txBody>
      </p:sp>
      <p:sp>
        <p:nvSpPr>
          <p:cNvPr id="58370" name="Rectangle 2"/>
          <p:cNvSpPr>
            <a:spLocks noGrp="1" noChangeArrowheads="1"/>
          </p:cNvSpPr>
          <p:nvPr>
            <p:ph type="title"/>
          </p:nvPr>
        </p:nvSpPr>
        <p:spPr/>
        <p:txBody>
          <a:bodyPr/>
          <a:lstStyle/>
          <a:p>
            <a:pPr eaLnBrk="1" hangingPunct="1"/>
            <a:r>
              <a:rPr lang="en-US" altLang="en-US" sz="3200" smtClean="0"/>
              <a:t>Mapping EER Model Constructs to Relations </a:t>
            </a:r>
          </a:p>
        </p:txBody>
      </p:sp>
      <p:sp>
        <p:nvSpPr>
          <p:cNvPr id="58371" name="Rectangle 3"/>
          <p:cNvSpPr>
            <a:spLocks noGrp="1" noChangeArrowheads="1"/>
          </p:cNvSpPr>
          <p:nvPr>
            <p:ph type="body" idx="1"/>
          </p:nvPr>
        </p:nvSpPr>
        <p:spPr>
          <a:noFill/>
          <a:extLst>
            <a:ext uri="{91240B29-F687-4F45-9708-019B960494DF}">
              <a14:hiddenLine xmlns:a14="http://schemas.microsoft.com/office/drawing/2010/main" w="9525" cap="flat" cmpd="sng" algn="ctr">
                <a:solidFill>
                  <a:srgbClr val="CC0000"/>
                </a:solidFill>
                <a:prstDash val="solid"/>
                <a:miter lim="800000"/>
                <a:headEnd/>
                <a:tailEnd/>
              </a14:hiddenLine>
            </a:ext>
          </a:extLst>
        </p:spPr>
        <p:txBody>
          <a:bodyPr/>
          <a:lstStyle/>
          <a:p>
            <a:pPr eaLnBrk="1" hangingPunct="1">
              <a:lnSpc>
                <a:spcPct val="90000"/>
              </a:lnSpc>
            </a:pPr>
            <a:r>
              <a:rPr lang="en-US" altLang="en-US" sz="2400" b="1" smtClean="0"/>
              <a:t>Option 8A: Multiple relations-Superclass and subclasses</a:t>
            </a:r>
          </a:p>
          <a:p>
            <a:pPr lvl="1" eaLnBrk="1" hangingPunct="1">
              <a:lnSpc>
                <a:spcPct val="90000"/>
              </a:lnSpc>
            </a:pPr>
            <a:r>
              <a:rPr lang="en-US" altLang="en-US" sz="2100" smtClean="0"/>
              <a:t>Create a relation L for C with attributes Attrs(L) = {k,a1,…an} and PK(L) = k. Create a relation Li for each subclass Si, 1 &lt; i &lt; m, with the attributesAttrs(Li) = {k} U {attributes of Si} and PK(Li)=k. </a:t>
            </a:r>
          </a:p>
          <a:p>
            <a:pPr lvl="1" eaLnBrk="1" hangingPunct="1">
              <a:lnSpc>
                <a:spcPct val="90000"/>
              </a:lnSpc>
            </a:pPr>
            <a:r>
              <a:rPr lang="en-US" altLang="en-US" sz="2100" smtClean="0"/>
              <a:t>This option works for any specialization (total or partial, disjoint or over-lapping). </a:t>
            </a:r>
          </a:p>
          <a:p>
            <a:pPr eaLnBrk="1" hangingPunct="1">
              <a:lnSpc>
                <a:spcPct val="90000"/>
              </a:lnSpc>
            </a:pPr>
            <a:endParaRPr lang="en-US" altLang="en-US" sz="2400" smtClean="0"/>
          </a:p>
        </p:txBody>
      </p:sp>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153EA5A8-03F6-48A9-BD28-DD663DDF90A6}" type="slidenum">
              <a:rPr lang="en-US" altLang="en-US" sz="1400" smtClean="0">
                <a:solidFill>
                  <a:srgbClr val="990033"/>
                </a:solidFill>
              </a:rPr>
              <a:pPr>
                <a:spcBef>
                  <a:spcPct val="0"/>
                </a:spcBef>
                <a:buClrTx/>
                <a:buSzTx/>
                <a:buFontTx/>
                <a:buNone/>
              </a:pPr>
              <a:t>26</a:t>
            </a:fld>
            <a:endParaRPr lang="en-CA" altLang="en-US" sz="1400" smtClean="0">
              <a:solidFill>
                <a:srgbClr val="990033"/>
              </a:solidFill>
            </a:endParaRPr>
          </a:p>
        </p:txBody>
      </p:sp>
      <p:sp>
        <p:nvSpPr>
          <p:cNvPr id="60418" name="Rectangle 2"/>
          <p:cNvSpPr>
            <a:spLocks noGrp="1" noChangeArrowheads="1"/>
          </p:cNvSpPr>
          <p:nvPr>
            <p:ph type="title"/>
          </p:nvPr>
        </p:nvSpPr>
        <p:spPr>
          <a:xfrm>
            <a:off x="533400" y="304800"/>
            <a:ext cx="7620000" cy="914400"/>
          </a:xfrm>
        </p:spPr>
        <p:txBody>
          <a:bodyPr anchor="t"/>
          <a:lstStyle/>
          <a:p>
            <a:pPr eaLnBrk="1" hangingPunct="1"/>
            <a:r>
              <a:rPr lang="en-US" altLang="en-US" sz="1800" b="1" smtClean="0"/>
              <a:t>FIGURE 4.4</a:t>
            </a:r>
            <a:r>
              <a:rPr lang="en-US" altLang="en-US" sz="1800" smtClean="0"/>
              <a:t/>
            </a:r>
            <a:br>
              <a:rPr lang="en-US" altLang="en-US" sz="1800" smtClean="0"/>
            </a:br>
            <a:r>
              <a:rPr lang="en-US" altLang="en-US" sz="1800" smtClean="0"/>
              <a:t>EER diagram notation for an attribute-defined specialization on JobType.</a:t>
            </a:r>
            <a:endParaRPr lang="en-US" altLang="en-US" smtClean="0"/>
          </a:p>
        </p:txBody>
      </p:sp>
      <p:pic>
        <p:nvPicPr>
          <p:cNvPr id="60419"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43200" y="1647825"/>
            <a:ext cx="5697538" cy="4600575"/>
          </a:xfrm>
        </p:spPr>
      </p:pic>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494BAA8F-4CF2-40FC-A404-13AF7A7DA55D}" type="slidenum">
              <a:rPr lang="en-US" altLang="en-US" sz="1400" smtClean="0">
                <a:solidFill>
                  <a:srgbClr val="990033"/>
                </a:solidFill>
              </a:rPr>
              <a:pPr>
                <a:spcBef>
                  <a:spcPct val="0"/>
                </a:spcBef>
                <a:buClrTx/>
                <a:buSzTx/>
                <a:buFontTx/>
                <a:buNone/>
              </a:pPr>
              <a:t>27</a:t>
            </a:fld>
            <a:endParaRPr lang="en-CA" altLang="en-US" sz="1400" smtClean="0">
              <a:solidFill>
                <a:srgbClr val="990033"/>
              </a:solidFill>
            </a:endParaRPr>
          </a:p>
        </p:txBody>
      </p:sp>
      <p:pic>
        <p:nvPicPr>
          <p:cNvPr id="624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573338"/>
            <a:ext cx="8105775" cy="198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7" name="Rectangle 3"/>
          <p:cNvSpPr>
            <a:spLocks noChangeArrowheads="1"/>
          </p:cNvSpPr>
          <p:nvPr/>
        </p:nvSpPr>
        <p:spPr bwMode="auto">
          <a:xfrm>
            <a:off x="685800" y="3587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800" b="1">
                <a:solidFill>
                  <a:srgbClr val="800000"/>
                </a:solidFill>
              </a:rPr>
              <a:t>FIGURE 7.4</a:t>
            </a:r>
            <a:br>
              <a:rPr lang="en-US" altLang="en-US" sz="1800" b="1">
                <a:solidFill>
                  <a:srgbClr val="800000"/>
                </a:solidFill>
              </a:rPr>
            </a:br>
            <a:r>
              <a:rPr lang="en-US" altLang="en-US" sz="1800">
                <a:solidFill>
                  <a:srgbClr val="800000"/>
                </a:solidFill>
              </a:rPr>
              <a:t>Options for mapping specialization or generalization. </a:t>
            </a:r>
            <a:br>
              <a:rPr lang="en-US" altLang="en-US" sz="1800">
                <a:solidFill>
                  <a:srgbClr val="800000"/>
                </a:solidFill>
              </a:rPr>
            </a:br>
            <a:r>
              <a:rPr lang="en-US" altLang="en-US" sz="1800">
                <a:solidFill>
                  <a:srgbClr val="800000"/>
                </a:solidFill>
              </a:rPr>
              <a:t>(a) Mapping the EER schema in Figure 4.4 using </a:t>
            </a:r>
            <a:r>
              <a:rPr lang="en-US" altLang="en-US" sz="1800" u="sng">
                <a:solidFill>
                  <a:srgbClr val="800000"/>
                </a:solidFill>
              </a:rPr>
              <a:t>option 8A</a:t>
            </a:r>
            <a:r>
              <a:rPr lang="en-US" altLang="en-US" sz="1800">
                <a:solidFill>
                  <a:srgbClr val="800000"/>
                </a:solidFill>
              </a:rPr>
              <a:t>. </a:t>
            </a:r>
            <a:endParaRPr lang="en-US" altLang="en-US" sz="1800" b="1">
              <a:solidFill>
                <a:srgbClr val="800000"/>
              </a:solidFill>
            </a:endParaRPr>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1F79678A-BF56-4F3C-9F81-0B129371152B}" type="slidenum">
              <a:rPr lang="en-US" altLang="en-US" sz="1400" smtClean="0">
                <a:solidFill>
                  <a:srgbClr val="990033"/>
                </a:solidFill>
              </a:rPr>
              <a:pPr>
                <a:spcBef>
                  <a:spcPct val="0"/>
                </a:spcBef>
                <a:buClrTx/>
                <a:buSzTx/>
                <a:buFontTx/>
                <a:buNone/>
              </a:pPr>
              <a:t>28</a:t>
            </a:fld>
            <a:endParaRPr lang="en-CA" altLang="en-US" sz="1400" smtClean="0">
              <a:solidFill>
                <a:srgbClr val="990033"/>
              </a:solidFill>
            </a:endParaRPr>
          </a:p>
        </p:txBody>
      </p:sp>
      <p:sp>
        <p:nvSpPr>
          <p:cNvPr id="64514" name="Rectangle 2"/>
          <p:cNvSpPr>
            <a:spLocks noGrp="1" noChangeArrowheads="1"/>
          </p:cNvSpPr>
          <p:nvPr>
            <p:ph type="title"/>
          </p:nvPr>
        </p:nvSpPr>
        <p:spPr/>
        <p:txBody>
          <a:bodyPr/>
          <a:lstStyle/>
          <a:p>
            <a:pPr eaLnBrk="1" hangingPunct="1"/>
            <a:r>
              <a:rPr lang="en-US" altLang="en-US" sz="3200" smtClean="0"/>
              <a:t>Mapping EER Model Constructs to Relations </a:t>
            </a:r>
          </a:p>
        </p:txBody>
      </p:sp>
      <p:sp>
        <p:nvSpPr>
          <p:cNvPr id="64515" name="Rectangle 3"/>
          <p:cNvSpPr>
            <a:spLocks noGrp="1" noChangeArrowheads="1"/>
          </p:cNvSpPr>
          <p:nvPr>
            <p:ph type="body" idx="1"/>
          </p:nvPr>
        </p:nvSpPr>
        <p:spPr>
          <a:noFill/>
          <a:extLst>
            <a:ext uri="{91240B29-F687-4F45-9708-019B960494DF}">
              <a14:hiddenLine xmlns:a14="http://schemas.microsoft.com/office/drawing/2010/main" w="9525" cap="flat" cmpd="sng" algn="ctr">
                <a:solidFill>
                  <a:srgbClr val="CC0000"/>
                </a:solidFill>
                <a:prstDash val="solid"/>
                <a:miter lim="800000"/>
                <a:headEnd/>
                <a:tailEnd/>
              </a14:hiddenLine>
            </a:ext>
          </a:extLst>
        </p:spPr>
        <p:txBody>
          <a:bodyPr/>
          <a:lstStyle/>
          <a:p>
            <a:pPr eaLnBrk="1" hangingPunct="1">
              <a:lnSpc>
                <a:spcPct val="90000"/>
              </a:lnSpc>
            </a:pPr>
            <a:r>
              <a:rPr lang="en-US" altLang="en-US" sz="2400" b="1" smtClean="0"/>
              <a:t>Option 8B: Multiple relations-Subclass relations only</a:t>
            </a:r>
          </a:p>
          <a:p>
            <a:pPr lvl="1" eaLnBrk="1" hangingPunct="1">
              <a:lnSpc>
                <a:spcPct val="90000"/>
              </a:lnSpc>
            </a:pPr>
            <a:r>
              <a:rPr lang="en-US" altLang="en-US" sz="2100" smtClean="0"/>
              <a:t>Create a relation Li for each subclass Si, 1 &lt; i &lt; m, with the attributes Attr(Li) = {attributes of Si} U {k,a1…,an} and PK(Li) = k. </a:t>
            </a:r>
          </a:p>
          <a:p>
            <a:pPr lvl="1" eaLnBrk="1" hangingPunct="1">
              <a:lnSpc>
                <a:spcPct val="90000"/>
              </a:lnSpc>
            </a:pPr>
            <a:r>
              <a:rPr lang="en-US" altLang="en-US" sz="2100" smtClean="0"/>
              <a:t>This option only works for a  specialization whose subclasses are total </a:t>
            </a:r>
          </a:p>
          <a:p>
            <a:pPr lvl="2" eaLnBrk="1" hangingPunct="1">
              <a:lnSpc>
                <a:spcPct val="90000"/>
              </a:lnSpc>
            </a:pPr>
            <a:r>
              <a:rPr lang="en-US" altLang="en-US" sz="1900" smtClean="0"/>
              <a:t>every entity in the superclass must belong to (at least) one of the subclasses</a:t>
            </a:r>
          </a:p>
          <a:p>
            <a:pPr eaLnBrk="1" hangingPunct="1">
              <a:lnSpc>
                <a:spcPct val="90000"/>
              </a:lnSpc>
            </a:pPr>
            <a:endParaRPr lang="en-US" altLang="en-US" sz="2400" smtClean="0"/>
          </a:p>
        </p:txBody>
      </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A3D0C94A-94FC-414F-9D97-05B85C40CEDC}" type="slidenum">
              <a:rPr lang="en-US" altLang="en-US" sz="1400" smtClean="0">
                <a:solidFill>
                  <a:srgbClr val="990033"/>
                </a:solidFill>
              </a:rPr>
              <a:pPr>
                <a:spcBef>
                  <a:spcPct val="0"/>
                </a:spcBef>
                <a:buClrTx/>
                <a:buSzTx/>
                <a:buFontTx/>
                <a:buNone/>
              </a:pPr>
              <a:t>29</a:t>
            </a:fld>
            <a:endParaRPr lang="en-CA" altLang="en-US" sz="1400" smtClean="0">
              <a:solidFill>
                <a:srgbClr val="990033"/>
              </a:solidFill>
            </a:endParaRPr>
          </a:p>
        </p:txBody>
      </p:sp>
      <p:sp>
        <p:nvSpPr>
          <p:cNvPr id="66562" name="Rectangle 2"/>
          <p:cNvSpPr>
            <a:spLocks noGrp="1" noChangeArrowheads="1"/>
          </p:cNvSpPr>
          <p:nvPr>
            <p:ph type="title"/>
          </p:nvPr>
        </p:nvSpPr>
        <p:spPr>
          <a:xfrm>
            <a:off x="533400" y="304800"/>
            <a:ext cx="8420100" cy="2933700"/>
          </a:xfrm>
        </p:spPr>
        <p:txBody>
          <a:bodyPr anchor="t"/>
          <a:lstStyle/>
          <a:p>
            <a:pPr eaLnBrk="1" hangingPunct="1"/>
            <a:r>
              <a:rPr lang="en-US" altLang="en-US" sz="1800" b="1" smtClean="0"/>
              <a:t>FIGURE 4.3</a:t>
            </a:r>
            <a:r>
              <a:rPr lang="en-US" altLang="en-US" sz="1800" smtClean="0"/>
              <a:t/>
            </a:r>
            <a:br>
              <a:rPr lang="en-US" altLang="en-US" sz="1800" smtClean="0"/>
            </a:br>
            <a:r>
              <a:rPr lang="en-US" altLang="en-US" sz="1800" smtClean="0"/>
              <a:t>Generalization. (b) Generalizing CAR and TRUCK into the superclass VEHICLE.</a:t>
            </a:r>
            <a:endParaRPr lang="en-US" altLang="en-US" smtClean="0"/>
          </a:p>
        </p:txBody>
      </p:sp>
      <p:pic>
        <p:nvPicPr>
          <p:cNvPr id="66563"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39713" y="1736725"/>
            <a:ext cx="8294687" cy="3806825"/>
          </a:xfrm>
        </p:spPr>
      </p:pic>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5BD3C981-6C63-40EB-858C-4C58F7A75A13}" type="slidenum">
              <a:rPr lang="en-US" altLang="en-US" sz="1400" smtClean="0">
                <a:solidFill>
                  <a:srgbClr val="990033"/>
                </a:solidFill>
              </a:rPr>
              <a:pPr>
                <a:spcBef>
                  <a:spcPct val="0"/>
                </a:spcBef>
                <a:buClrTx/>
                <a:buSzTx/>
                <a:buFontTx/>
                <a:buNone/>
              </a:pPr>
              <a:t>30</a:t>
            </a:fld>
            <a:endParaRPr lang="en-CA" altLang="en-US" sz="1400" smtClean="0">
              <a:solidFill>
                <a:srgbClr val="990033"/>
              </a:solidFill>
            </a:endParaRPr>
          </a:p>
        </p:txBody>
      </p:sp>
      <p:sp>
        <p:nvSpPr>
          <p:cNvPr id="68610" name="Rectangle 2"/>
          <p:cNvSpPr>
            <a:spLocks noChangeArrowheads="1"/>
          </p:cNvSpPr>
          <p:nvPr/>
        </p:nvSpPr>
        <p:spPr bwMode="auto">
          <a:xfrm>
            <a:off x="685800" y="3587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800" b="1">
                <a:solidFill>
                  <a:srgbClr val="800000"/>
                </a:solidFill>
              </a:rPr>
              <a:t>FIGURE 7.4</a:t>
            </a:r>
            <a:br>
              <a:rPr lang="en-US" altLang="en-US" sz="1800" b="1">
                <a:solidFill>
                  <a:srgbClr val="800000"/>
                </a:solidFill>
              </a:rPr>
            </a:br>
            <a:r>
              <a:rPr lang="en-US" altLang="en-US" sz="1800">
                <a:solidFill>
                  <a:srgbClr val="800000"/>
                </a:solidFill>
              </a:rPr>
              <a:t>Options for mapping specialization or generalization. </a:t>
            </a:r>
            <a:br>
              <a:rPr lang="en-US" altLang="en-US" sz="1800">
                <a:solidFill>
                  <a:srgbClr val="800000"/>
                </a:solidFill>
              </a:rPr>
            </a:br>
            <a:r>
              <a:rPr lang="en-US" altLang="en-US" sz="1800">
                <a:solidFill>
                  <a:srgbClr val="800000"/>
                </a:solidFill>
              </a:rPr>
              <a:t> (b) Mapping the EER schema in Figure 4.3b using </a:t>
            </a:r>
            <a:r>
              <a:rPr lang="en-US" altLang="en-US" sz="1800" u="sng">
                <a:solidFill>
                  <a:srgbClr val="800000"/>
                </a:solidFill>
              </a:rPr>
              <a:t>option 8B</a:t>
            </a:r>
            <a:r>
              <a:rPr lang="en-US" altLang="en-US" sz="1800">
                <a:solidFill>
                  <a:srgbClr val="800000"/>
                </a:solidFill>
              </a:rPr>
              <a:t>. </a:t>
            </a:r>
            <a:endParaRPr lang="en-US" altLang="en-US" sz="1800" b="1">
              <a:solidFill>
                <a:srgbClr val="800000"/>
              </a:solidFill>
            </a:endParaRPr>
          </a:p>
        </p:txBody>
      </p:sp>
      <p:pic>
        <p:nvPicPr>
          <p:cNvPr id="686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250" y="2362200"/>
            <a:ext cx="7935913"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89B01F30-E238-4932-A227-2AF1C3C021B1}" type="slidenum">
              <a:rPr lang="en-US" altLang="en-US" sz="1400" smtClean="0">
                <a:solidFill>
                  <a:srgbClr val="990033"/>
                </a:solidFill>
              </a:rPr>
              <a:pPr>
                <a:spcBef>
                  <a:spcPct val="0"/>
                </a:spcBef>
                <a:buClrTx/>
                <a:buSzTx/>
                <a:buFontTx/>
                <a:buNone/>
              </a:pPr>
              <a:t>31</a:t>
            </a:fld>
            <a:endParaRPr lang="en-CA" altLang="en-US" sz="1400" smtClean="0">
              <a:solidFill>
                <a:srgbClr val="990033"/>
              </a:solidFill>
            </a:endParaRPr>
          </a:p>
        </p:txBody>
      </p:sp>
      <p:sp>
        <p:nvSpPr>
          <p:cNvPr id="70658" name="Rectangle 2"/>
          <p:cNvSpPr>
            <a:spLocks noGrp="1" noChangeArrowheads="1"/>
          </p:cNvSpPr>
          <p:nvPr>
            <p:ph type="title"/>
          </p:nvPr>
        </p:nvSpPr>
        <p:spPr>
          <a:xfrm>
            <a:off x="250825" y="303213"/>
            <a:ext cx="8534400" cy="842962"/>
          </a:xfrm>
        </p:spPr>
        <p:txBody>
          <a:bodyPr/>
          <a:lstStyle/>
          <a:p>
            <a:pPr eaLnBrk="1" hangingPunct="1"/>
            <a:r>
              <a:rPr lang="en-US" altLang="en-US" sz="2800" b="1" smtClean="0"/>
              <a:t>Mapping EER Model Constructs to Relations (contd.)</a:t>
            </a:r>
          </a:p>
        </p:txBody>
      </p:sp>
      <p:sp>
        <p:nvSpPr>
          <p:cNvPr id="70659" name="Rectangle 3"/>
          <p:cNvSpPr>
            <a:spLocks noGrp="1" noChangeArrowheads="1"/>
          </p:cNvSpPr>
          <p:nvPr>
            <p:ph type="body" idx="1"/>
          </p:nvPr>
        </p:nvSpPr>
        <p:spPr>
          <a:xfrm>
            <a:off x="409575" y="1962150"/>
            <a:ext cx="8375650" cy="4257675"/>
          </a:xfrm>
        </p:spPr>
        <p:txBody>
          <a:bodyPr/>
          <a:lstStyle/>
          <a:p>
            <a:pPr eaLnBrk="1" hangingPunct="1"/>
            <a:r>
              <a:rPr lang="en-US" altLang="en-US" sz="2400" b="1" smtClean="0"/>
              <a:t>Option 8C: Single relation with one type attribute</a:t>
            </a:r>
          </a:p>
          <a:p>
            <a:pPr lvl="1" eaLnBrk="1" hangingPunct="1"/>
            <a:r>
              <a:rPr lang="en-US" altLang="en-US" sz="2100" smtClean="0"/>
              <a:t>Create a single relation L with attributes Attrs(L) = {k,a</a:t>
            </a:r>
            <a:r>
              <a:rPr lang="en-US" altLang="en-US" sz="2100" baseline="-25000" smtClean="0"/>
              <a:t>1</a:t>
            </a:r>
            <a:r>
              <a:rPr lang="en-US" altLang="en-US" sz="2100" smtClean="0"/>
              <a:t>,…a</a:t>
            </a:r>
            <a:r>
              <a:rPr lang="en-US" altLang="en-US" sz="2100" baseline="-25000" smtClean="0"/>
              <a:t>n</a:t>
            </a:r>
            <a:r>
              <a:rPr lang="en-US" altLang="en-US" sz="2100" smtClean="0"/>
              <a:t>} U {attributes of S</a:t>
            </a:r>
            <a:r>
              <a:rPr lang="en-US" altLang="en-US" sz="2100" baseline="-25000" smtClean="0"/>
              <a:t>1</a:t>
            </a:r>
            <a:r>
              <a:rPr lang="en-US" altLang="en-US" sz="2100" smtClean="0"/>
              <a:t>} U</a:t>
            </a:r>
            <a:r>
              <a:rPr lang="en-US" altLang="en-US" sz="2100" smtClean="0">
                <a:latin typeface="Times New Roman" panose="02020603050405020304" pitchFamily="18" charset="0"/>
              </a:rPr>
              <a:t>…</a:t>
            </a:r>
            <a:r>
              <a:rPr lang="en-US" altLang="en-US" sz="2100" smtClean="0"/>
              <a:t>U {attributes of S</a:t>
            </a:r>
            <a:r>
              <a:rPr lang="en-US" altLang="en-US" sz="2100" baseline="-25000" smtClean="0"/>
              <a:t>m</a:t>
            </a:r>
            <a:r>
              <a:rPr lang="en-US" altLang="en-US" sz="2100" smtClean="0"/>
              <a:t>} U {t} and PK(L) = k. </a:t>
            </a:r>
          </a:p>
          <a:p>
            <a:pPr lvl="1" eaLnBrk="1" hangingPunct="1"/>
            <a:r>
              <a:rPr lang="en-US" altLang="en-US" sz="2100" smtClean="0"/>
              <a:t>The attribute t is called a type (or </a:t>
            </a:r>
            <a:r>
              <a:rPr lang="en-US" altLang="en-US" sz="2100" b="1" smtClean="0"/>
              <a:t>discriminating</a:t>
            </a:r>
            <a:r>
              <a:rPr lang="en-US" altLang="en-US" sz="2100" smtClean="0"/>
              <a:t>) attribute that indicates the subclass to which each tuple belongs</a:t>
            </a: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9F50EFDD-C128-4323-8AF8-9A04328AE505}" type="slidenum">
              <a:rPr lang="en-US" altLang="en-US" sz="1400" smtClean="0">
                <a:solidFill>
                  <a:srgbClr val="990033"/>
                </a:solidFill>
              </a:rPr>
              <a:pPr>
                <a:spcBef>
                  <a:spcPct val="0"/>
                </a:spcBef>
                <a:buClrTx/>
                <a:buSzTx/>
                <a:buFontTx/>
                <a:buNone/>
              </a:pPr>
              <a:t>32</a:t>
            </a:fld>
            <a:endParaRPr lang="en-CA" altLang="en-US" sz="1400" smtClean="0">
              <a:solidFill>
                <a:srgbClr val="990033"/>
              </a:solidFill>
            </a:endParaRPr>
          </a:p>
        </p:txBody>
      </p:sp>
      <p:sp>
        <p:nvSpPr>
          <p:cNvPr id="72706" name="Rectangle 2"/>
          <p:cNvSpPr>
            <a:spLocks noGrp="1" noChangeArrowheads="1"/>
          </p:cNvSpPr>
          <p:nvPr>
            <p:ph type="title"/>
          </p:nvPr>
        </p:nvSpPr>
        <p:spPr>
          <a:xfrm>
            <a:off x="533400" y="304800"/>
            <a:ext cx="7907338" cy="838200"/>
          </a:xfrm>
        </p:spPr>
        <p:txBody>
          <a:bodyPr anchor="t"/>
          <a:lstStyle/>
          <a:p>
            <a:pPr eaLnBrk="1" hangingPunct="1"/>
            <a:r>
              <a:rPr lang="en-US" altLang="en-US" sz="1800" b="1" smtClean="0"/>
              <a:t>FIGURE 4.4</a:t>
            </a:r>
            <a:r>
              <a:rPr lang="en-US" altLang="en-US" sz="1800" smtClean="0"/>
              <a:t/>
            </a:r>
            <a:br>
              <a:rPr lang="en-US" altLang="en-US" sz="1800" smtClean="0"/>
            </a:br>
            <a:r>
              <a:rPr lang="en-US" altLang="en-US" sz="1800" smtClean="0"/>
              <a:t>EER diagram notation for an attribute-defined specialization on JobType.</a:t>
            </a:r>
            <a:endParaRPr lang="en-US" altLang="en-US" smtClean="0"/>
          </a:p>
        </p:txBody>
      </p:sp>
      <p:pic>
        <p:nvPicPr>
          <p:cNvPr id="7270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43200" y="1647825"/>
            <a:ext cx="5697538" cy="4600575"/>
          </a:xfrm>
        </p:spPr>
      </p:pic>
    </p:spTree>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0C6515C5-4DAE-4713-B8D0-53B6023C1D5A}" type="slidenum">
              <a:rPr lang="en-US" altLang="en-US" sz="1400" smtClean="0">
                <a:solidFill>
                  <a:srgbClr val="990033"/>
                </a:solidFill>
              </a:rPr>
              <a:pPr>
                <a:spcBef>
                  <a:spcPct val="0"/>
                </a:spcBef>
                <a:buClrTx/>
                <a:buSzTx/>
                <a:buFontTx/>
                <a:buNone/>
              </a:pPr>
              <a:t>33</a:t>
            </a:fld>
            <a:endParaRPr lang="en-CA" altLang="en-US" sz="1400" smtClean="0">
              <a:solidFill>
                <a:srgbClr val="990033"/>
              </a:solidFill>
            </a:endParaRPr>
          </a:p>
        </p:txBody>
      </p:sp>
      <p:sp>
        <p:nvSpPr>
          <p:cNvPr id="74754" name="Rectangle 2"/>
          <p:cNvSpPr>
            <a:spLocks noChangeArrowheads="1"/>
          </p:cNvSpPr>
          <p:nvPr/>
        </p:nvSpPr>
        <p:spPr bwMode="auto">
          <a:xfrm>
            <a:off x="685800" y="3587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800" b="1">
                <a:solidFill>
                  <a:srgbClr val="800000"/>
                </a:solidFill>
              </a:rPr>
              <a:t>FIGURE 7.4</a:t>
            </a:r>
            <a:br>
              <a:rPr lang="en-US" altLang="en-US" sz="1800" b="1">
                <a:solidFill>
                  <a:srgbClr val="800000"/>
                </a:solidFill>
              </a:rPr>
            </a:br>
            <a:r>
              <a:rPr lang="en-US" altLang="en-US" sz="1800">
                <a:solidFill>
                  <a:srgbClr val="800000"/>
                </a:solidFill>
              </a:rPr>
              <a:t>Options for mapping specialization or generalization. </a:t>
            </a:r>
            <a:br>
              <a:rPr lang="en-US" altLang="en-US" sz="1800">
                <a:solidFill>
                  <a:srgbClr val="800000"/>
                </a:solidFill>
              </a:rPr>
            </a:br>
            <a:r>
              <a:rPr lang="en-US" altLang="en-US" sz="1800">
                <a:solidFill>
                  <a:srgbClr val="800000"/>
                </a:solidFill>
              </a:rPr>
              <a:t>(c) Mapping the EER schema in Figure 4.4 using </a:t>
            </a:r>
            <a:r>
              <a:rPr lang="en-US" altLang="en-US" sz="1800" u="sng">
                <a:solidFill>
                  <a:srgbClr val="800000"/>
                </a:solidFill>
              </a:rPr>
              <a:t>option 8C</a:t>
            </a:r>
            <a:r>
              <a:rPr lang="en-US" altLang="en-US" sz="1800">
                <a:solidFill>
                  <a:srgbClr val="800000"/>
                </a:solidFill>
              </a:rPr>
              <a:t>.</a:t>
            </a:r>
            <a:endParaRPr lang="en-US" altLang="en-US" sz="1800" b="1">
              <a:solidFill>
                <a:srgbClr val="800000"/>
              </a:solidFill>
            </a:endParaRPr>
          </a:p>
        </p:txBody>
      </p:sp>
      <p:pic>
        <p:nvPicPr>
          <p:cNvPr id="747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68588"/>
            <a:ext cx="7772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7BF27C2B-3098-4042-A4F0-76DD1522E21D}" type="slidenum">
              <a:rPr lang="en-US" altLang="en-US" sz="1400" smtClean="0">
                <a:solidFill>
                  <a:srgbClr val="990033"/>
                </a:solidFill>
              </a:rPr>
              <a:pPr>
                <a:spcBef>
                  <a:spcPct val="0"/>
                </a:spcBef>
                <a:buClrTx/>
                <a:buSzTx/>
                <a:buFontTx/>
                <a:buNone/>
              </a:pPr>
              <a:t>34</a:t>
            </a:fld>
            <a:endParaRPr lang="en-CA" altLang="en-US" sz="1400" smtClean="0">
              <a:solidFill>
                <a:srgbClr val="990033"/>
              </a:solidFill>
            </a:endParaRPr>
          </a:p>
        </p:txBody>
      </p:sp>
      <p:sp>
        <p:nvSpPr>
          <p:cNvPr id="76802" name="Rectangle 2"/>
          <p:cNvSpPr>
            <a:spLocks noGrp="1" noChangeArrowheads="1"/>
          </p:cNvSpPr>
          <p:nvPr>
            <p:ph type="title"/>
          </p:nvPr>
        </p:nvSpPr>
        <p:spPr>
          <a:xfrm>
            <a:off x="250825" y="303213"/>
            <a:ext cx="8534400" cy="842962"/>
          </a:xfrm>
        </p:spPr>
        <p:txBody>
          <a:bodyPr/>
          <a:lstStyle/>
          <a:p>
            <a:pPr eaLnBrk="1" hangingPunct="1"/>
            <a:r>
              <a:rPr lang="en-US" altLang="en-US" sz="2800" b="1" smtClean="0"/>
              <a:t>Mapping EER Model Constructs to Relations (contd.)</a:t>
            </a:r>
          </a:p>
        </p:txBody>
      </p:sp>
      <p:sp>
        <p:nvSpPr>
          <p:cNvPr id="76803" name="Rectangle 3"/>
          <p:cNvSpPr>
            <a:spLocks noGrp="1" noChangeArrowheads="1"/>
          </p:cNvSpPr>
          <p:nvPr>
            <p:ph type="body" idx="1"/>
          </p:nvPr>
        </p:nvSpPr>
        <p:spPr>
          <a:xfrm>
            <a:off x="409575" y="1962150"/>
            <a:ext cx="8375650" cy="4257675"/>
          </a:xfrm>
        </p:spPr>
        <p:txBody>
          <a:bodyPr/>
          <a:lstStyle/>
          <a:p>
            <a:pPr eaLnBrk="1" hangingPunct="1"/>
            <a:r>
              <a:rPr lang="en-US" altLang="en-US" sz="2400" b="1" smtClean="0"/>
              <a:t>Option 8D: Single relation with multiple type attributes</a:t>
            </a:r>
          </a:p>
          <a:p>
            <a:pPr lvl="1" eaLnBrk="1" hangingPunct="1"/>
            <a:r>
              <a:rPr lang="en-US" altLang="en-US" sz="2100" smtClean="0"/>
              <a:t>Create a single relation schema L with attributes Attrs(L) = {k,a</a:t>
            </a:r>
            <a:r>
              <a:rPr lang="en-US" altLang="en-US" sz="2100" baseline="-25000" smtClean="0"/>
              <a:t>1</a:t>
            </a:r>
            <a:r>
              <a:rPr lang="en-US" altLang="en-US" sz="2100" smtClean="0"/>
              <a:t>,…a</a:t>
            </a:r>
            <a:r>
              <a:rPr lang="en-US" altLang="en-US" sz="2100" baseline="-25000" smtClean="0"/>
              <a:t>n</a:t>
            </a:r>
            <a:r>
              <a:rPr lang="en-US" altLang="en-US" sz="2100" smtClean="0"/>
              <a:t>} U {attributes of S</a:t>
            </a:r>
            <a:r>
              <a:rPr lang="en-US" altLang="en-US" sz="2100" baseline="-25000" smtClean="0"/>
              <a:t>1</a:t>
            </a:r>
            <a:r>
              <a:rPr lang="en-US" altLang="en-US" sz="2100" smtClean="0"/>
              <a:t>} U…U {attributes of S</a:t>
            </a:r>
            <a:r>
              <a:rPr lang="en-US" altLang="en-US" sz="2100" baseline="-25000" smtClean="0"/>
              <a:t>m</a:t>
            </a:r>
            <a:r>
              <a:rPr lang="en-US" altLang="en-US" sz="2100" smtClean="0"/>
              <a:t>} U {t</a:t>
            </a:r>
            <a:r>
              <a:rPr lang="en-US" altLang="en-US" sz="2100" baseline="-25000" smtClean="0"/>
              <a:t>1</a:t>
            </a:r>
            <a:r>
              <a:rPr lang="en-US" altLang="en-US" sz="2100" smtClean="0"/>
              <a:t>, t</a:t>
            </a:r>
            <a:r>
              <a:rPr lang="en-US" altLang="en-US" sz="2100" baseline="-25000" smtClean="0"/>
              <a:t>2</a:t>
            </a:r>
            <a:r>
              <a:rPr lang="en-US" altLang="en-US" sz="2100" smtClean="0"/>
              <a:t>,</a:t>
            </a:r>
            <a:r>
              <a:rPr lang="en-US" altLang="en-US" sz="2100" smtClean="0">
                <a:latin typeface="Times New Roman" panose="02020603050405020304" pitchFamily="18" charset="0"/>
              </a:rPr>
              <a:t>…</a:t>
            </a:r>
            <a:r>
              <a:rPr lang="en-US" altLang="en-US" sz="2100" smtClean="0"/>
              <a:t>,t</a:t>
            </a:r>
            <a:r>
              <a:rPr lang="en-US" altLang="en-US" sz="2100" baseline="-25000" smtClean="0"/>
              <a:t>m</a:t>
            </a:r>
            <a:r>
              <a:rPr lang="en-US" altLang="en-US" sz="2100" smtClean="0"/>
              <a:t>} and PK(L) = k. </a:t>
            </a:r>
          </a:p>
          <a:p>
            <a:pPr lvl="1" eaLnBrk="1" hangingPunct="1"/>
            <a:r>
              <a:rPr lang="en-US" altLang="en-US" sz="2100" smtClean="0"/>
              <a:t>Each t</a:t>
            </a:r>
            <a:r>
              <a:rPr lang="en-US" altLang="en-US" sz="2100" baseline="-25000" smtClean="0"/>
              <a:t>i</a:t>
            </a:r>
            <a:r>
              <a:rPr lang="en-US" altLang="en-US" sz="2100" smtClean="0"/>
              <a:t>, 1 &lt; I &lt; m, is a Boolean type attribute indicating whether a tuple belongs to the subclass S</a:t>
            </a:r>
            <a:r>
              <a:rPr lang="en-US" altLang="en-US" sz="2100" baseline="-25000" smtClean="0"/>
              <a:t>i</a:t>
            </a:r>
            <a:r>
              <a:rPr lang="en-US" altLang="en-US" sz="2100" smtClean="0"/>
              <a:t>.</a:t>
            </a:r>
          </a:p>
        </p:txBody>
      </p:sp>
    </p:spTree>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0AC8D10D-5A9A-44E8-8E7C-22BB7B1C9FA9}" type="slidenum">
              <a:rPr lang="en-US" altLang="en-US" sz="1400" smtClean="0">
                <a:solidFill>
                  <a:srgbClr val="990033"/>
                </a:solidFill>
              </a:rPr>
              <a:pPr>
                <a:spcBef>
                  <a:spcPct val="0"/>
                </a:spcBef>
                <a:buClrTx/>
                <a:buSzTx/>
                <a:buFontTx/>
                <a:buNone/>
              </a:pPr>
              <a:t>35</a:t>
            </a:fld>
            <a:endParaRPr lang="en-CA" altLang="en-US" sz="1400" smtClean="0">
              <a:solidFill>
                <a:srgbClr val="990033"/>
              </a:solidFill>
            </a:endParaRPr>
          </a:p>
        </p:txBody>
      </p:sp>
      <p:sp>
        <p:nvSpPr>
          <p:cNvPr id="78850" name="Rectangle 2"/>
          <p:cNvSpPr>
            <a:spLocks noGrp="1" noChangeArrowheads="1"/>
          </p:cNvSpPr>
          <p:nvPr>
            <p:ph type="title"/>
          </p:nvPr>
        </p:nvSpPr>
        <p:spPr>
          <a:xfrm>
            <a:off x="533400" y="304800"/>
            <a:ext cx="7988300" cy="990600"/>
          </a:xfrm>
        </p:spPr>
        <p:txBody>
          <a:bodyPr anchor="t"/>
          <a:lstStyle/>
          <a:p>
            <a:pPr eaLnBrk="1" hangingPunct="1"/>
            <a:r>
              <a:rPr lang="en-US" altLang="en-US" sz="1800" b="1" smtClean="0"/>
              <a:t>FIGURE 4.5</a:t>
            </a:r>
            <a:r>
              <a:rPr lang="en-US" altLang="en-US" sz="1800" smtClean="0"/>
              <a:t/>
            </a:r>
            <a:br>
              <a:rPr lang="en-US" altLang="en-US" sz="1800" smtClean="0"/>
            </a:br>
            <a:r>
              <a:rPr lang="en-US" altLang="en-US" sz="1800" smtClean="0"/>
              <a:t>EER diagram notation for an overlapping (non-disjoint) specialization.</a:t>
            </a:r>
            <a:endParaRPr lang="en-US" altLang="en-US" smtClean="0"/>
          </a:p>
        </p:txBody>
      </p:sp>
      <p:pic>
        <p:nvPicPr>
          <p:cNvPr id="7885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98525" y="1644650"/>
            <a:ext cx="7343775" cy="4451350"/>
          </a:xfrm>
        </p:spPr>
      </p:pic>
    </p:spTree>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779B5C57-A817-4F7E-B5BA-8BD1C7DE66B5}" type="slidenum">
              <a:rPr lang="en-US" altLang="en-US" sz="1400" smtClean="0">
                <a:solidFill>
                  <a:srgbClr val="990033"/>
                </a:solidFill>
              </a:rPr>
              <a:pPr>
                <a:spcBef>
                  <a:spcPct val="0"/>
                </a:spcBef>
                <a:buClrTx/>
                <a:buSzTx/>
                <a:buFontTx/>
                <a:buNone/>
              </a:pPr>
              <a:t>36</a:t>
            </a:fld>
            <a:endParaRPr lang="en-CA" altLang="en-US" sz="1400" smtClean="0">
              <a:solidFill>
                <a:srgbClr val="990033"/>
              </a:solidFill>
            </a:endParaRPr>
          </a:p>
        </p:txBody>
      </p:sp>
      <p:sp>
        <p:nvSpPr>
          <p:cNvPr id="80898" name="Rectangle 2"/>
          <p:cNvSpPr>
            <a:spLocks noChangeArrowheads="1"/>
          </p:cNvSpPr>
          <p:nvPr/>
        </p:nvSpPr>
        <p:spPr bwMode="auto">
          <a:xfrm>
            <a:off x="685800" y="3587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800" b="1">
                <a:solidFill>
                  <a:srgbClr val="800000"/>
                </a:solidFill>
              </a:rPr>
              <a:t>FIGURE 7.4</a:t>
            </a:r>
            <a:br>
              <a:rPr lang="en-US" altLang="en-US" sz="1800" b="1">
                <a:solidFill>
                  <a:srgbClr val="800000"/>
                </a:solidFill>
              </a:rPr>
            </a:br>
            <a:r>
              <a:rPr lang="en-US" altLang="en-US" sz="1800">
                <a:solidFill>
                  <a:srgbClr val="800000"/>
                </a:solidFill>
              </a:rPr>
              <a:t>Options for mapping specialization or generalization. (d) Mapping Figure 4.5 using </a:t>
            </a:r>
            <a:r>
              <a:rPr lang="en-US" altLang="en-US" sz="1800" u="sng">
                <a:solidFill>
                  <a:srgbClr val="800000"/>
                </a:solidFill>
              </a:rPr>
              <a:t>option 8D</a:t>
            </a:r>
            <a:r>
              <a:rPr lang="en-US" altLang="en-US" sz="1800">
                <a:solidFill>
                  <a:srgbClr val="800000"/>
                </a:solidFill>
              </a:rPr>
              <a:t> with Boolean type fields Mflag and Pflag.</a:t>
            </a:r>
            <a:endParaRPr lang="en-US" altLang="en-US" sz="1800" b="1">
              <a:solidFill>
                <a:srgbClr val="800000"/>
              </a:solidFill>
            </a:endParaRPr>
          </a:p>
        </p:txBody>
      </p:sp>
      <p:pic>
        <p:nvPicPr>
          <p:cNvPr id="808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625" y="3043238"/>
            <a:ext cx="77755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38C86C34-2AA3-4534-A90A-92400A2D3F0C}" type="slidenum">
              <a:rPr lang="en-US" altLang="en-US" sz="1400" smtClean="0">
                <a:solidFill>
                  <a:srgbClr val="990033"/>
                </a:solidFill>
              </a:rPr>
              <a:pPr>
                <a:spcBef>
                  <a:spcPct val="0"/>
                </a:spcBef>
                <a:buClrTx/>
                <a:buSzTx/>
                <a:buFontTx/>
                <a:buNone/>
              </a:pPr>
              <a:t>37</a:t>
            </a:fld>
            <a:endParaRPr lang="en-CA" altLang="en-US" sz="1400" smtClean="0">
              <a:solidFill>
                <a:srgbClr val="990033"/>
              </a:solidFill>
            </a:endParaRPr>
          </a:p>
        </p:txBody>
      </p:sp>
      <p:sp>
        <p:nvSpPr>
          <p:cNvPr id="82946" name="Rectangle 4"/>
          <p:cNvSpPr>
            <a:spLocks noGrp="1" noChangeArrowheads="1"/>
          </p:cNvSpPr>
          <p:nvPr>
            <p:ph type="title"/>
          </p:nvPr>
        </p:nvSpPr>
        <p:spPr/>
        <p:txBody>
          <a:bodyPr/>
          <a:lstStyle/>
          <a:p>
            <a:pPr eaLnBrk="1" hangingPunct="1"/>
            <a:r>
              <a:rPr lang="en-US" altLang="en-US" sz="3200" smtClean="0"/>
              <a:t>Mapping EER Model Constructs to Relations (contd.)</a:t>
            </a:r>
          </a:p>
        </p:txBody>
      </p:sp>
      <p:sp>
        <p:nvSpPr>
          <p:cNvPr id="82947" name="Rectangle 5"/>
          <p:cNvSpPr>
            <a:spLocks noGrp="1" noChangeArrowheads="1"/>
          </p:cNvSpPr>
          <p:nvPr>
            <p:ph type="body" idx="1"/>
          </p:nvPr>
        </p:nvSpPr>
        <p:spPr/>
        <p:txBody>
          <a:bodyPr/>
          <a:lstStyle/>
          <a:p>
            <a:pPr eaLnBrk="1" hangingPunct="1"/>
            <a:r>
              <a:rPr lang="en-US" altLang="en-US" sz="2400" smtClean="0"/>
              <a:t>Mapping of Shared Subclasses (Multiple Inheritance)</a:t>
            </a:r>
          </a:p>
          <a:p>
            <a:pPr lvl="1" eaLnBrk="1" hangingPunct="1"/>
            <a:r>
              <a:rPr lang="en-US" altLang="en-US" sz="2200" smtClean="0"/>
              <a:t>A shared subclass, such as STUDENT_ASSISTANT, is a subclass of several classes, indicating multiple inheritance. </a:t>
            </a:r>
          </a:p>
          <a:p>
            <a:pPr lvl="1" eaLnBrk="1" hangingPunct="1"/>
            <a:r>
              <a:rPr lang="en-US" altLang="en-US" sz="2200" smtClean="0"/>
              <a:t>These classes must all have the same key attribute; otherwise, the shared subclass would be </a:t>
            </a:r>
            <a:r>
              <a:rPr lang="en-US" altLang="en-US" sz="2200" u="sng" smtClean="0"/>
              <a:t>modeled as a category.</a:t>
            </a:r>
          </a:p>
          <a:p>
            <a:pPr lvl="1" eaLnBrk="1" hangingPunct="1"/>
            <a:r>
              <a:rPr lang="en-US" altLang="en-US" sz="2200" smtClean="0"/>
              <a:t>We can apply any of the options discussed in Step 8 to a shared subclass, subject to the restriction discussed in Step 8 of the mapping algorithm. Below both </a:t>
            </a:r>
            <a:r>
              <a:rPr lang="en-US" altLang="en-US" sz="2200" u="sng" smtClean="0"/>
              <a:t>8C</a:t>
            </a:r>
            <a:r>
              <a:rPr lang="en-US" altLang="en-US" sz="2200" smtClean="0"/>
              <a:t> and </a:t>
            </a:r>
            <a:r>
              <a:rPr lang="en-US" altLang="en-US" sz="2200" u="sng" smtClean="0"/>
              <a:t>8D</a:t>
            </a:r>
            <a:r>
              <a:rPr lang="en-US" altLang="en-US" sz="2200" smtClean="0"/>
              <a:t> are used for the shared class STUDENT_ASSISTANT.</a:t>
            </a:r>
          </a:p>
        </p:txBody>
      </p:sp>
    </p:spTree>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706881B5-0B81-4C4D-8775-FC1D53DE0CAA}" type="slidenum">
              <a:rPr lang="en-US" altLang="en-US" sz="1400" smtClean="0">
                <a:solidFill>
                  <a:srgbClr val="990033"/>
                </a:solidFill>
              </a:rPr>
              <a:pPr>
                <a:spcBef>
                  <a:spcPct val="0"/>
                </a:spcBef>
                <a:buClrTx/>
                <a:buSzTx/>
                <a:buFontTx/>
                <a:buNone/>
              </a:pPr>
              <a:t>38</a:t>
            </a:fld>
            <a:endParaRPr lang="en-CA" altLang="en-US" sz="1400" smtClean="0">
              <a:solidFill>
                <a:srgbClr val="990033"/>
              </a:solidFill>
            </a:endParaRPr>
          </a:p>
        </p:txBody>
      </p:sp>
      <p:sp>
        <p:nvSpPr>
          <p:cNvPr id="84994" name="Rectangle 2"/>
          <p:cNvSpPr>
            <a:spLocks noGrp="1" noChangeArrowheads="1"/>
          </p:cNvSpPr>
          <p:nvPr>
            <p:ph type="title"/>
          </p:nvPr>
        </p:nvSpPr>
        <p:spPr>
          <a:xfrm>
            <a:off x="533400" y="304800"/>
            <a:ext cx="7772400" cy="990600"/>
          </a:xfrm>
        </p:spPr>
        <p:txBody>
          <a:bodyPr anchor="t"/>
          <a:lstStyle/>
          <a:p>
            <a:pPr eaLnBrk="1" hangingPunct="1"/>
            <a:r>
              <a:rPr lang="en-US" altLang="en-US" sz="1800" b="1" smtClean="0"/>
              <a:t>FIGURE 4.7</a:t>
            </a:r>
            <a:r>
              <a:rPr lang="en-US" altLang="en-US" sz="1800" smtClean="0"/>
              <a:t/>
            </a:r>
            <a:br>
              <a:rPr lang="en-US" altLang="en-US" sz="1800" smtClean="0"/>
            </a:br>
            <a:r>
              <a:rPr lang="en-US" altLang="en-US" sz="1800" smtClean="0"/>
              <a:t>A specialization lattice with multiple inheritance for a UNIVERSITY database.</a:t>
            </a:r>
            <a:endParaRPr lang="en-US" altLang="en-US" smtClean="0"/>
          </a:p>
        </p:txBody>
      </p:sp>
      <p:pic>
        <p:nvPicPr>
          <p:cNvPr id="84995"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446338" y="1524000"/>
            <a:ext cx="4335462" cy="4991100"/>
          </a:xfrm>
        </p:spPr>
      </p:pic>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02F7665C-E258-4B3B-A011-D7CE07B2294E}" type="slidenum">
              <a:rPr lang="en-US" altLang="en-US" sz="1400" smtClean="0">
                <a:solidFill>
                  <a:srgbClr val="990033"/>
                </a:solidFill>
              </a:rPr>
              <a:pPr>
                <a:spcBef>
                  <a:spcPct val="0"/>
                </a:spcBef>
                <a:buClrTx/>
                <a:buSzTx/>
                <a:buFontTx/>
                <a:buNone/>
              </a:pPr>
              <a:t>39</a:t>
            </a:fld>
            <a:endParaRPr lang="en-CA" altLang="en-US" sz="1400" smtClean="0">
              <a:solidFill>
                <a:srgbClr val="990033"/>
              </a:solidFill>
            </a:endParaRPr>
          </a:p>
        </p:txBody>
      </p:sp>
      <p:sp>
        <p:nvSpPr>
          <p:cNvPr id="87042" name="Rectangle 2"/>
          <p:cNvSpPr>
            <a:spLocks noGrp="1" noChangeArrowheads="1"/>
          </p:cNvSpPr>
          <p:nvPr>
            <p:ph type="title"/>
          </p:nvPr>
        </p:nvSpPr>
        <p:spPr>
          <a:xfrm>
            <a:off x="850900" y="406400"/>
            <a:ext cx="7173913" cy="1143000"/>
          </a:xfrm>
        </p:spPr>
        <p:txBody>
          <a:bodyPr anchor="t"/>
          <a:lstStyle/>
          <a:p>
            <a:pPr eaLnBrk="1" hangingPunct="1"/>
            <a:r>
              <a:rPr lang="en-US" altLang="en-US" sz="1800" b="1" smtClean="0"/>
              <a:t>FIGURE 7.5</a:t>
            </a:r>
            <a:br>
              <a:rPr lang="en-US" altLang="en-US" sz="1800" b="1" smtClean="0"/>
            </a:br>
            <a:r>
              <a:rPr lang="en-US" altLang="en-US" sz="1800" smtClean="0"/>
              <a:t>Mapping the EER specialization lattice in Figure 4.6 using multiple options.</a:t>
            </a:r>
            <a:endParaRPr lang="en-US" altLang="en-US" smtClean="0"/>
          </a:p>
        </p:txBody>
      </p:sp>
      <p:pic>
        <p:nvPicPr>
          <p:cNvPr id="87043"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850900" y="2065338"/>
            <a:ext cx="7772400" cy="3132137"/>
          </a:xfrm>
        </p:spPr>
      </p:pic>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3D1B8F85-29A4-44A3-85AF-8BC07F1263CB}" type="slidenum">
              <a:rPr lang="en-US" altLang="en-US" sz="1400" smtClean="0">
                <a:solidFill>
                  <a:srgbClr val="990033"/>
                </a:solidFill>
              </a:rPr>
              <a:pPr>
                <a:spcBef>
                  <a:spcPct val="0"/>
                </a:spcBef>
                <a:buClrTx/>
                <a:buSzTx/>
                <a:buFontTx/>
                <a:buNone/>
              </a:pPr>
              <a:t>40</a:t>
            </a:fld>
            <a:endParaRPr lang="en-CA" altLang="en-US" sz="1400" smtClean="0">
              <a:solidFill>
                <a:srgbClr val="990033"/>
              </a:solidFill>
            </a:endParaRPr>
          </a:p>
        </p:txBody>
      </p:sp>
      <p:sp>
        <p:nvSpPr>
          <p:cNvPr id="89090" name="Rectangle 4"/>
          <p:cNvSpPr>
            <a:spLocks noGrp="1" noChangeArrowheads="1"/>
          </p:cNvSpPr>
          <p:nvPr>
            <p:ph type="title"/>
          </p:nvPr>
        </p:nvSpPr>
        <p:spPr/>
        <p:txBody>
          <a:bodyPr/>
          <a:lstStyle/>
          <a:p>
            <a:pPr eaLnBrk="1" hangingPunct="1"/>
            <a:r>
              <a:rPr lang="en-US" altLang="en-US" sz="3200" smtClean="0"/>
              <a:t>Mapping EER Model Constructs to Relations (contd.)</a:t>
            </a:r>
          </a:p>
        </p:txBody>
      </p:sp>
      <p:sp>
        <p:nvSpPr>
          <p:cNvPr id="89091" name="Rectangle 5"/>
          <p:cNvSpPr>
            <a:spLocks noGrp="1" noChangeArrowheads="1"/>
          </p:cNvSpPr>
          <p:nvPr>
            <p:ph type="body" idx="1"/>
          </p:nvPr>
        </p:nvSpPr>
        <p:spPr/>
        <p:txBody>
          <a:bodyPr/>
          <a:lstStyle/>
          <a:p>
            <a:pPr eaLnBrk="1" hangingPunct="1">
              <a:lnSpc>
                <a:spcPct val="90000"/>
              </a:lnSpc>
            </a:pPr>
            <a:r>
              <a:rPr lang="en-US" altLang="en-US" b="1" smtClean="0"/>
              <a:t>Step 9: Mapping of Union Types (Categories).</a:t>
            </a:r>
          </a:p>
          <a:p>
            <a:pPr lvl="1" eaLnBrk="1" hangingPunct="1">
              <a:lnSpc>
                <a:spcPct val="90000"/>
              </a:lnSpc>
            </a:pPr>
            <a:r>
              <a:rPr lang="en-US" altLang="en-US" smtClean="0"/>
              <a:t>For mapping a category whose defining superclass have different keys, it is </a:t>
            </a:r>
            <a:r>
              <a:rPr lang="en-US" altLang="en-US" u="sng" smtClean="0"/>
              <a:t>customary to specify a new key attribute, called a surrogate key</a:t>
            </a:r>
            <a:r>
              <a:rPr lang="en-US" altLang="en-US" smtClean="0"/>
              <a:t>, when creating a relation to correspond to the category. </a:t>
            </a:r>
          </a:p>
          <a:p>
            <a:pPr lvl="1" eaLnBrk="1" hangingPunct="1">
              <a:lnSpc>
                <a:spcPct val="90000"/>
              </a:lnSpc>
            </a:pPr>
            <a:r>
              <a:rPr lang="en-US" altLang="en-US" smtClean="0"/>
              <a:t>In the example below we can create a relation OWNER to correspond to the OWNER category and include any attributes of the category in this relation. The primary key of the OWNER relation is the surrogate key, which we called OwnerId.</a:t>
            </a:r>
          </a:p>
        </p:txBody>
      </p:sp>
    </p:spTree>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13A9ED51-5354-4D14-85ED-F80E44BD229E}" type="slidenum">
              <a:rPr lang="en-US" altLang="en-US" sz="1400" smtClean="0">
                <a:solidFill>
                  <a:srgbClr val="990033"/>
                </a:solidFill>
              </a:rPr>
              <a:pPr>
                <a:spcBef>
                  <a:spcPct val="0"/>
                </a:spcBef>
                <a:buClrTx/>
                <a:buSzTx/>
                <a:buFontTx/>
                <a:buNone/>
              </a:pPr>
              <a:t>41</a:t>
            </a:fld>
            <a:endParaRPr lang="en-CA" altLang="en-US" sz="1400" smtClean="0">
              <a:solidFill>
                <a:srgbClr val="990033"/>
              </a:solidFill>
            </a:endParaRPr>
          </a:p>
        </p:txBody>
      </p:sp>
      <p:sp>
        <p:nvSpPr>
          <p:cNvPr id="91138" name="Rectangle 2"/>
          <p:cNvSpPr>
            <a:spLocks noGrp="1" noChangeArrowheads="1"/>
          </p:cNvSpPr>
          <p:nvPr>
            <p:ph type="title"/>
          </p:nvPr>
        </p:nvSpPr>
        <p:spPr>
          <a:xfrm>
            <a:off x="533400" y="304800"/>
            <a:ext cx="8281988" cy="914400"/>
          </a:xfrm>
        </p:spPr>
        <p:txBody>
          <a:bodyPr anchor="t"/>
          <a:lstStyle/>
          <a:p>
            <a:pPr eaLnBrk="1" hangingPunct="1"/>
            <a:r>
              <a:rPr lang="en-US" altLang="en-US" sz="1800" b="1" smtClean="0"/>
              <a:t>FIGURE 4.8</a:t>
            </a:r>
            <a:r>
              <a:rPr lang="en-US" altLang="en-US" sz="1800" smtClean="0"/>
              <a:t/>
            </a:r>
            <a:br>
              <a:rPr lang="en-US" altLang="en-US" sz="1800" smtClean="0"/>
            </a:br>
            <a:r>
              <a:rPr lang="en-US" altLang="en-US" sz="1800" smtClean="0"/>
              <a:t>Two categories (union types): OWNER and REGISTERED_VEHICLE.</a:t>
            </a:r>
            <a:endParaRPr lang="en-US" altLang="en-US" smtClean="0"/>
          </a:p>
        </p:txBody>
      </p:sp>
      <p:pic>
        <p:nvPicPr>
          <p:cNvPr id="91139"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78125" y="1600200"/>
            <a:ext cx="3592513" cy="4953000"/>
          </a:xfrm>
        </p:spPr>
      </p:pic>
    </p:spTree>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1353E93A-3483-499A-9806-94A348F0FB84}" type="slidenum">
              <a:rPr lang="en-US" altLang="en-US" sz="1400" smtClean="0">
                <a:solidFill>
                  <a:srgbClr val="990033"/>
                </a:solidFill>
              </a:rPr>
              <a:pPr>
                <a:spcBef>
                  <a:spcPct val="0"/>
                </a:spcBef>
                <a:buClrTx/>
                <a:buSzTx/>
                <a:buFontTx/>
                <a:buNone/>
              </a:pPr>
              <a:t>42</a:t>
            </a:fld>
            <a:endParaRPr lang="en-CA" altLang="en-US" sz="1400" smtClean="0">
              <a:solidFill>
                <a:srgbClr val="990033"/>
              </a:solidFill>
            </a:endParaRPr>
          </a:p>
        </p:txBody>
      </p:sp>
      <p:sp>
        <p:nvSpPr>
          <p:cNvPr id="93186" name="Rectangle 2"/>
          <p:cNvSpPr>
            <a:spLocks noGrp="1" noChangeArrowheads="1"/>
          </p:cNvSpPr>
          <p:nvPr>
            <p:ph type="title"/>
          </p:nvPr>
        </p:nvSpPr>
        <p:spPr>
          <a:xfrm>
            <a:off x="457200" y="228600"/>
            <a:ext cx="7924800" cy="914400"/>
          </a:xfrm>
        </p:spPr>
        <p:txBody>
          <a:bodyPr anchor="t"/>
          <a:lstStyle/>
          <a:p>
            <a:pPr eaLnBrk="1" hangingPunct="1"/>
            <a:r>
              <a:rPr lang="en-US" altLang="en-US" sz="1800" b="1" smtClean="0"/>
              <a:t>FIGURE 7.6</a:t>
            </a:r>
            <a:br>
              <a:rPr lang="en-US" altLang="en-US" sz="1800" b="1" smtClean="0"/>
            </a:br>
            <a:r>
              <a:rPr lang="en-US" altLang="en-US" sz="1800" smtClean="0"/>
              <a:t>Mapping the EER categories (union types) in Figure 4.7 to relations.</a:t>
            </a:r>
            <a:endParaRPr lang="en-US" altLang="en-US" smtClean="0"/>
          </a:p>
        </p:txBody>
      </p:sp>
      <p:pic>
        <p:nvPicPr>
          <p:cNvPr id="9318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78138" y="1600200"/>
            <a:ext cx="3903662" cy="4953000"/>
          </a:xfrm>
        </p:spPr>
      </p:pic>
    </p:spTree>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0CFEEF65-A5FE-4CBD-885F-1C23C405251F}" type="slidenum">
              <a:rPr lang="en-US" altLang="en-US" sz="1400" smtClean="0">
                <a:solidFill>
                  <a:srgbClr val="990033"/>
                </a:solidFill>
              </a:rPr>
              <a:pPr>
                <a:spcBef>
                  <a:spcPct val="0"/>
                </a:spcBef>
                <a:buClrTx/>
                <a:buSzTx/>
                <a:buFontTx/>
                <a:buNone/>
              </a:pPr>
              <a:t>43</a:t>
            </a:fld>
            <a:endParaRPr lang="en-CA" altLang="en-US" sz="1400" smtClean="0">
              <a:solidFill>
                <a:srgbClr val="990033"/>
              </a:solidFill>
            </a:endParaRPr>
          </a:p>
        </p:txBody>
      </p:sp>
      <p:pic>
        <p:nvPicPr>
          <p:cNvPr id="952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113" y="1684338"/>
            <a:ext cx="7304087" cy="471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5235" name="Rectangle 3"/>
          <p:cNvSpPr>
            <a:spLocks noGrp="1" noChangeArrowheads="1"/>
          </p:cNvSpPr>
          <p:nvPr>
            <p:ph type="title"/>
          </p:nvPr>
        </p:nvSpPr>
        <p:spPr>
          <a:xfrm>
            <a:off x="371475" y="303213"/>
            <a:ext cx="8534400" cy="842962"/>
          </a:xfrm>
        </p:spPr>
        <p:txBody>
          <a:bodyPr/>
          <a:lstStyle/>
          <a:p>
            <a:pPr eaLnBrk="1" hangingPunct="1"/>
            <a:r>
              <a:rPr lang="en-US" altLang="en-US" sz="3200" b="1" smtClean="0"/>
              <a:t>Mapping Exercise</a:t>
            </a:r>
          </a:p>
        </p:txBody>
      </p:sp>
      <p:sp>
        <p:nvSpPr>
          <p:cNvPr id="95236" name="Rectangle 4"/>
          <p:cNvSpPr>
            <a:spLocks noGrp="1" noChangeArrowheads="1"/>
          </p:cNvSpPr>
          <p:nvPr>
            <p:ph type="body" idx="1"/>
          </p:nvPr>
        </p:nvSpPr>
        <p:spPr>
          <a:xfrm>
            <a:off x="371475" y="1146175"/>
            <a:ext cx="8413750" cy="5054600"/>
          </a:xfrm>
        </p:spPr>
        <p:txBody>
          <a:bodyPr/>
          <a:lstStyle/>
          <a:p>
            <a:pPr eaLnBrk="1" hangingPunct="1">
              <a:buFont typeface="Wingdings" panose="05000000000000000000" pitchFamily="2" charset="2"/>
              <a:buNone/>
            </a:pPr>
            <a:r>
              <a:rPr lang="en-US" altLang="en-US" sz="1800" smtClean="0"/>
              <a:t>Exercise 7.4.</a:t>
            </a:r>
            <a:endParaRPr lang="en-US" altLang="en-US" sz="2400" b="1" smtClean="0">
              <a:solidFill>
                <a:srgbClr val="FF0066"/>
              </a:solidFill>
            </a:endParaRPr>
          </a:p>
          <a:p>
            <a:pPr eaLnBrk="1" hangingPunct="1">
              <a:buFont typeface="Wingdings" panose="05000000000000000000" pitchFamily="2" charset="2"/>
              <a:buNone/>
            </a:pPr>
            <a:endParaRPr lang="en-US" altLang="en-US" sz="2400" smtClean="0"/>
          </a:p>
          <a:p>
            <a:pPr eaLnBrk="1" hangingPunct="1">
              <a:buFont typeface="Wingdings" panose="05000000000000000000" pitchFamily="2" charset="2"/>
              <a:buNone/>
            </a:pPr>
            <a:endParaRPr lang="en-US" altLang="en-US" sz="2400" smtClean="0"/>
          </a:p>
        </p:txBody>
      </p:sp>
      <p:sp>
        <p:nvSpPr>
          <p:cNvPr id="95237" name="Rectangle 5"/>
          <p:cNvSpPr>
            <a:spLocks noChangeArrowheads="1"/>
          </p:cNvSpPr>
          <p:nvPr/>
        </p:nvSpPr>
        <p:spPr bwMode="auto">
          <a:xfrm>
            <a:off x="5791200" y="1684338"/>
            <a:ext cx="2994025" cy="1211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eaLnBrk="1" hangingPunct="1">
              <a:spcBef>
                <a:spcPct val="0"/>
              </a:spcBef>
              <a:buClrTx/>
              <a:buSzTx/>
              <a:buFontTx/>
              <a:buNone/>
            </a:pPr>
            <a:r>
              <a:rPr lang="en-US" altLang="en-US" sz="1800" b="1">
                <a:solidFill>
                  <a:srgbClr val="800000"/>
                </a:solidFill>
              </a:rPr>
              <a:t>FIGURE 7.7</a:t>
            </a:r>
            <a:br>
              <a:rPr lang="en-US" altLang="en-US" sz="1800" b="1">
                <a:solidFill>
                  <a:srgbClr val="800000"/>
                </a:solidFill>
              </a:rPr>
            </a:br>
            <a:r>
              <a:rPr lang="en-US" altLang="en-US" sz="1800">
                <a:solidFill>
                  <a:srgbClr val="800000"/>
                </a:solidFill>
              </a:rPr>
              <a:t>An ER schema for a SHIP_TRACKING database.</a:t>
            </a:r>
            <a:r>
              <a:rPr lang="en-US" altLang="en-US" sz="1800" b="1">
                <a:solidFill>
                  <a:srgbClr val="800000"/>
                </a:solidFill>
              </a:rPr>
              <a:t/>
            </a:r>
            <a:br>
              <a:rPr lang="en-US" altLang="en-US" sz="1800" b="1">
                <a:solidFill>
                  <a:srgbClr val="800000"/>
                </a:solidFill>
              </a:rPr>
            </a:br>
            <a:endParaRPr lang="en-US" altLang="en-US" sz="1800" b="1">
              <a:solidFill>
                <a:srgbClr val="800000"/>
              </a:solidFill>
            </a:endParaRPr>
          </a:p>
        </p:txBody>
      </p:sp>
    </p:spTree>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altLang="en-US" sz="1400" smtClean="0">
                <a:solidFill>
                  <a:srgbClr val="990033"/>
                </a:solidFill>
              </a:rPr>
              <a:t>Slide 7- </a:t>
            </a:r>
            <a:fld id="{E09DDFE9-2C12-425B-9849-E6E1675396CE}" type="slidenum">
              <a:rPr lang="en-US" altLang="en-US" sz="1400" smtClean="0">
                <a:solidFill>
                  <a:srgbClr val="990033"/>
                </a:solidFill>
              </a:rPr>
              <a:pPr>
                <a:spcBef>
                  <a:spcPct val="0"/>
                </a:spcBef>
                <a:buClrTx/>
                <a:buSzTx/>
                <a:buFontTx/>
                <a:buNone/>
              </a:pPr>
              <a:t>44</a:t>
            </a:fld>
            <a:endParaRPr lang="en-CA" altLang="en-US" sz="1400" smtClean="0">
              <a:solidFill>
                <a:srgbClr val="990033"/>
              </a:solidFill>
            </a:endParaRPr>
          </a:p>
        </p:txBody>
      </p:sp>
      <p:sp>
        <p:nvSpPr>
          <p:cNvPr id="97282" name="Rectangle 2"/>
          <p:cNvSpPr>
            <a:spLocks noGrp="1" noChangeArrowheads="1"/>
          </p:cNvSpPr>
          <p:nvPr>
            <p:ph type="title"/>
          </p:nvPr>
        </p:nvSpPr>
        <p:spPr/>
        <p:txBody>
          <a:bodyPr/>
          <a:lstStyle/>
          <a:p>
            <a:pPr eaLnBrk="1" hangingPunct="1"/>
            <a:r>
              <a:rPr lang="en-US" altLang="en-US" smtClean="0"/>
              <a:t>Chapter Summary</a:t>
            </a:r>
          </a:p>
        </p:txBody>
      </p:sp>
      <p:sp>
        <p:nvSpPr>
          <p:cNvPr id="97283" name="Rectangle 3"/>
          <p:cNvSpPr>
            <a:spLocks noGrp="1" noChangeArrowheads="1"/>
          </p:cNvSpPr>
          <p:nvPr>
            <p:ph type="body" idx="1"/>
          </p:nvPr>
        </p:nvSpPr>
        <p:spPr/>
        <p:txBody>
          <a:bodyPr/>
          <a:lstStyle/>
          <a:p>
            <a:pPr eaLnBrk="1" hangingPunct="1">
              <a:lnSpc>
                <a:spcPct val="80000"/>
              </a:lnSpc>
            </a:pPr>
            <a:r>
              <a:rPr lang="en-US" altLang="en-US" sz="2400" b="1" smtClean="0"/>
              <a:t>ER-to-Relational Mapping Algorithm </a:t>
            </a:r>
          </a:p>
          <a:p>
            <a:pPr lvl="1" eaLnBrk="1" hangingPunct="1">
              <a:lnSpc>
                <a:spcPct val="80000"/>
              </a:lnSpc>
            </a:pPr>
            <a:r>
              <a:rPr lang="en-US" altLang="en-US" sz="2100" smtClean="0"/>
              <a:t>Step 1: Mapping of Regular Entity Types</a:t>
            </a:r>
          </a:p>
          <a:p>
            <a:pPr lvl="1" eaLnBrk="1" hangingPunct="1">
              <a:lnSpc>
                <a:spcPct val="80000"/>
              </a:lnSpc>
            </a:pPr>
            <a:r>
              <a:rPr lang="en-US" altLang="en-US" sz="2100" smtClean="0"/>
              <a:t>Step 2: Mapping of Weak Entity Types</a:t>
            </a:r>
          </a:p>
          <a:p>
            <a:pPr lvl="1" eaLnBrk="1" hangingPunct="1">
              <a:lnSpc>
                <a:spcPct val="80000"/>
              </a:lnSpc>
            </a:pPr>
            <a:r>
              <a:rPr lang="en-US" altLang="en-US" sz="2100" smtClean="0"/>
              <a:t>Step 3: Mapping of Binary 1:1 Relation Types</a:t>
            </a:r>
          </a:p>
          <a:p>
            <a:pPr lvl="1" eaLnBrk="1" hangingPunct="1">
              <a:lnSpc>
                <a:spcPct val="80000"/>
              </a:lnSpc>
            </a:pPr>
            <a:r>
              <a:rPr lang="en-US" altLang="en-US" sz="2100" smtClean="0"/>
              <a:t>Step 4: Mapping of Binary 1:N Relationship Types.</a:t>
            </a:r>
          </a:p>
          <a:p>
            <a:pPr lvl="1" eaLnBrk="1" hangingPunct="1">
              <a:lnSpc>
                <a:spcPct val="80000"/>
              </a:lnSpc>
            </a:pPr>
            <a:r>
              <a:rPr lang="en-US" altLang="en-US" sz="2100" smtClean="0"/>
              <a:t>Step 5: Mapping of Binary M:N Relationship Types.</a:t>
            </a:r>
          </a:p>
          <a:p>
            <a:pPr lvl="1" eaLnBrk="1" hangingPunct="1">
              <a:lnSpc>
                <a:spcPct val="80000"/>
              </a:lnSpc>
            </a:pPr>
            <a:r>
              <a:rPr lang="en-US" altLang="en-US" sz="2100" smtClean="0"/>
              <a:t>Step 6: Mapping of Multivalued attributes.</a:t>
            </a:r>
          </a:p>
          <a:p>
            <a:pPr lvl="1" eaLnBrk="1" hangingPunct="1">
              <a:lnSpc>
                <a:spcPct val="80000"/>
              </a:lnSpc>
            </a:pPr>
            <a:r>
              <a:rPr lang="en-US" altLang="en-US" sz="2100" smtClean="0"/>
              <a:t>Step 7: Mapping of N-ary Relationship Types.</a:t>
            </a:r>
          </a:p>
          <a:p>
            <a:pPr lvl="1" eaLnBrk="1" hangingPunct="1">
              <a:lnSpc>
                <a:spcPct val="80000"/>
              </a:lnSpc>
            </a:pPr>
            <a:endParaRPr lang="en-US" altLang="en-US" sz="2100" smtClean="0"/>
          </a:p>
          <a:p>
            <a:pPr eaLnBrk="1" hangingPunct="1">
              <a:lnSpc>
                <a:spcPct val="80000"/>
              </a:lnSpc>
            </a:pPr>
            <a:r>
              <a:rPr lang="en-US" altLang="en-US" sz="2400" b="1" smtClean="0"/>
              <a:t>Mapping EER Model Constructs to Relations </a:t>
            </a:r>
          </a:p>
          <a:p>
            <a:pPr lvl="1" eaLnBrk="1" hangingPunct="1">
              <a:lnSpc>
                <a:spcPct val="80000"/>
              </a:lnSpc>
            </a:pPr>
            <a:r>
              <a:rPr lang="en-US" altLang="en-US" sz="2100" smtClean="0"/>
              <a:t>Step 8: Options for Mapping Specialization or Generalization.</a:t>
            </a:r>
          </a:p>
          <a:p>
            <a:pPr lvl="1" eaLnBrk="1" hangingPunct="1">
              <a:lnSpc>
                <a:spcPct val="80000"/>
              </a:lnSpc>
            </a:pPr>
            <a:r>
              <a:rPr lang="en-US" altLang="en-US" sz="2100" smtClean="0"/>
              <a:t>Step 9: Mapping of Union Types (Categories).</a:t>
            </a:r>
          </a:p>
        </p:txBody>
      </p:sp>
    </p:spTree>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1305</TotalTime>
  <Words>2156</Words>
  <Application>Microsoft Office PowerPoint</Application>
  <PresentationFormat>Letter Paper (8.5x11 in)</PresentationFormat>
  <Paragraphs>274</Paragraphs>
  <Slides>44</Slides>
  <Notes>38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0" baseType="lpstr">
      <vt:lpstr>Arial</vt:lpstr>
      <vt:lpstr>Wingdings</vt:lpstr>
      <vt:lpstr>Tahoma</vt:lpstr>
      <vt:lpstr>Times New Roman</vt:lpstr>
      <vt:lpstr>Blends</vt:lpstr>
      <vt:lpstr>Bitmap Image</vt:lpstr>
      <vt:lpstr>PowerPoint Presentation</vt:lpstr>
      <vt:lpstr>Chapter 7</vt:lpstr>
      <vt:lpstr>Chapter Outline</vt:lpstr>
      <vt:lpstr> ER-to-Relational Mapping Algorithm</vt:lpstr>
      <vt:lpstr>FIGURE 7.1 The ER conceptual schema diagram for the COMPANY database.</vt:lpstr>
      <vt:lpstr>FIGURE 7.2 Result of mapping the COMPANY ER schema into a relational schema.</vt:lpstr>
      <vt:lpstr> ER-to-Relational Mapping Algorithm (contd.)</vt:lpstr>
      <vt:lpstr> ER-to-Relational Mapping Algorithm (contd.)</vt:lpstr>
      <vt:lpstr> ER-to-Relational Mapping Algorithm (contd.)</vt:lpstr>
      <vt:lpstr> ER-to-Relational Mapping Algorithm (contd.)</vt:lpstr>
      <vt:lpstr> ER-to-Relational Mapping Algorithm (contd.)</vt:lpstr>
      <vt:lpstr> ER-to-Relational Mapping Algorithm (contd.)</vt:lpstr>
      <vt:lpstr> ER-to-Relational Mapping Algorithm (contd.)</vt:lpstr>
      <vt:lpstr> ER-to-Relational Mapping Algorithm (contd.)</vt:lpstr>
      <vt:lpstr> ER-to-Relational Mapping Algorithm (contd.)</vt:lpstr>
      <vt:lpstr> ER-to-Relational Mapping Algorithm (contd.)</vt:lpstr>
      <vt:lpstr> ER-to-Relational Mapping Algorithm (contd.)</vt:lpstr>
      <vt:lpstr>FIGURE 4.11 Ternary relationship types. (a) The SUPPLY relationship. </vt:lpstr>
      <vt:lpstr>FIGURE 7.3 Mapping the n-ary relationship type SUPPLY from Figure 4.11a.</vt:lpstr>
      <vt:lpstr>Mapping of Recursive Relationship Types</vt:lpstr>
      <vt:lpstr>Mapping of Recursive Relationship Types</vt:lpstr>
      <vt:lpstr>Example: Recursive Relationship</vt:lpstr>
      <vt:lpstr> Summary of Mapping constructs and constraints</vt:lpstr>
      <vt:lpstr>Mapping EER Model Constructs to Relations </vt:lpstr>
      <vt:lpstr>Mapping EER Model Constructs to Relations </vt:lpstr>
      <vt:lpstr>FIGURE 4.4 EER diagram notation for an attribute-defined specialization on JobType.</vt:lpstr>
      <vt:lpstr>PowerPoint Presentation</vt:lpstr>
      <vt:lpstr>Mapping EER Model Constructs to Relations </vt:lpstr>
      <vt:lpstr>FIGURE 4.3 Generalization. (b) Generalizing CAR and TRUCK into the superclass VEHICLE.</vt:lpstr>
      <vt:lpstr>PowerPoint Presentation</vt:lpstr>
      <vt:lpstr>Mapping EER Model Constructs to Relations (contd.)</vt:lpstr>
      <vt:lpstr>FIGURE 4.4 EER diagram notation for an attribute-defined specialization on JobType.</vt:lpstr>
      <vt:lpstr>PowerPoint Presentation</vt:lpstr>
      <vt:lpstr>Mapping EER Model Constructs to Relations (contd.)</vt:lpstr>
      <vt:lpstr>FIGURE 4.5 EER diagram notation for an overlapping (non-disjoint) specialization.</vt:lpstr>
      <vt:lpstr>PowerPoint Presentation</vt:lpstr>
      <vt:lpstr>Mapping EER Model Constructs to Relations (contd.)</vt:lpstr>
      <vt:lpstr>FIGURE 4.7 A specialization lattice with multiple inheritance for a UNIVERSITY database.</vt:lpstr>
      <vt:lpstr>FIGURE 7.5 Mapping the EER specialization lattice in Figure 4.6 using multiple options.</vt:lpstr>
      <vt:lpstr>Mapping EER Model Constructs to Relations (contd.)</vt:lpstr>
      <vt:lpstr>FIGURE 4.8 Two categories (union types): OWNER and REGISTERED_VEHICLE.</vt:lpstr>
      <vt:lpstr>FIGURE 7.6 Mapping the EER categories (union types) in Figure 4.7 to relations.</vt:lpstr>
      <vt:lpstr>Mapping Exercise</vt:lpstr>
      <vt:lpstr>Chapter Summary</vt:lpstr>
    </vt:vector>
  </TitlesOfParts>
  <Manager/>
  <Company>Copyright © 2007 Ramez Elmasri and Shamkant B. Navathe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dc:title>
  <dc:subject>Relational Database Design by ER- and EERR-to-Relational Mapping</dc:subject>
  <dc:creator>Elmasri/Navathe</dc:creator>
  <cp:keywords/>
  <dc:description/>
  <cp:lastModifiedBy>user1</cp:lastModifiedBy>
  <cp:revision>96</cp:revision>
  <cp:lastPrinted>2001-11-04T00:51:13Z</cp:lastPrinted>
  <dcterms:created xsi:type="dcterms:W3CDTF">2005-02-25T19:46:41Z</dcterms:created>
  <dcterms:modified xsi:type="dcterms:W3CDTF">2025-07-28T10:25:47Z</dcterms:modified>
  <cp:category/>
</cp:coreProperties>
</file>