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89"/>
  </p:notesMasterIdLst>
  <p:handoutMasterIdLst>
    <p:handoutMasterId r:id="rId90"/>
  </p:handoutMasterIdLst>
  <p:sldIdLst>
    <p:sldId id="256" r:id="rId2"/>
    <p:sldId id="258" r:id="rId3"/>
    <p:sldId id="300" r:id="rId4"/>
    <p:sldId id="310" r:id="rId5"/>
    <p:sldId id="301" r:id="rId6"/>
    <p:sldId id="260" r:id="rId7"/>
    <p:sldId id="259" r:id="rId8"/>
    <p:sldId id="684" r:id="rId9"/>
    <p:sldId id="678" r:id="rId10"/>
    <p:sldId id="304" r:id="rId11"/>
    <p:sldId id="262" r:id="rId12"/>
    <p:sldId id="261" r:id="rId13"/>
    <p:sldId id="685" r:id="rId14"/>
    <p:sldId id="679" r:id="rId15"/>
    <p:sldId id="305" r:id="rId16"/>
    <p:sldId id="371" r:id="rId17"/>
    <p:sldId id="372" r:id="rId18"/>
    <p:sldId id="373" r:id="rId19"/>
    <p:sldId id="370" r:id="rId20"/>
    <p:sldId id="306" r:id="rId21"/>
    <p:sldId id="327" r:id="rId22"/>
    <p:sldId id="264" r:id="rId23"/>
    <p:sldId id="263" r:id="rId24"/>
    <p:sldId id="266" r:id="rId25"/>
    <p:sldId id="265" r:id="rId26"/>
    <p:sldId id="307" r:id="rId27"/>
    <p:sldId id="308" r:id="rId28"/>
    <p:sldId id="311" r:id="rId29"/>
    <p:sldId id="312" r:id="rId30"/>
    <p:sldId id="690" r:id="rId31"/>
    <p:sldId id="691" r:id="rId32"/>
    <p:sldId id="376" r:id="rId33"/>
    <p:sldId id="378" r:id="rId34"/>
    <p:sldId id="379" r:id="rId35"/>
    <p:sldId id="380" r:id="rId36"/>
    <p:sldId id="313" r:id="rId37"/>
    <p:sldId id="375" r:id="rId38"/>
    <p:sldId id="357" r:id="rId39"/>
    <p:sldId id="358" r:id="rId40"/>
    <p:sldId id="268" r:id="rId41"/>
    <p:sldId id="267" r:id="rId42"/>
    <p:sldId id="339" r:id="rId43"/>
    <p:sldId id="686" r:id="rId44"/>
    <p:sldId id="687" r:id="rId45"/>
    <p:sldId id="688" r:id="rId46"/>
    <p:sldId id="321" r:id="rId47"/>
    <p:sldId id="680" r:id="rId48"/>
    <p:sldId id="337" r:id="rId49"/>
    <p:sldId id="338" r:id="rId50"/>
    <p:sldId id="681" r:id="rId51"/>
    <p:sldId id="682" r:id="rId52"/>
    <p:sldId id="326" r:id="rId53"/>
    <p:sldId id="340" r:id="rId54"/>
    <p:sldId id="332" r:id="rId55"/>
    <p:sldId id="341" r:id="rId56"/>
    <p:sldId id="360" r:id="rId57"/>
    <p:sldId id="342" r:id="rId58"/>
    <p:sldId id="324" r:id="rId59"/>
    <p:sldId id="325" r:id="rId60"/>
    <p:sldId id="343" r:id="rId61"/>
    <p:sldId id="689" r:id="rId62"/>
    <p:sldId id="331" r:id="rId63"/>
    <p:sldId id="328" r:id="rId64"/>
    <p:sldId id="683" r:id="rId65"/>
    <p:sldId id="335" r:id="rId66"/>
    <p:sldId id="334" r:id="rId67"/>
    <p:sldId id="336" r:id="rId68"/>
    <p:sldId id="322" r:id="rId69"/>
    <p:sldId id="344" r:id="rId70"/>
    <p:sldId id="351" r:id="rId71"/>
    <p:sldId id="352" r:id="rId72"/>
    <p:sldId id="353" r:id="rId73"/>
    <p:sldId id="354" r:id="rId74"/>
    <p:sldId id="355" r:id="rId75"/>
    <p:sldId id="356" r:id="rId76"/>
    <p:sldId id="347" r:id="rId77"/>
    <p:sldId id="348" r:id="rId78"/>
    <p:sldId id="359" r:id="rId79"/>
    <p:sldId id="361" r:id="rId80"/>
    <p:sldId id="362" r:id="rId81"/>
    <p:sldId id="363" r:id="rId82"/>
    <p:sldId id="364" r:id="rId83"/>
    <p:sldId id="365" r:id="rId84"/>
    <p:sldId id="366" r:id="rId85"/>
    <p:sldId id="369" r:id="rId86"/>
    <p:sldId id="368" r:id="rId87"/>
    <p:sldId id="381" r:id="rId8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0"/>
    <p:restoredTop sz="81239" autoAdjust="0"/>
  </p:normalViewPr>
  <p:slideViewPr>
    <p:cSldViewPr>
      <p:cViewPr varScale="1">
        <p:scale>
          <a:sx n="60" d="100"/>
          <a:sy n="60" d="100"/>
        </p:scale>
        <p:origin x="1314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14" d="100"/>
        <a:sy n="114" d="100"/>
      </p:scale>
      <p:origin x="0" y="0"/>
    </p:cViewPr>
  </p:notesTextViewPr>
  <p:sorterViewPr>
    <p:cViewPr>
      <p:scale>
        <a:sx n="100" d="100"/>
        <a:sy n="100" d="100"/>
      </p:scale>
      <p:origin x="0" y="17508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FE7C8361-5388-2840-8D07-6D326258E67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636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A8EED7A0-22E9-9E42-8BA7-26B85BE4280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636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F14E9978-C661-D945-894C-7658DCE93E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636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9D2CDC6B-90C3-F34E-952A-FA06DCA4B1A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636" eaLnBrk="0" hangingPunct="0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F0B0F5CC-738D-4599-A52D-F972FB92F7AC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E5FC862-F2DC-B646-BF04-01AECF04AD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636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7A7C4B0-BE3E-7B4A-A639-415DAE9457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636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36501B88-0762-014E-BE9E-6C2748C045D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E0AE27A6-8C5B-5840-8E96-82055598ECE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636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D19D48BE-0383-6144-9211-A8BF122698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636" eaLnBrk="0" hangingPunct="0"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57991C37-6E20-49AF-84C0-9AA232A5E755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Select symbol is called ‘sigma’</a:t>
            </a:r>
          </a:p>
        </p:txBody>
      </p:sp>
      <p:sp>
        <p:nvSpPr>
          <p:cNvPr id="13316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C1B20EB-0621-4C5D-995D-88F7E6F8956F}" type="slidenum">
              <a:rPr lang="ar-SA" altLang="en-US" sz="1200" smtClean="0">
                <a:latin typeface="Times New Roman" panose="02020603050405020304" pitchFamily="18" charset="0"/>
              </a:rPr>
              <a:pPr/>
              <a:t>6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In a relational model, relationships are </a:t>
            </a:r>
            <a:r>
              <a:rPr lang="en-US" altLang="en-US" b="1" smtClean="0"/>
              <a:t>sets</a:t>
            </a:r>
            <a:r>
              <a:rPr lang="en-US" altLang="en-US" smtClean="0"/>
              <a:t> of tuples that, by definition, do not contain "duplicate" records.</a:t>
            </a:r>
          </a:p>
        </p:txBody>
      </p:sp>
      <p:sp>
        <p:nvSpPr>
          <p:cNvPr id="2048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87784DA-6FC9-471E-9548-A811FB5C2E4A}" type="slidenum">
              <a:rPr lang="ar-SA" altLang="en-US" sz="12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In a relational model, relationships are </a:t>
            </a:r>
            <a:r>
              <a:rPr lang="en-US" altLang="en-US" b="1" smtClean="0"/>
              <a:t>sets</a:t>
            </a:r>
            <a:r>
              <a:rPr lang="en-US" altLang="en-US" smtClean="0"/>
              <a:t> of tuples that, by definition, do not contain "duplicate" records.</a:t>
            </a:r>
          </a:p>
        </p:txBody>
      </p:sp>
      <p:sp>
        <p:nvSpPr>
          <p:cNvPr id="2253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8E82939-8828-40DE-A2CF-FCCD34D6D05E}" type="slidenum">
              <a:rPr lang="ar-SA" altLang="en-US" sz="12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Rename or alias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072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F9FC761-A3CE-4D2D-95E6-0E8F8AC4E5DB}" type="slidenum">
              <a:rPr lang="ar-SA" altLang="en-US" sz="1200" smtClean="0">
                <a:latin typeface="Times New Roman" panose="02020603050405020304" pitchFamily="18" charset="0"/>
              </a:rPr>
              <a:pPr/>
              <a:t>20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For all B, same value of A is the result</a:t>
            </a:r>
          </a:p>
        </p:txBody>
      </p:sp>
      <p:sp>
        <p:nvSpPr>
          <p:cNvPr id="40964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A145EB-2FEA-4A0F-8794-19DCC96213ED}" type="slidenum">
              <a:rPr lang="ar-SA" altLang="en-US" sz="1200" smtClean="0">
                <a:latin typeface="Times New Roman" panose="02020603050405020304" pitchFamily="18" charset="0"/>
              </a:rPr>
              <a:pPr/>
              <a:t>29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301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F447A8DA-4DF3-4ACB-93E9-736E4E7DC6A8}" type="slidenum">
              <a:rPr lang="ar-SA" altLang="en-US" sz="1200" smtClean="0">
                <a:latin typeface="Times New Roman" panose="02020603050405020304" pitchFamily="18" charset="0"/>
              </a:rPr>
              <a:pPr/>
              <a:t>30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5060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1FFAF75-8DEB-402A-8FA9-C26913C8D62F}" type="slidenum">
              <a:rPr lang="ar-SA" altLang="en-US" sz="1200" smtClean="0">
                <a:latin typeface="Times New Roman" panose="02020603050405020304" pitchFamily="18" charset="0"/>
              </a:rPr>
              <a:pPr/>
              <a:t>31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7108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1D907C2-8B42-459A-9406-9CCE2A0144C5}" type="slidenum">
              <a:rPr lang="ar-SA" altLang="en-US" sz="1200" smtClean="0">
                <a:latin typeface="Times New Roman" panose="02020603050405020304" pitchFamily="18" charset="0"/>
              </a:rPr>
              <a:pPr/>
              <a:t>32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Temp1 can be treated as a table, or back arrow means record is inserted into Temp1 table already created</a:t>
            </a:r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8825" indent="-2921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8400" indent="-233363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5125" indent="-233363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03438" indent="-233363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06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178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750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322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D0B107C-DC24-4310-930E-96A419D93FB5}" type="slidenum">
              <a:rPr lang="ar-SA" altLang="en-US" smtClean="0"/>
              <a:pPr>
                <a:spcBef>
                  <a:spcPct val="0"/>
                </a:spcBef>
              </a:pPr>
              <a:t>39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Do natual join on either (emp and dept) or (emp and jobs)</a:t>
            </a:r>
          </a:p>
          <a:p>
            <a:r>
              <a:rPr lang="en-US" altLang="en-US" smtClean="0"/>
              <a:t>Then do natual join with remaining one</a:t>
            </a:r>
          </a:p>
          <a:p>
            <a:r>
              <a:rPr lang="en-US" altLang="en-US" smtClean="0"/>
              <a:t>Then do selection to apply predicate for salary &gt; 1000</a:t>
            </a:r>
          </a:p>
          <a:p>
            <a:r>
              <a:rPr lang="en-US" altLang="en-US" smtClean="0"/>
              <a:t>Then do projection to select first_name, job_title, and dept_name</a:t>
            </a:r>
          </a:p>
        </p:txBody>
      </p:sp>
      <p:sp>
        <p:nvSpPr>
          <p:cNvPr id="78852" name="Slide Number Placeholder 3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58825" indent="-292100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68400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35125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103438" indent="-233363" defTabSz="930275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606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30178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750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932238" indent="-233363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1F22E76-C40E-49BC-B2F9-A6D68EDAA470}" type="slidenum">
              <a:rPr lang="ar-SA" altLang="en-US" sz="1200" smtClean="0">
                <a:latin typeface="Times New Roman" panose="02020603050405020304" pitchFamily="18" charset="0"/>
              </a:rPr>
              <a:pPr/>
              <a:t>61</a:t>
            </a:fld>
            <a:endParaRPr lang="en-US" altLang="en-US" sz="120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8825" indent="-2921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8400" indent="-233363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5125" indent="-233363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03438" indent="-233363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06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178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750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32238" indent="-233363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0186A3-A3EE-45C9-B37C-27F30588742A}" type="slidenum">
              <a:rPr lang="ar-SA" altLang="en-US" smtClean="0"/>
              <a:pPr>
                <a:spcBef>
                  <a:spcPct val="0"/>
                </a:spcBef>
              </a:pPr>
              <a:t>75</a:t>
            </a:fld>
            <a:endParaRPr lang="en-US" altLang="en-US" smtClean="0"/>
          </a:p>
        </p:txBody>
      </p:sp>
      <p:sp>
        <p:nvSpPr>
          <p:cNvPr id="942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90625" y="704850"/>
            <a:ext cx="4630738" cy="3471863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63" tIns="46583" rIns="93163" bIns="46583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33B2C17-2635-504C-9DC3-94920A8E2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022E8E05-4E5E-FA4D-9BE1-D06928438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B2F09609-895B-C74D-85A7-1E8FE01701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87F0DC3B-82E9-FC41-BC87-54A9E9491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16A26831-7CF9-9443-A4F6-977440C9A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0B5D0493-A53A-2C44-8969-55A15D16C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C489984E-2872-9945-90DC-B577F79F3E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9608BB76-32B4-5E45-9F0D-AFEEE61D72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4D2D487-D0B8-4C74-8131-9D666B4D2C00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AC053B1B-81E8-0441-AEFE-7CF0702F2C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CB46343C-03B8-6342-BEE9-19202FBE81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FE6F2EE-1354-49F7-9BA8-72FC1D4BDB54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34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C5BDD-0721-46F0-948B-5725108D4230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F94D5-4F6A-4B54-A1B5-6FBA9CF39C9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013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76A08-8CA6-4DBC-9465-E680521526BD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EE5B2-77B5-47C6-B8ED-64929127698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41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81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77E2E-8512-4D9F-BA2C-A7B514165FE9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7CC75F-59F1-4F9A-A429-557B9412F1A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4276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F5496-57FD-41EF-8AC9-808035E226D7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8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9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5D9AC-2C10-4DE8-95F7-44C7CC5615A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230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65715E-2E0C-4EDB-8C12-A478B3FE4B59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4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EE9A09-E6F8-4E76-BC56-CF982CF95218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1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82F18-9F59-42D7-B21A-809202B92BD4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3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F888F0-EFF2-41DF-9496-68E02D9E6686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985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EDA06-3AE2-4420-ADBF-ECEB292BEB03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A5E3E-250E-4EAC-A9D6-B435249473E7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330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FDA6A-78E9-4FD7-BC09-7FBC12A5F423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6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B72E1-B706-4B48-91D4-AF4C9D8FE5EA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3642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55B388-EA2C-45A6-87AD-8BA9F2EE8EC5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BD42F2-365C-4352-A9DC-EC2682232B63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32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3875" y="685800"/>
            <a:ext cx="2062163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6035675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323931-2A31-4402-9DE9-B2B914DC825C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5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839B9-69DB-489F-81E0-44B1386F8FA0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8155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68208-900A-3C4B-9544-5BE71ECA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9A270-C6BA-BF4C-8B40-20711C997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B29D4-226B-6C4E-B84E-C1EB6D046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67E75-CD76-458D-9A13-22855000A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037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06659FC-A90E-A64E-AE2F-64948CA614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B2D1F6-4F89-874C-889A-7F721F46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F302B5A-D2B8-6E4D-AF92-6640A3833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AADD0-23EC-4A9B-81ED-21784FFCBE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29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050">
            <a:extLst>
              <a:ext uri="{FF2B5EF4-FFF2-40B4-BE49-F238E27FC236}">
                <a16:creationId xmlns:a16="http://schemas.microsoft.com/office/drawing/2014/main" id="{4350A49D-0A6C-DE4D-9C31-4973D97D149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33375" y="7207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7" name="Rectangle 2051">
            <a:extLst>
              <a:ext uri="{FF2B5EF4-FFF2-40B4-BE49-F238E27FC236}">
                <a16:creationId xmlns:a16="http://schemas.microsoft.com/office/drawing/2014/main" id="{3D1AB445-2970-7B42-8696-D0BEA5ECEE8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15963" y="720725"/>
            <a:ext cx="328612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8" name="Rectangle 2052">
            <a:extLst>
              <a:ext uri="{FF2B5EF4-FFF2-40B4-BE49-F238E27FC236}">
                <a16:creationId xmlns:a16="http://schemas.microsoft.com/office/drawing/2014/main" id="{1B04F14C-DF6F-BF41-8953-00E21DBC3E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57200" y="11430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9" name="Rectangle 2053">
            <a:extLst>
              <a:ext uri="{FF2B5EF4-FFF2-40B4-BE49-F238E27FC236}">
                <a16:creationId xmlns:a16="http://schemas.microsoft.com/office/drawing/2014/main" id="{A19B846A-962D-8647-8C5C-9001FFF5407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27088" y="1143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0" name="Rectangle 2054">
            <a:extLst>
              <a:ext uri="{FF2B5EF4-FFF2-40B4-BE49-F238E27FC236}">
                <a16:creationId xmlns:a16="http://schemas.microsoft.com/office/drawing/2014/main" id="{F60DCD6C-8F55-F94C-9E4C-752DE43D87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57163" y="1254125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1" name="Rectangle 2055">
            <a:extLst>
              <a:ext uri="{FF2B5EF4-FFF2-40B4-BE49-F238E27FC236}">
                <a16:creationId xmlns:a16="http://schemas.microsoft.com/office/drawing/2014/main" id="{EB06F2C1-6ADD-8340-BE00-2E143B8920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7863" y="6127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2" name="Rectangle 2056">
            <a:extLst>
              <a:ext uri="{FF2B5EF4-FFF2-40B4-BE49-F238E27FC236}">
                <a16:creationId xmlns:a16="http://schemas.microsoft.com/office/drawing/2014/main" id="{488AB5E3-D338-724B-B850-D6EC0094FB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358775" y="14033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3" name="Rectangle 2057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685800"/>
            <a:ext cx="779303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4" name="Rectangle 205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8077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928779" name="Rectangle 2059">
            <a:extLst>
              <a:ext uri="{FF2B5EF4-FFF2-40B4-BE49-F238E27FC236}">
                <a16:creationId xmlns:a16="http://schemas.microsoft.com/office/drawing/2014/main" id="{961561C8-D8F5-D24B-BD28-216D7B33FC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B8CBD3A4-5D86-494E-B374-7312EFEC759F}" type="datetime4">
              <a:rPr lang="en-US"/>
              <a:pPr>
                <a:defRPr/>
              </a:pPr>
              <a:t>July 28, 2025</a:t>
            </a:fld>
            <a:endParaRPr lang="en-US"/>
          </a:p>
        </p:txBody>
      </p:sp>
      <p:sp>
        <p:nvSpPr>
          <p:cNvPr id="928780" name="Rectangle 2060">
            <a:extLst>
              <a:ext uri="{FF2B5EF4-FFF2-40B4-BE49-F238E27FC236}">
                <a16:creationId xmlns:a16="http://schemas.microsoft.com/office/drawing/2014/main" id="{4080BDEB-7B44-5F48-86CB-4AF8BCA5C8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770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r>
              <a:rPr lang="en-US"/>
              <a:t>DB:Relational Algebra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EDF28F9D-1CD0-ED4B-8048-4D3F70C131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C0E9C435-3186-4A30-A080-34ED2E68A7BB}" type="slidenum">
              <a:rPr lang="ar-SA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7" r:id="rId12"/>
    <p:sldLayoutId id="2147483998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2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kBf2dZAES0&amp;t=336s" TargetMode="External"/><Relationship Id="rId2" Type="http://schemas.openxmlformats.org/officeDocument/2006/relationships/hyperlink" Target="https://www.youtube.com/watch?v=tii7xcFilO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4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83CDF5-F241-48AF-A08D-A96568810376}" type="datetime4">
              <a:rPr lang="en-US" altLang="en-US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400" smtClean="0">
              <a:solidFill>
                <a:schemeClr val="bg2"/>
              </a:solidFill>
            </a:endParaRPr>
          </a:p>
        </p:txBody>
      </p:sp>
      <p:sp>
        <p:nvSpPr>
          <p:cNvPr id="7171" name="Rectangle 15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chemeClr val="bg2"/>
                </a:solidFill>
              </a:rPr>
              <a:t>DB:Relational Algebra</a:t>
            </a:r>
          </a:p>
        </p:txBody>
      </p:sp>
      <p:sp>
        <p:nvSpPr>
          <p:cNvPr id="7172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5762C4-0EF0-452C-8129-4E7FA8D142B3}" type="slidenum">
              <a:rPr lang="ar-SA" altLang="en-US" sz="1400" smtClean="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 smtClean="0">
              <a:solidFill>
                <a:schemeClr val="bg2"/>
              </a:solidFill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altLang="en-US" sz="4400" smtClean="0"/>
              <a:t>Relational Algebra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CBE827-9968-433C-B3F1-D7F587D797AB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09FCB59-488F-46D8-96EA-4CAFC4C1E97B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smtClean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Objectives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Introduction to Relational Algebra +</a:t>
            </a:r>
          </a:p>
          <a:p>
            <a:pPr eaLnBrk="1" hangingPunct="1"/>
            <a:r>
              <a:rPr lang="en-US" altLang="en-US" smtClean="0"/>
              <a:t>Relational Algebra Operations  +</a:t>
            </a:r>
          </a:p>
          <a:p>
            <a:pPr eaLnBrk="1" hangingPunct="1"/>
            <a:r>
              <a:rPr lang="en-US" altLang="en-US" smtClean="0"/>
              <a:t>Summary +</a:t>
            </a:r>
          </a:p>
          <a:p>
            <a:pPr eaLnBrk="1" hangingPunct="1"/>
            <a:r>
              <a:rPr lang="en-US" altLang="en-US" smtClean="0"/>
              <a:t>Example Queries +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8E1ACA3-9AA4-4238-885E-D7A23DF6C5C5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2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9421FE-DB53-44FA-94B7-C2ED42F71B8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smtClean="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 Introduction To Relational Algebra ...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772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chemeClr val="hlink"/>
                </a:solidFill>
              </a:rPr>
              <a:t>Relational algebra</a:t>
            </a:r>
            <a:r>
              <a:rPr lang="en-US" altLang="en-US" smtClean="0"/>
              <a:t> is a set of operations that enable the user to specify basic retrieval requests. Each operation produces results which is a relation.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Relational algebra expression is a sequence of relational algebra operations whose result will also be a relation.</a:t>
            </a:r>
          </a:p>
          <a:p>
            <a:pPr eaLnBrk="1" hangingPunct="1">
              <a:lnSpc>
                <a:spcPct val="90000"/>
              </a:lnSpc>
            </a:pPr>
            <a:endParaRPr lang="en-US" altLang="en-US" sz="12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There are two groups of relational algebra operations: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Operations developed specifically for relational database, such as SELECT, PROJECT, and JOIN.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Operations from mathematical set theory, such as UNION, SET DIFFERENCE, INTERSECTION, CARTESIAN PRODUCT, and DIVISION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DFA80A-D28F-4CFE-9AFE-1B91773CEEE8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9BAFB7-F58B-4320-8737-0BDEEEC1D426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smtClean="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Introduction To Relational Algebra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7244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Set theoretic operations are used to merge the tuples of two relations. These are binary operations.</a:t>
            </a:r>
          </a:p>
          <a:p>
            <a:pPr eaLnBrk="1" hangingPunct="1"/>
            <a:endParaRPr lang="en-US" altLang="en-US" sz="1000" smtClean="0"/>
          </a:p>
          <a:p>
            <a:pPr eaLnBrk="1" hangingPunct="1"/>
            <a:r>
              <a:rPr lang="en-US" altLang="en-US" sz="2000" smtClean="0"/>
              <a:t>Some set theoretic operations require both relations must be </a:t>
            </a:r>
            <a:r>
              <a:rPr lang="en-US" altLang="en-US" sz="2000" smtClean="0">
                <a:solidFill>
                  <a:schemeClr val="hlink"/>
                </a:solidFill>
              </a:rPr>
              <a:t>union compatible</a:t>
            </a:r>
            <a:r>
              <a:rPr lang="en-US" altLang="en-US" sz="2000" smtClean="0"/>
              <a:t>. </a:t>
            </a:r>
          </a:p>
          <a:p>
            <a:pPr eaLnBrk="1" hangingPunct="1"/>
            <a:endParaRPr lang="en-US" altLang="en-US" sz="1000" smtClean="0"/>
          </a:p>
          <a:p>
            <a:pPr eaLnBrk="1" hangingPunct="1"/>
            <a:r>
              <a:rPr lang="en-US" altLang="en-US" sz="2000" smtClean="0"/>
              <a:t>Union compatible relations should have the same degree and each pair of corresponding attribute should have the same domain. These include:</a:t>
            </a:r>
          </a:p>
          <a:p>
            <a:pPr lvl="1" eaLnBrk="1" hangingPunct="1"/>
            <a:r>
              <a:rPr lang="en-US" altLang="en-US" sz="1800" smtClean="0"/>
              <a:t>UNION </a:t>
            </a:r>
          </a:p>
          <a:p>
            <a:pPr lvl="1" eaLnBrk="1" hangingPunct="1"/>
            <a:r>
              <a:rPr lang="en-US" altLang="en-US" sz="1800" smtClean="0"/>
              <a:t>SET DIFFERENCE  </a:t>
            </a:r>
          </a:p>
          <a:p>
            <a:pPr lvl="1" eaLnBrk="1" hangingPunct="1"/>
            <a:r>
              <a:rPr lang="en-US" altLang="en-US" sz="1800" smtClean="0"/>
              <a:t>INTERSECTION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000" smtClean="0"/>
          </a:p>
          <a:p>
            <a:pPr eaLnBrk="1" hangingPunct="1"/>
            <a:r>
              <a:rPr lang="en-US" altLang="en-US" sz="2000" smtClean="0"/>
              <a:t>CARTESIAN PRODUCT is another  set theoretic operation which doesn’t require union compatibility.</a:t>
            </a:r>
          </a:p>
          <a:p>
            <a:pPr eaLnBrk="1" hangingPunct="1"/>
            <a:endParaRPr lang="en-US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E6786F-4A11-4B61-8BF4-87C08E2D2324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DB60B5D-AB21-49A9-958B-EB218A14B951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smtClean="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 Relational Algebra Operations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Select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Project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Rename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Union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Difference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Intersection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Division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Assignment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Cartesian Product 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Join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Outer Union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Composition of Operators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Aggregate Functions +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Null Values +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8EEE1E-0BF2-4B73-9522-9272A1218B92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229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75A44C-B747-4906-9B85-A5751EE6019D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smtClean="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Select Operation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67638" cy="4495800"/>
          </a:xfrm>
        </p:spPr>
        <p:txBody>
          <a:bodyPr/>
          <a:lstStyle/>
          <a:p>
            <a:pPr eaLnBrk="1" hangingPunct="1"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/>
              <a:t>SELECT operation is used to select a subset of the tuples from the relation that satisfies the select condition.</a:t>
            </a:r>
          </a:p>
          <a:p>
            <a:pPr eaLnBrk="1" hangingPunct="1"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/>
              <a:t>It is denoted by:  </a:t>
            </a:r>
            <a:r>
              <a:rPr lang="en-US" altLang="en-US" sz="2000" i="1" smtClean="0">
                <a:sym typeface="Symbol" panose="05050102010706020507" pitchFamily="18" charset="2"/>
              </a:rPr>
              <a:t></a:t>
            </a:r>
            <a:r>
              <a:rPr lang="en-US" altLang="en-US" sz="2000" smtClean="0">
                <a:sym typeface="Symbol" panose="05050102010706020507" pitchFamily="18" charset="2"/>
              </a:rPr>
              <a:t> </a:t>
            </a:r>
            <a:r>
              <a:rPr lang="en-US" altLang="en-US" sz="2000" i="1" baseline="-25000" smtClean="0">
                <a:sym typeface="Symbol" panose="05050102010706020507" pitchFamily="18" charset="2"/>
              </a:rPr>
              <a:t>p</a:t>
            </a:r>
            <a:r>
              <a:rPr lang="en-US" altLang="en-US" sz="2000" smtClean="0">
                <a:sym typeface="Symbol" panose="05050102010706020507" pitchFamily="18" charset="2"/>
              </a:rPr>
              <a:t>(</a:t>
            </a:r>
            <a:r>
              <a:rPr lang="en-US" altLang="en-US" sz="2000" i="1" smtClean="0">
                <a:sym typeface="Symbol" panose="05050102010706020507" pitchFamily="18" charset="2"/>
              </a:rPr>
              <a:t>r</a:t>
            </a:r>
            <a:r>
              <a:rPr lang="en-US" altLang="en-US" sz="2000" smtClean="0">
                <a:sym typeface="Symbol" panose="05050102010706020507" pitchFamily="18" charset="2"/>
              </a:rPr>
              <a:t>)</a:t>
            </a:r>
          </a:p>
          <a:p>
            <a:pPr eaLnBrk="1" hangingPunct="1"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i="1" smtClean="0">
                <a:sym typeface="Symbol" panose="05050102010706020507" pitchFamily="18" charset="2"/>
              </a:rPr>
              <a:t>p</a:t>
            </a:r>
            <a:r>
              <a:rPr lang="en-US" altLang="en-US" sz="2000" smtClean="0">
                <a:sym typeface="Symbol" panose="05050102010706020507" pitchFamily="18" charset="2"/>
              </a:rPr>
              <a:t> is called the selection predicate (SELECT condition)</a:t>
            </a:r>
            <a:endParaRPr lang="en-US" altLang="en-US" sz="2000" i="1" smtClean="0">
              <a:sym typeface="Symbol" panose="05050102010706020507" pitchFamily="18" charset="2"/>
            </a:endParaRPr>
          </a:p>
          <a:p>
            <a:pPr eaLnBrk="1" hangingPunct="1"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/>
              <a:t>Defined as: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/>
              <a:t>			 </a:t>
            </a:r>
            <a:r>
              <a:rPr lang="en-US" altLang="en-US" sz="2000" i="1" smtClean="0">
                <a:sym typeface="Symbol" panose="05050102010706020507" pitchFamily="18" charset="2"/>
              </a:rPr>
              <a:t></a:t>
            </a:r>
            <a:r>
              <a:rPr lang="en-US" altLang="en-US" sz="2000" i="1" baseline="-25000" smtClean="0">
                <a:sym typeface="Symbol" panose="05050102010706020507" pitchFamily="18" charset="2"/>
              </a:rPr>
              <a:t>p</a:t>
            </a:r>
            <a:r>
              <a:rPr lang="en-US" altLang="en-US" sz="2000" smtClean="0">
                <a:sym typeface="Symbol" panose="05050102010706020507" pitchFamily="18" charset="2"/>
              </a:rPr>
              <a:t>(</a:t>
            </a:r>
            <a:r>
              <a:rPr lang="en-US" altLang="en-US" sz="2000" b="1" i="1" smtClean="0">
                <a:sym typeface="Symbol" panose="05050102010706020507" pitchFamily="18" charset="2"/>
              </a:rPr>
              <a:t>r</a:t>
            </a:r>
            <a:r>
              <a:rPr lang="en-US" altLang="en-US" sz="2000" smtClean="0">
                <a:sym typeface="Symbol" panose="05050102010706020507" pitchFamily="18" charset="2"/>
              </a:rPr>
              <a:t>) = {</a:t>
            </a:r>
            <a:r>
              <a:rPr lang="en-US" altLang="en-US" sz="2000" i="1" smtClean="0">
                <a:sym typeface="Symbol" panose="05050102010706020507" pitchFamily="18" charset="2"/>
              </a:rPr>
              <a:t>t</a:t>
            </a:r>
            <a:r>
              <a:rPr lang="en-US" altLang="en-US" sz="2000" smtClean="0">
                <a:sym typeface="Symbol" panose="05050102010706020507" pitchFamily="18" charset="2"/>
              </a:rPr>
              <a:t> | </a:t>
            </a:r>
            <a:r>
              <a:rPr lang="en-US" altLang="en-US" sz="2000" i="1" smtClean="0">
                <a:sym typeface="Symbol" panose="05050102010706020507" pitchFamily="18" charset="2"/>
              </a:rPr>
              <a:t>t</a:t>
            </a:r>
            <a:r>
              <a:rPr lang="en-US" altLang="en-US" sz="2000" smtClean="0">
                <a:sym typeface="Symbol" panose="05050102010706020507" pitchFamily="18" charset="2"/>
              </a:rPr>
              <a:t>  </a:t>
            </a:r>
            <a:r>
              <a:rPr lang="en-US" altLang="en-US" sz="2000" i="1" smtClean="0">
                <a:sym typeface="Symbol" panose="05050102010706020507" pitchFamily="18" charset="2"/>
              </a:rPr>
              <a:t>r</a:t>
            </a:r>
            <a:r>
              <a:rPr lang="en-US" altLang="en-US" sz="2000" smtClean="0">
                <a:sym typeface="Symbol" panose="05050102010706020507" pitchFamily="18" charset="2"/>
              </a:rPr>
              <a:t> </a:t>
            </a:r>
            <a:r>
              <a:rPr lang="en-US" altLang="en-US" sz="2000" b="1" smtClean="0">
                <a:sym typeface="Symbol" panose="05050102010706020507" pitchFamily="18" charset="2"/>
              </a:rPr>
              <a:t>and </a:t>
            </a:r>
            <a:r>
              <a:rPr lang="en-US" altLang="en-US" sz="2000" i="1" smtClean="0">
                <a:sym typeface="Symbol" panose="05050102010706020507" pitchFamily="18" charset="2"/>
              </a:rPr>
              <a:t>p(t)</a:t>
            </a:r>
            <a:r>
              <a:rPr lang="en-US" altLang="en-US" sz="2000" smtClean="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	Where</a:t>
            </a:r>
            <a:r>
              <a:rPr lang="en-US" altLang="en-US" sz="2000" i="1" smtClean="0">
                <a:sym typeface="Symbol" panose="05050102010706020507" pitchFamily="18" charset="2"/>
              </a:rPr>
              <a:t> p</a:t>
            </a:r>
            <a:r>
              <a:rPr lang="en-US" altLang="en-US" sz="2000" smtClean="0">
                <a:sym typeface="Symbol" panose="05050102010706020507" pitchFamily="18" charset="2"/>
              </a:rPr>
              <a:t> is a formula in propositional calculus consisting of </a:t>
            </a:r>
            <a:r>
              <a:rPr lang="en-US" altLang="en-US" sz="2000" smtClean="0">
                <a:solidFill>
                  <a:schemeClr val="hlink"/>
                </a:solidFill>
                <a:sym typeface="Symbol" panose="05050102010706020507" pitchFamily="18" charset="2"/>
              </a:rPr>
              <a:t>terms</a:t>
            </a:r>
            <a:r>
              <a:rPr lang="en-US" altLang="en-US" sz="2000" smtClean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smtClean="0">
                <a:sym typeface="Symbol" panose="05050102010706020507" pitchFamily="18" charset="2"/>
              </a:rPr>
              <a:t>connected by :  (</a:t>
            </a:r>
            <a:r>
              <a:rPr lang="en-US" altLang="en-US" sz="2000" b="1" smtClean="0">
                <a:sym typeface="Symbol" panose="05050102010706020507" pitchFamily="18" charset="2"/>
              </a:rPr>
              <a:t>and</a:t>
            </a:r>
            <a:r>
              <a:rPr lang="en-US" altLang="en-US" sz="2000" smtClean="0">
                <a:sym typeface="Symbol" panose="05050102010706020507" pitchFamily="18" charset="2"/>
              </a:rPr>
              <a:t>),  (</a:t>
            </a:r>
            <a:r>
              <a:rPr lang="en-US" altLang="en-US" sz="2000" b="1" smtClean="0">
                <a:sym typeface="Symbol" panose="05050102010706020507" pitchFamily="18" charset="2"/>
              </a:rPr>
              <a:t>or</a:t>
            </a:r>
            <a:r>
              <a:rPr lang="en-US" altLang="en-US" sz="2000" smtClean="0">
                <a:sym typeface="Symbol" panose="05050102010706020507" pitchFamily="18" charset="2"/>
              </a:rPr>
              <a:t>),  (</a:t>
            </a:r>
            <a:r>
              <a:rPr lang="en-US" altLang="en-US" sz="2000" b="1" smtClean="0">
                <a:sym typeface="Symbol" panose="05050102010706020507" pitchFamily="18" charset="2"/>
              </a:rPr>
              <a:t>not</a:t>
            </a:r>
            <a:r>
              <a:rPr lang="en-US" altLang="en-US" sz="2000" smtClean="0">
                <a:sym typeface="Symbol" panose="05050102010706020507" pitchFamily="18" charset="2"/>
              </a:rPr>
              <a:t>)</a:t>
            </a:r>
            <a:br>
              <a:rPr lang="en-US" altLang="en-US" sz="2000" smtClean="0">
                <a:sym typeface="Symbol" panose="05050102010706020507" pitchFamily="18" charset="2"/>
              </a:rPr>
            </a:br>
            <a:r>
              <a:rPr lang="en-US" altLang="en-US" sz="2000" smtClean="0">
                <a:sym typeface="Symbol" panose="05050102010706020507" pitchFamily="18" charset="2"/>
              </a:rPr>
              <a:t>Each </a:t>
            </a:r>
            <a:r>
              <a:rPr lang="en-US" altLang="en-US" sz="2000" smtClean="0">
                <a:solidFill>
                  <a:schemeClr val="hlink"/>
                </a:solidFill>
                <a:sym typeface="Symbol" panose="05050102010706020507" pitchFamily="18" charset="2"/>
              </a:rPr>
              <a:t>term</a:t>
            </a:r>
            <a:r>
              <a:rPr lang="en-US" altLang="en-US" sz="2000" smtClean="0">
                <a:sym typeface="Symbol" panose="05050102010706020507" pitchFamily="18" charset="2"/>
              </a:rPr>
              <a:t> is one of: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		&lt;attribute&gt;	</a:t>
            </a:r>
            <a:r>
              <a:rPr lang="en-US" altLang="en-US" sz="2000" i="1" smtClean="0">
                <a:sym typeface="Symbol" panose="05050102010706020507" pitchFamily="18" charset="2"/>
              </a:rPr>
              <a:t>op</a:t>
            </a:r>
            <a:r>
              <a:rPr lang="en-US" altLang="en-US" sz="2000" smtClean="0">
                <a:sym typeface="Symbol" panose="05050102010706020507" pitchFamily="18" charset="2"/>
              </a:rPr>
              <a:t> 	&lt;attribute&gt; or &lt;constant&gt;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     where </a:t>
            </a:r>
            <a:r>
              <a:rPr lang="en-US" altLang="en-US" sz="2000" i="1" smtClean="0">
                <a:sym typeface="Symbol" panose="05050102010706020507" pitchFamily="18" charset="2"/>
              </a:rPr>
              <a:t>op</a:t>
            </a:r>
            <a:r>
              <a:rPr lang="en-US" altLang="en-US" sz="2000" smtClean="0">
                <a:sym typeface="Symbol" panose="05050102010706020507" pitchFamily="18" charset="2"/>
              </a:rPr>
              <a:t> is one of:  =, , &gt;, , &lt;, </a:t>
            </a:r>
          </a:p>
          <a:p>
            <a:pPr eaLnBrk="1" hangingPunct="1"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Example of selection:  T= </a:t>
            </a:r>
            <a:r>
              <a:rPr lang="en-US" altLang="en-US" sz="2000" i="1" smtClean="0">
                <a:sym typeface="Symbol" panose="05050102010706020507" pitchFamily="18" charset="2"/>
              </a:rPr>
              <a:t></a:t>
            </a:r>
            <a:r>
              <a:rPr lang="en-US" altLang="en-US" sz="2000" smtClean="0">
                <a:sym typeface="Symbol" panose="05050102010706020507" pitchFamily="18" charset="2"/>
              </a:rPr>
              <a:t> </a:t>
            </a:r>
            <a:r>
              <a:rPr lang="en-US" altLang="en-US" sz="2000" i="1" baseline="-25000" smtClean="0">
                <a:sym typeface="Symbol" panose="05050102010706020507" pitchFamily="18" charset="2"/>
              </a:rPr>
              <a:t>name=“Adil” </a:t>
            </a:r>
            <a:r>
              <a:rPr lang="en-US" altLang="en-US" sz="2000" smtClean="0">
                <a:sym typeface="Symbol" panose="05050102010706020507" pitchFamily="18" charset="2"/>
              </a:rPr>
              <a:t>(</a:t>
            </a:r>
            <a:r>
              <a:rPr lang="en-US" altLang="en-US" sz="2000" i="1" smtClean="0">
                <a:sym typeface="Symbol" panose="05050102010706020507" pitchFamily="18" charset="2"/>
              </a:rPr>
              <a:t>EMPLOYEE</a:t>
            </a:r>
            <a:r>
              <a:rPr lang="en-US" altLang="en-US" sz="2000" smtClean="0"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8F711F-FA9D-44AC-B280-7BD09CEF78E9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433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43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71B16F-0E9C-4126-87AD-44BB0452CB6D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smtClean="0"/>
          </a:p>
        </p:txBody>
      </p:sp>
      <p:sp>
        <p:nvSpPr>
          <p:cNvPr id="143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Select Operation – Example</a:t>
            </a:r>
          </a:p>
        </p:txBody>
      </p:sp>
      <p:sp>
        <p:nvSpPr>
          <p:cNvPr id="14342" name="Text Box 3"/>
          <p:cNvSpPr txBox="1">
            <a:spLocks noChangeArrowheads="1"/>
          </p:cNvSpPr>
          <p:nvPr/>
        </p:nvSpPr>
        <p:spPr bwMode="auto">
          <a:xfrm>
            <a:off x="1770063" y="4953000"/>
            <a:ext cx="392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2000" b="1" i="1">
                <a:latin typeface="Helvetica" panose="020B0604020202020204" pitchFamily="34" charset="0"/>
              </a:rPr>
              <a:t> </a:t>
            </a: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14343" name="Rectangle 4"/>
          <p:cNvSpPr>
            <a:spLocks noChangeArrowheads="1"/>
          </p:cNvSpPr>
          <p:nvPr/>
        </p:nvSpPr>
        <p:spPr bwMode="auto">
          <a:xfrm>
            <a:off x="10668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14344" name="Rectangle 5"/>
          <p:cNvSpPr>
            <a:spLocks noChangeArrowheads="1"/>
          </p:cNvSpPr>
          <p:nvPr/>
        </p:nvSpPr>
        <p:spPr bwMode="auto">
          <a:xfrm>
            <a:off x="15240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14345" name="Rectangle 6"/>
          <p:cNvSpPr>
            <a:spLocks noChangeArrowheads="1"/>
          </p:cNvSpPr>
          <p:nvPr/>
        </p:nvSpPr>
        <p:spPr bwMode="auto">
          <a:xfrm>
            <a:off x="19812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14346" name="Rectangle 7"/>
          <p:cNvSpPr>
            <a:spLocks noChangeArrowheads="1"/>
          </p:cNvSpPr>
          <p:nvPr/>
        </p:nvSpPr>
        <p:spPr bwMode="auto">
          <a:xfrm>
            <a:off x="24384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14347" name="Rectangle 8"/>
          <p:cNvSpPr>
            <a:spLocks noChangeArrowheads="1"/>
          </p:cNvSpPr>
          <p:nvPr/>
        </p:nvSpPr>
        <p:spPr bwMode="auto">
          <a:xfrm>
            <a:off x="10668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4348" name="Rectangle 9"/>
          <p:cNvSpPr>
            <a:spLocks noChangeArrowheads="1"/>
          </p:cNvSpPr>
          <p:nvPr/>
        </p:nvSpPr>
        <p:spPr bwMode="auto">
          <a:xfrm>
            <a:off x="15240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4349" name="Rectangle 10"/>
          <p:cNvSpPr>
            <a:spLocks noChangeArrowheads="1"/>
          </p:cNvSpPr>
          <p:nvPr/>
        </p:nvSpPr>
        <p:spPr bwMode="auto">
          <a:xfrm>
            <a:off x="19812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14350" name="Rectangle 11"/>
          <p:cNvSpPr>
            <a:spLocks noChangeArrowheads="1"/>
          </p:cNvSpPr>
          <p:nvPr/>
        </p:nvSpPr>
        <p:spPr bwMode="auto">
          <a:xfrm>
            <a:off x="24384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14351" name="Text Box 12"/>
          <p:cNvSpPr txBox="1">
            <a:spLocks noChangeArrowheads="1"/>
          </p:cNvSpPr>
          <p:nvPr/>
        </p:nvSpPr>
        <p:spPr bwMode="auto">
          <a:xfrm>
            <a:off x="3124200" y="3168650"/>
            <a:ext cx="2438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1600" b="1">
                <a:latin typeface="Helvetica" panose="020B0604020202020204" pitchFamily="34" charset="0"/>
                <a:sym typeface="Symbol" panose="05050102010706020507" pitchFamily="18" charset="2"/>
              </a:rPr>
              <a:t>X=</a:t>
            </a: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0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A=B ^ D &gt; 5</a:t>
            </a:r>
            <a:r>
              <a:rPr lang="en-US" altLang="en-US" sz="28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(r)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14352" name="Line 21"/>
          <p:cNvSpPr>
            <a:spLocks noChangeShapeType="1"/>
          </p:cNvSpPr>
          <p:nvPr/>
        </p:nvSpPr>
        <p:spPr bwMode="auto">
          <a:xfrm>
            <a:off x="5181600" y="3505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2DBAD9-0EA5-4568-9C06-AE5BF2F01623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536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10FFB6-6675-4AE5-8A83-AB5AC8E5ADE7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smtClean="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Select Operation – Example</a:t>
            </a:r>
          </a:p>
        </p:txBody>
      </p:sp>
      <p:sp>
        <p:nvSpPr>
          <p:cNvPr id="15366" name="Text Box 3"/>
          <p:cNvSpPr txBox="1">
            <a:spLocks noChangeArrowheads="1"/>
          </p:cNvSpPr>
          <p:nvPr/>
        </p:nvSpPr>
        <p:spPr bwMode="auto">
          <a:xfrm>
            <a:off x="1770063" y="4953000"/>
            <a:ext cx="3921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2000" b="1" i="1">
                <a:latin typeface="Helvetica" panose="020B0604020202020204" pitchFamily="34" charset="0"/>
              </a:rPr>
              <a:t> </a:t>
            </a: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15367" name="Rectangle 4"/>
          <p:cNvSpPr>
            <a:spLocks noChangeArrowheads="1"/>
          </p:cNvSpPr>
          <p:nvPr/>
        </p:nvSpPr>
        <p:spPr bwMode="auto">
          <a:xfrm>
            <a:off x="10668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15368" name="Rectangle 5"/>
          <p:cNvSpPr>
            <a:spLocks noChangeArrowheads="1"/>
          </p:cNvSpPr>
          <p:nvPr/>
        </p:nvSpPr>
        <p:spPr bwMode="auto">
          <a:xfrm>
            <a:off x="15240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15369" name="Rectangle 6"/>
          <p:cNvSpPr>
            <a:spLocks noChangeArrowheads="1"/>
          </p:cNvSpPr>
          <p:nvPr/>
        </p:nvSpPr>
        <p:spPr bwMode="auto">
          <a:xfrm>
            <a:off x="19812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15370" name="Rectangle 7"/>
          <p:cNvSpPr>
            <a:spLocks noChangeArrowheads="1"/>
          </p:cNvSpPr>
          <p:nvPr/>
        </p:nvSpPr>
        <p:spPr bwMode="auto">
          <a:xfrm>
            <a:off x="24384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15371" name="Rectangle 8"/>
          <p:cNvSpPr>
            <a:spLocks noChangeArrowheads="1"/>
          </p:cNvSpPr>
          <p:nvPr/>
        </p:nvSpPr>
        <p:spPr bwMode="auto">
          <a:xfrm>
            <a:off x="10668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5372" name="Rectangle 9"/>
          <p:cNvSpPr>
            <a:spLocks noChangeArrowheads="1"/>
          </p:cNvSpPr>
          <p:nvPr/>
        </p:nvSpPr>
        <p:spPr bwMode="auto">
          <a:xfrm>
            <a:off x="15240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5373" name="Rectangle 10"/>
          <p:cNvSpPr>
            <a:spLocks noChangeArrowheads="1"/>
          </p:cNvSpPr>
          <p:nvPr/>
        </p:nvSpPr>
        <p:spPr bwMode="auto">
          <a:xfrm>
            <a:off x="19812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15374" name="Rectangle 11"/>
          <p:cNvSpPr>
            <a:spLocks noChangeArrowheads="1"/>
          </p:cNvSpPr>
          <p:nvPr/>
        </p:nvSpPr>
        <p:spPr bwMode="auto">
          <a:xfrm>
            <a:off x="2438400" y="32766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15375" name="Text Box 12"/>
          <p:cNvSpPr txBox="1">
            <a:spLocks noChangeArrowheads="1"/>
          </p:cNvSpPr>
          <p:nvPr/>
        </p:nvSpPr>
        <p:spPr bwMode="auto">
          <a:xfrm>
            <a:off x="3124200" y="3168650"/>
            <a:ext cx="2438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1600" b="1">
                <a:latin typeface="Helvetica" panose="020B0604020202020204" pitchFamily="34" charset="0"/>
                <a:sym typeface="Symbol" panose="05050102010706020507" pitchFamily="18" charset="2"/>
              </a:rPr>
              <a:t>X=</a:t>
            </a: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0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A=B ^ D &gt; 5</a:t>
            </a:r>
            <a:r>
              <a:rPr lang="en-US" altLang="en-US" sz="28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(r)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15376" name="Rectangle 13"/>
          <p:cNvSpPr>
            <a:spLocks noChangeArrowheads="1"/>
          </p:cNvSpPr>
          <p:nvPr/>
        </p:nvSpPr>
        <p:spPr bwMode="auto">
          <a:xfrm>
            <a:off x="64008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15377" name="Rectangle 14"/>
          <p:cNvSpPr>
            <a:spLocks noChangeArrowheads="1"/>
          </p:cNvSpPr>
          <p:nvPr/>
        </p:nvSpPr>
        <p:spPr bwMode="auto">
          <a:xfrm>
            <a:off x="68580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15378" name="Rectangle 15"/>
          <p:cNvSpPr>
            <a:spLocks noChangeArrowheads="1"/>
          </p:cNvSpPr>
          <p:nvPr/>
        </p:nvSpPr>
        <p:spPr bwMode="auto">
          <a:xfrm>
            <a:off x="73152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15379" name="Rectangle 16"/>
          <p:cNvSpPr>
            <a:spLocks noChangeArrowheads="1"/>
          </p:cNvSpPr>
          <p:nvPr/>
        </p:nvSpPr>
        <p:spPr bwMode="auto">
          <a:xfrm>
            <a:off x="7772400" y="2743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15380" name="Rectangle 17"/>
          <p:cNvSpPr>
            <a:spLocks noChangeArrowheads="1"/>
          </p:cNvSpPr>
          <p:nvPr/>
        </p:nvSpPr>
        <p:spPr bwMode="auto">
          <a:xfrm>
            <a:off x="6400800" y="32766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5381" name="Rectangle 18"/>
          <p:cNvSpPr>
            <a:spLocks noChangeArrowheads="1"/>
          </p:cNvSpPr>
          <p:nvPr/>
        </p:nvSpPr>
        <p:spPr bwMode="auto">
          <a:xfrm>
            <a:off x="6858000" y="32766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5382" name="Rectangle 19"/>
          <p:cNvSpPr>
            <a:spLocks noChangeArrowheads="1"/>
          </p:cNvSpPr>
          <p:nvPr/>
        </p:nvSpPr>
        <p:spPr bwMode="auto">
          <a:xfrm>
            <a:off x="7315200" y="32766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15383" name="Rectangle 20"/>
          <p:cNvSpPr>
            <a:spLocks noChangeArrowheads="1"/>
          </p:cNvSpPr>
          <p:nvPr/>
        </p:nvSpPr>
        <p:spPr bwMode="auto">
          <a:xfrm>
            <a:off x="7772400" y="32766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15384" name="Line 21"/>
          <p:cNvSpPr>
            <a:spLocks noChangeShapeType="1"/>
          </p:cNvSpPr>
          <p:nvPr/>
        </p:nvSpPr>
        <p:spPr bwMode="auto">
          <a:xfrm>
            <a:off x="5181600" y="35052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5385" name="TextBox 24"/>
          <p:cNvSpPr txBox="1">
            <a:spLocks noChangeArrowheads="1"/>
          </p:cNvSpPr>
          <p:nvPr/>
        </p:nvSpPr>
        <p:spPr bwMode="auto">
          <a:xfrm>
            <a:off x="6629400" y="4495800"/>
            <a:ext cx="838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/>
              <a:t>x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Another Example</a:t>
            </a:r>
          </a:p>
        </p:txBody>
      </p:sp>
      <p:sp>
        <p:nvSpPr>
          <p:cNvPr id="16387" name="Date Placeholder 2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DC934D-4847-4A3D-81E4-67262933EC9F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6388" name="Footer Placeholder 3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6389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B50A6E-A766-4C6B-A4A3-B63C40BB2C3D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smtClean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1A72710-544A-E143-9579-0A504D78460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7338"/>
            <a:ext cx="8305800" cy="4114800"/>
          </a:xfrm>
          <a:prstGeom prst="rect">
            <a:avLst/>
          </a:prstGeom>
          <a:noFill/>
          <a:ln/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b="1" kern="0"/>
              <a:t>List all staff with a salary greater than £10,000.</a:t>
            </a:r>
          </a:p>
          <a:p>
            <a:pPr lvl="1">
              <a:lnSpc>
                <a:spcPct val="30000"/>
              </a:lnSpc>
              <a:defRPr/>
            </a:pPr>
            <a:endParaRPr lang="en-GB" b="1" kern="0"/>
          </a:p>
          <a:p>
            <a:pPr lvl="1">
              <a:buFontTx/>
              <a:buNone/>
              <a:defRPr/>
            </a:pPr>
            <a:r>
              <a:rPr lang="en-GB" b="1" kern="0">
                <a:sym typeface="WP MultinationalA Roman" pitchFamily="18" charset="2"/>
              </a:rPr>
              <a:t>	</a:t>
            </a:r>
            <a:r>
              <a:rPr lang="en-GB" b="1" kern="0">
                <a:sym typeface="Symbol" pitchFamily="18" charset="2"/>
              </a:rPr>
              <a:t></a:t>
            </a:r>
            <a:r>
              <a:rPr lang="en-GB" b="1" kern="0" baseline="-25000"/>
              <a:t>salary &gt; 10000</a:t>
            </a:r>
            <a:r>
              <a:rPr lang="en-GB" b="1" kern="0"/>
              <a:t> (Staff)</a:t>
            </a:r>
            <a:endParaRPr lang="en-GB" b="1" kern="0" dirty="0"/>
          </a:p>
        </p:txBody>
      </p:sp>
      <p:pic>
        <p:nvPicPr>
          <p:cNvPr id="7" name="Picture 5" descr="DS3-Figure 04-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2800"/>
            <a:ext cx="7620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BBB473-5D07-44A3-9F19-5632ACF53D93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741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E899B99-0C80-4A56-B0FC-EDA4CF6A4C41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smtClean="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Characteristics of SELECT Operation</a:t>
            </a: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The select condition is applied independently to each tuple </a:t>
            </a:r>
            <a:r>
              <a:rPr lang="en-US" altLang="en-US" sz="2000" i="1" smtClean="0"/>
              <a:t>t </a:t>
            </a:r>
            <a:r>
              <a:rPr lang="en-US" altLang="en-US" sz="2000" smtClean="0"/>
              <a:t> in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. If the condition is true, then tuple </a:t>
            </a:r>
            <a:r>
              <a:rPr lang="en-US" altLang="en-US" sz="2000" i="1" smtClean="0"/>
              <a:t>t</a:t>
            </a:r>
            <a:r>
              <a:rPr lang="en-US" altLang="en-US" sz="2000" smtClean="0"/>
              <a:t>  is selected and will appear in the resulting relation.</a:t>
            </a:r>
          </a:p>
          <a:p>
            <a:pPr eaLnBrk="1" hangingPunct="1"/>
            <a:r>
              <a:rPr lang="en-US" altLang="en-US" sz="2000" smtClean="0"/>
              <a:t>The SELECT operation is unary, it is applied to a single relation.</a:t>
            </a:r>
          </a:p>
          <a:p>
            <a:pPr eaLnBrk="1" hangingPunct="1"/>
            <a:r>
              <a:rPr lang="en-US" altLang="en-US" sz="2000" smtClean="0"/>
              <a:t>The degree of resulting relation is the same as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.</a:t>
            </a:r>
          </a:p>
          <a:p>
            <a:pPr eaLnBrk="1" hangingPunct="1"/>
            <a:r>
              <a:rPr lang="en-US" altLang="en-US" sz="2000" smtClean="0"/>
              <a:t>The cardinality of  resulting relation is less than or equal to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.</a:t>
            </a:r>
          </a:p>
          <a:p>
            <a:pPr eaLnBrk="1" hangingPunct="1"/>
            <a:r>
              <a:rPr lang="en-US" altLang="en-US" sz="2000" smtClean="0"/>
              <a:t>The SELECT operation is cumulative. A sequence of SELECT operations can be applied in any order.</a:t>
            </a:r>
          </a:p>
          <a:p>
            <a:pPr lvl="1" eaLnBrk="1" hangingPunct="1"/>
            <a:r>
              <a:rPr lang="en-US" altLang="en-US" sz="1800" smtClean="0">
                <a:sym typeface="Symbol" panose="05050102010706020507" pitchFamily="18" charset="2"/>
              </a:rPr>
              <a:t></a:t>
            </a:r>
            <a:r>
              <a:rPr lang="en-US" altLang="en-US" sz="1400" smtClean="0">
                <a:sym typeface="Symbol" panose="05050102010706020507" pitchFamily="18" charset="2"/>
              </a:rPr>
              <a:t>&lt;cond1&gt;(</a:t>
            </a:r>
            <a:r>
              <a:rPr lang="en-US" altLang="en-US" sz="1800" smtClean="0">
                <a:sym typeface="Symbol" panose="05050102010706020507" pitchFamily="18" charset="2"/>
              </a:rPr>
              <a:t></a:t>
            </a:r>
            <a:r>
              <a:rPr lang="en-US" altLang="en-US" sz="1400" smtClean="0">
                <a:sym typeface="Symbol" panose="05050102010706020507" pitchFamily="18" charset="2"/>
              </a:rPr>
              <a:t>&lt;cond2&gt;</a:t>
            </a:r>
            <a:r>
              <a:rPr lang="en-US" altLang="en-US" sz="1800" smtClean="0">
                <a:sym typeface="Symbol" panose="05050102010706020507" pitchFamily="18" charset="2"/>
              </a:rPr>
              <a:t> (</a:t>
            </a:r>
            <a:r>
              <a:rPr lang="en-US" altLang="en-US" sz="1800" i="1" smtClean="0">
                <a:sym typeface="Symbol" panose="05050102010706020507" pitchFamily="18" charset="2"/>
              </a:rPr>
              <a:t>r</a:t>
            </a:r>
            <a:r>
              <a:rPr lang="en-US" altLang="en-US" sz="1800" smtClean="0">
                <a:sym typeface="Symbol" panose="05050102010706020507" pitchFamily="18" charset="2"/>
              </a:rPr>
              <a:t>)) = </a:t>
            </a:r>
            <a:r>
              <a:rPr lang="en-US" altLang="en-US" sz="1400" smtClean="0">
                <a:sym typeface="Symbol" panose="05050102010706020507" pitchFamily="18" charset="2"/>
              </a:rPr>
              <a:t>&lt;cond2&gt;(</a:t>
            </a:r>
            <a:r>
              <a:rPr lang="en-US" altLang="en-US" sz="1800" smtClean="0">
                <a:sym typeface="Symbol" panose="05050102010706020507" pitchFamily="18" charset="2"/>
              </a:rPr>
              <a:t></a:t>
            </a:r>
            <a:r>
              <a:rPr lang="en-US" altLang="en-US" sz="1400" smtClean="0">
                <a:sym typeface="Symbol" panose="05050102010706020507" pitchFamily="18" charset="2"/>
              </a:rPr>
              <a:t> &lt;cond1&gt;</a:t>
            </a:r>
            <a:r>
              <a:rPr lang="en-US" altLang="en-US" sz="1800" smtClean="0">
                <a:sym typeface="Symbol" panose="05050102010706020507" pitchFamily="18" charset="2"/>
              </a:rPr>
              <a:t>(</a:t>
            </a:r>
            <a:r>
              <a:rPr lang="en-US" altLang="en-US" sz="1800" i="1" smtClean="0">
                <a:sym typeface="Symbol" panose="05050102010706020507" pitchFamily="18" charset="2"/>
              </a:rPr>
              <a:t>r</a:t>
            </a:r>
            <a:r>
              <a:rPr lang="en-US" altLang="en-US" sz="1800" smtClean="0">
                <a:sym typeface="Symbol" panose="05050102010706020507" pitchFamily="18" charset="2"/>
              </a:rPr>
              <a:t>)) </a:t>
            </a:r>
            <a:endParaRPr lang="en-US" altLang="en-US" sz="1800" smtClean="0"/>
          </a:p>
          <a:p>
            <a:pPr eaLnBrk="1" hangingPunct="1"/>
            <a:r>
              <a:rPr lang="en-US" altLang="en-US" sz="2000" smtClean="0"/>
              <a:t>A cascade of SELECT operations can be combined into a single SELECT operation with a conjunctive (^) condition.</a:t>
            </a:r>
          </a:p>
          <a:p>
            <a:pPr lvl="1" eaLnBrk="1" hangingPunct="1"/>
            <a:r>
              <a:rPr lang="en-US" altLang="en-US" sz="1800" smtClean="0">
                <a:sym typeface="Symbol" panose="05050102010706020507" pitchFamily="18" charset="2"/>
              </a:rPr>
              <a:t></a:t>
            </a:r>
            <a:r>
              <a:rPr lang="en-US" altLang="en-US" sz="1400" smtClean="0">
                <a:sym typeface="Symbol" panose="05050102010706020507" pitchFamily="18" charset="2"/>
              </a:rPr>
              <a:t>&lt;cond1&gt;(…(</a:t>
            </a:r>
            <a:r>
              <a:rPr lang="en-US" altLang="en-US" sz="1800" smtClean="0">
                <a:sym typeface="Symbol" panose="05050102010706020507" pitchFamily="18" charset="2"/>
              </a:rPr>
              <a:t></a:t>
            </a:r>
            <a:r>
              <a:rPr lang="en-US" altLang="en-US" sz="1400" smtClean="0">
                <a:sym typeface="Symbol" panose="05050102010706020507" pitchFamily="18" charset="2"/>
              </a:rPr>
              <a:t>&lt;condn&gt;</a:t>
            </a:r>
            <a:r>
              <a:rPr lang="en-US" altLang="en-US" sz="1800" smtClean="0">
                <a:sym typeface="Symbol" panose="05050102010706020507" pitchFamily="18" charset="2"/>
              </a:rPr>
              <a:t> (</a:t>
            </a:r>
            <a:r>
              <a:rPr lang="en-US" altLang="en-US" sz="1800" i="1" smtClean="0">
                <a:sym typeface="Symbol" panose="05050102010706020507" pitchFamily="18" charset="2"/>
              </a:rPr>
              <a:t>r</a:t>
            </a:r>
            <a:r>
              <a:rPr lang="en-US" altLang="en-US" sz="1800" smtClean="0">
                <a:sym typeface="Symbol" panose="05050102010706020507" pitchFamily="18" charset="2"/>
              </a:rPr>
              <a:t>)) = </a:t>
            </a:r>
            <a:r>
              <a:rPr lang="en-US" altLang="en-US" sz="1400" smtClean="0">
                <a:sym typeface="Symbol" panose="05050102010706020507" pitchFamily="18" charset="2"/>
              </a:rPr>
              <a:t>&lt;cond1&gt;^&lt;cond2&gt; …&lt;condn&gt;</a:t>
            </a:r>
            <a:r>
              <a:rPr lang="en-US" altLang="en-US" sz="1800" smtClean="0">
                <a:sym typeface="Symbol" panose="05050102010706020507" pitchFamily="18" charset="2"/>
              </a:rPr>
              <a:t>(</a:t>
            </a:r>
            <a:r>
              <a:rPr lang="en-US" altLang="en-US" sz="1800" i="1" smtClean="0">
                <a:sym typeface="Symbol" panose="05050102010706020507" pitchFamily="18" charset="2"/>
              </a:rPr>
              <a:t>r</a:t>
            </a:r>
            <a:r>
              <a:rPr lang="en-US" altLang="en-US" sz="1800" smtClean="0">
                <a:sym typeface="Symbol" panose="05050102010706020507" pitchFamily="18" charset="2"/>
              </a:rPr>
              <a:t>) </a:t>
            </a:r>
            <a:endParaRPr lang="en-US" altLang="en-US" sz="1800" smtClean="0"/>
          </a:p>
          <a:p>
            <a:pPr eaLnBrk="1" hangingPunct="1"/>
            <a:endParaRPr lang="en-US" alt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0DAF79-A508-4233-A7D6-98DB448099A7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CF1E3D-B191-43D4-8CBE-A0675C16CFE8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smtClean="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Project Operation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>
              <a:tabLst>
                <a:tab pos="3257550" algn="ctr"/>
              </a:tabLst>
            </a:pPr>
            <a:r>
              <a:rPr lang="en-US" altLang="en-US" sz="2000" smtClean="0"/>
              <a:t>Is used to select some attributes from a relation.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257550" algn="ctr"/>
              </a:tabLst>
            </a:pPr>
            <a:endParaRPr lang="en-US" altLang="en-US" sz="1000" smtClean="0"/>
          </a:p>
          <a:p>
            <a:pPr eaLnBrk="1" hangingPunct="1">
              <a:tabLst>
                <a:tab pos="3257550" algn="ctr"/>
              </a:tabLst>
            </a:pPr>
            <a:r>
              <a:rPr lang="en-US" altLang="en-US" sz="2000" smtClean="0"/>
              <a:t>Is denoted by:   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257550" algn="ctr"/>
              </a:tabLst>
            </a:pPr>
            <a:r>
              <a:rPr lang="en-US" altLang="en-US" sz="2000" smtClean="0"/>
              <a:t>                          	</a:t>
            </a:r>
            <a:r>
              <a:rPr lang="en-US" altLang="en-US" sz="2000" smtClean="0">
                <a:sym typeface="Symbol" panose="05050102010706020507" pitchFamily="18" charset="2"/>
              </a:rPr>
              <a:t></a:t>
            </a:r>
            <a:r>
              <a:rPr lang="en-US" altLang="en-US" sz="1600" smtClean="0">
                <a:sym typeface="Symbol" panose="05050102010706020507" pitchFamily="18" charset="2"/>
              </a:rPr>
              <a:t>&lt;attribute list&gt;</a:t>
            </a:r>
            <a:r>
              <a:rPr lang="en-US" altLang="en-US" sz="1600" smtClean="0"/>
              <a:t>(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257550" algn="ctr"/>
              </a:tabLst>
            </a:pPr>
            <a:endParaRPr lang="en-US" altLang="en-US" sz="1000" smtClean="0"/>
          </a:p>
          <a:p>
            <a:pPr eaLnBrk="1" hangingPunct="1">
              <a:buFont typeface="Wingdings" panose="05000000000000000000" pitchFamily="2" charset="2"/>
              <a:buNone/>
              <a:tabLst>
                <a:tab pos="3257550" algn="ctr"/>
              </a:tabLst>
            </a:pPr>
            <a:r>
              <a:rPr lang="en-US" altLang="en-US" sz="2000" smtClean="0"/>
              <a:t>	where &lt;attribute list&gt; are attribute names and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is a relation algebra expression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257550" algn="ctr"/>
              </a:tabLst>
            </a:pPr>
            <a:endParaRPr lang="en-US" altLang="en-US" sz="1000" smtClean="0"/>
          </a:p>
          <a:p>
            <a:pPr eaLnBrk="1" hangingPunct="1">
              <a:tabLst>
                <a:tab pos="3257550" algn="ctr"/>
              </a:tabLst>
            </a:pPr>
            <a:r>
              <a:rPr lang="en-US" altLang="en-US" sz="2000" smtClean="0"/>
              <a:t>The result is defined as the relation of &lt;attribute list&gt; columns obtained by erasing the columns that are not listed</a:t>
            </a:r>
          </a:p>
          <a:p>
            <a:pPr eaLnBrk="1" hangingPunct="1">
              <a:tabLst>
                <a:tab pos="3257550" algn="ctr"/>
              </a:tabLst>
            </a:pPr>
            <a:endParaRPr lang="en-US" altLang="en-US" sz="1000" smtClean="0"/>
          </a:p>
          <a:p>
            <a:pPr eaLnBrk="1" hangingPunct="1">
              <a:tabLst>
                <a:tab pos="3257550" algn="ctr"/>
              </a:tabLst>
            </a:pPr>
            <a:r>
              <a:rPr lang="en-US" altLang="en-US" sz="2000" smtClean="0"/>
              <a:t>Example: To eliminate the </a:t>
            </a:r>
            <a:r>
              <a:rPr lang="en-US" altLang="en-US" sz="2000" i="1" smtClean="0"/>
              <a:t>name</a:t>
            </a:r>
            <a:r>
              <a:rPr lang="en-US" altLang="en-US" sz="2000" smtClean="0"/>
              <a:t> attribute of </a:t>
            </a:r>
            <a:r>
              <a:rPr lang="en-US" altLang="en-US" sz="2000" i="1" smtClean="0"/>
              <a:t>DEPARTMENT</a:t>
            </a:r>
            <a:r>
              <a:rPr lang="en-US" altLang="en-US" sz="2000" smtClean="0"/>
              <a:t/>
            </a:r>
            <a:br>
              <a:rPr lang="en-US" altLang="en-US" sz="2000" smtClean="0"/>
            </a:br>
            <a:endParaRPr lang="en-US" altLang="en-US" sz="2000" smtClean="0"/>
          </a:p>
          <a:p>
            <a:pPr eaLnBrk="1" hangingPunct="1">
              <a:buFont typeface="Wingdings" panose="05000000000000000000" pitchFamily="2" charset="2"/>
              <a:buNone/>
              <a:tabLst>
                <a:tab pos="3257550" algn="ctr"/>
              </a:tabLst>
            </a:pPr>
            <a:r>
              <a:rPr lang="en-US" altLang="en-US" sz="2000" smtClean="0"/>
              <a:t>          R = </a:t>
            </a:r>
            <a:r>
              <a:rPr lang="en-US" altLang="en-US" sz="2000" smtClean="0"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lang="en-US" altLang="en-US" i="1" baseline="-25000" smtClean="0">
                <a:latin typeface="Comic Sans MS" panose="030F0702030302020204" pitchFamily="66" charset="0"/>
              </a:rPr>
              <a:t>number</a:t>
            </a:r>
            <a:r>
              <a:rPr lang="en-US" altLang="en-US" sz="2000" smtClean="0">
                <a:latin typeface="Comic Sans MS" panose="030F0702030302020204" pitchFamily="66" charset="0"/>
              </a:rPr>
              <a:t> (</a:t>
            </a:r>
            <a:r>
              <a:rPr lang="en-US" altLang="en-US" sz="2000" i="1" smtClean="0">
                <a:latin typeface="Comic Sans MS" panose="030F0702030302020204" pitchFamily="66" charset="0"/>
              </a:rPr>
              <a:t>DEPARTMENT</a:t>
            </a:r>
            <a:r>
              <a:rPr lang="en-US" altLang="en-US" sz="2000" smtClean="0">
                <a:latin typeface="Comic Sans MS" panose="030F0702030302020204" pitchFamily="66" charset="0"/>
              </a:rPr>
              <a:t>) </a:t>
            </a:r>
            <a:br>
              <a:rPr lang="en-US" altLang="en-US" sz="2000" smtClean="0">
                <a:latin typeface="Comic Sans MS" panose="030F0702030302020204" pitchFamily="66" charset="0"/>
              </a:rPr>
            </a:br>
            <a:endParaRPr lang="en-US" altLang="en-US" sz="2000" smtClean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6A98E7-4FF2-4881-A0EF-E2EE1BCF108E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9AD912-BC00-41E0-AFCC-6091E856D82A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smtClean="0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Project Operation – Example</a:t>
            </a:r>
          </a:p>
        </p:txBody>
      </p:sp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12954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19463" name="Rectangle 5"/>
          <p:cNvSpPr>
            <a:spLocks noChangeArrowheads="1"/>
          </p:cNvSpPr>
          <p:nvPr/>
        </p:nvSpPr>
        <p:spPr bwMode="auto">
          <a:xfrm>
            <a:off x="17526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19464" name="Rectangle 6"/>
          <p:cNvSpPr>
            <a:spLocks noChangeArrowheads="1"/>
          </p:cNvSpPr>
          <p:nvPr/>
        </p:nvSpPr>
        <p:spPr bwMode="auto">
          <a:xfrm>
            <a:off x="22098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19465" name="Rectangle 7"/>
          <p:cNvSpPr>
            <a:spLocks noChangeArrowheads="1"/>
          </p:cNvSpPr>
          <p:nvPr/>
        </p:nvSpPr>
        <p:spPr bwMode="auto">
          <a:xfrm>
            <a:off x="12954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19466" name="Rectangle 8"/>
          <p:cNvSpPr>
            <a:spLocks noChangeArrowheads="1"/>
          </p:cNvSpPr>
          <p:nvPr/>
        </p:nvSpPr>
        <p:spPr bwMode="auto">
          <a:xfrm>
            <a:off x="17526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40</a:t>
            </a:r>
          </a:p>
        </p:txBody>
      </p:sp>
      <p:sp>
        <p:nvSpPr>
          <p:cNvPr id="19467" name="Rectangle 9"/>
          <p:cNvSpPr>
            <a:spLocks noChangeArrowheads="1"/>
          </p:cNvSpPr>
          <p:nvPr/>
        </p:nvSpPr>
        <p:spPr bwMode="auto">
          <a:xfrm>
            <a:off x="22098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9468" name="Rectangle 10"/>
          <p:cNvSpPr>
            <a:spLocks noChangeArrowheads="1"/>
          </p:cNvSpPr>
          <p:nvPr/>
        </p:nvSpPr>
        <p:spPr bwMode="auto">
          <a:xfrm>
            <a:off x="9906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19469" name="Rectangle 12"/>
          <p:cNvSpPr>
            <a:spLocks noChangeArrowheads="1"/>
          </p:cNvSpPr>
          <p:nvPr/>
        </p:nvSpPr>
        <p:spPr bwMode="auto">
          <a:xfrm>
            <a:off x="5334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endParaRPr kumimoji="1"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19470" name="Rectangle 22"/>
          <p:cNvSpPr>
            <a:spLocks noChangeArrowheads="1"/>
          </p:cNvSpPr>
          <p:nvPr/>
        </p:nvSpPr>
        <p:spPr bwMode="auto">
          <a:xfrm>
            <a:off x="407988" y="41402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471" name="Rectangle 23"/>
          <p:cNvSpPr>
            <a:spLocks noChangeArrowheads="1"/>
          </p:cNvSpPr>
          <p:nvPr/>
        </p:nvSpPr>
        <p:spPr bwMode="auto">
          <a:xfrm>
            <a:off x="2819400" y="3276600"/>
            <a:ext cx="1828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>
                <a:sym typeface="Symbol" panose="05050102010706020507" pitchFamily="18" charset="2"/>
              </a:rPr>
              <a:t>R = </a:t>
            </a:r>
            <a:r>
              <a:rPr lang="en-US" altLang="en-US" sz="1800" b="1" baseline="-25000"/>
              <a:t>A,C</a:t>
            </a:r>
            <a:r>
              <a:rPr lang="en-US" altLang="en-US" sz="1800" b="1"/>
              <a:t> </a:t>
            </a:r>
            <a:r>
              <a:rPr lang="en-US" altLang="en-US" b="1"/>
              <a:t>(</a:t>
            </a:r>
            <a:r>
              <a:rPr lang="en-US" altLang="en-US" b="1" i="1"/>
              <a:t>r</a:t>
            </a:r>
            <a:r>
              <a:rPr lang="en-US" altLang="en-US" b="1"/>
              <a:t>)</a:t>
            </a:r>
          </a:p>
        </p:txBody>
      </p:sp>
      <p:sp>
        <p:nvSpPr>
          <p:cNvPr id="19472" name="Rectangle 25"/>
          <p:cNvSpPr>
            <a:spLocks noChangeArrowheads="1"/>
          </p:cNvSpPr>
          <p:nvPr/>
        </p:nvSpPr>
        <p:spPr bwMode="auto">
          <a:xfrm>
            <a:off x="1752600" y="4595813"/>
            <a:ext cx="338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i="1"/>
              <a:t>r</a:t>
            </a:r>
          </a:p>
        </p:txBody>
      </p:sp>
      <p:sp>
        <p:nvSpPr>
          <p:cNvPr id="19473" name="Line 26"/>
          <p:cNvSpPr>
            <a:spLocks noChangeShapeType="1"/>
          </p:cNvSpPr>
          <p:nvPr/>
        </p:nvSpPr>
        <p:spPr bwMode="auto">
          <a:xfrm>
            <a:off x="4724400" y="34861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F89565-53D9-4D37-9093-08B6B9F8608B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150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E77B96-30F2-46ED-8946-32A8FECB812B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smtClean="0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Project Operation – Example</a:t>
            </a:r>
          </a:p>
        </p:txBody>
      </p:sp>
      <p:sp>
        <p:nvSpPr>
          <p:cNvPr id="21510" name="Rectangle 4"/>
          <p:cNvSpPr>
            <a:spLocks noChangeArrowheads="1"/>
          </p:cNvSpPr>
          <p:nvPr/>
        </p:nvSpPr>
        <p:spPr bwMode="auto">
          <a:xfrm>
            <a:off x="12954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1511" name="Rectangle 5"/>
          <p:cNvSpPr>
            <a:spLocks noChangeArrowheads="1"/>
          </p:cNvSpPr>
          <p:nvPr/>
        </p:nvSpPr>
        <p:spPr bwMode="auto">
          <a:xfrm>
            <a:off x="17526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21512" name="Rectangle 6"/>
          <p:cNvSpPr>
            <a:spLocks noChangeArrowheads="1"/>
          </p:cNvSpPr>
          <p:nvPr/>
        </p:nvSpPr>
        <p:spPr bwMode="auto">
          <a:xfrm>
            <a:off x="22098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1513" name="Rectangle 7"/>
          <p:cNvSpPr>
            <a:spLocks noChangeArrowheads="1"/>
          </p:cNvSpPr>
          <p:nvPr/>
        </p:nvSpPr>
        <p:spPr bwMode="auto">
          <a:xfrm>
            <a:off x="12954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1514" name="Rectangle 8"/>
          <p:cNvSpPr>
            <a:spLocks noChangeArrowheads="1"/>
          </p:cNvSpPr>
          <p:nvPr/>
        </p:nvSpPr>
        <p:spPr bwMode="auto">
          <a:xfrm>
            <a:off x="17526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40</a:t>
            </a:r>
          </a:p>
        </p:txBody>
      </p:sp>
      <p:sp>
        <p:nvSpPr>
          <p:cNvPr id="21515" name="Rectangle 9"/>
          <p:cNvSpPr>
            <a:spLocks noChangeArrowheads="1"/>
          </p:cNvSpPr>
          <p:nvPr/>
        </p:nvSpPr>
        <p:spPr bwMode="auto">
          <a:xfrm>
            <a:off x="22098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6" name="Rectangle 10"/>
          <p:cNvSpPr>
            <a:spLocks noChangeArrowheads="1"/>
          </p:cNvSpPr>
          <p:nvPr/>
        </p:nvSpPr>
        <p:spPr bwMode="auto">
          <a:xfrm>
            <a:off x="9906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21517" name="Rectangle 12"/>
          <p:cNvSpPr>
            <a:spLocks noChangeArrowheads="1"/>
          </p:cNvSpPr>
          <p:nvPr/>
        </p:nvSpPr>
        <p:spPr bwMode="auto">
          <a:xfrm>
            <a:off x="5334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endParaRPr kumimoji="1"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21518" name="Rectangle 18"/>
          <p:cNvSpPr>
            <a:spLocks noChangeArrowheads="1"/>
          </p:cNvSpPr>
          <p:nvPr/>
        </p:nvSpPr>
        <p:spPr bwMode="auto">
          <a:xfrm>
            <a:off x="5349875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1519" name="Rectangle 19"/>
          <p:cNvSpPr>
            <a:spLocks noChangeArrowheads="1"/>
          </p:cNvSpPr>
          <p:nvPr/>
        </p:nvSpPr>
        <p:spPr bwMode="auto">
          <a:xfrm>
            <a:off x="5807075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1520" name="Rectangle 20"/>
          <p:cNvSpPr>
            <a:spLocks noChangeArrowheads="1"/>
          </p:cNvSpPr>
          <p:nvPr/>
        </p:nvSpPr>
        <p:spPr bwMode="auto">
          <a:xfrm>
            <a:off x="5349875" y="29718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1521" name="Rectangle 21"/>
          <p:cNvSpPr>
            <a:spLocks noChangeArrowheads="1"/>
          </p:cNvSpPr>
          <p:nvPr/>
        </p:nvSpPr>
        <p:spPr bwMode="auto">
          <a:xfrm>
            <a:off x="5807075" y="2971800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22" name="Rectangle 22"/>
          <p:cNvSpPr>
            <a:spLocks noChangeArrowheads="1"/>
          </p:cNvSpPr>
          <p:nvPr/>
        </p:nvSpPr>
        <p:spPr bwMode="auto">
          <a:xfrm>
            <a:off x="407988" y="41402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23" name="Rectangle 23"/>
          <p:cNvSpPr>
            <a:spLocks noChangeArrowheads="1"/>
          </p:cNvSpPr>
          <p:nvPr/>
        </p:nvSpPr>
        <p:spPr bwMode="auto">
          <a:xfrm>
            <a:off x="2819400" y="3276600"/>
            <a:ext cx="1828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>
                <a:sym typeface="Symbol" panose="05050102010706020507" pitchFamily="18" charset="2"/>
              </a:rPr>
              <a:t>R = </a:t>
            </a:r>
            <a:r>
              <a:rPr lang="en-US" altLang="en-US" sz="1800" b="1" baseline="-25000"/>
              <a:t>A,C</a:t>
            </a:r>
            <a:r>
              <a:rPr lang="en-US" altLang="en-US" sz="1800" b="1"/>
              <a:t> </a:t>
            </a:r>
            <a:r>
              <a:rPr lang="en-US" altLang="en-US" b="1"/>
              <a:t>(</a:t>
            </a:r>
            <a:r>
              <a:rPr lang="en-US" altLang="en-US" b="1" i="1"/>
              <a:t>r</a:t>
            </a:r>
            <a:r>
              <a:rPr lang="en-US" altLang="en-US" b="1"/>
              <a:t>)</a:t>
            </a:r>
          </a:p>
        </p:txBody>
      </p:sp>
      <p:sp>
        <p:nvSpPr>
          <p:cNvPr id="21524" name="Rectangle 25"/>
          <p:cNvSpPr>
            <a:spLocks noChangeArrowheads="1"/>
          </p:cNvSpPr>
          <p:nvPr/>
        </p:nvSpPr>
        <p:spPr bwMode="auto">
          <a:xfrm>
            <a:off x="1752600" y="4595813"/>
            <a:ext cx="338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i="1"/>
              <a:t>r</a:t>
            </a:r>
          </a:p>
        </p:txBody>
      </p:sp>
      <p:sp>
        <p:nvSpPr>
          <p:cNvPr id="21525" name="Line 26"/>
          <p:cNvSpPr>
            <a:spLocks noChangeShapeType="1"/>
          </p:cNvSpPr>
          <p:nvPr/>
        </p:nvSpPr>
        <p:spPr bwMode="auto">
          <a:xfrm>
            <a:off x="4724400" y="348615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526" name="Text Box 29"/>
          <p:cNvSpPr txBox="1">
            <a:spLocks noChangeArrowheads="1"/>
          </p:cNvSpPr>
          <p:nvPr/>
        </p:nvSpPr>
        <p:spPr bwMode="auto">
          <a:xfrm>
            <a:off x="5181600" y="5334000"/>
            <a:ext cx="2003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Duplicates Removed</a:t>
            </a:r>
          </a:p>
        </p:txBody>
      </p:sp>
      <p:sp>
        <p:nvSpPr>
          <p:cNvPr id="21527" name="Line 30"/>
          <p:cNvSpPr>
            <a:spLocks noChangeShapeType="1"/>
          </p:cNvSpPr>
          <p:nvPr/>
        </p:nvSpPr>
        <p:spPr bwMode="auto">
          <a:xfrm flipV="1">
            <a:off x="5959475" y="4267200"/>
            <a:ext cx="0" cy="9144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528" name="TextBox 1"/>
          <p:cNvSpPr txBox="1">
            <a:spLocks noChangeArrowheads="1"/>
          </p:cNvSpPr>
          <p:nvPr/>
        </p:nvSpPr>
        <p:spPr bwMode="auto">
          <a:xfrm>
            <a:off x="5189538" y="4418013"/>
            <a:ext cx="396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R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AnotherExample</a:t>
            </a:r>
          </a:p>
        </p:txBody>
      </p:sp>
      <p:sp>
        <p:nvSpPr>
          <p:cNvPr id="23555" name="Date Placeholder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EA20AC-2CB9-4DB7-8E3D-6E44DAB1FA26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3556" name="Footer Placeholder 4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3557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8524A5-6E62-48C5-8EFF-77C902D398A8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smtClean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61D46C5-0C20-9E41-9F32-D0F31CB8A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582738"/>
            <a:ext cx="8229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GB" b="1" kern="0"/>
              <a:t>Produce a list of salaries for all staff, showing only  staffNo, fName, lName, and salary details.</a:t>
            </a:r>
            <a:endParaRPr lang="en-GB" b="1" i="1" kern="0"/>
          </a:p>
          <a:p>
            <a:pPr lvl="1">
              <a:lnSpc>
                <a:spcPct val="30000"/>
              </a:lnSpc>
              <a:defRPr/>
            </a:pPr>
            <a:endParaRPr lang="en-GB" b="1" i="1" kern="0"/>
          </a:p>
          <a:p>
            <a:pPr lvl="1">
              <a:buFontTx/>
              <a:buNone/>
              <a:defRPr/>
            </a:pPr>
            <a:r>
              <a:rPr lang="en-GB" b="1" kern="0">
                <a:sym typeface="WP MultinationalA Roman" pitchFamily="18" charset="2"/>
              </a:rPr>
              <a:t>	</a:t>
            </a:r>
            <a:r>
              <a:rPr lang="en-GB" b="1" kern="0">
                <a:sym typeface="Symbol" pitchFamily="18" charset="2"/>
              </a:rPr>
              <a:t></a:t>
            </a:r>
            <a:r>
              <a:rPr lang="en-GB" b="1" kern="0" baseline="-14000"/>
              <a:t>staffNo, fName, lName, salary</a:t>
            </a:r>
            <a:r>
              <a:rPr lang="en-GB" b="1" kern="0"/>
              <a:t>(Staff)</a:t>
            </a:r>
          </a:p>
        </p:txBody>
      </p:sp>
      <p:pic>
        <p:nvPicPr>
          <p:cNvPr id="8" name="Picture 5" descr="DS3-Figure 04-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3435350"/>
            <a:ext cx="3889375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29648D-EECE-4D49-8E1C-B995B8753B38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45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58F079-4D09-4364-9FDB-B47F72814712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smtClean="0"/>
          </a:p>
        </p:txBody>
      </p:sp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Characteristics of PROJECT Operation</a:t>
            </a:r>
          </a:p>
        </p:txBody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The result of a PROJECT operation will be a relation consisting of the attributes specified in the &lt;attribute list&gt; in the same order.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The degree is equal to the number of attributes in the list.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The projection operations removes any duplicates.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The cardinality of the resulting relation is always less than or equal to the cardinality of r.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For a cascade of PROJECT operations, only the outermost need to be considered for evaluation. If &lt;list1&gt; </a:t>
            </a:r>
            <a:r>
              <a:rPr lang="en-US" altLang="en-US" sz="2000" smtClean="0">
                <a:sym typeface="Symbol" panose="05050102010706020507" pitchFamily="18" charset="2"/>
              </a:rPr>
              <a:t> &lt;list2&gt;  …  &lt;listn&gt;  r, then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smtClean="0"/>
              <a:t> </a:t>
            </a:r>
            <a:r>
              <a:rPr lang="en-US" altLang="en-US" sz="1800" smtClean="0">
                <a:sym typeface="Symbol" panose="05050102010706020507" pitchFamily="18" charset="2"/>
              </a:rPr>
              <a:t></a:t>
            </a:r>
            <a:r>
              <a:rPr lang="en-US" altLang="en-US" sz="1400" smtClean="0">
                <a:sym typeface="Symbol" panose="05050102010706020507" pitchFamily="18" charset="2"/>
              </a:rPr>
              <a:t>&lt;list1&gt;</a:t>
            </a:r>
            <a:r>
              <a:rPr lang="en-US" altLang="en-US" sz="1800" smtClean="0"/>
              <a:t>(</a:t>
            </a:r>
            <a:r>
              <a:rPr lang="en-US" altLang="en-US" sz="1800" smtClean="0">
                <a:sym typeface="Symbol" panose="05050102010706020507" pitchFamily="18" charset="2"/>
              </a:rPr>
              <a:t></a:t>
            </a:r>
            <a:r>
              <a:rPr lang="en-US" altLang="en-US" sz="1400" smtClean="0">
                <a:sym typeface="Symbol" panose="05050102010706020507" pitchFamily="18" charset="2"/>
              </a:rPr>
              <a:t>&lt;list2&gt;(… (</a:t>
            </a:r>
            <a:r>
              <a:rPr lang="en-US" altLang="en-US" sz="1800" smtClean="0">
                <a:sym typeface="Symbol" panose="05050102010706020507" pitchFamily="18" charset="2"/>
              </a:rPr>
              <a:t></a:t>
            </a:r>
            <a:r>
              <a:rPr lang="en-US" altLang="en-US" sz="1400" smtClean="0">
                <a:sym typeface="Symbol" panose="05050102010706020507" pitchFamily="18" charset="2"/>
              </a:rPr>
              <a:t>&lt;listn&gt;</a:t>
            </a:r>
            <a:r>
              <a:rPr lang="en-US" altLang="en-US" sz="1800" smtClean="0"/>
              <a:t>(r))) = </a:t>
            </a:r>
            <a:r>
              <a:rPr lang="en-US" altLang="en-US" sz="1800" smtClean="0">
                <a:sym typeface="Symbol" panose="05050102010706020507" pitchFamily="18" charset="2"/>
              </a:rPr>
              <a:t></a:t>
            </a:r>
            <a:r>
              <a:rPr lang="en-US" altLang="en-US" sz="1400" smtClean="0">
                <a:sym typeface="Symbol" panose="05050102010706020507" pitchFamily="18" charset="2"/>
              </a:rPr>
              <a:t>&lt;list1&gt;</a:t>
            </a:r>
            <a:r>
              <a:rPr lang="en-US" altLang="en-US" sz="1800" smtClean="0"/>
              <a:t>(r)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022D00-0CD7-4C0D-B842-54664EEB9F45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D06442F-9FA7-4DB3-A6A5-60E68BCCE7F7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 smtClean="0"/>
          </a:p>
        </p:txBody>
      </p:sp>
      <p:sp>
        <p:nvSpPr>
          <p:cNvPr id="256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Composition of Operation – Example</a:t>
            </a:r>
          </a:p>
        </p:txBody>
      </p:sp>
      <p:sp>
        <p:nvSpPr>
          <p:cNvPr id="25606" name="Text Box 3"/>
          <p:cNvSpPr txBox="1">
            <a:spLocks noChangeArrowheads="1"/>
          </p:cNvSpPr>
          <p:nvPr/>
        </p:nvSpPr>
        <p:spPr bwMode="auto">
          <a:xfrm>
            <a:off x="1160463" y="5195888"/>
            <a:ext cx="392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2000" b="1" i="1">
                <a:latin typeface="Helvetica" panose="020B0604020202020204" pitchFamily="34" charset="0"/>
              </a:rPr>
              <a:t> </a:t>
            </a: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25607" name="Rectangle 4"/>
          <p:cNvSpPr>
            <a:spLocks noChangeArrowheads="1"/>
          </p:cNvSpPr>
          <p:nvPr/>
        </p:nvSpPr>
        <p:spPr bwMode="auto">
          <a:xfrm>
            <a:off x="4572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5608" name="Rectangle 5"/>
          <p:cNvSpPr>
            <a:spLocks noChangeArrowheads="1"/>
          </p:cNvSpPr>
          <p:nvPr/>
        </p:nvSpPr>
        <p:spPr bwMode="auto">
          <a:xfrm>
            <a:off x="9144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25609" name="Rectangle 6"/>
          <p:cNvSpPr>
            <a:spLocks noChangeArrowheads="1"/>
          </p:cNvSpPr>
          <p:nvPr/>
        </p:nvSpPr>
        <p:spPr bwMode="auto">
          <a:xfrm>
            <a:off x="13716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5610" name="Rectangle 7"/>
          <p:cNvSpPr>
            <a:spLocks noChangeArrowheads="1"/>
          </p:cNvSpPr>
          <p:nvPr/>
        </p:nvSpPr>
        <p:spPr bwMode="auto">
          <a:xfrm>
            <a:off x="18288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25611" name="Rectangle 8"/>
          <p:cNvSpPr>
            <a:spLocks noChangeArrowheads="1"/>
          </p:cNvSpPr>
          <p:nvPr/>
        </p:nvSpPr>
        <p:spPr bwMode="auto">
          <a:xfrm>
            <a:off x="4572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5612" name="Rectangle 9"/>
          <p:cNvSpPr>
            <a:spLocks noChangeArrowheads="1"/>
          </p:cNvSpPr>
          <p:nvPr/>
        </p:nvSpPr>
        <p:spPr bwMode="auto">
          <a:xfrm>
            <a:off x="9144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5613" name="Rectangle 10"/>
          <p:cNvSpPr>
            <a:spLocks noChangeArrowheads="1"/>
          </p:cNvSpPr>
          <p:nvPr/>
        </p:nvSpPr>
        <p:spPr bwMode="auto">
          <a:xfrm>
            <a:off x="13716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25614" name="Rectangle 11"/>
          <p:cNvSpPr>
            <a:spLocks noChangeArrowheads="1"/>
          </p:cNvSpPr>
          <p:nvPr/>
        </p:nvSpPr>
        <p:spPr bwMode="auto">
          <a:xfrm>
            <a:off x="18288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5615" name="Rectangle 22"/>
          <p:cNvSpPr>
            <a:spLocks noChangeArrowheads="1"/>
          </p:cNvSpPr>
          <p:nvPr/>
        </p:nvSpPr>
        <p:spPr bwMode="auto">
          <a:xfrm>
            <a:off x="457200" y="1676400"/>
            <a:ext cx="6400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</a:t>
            </a:r>
            <a:r>
              <a:rPr lang="en-US" altLang="en-US" sz="1800" b="1" baseline="-25000">
                <a:solidFill>
                  <a:schemeClr val="hlink"/>
                </a:solidFill>
              </a:rPr>
              <a:t>A,C</a:t>
            </a:r>
            <a:r>
              <a:rPr lang="en-US" altLang="en-US" sz="1800" b="1"/>
              <a:t> </a:t>
            </a:r>
            <a:r>
              <a:rPr lang="en-US" altLang="en-US" b="1">
                <a:solidFill>
                  <a:schemeClr val="hlink"/>
                </a:solidFill>
              </a:rPr>
              <a:t>(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 sz="1400" b="1">
                <a:sym typeface="Symbol" panose="05050102010706020507" pitchFamily="18" charset="2"/>
              </a:rPr>
              <a:t>A=B ^ D &gt;</a:t>
            </a:r>
            <a:r>
              <a:rPr lang="en-US" altLang="en-US" sz="1600" b="1">
                <a:sym typeface="Symbol" panose="05050102010706020507" pitchFamily="18" charset="2"/>
              </a:rPr>
              <a:t> </a:t>
            </a:r>
            <a:r>
              <a:rPr lang="en-US" altLang="en-US" sz="1400" b="1">
                <a:sym typeface="Symbol" panose="05050102010706020507" pitchFamily="18" charset="2"/>
              </a:rPr>
              <a:t>5</a:t>
            </a:r>
            <a:r>
              <a:rPr lang="en-US" altLang="en-US" b="1">
                <a:sym typeface="Symbol" panose="05050102010706020507" pitchFamily="18" charset="2"/>
              </a:rPr>
              <a:t>(r)</a:t>
            </a:r>
            <a:r>
              <a:rPr lang="en-US" altLang="en-US" b="1">
                <a:solidFill>
                  <a:schemeClr val="hlink"/>
                </a:solidFill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09E3AC-909C-42BC-A988-0D44B789AEBA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662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B33DC7-62EC-4677-B19B-B59D4E9EB33B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 smtClean="0"/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Composition of Operation – Example</a:t>
            </a:r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1160463" y="5195888"/>
            <a:ext cx="392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2000" b="1" i="1">
                <a:latin typeface="Helvetica" panose="020B0604020202020204" pitchFamily="34" charset="0"/>
              </a:rPr>
              <a:t> </a:t>
            </a: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26631" name="Rectangle 4"/>
          <p:cNvSpPr>
            <a:spLocks noChangeArrowheads="1"/>
          </p:cNvSpPr>
          <p:nvPr/>
        </p:nvSpPr>
        <p:spPr bwMode="auto">
          <a:xfrm>
            <a:off x="4572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6632" name="Rectangle 5"/>
          <p:cNvSpPr>
            <a:spLocks noChangeArrowheads="1"/>
          </p:cNvSpPr>
          <p:nvPr/>
        </p:nvSpPr>
        <p:spPr bwMode="auto">
          <a:xfrm>
            <a:off x="9144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26633" name="Rectangle 6"/>
          <p:cNvSpPr>
            <a:spLocks noChangeArrowheads="1"/>
          </p:cNvSpPr>
          <p:nvPr/>
        </p:nvSpPr>
        <p:spPr bwMode="auto">
          <a:xfrm>
            <a:off x="13716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6634" name="Rectangle 7"/>
          <p:cNvSpPr>
            <a:spLocks noChangeArrowheads="1"/>
          </p:cNvSpPr>
          <p:nvPr/>
        </p:nvSpPr>
        <p:spPr bwMode="auto">
          <a:xfrm>
            <a:off x="18288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26635" name="Rectangle 8"/>
          <p:cNvSpPr>
            <a:spLocks noChangeArrowheads="1"/>
          </p:cNvSpPr>
          <p:nvPr/>
        </p:nvSpPr>
        <p:spPr bwMode="auto">
          <a:xfrm>
            <a:off x="4572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6636" name="Rectangle 9"/>
          <p:cNvSpPr>
            <a:spLocks noChangeArrowheads="1"/>
          </p:cNvSpPr>
          <p:nvPr/>
        </p:nvSpPr>
        <p:spPr bwMode="auto">
          <a:xfrm>
            <a:off x="9144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6637" name="Rectangle 10"/>
          <p:cNvSpPr>
            <a:spLocks noChangeArrowheads="1"/>
          </p:cNvSpPr>
          <p:nvPr/>
        </p:nvSpPr>
        <p:spPr bwMode="auto">
          <a:xfrm>
            <a:off x="13716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26638" name="Rectangle 11"/>
          <p:cNvSpPr>
            <a:spLocks noChangeArrowheads="1"/>
          </p:cNvSpPr>
          <p:nvPr/>
        </p:nvSpPr>
        <p:spPr bwMode="auto">
          <a:xfrm>
            <a:off x="18288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6639" name="Text Box 12"/>
          <p:cNvSpPr txBox="1">
            <a:spLocks noChangeArrowheads="1"/>
          </p:cNvSpPr>
          <p:nvPr/>
        </p:nvSpPr>
        <p:spPr bwMode="auto">
          <a:xfrm>
            <a:off x="2743200" y="2667000"/>
            <a:ext cx="175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0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A=B ^ D &gt; 5</a:t>
            </a:r>
            <a:r>
              <a:rPr lang="en-US" altLang="en-US" sz="28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(r)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26640" name="Rectangle 13"/>
          <p:cNvSpPr>
            <a:spLocks noChangeArrowheads="1"/>
          </p:cNvSpPr>
          <p:nvPr/>
        </p:nvSpPr>
        <p:spPr bwMode="auto">
          <a:xfrm>
            <a:off x="58689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6641" name="Rectangle 14"/>
          <p:cNvSpPr>
            <a:spLocks noChangeArrowheads="1"/>
          </p:cNvSpPr>
          <p:nvPr/>
        </p:nvSpPr>
        <p:spPr bwMode="auto">
          <a:xfrm>
            <a:off x="63261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26642" name="Rectangle 15"/>
          <p:cNvSpPr>
            <a:spLocks noChangeArrowheads="1"/>
          </p:cNvSpPr>
          <p:nvPr/>
        </p:nvSpPr>
        <p:spPr bwMode="auto">
          <a:xfrm>
            <a:off x="67833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6643" name="Rectangle 16"/>
          <p:cNvSpPr>
            <a:spLocks noChangeArrowheads="1"/>
          </p:cNvSpPr>
          <p:nvPr/>
        </p:nvSpPr>
        <p:spPr bwMode="auto">
          <a:xfrm>
            <a:off x="72405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26644" name="Rectangle 17"/>
          <p:cNvSpPr>
            <a:spLocks noChangeArrowheads="1"/>
          </p:cNvSpPr>
          <p:nvPr/>
        </p:nvSpPr>
        <p:spPr bwMode="auto">
          <a:xfrm>
            <a:off x="58689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6645" name="Rectangle 18"/>
          <p:cNvSpPr>
            <a:spLocks noChangeArrowheads="1"/>
          </p:cNvSpPr>
          <p:nvPr/>
        </p:nvSpPr>
        <p:spPr bwMode="auto">
          <a:xfrm>
            <a:off x="63261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6646" name="Rectangle 19"/>
          <p:cNvSpPr>
            <a:spLocks noChangeArrowheads="1"/>
          </p:cNvSpPr>
          <p:nvPr/>
        </p:nvSpPr>
        <p:spPr bwMode="auto">
          <a:xfrm>
            <a:off x="67833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26647" name="Rectangle 20"/>
          <p:cNvSpPr>
            <a:spLocks noChangeArrowheads="1"/>
          </p:cNvSpPr>
          <p:nvPr/>
        </p:nvSpPr>
        <p:spPr bwMode="auto">
          <a:xfrm>
            <a:off x="72405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6648" name="Line 21"/>
          <p:cNvSpPr>
            <a:spLocks noChangeShapeType="1"/>
          </p:cNvSpPr>
          <p:nvPr/>
        </p:nvSpPr>
        <p:spPr bwMode="auto">
          <a:xfrm flipV="1">
            <a:off x="4572000" y="2743200"/>
            <a:ext cx="1219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6649" name="Rectangle 22"/>
          <p:cNvSpPr>
            <a:spLocks noChangeArrowheads="1"/>
          </p:cNvSpPr>
          <p:nvPr/>
        </p:nvSpPr>
        <p:spPr bwMode="auto">
          <a:xfrm>
            <a:off x="457200" y="1676400"/>
            <a:ext cx="6400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</a:t>
            </a:r>
            <a:r>
              <a:rPr lang="en-US" altLang="en-US" sz="1800" b="1" baseline="-25000">
                <a:solidFill>
                  <a:schemeClr val="hlink"/>
                </a:solidFill>
              </a:rPr>
              <a:t>A,C</a:t>
            </a:r>
            <a:r>
              <a:rPr lang="en-US" altLang="en-US" sz="1800" b="1"/>
              <a:t> </a:t>
            </a:r>
            <a:r>
              <a:rPr lang="en-US" altLang="en-US" b="1">
                <a:solidFill>
                  <a:schemeClr val="hlink"/>
                </a:solidFill>
              </a:rPr>
              <a:t>(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 sz="1400" b="1">
                <a:sym typeface="Symbol" panose="05050102010706020507" pitchFamily="18" charset="2"/>
              </a:rPr>
              <a:t>A=B ^ D &gt;</a:t>
            </a:r>
            <a:r>
              <a:rPr lang="en-US" altLang="en-US" sz="1600" b="1">
                <a:sym typeface="Symbol" panose="05050102010706020507" pitchFamily="18" charset="2"/>
              </a:rPr>
              <a:t> </a:t>
            </a:r>
            <a:r>
              <a:rPr lang="en-US" altLang="en-US" sz="1400" b="1">
                <a:sym typeface="Symbol" panose="05050102010706020507" pitchFamily="18" charset="2"/>
              </a:rPr>
              <a:t>5</a:t>
            </a:r>
            <a:r>
              <a:rPr lang="en-US" altLang="en-US" b="1">
                <a:sym typeface="Symbol" panose="05050102010706020507" pitchFamily="18" charset="2"/>
              </a:rPr>
              <a:t>(r)</a:t>
            </a:r>
            <a:r>
              <a:rPr lang="en-US" altLang="en-US" b="1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26650" name="Line 29"/>
          <p:cNvSpPr>
            <a:spLocks noChangeShapeType="1"/>
          </p:cNvSpPr>
          <p:nvPr/>
        </p:nvSpPr>
        <p:spPr bwMode="auto">
          <a:xfrm>
            <a:off x="2438400" y="2133600"/>
            <a:ext cx="10668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5CCB93-1928-4449-BACA-CECED33BECB3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76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5E5612-6026-4FA6-BD8A-28C8301FB925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 smtClean="0"/>
          </a:p>
        </p:txBody>
      </p:sp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Composition of Operation – Example</a:t>
            </a:r>
          </a:p>
        </p:txBody>
      </p:sp>
      <p:sp>
        <p:nvSpPr>
          <p:cNvPr id="27654" name="Text Box 3"/>
          <p:cNvSpPr txBox="1">
            <a:spLocks noChangeArrowheads="1"/>
          </p:cNvSpPr>
          <p:nvPr/>
        </p:nvSpPr>
        <p:spPr bwMode="auto">
          <a:xfrm>
            <a:off x="1160463" y="5195888"/>
            <a:ext cx="3921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2000" b="1" i="1">
                <a:latin typeface="Helvetica" panose="020B0604020202020204" pitchFamily="34" charset="0"/>
              </a:rPr>
              <a:t> </a:t>
            </a: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27655" name="Rectangle 4"/>
          <p:cNvSpPr>
            <a:spLocks noChangeArrowheads="1"/>
          </p:cNvSpPr>
          <p:nvPr/>
        </p:nvSpPr>
        <p:spPr bwMode="auto">
          <a:xfrm>
            <a:off x="4572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7656" name="Rectangle 5"/>
          <p:cNvSpPr>
            <a:spLocks noChangeArrowheads="1"/>
          </p:cNvSpPr>
          <p:nvPr/>
        </p:nvSpPr>
        <p:spPr bwMode="auto">
          <a:xfrm>
            <a:off x="9144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27657" name="Rectangle 6"/>
          <p:cNvSpPr>
            <a:spLocks noChangeArrowheads="1"/>
          </p:cNvSpPr>
          <p:nvPr/>
        </p:nvSpPr>
        <p:spPr bwMode="auto">
          <a:xfrm>
            <a:off x="13716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7658" name="Rectangle 7"/>
          <p:cNvSpPr>
            <a:spLocks noChangeArrowheads="1"/>
          </p:cNvSpPr>
          <p:nvPr/>
        </p:nvSpPr>
        <p:spPr bwMode="auto">
          <a:xfrm>
            <a:off x="1828800" y="2986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27659" name="Rectangle 8"/>
          <p:cNvSpPr>
            <a:spLocks noChangeArrowheads="1"/>
          </p:cNvSpPr>
          <p:nvPr/>
        </p:nvSpPr>
        <p:spPr bwMode="auto">
          <a:xfrm>
            <a:off x="4572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7660" name="Rectangle 9"/>
          <p:cNvSpPr>
            <a:spLocks noChangeArrowheads="1"/>
          </p:cNvSpPr>
          <p:nvPr/>
        </p:nvSpPr>
        <p:spPr bwMode="auto">
          <a:xfrm>
            <a:off x="9144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7661" name="Rectangle 10"/>
          <p:cNvSpPr>
            <a:spLocks noChangeArrowheads="1"/>
          </p:cNvSpPr>
          <p:nvPr/>
        </p:nvSpPr>
        <p:spPr bwMode="auto">
          <a:xfrm>
            <a:off x="13716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5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27662" name="Rectangle 11"/>
          <p:cNvSpPr>
            <a:spLocks noChangeArrowheads="1"/>
          </p:cNvSpPr>
          <p:nvPr/>
        </p:nvSpPr>
        <p:spPr bwMode="auto">
          <a:xfrm>
            <a:off x="1828800" y="3519488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7663" name="Text Box 12"/>
          <p:cNvSpPr txBox="1">
            <a:spLocks noChangeArrowheads="1"/>
          </p:cNvSpPr>
          <p:nvPr/>
        </p:nvSpPr>
        <p:spPr bwMode="auto">
          <a:xfrm>
            <a:off x="2743200" y="2667000"/>
            <a:ext cx="175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Pct val="125000"/>
              <a:buFontTx/>
              <a:buNone/>
            </a:pP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0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A=B ^ D &gt; 5</a:t>
            </a:r>
            <a:r>
              <a:rPr lang="en-US" altLang="en-US" sz="2800" b="1" baseline="-25000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(r)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27664" name="Rectangle 13"/>
          <p:cNvSpPr>
            <a:spLocks noChangeArrowheads="1"/>
          </p:cNvSpPr>
          <p:nvPr/>
        </p:nvSpPr>
        <p:spPr bwMode="auto">
          <a:xfrm>
            <a:off x="58689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7665" name="Rectangle 14"/>
          <p:cNvSpPr>
            <a:spLocks noChangeArrowheads="1"/>
          </p:cNvSpPr>
          <p:nvPr/>
        </p:nvSpPr>
        <p:spPr bwMode="auto">
          <a:xfrm>
            <a:off x="63261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27666" name="Rectangle 15"/>
          <p:cNvSpPr>
            <a:spLocks noChangeArrowheads="1"/>
          </p:cNvSpPr>
          <p:nvPr/>
        </p:nvSpPr>
        <p:spPr bwMode="auto">
          <a:xfrm>
            <a:off x="67833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7667" name="Rectangle 16"/>
          <p:cNvSpPr>
            <a:spLocks noChangeArrowheads="1"/>
          </p:cNvSpPr>
          <p:nvPr/>
        </p:nvSpPr>
        <p:spPr bwMode="auto">
          <a:xfrm>
            <a:off x="7240588" y="2057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27668" name="Rectangle 17"/>
          <p:cNvSpPr>
            <a:spLocks noChangeArrowheads="1"/>
          </p:cNvSpPr>
          <p:nvPr/>
        </p:nvSpPr>
        <p:spPr bwMode="auto">
          <a:xfrm>
            <a:off x="58689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7669" name="Rectangle 18"/>
          <p:cNvSpPr>
            <a:spLocks noChangeArrowheads="1"/>
          </p:cNvSpPr>
          <p:nvPr/>
        </p:nvSpPr>
        <p:spPr bwMode="auto">
          <a:xfrm>
            <a:off x="63261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7670" name="Rectangle 19"/>
          <p:cNvSpPr>
            <a:spLocks noChangeArrowheads="1"/>
          </p:cNvSpPr>
          <p:nvPr/>
        </p:nvSpPr>
        <p:spPr bwMode="auto">
          <a:xfrm>
            <a:off x="67833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27671" name="Rectangle 20"/>
          <p:cNvSpPr>
            <a:spLocks noChangeArrowheads="1"/>
          </p:cNvSpPr>
          <p:nvPr/>
        </p:nvSpPr>
        <p:spPr bwMode="auto">
          <a:xfrm>
            <a:off x="7240588" y="2590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27672" name="Line 21"/>
          <p:cNvSpPr>
            <a:spLocks noChangeShapeType="1"/>
          </p:cNvSpPr>
          <p:nvPr/>
        </p:nvSpPr>
        <p:spPr bwMode="auto">
          <a:xfrm flipV="1">
            <a:off x="4572000" y="2743200"/>
            <a:ext cx="1219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73" name="Rectangle 22"/>
          <p:cNvSpPr>
            <a:spLocks noChangeArrowheads="1"/>
          </p:cNvSpPr>
          <p:nvPr/>
        </p:nvSpPr>
        <p:spPr bwMode="auto">
          <a:xfrm>
            <a:off x="457200" y="1676400"/>
            <a:ext cx="64008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</a:t>
            </a:r>
            <a:r>
              <a:rPr lang="en-US" altLang="en-US" sz="1800" b="1" baseline="-25000">
                <a:solidFill>
                  <a:schemeClr val="hlink"/>
                </a:solidFill>
              </a:rPr>
              <a:t>A,C</a:t>
            </a:r>
            <a:r>
              <a:rPr lang="en-US" altLang="en-US" sz="1800" b="1"/>
              <a:t> </a:t>
            </a:r>
            <a:r>
              <a:rPr lang="en-US" altLang="en-US" b="1">
                <a:solidFill>
                  <a:schemeClr val="hlink"/>
                </a:solidFill>
              </a:rPr>
              <a:t>(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 sz="1400" b="1">
                <a:sym typeface="Symbol" panose="05050102010706020507" pitchFamily="18" charset="2"/>
              </a:rPr>
              <a:t>A=B ^ D &gt;</a:t>
            </a:r>
            <a:r>
              <a:rPr lang="en-US" altLang="en-US" sz="1600" b="1">
                <a:sym typeface="Symbol" panose="05050102010706020507" pitchFamily="18" charset="2"/>
              </a:rPr>
              <a:t> </a:t>
            </a:r>
            <a:r>
              <a:rPr lang="en-US" altLang="en-US" sz="1400" b="1">
                <a:sym typeface="Symbol" panose="05050102010706020507" pitchFamily="18" charset="2"/>
              </a:rPr>
              <a:t>5</a:t>
            </a:r>
            <a:r>
              <a:rPr lang="en-US" altLang="en-US" b="1">
                <a:sym typeface="Symbol" panose="05050102010706020507" pitchFamily="18" charset="2"/>
              </a:rPr>
              <a:t>(r)</a:t>
            </a:r>
            <a:r>
              <a:rPr lang="en-US" altLang="en-US" b="1">
                <a:solidFill>
                  <a:schemeClr val="hlink"/>
                </a:solidFill>
              </a:rPr>
              <a:t>)</a:t>
            </a:r>
          </a:p>
        </p:txBody>
      </p:sp>
      <p:sp>
        <p:nvSpPr>
          <p:cNvPr id="27674" name="Rectangle 23"/>
          <p:cNvSpPr>
            <a:spLocks noChangeArrowheads="1"/>
          </p:cNvSpPr>
          <p:nvPr/>
        </p:nvSpPr>
        <p:spPr bwMode="auto">
          <a:xfrm>
            <a:off x="6705600" y="45720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27675" name="Rectangle 24"/>
          <p:cNvSpPr>
            <a:spLocks noChangeArrowheads="1"/>
          </p:cNvSpPr>
          <p:nvPr/>
        </p:nvSpPr>
        <p:spPr bwMode="auto">
          <a:xfrm>
            <a:off x="6705600" y="51054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23</a:t>
            </a:r>
          </a:p>
        </p:txBody>
      </p:sp>
      <p:sp>
        <p:nvSpPr>
          <p:cNvPr id="27676" name="Rectangle 25"/>
          <p:cNvSpPr>
            <a:spLocks noChangeArrowheads="1"/>
          </p:cNvSpPr>
          <p:nvPr/>
        </p:nvSpPr>
        <p:spPr bwMode="auto">
          <a:xfrm>
            <a:off x="6248400" y="45720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27677" name="Rectangle 26"/>
          <p:cNvSpPr>
            <a:spLocks noChangeArrowheads="1"/>
          </p:cNvSpPr>
          <p:nvPr/>
        </p:nvSpPr>
        <p:spPr bwMode="auto">
          <a:xfrm>
            <a:off x="6248400" y="51054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27678" name="Rectangle 27"/>
          <p:cNvSpPr>
            <a:spLocks noChangeArrowheads="1"/>
          </p:cNvSpPr>
          <p:nvPr/>
        </p:nvSpPr>
        <p:spPr bwMode="auto">
          <a:xfrm>
            <a:off x="5029200" y="3352800"/>
            <a:ext cx="2963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olidFill>
                  <a:schemeClr val="hlink"/>
                </a:solidFill>
                <a:sym typeface="Symbol" panose="05050102010706020507" pitchFamily="18" charset="2"/>
              </a:rPr>
              <a:t></a:t>
            </a:r>
            <a:r>
              <a:rPr lang="en-US" altLang="en-US" sz="1400" b="1">
                <a:solidFill>
                  <a:schemeClr val="hlink"/>
                </a:solidFill>
              </a:rPr>
              <a:t>A,C</a:t>
            </a:r>
            <a:r>
              <a:rPr lang="en-US" altLang="en-US" b="1">
                <a:solidFill>
                  <a:schemeClr val="hlink"/>
                </a:solidFill>
              </a:rPr>
              <a:t>(                      )</a:t>
            </a:r>
          </a:p>
        </p:txBody>
      </p:sp>
      <p:sp>
        <p:nvSpPr>
          <p:cNvPr id="27679" name="Line 28"/>
          <p:cNvSpPr>
            <a:spLocks noChangeShapeType="1"/>
          </p:cNvSpPr>
          <p:nvPr/>
        </p:nvSpPr>
        <p:spPr bwMode="auto">
          <a:xfrm>
            <a:off x="6629400" y="3962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80" name="Line 29"/>
          <p:cNvSpPr>
            <a:spLocks noChangeShapeType="1"/>
          </p:cNvSpPr>
          <p:nvPr/>
        </p:nvSpPr>
        <p:spPr bwMode="auto">
          <a:xfrm>
            <a:off x="2438400" y="2133600"/>
            <a:ext cx="106680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81" name="Line 30"/>
          <p:cNvSpPr>
            <a:spLocks noChangeShapeType="1"/>
          </p:cNvSpPr>
          <p:nvPr/>
        </p:nvSpPr>
        <p:spPr bwMode="auto">
          <a:xfrm>
            <a:off x="1143000" y="2133600"/>
            <a:ext cx="2590800" cy="1524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82" name="Line 31"/>
          <p:cNvSpPr>
            <a:spLocks noChangeShapeType="1"/>
          </p:cNvSpPr>
          <p:nvPr/>
        </p:nvSpPr>
        <p:spPr bwMode="auto">
          <a:xfrm>
            <a:off x="3733800" y="3657600"/>
            <a:ext cx="1295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1F761A-F913-41AE-9FD8-3A5789993435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22FEE5A-A965-4F69-A0BF-160A4FB067F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 smtClean="0"/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Four Possible ways for Select and Project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>
                <a:latin typeface="Times New Roman" panose="02020603050405020304" pitchFamily="18" charset="0"/>
              </a:rPr>
              <a:t>Result=</a:t>
            </a:r>
            <a:r>
              <a:rPr lang="en-US" altLang="en-US" sz="4800" smtClean="0">
                <a:latin typeface="Times New Roman" panose="02020603050405020304" pitchFamily="18" charset="0"/>
              </a:rPr>
              <a:t>σ</a:t>
            </a:r>
            <a:r>
              <a:rPr lang="en-US" altLang="en-US" sz="3200" smtClean="0">
                <a:latin typeface="Times New Roman" panose="02020603050405020304" pitchFamily="18" charset="0"/>
              </a:rPr>
              <a:t> (emp)</a:t>
            </a:r>
          </a:p>
          <a:p>
            <a:pPr eaLnBrk="1" hangingPunct="1"/>
            <a:r>
              <a:rPr lang="en-US" altLang="en-US" sz="3200" smtClean="0">
                <a:latin typeface="Times New Roman" panose="02020603050405020304" pitchFamily="18" charset="0"/>
              </a:rPr>
              <a:t>Result = </a:t>
            </a:r>
            <a:r>
              <a:rPr lang="en-US" altLang="en-US" sz="4800" smtClean="0">
                <a:latin typeface="Times New Roman" panose="02020603050405020304" pitchFamily="18" charset="0"/>
              </a:rPr>
              <a:t>σ </a:t>
            </a:r>
            <a:r>
              <a:rPr lang="en-US" altLang="en-US" sz="3200" baseline="-25000" smtClean="0">
                <a:latin typeface="Times New Roman" panose="02020603050405020304" pitchFamily="18" charset="0"/>
              </a:rPr>
              <a:t>city = “Princeton”</a:t>
            </a:r>
            <a:r>
              <a:rPr lang="en-US" altLang="en-US" sz="3200" smtClean="0">
                <a:latin typeface="Times New Roman" panose="02020603050405020304" pitchFamily="18" charset="0"/>
              </a:rPr>
              <a:t>  (emp)</a:t>
            </a:r>
          </a:p>
          <a:p>
            <a:pPr eaLnBrk="1" hangingPunct="1"/>
            <a:r>
              <a:rPr lang="en-US" altLang="en-US" sz="3200" smtClean="0">
                <a:latin typeface="Times New Roman" panose="02020603050405020304" pitchFamily="18" charset="0"/>
              </a:rPr>
              <a:t>Result = </a:t>
            </a:r>
            <a:r>
              <a:rPr lang="en-US" altLang="en-US" sz="4800" smtClean="0">
                <a:latin typeface="Times New Roman" panose="02020603050405020304" pitchFamily="18" charset="0"/>
              </a:rPr>
              <a:t>∏</a:t>
            </a:r>
            <a:r>
              <a:rPr lang="en-US" altLang="en-US" sz="3200" smtClean="0">
                <a:latin typeface="Times New Roman" panose="02020603050405020304" pitchFamily="18" charset="0"/>
              </a:rPr>
              <a:t> </a:t>
            </a:r>
            <a:r>
              <a:rPr lang="en-US" altLang="en-US" sz="3200" baseline="-25000" smtClean="0">
                <a:latin typeface="Times New Roman" panose="02020603050405020304" pitchFamily="18" charset="0"/>
              </a:rPr>
              <a:t>name, street</a:t>
            </a:r>
            <a:r>
              <a:rPr lang="en-US" altLang="en-US" sz="3200" smtClean="0">
                <a:latin typeface="Times New Roman" panose="02020603050405020304" pitchFamily="18" charset="0"/>
              </a:rPr>
              <a:t>  (emp )</a:t>
            </a:r>
          </a:p>
          <a:p>
            <a:pPr eaLnBrk="1" hangingPunct="1"/>
            <a:r>
              <a:rPr lang="en-US" altLang="en-US" sz="3200" smtClean="0">
                <a:latin typeface="Times New Roman" panose="02020603050405020304" pitchFamily="18" charset="0"/>
              </a:rPr>
              <a:t>Result = </a:t>
            </a:r>
            <a:r>
              <a:rPr lang="en-US" altLang="en-US" sz="4800" smtClean="0">
                <a:latin typeface="Times New Roman" panose="02020603050405020304" pitchFamily="18" charset="0"/>
              </a:rPr>
              <a:t>∏</a:t>
            </a:r>
            <a:r>
              <a:rPr lang="en-US" altLang="en-US" sz="3200" smtClean="0">
                <a:latin typeface="Times New Roman" panose="02020603050405020304" pitchFamily="18" charset="0"/>
              </a:rPr>
              <a:t> </a:t>
            </a:r>
            <a:r>
              <a:rPr lang="en-US" altLang="en-US" sz="3200" baseline="-25000" smtClean="0">
                <a:latin typeface="Times New Roman" panose="02020603050405020304" pitchFamily="18" charset="0"/>
              </a:rPr>
              <a:t>name, street</a:t>
            </a:r>
            <a:r>
              <a:rPr lang="en-US" altLang="en-US" sz="3200" smtClean="0">
                <a:latin typeface="Times New Roman" panose="02020603050405020304" pitchFamily="18" charset="0"/>
              </a:rPr>
              <a:t>  (</a:t>
            </a:r>
            <a:r>
              <a:rPr lang="en-US" altLang="en-US" sz="4800" smtClean="0">
                <a:latin typeface="Times New Roman" panose="02020603050405020304" pitchFamily="18" charset="0"/>
              </a:rPr>
              <a:t>σ</a:t>
            </a:r>
            <a:r>
              <a:rPr lang="en-US" altLang="en-US" sz="3200" smtClean="0">
                <a:latin typeface="Times New Roman" panose="02020603050405020304" pitchFamily="18" charset="0"/>
              </a:rPr>
              <a:t> </a:t>
            </a:r>
            <a:r>
              <a:rPr lang="en-US" altLang="en-US" sz="3200" baseline="-25000" smtClean="0">
                <a:latin typeface="Times New Roman" panose="02020603050405020304" pitchFamily="18" charset="0"/>
              </a:rPr>
              <a:t>city = “Princeton”</a:t>
            </a:r>
            <a:r>
              <a:rPr lang="en-US" altLang="en-US" sz="3200" smtClean="0">
                <a:latin typeface="Times New Roman" panose="02020603050405020304" pitchFamily="18" charset="0"/>
              </a:rPr>
              <a:t>  (emp) 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1DF8C4-3B9D-4304-90DD-AA3C0E7631B3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138ECC-CC5E-4FE8-ABE4-C4CC3CAFA2D2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 smtClean="0"/>
          </a:p>
        </p:txBody>
      </p:sp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Rename Operation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The rename operation (</a:t>
            </a:r>
            <a:r>
              <a:rPr lang="en-US" altLang="en-US" sz="2000" i="1" smtClean="0">
                <a:sym typeface="Symbol" panose="05050102010706020507" pitchFamily="18" charset="2"/>
              </a:rPr>
              <a:t></a:t>
            </a:r>
            <a:r>
              <a:rPr lang="en-US" altLang="en-US" sz="2000" smtClean="0"/>
              <a:t> ) allows us to name, and therefore to refer to, the results of relational-algebra expressions.</a:t>
            </a:r>
          </a:p>
          <a:p>
            <a:pPr eaLnBrk="1" hangingPunct="1"/>
            <a:r>
              <a:rPr lang="en-US" altLang="en-US" sz="2000" smtClean="0"/>
              <a:t>Allows us to refer to a relation by more than one name.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    Example: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				</a:t>
            </a:r>
            <a:r>
              <a:rPr lang="en-US" altLang="en-US" sz="2000" i="1" smtClean="0">
                <a:sym typeface="Symbol" panose="05050102010706020507" pitchFamily="18" charset="2"/>
              </a:rPr>
              <a:t></a:t>
            </a:r>
            <a:r>
              <a:rPr lang="en-US" altLang="en-US" sz="2000" i="1" smtClean="0"/>
              <a:t> </a:t>
            </a:r>
            <a:r>
              <a:rPr lang="en-US" altLang="en-US" sz="2000" i="1" baseline="-25000" smtClean="0"/>
              <a:t>s</a:t>
            </a:r>
            <a:r>
              <a:rPr lang="en-US" altLang="en-US" sz="2000" smtClean="0"/>
              <a:t> (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    returns the expression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under the name </a:t>
            </a:r>
            <a:r>
              <a:rPr lang="en-US" altLang="en-US" sz="2000" i="1" smtClean="0"/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 smtClean="0"/>
          </a:p>
          <a:p>
            <a:pPr eaLnBrk="1" hangingPunct="1"/>
            <a:r>
              <a:rPr lang="en-US" altLang="en-US" sz="2000" smtClean="0"/>
              <a:t>If a relational-algebra expression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has arity </a:t>
            </a:r>
            <a:r>
              <a:rPr lang="en-US" altLang="en-US" sz="2000" i="1" smtClean="0"/>
              <a:t>n</a:t>
            </a:r>
            <a:r>
              <a:rPr lang="en-US" altLang="en-US" sz="2000" smtClean="0"/>
              <a:t>, then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                                         </a:t>
            </a:r>
            <a:r>
              <a:rPr lang="en-US" altLang="en-US" sz="2000" i="1" smtClean="0">
                <a:sym typeface="Symbol" panose="05050102010706020507" pitchFamily="18" charset="2"/>
              </a:rPr>
              <a:t></a:t>
            </a:r>
            <a:r>
              <a:rPr lang="en-US" altLang="en-US" sz="2000" i="1" baseline="-25000" smtClean="0"/>
              <a:t>s</a:t>
            </a:r>
            <a:r>
              <a:rPr lang="en-US" altLang="en-US" sz="2000" smtClean="0"/>
              <a:t> </a:t>
            </a:r>
            <a:r>
              <a:rPr lang="en-US" altLang="en-US" sz="2000" baseline="-25000" smtClean="0"/>
              <a:t>(</a:t>
            </a:r>
            <a:r>
              <a:rPr lang="en-US" altLang="en-US" sz="2000" i="1" baseline="-25000" smtClean="0"/>
              <a:t>A1, A2, …, An</a:t>
            </a:r>
            <a:r>
              <a:rPr lang="en-US" altLang="en-US" sz="2000" baseline="-25000" smtClean="0"/>
              <a:t>) </a:t>
            </a:r>
            <a:r>
              <a:rPr lang="en-US" altLang="en-US" sz="2000" smtClean="0"/>
              <a:t>(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   returns the result of expression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under the name </a:t>
            </a:r>
            <a:r>
              <a:rPr lang="en-US" altLang="en-US" sz="2000" i="1" smtClean="0"/>
              <a:t>s</a:t>
            </a:r>
            <a:r>
              <a:rPr lang="en-US" altLang="en-US" sz="2000" smtClean="0"/>
              <a:t>, and with the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    attributes renamed to </a:t>
            </a:r>
            <a:r>
              <a:rPr lang="en-US" altLang="en-US" sz="2000" i="1" smtClean="0"/>
              <a:t>A1, A2, …., An</a:t>
            </a:r>
            <a:r>
              <a:rPr lang="en-US" altLang="en-US" sz="2000" smtClean="0"/>
              <a:t>.</a:t>
            </a:r>
          </a:p>
          <a:p>
            <a:pPr eaLnBrk="1" hangingPunct="1"/>
            <a:endParaRPr lang="en-US" altLang="en-US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E81C22-D843-4949-9116-41E739410198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174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174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F487EE-BCA5-408B-84CB-E72AC3A3B711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 smtClean="0"/>
          </a:p>
        </p:txBody>
      </p:sp>
      <p:sp>
        <p:nvSpPr>
          <p:cNvPr id="31749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6858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--- Rename Operations: Example </a:t>
            </a:r>
          </a:p>
        </p:txBody>
      </p:sp>
      <p:sp>
        <p:nvSpPr>
          <p:cNvPr id="31750" name="Text Box 27"/>
          <p:cNvSpPr txBox="1">
            <a:spLocks noChangeArrowheads="1"/>
          </p:cNvSpPr>
          <p:nvPr/>
        </p:nvSpPr>
        <p:spPr bwMode="auto">
          <a:xfrm>
            <a:off x="2895600" y="4159250"/>
            <a:ext cx="107315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i="1"/>
              <a:t>s</a:t>
            </a:r>
            <a:r>
              <a:rPr lang="en-US" altLang="en-US" sz="1400" i="1"/>
              <a:t>(D, E, F </a:t>
            </a:r>
            <a:r>
              <a:rPr lang="en-US" altLang="en-US" sz="1400"/>
              <a:t>)</a:t>
            </a:r>
            <a:r>
              <a:rPr lang="en-US" altLang="en-US" sz="1600"/>
              <a:t> </a:t>
            </a:r>
            <a:endParaRPr lang="en-US" altLang="en-US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31751" name="Text Box 28"/>
          <p:cNvSpPr txBox="1">
            <a:spLocks noChangeArrowheads="1"/>
          </p:cNvSpPr>
          <p:nvPr/>
        </p:nvSpPr>
        <p:spPr bwMode="auto">
          <a:xfrm>
            <a:off x="2743200" y="3898900"/>
            <a:ext cx="473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>
                <a:sym typeface="Symbol" panose="05050102010706020507" pitchFamily="18" charset="2"/>
              </a:rPr>
              <a:t></a:t>
            </a:r>
            <a:endParaRPr lang="en-US" altLang="en-US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31752" name="Text Box 29"/>
          <p:cNvSpPr txBox="1">
            <a:spLocks noChangeArrowheads="1"/>
          </p:cNvSpPr>
          <p:nvPr/>
        </p:nvSpPr>
        <p:spPr bwMode="auto">
          <a:xfrm>
            <a:off x="3733800" y="4006850"/>
            <a:ext cx="5857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/>
              <a:t>(r)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31753" name="Text Box 40"/>
          <p:cNvSpPr txBox="1">
            <a:spLocks noChangeArrowheads="1"/>
          </p:cNvSpPr>
          <p:nvPr/>
        </p:nvSpPr>
        <p:spPr bwMode="auto">
          <a:xfrm>
            <a:off x="2971800" y="2927350"/>
            <a:ext cx="28575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i="1"/>
              <a:t>s</a:t>
            </a:r>
            <a:endParaRPr lang="en-US" altLang="en-US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31754" name="Text Box 41"/>
          <p:cNvSpPr txBox="1">
            <a:spLocks noChangeArrowheads="1"/>
          </p:cNvSpPr>
          <p:nvPr/>
        </p:nvSpPr>
        <p:spPr bwMode="auto">
          <a:xfrm>
            <a:off x="2819400" y="2667000"/>
            <a:ext cx="473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>
                <a:sym typeface="Symbol" panose="05050102010706020507" pitchFamily="18" charset="2"/>
              </a:rPr>
              <a:t></a:t>
            </a:r>
            <a:endParaRPr lang="en-US" altLang="en-US" sz="28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31755" name="Text Box 42"/>
          <p:cNvSpPr txBox="1">
            <a:spLocks noChangeArrowheads="1"/>
          </p:cNvSpPr>
          <p:nvPr/>
        </p:nvSpPr>
        <p:spPr bwMode="auto">
          <a:xfrm>
            <a:off x="3100388" y="2787650"/>
            <a:ext cx="5857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/>
              <a:t>(r)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800"/>
          </a:p>
        </p:txBody>
      </p:sp>
      <p:sp>
        <p:nvSpPr>
          <p:cNvPr id="31756" name="Text Box 51"/>
          <p:cNvSpPr txBox="1">
            <a:spLocks noChangeArrowheads="1"/>
          </p:cNvSpPr>
          <p:nvPr/>
        </p:nvSpPr>
        <p:spPr bwMode="auto">
          <a:xfrm>
            <a:off x="5791200" y="1752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31757" name="Rectangle 60"/>
          <p:cNvSpPr>
            <a:spLocks noChangeArrowheads="1"/>
          </p:cNvSpPr>
          <p:nvPr/>
        </p:nvSpPr>
        <p:spPr bwMode="auto">
          <a:xfrm>
            <a:off x="6248400" y="17526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1758" name="Rectangle 61"/>
          <p:cNvSpPr>
            <a:spLocks noChangeArrowheads="1"/>
          </p:cNvSpPr>
          <p:nvPr/>
        </p:nvSpPr>
        <p:spPr bwMode="auto">
          <a:xfrm>
            <a:off x="6705600" y="17526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1759" name="Rectangle 62"/>
          <p:cNvSpPr>
            <a:spLocks noChangeArrowheads="1"/>
          </p:cNvSpPr>
          <p:nvPr/>
        </p:nvSpPr>
        <p:spPr bwMode="auto">
          <a:xfrm>
            <a:off x="6248400" y="2362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31760" name="Rectangle 63"/>
          <p:cNvSpPr>
            <a:spLocks noChangeArrowheads="1"/>
          </p:cNvSpPr>
          <p:nvPr/>
        </p:nvSpPr>
        <p:spPr bwMode="auto">
          <a:xfrm>
            <a:off x="6705600" y="2362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761" name="Rectangle 64"/>
          <p:cNvSpPr>
            <a:spLocks noChangeArrowheads="1"/>
          </p:cNvSpPr>
          <p:nvPr/>
        </p:nvSpPr>
        <p:spPr bwMode="auto">
          <a:xfrm>
            <a:off x="7162800" y="17526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31762" name="Rectangle 65"/>
          <p:cNvSpPr>
            <a:spLocks noChangeArrowheads="1"/>
          </p:cNvSpPr>
          <p:nvPr/>
        </p:nvSpPr>
        <p:spPr bwMode="auto">
          <a:xfrm>
            <a:off x="7162800" y="23622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31763" name="Text Box 74"/>
          <p:cNvSpPr txBox="1">
            <a:spLocks noChangeArrowheads="1"/>
          </p:cNvSpPr>
          <p:nvPr/>
        </p:nvSpPr>
        <p:spPr bwMode="auto">
          <a:xfrm>
            <a:off x="381000" y="2819400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31764" name="Rectangle 75"/>
          <p:cNvSpPr>
            <a:spLocks noChangeArrowheads="1"/>
          </p:cNvSpPr>
          <p:nvPr/>
        </p:nvSpPr>
        <p:spPr bwMode="auto">
          <a:xfrm>
            <a:off x="838200" y="2911475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1765" name="Rectangle 76"/>
          <p:cNvSpPr>
            <a:spLocks noChangeArrowheads="1"/>
          </p:cNvSpPr>
          <p:nvPr/>
        </p:nvSpPr>
        <p:spPr bwMode="auto">
          <a:xfrm>
            <a:off x="1295400" y="2911475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1766" name="Rectangle 77"/>
          <p:cNvSpPr>
            <a:spLocks noChangeArrowheads="1"/>
          </p:cNvSpPr>
          <p:nvPr/>
        </p:nvSpPr>
        <p:spPr bwMode="auto">
          <a:xfrm>
            <a:off x="838200" y="3521075"/>
            <a:ext cx="457200" cy="822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31767" name="Rectangle 78"/>
          <p:cNvSpPr>
            <a:spLocks noChangeArrowheads="1"/>
          </p:cNvSpPr>
          <p:nvPr/>
        </p:nvSpPr>
        <p:spPr bwMode="auto">
          <a:xfrm>
            <a:off x="1295400" y="3521075"/>
            <a:ext cx="457200" cy="822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768" name="Rectangle 79"/>
          <p:cNvSpPr>
            <a:spLocks noChangeArrowheads="1"/>
          </p:cNvSpPr>
          <p:nvPr/>
        </p:nvSpPr>
        <p:spPr bwMode="auto">
          <a:xfrm>
            <a:off x="1752600" y="2911475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31769" name="Rectangle 80"/>
          <p:cNvSpPr>
            <a:spLocks noChangeArrowheads="1"/>
          </p:cNvSpPr>
          <p:nvPr/>
        </p:nvSpPr>
        <p:spPr bwMode="auto">
          <a:xfrm>
            <a:off x="1752600" y="3521075"/>
            <a:ext cx="457200" cy="8223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31770" name="Rectangle 81"/>
          <p:cNvSpPr>
            <a:spLocks noChangeArrowheads="1"/>
          </p:cNvSpPr>
          <p:nvPr/>
        </p:nvSpPr>
        <p:spPr bwMode="auto">
          <a:xfrm>
            <a:off x="6248400" y="47244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31771" name="Rectangle 82"/>
          <p:cNvSpPr>
            <a:spLocks noChangeArrowheads="1"/>
          </p:cNvSpPr>
          <p:nvPr/>
        </p:nvSpPr>
        <p:spPr bwMode="auto">
          <a:xfrm>
            <a:off x="6705600" y="47244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31772" name="Rectangle 83"/>
          <p:cNvSpPr>
            <a:spLocks noChangeArrowheads="1"/>
          </p:cNvSpPr>
          <p:nvPr/>
        </p:nvSpPr>
        <p:spPr bwMode="auto">
          <a:xfrm>
            <a:off x="6248400" y="53340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</p:txBody>
      </p:sp>
      <p:sp>
        <p:nvSpPr>
          <p:cNvPr id="31773" name="Rectangle 84"/>
          <p:cNvSpPr>
            <a:spLocks noChangeArrowheads="1"/>
          </p:cNvSpPr>
          <p:nvPr/>
        </p:nvSpPr>
        <p:spPr bwMode="auto">
          <a:xfrm>
            <a:off x="6705600" y="53340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>
              <a:latin typeface="Helvetica" panose="020B060402020202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31774" name="Rectangle 85"/>
          <p:cNvSpPr>
            <a:spLocks noChangeArrowheads="1"/>
          </p:cNvSpPr>
          <p:nvPr/>
        </p:nvSpPr>
        <p:spPr bwMode="auto">
          <a:xfrm>
            <a:off x="7162800" y="47244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F</a:t>
            </a:r>
          </a:p>
        </p:txBody>
      </p:sp>
      <p:sp>
        <p:nvSpPr>
          <p:cNvPr id="31775" name="Rectangle 86"/>
          <p:cNvSpPr>
            <a:spLocks noChangeArrowheads="1"/>
          </p:cNvSpPr>
          <p:nvPr/>
        </p:nvSpPr>
        <p:spPr bwMode="auto">
          <a:xfrm>
            <a:off x="7162800" y="5334000"/>
            <a:ext cx="457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31776" name="Line 87"/>
          <p:cNvSpPr>
            <a:spLocks noChangeShapeType="1"/>
          </p:cNvSpPr>
          <p:nvPr/>
        </p:nvSpPr>
        <p:spPr bwMode="auto">
          <a:xfrm flipV="1">
            <a:off x="3962400" y="2590800"/>
            <a:ext cx="205740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1777" name="Text Box 88"/>
          <p:cNvSpPr txBox="1">
            <a:spLocks noChangeArrowheads="1"/>
          </p:cNvSpPr>
          <p:nvPr/>
        </p:nvSpPr>
        <p:spPr bwMode="auto">
          <a:xfrm>
            <a:off x="5791200" y="47244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31778" name="Text Box 89"/>
          <p:cNvSpPr txBox="1">
            <a:spLocks noChangeArrowheads="1"/>
          </p:cNvSpPr>
          <p:nvPr/>
        </p:nvSpPr>
        <p:spPr bwMode="auto">
          <a:xfrm>
            <a:off x="6172200" y="3733800"/>
            <a:ext cx="6858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i="1">
                <a:sym typeface="Wingdings" panose="05000000000000000000" pitchFamily="2" charset="2"/>
              </a:rPr>
              <a:t>AD</a:t>
            </a:r>
            <a:r>
              <a:rPr lang="en-US" altLang="en-US" sz="1400" i="1"/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i="1">
                <a:sym typeface="Wingdings" panose="05000000000000000000" pitchFamily="2" charset="2"/>
              </a:rPr>
              <a:t>BE</a:t>
            </a:r>
            <a:r>
              <a:rPr lang="en-US" altLang="en-US" sz="1400" i="1"/>
              <a:t>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i="1">
                <a:sym typeface="Wingdings" panose="05000000000000000000" pitchFamily="2" charset="2"/>
              </a:rPr>
              <a:t>CF</a:t>
            </a:r>
            <a:r>
              <a:rPr lang="en-US" altLang="en-US" sz="1400" i="1"/>
              <a:t> </a:t>
            </a:r>
            <a:endParaRPr lang="en-US" altLang="en-US" sz="2800"/>
          </a:p>
        </p:txBody>
      </p:sp>
      <p:sp>
        <p:nvSpPr>
          <p:cNvPr id="31779" name="Text Box 90"/>
          <p:cNvSpPr txBox="1">
            <a:spLocks noChangeArrowheads="1"/>
          </p:cNvSpPr>
          <p:nvPr/>
        </p:nvSpPr>
        <p:spPr bwMode="auto">
          <a:xfrm>
            <a:off x="6019800" y="3276600"/>
            <a:ext cx="473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>
                <a:sym typeface="Symbol" panose="05050102010706020507" pitchFamily="18" charset="2"/>
              </a:rPr>
              <a:t></a:t>
            </a:r>
            <a:endParaRPr lang="en-US" altLang="en-US" sz="2800"/>
          </a:p>
        </p:txBody>
      </p:sp>
      <p:sp>
        <p:nvSpPr>
          <p:cNvPr id="31780" name="Text Box 91"/>
          <p:cNvSpPr txBox="1">
            <a:spLocks noChangeArrowheads="1"/>
          </p:cNvSpPr>
          <p:nvPr/>
        </p:nvSpPr>
        <p:spPr bwMode="auto">
          <a:xfrm>
            <a:off x="6705600" y="3352800"/>
            <a:ext cx="615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i="1"/>
              <a:t>(s)</a:t>
            </a:r>
            <a:endParaRPr lang="en-US" altLang="en-US" sz="2800"/>
          </a:p>
        </p:txBody>
      </p:sp>
      <p:sp>
        <p:nvSpPr>
          <p:cNvPr id="31781" name="Line 92"/>
          <p:cNvSpPr>
            <a:spLocks noChangeShapeType="1"/>
          </p:cNvSpPr>
          <p:nvPr/>
        </p:nvSpPr>
        <p:spPr bwMode="auto">
          <a:xfrm>
            <a:off x="4343400" y="4495800"/>
            <a:ext cx="1752600" cy="1066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1782" name="Line 94"/>
          <p:cNvSpPr>
            <a:spLocks noChangeShapeType="1"/>
          </p:cNvSpPr>
          <p:nvPr/>
        </p:nvSpPr>
        <p:spPr bwMode="auto">
          <a:xfrm>
            <a:off x="6934200" y="3962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06FAD39-C970-4FD0-A84B-94C3BA6F1C5A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27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3CB28E5-B6F6-4A75-979E-C91071C1E445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 smtClean="0"/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Union Operation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>
              <a:tabLst>
                <a:tab pos="2965450" algn="ctr"/>
              </a:tabLst>
            </a:pPr>
            <a:r>
              <a:rPr lang="en-US" altLang="en-US" sz="2000" smtClean="0"/>
              <a:t>Is denoted by: 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</a:t>
            </a:r>
            <a:r>
              <a:rPr lang="en-US" altLang="en-US" sz="2000" smtClean="0">
                <a:sym typeface="Symbol" panose="05050102010706020507" pitchFamily="18" charset="2"/>
              </a:rPr>
              <a:t> </a:t>
            </a:r>
            <a:r>
              <a:rPr lang="en-US" altLang="en-US" sz="2000" i="1" smtClean="0">
                <a:sym typeface="Symbol" panose="05050102010706020507" pitchFamily="18" charset="2"/>
              </a:rPr>
              <a:t>s</a:t>
            </a:r>
          </a:p>
          <a:p>
            <a:pPr eaLnBrk="1" hangingPunct="1">
              <a:tabLst>
                <a:tab pos="2965450" algn="ctr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Is defined as: 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965450" algn="ctr"/>
              </a:tabLst>
            </a:pPr>
            <a:r>
              <a:rPr lang="en-US" altLang="en-US" sz="2000" smtClean="0"/>
              <a:t>		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 </a:t>
            </a:r>
            <a:r>
              <a:rPr lang="en-US" altLang="en-US" sz="2000" smtClean="0">
                <a:sym typeface="Symbol" panose="05050102010706020507" pitchFamily="18" charset="2"/>
              </a:rPr>
              <a:t> </a:t>
            </a:r>
            <a:r>
              <a:rPr lang="en-US" altLang="en-US" sz="2000" i="1" smtClean="0"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 = {</a:t>
            </a:r>
            <a:r>
              <a:rPr lang="en-US" altLang="en-US" sz="2000" i="1" smtClean="0">
                <a:sym typeface="Symbol" panose="05050102010706020507" pitchFamily="18" charset="2"/>
              </a:rPr>
              <a:t>t</a:t>
            </a:r>
            <a:r>
              <a:rPr lang="en-US" altLang="en-US" sz="2000" smtClean="0">
                <a:sym typeface="Symbol" panose="05050102010706020507" pitchFamily="18" charset="2"/>
              </a:rPr>
              <a:t> | </a:t>
            </a:r>
            <a:r>
              <a:rPr lang="en-US" altLang="en-US" sz="2000" i="1" smtClean="0">
                <a:sym typeface="Symbol" panose="05050102010706020507" pitchFamily="18" charset="2"/>
              </a:rPr>
              <a:t>t</a:t>
            </a:r>
            <a:r>
              <a:rPr lang="en-US" altLang="en-US" sz="2000" smtClean="0">
                <a:sym typeface="Symbol" panose="05050102010706020507" pitchFamily="18" charset="2"/>
              </a:rPr>
              <a:t>  </a:t>
            </a:r>
            <a:r>
              <a:rPr lang="en-US" altLang="en-US" sz="2000" i="1" smtClean="0">
                <a:sym typeface="Symbol" panose="05050102010706020507" pitchFamily="18" charset="2"/>
              </a:rPr>
              <a:t>r</a:t>
            </a:r>
            <a:r>
              <a:rPr lang="en-US" altLang="en-US" sz="2000" smtClean="0">
                <a:sym typeface="Symbol" panose="05050102010706020507" pitchFamily="18" charset="2"/>
              </a:rPr>
              <a:t> or</a:t>
            </a:r>
            <a:r>
              <a:rPr lang="en-US" altLang="en-US" sz="2000" i="1" smtClean="0">
                <a:sym typeface="Symbol" panose="05050102010706020507" pitchFamily="18" charset="2"/>
              </a:rPr>
              <a:t> t</a:t>
            </a:r>
            <a:r>
              <a:rPr lang="en-US" altLang="en-US" sz="2000" smtClean="0">
                <a:sym typeface="Symbol" panose="05050102010706020507" pitchFamily="18" charset="2"/>
              </a:rPr>
              <a:t>  </a:t>
            </a:r>
            <a:r>
              <a:rPr lang="en-US" altLang="en-US" sz="2000" i="1" smtClean="0"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965450" algn="ctr"/>
              </a:tabLst>
            </a:pPr>
            <a:endParaRPr lang="en-US" altLang="en-US" sz="700" smtClean="0">
              <a:sym typeface="Symbol" panose="05050102010706020507" pitchFamily="18" charset="2"/>
            </a:endParaRPr>
          </a:p>
          <a:p>
            <a:pPr eaLnBrk="1" hangingPunct="1">
              <a:tabLst>
                <a:tab pos="2965450" algn="ctr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The result of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 </a:t>
            </a:r>
            <a:r>
              <a:rPr lang="en-US" altLang="en-US" sz="2000" smtClean="0">
                <a:sym typeface="Symbol" panose="05050102010706020507" pitchFamily="18" charset="2"/>
              </a:rPr>
              <a:t> </a:t>
            </a:r>
            <a:r>
              <a:rPr lang="en-US" altLang="en-US" sz="2000" i="1" smtClean="0"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  will include all tuples which are either in</a:t>
            </a:r>
            <a:r>
              <a:rPr lang="en-US" altLang="en-US" sz="2000" i="1" smtClean="0">
                <a:sym typeface="Symbol" panose="05050102010706020507" pitchFamily="18" charset="2"/>
              </a:rPr>
              <a:t> r</a:t>
            </a:r>
            <a:r>
              <a:rPr lang="en-US" altLang="en-US" sz="2000" smtClean="0">
                <a:sym typeface="Symbol" panose="05050102010706020507" pitchFamily="18" charset="2"/>
              </a:rPr>
              <a:t> or in  </a:t>
            </a:r>
            <a:r>
              <a:rPr lang="en-US" altLang="en-US" sz="2000" i="1" smtClean="0"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  or in both.</a:t>
            </a:r>
          </a:p>
          <a:p>
            <a:pPr eaLnBrk="1" hangingPunct="1">
              <a:tabLst>
                <a:tab pos="2965450" algn="ctr"/>
              </a:tabLst>
            </a:pPr>
            <a:endParaRPr lang="en-US" altLang="en-US" sz="1000" smtClean="0">
              <a:sym typeface="Symbol" panose="05050102010706020507" pitchFamily="18" charset="2"/>
            </a:endParaRPr>
          </a:p>
          <a:p>
            <a:pPr eaLnBrk="1" hangingPunct="1">
              <a:tabLst>
                <a:tab pos="2965450" algn="ctr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For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</a:t>
            </a:r>
            <a:r>
              <a:rPr lang="en-US" altLang="en-US" sz="2000" smtClean="0">
                <a:sym typeface="Symbol" panose="05050102010706020507" pitchFamily="18" charset="2"/>
              </a:rPr>
              <a:t> </a:t>
            </a:r>
            <a:r>
              <a:rPr lang="en-US" altLang="en-US" sz="2000" i="1" smtClean="0"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 to be valid </a:t>
            </a:r>
            <a:r>
              <a:rPr lang="en-US" altLang="en-US" sz="2000" i="1" smtClean="0">
                <a:sym typeface="Symbol" panose="05050102010706020507" pitchFamily="18" charset="2"/>
              </a:rPr>
              <a:t>r</a:t>
            </a:r>
            <a:r>
              <a:rPr lang="en-US" altLang="en-US" sz="2000" smtClean="0">
                <a:sym typeface="Symbol" panose="05050102010706020507" pitchFamily="18" charset="2"/>
              </a:rPr>
              <a:t> and </a:t>
            </a:r>
            <a:r>
              <a:rPr lang="en-US" altLang="en-US" sz="2000" b="1" smtClean="0"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 must be union compatible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965450" algn="ctr"/>
              </a:tabLst>
            </a:pPr>
            <a:endParaRPr lang="en-US" altLang="en-US" sz="800" smtClean="0">
              <a:sym typeface="Symbol" panose="05050102010706020507" pitchFamily="18" charset="2"/>
            </a:endParaRPr>
          </a:p>
          <a:p>
            <a:pPr eaLnBrk="1" hangingPunct="1">
              <a:tabLst>
                <a:tab pos="2965450" algn="ctr"/>
              </a:tabLst>
            </a:pPr>
            <a:r>
              <a:rPr lang="en-US" altLang="en-US" sz="2000" smtClean="0">
                <a:sym typeface="Symbol" panose="05050102010706020507" pitchFamily="18" charset="2"/>
              </a:rPr>
              <a:t>Union operation is:</a:t>
            </a:r>
          </a:p>
          <a:p>
            <a:pPr lvl="1" eaLnBrk="1" hangingPunct="1">
              <a:tabLst>
                <a:tab pos="2965450" algn="ctr"/>
              </a:tabLst>
            </a:pPr>
            <a:r>
              <a:rPr lang="en-US" altLang="en-US" sz="1800" smtClean="0">
                <a:sym typeface="Symbol" panose="05050102010706020507" pitchFamily="18" charset="2"/>
              </a:rPr>
              <a:t>Commutative: </a:t>
            </a:r>
            <a:r>
              <a:rPr lang="en-US" altLang="en-US" sz="1800" i="1" smtClean="0"/>
              <a:t>r  </a:t>
            </a:r>
            <a:r>
              <a:rPr lang="en-US" altLang="en-US" sz="1800" i="1" smtClean="0">
                <a:sym typeface="Symbol" panose="05050102010706020507" pitchFamily="18" charset="2"/>
              </a:rPr>
              <a:t> s = s</a:t>
            </a:r>
            <a:r>
              <a:rPr lang="en-US" altLang="en-US" sz="1800" i="1" smtClean="0"/>
              <a:t>  </a:t>
            </a:r>
            <a:r>
              <a:rPr lang="en-US" altLang="en-US" sz="1800" i="1" smtClean="0">
                <a:sym typeface="Symbol" panose="05050102010706020507" pitchFamily="18" charset="2"/>
              </a:rPr>
              <a:t> r</a:t>
            </a:r>
          </a:p>
          <a:p>
            <a:pPr lvl="1" eaLnBrk="1" hangingPunct="1">
              <a:tabLst>
                <a:tab pos="2965450" algn="ctr"/>
              </a:tabLst>
            </a:pPr>
            <a:r>
              <a:rPr lang="en-US" altLang="en-US" sz="1800" smtClean="0">
                <a:sym typeface="Symbol" panose="05050102010706020507" pitchFamily="18" charset="2"/>
              </a:rPr>
              <a:t>Associative: </a:t>
            </a:r>
            <a:r>
              <a:rPr lang="en-US" altLang="en-US" sz="1800" i="1" smtClean="0"/>
              <a:t>r  </a:t>
            </a:r>
            <a:r>
              <a:rPr lang="en-US" altLang="en-US" sz="1800" i="1" smtClean="0">
                <a:sym typeface="Symbol" panose="05050102010706020507" pitchFamily="18" charset="2"/>
              </a:rPr>
              <a:t> (s </a:t>
            </a:r>
            <a:r>
              <a:rPr lang="en-US" altLang="en-US" sz="1800" i="1" smtClean="0"/>
              <a:t> </a:t>
            </a:r>
            <a:r>
              <a:rPr lang="en-US" altLang="en-US" sz="1800" i="1" smtClean="0">
                <a:sym typeface="Symbol" panose="05050102010706020507" pitchFamily="18" charset="2"/>
              </a:rPr>
              <a:t> w) = (</a:t>
            </a:r>
            <a:r>
              <a:rPr lang="en-US" altLang="en-US" sz="1800" i="1" smtClean="0"/>
              <a:t>r  </a:t>
            </a:r>
            <a:r>
              <a:rPr lang="en-US" altLang="en-US" sz="1800" i="1" smtClean="0">
                <a:sym typeface="Symbol" panose="05050102010706020507" pitchFamily="18" charset="2"/>
              </a:rPr>
              <a:t> s) </a:t>
            </a:r>
            <a:r>
              <a:rPr lang="en-US" altLang="en-US" sz="1800" i="1" smtClean="0"/>
              <a:t> </a:t>
            </a:r>
            <a:r>
              <a:rPr lang="en-US" altLang="en-US" sz="1800" i="1" smtClean="0">
                <a:sym typeface="Symbol" panose="05050102010706020507" pitchFamily="18" charset="2"/>
              </a:rPr>
              <a:t> w</a:t>
            </a:r>
          </a:p>
          <a:p>
            <a:pPr lvl="1" eaLnBrk="1" hangingPunct="1">
              <a:tabLst>
                <a:tab pos="2965450" algn="ctr"/>
              </a:tabLst>
            </a:pPr>
            <a:endParaRPr lang="en-US" altLang="en-US" sz="700" smtClean="0">
              <a:sym typeface="Symbol" panose="05050102010706020507" pitchFamily="18" charset="2"/>
            </a:endParaRPr>
          </a:p>
          <a:p>
            <a:pPr eaLnBrk="1" hangingPunct="1">
              <a:tabLst>
                <a:tab pos="2965450" algn="ctr"/>
              </a:tabLst>
            </a:pPr>
            <a:r>
              <a:rPr lang="en-US" altLang="en-US" sz="2000" smtClean="0"/>
              <a:t>E.g. to find all the names of faculty and students in the FACULTY and STUDENT tables:    </a:t>
            </a:r>
            <a:r>
              <a:rPr lang="en-US" altLang="en-US" sz="2000" smtClean="0">
                <a:sym typeface="Symbol" panose="05050102010706020507" pitchFamily="18" charset="2"/>
              </a:rPr>
              <a:t></a:t>
            </a:r>
            <a:r>
              <a:rPr lang="en-US" altLang="en-US" sz="2000" i="1" baseline="-25000" smtClean="0"/>
              <a:t>name</a:t>
            </a:r>
            <a:r>
              <a:rPr lang="en-US" altLang="en-US" sz="2000" smtClean="0"/>
              <a:t> (</a:t>
            </a:r>
            <a:r>
              <a:rPr lang="en-US" altLang="en-US" sz="2000" i="1" smtClean="0"/>
              <a:t>FACULTY</a:t>
            </a:r>
            <a:r>
              <a:rPr lang="en-US" altLang="en-US" sz="2000" smtClean="0"/>
              <a:t>)   </a:t>
            </a:r>
            <a:r>
              <a:rPr lang="en-US" altLang="en-US" sz="2000" smtClean="0">
                <a:sym typeface="Symbol" panose="05050102010706020507" pitchFamily="18" charset="2"/>
              </a:rPr>
              <a:t> </a:t>
            </a:r>
            <a:r>
              <a:rPr lang="en-US" altLang="en-US" sz="2000" i="1" baseline="-25000" smtClean="0"/>
              <a:t>name</a:t>
            </a:r>
            <a:r>
              <a:rPr lang="en-US" altLang="en-US" sz="2000" smtClean="0"/>
              <a:t> (</a:t>
            </a:r>
            <a:r>
              <a:rPr lang="en-US" altLang="en-US" sz="2000" i="1" smtClean="0"/>
              <a:t>STUDENT)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EF6FBC-888B-41CC-87AF-A106C6FA1F8F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37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9E7EB0-29AB-4C21-8E26-E9B135CEEB4A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 smtClean="0"/>
          </a:p>
        </p:txBody>
      </p:sp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--- Union Operation – Example</a:t>
            </a:r>
          </a:p>
        </p:txBody>
      </p:sp>
      <p:sp>
        <p:nvSpPr>
          <p:cNvPr id="33798" name="Rectangle 4"/>
          <p:cNvSpPr>
            <a:spLocks noChangeArrowheads="1"/>
          </p:cNvSpPr>
          <p:nvPr/>
        </p:nvSpPr>
        <p:spPr bwMode="auto">
          <a:xfrm>
            <a:off x="3124200" y="3048000"/>
            <a:ext cx="167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kumimoji="1"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kumimoji="1" lang="en-US" altLang="en-US" sz="2000" b="1">
                <a:latin typeface="Times New Roman" panose="02020603050405020304" pitchFamily="18" charset="0"/>
              </a:rPr>
              <a:t> </a:t>
            </a:r>
            <a:r>
              <a:rPr kumimoji="1" lang="en-US" altLang="en-US" b="1" i="1">
                <a:latin typeface="Times New Roman" panose="02020603050405020304" pitchFamily="18" charset="0"/>
              </a:rPr>
              <a:t>r </a:t>
            </a:r>
            <a:r>
              <a:rPr kumimoji="1" lang="en-US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kumimoji="1"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 s</a:t>
            </a:r>
            <a:r>
              <a:rPr kumimoji="1" lang="en-US" altLang="en-US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3799" name="Rectangle 5"/>
          <p:cNvSpPr>
            <a:spLocks noChangeArrowheads="1"/>
          </p:cNvSpPr>
          <p:nvPr/>
        </p:nvSpPr>
        <p:spPr bwMode="auto">
          <a:xfrm>
            <a:off x="685800" y="23764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3800" name="Rectangle 6"/>
          <p:cNvSpPr>
            <a:spLocks noChangeArrowheads="1"/>
          </p:cNvSpPr>
          <p:nvPr/>
        </p:nvSpPr>
        <p:spPr bwMode="auto">
          <a:xfrm>
            <a:off x="1143000" y="23764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3801" name="Rectangle 7"/>
          <p:cNvSpPr>
            <a:spLocks noChangeArrowheads="1"/>
          </p:cNvSpPr>
          <p:nvPr/>
        </p:nvSpPr>
        <p:spPr bwMode="auto">
          <a:xfrm>
            <a:off x="685800" y="2909888"/>
            <a:ext cx="4572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3802" name="Rectangle 8"/>
          <p:cNvSpPr>
            <a:spLocks noChangeArrowheads="1"/>
          </p:cNvSpPr>
          <p:nvPr/>
        </p:nvSpPr>
        <p:spPr bwMode="auto">
          <a:xfrm>
            <a:off x="1143000" y="2909888"/>
            <a:ext cx="4572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3803" name="Rectangle 9"/>
          <p:cNvSpPr>
            <a:spLocks noChangeArrowheads="1"/>
          </p:cNvSpPr>
          <p:nvPr/>
        </p:nvSpPr>
        <p:spPr bwMode="auto">
          <a:xfrm>
            <a:off x="2133600" y="23764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3804" name="Rectangle 10"/>
          <p:cNvSpPr>
            <a:spLocks noChangeArrowheads="1"/>
          </p:cNvSpPr>
          <p:nvPr/>
        </p:nvSpPr>
        <p:spPr bwMode="auto">
          <a:xfrm>
            <a:off x="2590800" y="23764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3805" name="Rectangle 11"/>
          <p:cNvSpPr>
            <a:spLocks noChangeArrowheads="1"/>
          </p:cNvSpPr>
          <p:nvPr/>
        </p:nvSpPr>
        <p:spPr bwMode="auto">
          <a:xfrm>
            <a:off x="2133600" y="2909888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3806" name="Rectangle 12"/>
          <p:cNvSpPr>
            <a:spLocks noChangeArrowheads="1"/>
          </p:cNvSpPr>
          <p:nvPr/>
        </p:nvSpPr>
        <p:spPr bwMode="auto">
          <a:xfrm>
            <a:off x="2590800" y="2909888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3807" name="Text Box 13"/>
          <p:cNvSpPr txBox="1">
            <a:spLocks noChangeArrowheads="1"/>
          </p:cNvSpPr>
          <p:nvPr/>
        </p:nvSpPr>
        <p:spPr bwMode="auto">
          <a:xfrm>
            <a:off x="982663" y="412908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33808" name="Text Box 14"/>
          <p:cNvSpPr txBox="1">
            <a:spLocks noChangeArrowheads="1"/>
          </p:cNvSpPr>
          <p:nvPr/>
        </p:nvSpPr>
        <p:spPr bwMode="auto">
          <a:xfrm>
            <a:off x="2378075" y="38242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33809" name="Rectangle 15"/>
          <p:cNvSpPr>
            <a:spLocks noChangeArrowheads="1"/>
          </p:cNvSpPr>
          <p:nvPr/>
        </p:nvSpPr>
        <p:spPr bwMode="auto">
          <a:xfrm>
            <a:off x="62484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3810" name="Rectangle 16"/>
          <p:cNvSpPr>
            <a:spLocks noChangeArrowheads="1"/>
          </p:cNvSpPr>
          <p:nvPr/>
        </p:nvSpPr>
        <p:spPr bwMode="auto">
          <a:xfrm>
            <a:off x="67056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3811" name="Rectangle 17"/>
          <p:cNvSpPr>
            <a:spLocks noChangeArrowheads="1"/>
          </p:cNvSpPr>
          <p:nvPr/>
        </p:nvSpPr>
        <p:spPr bwMode="auto">
          <a:xfrm>
            <a:off x="62484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3812" name="Rectangle 18"/>
          <p:cNvSpPr>
            <a:spLocks noChangeArrowheads="1"/>
          </p:cNvSpPr>
          <p:nvPr/>
        </p:nvSpPr>
        <p:spPr bwMode="auto">
          <a:xfrm>
            <a:off x="67056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3813" name="Line 21"/>
          <p:cNvSpPr>
            <a:spLocks noChangeShapeType="1"/>
          </p:cNvSpPr>
          <p:nvPr/>
        </p:nvSpPr>
        <p:spPr bwMode="auto">
          <a:xfrm>
            <a:off x="4800600" y="33528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814" name="Text Box 22"/>
          <p:cNvSpPr txBox="1">
            <a:spLocks noChangeArrowheads="1"/>
          </p:cNvSpPr>
          <p:nvPr/>
        </p:nvSpPr>
        <p:spPr bwMode="auto">
          <a:xfrm>
            <a:off x="7500938" y="5302250"/>
            <a:ext cx="14144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No Duplicates</a:t>
            </a:r>
          </a:p>
        </p:txBody>
      </p:sp>
      <p:sp>
        <p:nvSpPr>
          <p:cNvPr id="33815" name="Line 23"/>
          <p:cNvSpPr>
            <a:spLocks noChangeShapeType="1"/>
          </p:cNvSpPr>
          <p:nvPr/>
        </p:nvSpPr>
        <p:spPr bwMode="auto">
          <a:xfrm flipH="1" flipV="1">
            <a:off x="7010400" y="3733800"/>
            <a:ext cx="1219200" cy="1524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C090E1-0F30-4607-9942-D328AC10A8E4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6D5D5C-8BCF-40EF-8CF6-0F2849DE5F84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 smtClean="0"/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Set Difference Operation</a:t>
            </a:r>
          </a:p>
        </p:txBody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tabLst>
                <a:tab pos="3195638" algn="ctr"/>
              </a:tabLst>
            </a:pPr>
            <a:r>
              <a:rPr lang="en-US" altLang="en-US" smtClean="0"/>
              <a:t>Is denoted by:  </a:t>
            </a:r>
            <a:r>
              <a:rPr lang="en-US" altLang="en-US" i="1" smtClean="0"/>
              <a:t>r – s</a:t>
            </a:r>
          </a:p>
          <a:p>
            <a:pPr eaLnBrk="1" hangingPunct="1">
              <a:tabLst>
                <a:tab pos="3195638" algn="ctr"/>
              </a:tabLst>
            </a:pPr>
            <a:endParaRPr lang="en-US" altLang="en-US" sz="1000" smtClean="0"/>
          </a:p>
          <a:p>
            <a:pPr eaLnBrk="1" hangingPunct="1">
              <a:tabLst>
                <a:tab pos="3195638" algn="ctr"/>
              </a:tabLst>
            </a:pPr>
            <a:r>
              <a:rPr lang="en-US" altLang="en-US" smtClean="0"/>
              <a:t>IS defined as:  </a:t>
            </a:r>
            <a:r>
              <a:rPr lang="en-US" altLang="en-US" i="1" smtClean="0"/>
              <a:t>r – s</a:t>
            </a:r>
            <a:r>
              <a:rPr lang="en-US" altLang="en-US" smtClean="0"/>
              <a:t>  = {</a:t>
            </a:r>
            <a:r>
              <a:rPr lang="en-US" altLang="en-US" i="1" smtClean="0"/>
              <a:t>t</a:t>
            </a:r>
            <a:r>
              <a:rPr lang="en-US" altLang="en-US" smtClean="0"/>
              <a:t> | </a:t>
            </a:r>
            <a:r>
              <a:rPr lang="en-US" altLang="en-US" i="1" smtClean="0"/>
              <a:t>t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 </a:t>
            </a:r>
            <a:r>
              <a:rPr lang="en-US" altLang="en-US" i="1" smtClean="0">
                <a:sym typeface="Symbol" panose="05050102010706020507" pitchFamily="18" charset="2"/>
              </a:rPr>
              <a:t>r</a:t>
            </a:r>
            <a:r>
              <a:rPr lang="en-US" altLang="en-US" smtClean="0">
                <a:sym typeface="Symbol" panose="05050102010706020507" pitchFamily="18" charset="2"/>
              </a:rPr>
              <a:t> </a:t>
            </a:r>
            <a:r>
              <a:rPr lang="en-US" altLang="en-US" b="1" smtClean="0">
                <a:sym typeface="Symbol" panose="05050102010706020507" pitchFamily="18" charset="2"/>
              </a:rPr>
              <a:t>and</a:t>
            </a:r>
            <a:r>
              <a:rPr lang="en-US" altLang="en-US" smtClean="0">
                <a:sym typeface="Symbol" panose="05050102010706020507" pitchFamily="18" charset="2"/>
              </a:rPr>
              <a:t> t  </a:t>
            </a:r>
            <a:r>
              <a:rPr lang="en-US" altLang="en-US" i="1" smtClean="0">
                <a:sym typeface="Symbol" panose="05050102010706020507" pitchFamily="18" charset="2"/>
              </a:rPr>
              <a:t>s</a:t>
            </a:r>
            <a:r>
              <a:rPr lang="en-US" altLang="en-US" smtClean="0">
                <a:sym typeface="Symbol" panose="05050102010706020507" pitchFamily="18" charset="2"/>
              </a:rPr>
              <a:t>}</a:t>
            </a:r>
            <a:r>
              <a:rPr lang="en-US" altLang="en-US" smtClean="0"/>
              <a:t>	</a:t>
            </a:r>
          </a:p>
          <a:p>
            <a:pPr eaLnBrk="1" hangingPunct="1">
              <a:tabLst>
                <a:tab pos="3195638" algn="ctr"/>
              </a:tabLst>
            </a:pPr>
            <a:endParaRPr lang="en-US" altLang="en-US" sz="1000" smtClean="0"/>
          </a:p>
          <a:p>
            <a:pPr eaLnBrk="1" hangingPunct="1">
              <a:tabLst>
                <a:tab pos="3195638" algn="ctr"/>
              </a:tabLst>
            </a:pPr>
            <a:r>
              <a:rPr lang="en-US" altLang="en-US" smtClean="0">
                <a:sym typeface="Symbol" panose="05050102010706020507" pitchFamily="18" charset="2"/>
              </a:rPr>
              <a:t>The result of </a:t>
            </a:r>
            <a:r>
              <a:rPr lang="en-US" altLang="en-US" i="1" smtClean="0">
                <a:sym typeface="Symbol" panose="05050102010706020507" pitchFamily="18" charset="2"/>
              </a:rPr>
              <a:t>r – s</a:t>
            </a:r>
            <a:r>
              <a:rPr lang="en-US" altLang="en-US" smtClean="0">
                <a:sym typeface="Symbol" panose="05050102010706020507" pitchFamily="18" charset="2"/>
              </a:rPr>
              <a:t> will include all the tuples that are in </a:t>
            </a:r>
            <a:r>
              <a:rPr lang="en-US" altLang="en-US" i="1" smtClean="0">
                <a:sym typeface="Symbol" panose="05050102010706020507" pitchFamily="18" charset="2"/>
              </a:rPr>
              <a:t>r</a:t>
            </a:r>
            <a:r>
              <a:rPr lang="en-US" altLang="en-US" smtClean="0">
                <a:sym typeface="Symbol" panose="05050102010706020507" pitchFamily="18" charset="2"/>
              </a:rPr>
              <a:t> but not in </a:t>
            </a:r>
            <a:r>
              <a:rPr lang="en-US" altLang="en-US" i="1" smtClean="0">
                <a:sym typeface="Symbol" panose="05050102010706020507" pitchFamily="18" charset="2"/>
              </a:rPr>
              <a:t>s</a:t>
            </a:r>
            <a:r>
              <a:rPr lang="en-US" altLang="en-US" smtClean="0">
                <a:sym typeface="Symbol" panose="05050102010706020507" pitchFamily="18" charset="2"/>
              </a:rPr>
              <a:t>. (Taking out all elements of 2nd set out of 1st set)</a:t>
            </a:r>
            <a:endParaRPr lang="en-US" altLang="en-US" smtClean="0"/>
          </a:p>
          <a:p>
            <a:pPr eaLnBrk="1" hangingPunct="1">
              <a:buFont typeface="Wingdings" panose="05000000000000000000" pitchFamily="2" charset="2"/>
              <a:buNone/>
              <a:tabLst>
                <a:tab pos="3195638" algn="ctr"/>
              </a:tabLst>
            </a:pPr>
            <a:endParaRPr lang="en-US" altLang="en-US" sz="1000" smtClean="0"/>
          </a:p>
          <a:p>
            <a:pPr eaLnBrk="1" hangingPunct="1">
              <a:tabLst>
                <a:tab pos="3195638" algn="ctr"/>
              </a:tabLst>
            </a:pPr>
            <a:r>
              <a:rPr lang="en-US" altLang="en-US" i="1" smtClean="0"/>
              <a:t>r</a:t>
            </a:r>
            <a:r>
              <a:rPr lang="en-US" altLang="en-US" smtClean="0"/>
              <a:t>  and </a:t>
            </a:r>
            <a:r>
              <a:rPr lang="en-US" altLang="en-US" i="1" smtClean="0"/>
              <a:t>s</a:t>
            </a:r>
            <a:r>
              <a:rPr lang="en-US" altLang="en-US" smtClean="0"/>
              <a:t> must be union compatible</a:t>
            </a:r>
          </a:p>
          <a:p>
            <a:pPr eaLnBrk="1" hangingPunct="1">
              <a:tabLst>
                <a:tab pos="3195638" algn="ctr"/>
              </a:tabLst>
            </a:pPr>
            <a:endParaRPr lang="en-US" altLang="en-US" sz="1000" smtClean="0"/>
          </a:p>
          <a:p>
            <a:pPr eaLnBrk="1" hangingPunct="1">
              <a:tabLst>
                <a:tab pos="3195638" algn="ctr"/>
              </a:tabLst>
            </a:pPr>
            <a:r>
              <a:rPr lang="en-US" altLang="en-US" smtClean="0">
                <a:sym typeface="Symbol" panose="05050102010706020507" pitchFamily="18" charset="2"/>
              </a:rPr>
              <a:t> this operation is neither Commutative nor Associative.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195638" algn="ctr"/>
              </a:tabLst>
            </a:pPr>
            <a:endParaRPr lang="en-US" altLang="en-US" sz="1000" smtClean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  <a:tabLst>
                <a:tab pos="3195638" algn="ctr"/>
              </a:tabLst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E4925E-0C08-4A17-84EE-E254B7014836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58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2A8416-EA11-42B4-AFB6-771FF84B242A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 smtClean="0"/>
          </a:p>
        </p:txBody>
      </p:sp>
      <p:sp>
        <p:nvSpPr>
          <p:cNvPr id="35845" name="Rectangle 2"/>
          <p:cNvSpPr>
            <a:spLocks noGrp="1" noChangeArrowheads="1"/>
          </p:cNvSpPr>
          <p:nvPr>
            <p:ph type="title"/>
          </p:nvPr>
        </p:nvSpPr>
        <p:spPr>
          <a:xfrm>
            <a:off x="1350963" y="609600"/>
            <a:ext cx="7793037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--- Set Difference Operation – Example</a:t>
            </a:r>
          </a:p>
        </p:txBody>
      </p:sp>
      <p:sp>
        <p:nvSpPr>
          <p:cNvPr id="35846" name="Rectangle 4"/>
          <p:cNvSpPr>
            <a:spLocks noChangeArrowheads="1"/>
          </p:cNvSpPr>
          <p:nvPr/>
        </p:nvSpPr>
        <p:spPr bwMode="auto">
          <a:xfrm>
            <a:off x="3429000" y="3352800"/>
            <a:ext cx="1752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kumimoji="1" lang="en-US" altLang="en-US"/>
              <a:t> (</a:t>
            </a:r>
            <a:r>
              <a:rPr kumimoji="1" lang="en-US" altLang="en-US" sz="2800" b="1" i="1">
                <a:latin typeface="Helvetica" panose="020B0604020202020204" pitchFamily="34" charset="0"/>
              </a:rPr>
              <a:t>r </a:t>
            </a:r>
            <a:r>
              <a:rPr kumimoji="1" lang="en-US" altLang="en-US" sz="2800" b="1" i="1">
                <a:latin typeface="Helvetica" panose="020B0604020202020204" pitchFamily="34" charset="0"/>
                <a:sym typeface="Symbol" panose="05050102010706020507" pitchFamily="18" charset="2"/>
              </a:rPr>
              <a:t>– s</a:t>
            </a:r>
            <a:r>
              <a:rPr kumimoji="1" lang="en-US" altLang="en-US" sz="2800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5847" name="Rectangle 5"/>
          <p:cNvSpPr>
            <a:spLocks noChangeArrowheads="1"/>
          </p:cNvSpPr>
          <p:nvPr/>
        </p:nvSpPr>
        <p:spPr bwMode="auto">
          <a:xfrm>
            <a:off x="762000" y="28336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5848" name="Rectangle 6"/>
          <p:cNvSpPr>
            <a:spLocks noChangeArrowheads="1"/>
          </p:cNvSpPr>
          <p:nvPr/>
        </p:nvSpPr>
        <p:spPr bwMode="auto">
          <a:xfrm>
            <a:off x="1219200" y="28336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5849" name="Rectangle 7"/>
          <p:cNvSpPr>
            <a:spLocks noChangeArrowheads="1"/>
          </p:cNvSpPr>
          <p:nvPr/>
        </p:nvSpPr>
        <p:spPr bwMode="auto">
          <a:xfrm>
            <a:off x="762000" y="3367088"/>
            <a:ext cx="4572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5850" name="Rectangle 8"/>
          <p:cNvSpPr>
            <a:spLocks noChangeArrowheads="1"/>
          </p:cNvSpPr>
          <p:nvPr/>
        </p:nvSpPr>
        <p:spPr bwMode="auto">
          <a:xfrm>
            <a:off x="1219200" y="3367088"/>
            <a:ext cx="457200" cy="1295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5851" name="Rectangle 9"/>
          <p:cNvSpPr>
            <a:spLocks noChangeArrowheads="1"/>
          </p:cNvSpPr>
          <p:nvPr/>
        </p:nvSpPr>
        <p:spPr bwMode="auto">
          <a:xfrm>
            <a:off x="2438400" y="2819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5852" name="Rectangle 10"/>
          <p:cNvSpPr>
            <a:spLocks noChangeArrowheads="1"/>
          </p:cNvSpPr>
          <p:nvPr/>
        </p:nvSpPr>
        <p:spPr bwMode="auto">
          <a:xfrm>
            <a:off x="2895600" y="2819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5853" name="Rectangle 11"/>
          <p:cNvSpPr>
            <a:spLocks noChangeArrowheads="1"/>
          </p:cNvSpPr>
          <p:nvPr/>
        </p:nvSpPr>
        <p:spPr bwMode="auto">
          <a:xfrm>
            <a:off x="2438400" y="3352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5854" name="Rectangle 12"/>
          <p:cNvSpPr>
            <a:spLocks noChangeArrowheads="1"/>
          </p:cNvSpPr>
          <p:nvPr/>
        </p:nvSpPr>
        <p:spPr bwMode="auto">
          <a:xfrm>
            <a:off x="2895600" y="3352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35855" name="Text Box 13"/>
          <p:cNvSpPr txBox="1">
            <a:spLocks noChangeArrowheads="1"/>
          </p:cNvSpPr>
          <p:nvPr/>
        </p:nvSpPr>
        <p:spPr bwMode="auto">
          <a:xfrm>
            <a:off x="1058863" y="458628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35856" name="Text Box 14"/>
          <p:cNvSpPr txBox="1">
            <a:spLocks noChangeArrowheads="1"/>
          </p:cNvSpPr>
          <p:nvPr/>
        </p:nvSpPr>
        <p:spPr bwMode="auto">
          <a:xfrm>
            <a:off x="2682875" y="42672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35857" name="Rectangle 15"/>
          <p:cNvSpPr>
            <a:spLocks noChangeArrowheads="1"/>
          </p:cNvSpPr>
          <p:nvPr/>
        </p:nvSpPr>
        <p:spPr bwMode="auto">
          <a:xfrm>
            <a:off x="6553200" y="2819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5858" name="Rectangle 16"/>
          <p:cNvSpPr>
            <a:spLocks noChangeArrowheads="1"/>
          </p:cNvSpPr>
          <p:nvPr/>
        </p:nvSpPr>
        <p:spPr bwMode="auto">
          <a:xfrm>
            <a:off x="7010400" y="2819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5859" name="Rectangle 17"/>
          <p:cNvSpPr>
            <a:spLocks noChangeArrowheads="1"/>
          </p:cNvSpPr>
          <p:nvPr/>
        </p:nvSpPr>
        <p:spPr bwMode="auto">
          <a:xfrm>
            <a:off x="6553200" y="3352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5860" name="Rectangle 18"/>
          <p:cNvSpPr>
            <a:spLocks noChangeArrowheads="1"/>
          </p:cNvSpPr>
          <p:nvPr/>
        </p:nvSpPr>
        <p:spPr bwMode="auto">
          <a:xfrm>
            <a:off x="7010400" y="3352800"/>
            <a:ext cx="4572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35861" name="Line 21"/>
          <p:cNvSpPr>
            <a:spLocks noChangeShapeType="1"/>
          </p:cNvSpPr>
          <p:nvPr/>
        </p:nvSpPr>
        <p:spPr bwMode="auto">
          <a:xfrm>
            <a:off x="5334000" y="36576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E1A127-16DA-47FF-B37B-4FFAE142DBF6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68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17CF93-8FA2-4B10-9ED4-0552610F132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 smtClean="0"/>
          </a:p>
        </p:txBody>
      </p:sp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Set-Intersection Operation</a:t>
            </a: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Is denoted by: </a:t>
            </a: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 </a:t>
            </a:r>
            <a:r>
              <a:rPr lang="en-US" altLang="en-US" i="1" smtClean="0"/>
              <a:t>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Is defined as: </a:t>
            </a: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s</a:t>
            </a:r>
            <a:r>
              <a:rPr lang="en-US" altLang="en-US" smtClean="0"/>
              <a:t> ={ </a:t>
            </a:r>
            <a:r>
              <a:rPr lang="en-US" altLang="en-US" i="1" smtClean="0"/>
              <a:t>t </a:t>
            </a:r>
            <a:r>
              <a:rPr lang="en-US" altLang="en-US" smtClean="0"/>
              <a:t>| </a:t>
            </a:r>
            <a:r>
              <a:rPr lang="en-US" altLang="en-US" i="1" smtClean="0"/>
              <a:t>t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</a:t>
            </a:r>
            <a:r>
              <a:rPr lang="en-US" altLang="en-US" smtClean="0"/>
              <a:t> </a:t>
            </a: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b="1" smtClean="0"/>
              <a:t>and</a:t>
            </a:r>
            <a:r>
              <a:rPr lang="en-US" altLang="en-US" smtClean="0"/>
              <a:t> </a:t>
            </a:r>
            <a:r>
              <a:rPr lang="en-US" altLang="en-US" i="1" smtClean="0"/>
              <a:t>t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</a:t>
            </a:r>
            <a:r>
              <a:rPr lang="en-US" altLang="en-US" smtClean="0"/>
              <a:t> </a:t>
            </a:r>
            <a:r>
              <a:rPr lang="en-US" altLang="en-US" i="1" smtClean="0"/>
              <a:t>s</a:t>
            </a:r>
            <a:r>
              <a:rPr lang="en-US" altLang="en-US" smtClean="0"/>
              <a:t>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The result of </a:t>
            </a: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s</a:t>
            </a:r>
            <a:r>
              <a:rPr lang="en-US" altLang="en-US" smtClean="0"/>
              <a:t>  will include all the tuples that are in both </a:t>
            </a:r>
            <a:r>
              <a:rPr lang="en-US" altLang="en-US" i="1" smtClean="0"/>
              <a:t>r</a:t>
            </a:r>
            <a:r>
              <a:rPr lang="en-US" altLang="en-US" smtClean="0"/>
              <a:t> and </a:t>
            </a:r>
            <a:r>
              <a:rPr lang="en-US" altLang="en-US" i="1" smtClean="0"/>
              <a:t>s.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 i="1" smtClean="0"/>
          </a:p>
          <a:p>
            <a:pPr eaLnBrk="1" hangingPunct="1">
              <a:lnSpc>
                <a:spcPct val="90000"/>
              </a:lnSpc>
            </a:pPr>
            <a:r>
              <a:rPr lang="en-US" altLang="en-US" i="1" smtClean="0"/>
              <a:t>r</a:t>
            </a:r>
            <a:r>
              <a:rPr lang="en-US" altLang="en-US" smtClean="0"/>
              <a:t> and </a:t>
            </a:r>
            <a:r>
              <a:rPr lang="en-US" altLang="en-US" i="1" smtClean="0"/>
              <a:t>s</a:t>
            </a:r>
            <a:r>
              <a:rPr lang="en-US" altLang="en-US" smtClean="0"/>
              <a:t> must be union compatible.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Intersection is: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Commutative: </a:t>
            </a: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s</a:t>
            </a:r>
            <a:r>
              <a:rPr lang="en-US" altLang="en-US" smtClean="0"/>
              <a:t>  = </a:t>
            </a:r>
            <a:r>
              <a:rPr lang="en-US" altLang="en-US" i="1" smtClean="0"/>
              <a:t>s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Associative:</a:t>
            </a:r>
            <a:r>
              <a:rPr lang="en-US" altLang="en-US" i="1" smtClean="0"/>
              <a:t> </a:t>
            </a:r>
            <a:r>
              <a:rPr lang="en-US" altLang="en-US" smtClean="0"/>
              <a:t> </a:t>
            </a: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(</a:t>
            </a:r>
            <a:r>
              <a:rPr lang="en-US" altLang="en-US" i="1" smtClean="0"/>
              <a:t>s</a:t>
            </a:r>
            <a:r>
              <a:rPr lang="en-US" altLang="en-US" smtClean="0"/>
              <a:t> 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w)</a:t>
            </a:r>
            <a:r>
              <a:rPr lang="en-US" altLang="en-US" smtClean="0"/>
              <a:t>  = (</a:t>
            </a: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s)</a:t>
            </a:r>
            <a:r>
              <a:rPr lang="en-US" altLang="en-US" smtClean="0"/>
              <a:t> 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w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000" smtClean="0"/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How to state Set-Intersection in terms of Set-Difference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i="1" smtClean="0"/>
              <a:t>r</a:t>
            </a:r>
            <a:r>
              <a:rPr lang="en-US" altLang="en-US" smtClean="0"/>
              <a:t> </a:t>
            </a:r>
            <a:r>
              <a:rPr lang="en-US" altLang="en-US" smtClean="0">
                <a:sym typeface="Symbol" panose="05050102010706020507" pitchFamily="18" charset="2"/>
              </a:rPr>
              <a:t></a:t>
            </a:r>
            <a:r>
              <a:rPr lang="en-US" altLang="en-US" smtClean="0"/>
              <a:t> </a:t>
            </a:r>
            <a:r>
              <a:rPr lang="en-US" altLang="en-US" i="1" smtClean="0"/>
              <a:t>s</a:t>
            </a:r>
            <a:r>
              <a:rPr lang="en-US" altLang="en-US" smtClean="0"/>
              <a:t> = </a:t>
            </a:r>
            <a:r>
              <a:rPr lang="en-US" altLang="en-US" i="1" smtClean="0"/>
              <a:t>r</a:t>
            </a:r>
            <a:r>
              <a:rPr lang="en-US" altLang="en-US" smtClean="0"/>
              <a:t> - (</a:t>
            </a:r>
            <a:r>
              <a:rPr lang="en-US" altLang="en-US" i="1" smtClean="0"/>
              <a:t>r</a:t>
            </a:r>
            <a:r>
              <a:rPr lang="en-US" altLang="en-US" smtClean="0"/>
              <a:t> - </a:t>
            </a:r>
            <a:r>
              <a:rPr lang="en-US" altLang="en-US" i="1" smtClean="0"/>
              <a:t>s</a:t>
            </a:r>
            <a:r>
              <a:rPr lang="en-US" altLang="en-US" smtClean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54CA5B-E396-4BA6-B03D-182FC8AC4BCB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789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39A900-12C8-4D29-8E81-74EEFA5FDD8A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 smtClean="0"/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Set-Intersection Operation - Example</a:t>
            </a:r>
          </a:p>
        </p:txBody>
      </p:sp>
      <p:sp>
        <p:nvSpPr>
          <p:cNvPr id="37894" name="Rectangle 4"/>
          <p:cNvSpPr>
            <a:spLocks noChangeArrowheads="1"/>
          </p:cNvSpPr>
          <p:nvPr/>
        </p:nvSpPr>
        <p:spPr bwMode="auto">
          <a:xfrm>
            <a:off x="695325" y="2930525"/>
            <a:ext cx="1046163" cy="4381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7895" name="Text Box 5"/>
          <p:cNvSpPr txBox="1">
            <a:spLocks noChangeArrowheads="1"/>
          </p:cNvSpPr>
          <p:nvPr/>
        </p:nvSpPr>
        <p:spPr bwMode="auto">
          <a:xfrm>
            <a:off x="706438" y="2989263"/>
            <a:ext cx="952500" cy="3667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A       B</a:t>
            </a:r>
          </a:p>
        </p:txBody>
      </p:sp>
      <p:sp>
        <p:nvSpPr>
          <p:cNvPr id="37896" name="Line 6"/>
          <p:cNvSpPr>
            <a:spLocks noChangeShapeType="1"/>
          </p:cNvSpPr>
          <p:nvPr/>
        </p:nvSpPr>
        <p:spPr bwMode="auto">
          <a:xfrm>
            <a:off x="1201738" y="2940050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7" name="Rectangle 7"/>
          <p:cNvSpPr>
            <a:spLocks noChangeArrowheads="1"/>
          </p:cNvSpPr>
          <p:nvPr/>
        </p:nvSpPr>
        <p:spPr bwMode="auto">
          <a:xfrm>
            <a:off x="685800" y="3406775"/>
            <a:ext cx="1046163" cy="9683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7898" name="Line 8"/>
          <p:cNvSpPr>
            <a:spLocks noChangeShapeType="1"/>
          </p:cNvSpPr>
          <p:nvPr/>
        </p:nvSpPr>
        <p:spPr bwMode="auto">
          <a:xfrm>
            <a:off x="1192213" y="3416300"/>
            <a:ext cx="1587" cy="952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899" name="Text Box 9"/>
          <p:cNvSpPr txBox="1">
            <a:spLocks noChangeArrowheads="1"/>
          </p:cNvSpPr>
          <p:nvPr/>
        </p:nvSpPr>
        <p:spPr bwMode="auto">
          <a:xfrm>
            <a:off x="762000" y="3414713"/>
            <a:ext cx="328613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7900" name="Text Box 10"/>
          <p:cNvSpPr txBox="1">
            <a:spLocks noChangeArrowheads="1"/>
          </p:cNvSpPr>
          <p:nvPr/>
        </p:nvSpPr>
        <p:spPr bwMode="auto">
          <a:xfrm>
            <a:off x="1257300" y="3438525"/>
            <a:ext cx="3111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37901" name="Rectangle 11"/>
          <p:cNvSpPr>
            <a:spLocks noChangeArrowheads="1"/>
          </p:cNvSpPr>
          <p:nvPr/>
        </p:nvSpPr>
        <p:spPr bwMode="auto">
          <a:xfrm>
            <a:off x="2295525" y="2971800"/>
            <a:ext cx="1046163" cy="4381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7902" name="Text Box 12"/>
          <p:cNvSpPr txBox="1">
            <a:spLocks noChangeArrowheads="1"/>
          </p:cNvSpPr>
          <p:nvPr/>
        </p:nvSpPr>
        <p:spPr bwMode="auto">
          <a:xfrm>
            <a:off x="2247900" y="3030538"/>
            <a:ext cx="1016000" cy="3667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 A       B</a:t>
            </a:r>
          </a:p>
        </p:txBody>
      </p:sp>
      <p:sp>
        <p:nvSpPr>
          <p:cNvPr id="37903" name="Line 13"/>
          <p:cNvSpPr>
            <a:spLocks noChangeShapeType="1"/>
          </p:cNvSpPr>
          <p:nvPr/>
        </p:nvSpPr>
        <p:spPr bwMode="auto">
          <a:xfrm>
            <a:off x="2774950" y="2981325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4" name="Rectangle 14"/>
          <p:cNvSpPr>
            <a:spLocks noChangeArrowheads="1"/>
          </p:cNvSpPr>
          <p:nvPr/>
        </p:nvSpPr>
        <p:spPr bwMode="auto">
          <a:xfrm>
            <a:off x="2286000" y="3475038"/>
            <a:ext cx="1046163" cy="7016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7905" name="Line 15"/>
          <p:cNvSpPr>
            <a:spLocks noChangeShapeType="1"/>
          </p:cNvSpPr>
          <p:nvPr/>
        </p:nvSpPr>
        <p:spPr bwMode="auto">
          <a:xfrm>
            <a:off x="2792413" y="3484563"/>
            <a:ext cx="1587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06" name="Text Box 16"/>
          <p:cNvSpPr txBox="1">
            <a:spLocks noChangeArrowheads="1"/>
          </p:cNvSpPr>
          <p:nvPr/>
        </p:nvSpPr>
        <p:spPr bwMode="auto">
          <a:xfrm>
            <a:off x="2374900" y="3482975"/>
            <a:ext cx="3286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7907" name="Text Box 17"/>
          <p:cNvSpPr txBox="1">
            <a:spLocks noChangeArrowheads="1"/>
          </p:cNvSpPr>
          <p:nvPr/>
        </p:nvSpPr>
        <p:spPr bwMode="auto">
          <a:xfrm>
            <a:off x="2857500" y="3506788"/>
            <a:ext cx="311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37908" name="Text Box 18"/>
          <p:cNvSpPr txBox="1">
            <a:spLocks noChangeArrowheads="1"/>
          </p:cNvSpPr>
          <p:nvPr/>
        </p:nvSpPr>
        <p:spPr bwMode="auto">
          <a:xfrm>
            <a:off x="1014413" y="428148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37909" name="Text Box 19"/>
          <p:cNvSpPr txBox="1">
            <a:spLocks noChangeArrowheads="1"/>
          </p:cNvSpPr>
          <p:nvPr/>
        </p:nvSpPr>
        <p:spPr bwMode="auto">
          <a:xfrm>
            <a:off x="2538413" y="4052888"/>
            <a:ext cx="3825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  <a:endParaRPr lang="en-US" altLang="en-US" sz="2800" b="1">
              <a:latin typeface="Helvetica" panose="020B0604020202020204" pitchFamily="34" charset="0"/>
            </a:endParaRPr>
          </a:p>
        </p:txBody>
      </p:sp>
      <p:sp>
        <p:nvSpPr>
          <p:cNvPr id="37910" name="Rectangle 20"/>
          <p:cNvSpPr>
            <a:spLocks noChangeArrowheads="1"/>
          </p:cNvSpPr>
          <p:nvPr/>
        </p:nvSpPr>
        <p:spPr bwMode="auto">
          <a:xfrm>
            <a:off x="6248400" y="2895600"/>
            <a:ext cx="1046163" cy="43815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7911" name="Text Box 21"/>
          <p:cNvSpPr txBox="1">
            <a:spLocks noChangeArrowheads="1"/>
          </p:cNvSpPr>
          <p:nvPr/>
        </p:nvSpPr>
        <p:spPr bwMode="auto">
          <a:xfrm>
            <a:off x="6315075" y="2965450"/>
            <a:ext cx="952500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A       B</a:t>
            </a:r>
          </a:p>
        </p:txBody>
      </p:sp>
      <p:sp>
        <p:nvSpPr>
          <p:cNvPr id="37912" name="Line 22"/>
          <p:cNvSpPr>
            <a:spLocks noChangeShapeType="1"/>
          </p:cNvSpPr>
          <p:nvPr/>
        </p:nvSpPr>
        <p:spPr bwMode="auto">
          <a:xfrm>
            <a:off x="6781800" y="2911475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3" name="Rectangle 23"/>
          <p:cNvSpPr>
            <a:spLocks noChangeArrowheads="1"/>
          </p:cNvSpPr>
          <p:nvPr/>
        </p:nvSpPr>
        <p:spPr bwMode="auto">
          <a:xfrm>
            <a:off x="6269038" y="3429000"/>
            <a:ext cx="1046162" cy="4381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37914" name="Text Box 24"/>
          <p:cNvSpPr txBox="1">
            <a:spLocks noChangeArrowheads="1"/>
          </p:cNvSpPr>
          <p:nvPr/>
        </p:nvSpPr>
        <p:spPr bwMode="auto">
          <a:xfrm>
            <a:off x="6324600" y="3486150"/>
            <a:ext cx="836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      </a:t>
            </a: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  <a:endParaRPr lang="en-US" altLang="en-US" sz="1800" b="1">
              <a:solidFill>
                <a:schemeClr val="hlink"/>
              </a:solidFill>
              <a:latin typeface="Helvetica" panose="020B0604020202020204" pitchFamily="34" charset="0"/>
            </a:endParaRPr>
          </a:p>
        </p:txBody>
      </p:sp>
      <p:sp>
        <p:nvSpPr>
          <p:cNvPr id="37915" name="Line 25"/>
          <p:cNvSpPr>
            <a:spLocks noChangeShapeType="1"/>
          </p:cNvSpPr>
          <p:nvPr/>
        </p:nvSpPr>
        <p:spPr bwMode="auto">
          <a:xfrm>
            <a:off x="6781800" y="3409950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7916" name="Text Box 27"/>
          <p:cNvSpPr txBox="1">
            <a:spLocks noChangeArrowheads="1"/>
          </p:cNvSpPr>
          <p:nvPr/>
        </p:nvSpPr>
        <p:spPr bwMode="auto">
          <a:xfrm>
            <a:off x="3505200" y="3257550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/>
              <a:t> (</a:t>
            </a:r>
            <a:r>
              <a:rPr lang="en-US" altLang="en-US" sz="2800" b="1" i="1"/>
              <a:t>r</a:t>
            </a:r>
            <a:r>
              <a:rPr lang="en-US" altLang="en-US" sz="2800" b="1"/>
              <a:t> </a:t>
            </a:r>
            <a:r>
              <a:rPr lang="en-US" altLang="en-US" sz="2800" b="1">
                <a:sym typeface="Symbol" panose="05050102010706020507" pitchFamily="18" charset="2"/>
              </a:rPr>
              <a:t> </a:t>
            </a:r>
            <a:r>
              <a:rPr lang="en-US" altLang="en-US" sz="2800" b="1" i="1">
                <a:sym typeface="Symbol" panose="05050102010706020507" pitchFamily="18" charset="2"/>
              </a:rPr>
              <a:t>s</a:t>
            </a:r>
            <a:r>
              <a:rPr lang="en-US" altLang="en-US" sz="28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7917" name="Line 29"/>
          <p:cNvSpPr>
            <a:spLocks noChangeShapeType="1"/>
          </p:cNvSpPr>
          <p:nvPr/>
        </p:nvSpPr>
        <p:spPr bwMode="auto">
          <a:xfrm>
            <a:off x="5257800" y="356235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7918" name="Line 30"/>
          <p:cNvSpPr>
            <a:spLocks noChangeShapeType="1"/>
          </p:cNvSpPr>
          <p:nvPr/>
        </p:nvSpPr>
        <p:spPr bwMode="auto">
          <a:xfrm>
            <a:off x="2286000" y="2971800"/>
            <a:ext cx="0" cy="422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08CDBD-C843-4CDA-963F-89D60EA78DB4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908564-8E47-4FF5-AE24-ADBF641A1C73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 smtClean="0"/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Division Operation …</a:t>
            </a:r>
          </a:p>
        </p:txBody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5388" y="1676400"/>
            <a:ext cx="7234237" cy="46482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Is denoted by: </a:t>
            </a:r>
            <a:r>
              <a:rPr lang="en-US" altLang="en-US" sz="2000" i="1" smtClean="0">
                <a:sym typeface="Symbol" panose="05050102010706020507" pitchFamily="18" charset="2"/>
              </a:rPr>
              <a:t>r </a:t>
            </a:r>
            <a:r>
              <a:rPr lang="en-US" altLang="en-US" sz="2000" smtClean="0">
                <a:sym typeface="Symbol" panose="05050102010706020507" pitchFamily="18" charset="2"/>
              </a:rPr>
              <a:t> </a:t>
            </a:r>
            <a:r>
              <a:rPr lang="en-US" altLang="en-US" sz="2000" i="1" smtClean="0"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 </a:t>
            </a:r>
          </a:p>
          <a:p>
            <a:pPr eaLnBrk="1" hangingPunct="1"/>
            <a:endParaRPr lang="en-US" altLang="en-US" sz="1000" smtClean="0"/>
          </a:p>
          <a:p>
            <a:pPr eaLnBrk="1" hangingPunct="1"/>
            <a:r>
              <a:rPr lang="en-US" altLang="en-US" sz="2000" smtClean="0"/>
              <a:t>Suited to queries that include the phrase “for all” or “for every”</a:t>
            </a:r>
          </a:p>
          <a:p>
            <a:pPr lvl="1" eaLnBrk="1" hangingPunct="1"/>
            <a:r>
              <a:rPr lang="en-US" altLang="en-US" sz="1600" smtClean="0"/>
              <a:t>Example: Show Names of students who are registered in all/every course</a:t>
            </a:r>
          </a:p>
          <a:p>
            <a:pPr eaLnBrk="1" hangingPunct="1"/>
            <a:endParaRPr lang="en-US" altLang="en-US" sz="1000" smtClean="0"/>
          </a:p>
          <a:p>
            <a:pPr eaLnBrk="1" hangingPunct="1"/>
            <a:r>
              <a:rPr lang="en-US" altLang="en-US" sz="2000" smtClean="0"/>
              <a:t>Let </a:t>
            </a:r>
            <a:r>
              <a:rPr lang="en-US" altLang="en-US" sz="2000" i="1" smtClean="0"/>
              <a:t>r</a:t>
            </a:r>
            <a:r>
              <a:rPr lang="en-US" altLang="en-US" sz="2000" smtClean="0"/>
              <a:t> and </a:t>
            </a:r>
            <a:r>
              <a:rPr lang="en-US" altLang="en-US" sz="2000" i="1" smtClean="0"/>
              <a:t>s</a:t>
            </a:r>
            <a:r>
              <a:rPr lang="en-US" altLang="en-US" sz="2000" smtClean="0"/>
              <a:t> be relations on schemas R and S respectively where</a:t>
            </a:r>
          </a:p>
          <a:p>
            <a:pPr lvl="1" eaLnBrk="1" hangingPunct="1"/>
            <a:r>
              <a:rPr lang="en-US" altLang="en-US" i="1" smtClean="0"/>
              <a:t>R</a:t>
            </a:r>
            <a:r>
              <a:rPr lang="en-US" altLang="en-US" smtClean="0"/>
              <a:t> = (</a:t>
            </a:r>
            <a:r>
              <a:rPr lang="en-US" altLang="en-US" i="1" smtClean="0"/>
              <a:t>A</a:t>
            </a:r>
            <a:r>
              <a:rPr lang="en-US" altLang="en-US" sz="2800" baseline="-25000" smtClean="0"/>
              <a:t>1</a:t>
            </a:r>
            <a:r>
              <a:rPr lang="en-US" altLang="en-US" smtClean="0"/>
              <a:t>, …, </a:t>
            </a:r>
            <a:r>
              <a:rPr lang="en-US" altLang="en-US" i="1" smtClean="0"/>
              <a:t>A</a:t>
            </a:r>
            <a:r>
              <a:rPr lang="en-US" altLang="en-US" sz="2800" i="1" baseline="-25000" smtClean="0"/>
              <a:t>m</a:t>
            </a:r>
            <a:r>
              <a:rPr lang="en-US" altLang="en-US" smtClean="0"/>
              <a:t>, </a:t>
            </a:r>
            <a:r>
              <a:rPr lang="en-US" altLang="en-US" i="1" smtClean="0"/>
              <a:t>B</a:t>
            </a:r>
            <a:r>
              <a:rPr lang="en-US" altLang="en-US" sz="2800" baseline="-25000" smtClean="0"/>
              <a:t>1</a:t>
            </a:r>
            <a:r>
              <a:rPr lang="en-US" altLang="en-US" smtClean="0"/>
              <a:t>, …, </a:t>
            </a:r>
            <a:r>
              <a:rPr lang="en-US" altLang="en-US" i="1" smtClean="0"/>
              <a:t>B</a:t>
            </a:r>
            <a:r>
              <a:rPr lang="en-US" altLang="en-US" sz="2800" i="1" baseline="-25000" smtClean="0"/>
              <a:t>n</a:t>
            </a:r>
            <a:r>
              <a:rPr lang="en-US" altLang="en-US" smtClean="0"/>
              <a:t>)</a:t>
            </a:r>
          </a:p>
          <a:p>
            <a:pPr lvl="1" eaLnBrk="1" hangingPunct="1"/>
            <a:r>
              <a:rPr lang="en-US" altLang="en-US" i="1" smtClean="0"/>
              <a:t>S</a:t>
            </a:r>
            <a:r>
              <a:rPr lang="en-US" altLang="en-US" smtClean="0"/>
              <a:t> = (</a:t>
            </a:r>
            <a:r>
              <a:rPr lang="en-US" altLang="en-US" i="1" smtClean="0"/>
              <a:t>B</a:t>
            </a:r>
            <a:r>
              <a:rPr lang="en-US" altLang="en-US" sz="2800" baseline="-25000" smtClean="0"/>
              <a:t>1</a:t>
            </a:r>
            <a:r>
              <a:rPr lang="en-US" altLang="en-US" smtClean="0"/>
              <a:t>, …, </a:t>
            </a:r>
            <a:r>
              <a:rPr lang="en-US" altLang="en-US" i="1" smtClean="0"/>
              <a:t>B</a:t>
            </a:r>
            <a:r>
              <a:rPr lang="en-US" altLang="en-US" sz="2800" i="1" baseline="-25000" smtClean="0"/>
              <a:t>n</a:t>
            </a:r>
            <a:r>
              <a:rPr lang="en-US" altLang="en-US" smtClean="0"/>
              <a:t>)</a:t>
            </a:r>
          </a:p>
          <a:p>
            <a:pPr lvl="1" eaLnBrk="1" hangingPunct="1"/>
            <a:endParaRPr lang="en-US" altLang="en-US" sz="100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The result of r </a:t>
            </a:r>
            <a:r>
              <a:rPr lang="en-US" altLang="en-US" sz="2000" smtClean="0">
                <a:sym typeface="Symbol" panose="05050102010706020507" pitchFamily="18" charset="2"/>
              </a:rPr>
              <a:t> s is a relation on schema </a:t>
            </a:r>
            <a:r>
              <a:rPr lang="en-US" altLang="en-US" sz="2000" i="1" smtClean="0">
                <a:sym typeface="Symbol" panose="05050102010706020507" pitchFamily="18" charset="2"/>
              </a:rPr>
              <a:t>R</a:t>
            </a:r>
            <a:r>
              <a:rPr lang="en-US" altLang="en-US" sz="2000" smtClean="0">
                <a:sym typeface="Symbol" panose="05050102010706020507" pitchFamily="18" charset="2"/>
              </a:rPr>
              <a:t> – </a:t>
            </a:r>
            <a:r>
              <a:rPr lang="en-US" altLang="en-US" sz="2000" i="1" smtClean="0">
                <a:sym typeface="Symbol" panose="05050102010706020507" pitchFamily="18" charset="2"/>
              </a:rPr>
              <a:t>S </a:t>
            </a:r>
            <a:r>
              <a:rPr lang="en-US" altLang="en-US" sz="2000" smtClean="0">
                <a:sym typeface="Symbol" panose="05050102010706020507" pitchFamily="18" charset="2"/>
              </a:rPr>
              <a:t>= (</a:t>
            </a:r>
            <a:r>
              <a:rPr lang="en-US" altLang="en-US" sz="2000" i="1" smtClean="0">
                <a:sym typeface="Symbol" panose="05050102010706020507" pitchFamily="18" charset="2"/>
              </a:rPr>
              <a:t>A</a:t>
            </a:r>
            <a:r>
              <a:rPr lang="en-US" altLang="en-US" sz="2000" baseline="-25000" smtClean="0">
                <a:sym typeface="Symbol" panose="05050102010706020507" pitchFamily="18" charset="2"/>
              </a:rPr>
              <a:t>1</a:t>
            </a:r>
            <a:r>
              <a:rPr lang="en-US" altLang="en-US" sz="2000" smtClean="0">
                <a:sym typeface="Symbol" panose="05050102010706020507" pitchFamily="18" charset="2"/>
              </a:rPr>
              <a:t>, …, </a:t>
            </a:r>
            <a:r>
              <a:rPr lang="en-US" altLang="en-US" sz="2000" i="1" smtClean="0">
                <a:sym typeface="Symbol" panose="05050102010706020507" pitchFamily="18" charset="2"/>
              </a:rPr>
              <a:t>A</a:t>
            </a:r>
            <a:r>
              <a:rPr lang="en-US" altLang="en-US" sz="2000" i="1" baseline="-25000" smtClean="0">
                <a:sym typeface="Symbol" panose="05050102010706020507" pitchFamily="18" charset="2"/>
              </a:rPr>
              <a:t>m</a:t>
            </a:r>
            <a:r>
              <a:rPr lang="en-US" altLang="en-US" sz="2000" smtClean="0">
                <a:sym typeface="Symbol" panose="05050102010706020507" pitchFamily="18" charset="2"/>
              </a:rPr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000" smtClean="0">
              <a:sym typeface="Symbol" panose="05050102010706020507" pitchFamily="18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mtClean="0">
                <a:sym typeface="Symbol" panose="05050102010706020507" pitchFamily="18" charset="2"/>
              </a:rPr>
              <a:t>		</a:t>
            </a:r>
            <a:r>
              <a:rPr lang="en-US" altLang="en-US" i="1" smtClean="0">
                <a:sym typeface="Symbol" panose="05050102010706020507" pitchFamily="18" charset="2"/>
              </a:rPr>
              <a:t>r </a:t>
            </a:r>
            <a:r>
              <a:rPr lang="en-US" altLang="en-US" smtClean="0">
                <a:sym typeface="Symbol" panose="05050102010706020507" pitchFamily="18" charset="2"/>
              </a:rPr>
              <a:t> </a:t>
            </a:r>
            <a:r>
              <a:rPr lang="en-US" altLang="en-US" i="1" smtClean="0">
                <a:sym typeface="Symbol" panose="05050102010706020507" pitchFamily="18" charset="2"/>
              </a:rPr>
              <a:t>s</a:t>
            </a:r>
            <a:r>
              <a:rPr lang="en-US" altLang="en-US" smtClean="0">
                <a:sym typeface="Symbol" panose="05050102010706020507" pitchFamily="18" charset="2"/>
              </a:rPr>
              <a:t> = { </a:t>
            </a:r>
            <a:r>
              <a:rPr lang="en-US" altLang="en-US" i="1" smtClean="0">
                <a:sym typeface="Symbol" panose="05050102010706020507" pitchFamily="18" charset="2"/>
              </a:rPr>
              <a:t>t</a:t>
            </a:r>
            <a:r>
              <a:rPr lang="en-US" altLang="en-US" smtClean="0">
                <a:sym typeface="Symbol" panose="05050102010706020507" pitchFamily="18" charset="2"/>
              </a:rPr>
              <a:t>  |  </a:t>
            </a:r>
            <a:r>
              <a:rPr lang="en-US" altLang="en-US" i="1" smtClean="0">
                <a:sym typeface="Symbol" panose="05050102010706020507" pitchFamily="18" charset="2"/>
              </a:rPr>
              <a:t>t </a:t>
            </a:r>
            <a:r>
              <a:rPr lang="en-US" altLang="en-US" smtClean="0">
                <a:sym typeface="Symbol" panose="05050102010706020507" pitchFamily="18" charset="2"/>
              </a:rPr>
              <a:t>  </a:t>
            </a:r>
            <a:r>
              <a:rPr lang="en-US" altLang="en-US" i="1" baseline="-25000" smtClean="0">
                <a:sym typeface="Symbol" panose="05050102010706020507" pitchFamily="18" charset="2"/>
              </a:rPr>
              <a:t>R-S</a:t>
            </a:r>
            <a:r>
              <a:rPr lang="en-US" altLang="en-US" smtClean="0">
                <a:sym typeface="Symbol" panose="05050102010706020507" pitchFamily="18" charset="2"/>
              </a:rPr>
              <a:t>(</a:t>
            </a:r>
            <a:r>
              <a:rPr lang="en-US" altLang="en-US" i="1" smtClean="0">
                <a:sym typeface="Symbol" panose="05050102010706020507" pitchFamily="18" charset="2"/>
              </a:rPr>
              <a:t>r</a:t>
            </a:r>
            <a:r>
              <a:rPr lang="en-US" altLang="en-US" smtClean="0">
                <a:sym typeface="Symbol" panose="05050102010706020507" pitchFamily="18" charset="2"/>
              </a:rPr>
              <a:t>)   </a:t>
            </a:r>
            <a:r>
              <a:rPr lang="en-US" altLang="en-US" i="1" smtClean="0">
                <a:sym typeface="Symbol" panose="05050102010706020507" pitchFamily="18" charset="2"/>
              </a:rPr>
              <a:t>u </a:t>
            </a:r>
            <a:r>
              <a:rPr lang="en-US" altLang="en-US" smtClean="0">
                <a:sym typeface="Symbol" panose="05050102010706020507" pitchFamily="18" charset="2"/>
              </a:rPr>
              <a:t> </a:t>
            </a:r>
            <a:r>
              <a:rPr lang="en-US" altLang="en-US" i="1" smtClean="0">
                <a:sym typeface="Symbol" panose="05050102010706020507" pitchFamily="18" charset="2"/>
              </a:rPr>
              <a:t>s </a:t>
            </a:r>
            <a:r>
              <a:rPr lang="en-US" altLang="en-US" smtClean="0">
                <a:sym typeface="Symbol" panose="05050102010706020507" pitchFamily="18" charset="2"/>
              </a:rPr>
              <a:t>( </a:t>
            </a:r>
            <a:r>
              <a:rPr lang="en-US" altLang="en-US" i="1" smtClean="0">
                <a:sym typeface="Symbol" panose="05050102010706020507" pitchFamily="18" charset="2"/>
              </a:rPr>
              <a:t>tu</a:t>
            </a:r>
            <a:r>
              <a:rPr lang="en-US" altLang="en-US" smtClean="0">
                <a:sym typeface="Symbol" panose="05050102010706020507" pitchFamily="18" charset="2"/>
              </a:rPr>
              <a:t> </a:t>
            </a:r>
            <a:r>
              <a:rPr lang="en-US" altLang="en-US" i="1" smtClean="0">
                <a:sym typeface="Symbol" panose="05050102010706020507" pitchFamily="18" charset="2"/>
              </a:rPr>
              <a:t> r </a:t>
            </a:r>
            <a:r>
              <a:rPr lang="en-US" altLang="en-US" smtClean="0">
                <a:sym typeface="Symbol" panose="05050102010706020507" pitchFamily="18" charset="2"/>
              </a:rPr>
              <a:t>) }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2620A0-6FA0-4DB5-9EAF-64133DBA28B3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3993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3994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BF59669-6CC8-4448-BCB4-965D2F094624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 smtClean="0"/>
          </a:p>
        </p:txBody>
      </p:sp>
      <p:sp>
        <p:nvSpPr>
          <p:cNvPr id="39941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--- Division Operation – Example1</a:t>
            </a:r>
          </a:p>
        </p:txBody>
      </p:sp>
      <p:sp>
        <p:nvSpPr>
          <p:cNvPr id="39942" name="Rectangle 4"/>
          <p:cNvSpPr>
            <a:spLocks noChangeArrowheads="1"/>
          </p:cNvSpPr>
          <p:nvPr/>
        </p:nvSpPr>
        <p:spPr bwMode="auto">
          <a:xfrm>
            <a:off x="3124200" y="2438400"/>
            <a:ext cx="1752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kumimoji="1" lang="en-US" altLang="en-US"/>
              <a:t> (</a:t>
            </a:r>
            <a:r>
              <a:rPr kumimoji="1" lang="en-US" altLang="en-US" sz="2800" b="1" i="1">
                <a:latin typeface="Helvetica" panose="020B0604020202020204" pitchFamily="34" charset="0"/>
              </a:rPr>
              <a:t>r</a:t>
            </a:r>
            <a:r>
              <a:rPr kumimoji="1" lang="en-US" altLang="en-US" sz="2800" b="1">
                <a:latin typeface="Helvetica" panose="020B0604020202020204" pitchFamily="34" charset="0"/>
              </a:rPr>
              <a:t> </a:t>
            </a:r>
            <a:r>
              <a:rPr kumimoji="1"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 </a:t>
            </a:r>
            <a:r>
              <a:rPr kumimoji="1" lang="en-US" altLang="en-US" sz="2800" b="1" i="1">
                <a:latin typeface="Helvetica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en-US" sz="2800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39943" name="Rectangle 5"/>
          <p:cNvSpPr>
            <a:spLocks noChangeArrowheads="1"/>
          </p:cNvSpPr>
          <p:nvPr/>
        </p:nvSpPr>
        <p:spPr bwMode="auto">
          <a:xfrm>
            <a:off x="6629400" y="1981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9944" name="Rectangle 6"/>
          <p:cNvSpPr>
            <a:spLocks noChangeArrowheads="1"/>
          </p:cNvSpPr>
          <p:nvPr/>
        </p:nvSpPr>
        <p:spPr bwMode="auto">
          <a:xfrm>
            <a:off x="2438400" y="19812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9945" name="Rectangle 7"/>
          <p:cNvSpPr>
            <a:spLocks noChangeArrowheads="1"/>
          </p:cNvSpPr>
          <p:nvPr/>
        </p:nvSpPr>
        <p:spPr bwMode="auto">
          <a:xfrm>
            <a:off x="6629400" y="2500313"/>
            <a:ext cx="457200" cy="852487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9946" name="Rectangle 8"/>
          <p:cNvSpPr>
            <a:spLocks noChangeArrowheads="1"/>
          </p:cNvSpPr>
          <p:nvPr/>
        </p:nvSpPr>
        <p:spPr bwMode="auto">
          <a:xfrm>
            <a:off x="2438400" y="2514600"/>
            <a:ext cx="4572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9947" name="Rectangle 9"/>
          <p:cNvSpPr>
            <a:spLocks noChangeArrowheads="1"/>
          </p:cNvSpPr>
          <p:nvPr/>
        </p:nvSpPr>
        <p:spPr bwMode="auto">
          <a:xfrm>
            <a:off x="914400" y="19192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39948" name="Rectangle 10"/>
          <p:cNvSpPr>
            <a:spLocks noChangeArrowheads="1"/>
          </p:cNvSpPr>
          <p:nvPr/>
        </p:nvSpPr>
        <p:spPr bwMode="auto">
          <a:xfrm>
            <a:off x="1371600" y="19192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39949" name="Rectangle 11"/>
          <p:cNvSpPr>
            <a:spLocks noChangeArrowheads="1"/>
          </p:cNvSpPr>
          <p:nvPr/>
        </p:nvSpPr>
        <p:spPr bwMode="auto">
          <a:xfrm>
            <a:off x="914400" y="2528888"/>
            <a:ext cx="4572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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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39950" name="Rectangle 12"/>
          <p:cNvSpPr>
            <a:spLocks noChangeArrowheads="1"/>
          </p:cNvSpPr>
          <p:nvPr/>
        </p:nvSpPr>
        <p:spPr bwMode="auto">
          <a:xfrm>
            <a:off x="1371600" y="2528888"/>
            <a:ext cx="457200" cy="312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4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6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39951" name="Text Box 13"/>
          <p:cNvSpPr txBox="1">
            <a:spLocks noChangeArrowheads="1"/>
          </p:cNvSpPr>
          <p:nvPr/>
        </p:nvSpPr>
        <p:spPr bwMode="auto">
          <a:xfrm>
            <a:off x="1189038" y="5638800"/>
            <a:ext cx="322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39952" name="Text Box 14"/>
          <p:cNvSpPr txBox="1">
            <a:spLocks noChangeArrowheads="1"/>
          </p:cNvSpPr>
          <p:nvPr/>
        </p:nvSpPr>
        <p:spPr bwMode="auto">
          <a:xfrm>
            <a:off x="2473325" y="3276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39953" name="Line 15"/>
          <p:cNvSpPr>
            <a:spLocks noChangeShapeType="1"/>
          </p:cNvSpPr>
          <p:nvPr/>
        </p:nvSpPr>
        <p:spPr bwMode="auto">
          <a:xfrm>
            <a:off x="5105400" y="27432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9954" name="Rectangle 1"/>
          <p:cNvSpPr>
            <a:spLocks noChangeArrowheads="1"/>
          </p:cNvSpPr>
          <p:nvPr/>
        </p:nvSpPr>
        <p:spPr bwMode="auto">
          <a:xfrm>
            <a:off x="2314575" y="3962400"/>
            <a:ext cx="63722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ym typeface="Symbol" panose="05050102010706020507" pitchFamily="18" charset="2"/>
              </a:rPr>
              <a:t>r </a:t>
            </a:r>
            <a:r>
              <a:rPr lang="en-US" altLang="en-US" sz="1800">
                <a:sym typeface="Symbol" panose="05050102010706020507" pitchFamily="18" charset="2"/>
              </a:rPr>
              <a:t> </a:t>
            </a:r>
            <a:r>
              <a:rPr lang="en-US" altLang="en-US" sz="1800" i="1">
                <a:sym typeface="Symbol" panose="05050102010706020507" pitchFamily="18" charset="2"/>
              </a:rPr>
              <a:t>s</a:t>
            </a:r>
            <a:r>
              <a:rPr lang="en-US" altLang="en-US" sz="1800">
                <a:sym typeface="Symbol" panose="05050102010706020507" pitchFamily="18" charset="2"/>
              </a:rPr>
              <a:t> = { </a:t>
            </a:r>
            <a:r>
              <a:rPr lang="en-US" altLang="en-US" sz="1800" i="1">
                <a:sym typeface="Symbol" panose="05050102010706020507" pitchFamily="18" charset="2"/>
              </a:rPr>
              <a:t>t</a:t>
            </a:r>
            <a:r>
              <a:rPr lang="en-US" altLang="en-US" sz="1800">
                <a:sym typeface="Symbol" panose="05050102010706020507" pitchFamily="18" charset="2"/>
              </a:rPr>
              <a:t>  |  </a:t>
            </a:r>
            <a:r>
              <a:rPr lang="en-US" altLang="en-US" sz="1800" i="1">
                <a:sym typeface="Symbol" panose="05050102010706020507" pitchFamily="18" charset="2"/>
              </a:rPr>
              <a:t>t </a:t>
            </a:r>
            <a:r>
              <a:rPr lang="en-US" altLang="en-US" sz="1800">
                <a:sym typeface="Symbol" panose="05050102010706020507" pitchFamily="18" charset="2"/>
              </a:rPr>
              <a:t>  </a:t>
            </a:r>
            <a:r>
              <a:rPr lang="en-US" altLang="en-US" sz="1800" i="1" baseline="-25000">
                <a:sym typeface="Symbol" panose="05050102010706020507" pitchFamily="18" charset="2"/>
              </a:rPr>
              <a:t>R-S</a:t>
            </a:r>
            <a:r>
              <a:rPr lang="en-US" altLang="en-US" sz="1800">
                <a:sym typeface="Symbol" panose="05050102010706020507" pitchFamily="18" charset="2"/>
              </a:rPr>
              <a:t>(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>
                <a:sym typeface="Symbol" panose="05050102010706020507" pitchFamily="18" charset="2"/>
              </a:rPr>
              <a:t>)   </a:t>
            </a:r>
            <a:r>
              <a:rPr lang="en-US" altLang="en-US" sz="1800" i="1">
                <a:sym typeface="Symbol" panose="05050102010706020507" pitchFamily="18" charset="2"/>
              </a:rPr>
              <a:t>u </a:t>
            </a:r>
            <a:r>
              <a:rPr lang="en-US" altLang="en-US" sz="1800">
                <a:sym typeface="Symbol" panose="05050102010706020507" pitchFamily="18" charset="2"/>
              </a:rPr>
              <a:t> </a:t>
            </a:r>
            <a:r>
              <a:rPr lang="en-US" altLang="en-US" sz="1800" i="1">
                <a:sym typeface="Symbol" panose="05050102010706020507" pitchFamily="18" charset="2"/>
              </a:rPr>
              <a:t>s </a:t>
            </a:r>
            <a:r>
              <a:rPr lang="en-US" altLang="en-US" sz="1800">
                <a:sym typeface="Symbol" panose="05050102010706020507" pitchFamily="18" charset="2"/>
              </a:rPr>
              <a:t>( </a:t>
            </a:r>
            <a:r>
              <a:rPr lang="en-US" altLang="en-US" sz="1800" i="1">
                <a:sym typeface="Symbol" panose="05050102010706020507" pitchFamily="18" charset="2"/>
              </a:rPr>
              <a:t>tu</a:t>
            </a:r>
            <a:r>
              <a:rPr lang="en-US" altLang="en-US" sz="1800">
                <a:sym typeface="Symbol" panose="05050102010706020507" pitchFamily="18" charset="2"/>
              </a:rPr>
              <a:t> </a:t>
            </a:r>
            <a:r>
              <a:rPr lang="en-US" altLang="en-US" sz="1800" i="1">
                <a:sym typeface="Symbol" panose="05050102010706020507" pitchFamily="18" charset="2"/>
              </a:rPr>
              <a:t> r </a:t>
            </a:r>
            <a:r>
              <a:rPr lang="en-US" altLang="en-US" sz="1800">
                <a:sym typeface="Symbol" panose="05050102010706020507" pitchFamily="18" charset="2"/>
              </a:rPr>
              <a:t>) } </a:t>
            </a:r>
            <a:endParaRPr lang="en-US" altLang="en-US" sz="1800"/>
          </a:p>
        </p:txBody>
      </p:sp>
      <p:sp>
        <p:nvSpPr>
          <p:cNvPr id="39955" name="Rectangle 1"/>
          <p:cNvSpPr>
            <a:spLocks noChangeArrowheads="1"/>
          </p:cNvSpPr>
          <p:nvPr/>
        </p:nvSpPr>
        <p:spPr bwMode="auto">
          <a:xfrm>
            <a:off x="2085975" y="4451350"/>
            <a:ext cx="68786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Result is those values from </a:t>
            </a:r>
            <a:r>
              <a:rPr lang="en-US" altLang="en-US" sz="1400" i="1"/>
              <a:t>r</a:t>
            </a:r>
            <a:r>
              <a:rPr lang="en-US" altLang="en-US" sz="1400"/>
              <a:t> which are completely divided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by both values of </a:t>
            </a:r>
            <a:r>
              <a:rPr lang="en-US" altLang="en-US" sz="1400" i="1"/>
              <a:t>s</a:t>
            </a:r>
            <a:r>
              <a:rPr lang="en-US" altLang="en-US" sz="1400"/>
              <a:t> 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095500" y="5446713"/>
            <a:ext cx="6438900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Explanation</a:t>
            </a:r>
            <a:r>
              <a:rPr lang="en-US" altLang="en-US" sz="1400"/>
              <a:t>: Let r shows student names and course names where s contains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course names. Then </a:t>
            </a:r>
            <a:r>
              <a:rPr lang="en-US" altLang="en-US" sz="14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  </a:t>
            </a:r>
            <a:r>
              <a:rPr lang="en-US" altLang="en-US" sz="1400"/>
              <a:t>and </a:t>
            </a:r>
            <a:r>
              <a:rPr lang="en-US" altLang="en-US" sz="14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  </a:t>
            </a:r>
            <a:r>
              <a:rPr lang="en-US" altLang="en-US" sz="1400"/>
              <a:t>is those students who are enrolled in both the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courses 1 and 2.  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095500" y="4962525"/>
            <a:ext cx="58626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Example</a:t>
            </a:r>
            <a:r>
              <a:rPr lang="en-US" altLang="en-US" sz="1400"/>
              <a:t>: Show Names of students who are registered in all/every course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-- Division Operation: step by step - 1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	</a:t>
            </a:r>
            <a:br>
              <a:rPr lang="en-US" altLang="en-US" sz="2000" smtClean="0">
                <a:sym typeface="Symbol" panose="05050102010706020507" pitchFamily="18" charset="2"/>
              </a:rPr>
            </a:br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	</a:t>
            </a:r>
            <a:endParaRPr lang="en-US" altLang="en-US" sz="18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smtClean="0"/>
          </a:p>
        </p:txBody>
      </p:sp>
      <p:pic>
        <p:nvPicPr>
          <p:cNvPr id="4198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8" y="3951288"/>
            <a:ext cx="884237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3"/>
          <p:cNvSpPr>
            <a:spLocks noChangeArrowheads="1"/>
          </p:cNvSpPr>
          <p:nvPr/>
        </p:nvSpPr>
        <p:spPr bwMode="auto">
          <a:xfrm>
            <a:off x="279400" y="3382963"/>
            <a:ext cx="3216275" cy="46196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dirty="0" smtClean="0">
                <a:sym typeface="Symbol" panose="05050102010706020507" pitchFamily="18" charset="2"/>
              </a:rPr>
              <a:t>  Step1A:        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 dirty="0" smtClean="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  <p:cxnSp>
        <p:nvCxnSpPr>
          <p:cNvPr id="41990" name="Straight Arrow Connector 16"/>
          <p:cNvCxnSpPr>
            <a:cxnSpLocks/>
          </p:cNvCxnSpPr>
          <p:nvPr/>
        </p:nvCxnSpPr>
        <p:spPr bwMode="auto">
          <a:xfrm>
            <a:off x="4378325" y="5057775"/>
            <a:ext cx="1295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1991" name="Rectangle 1"/>
          <p:cNvSpPr>
            <a:spLocks noChangeArrowheads="1"/>
          </p:cNvSpPr>
          <p:nvPr/>
        </p:nvSpPr>
        <p:spPr bwMode="auto">
          <a:xfrm>
            <a:off x="274638" y="1689100"/>
            <a:ext cx="8793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Lets Solve it using the example:</a:t>
            </a:r>
            <a:r>
              <a:rPr lang="en-US" altLang="en-US" sz="1800"/>
              <a:t> </a:t>
            </a:r>
            <a:r>
              <a:rPr lang="en-US" altLang="en-US" sz="1600"/>
              <a:t>Show Names of students who are registered in all course</a:t>
            </a:r>
            <a:r>
              <a:rPr lang="en-US" altLang="en-US" sz="160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41992" name="Rectangle 2"/>
          <p:cNvSpPr>
            <a:spLocks noChangeArrowheads="1"/>
          </p:cNvSpPr>
          <p:nvPr/>
        </p:nvSpPr>
        <p:spPr bwMode="auto">
          <a:xfrm>
            <a:off x="354013" y="2152650"/>
            <a:ext cx="74945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1: Compute that all the students are enrolled in all the courses</a:t>
            </a:r>
          </a:p>
        </p:txBody>
      </p:sp>
      <p:sp>
        <p:nvSpPr>
          <p:cNvPr id="41993" name="Rectangle 23"/>
          <p:cNvSpPr>
            <a:spLocks noChangeArrowheads="1"/>
          </p:cNvSpPr>
          <p:nvPr/>
        </p:nvSpPr>
        <p:spPr bwMode="auto">
          <a:xfrm>
            <a:off x="449263" y="2651125"/>
            <a:ext cx="7858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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= 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–</a:t>
            </a:r>
            <a:r>
              <a:rPr lang="en-US" altLang="en-US"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 (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x </a:t>
            </a:r>
            <a:r>
              <a:rPr lang="en-US" altLang="en-US" i="1">
                <a:solidFill>
                  <a:srgbClr val="FF0000"/>
                </a:solidFill>
              </a:rPr>
              <a:t>s</a:t>
            </a:r>
            <a:r>
              <a:rPr lang="en-US" altLang="en-US">
                <a:solidFill>
                  <a:srgbClr val="FF0000"/>
                </a:solidFill>
              </a:rPr>
              <a:t>)</a:t>
            </a:r>
            <a:r>
              <a:rPr lang="en-US" altLang="en-US"/>
              <a:t> – 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))</a:t>
            </a:r>
            <a:endParaRPr lang="en-US" altLang="en-US"/>
          </a:p>
        </p:txBody>
      </p:sp>
      <p:sp>
        <p:nvSpPr>
          <p:cNvPr id="2" name="Rectangle 1"/>
          <p:cNvSpPr/>
          <p:nvPr/>
        </p:nvSpPr>
        <p:spPr>
          <a:xfrm>
            <a:off x="6324600" y="3346450"/>
            <a:ext cx="1185863" cy="4619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18263" y="4044950"/>
          <a:ext cx="533400" cy="2224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4233318936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en-US" sz="1800" dirty="0">
                        <a:solidFill>
                          <a:schemeClr val="bg2"/>
                        </a:solidFill>
                      </a:endParaRP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2405277663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lang="en-US" sz="1800" i="1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740270783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β</a:t>
                      </a:r>
                      <a:endParaRPr lang="en-US" sz="1800" i="1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3339952846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γ</a:t>
                      </a:r>
                      <a:endParaRPr lang="en-US" sz="1800" i="1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3923382114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endParaRPr lang="en-US" sz="1800" i="1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298142672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ε</a:t>
                      </a:r>
                      <a:endParaRPr lang="en-US" sz="1800" i="1" dirty="0"/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384039863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-- Division Operation: step by step - 1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	</a:t>
            </a:r>
            <a:br>
              <a:rPr lang="en-US" altLang="en-US" sz="2000" smtClean="0">
                <a:sym typeface="Symbol" panose="05050102010706020507" pitchFamily="18" charset="2"/>
              </a:rPr>
            </a:br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	</a:t>
            </a:r>
            <a:endParaRPr lang="en-US" altLang="en-US" sz="18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smtClean="0"/>
          </a:p>
        </p:txBody>
      </p:sp>
      <p:sp>
        <p:nvSpPr>
          <p:cNvPr id="41989" name="Rectangle 3"/>
          <p:cNvSpPr>
            <a:spLocks noChangeArrowheads="1"/>
          </p:cNvSpPr>
          <p:nvPr/>
        </p:nvSpPr>
        <p:spPr bwMode="auto">
          <a:xfrm>
            <a:off x="279400" y="3382963"/>
            <a:ext cx="3695700" cy="46196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dirty="0" smtClean="0">
                <a:sym typeface="Symbol" panose="05050102010706020507" pitchFamily="18" charset="2"/>
              </a:rPr>
              <a:t> Step1B:         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 dirty="0" smtClean="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 dirty="0" smtClean="0">
                <a:solidFill>
                  <a:srgbClr val="FF0000"/>
                </a:solidFill>
              </a:rPr>
              <a:t> x </a:t>
            </a:r>
            <a:r>
              <a:rPr lang="en-US" altLang="en-US" i="1" dirty="0" smtClean="0">
                <a:solidFill>
                  <a:srgbClr val="FF0000"/>
                </a:solidFill>
              </a:rPr>
              <a:t>s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3878263"/>
            <a:ext cx="635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8" name="TextBox 14"/>
          <p:cNvSpPr txBox="1">
            <a:spLocks noChangeArrowheads="1"/>
          </p:cNvSpPr>
          <p:nvPr/>
        </p:nvSpPr>
        <p:spPr bwMode="auto">
          <a:xfrm>
            <a:off x="5673725" y="4140200"/>
            <a:ext cx="914400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,1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,1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,2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,2</a:t>
            </a:r>
          </a:p>
        </p:txBody>
      </p:sp>
      <p:cxnSp>
        <p:nvCxnSpPr>
          <p:cNvPr id="44039" name="Straight Arrow Connector 16"/>
          <p:cNvCxnSpPr>
            <a:cxnSpLocks/>
          </p:cNvCxnSpPr>
          <p:nvPr/>
        </p:nvCxnSpPr>
        <p:spPr bwMode="auto">
          <a:xfrm>
            <a:off x="4378325" y="5057775"/>
            <a:ext cx="1295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40" name="Rectangle 1"/>
          <p:cNvSpPr>
            <a:spLocks noChangeArrowheads="1"/>
          </p:cNvSpPr>
          <p:nvPr/>
        </p:nvSpPr>
        <p:spPr bwMode="auto">
          <a:xfrm>
            <a:off x="274638" y="1689100"/>
            <a:ext cx="8793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Lets Solve it using the example:</a:t>
            </a:r>
            <a:r>
              <a:rPr lang="en-US" altLang="en-US" sz="1800"/>
              <a:t> </a:t>
            </a:r>
            <a:r>
              <a:rPr lang="en-US" altLang="en-US" sz="1600"/>
              <a:t>Show Names of students who are registered in all course</a:t>
            </a:r>
            <a:r>
              <a:rPr lang="en-US" altLang="en-US" sz="160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44041" name="Rectangle 2"/>
          <p:cNvSpPr>
            <a:spLocks noChangeArrowheads="1"/>
          </p:cNvSpPr>
          <p:nvPr/>
        </p:nvSpPr>
        <p:spPr bwMode="auto">
          <a:xfrm>
            <a:off x="354013" y="2152650"/>
            <a:ext cx="74945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1: Compute that all the students are enrolled in all the courses</a:t>
            </a:r>
          </a:p>
        </p:txBody>
      </p:sp>
      <p:sp>
        <p:nvSpPr>
          <p:cNvPr id="44042" name="Rectangle 23"/>
          <p:cNvSpPr>
            <a:spLocks noChangeArrowheads="1"/>
          </p:cNvSpPr>
          <p:nvPr/>
        </p:nvSpPr>
        <p:spPr bwMode="auto">
          <a:xfrm>
            <a:off x="449263" y="2651125"/>
            <a:ext cx="7858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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= 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–</a:t>
            </a:r>
            <a:r>
              <a:rPr lang="en-US" altLang="en-US"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 (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x </a:t>
            </a:r>
            <a:r>
              <a:rPr lang="en-US" altLang="en-US" i="1">
                <a:solidFill>
                  <a:srgbClr val="FF0000"/>
                </a:solidFill>
              </a:rPr>
              <a:t>s</a:t>
            </a:r>
            <a:r>
              <a:rPr lang="en-US" altLang="en-US">
                <a:solidFill>
                  <a:srgbClr val="FF0000"/>
                </a:solidFill>
              </a:rPr>
              <a:t>)</a:t>
            </a:r>
            <a:r>
              <a:rPr lang="en-US" altLang="en-US"/>
              <a:t> – 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))</a:t>
            </a:r>
            <a:endParaRPr lang="en-US" alt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314575" y="3944938"/>
          <a:ext cx="533400" cy="222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4233318936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solidFill>
                            <a:schemeClr val="bg2"/>
                          </a:solidFill>
                        </a:rPr>
                        <a:t>A</a:t>
                      </a:r>
                      <a:endParaRPr lang="en-US" sz="1800" dirty="0">
                        <a:solidFill>
                          <a:schemeClr val="bg2"/>
                        </a:solidFill>
                      </a:endParaRP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40527766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α</a:t>
                      </a:r>
                      <a:endParaRPr lang="en-US" sz="1800" i="1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74027078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β</a:t>
                      </a:r>
                      <a:endParaRPr lang="en-US" sz="1800" i="1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3339952846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γ</a:t>
                      </a:r>
                      <a:endParaRPr lang="en-US" sz="1800" i="1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392338211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δ</a:t>
                      </a:r>
                      <a:endParaRPr lang="en-US" sz="1800" i="1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298142672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l-GR" sz="1800" b="0" i="1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ε</a:t>
                      </a:r>
                      <a:endParaRPr lang="en-US" sz="1800" i="1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384039863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1533525" y="6248400"/>
            <a:ext cx="1187450" cy="4619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-- Division Operation: step by step - 1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	</a:t>
            </a:r>
            <a:br>
              <a:rPr lang="en-US" altLang="en-US" sz="2000" smtClean="0">
                <a:sym typeface="Symbol" panose="05050102010706020507" pitchFamily="18" charset="2"/>
              </a:rPr>
            </a:br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	</a:t>
            </a:r>
            <a:endParaRPr lang="en-US" altLang="en-US" sz="18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smtClean="0"/>
          </a:p>
        </p:txBody>
      </p:sp>
      <p:pic>
        <p:nvPicPr>
          <p:cNvPr id="460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8" y="3951288"/>
            <a:ext cx="884237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Rectangle 3"/>
          <p:cNvSpPr>
            <a:spLocks noChangeArrowheads="1"/>
          </p:cNvSpPr>
          <p:nvPr/>
        </p:nvSpPr>
        <p:spPr bwMode="auto">
          <a:xfrm>
            <a:off x="279400" y="3382963"/>
            <a:ext cx="2774950" cy="461962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dirty="0" smtClean="0">
                <a:sym typeface="Symbol" panose="05050102010706020507" pitchFamily="18" charset="2"/>
              </a:rPr>
              <a:t> ---       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 dirty="0" smtClean="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 dirty="0" smtClean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 dirty="0" smtClean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 dirty="0" smtClean="0">
                <a:solidFill>
                  <a:srgbClr val="FF0000"/>
                </a:solidFill>
              </a:rPr>
              <a:t> x </a:t>
            </a:r>
            <a:r>
              <a:rPr lang="en-US" altLang="en-US" i="1" dirty="0" smtClean="0">
                <a:solidFill>
                  <a:srgbClr val="FF0000"/>
                </a:solidFill>
              </a:rPr>
              <a:t>s</a:t>
            </a:r>
            <a:endParaRPr lang="en-US" altLang="en-US" dirty="0" smtClean="0">
              <a:solidFill>
                <a:srgbClr val="FF0000"/>
              </a:solidFill>
            </a:endParaRPr>
          </a:p>
        </p:txBody>
      </p:sp>
      <p:pic>
        <p:nvPicPr>
          <p:cNvPr id="4608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675" y="3878263"/>
            <a:ext cx="635000" cy="157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7" name="TextBox 14"/>
          <p:cNvSpPr txBox="1">
            <a:spLocks noChangeArrowheads="1"/>
          </p:cNvSpPr>
          <p:nvPr/>
        </p:nvSpPr>
        <p:spPr bwMode="auto">
          <a:xfrm>
            <a:off x="5673725" y="4140200"/>
            <a:ext cx="914400" cy="230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,1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,1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,2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,2</a:t>
            </a:r>
          </a:p>
        </p:txBody>
      </p:sp>
      <p:cxnSp>
        <p:nvCxnSpPr>
          <p:cNvPr id="46088" name="Straight Arrow Connector 16"/>
          <p:cNvCxnSpPr>
            <a:cxnSpLocks/>
          </p:cNvCxnSpPr>
          <p:nvPr/>
        </p:nvCxnSpPr>
        <p:spPr bwMode="auto">
          <a:xfrm>
            <a:off x="4378325" y="5057775"/>
            <a:ext cx="1295400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6089" name="Rectangle 1"/>
          <p:cNvSpPr>
            <a:spLocks noChangeArrowheads="1"/>
          </p:cNvSpPr>
          <p:nvPr/>
        </p:nvSpPr>
        <p:spPr bwMode="auto">
          <a:xfrm>
            <a:off x="274638" y="1689100"/>
            <a:ext cx="87931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sym typeface="Symbol" panose="05050102010706020507" pitchFamily="18" charset="2"/>
              </a:rPr>
              <a:t>Lets Solve it using the example:</a:t>
            </a:r>
            <a:r>
              <a:rPr lang="en-US" altLang="en-US" sz="1800"/>
              <a:t> </a:t>
            </a:r>
            <a:r>
              <a:rPr lang="en-US" altLang="en-US" sz="1600"/>
              <a:t>Show Names of students who are registered in all course</a:t>
            </a:r>
            <a:r>
              <a:rPr lang="en-US" altLang="en-US" sz="1600">
                <a:solidFill>
                  <a:srgbClr val="FF0000"/>
                </a:solidFill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46090" name="Rectangle 2"/>
          <p:cNvSpPr>
            <a:spLocks noChangeArrowheads="1"/>
          </p:cNvSpPr>
          <p:nvPr/>
        </p:nvSpPr>
        <p:spPr bwMode="auto">
          <a:xfrm>
            <a:off x="354013" y="2152650"/>
            <a:ext cx="74945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1: Compute that all the students are enrolled in all the courses</a:t>
            </a:r>
          </a:p>
        </p:txBody>
      </p:sp>
      <p:sp>
        <p:nvSpPr>
          <p:cNvPr id="46091" name="Rectangle 23"/>
          <p:cNvSpPr>
            <a:spLocks noChangeArrowheads="1"/>
          </p:cNvSpPr>
          <p:nvPr/>
        </p:nvSpPr>
        <p:spPr bwMode="auto">
          <a:xfrm>
            <a:off x="449263" y="2651125"/>
            <a:ext cx="78581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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= 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–</a:t>
            </a:r>
            <a:r>
              <a:rPr lang="en-US" altLang="en-US"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 (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x </a:t>
            </a:r>
            <a:r>
              <a:rPr lang="en-US" altLang="en-US" i="1">
                <a:solidFill>
                  <a:srgbClr val="FF0000"/>
                </a:solidFill>
              </a:rPr>
              <a:t>s</a:t>
            </a:r>
            <a:r>
              <a:rPr lang="en-US" altLang="en-US">
                <a:solidFill>
                  <a:srgbClr val="FF0000"/>
                </a:solidFill>
              </a:rPr>
              <a:t>)</a:t>
            </a:r>
            <a:r>
              <a:rPr lang="en-US" altLang="en-US"/>
              <a:t> – 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))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33C7D-932D-4643-B969-64C834DC0BC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4813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F6B2A8-DE9C-4EDB-A3CC-7423B62F7273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 smtClean="0"/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-- Division Operation: step by step - 2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                     </a:t>
            </a:r>
            <a:br>
              <a:rPr lang="en-US" altLang="en-US" sz="2000" smtClean="0">
                <a:sym typeface="Symbol" panose="05050102010706020507" pitchFamily="18" charset="2"/>
              </a:rPr>
            </a:br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	</a:t>
            </a:r>
            <a:endParaRPr lang="en-US" altLang="en-US" sz="18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smtClean="0"/>
          </a:p>
        </p:txBody>
      </p:sp>
      <p:sp>
        <p:nvSpPr>
          <p:cNvPr id="48134" name="TextBox 7"/>
          <p:cNvSpPr txBox="1">
            <a:spLocks noChangeArrowheads="1"/>
          </p:cNvSpPr>
          <p:nvPr/>
        </p:nvSpPr>
        <p:spPr bwMode="auto">
          <a:xfrm>
            <a:off x="5057775" y="3481388"/>
            <a:ext cx="9144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,1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,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,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 2</a:t>
            </a:r>
          </a:p>
        </p:txBody>
      </p:sp>
      <p:sp>
        <p:nvSpPr>
          <p:cNvPr id="48135" name="Rectangle 2"/>
          <p:cNvSpPr>
            <a:spLocks noChangeArrowheads="1"/>
          </p:cNvSpPr>
          <p:nvPr/>
        </p:nvSpPr>
        <p:spPr bwMode="auto">
          <a:xfrm>
            <a:off x="5922963" y="4038600"/>
            <a:ext cx="3540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–</a:t>
            </a:r>
          </a:p>
        </p:txBody>
      </p:sp>
      <p:sp>
        <p:nvSpPr>
          <p:cNvPr id="48136" name="TextBox 9"/>
          <p:cNvSpPr txBox="1">
            <a:spLocks noChangeArrowheads="1"/>
          </p:cNvSpPr>
          <p:nvPr/>
        </p:nvSpPr>
        <p:spPr bwMode="auto">
          <a:xfrm>
            <a:off x="6100763" y="3335338"/>
            <a:ext cx="914400" cy="246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, 3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 1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,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 3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, 4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 6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, 1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i="1">
                <a:latin typeface="Helvetica" panose="020B0604020202020204" pitchFamily="34" charset="0"/>
                <a:sym typeface="Symbol" panose="05050102010706020507" pitchFamily="18" charset="2"/>
              </a:rPr>
              <a:t>, 2</a:t>
            </a:r>
          </a:p>
        </p:txBody>
      </p:sp>
      <p:sp>
        <p:nvSpPr>
          <p:cNvPr id="44041" name="TextBox 11"/>
          <p:cNvSpPr txBox="1">
            <a:spLocks noChangeArrowheads="1"/>
          </p:cNvSpPr>
          <p:nvPr/>
        </p:nvSpPr>
        <p:spPr bwMode="auto">
          <a:xfrm>
            <a:off x="7716838" y="3910013"/>
            <a:ext cx="914400" cy="954087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400" b="1" i="1" smtClean="0">
                <a:latin typeface="Helvetica" panose="020B0604020202020204" pitchFamily="34" charset="0"/>
                <a:sym typeface="Symbol" panose="05050102010706020507" pitchFamily="18" charset="2"/>
              </a:rPr>
              <a:t>,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400" b="1" i="1" smtClean="0">
                <a:latin typeface="Helvetica" panose="020B0604020202020204" pitchFamily="34" charset="0"/>
                <a:sym typeface="Symbol" panose="05050102010706020507" pitchFamily="18" charset="2"/>
              </a:rPr>
              <a:t>,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400" b="1" i="1" smtClean="0">
                <a:latin typeface="Helvetica" panose="020B0604020202020204" pitchFamily="34" charset="0"/>
                <a:sym typeface="Symbol" panose="05050102010706020507" pitchFamily="18" charset="2"/>
              </a:rPr>
              <a:t>, 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1400" b="1" i="1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8138" name="Rectangle 3"/>
          <p:cNvSpPr>
            <a:spLocks noChangeArrowheads="1"/>
          </p:cNvSpPr>
          <p:nvPr/>
        </p:nvSpPr>
        <p:spPr bwMode="auto">
          <a:xfrm>
            <a:off x="7159625" y="4037013"/>
            <a:ext cx="4095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</a:t>
            </a:r>
          </a:p>
        </p:txBody>
      </p:sp>
      <p:pic>
        <p:nvPicPr>
          <p:cNvPr id="4813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38" y="4076700"/>
            <a:ext cx="27400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40" name="Rectangle 15"/>
          <p:cNvSpPr>
            <a:spLocks noChangeArrowheads="1"/>
          </p:cNvSpPr>
          <p:nvPr/>
        </p:nvSpPr>
        <p:spPr bwMode="auto">
          <a:xfrm>
            <a:off x="107950" y="3614738"/>
            <a:ext cx="80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(1)</a:t>
            </a:r>
            <a:endParaRPr lang="en-US" altLang="en-US" b="1"/>
          </a:p>
        </p:txBody>
      </p:sp>
      <p:sp>
        <p:nvSpPr>
          <p:cNvPr id="48141" name="Rectangle 16"/>
          <p:cNvSpPr>
            <a:spLocks noChangeArrowheads="1"/>
          </p:cNvSpPr>
          <p:nvPr/>
        </p:nvSpPr>
        <p:spPr bwMode="auto">
          <a:xfrm>
            <a:off x="4479925" y="4157663"/>
            <a:ext cx="809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(2)</a:t>
            </a:r>
            <a:endParaRPr lang="en-US" altLang="en-US" b="1"/>
          </a:p>
        </p:txBody>
      </p:sp>
      <p:sp>
        <p:nvSpPr>
          <p:cNvPr id="48142" name="Rectangle 1"/>
          <p:cNvSpPr>
            <a:spLocks noChangeArrowheads="1"/>
          </p:cNvSpPr>
          <p:nvPr/>
        </p:nvSpPr>
        <p:spPr bwMode="auto">
          <a:xfrm>
            <a:off x="4017963" y="2155825"/>
            <a:ext cx="28003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(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x </a:t>
            </a:r>
            <a:r>
              <a:rPr lang="en-US" altLang="en-US" i="1"/>
              <a:t>s</a:t>
            </a:r>
            <a:r>
              <a:rPr lang="en-US" altLang="en-US"/>
              <a:t>) </a:t>
            </a:r>
            <a:r>
              <a:rPr lang="en-US" altLang="en-US">
                <a:solidFill>
                  <a:srgbClr val="FF0000"/>
                </a:solidFill>
              </a:rPr>
              <a:t>– 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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endParaRPr lang="en-US" altLang="en-US"/>
          </a:p>
        </p:txBody>
      </p:sp>
      <p:sp>
        <p:nvSpPr>
          <p:cNvPr id="48143" name="Rectangle 23"/>
          <p:cNvSpPr>
            <a:spLocks noChangeArrowheads="1"/>
          </p:cNvSpPr>
          <p:nvPr/>
        </p:nvSpPr>
        <p:spPr bwMode="auto">
          <a:xfrm>
            <a:off x="885825" y="1527175"/>
            <a:ext cx="78565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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= 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–</a:t>
            </a:r>
            <a:r>
              <a:rPr lang="en-US" altLang="en-US"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 (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x </a:t>
            </a:r>
            <a:r>
              <a:rPr lang="en-US" altLang="en-US" i="1"/>
              <a:t>s</a:t>
            </a:r>
            <a:r>
              <a:rPr lang="en-US" altLang="en-US"/>
              <a:t>) </a:t>
            </a:r>
            <a:r>
              <a:rPr lang="en-US" altLang="en-US">
                <a:solidFill>
                  <a:srgbClr val="FF0000"/>
                </a:solidFill>
              </a:rPr>
              <a:t>– </a:t>
            </a:r>
            <a:r>
              <a:rPr lang="en-US" altLang="en-US" b="1">
                <a:solidFill>
                  <a:srgbClr val="FF0000"/>
                </a:solidFill>
                <a:sym typeface="Symbol" panose="05050102010706020507" pitchFamily="18" charset="2"/>
              </a:rPr>
              <a:t>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endParaRPr lang="en-US" altLang="en-US"/>
          </a:p>
        </p:txBody>
      </p:sp>
      <p:sp>
        <p:nvSpPr>
          <p:cNvPr id="48144" name="Rectangle 15"/>
          <p:cNvSpPr>
            <a:spLocks noChangeArrowheads="1"/>
          </p:cNvSpPr>
          <p:nvPr/>
        </p:nvSpPr>
        <p:spPr bwMode="auto">
          <a:xfrm>
            <a:off x="214313" y="2695575"/>
            <a:ext cx="74945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2: Compute that “actually” which student is enrolled in which course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478713" y="5210175"/>
            <a:ext cx="1425575" cy="2762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/>
              <a:t>Disqualified tuples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14B396-0B27-4CF1-9B07-105031C5E585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4F6108-20EB-4575-B72B-12BB64195F3F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 smtClean="0"/>
          </a:p>
        </p:txBody>
      </p:sp>
      <p:sp>
        <p:nvSpPr>
          <p:cNvPr id="491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-- Division Operation: step by step - 3</a:t>
            </a:r>
          </a:p>
        </p:txBody>
      </p:sp>
      <p:sp>
        <p:nvSpPr>
          <p:cNvPr id="49157" name="Rectangle 2"/>
          <p:cNvSpPr>
            <a:spLocks noChangeArrowheads="1"/>
          </p:cNvSpPr>
          <p:nvPr/>
        </p:nvSpPr>
        <p:spPr bwMode="auto">
          <a:xfrm>
            <a:off x="1273175" y="2119313"/>
            <a:ext cx="7239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((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x </a:t>
            </a:r>
            <a:r>
              <a:rPr lang="en-US" altLang="en-US" i="1"/>
              <a:t>s</a:t>
            </a:r>
            <a:r>
              <a:rPr lang="en-US" altLang="en-US"/>
              <a:t>) – 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))</a:t>
            </a:r>
            <a:endParaRPr lang="en-US" altLang="en-US"/>
          </a:p>
        </p:txBody>
      </p:sp>
      <p:pic>
        <p:nvPicPr>
          <p:cNvPr id="4915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3" y="3462338"/>
            <a:ext cx="274002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9" name="Rectangle 9"/>
          <p:cNvSpPr>
            <a:spLocks noChangeArrowheads="1"/>
          </p:cNvSpPr>
          <p:nvPr/>
        </p:nvSpPr>
        <p:spPr bwMode="auto">
          <a:xfrm>
            <a:off x="214313" y="3416300"/>
            <a:ext cx="80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(1)</a:t>
            </a:r>
            <a:endParaRPr lang="en-US" altLang="en-US" b="1"/>
          </a:p>
        </p:txBody>
      </p:sp>
      <p:pic>
        <p:nvPicPr>
          <p:cNvPr id="4916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300" y="3416300"/>
            <a:ext cx="27686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61" name="Rectangle 12"/>
          <p:cNvSpPr>
            <a:spLocks noChangeArrowheads="1"/>
          </p:cNvSpPr>
          <p:nvPr/>
        </p:nvSpPr>
        <p:spPr bwMode="auto">
          <a:xfrm>
            <a:off x="4487863" y="3744913"/>
            <a:ext cx="80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(2)</a:t>
            </a:r>
            <a:endParaRPr lang="en-US" altLang="en-US" b="1"/>
          </a:p>
        </p:txBody>
      </p:sp>
      <p:sp>
        <p:nvSpPr>
          <p:cNvPr id="45066" name="TextBox 13"/>
          <p:cNvSpPr txBox="1">
            <a:spLocks noChangeArrowheads="1"/>
          </p:cNvSpPr>
          <p:nvPr/>
        </p:nvSpPr>
        <p:spPr bwMode="auto">
          <a:xfrm>
            <a:off x="5110163" y="5364163"/>
            <a:ext cx="914400" cy="1570037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b="1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b="1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b="1" i="1" dirty="0" smtClean="0">
                <a:latin typeface="Helvetica" panose="020B0604020202020204" pitchFamily="34" charset="0"/>
                <a:sym typeface="Symbol" panose="05050102010706020507" pitchFamily="18" charset="2"/>
              </a:rPr>
              <a:t>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b="1" i="1" dirty="0" smtClean="0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49163" name="Rectangle 14"/>
          <p:cNvSpPr>
            <a:spLocks noChangeArrowheads="1"/>
          </p:cNvSpPr>
          <p:nvPr/>
        </p:nvSpPr>
        <p:spPr bwMode="auto">
          <a:xfrm>
            <a:off x="4511675" y="5386388"/>
            <a:ext cx="80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(3)</a:t>
            </a:r>
            <a:endParaRPr lang="en-US" altLang="en-US" b="1"/>
          </a:p>
        </p:txBody>
      </p:sp>
      <p:sp>
        <p:nvSpPr>
          <p:cNvPr id="49164" name="Rectangle 23"/>
          <p:cNvSpPr>
            <a:spLocks noChangeArrowheads="1"/>
          </p:cNvSpPr>
          <p:nvPr/>
        </p:nvSpPr>
        <p:spPr bwMode="auto">
          <a:xfrm>
            <a:off x="965200" y="1557338"/>
            <a:ext cx="7854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  </a:t>
            </a:r>
            <a:r>
              <a:rPr lang="en-US" altLang="en-US" i="1">
                <a:sym typeface="Symbol" panose="05050102010706020507" pitchFamily="18" charset="2"/>
              </a:rPr>
              <a:t>s</a:t>
            </a:r>
            <a:r>
              <a:rPr lang="en-US" altLang="en-US">
                <a:sym typeface="Symbol" panose="05050102010706020507" pitchFamily="18" charset="2"/>
              </a:rPr>
              <a:t> = 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–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 (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x </a:t>
            </a:r>
            <a:r>
              <a:rPr lang="en-US" altLang="en-US" i="1"/>
              <a:t>s</a:t>
            </a:r>
            <a:r>
              <a:rPr lang="en-US" altLang="en-US"/>
              <a:t>) – 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))</a:t>
            </a:r>
            <a:endParaRPr lang="en-US" altLang="en-US"/>
          </a:p>
        </p:txBody>
      </p:sp>
      <p:sp>
        <p:nvSpPr>
          <p:cNvPr id="49165" name="Rectangle 12"/>
          <p:cNvSpPr>
            <a:spLocks noChangeArrowheads="1"/>
          </p:cNvSpPr>
          <p:nvPr/>
        </p:nvSpPr>
        <p:spPr bwMode="auto">
          <a:xfrm>
            <a:off x="214313" y="2695575"/>
            <a:ext cx="74945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3: Compute only course names i.e. get the only those columns which are in </a:t>
            </a:r>
            <a:r>
              <a:rPr lang="en-US" altLang="en-US" sz="1600" i="1"/>
              <a:t>R</a:t>
            </a:r>
            <a:r>
              <a:rPr lang="en-US" altLang="en-US" sz="1600"/>
              <a:t> but not in </a:t>
            </a:r>
            <a:r>
              <a:rPr lang="en-US" altLang="en-US" sz="1600" i="1"/>
              <a:t>S</a:t>
            </a:r>
            <a:r>
              <a:rPr lang="en-US" altLang="en-US" sz="1600"/>
              <a:t> from the obtained output of Step 2</a:t>
            </a:r>
          </a:p>
        </p:txBody>
      </p:sp>
      <p:sp>
        <p:nvSpPr>
          <p:cNvPr id="49166" name="Rectangle 1"/>
          <p:cNvSpPr>
            <a:spLocks noChangeArrowheads="1"/>
          </p:cNvSpPr>
          <p:nvPr/>
        </p:nvSpPr>
        <p:spPr bwMode="auto">
          <a:xfrm>
            <a:off x="6024563" y="5649913"/>
            <a:ext cx="319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ym typeface="Wingdings" panose="05000000000000000000" pitchFamily="2" charset="2"/>
              </a:rPr>
              <a:t>these are the students who are not registered in at least 1 course</a:t>
            </a:r>
            <a:endParaRPr lang="en-US" altLang="en-US" sz="1400"/>
          </a:p>
        </p:txBody>
      </p:sp>
      <p:sp>
        <p:nvSpPr>
          <p:cNvPr id="15" name="TextBox 14"/>
          <p:cNvSpPr txBox="1"/>
          <p:nvPr/>
        </p:nvSpPr>
        <p:spPr>
          <a:xfrm>
            <a:off x="7478713" y="5210175"/>
            <a:ext cx="1425575" cy="2762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1200" dirty="0"/>
              <a:t>Disqualified tuples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315FD6-0B84-4B56-9DC6-213362BB7FAC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01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01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9345DA-2E5C-4616-8978-A8796CDB3B3F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 smtClean="0"/>
          </a:p>
        </p:txBody>
      </p:sp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-- Division Operation: step by step - 4</a:t>
            </a:r>
          </a:p>
        </p:txBody>
      </p:sp>
      <p:sp>
        <p:nvSpPr>
          <p:cNvPr id="50182" name="Rectangle 2"/>
          <p:cNvSpPr>
            <a:spLocks noChangeArrowheads="1"/>
          </p:cNvSpPr>
          <p:nvPr/>
        </p:nvSpPr>
        <p:spPr bwMode="auto">
          <a:xfrm>
            <a:off x="1295400" y="1524000"/>
            <a:ext cx="800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  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 =</a:t>
            </a:r>
            <a:r>
              <a:rPr lang="en-US" altLang="en-US">
                <a:sym typeface="Symbol" panose="05050102010706020507" pitchFamily="18" charset="2"/>
              </a:rPr>
              <a:t> 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olidFill>
                  <a:srgbClr val="FF0000"/>
                </a:solidFill>
                <a:sym typeface="Symbol" panose="05050102010706020507" pitchFamily="18" charset="2"/>
              </a:rPr>
              <a:t>R-S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 (</a:t>
            </a:r>
            <a:r>
              <a:rPr lang="en-US" altLang="en-US" i="1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en-US">
                <a:solidFill>
                  <a:srgbClr val="FF0000"/>
                </a:solidFill>
              </a:rPr>
              <a:t> –</a:t>
            </a:r>
            <a:r>
              <a:rPr lang="en-US" altLang="en-US"/>
              <a:t> </a:t>
            </a:r>
            <a:r>
              <a:rPr lang="en-US" altLang="en-US">
                <a:sym typeface="Symbol" panose="05050102010706020507" pitchFamily="18" charset="2"/>
              </a:rPr>
              <a:t>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>
                <a:sym typeface="Symbol" panose="05050102010706020507" pitchFamily="18" charset="2"/>
              </a:rPr>
              <a:t> ((</a:t>
            </a:r>
            <a:r>
              <a:rPr lang="en-US" altLang="en-US" i="1" baseline="-25000">
                <a:sym typeface="Symbol" panose="05050102010706020507" pitchFamily="18" charset="2"/>
              </a:rPr>
              <a:t>R-S</a:t>
            </a:r>
            <a:r>
              <a:rPr lang="en-US" altLang="en-US" i="1">
                <a:sym typeface="Symbol" panose="05050102010706020507" pitchFamily="18" charset="2"/>
              </a:rPr>
              <a:t> 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</a:t>
            </a:r>
            <a:r>
              <a:rPr lang="en-US" altLang="en-US"/>
              <a:t> x </a:t>
            </a:r>
            <a:r>
              <a:rPr lang="en-US" altLang="en-US" i="1"/>
              <a:t>s</a:t>
            </a:r>
            <a:r>
              <a:rPr lang="en-US" altLang="en-US"/>
              <a:t>) – </a:t>
            </a: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lang="en-US" altLang="en-US">
                <a:sym typeface="Symbol" panose="05050102010706020507" pitchFamily="18" charset="2"/>
              </a:rPr>
              <a:t>(</a:t>
            </a:r>
            <a:r>
              <a:rPr lang="en-US" altLang="en-US" i="1">
                <a:sym typeface="Symbol" panose="05050102010706020507" pitchFamily="18" charset="2"/>
              </a:rPr>
              <a:t>r</a:t>
            </a:r>
            <a:r>
              <a:rPr lang="en-US" altLang="en-US">
                <a:sym typeface="Symbol" panose="05050102010706020507" pitchFamily="18" charset="2"/>
              </a:rPr>
              <a:t>))</a:t>
            </a:r>
            <a:endParaRPr lang="en-US" altLang="en-US"/>
          </a:p>
        </p:txBody>
      </p:sp>
      <p:sp>
        <p:nvSpPr>
          <p:cNvPr id="50183" name="TextBox 10"/>
          <p:cNvSpPr txBox="1">
            <a:spLocks noChangeArrowheads="1"/>
          </p:cNvSpPr>
          <p:nvPr/>
        </p:nvSpPr>
        <p:spPr bwMode="auto">
          <a:xfrm>
            <a:off x="4110038" y="4919663"/>
            <a:ext cx="9144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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184" name="Rectangle 11"/>
          <p:cNvSpPr>
            <a:spLocks noChangeArrowheads="1"/>
          </p:cNvSpPr>
          <p:nvPr/>
        </p:nvSpPr>
        <p:spPr bwMode="auto">
          <a:xfrm>
            <a:off x="2438400" y="5210175"/>
            <a:ext cx="809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(4)</a:t>
            </a:r>
            <a:endParaRPr lang="en-US" altLang="en-US" b="1"/>
          </a:p>
        </p:txBody>
      </p:sp>
      <p:sp>
        <p:nvSpPr>
          <p:cNvPr id="50185" name="Rectangle 5"/>
          <p:cNvSpPr>
            <a:spLocks noChangeArrowheads="1"/>
          </p:cNvSpPr>
          <p:nvPr/>
        </p:nvSpPr>
        <p:spPr bwMode="auto">
          <a:xfrm>
            <a:off x="3683000" y="5332413"/>
            <a:ext cx="3524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–</a:t>
            </a:r>
          </a:p>
        </p:txBody>
      </p:sp>
      <p:sp>
        <p:nvSpPr>
          <p:cNvPr id="50186" name="TextBox 14"/>
          <p:cNvSpPr txBox="1">
            <a:spLocks noChangeArrowheads="1"/>
          </p:cNvSpPr>
          <p:nvPr/>
        </p:nvSpPr>
        <p:spPr bwMode="auto">
          <a:xfrm>
            <a:off x="2867025" y="4683125"/>
            <a:ext cx="9144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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</a:t>
            </a:r>
          </a:p>
        </p:txBody>
      </p:sp>
      <p:sp>
        <p:nvSpPr>
          <p:cNvPr id="50187" name="Rectangle 6"/>
          <p:cNvSpPr>
            <a:spLocks noChangeArrowheads="1"/>
          </p:cNvSpPr>
          <p:nvPr/>
        </p:nvSpPr>
        <p:spPr bwMode="auto">
          <a:xfrm>
            <a:off x="5221288" y="5327650"/>
            <a:ext cx="4079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=</a:t>
            </a:r>
          </a:p>
        </p:txBody>
      </p:sp>
      <p:grpSp>
        <p:nvGrpSpPr>
          <p:cNvPr id="50188" name="Group 1"/>
          <p:cNvGrpSpPr>
            <a:grpSpLocks/>
          </p:cNvGrpSpPr>
          <p:nvPr/>
        </p:nvGrpSpPr>
        <p:grpSpPr bwMode="auto">
          <a:xfrm>
            <a:off x="0" y="2854325"/>
            <a:ext cx="3282950" cy="1828800"/>
            <a:chOff x="252413" y="2005013"/>
            <a:chExt cx="3282950" cy="1828800"/>
          </a:xfrm>
        </p:grpSpPr>
        <p:pic>
          <p:nvPicPr>
            <p:cNvPr id="50196" name="Picture 1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5338" y="2005013"/>
              <a:ext cx="2740025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97" name="Rectangle 18"/>
            <p:cNvSpPr>
              <a:spLocks noChangeArrowheads="1"/>
            </p:cNvSpPr>
            <p:nvPr/>
          </p:nvSpPr>
          <p:spPr bwMode="auto">
            <a:xfrm>
              <a:off x="252413" y="2530475"/>
              <a:ext cx="8096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b="1">
                  <a:sym typeface="Symbol" panose="05050102010706020507" pitchFamily="18" charset="2"/>
                </a:rPr>
                <a:t>(1)</a:t>
              </a:r>
              <a:endParaRPr lang="en-US" altLang="en-US" b="1"/>
            </a:p>
          </p:txBody>
        </p:sp>
      </p:grpSp>
      <p:pic>
        <p:nvPicPr>
          <p:cNvPr id="50189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700" y="2882900"/>
            <a:ext cx="27686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0" name="Rectangle 20"/>
          <p:cNvSpPr>
            <a:spLocks noChangeArrowheads="1"/>
          </p:cNvSpPr>
          <p:nvPr/>
        </p:nvSpPr>
        <p:spPr bwMode="auto">
          <a:xfrm>
            <a:off x="3313113" y="3135313"/>
            <a:ext cx="80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(2)</a:t>
            </a:r>
            <a:endParaRPr lang="en-US" altLang="en-US" b="1"/>
          </a:p>
        </p:txBody>
      </p:sp>
      <p:sp>
        <p:nvSpPr>
          <p:cNvPr id="50191" name="TextBox 21"/>
          <p:cNvSpPr txBox="1">
            <a:spLocks noChangeArrowheads="1"/>
          </p:cNvSpPr>
          <p:nvPr/>
        </p:nvSpPr>
        <p:spPr bwMode="auto">
          <a:xfrm>
            <a:off x="7834313" y="3194050"/>
            <a:ext cx="914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>
                <a:latin typeface="Helvetica" panose="020B0604020202020204" pitchFamily="34" charset="0"/>
                <a:sym typeface="Symbol" panose="05050102010706020507" pitchFamily="18" charset="2"/>
              </a:rPr>
              <a:t>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0192" name="Rectangle 22"/>
          <p:cNvSpPr>
            <a:spLocks noChangeArrowheads="1"/>
          </p:cNvSpPr>
          <p:nvPr/>
        </p:nvSpPr>
        <p:spPr bwMode="auto">
          <a:xfrm>
            <a:off x="7354888" y="3509963"/>
            <a:ext cx="809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sym typeface="Symbol" panose="05050102010706020507" pitchFamily="18" charset="2"/>
              </a:rPr>
              <a:t>(3)</a:t>
            </a:r>
            <a:endParaRPr lang="en-US" altLang="en-US" b="1"/>
          </a:p>
        </p:txBody>
      </p:sp>
      <p:sp>
        <p:nvSpPr>
          <p:cNvPr id="50193" name="Rectangle 5"/>
          <p:cNvSpPr>
            <a:spLocks noChangeArrowheads="1"/>
          </p:cNvSpPr>
          <p:nvPr/>
        </p:nvSpPr>
        <p:spPr bwMode="auto">
          <a:xfrm>
            <a:off x="5854700" y="4843463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0194" name="Rectangle 7"/>
          <p:cNvSpPr>
            <a:spLocks noChangeArrowheads="1"/>
          </p:cNvSpPr>
          <p:nvPr/>
        </p:nvSpPr>
        <p:spPr bwMode="auto">
          <a:xfrm>
            <a:off x="5854700" y="5362575"/>
            <a:ext cx="457200" cy="85248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0195" name="Rectangle 20"/>
          <p:cNvSpPr>
            <a:spLocks noChangeArrowheads="1"/>
          </p:cNvSpPr>
          <p:nvPr/>
        </p:nvSpPr>
        <p:spPr bwMode="auto">
          <a:xfrm>
            <a:off x="203200" y="2260600"/>
            <a:ext cx="77978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Step 4: Distinguish those students against the ones computed in previous step i.e. those are not registered in at-least 1 course  (total students – those of step 3)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673CED-B039-4383-B5F2-F92A0AC977C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1203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16263" y="5830888"/>
            <a:ext cx="28956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120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231063" y="5830888"/>
            <a:ext cx="1905000" cy="381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90713B-7617-4EF6-A610-38E8BFA1A72B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 smtClean="0"/>
          </a:p>
        </p:txBody>
      </p:sp>
      <p:sp>
        <p:nvSpPr>
          <p:cNvPr id="5120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--- Division Operations: Example 2</a:t>
            </a:r>
          </a:p>
        </p:txBody>
      </p:sp>
      <p:sp>
        <p:nvSpPr>
          <p:cNvPr id="51206" name="Rectangle 3"/>
          <p:cNvSpPr>
            <a:spLocks noChangeArrowheads="1"/>
          </p:cNvSpPr>
          <p:nvPr/>
        </p:nvSpPr>
        <p:spPr bwMode="auto">
          <a:xfrm>
            <a:off x="6858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11430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6858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1209" name="Rectangle 6"/>
          <p:cNvSpPr>
            <a:spLocks noChangeArrowheads="1"/>
          </p:cNvSpPr>
          <p:nvPr/>
        </p:nvSpPr>
        <p:spPr bwMode="auto">
          <a:xfrm>
            <a:off x="11430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  <a:endParaRPr lang="en-US" altLang="en-US" sz="1800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1210" name="Rectangle 7"/>
          <p:cNvSpPr>
            <a:spLocks noChangeArrowheads="1"/>
          </p:cNvSpPr>
          <p:nvPr/>
        </p:nvSpPr>
        <p:spPr bwMode="auto">
          <a:xfrm>
            <a:off x="16002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1211" name="Rectangle 8"/>
          <p:cNvSpPr>
            <a:spLocks noChangeArrowheads="1"/>
          </p:cNvSpPr>
          <p:nvPr/>
        </p:nvSpPr>
        <p:spPr bwMode="auto">
          <a:xfrm>
            <a:off x="20574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51212" name="Rectangle 9"/>
          <p:cNvSpPr>
            <a:spLocks noChangeArrowheads="1"/>
          </p:cNvSpPr>
          <p:nvPr/>
        </p:nvSpPr>
        <p:spPr bwMode="auto">
          <a:xfrm>
            <a:off x="16002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1213" name="Rectangle 10"/>
          <p:cNvSpPr>
            <a:spLocks noChangeArrowheads="1"/>
          </p:cNvSpPr>
          <p:nvPr/>
        </p:nvSpPr>
        <p:spPr bwMode="auto">
          <a:xfrm>
            <a:off x="20574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en-US" sz="1800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1214" name="Rectangle 11"/>
          <p:cNvSpPr>
            <a:spLocks noChangeArrowheads="1"/>
          </p:cNvSpPr>
          <p:nvPr/>
        </p:nvSpPr>
        <p:spPr bwMode="auto">
          <a:xfrm>
            <a:off x="25146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51215" name="Rectangle 12"/>
          <p:cNvSpPr>
            <a:spLocks noChangeArrowheads="1"/>
          </p:cNvSpPr>
          <p:nvPr/>
        </p:nvSpPr>
        <p:spPr bwMode="auto">
          <a:xfrm>
            <a:off x="25146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1216" name="Rectangle 14"/>
          <p:cNvSpPr>
            <a:spLocks noChangeArrowheads="1"/>
          </p:cNvSpPr>
          <p:nvPr/>
        </p:nvSpPr>
        <p:spPr bwMode="auto">
          <a:xfrm>
            <a:off x="4564063" y="2020888"/>
            <a:ext cx="152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kumimoji="1" lang="en-US" altLang="en-US"/>
              <a:t> (</a:t>
            </a:r>
            <a:r>
              <a:rPr kumimoji="1" lang="en-US" altLang="en-US" sz="2800" b="1" i="1">
                <a:latin typeface="Helvetica" panose="020B0604020202020204" pitchFamily="34" charset="0"/>
              </a:rPr>
              <a:t>r</a:t>
            </a:r>
            <a:r>
              <a:rPr kumimoji="1" lang="en-US" altLang="en-US" sz="2800" b="1">
                <a:latin typeface="Helvetica" panose="020B0604020202020204" pitchFamily="34" charset="0"/>
              </a:rPr>
              <a:t> </a:t>
            </a:r>
            <a:r>
              <a:rPr kumimoji="1"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 </a:t>
            </a:r>
            <a:r>
              <a:rPr kumimoji="1" lang="en-US" altLang="en-US" sz="2800" b="1" i="1">
                <a:latin typeface="Helvetica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en-US" sz="2800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1217" name="Rectangle 15"/>
          <p:cNvSpPr>
            <a:spLocks noChangeArrowheads="1"/>
          </p:cNvSpPr>
          <p:nvPr/>
        </p:nvSpPr>
        <p:spPr bwMode="auto">
          <a:xfrm>
            <a:off x="3497263" y="16398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51218" name="Rectangle 16"/>
          <p:cNvSpPr>
            <a:spLocks noChangeArrowheads="1"/>
          </p:cNvSpPr>
          <p:nvPr/>
        </p:nvSpPr>
        <p:spPr bwMode="auto">
          <a:xfrm>
            <a:off x="3497263" y="2249488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en-US" sz="1800" b="1" i="1">
              <a:solidFill>
                <a:schemeClr val="folHlink"/>
              </a:solidFill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1219" name="Rectangle 17"/>
          <p:cNvSpPr>
            <a:spLocks noChangeArrowheads="1"/>
          </p:cNvSpPr>
          <p:nvPr/>
        </p:nvSpPr>
        <p:spPr bwMode="auto">
          <a:xfrm>
            <a:off x="3954463" y="16398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51220" name="Rectangle 18"/>
          <p:cNvSpPr>
            <a:spLocks noChangeArrowheads="1"/>
          </p:cNvSpPr>
          <p:nvPr/>
        </p:nvSpPr>
        <p:spPr bwMode="auto">
          <a:xfrm>
            <a:off x="3954463" y="2249488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1221" name="Rectangle 19"/>
          <p:cNvSpPr>
            <a:spLocks noChangeArrowheads="1"/>
          </p:cNvSpPr>
          <p:nvPr/>
        </p:nvSpPr>
        <p:spPr bwMode="auto">
          <a:xfrm>
            <a:off x="6621463" y="16398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1222" name="Rectangle 20"/>
          <p:cNvSpPr>
            <a:spLocks noChangeArrowheads="1"/>
          </p:cNvSpPr>
          <p:nvPr/>
        </p:nvSpPr>
        <p:spPr bwMode="auto">
          <a:xfrm>
            <a:off x="7078663" y="16398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51223" name="Rectangle 21"/>
          <p:cNvSpPr>
            <a:spLocks noChangeArrowheads="1"/>
          </p:cNvSpPr>
          <p:nvPr/>
        </p:nvSpPr>
        <p:spPr bwMode="auto">
          <a:xfrm>
            <a:off x="6621463" y="2249488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1224" name="Rectangle 22"/>
          <p:cNvSpPr>
            <a:spLocks noChangeArrowheads="1"/>
          </p:cNvSpPr>
          <p:nvPr/>
        </p:nvSpPr>
        <p:spPr bwMode="auto">
          <a:xfrm>
            <a:off x="7078663" y="2249488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  <a:endParaRPr lang="en-US" altLang="en-US" sz="1800" b="1" i="1">
              <a:solidFill>
                <a:schemeClr val="hlink"/>
              </a:solidFill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1225" name="Rectangle 23"/>
          <p:cNvSpPr>
            <a:spLocks noChangeArrowheads="1"/>
          </p:cNvSpPr>
          <p:nvPr/>
        </p:nvSpPr>
        <p:spPr bwMode="auto">
          <a:xfrm>
            <a:off x="7535863" y="16398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1226" name="Rectangle 24"/>
          <p:cNvSpPr>
            <a:spLocks noChangeArrowheads="1"/>
          </p:cNvSpPr>
          <p:nvPr/>
        </p:nvSpPr>
        <p:spPr bwMode="auto">
          <a:xfrm>
            <a:off x="7535863" y="2249488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1227" name="Text Box 25"/>
          <p:cNvSpPr txBox="1">
            <a:spLocks noChangeArrowheads="1"/>
          </p:cNvSpPr>
          <p:nvPr/>
        </p:nvSpPr>
        <p:spPr bwMode="auto">
          <a:xfrm>
            <a:off x="1570038" y="496728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51228" name="Text Box 26"/>
          <p:cNvSpPr txBox="1">
            <a:spLocks noChangeArrowheads="1"/>
          </p:cNvSpPr>
          <p:nvPr/>
        </p:nvSpPr>
        <p:spPr bwMode="auto">
          <a:xfrm>
            <a:off x="3760788" y="2720975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51229" name="Line 27"/>
          <p:cNvSpPr>
            <a:spLocks noChangeShapeType="1"/>
          </p:cNvSpPr>
          <p:nvPr/>
        </p:nvSpPr>
        <p:spPr bwMode="auto">
          <a:xfrm>
            <a:off x="6088063" y="232568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1230" name="TextBox 29"/>
          <p:cNvSpPr txBox="1">
            <a:spLocks noChangeArrowheads="1"/>
          </p:cNvSpPr>
          <p:nvPr/>
        </p:nvSpPr>
        <p:spPr bwMode="auto">
          <a:xfrm>
            <a:off x="3116263" y="3316288"/>
            <a:ext cx="6019800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List of departments (deptno) that contains job titles for all Clerk, Salesman, Manager (scott.emp Schema).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Output: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Deptno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-------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30</a:t>
            </a:r>
          </a:p>
        </p:txBody>
      </p:sp>
      <p:sp>
        <p:nvSpPr>
          <p:cNvPr id="51231" name="Rectangle 30"/>
          <p:cNvSpPr>
            <a:spLocks noChangeArrowheads="1"/>
          </p:cNvSpPr>
          <p:nvPr/>
        </p:nvSpPr>
        <p:spPr bwMode="auto">
          <a:xfrm>
            <a:off x="1703388" y="6292850"/>
            <a:ext cx="6870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ym typeface="Symbol" panose="05050102010706020507" pitchFamily="18" charset="2"/>
              </a:rPr>
              <a:t>r </a:t>
            </a:r>
            <a:r>
              <a:rPr lang="en-US" altLang="en-US" sz="1800">
                <a:sym typeface="Symbol" panose="05050102010706020507" pitchFamily="18" charset="2"/>
              </a:rPr>
              <a:t> </a:t>
            </a:r>
            <a:r>
              <a:rPr lang="en-US" altLang="en-US" sz="1800" i="1">
                <a:sym typeface="Symbol" panose="05050102010706020507" pitchFamily="18" charset="2"/>
              </a:rPr>
              <a:t>s</a:t>
            </a:r>
            <a:r>
              <a:rPr lang="en-US" altLang="en-US" sz="1800">
                <a:sym typeface="Symbol" panose="05050102010706020507" pitchFamily="18" charset="2"/>
              </a:rPr>
              <a:t> = { </a:t>
            </a:r>
            <a:r>
              <a:rPr lang="en-US" altLang="en-US" sz="1800" i="1">
                <a:sym typeface="Symbol" panose="05050102010706020507" pitchFamily="18" charset="2"/>
              </a:rPr>
              <a:t>t</a:t>
            </a:r>
            <a:r>
              <a:rPr lang="en-US" altLang="en-US" sz="1800">
                <a:sym typeface="Symbol" panose="05050102010706020507" pitchFamily="18" charset="2"/>
              </a:rPr>
              <a:t>  |  </a:t>
            </a:r>
            <a:r>
              <a:rPr lang="en-US" altLang="en-US" sz="1800" i="1">
                <a:sym typeface="Symbol" panose="05050102010706020507" pitchFamily="18" charset="2"/>
              </a:rPr>
              <a:t>t </a:t>
            </a:r>
            <a:r>
              <a:rPr lang="en-US" altLang="en-US" sz="1800">
                <a:sym typeface="Symbol" panose="05050102010706020507" pitchFamily="18" charset="2"/>
              </a:rPr>
              <a:t>  </a:t>
            </a:r>
            <a:r>
              <a:rPr lang="en-US" altLang="en-US" sz="1800" i="1" baseline="-25000">
                <a:sym typeface="Symbol" panose="05050102010706020507" pitchFamily="18" charset="2"/>
              </a:rPr>
              <a:t>R-S</a:t>
            </a:r>
            <a:r>
              <a:rPr lang="en-US" altLang="en-US" sz="1800">
                <a:sym typeface="Symbol" panose="05050102010706020507" pitchFamily="18" charset="2"/>
              </a:rPr>
              <a:t>(</a:t>
            </a:r>
            <a:r>
              <a:rPr lang="en-US" altLang="en-US" sz="1800" i="1">
                <a:sym typeface="Symbol" panose="05050102010706020507" pitchFamily="18" charset="2"/>
              </a:rPr>
              <a:t>r</a:t>
            </a:r>
            <a:r>
              <a:rPr lang="en-US" altLang="en-US" sz="1800">
                <a:sym typeface="Symbol" panose="05050102010706020507" pitchFamily="18" charset="2"/>
              </a:rPr>
              <a:t>)   </a:t>
            </a:r>
            <a:r>
              <a:rPr lang="en-US" altLang="en-US" sz="1800" i="1">
                <a:sym typeface="Symbol" panose="05050102010706020507" pitchFamily="18" charset="2"/>
              </a:rPr>
              <a:t>u </a:t>
            </a:r>
            <a:r>
              <a:rPr lang="en-US" altLang="en-US" sz="1800">
                <a:sym typeface="Symbol" panose="05050102010706020507" pitchFamily="18" charset="2"/>
              </a:rPr>
              <a:t> </a:t>
            </a:r>
            <a:r>
              <a:rPr lang="en-US" altLang="en-US" sz="1800" i="1">
                <a:sym typeface="Symbol" panose="05050102010706020507" pitchFamily="18" charset="2"/>
              </a:rPr>
              <a:t>s </a:t>
            </a:r>
            <a:r>
              <a:rPr lang="en-US" altLang="en-US" sz="1800">
                <a:sym typeface="Symbol" panose="05050102010706020507" pitchFamily="18" charset="2"/>
              </a:rPr>
              <a:t>( </a:t>
            </a:r>
            <a:r>
              <a:rPr lang="en-US" altLang="en-US" sz="1800" i="1">
                <a:sym typeface="Symbol" panose="05050102010706020507" pitchFamily="18" charset="2"/>
              </a:rPr>
              <a:t>tu</a:t>
            </a:r>
            <a:r>
              <a:rPr lang="en-US" altLang="en-US" sz="1800">
                <a:sym typeface="Symbol" panose="05050102010706020507" pitchFamily="18" charset="2"/>
              </a:rPr>
              <a:t> </a:t>
            </a:r>
            <a:r>
              <a:rPr lang="en-US" altLang="en-US" sz="1800" i="1">
                <a:sym typeface="Symbol" panose="05050102010706020507" pitchFamily="18" charset="2"/>
              </a:rPr>
              <a:t> r </a:t>
            </a:r>
            <a:r>
              <a:rPr lang="en-US" altLang="en-US" sz="1800">
                <a:sym typeface="Symbol" panose="05050102010706020507" pitchFamily="18" charset="2"/>
              </a:rPr>
              <a:t>) } </a:t>
            </a: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DBBEA7-77EC-4C33-ACAC-4E049020E031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222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222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C5FAD8B-9A70-4F03-BC65-34C0D4712AF8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200" smtClean="0"/>
          </a:p>
        </p:txBody>
      </p:sp>
      <p:sp>
        <p:nvSpPr>
          <p:cNvPr id="52229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609600"/>
            <a:ext cx="7793038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--- Division Operations: Example 2</a:t>
            </a:r>
          </a:p>
        </p:txBody>
      </p:sp>
      <p:sp>
        <p:nvSpPr>
          <p:cNvPr id="52230" name="Rectangle 3"/>
          <p:cNvSpPr>
            <a:spLocks noChangeArrowheads="1"/>
          </p:cNvSpPr>
          <p:nvPr/>
        </p:nvSpPr>
        <p:spPr bwMode="auto">
          <a:xfrm>
            <a:off x="6858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11430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52232" name="Rectangle 5"/>
          <p:cNvSpPr>
            <a:spLocks noChangeArrowheads="1"/>
          </p:cNvSpPr>
          <p:nvPr/>
        </p:nvSpPr>
        <p:spPr bwMode="auto">
          <a:xfrm>
            <a:off x="6858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2233" name="Rectangle 6"/>
          <p:cNvSpPr>
            <a:spLocks noChangeArrowheads="1"/>
          </p:cNvSpPr>
          <p:nvPr/>
        </p:nvSpPr>
        <p:spPr bwMode="auto">
          <a:xfrm>
            <a:off x="11430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  <a:endParaRPr lang="en-US" altLang="en-US" sz="1800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234" name="Rectangle 7"/>
          <p:cNvSpPr>
            <a:spLocks noChangeArrowheads="1"/>
          </p:cNvSpPr>
          <p:nvPr/>
        </p:nvSpPr>
        <p:spPr bwMode="auto">
          <a:xfrm>
            <a:off x="16002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2235" name="Rectangle 8"/>
          <p:cNvSpPr>
            <a:spLocks noChangeArrowheads="1"/>
          </p:cNvSpPr>
          <p:nvPr/>
        </p:nvSpPr>
        <p:spPr bwMode="auto">
          <a:xfrm>
            <a:off x="20574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52236" name="Rectangle 9"/>
          <p:cNvSpPr>
            <a:spLocks noChangeArrowheads="1"/>
          </p:cNvSpPr>
          <p:nvPr/>
        </p:nvSpPr>
        <p:spPr bwMode="auto">
          <a:xfrm>
            <a:off x="16002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2237" name="Rectangle 10"/>
          <p:cNvSpPr>
            <a:spLocks noChangeArrowheads="1"/>
          </p:cNvSpPr>
          <p:nvPr/>
        </p:nvSpPr>
        <p:spPr bwMode="auto">
          <a:xfrm>
            <a:off x="20574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en-US" sz="1800" b="1" i="1"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238" name="Rectangle 11"/>
          <p:cNvSpPr>
            <a:spLocks noChangeArrowheads="1"/>
          </p:cNvSpPr>
          <p:nvPr/>
        </p:nvSpPr>
        <p:spPr bwMode="auto">
          <a:xfrm>
            <a:off x="2514600" y="22113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52239" name="Rectangle 12"/>
          <p:cNvSpPr>
            <a:spLocks noChangeArrowheads="1"/>
          </p:cNvSpPr>
          <p:nvPr/>
        </p:nvSpPr>
        <p:spPr bwMode="auto">
          <a:xfrm>
            <a:off x="2514600" y="2820988"/>
            <a:ext cx="457200" cy="2209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2240" name="Rectangle 14"/>
          <p:cNvSpPr>
            <a:spLocks noChangeArrowheads="1"/>
          </p:cNvSpPr>
          <p:nvPr/>
        </p:nvSpPr>
        <p:spPr bwMode="auto">
          <a:xfrm>
            <a:off x="4572000" y="2667000"/>
            <a:ext cx="152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kumimoji="1" lang="en-US" altLang="en-US"/>
              <a:t> (</a:t>
            </a:r>
            <a:r>
              <a:rPr kumimoji="1" lang="en-US" altLang="en-US" sz="2800" b="1" i="1">
                <a:latin typeface="Helvetica" panose="020B0604020202020204" pitchFamily="34" charset="0"/>
              </a:rPr>
              <a:t>r</a:t>
            </a:r>
            <a:r>
              <a:rPr kumimoji="1" lang="en-US" altLang="en-US" sz="2800" b="1">
                <a:latin typeface="Helvetica" panose="020B0604020202020204" pitchFamily="34" charset="0"/>
              </a:rPr>
              <a:t> </a:t>
            </a:r>
            <a:r>
              <a:rPr kumimoji="1"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 </a:t>
            </a:r>
            <a:r>
              <a:rPr kumimoji="1" lang="en-US" altLang="en-US" sz="2800" b="1" i="1">
                <a:latin typeface="Helvetica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en-US" sz="2800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2241" name="Rectangle 15"/>
          <p:cNvSpPr>
            <a:spLocks noChangeArrowheads="1"/>
          </p:cNvSpPr>
          <p:nvPr/>
        </p:nvSpPr>
        <p:spPr bwMode="auto">
          <a:xfrm>
            <a:off x="3505200" y="22860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52242" name="Rectangle 16"/>
          <p:cNvSpPr>
            <a:spLocks noChangeArrowheads="1"/>
          </p:cNvSpPr>
          <p:nvPr/>
        </p:nvSpPr>
        <p:spPr bwMode="auto">
          <a:xfrm>
            <a:off x="3505200" y="28956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  <a:endParaRPr lang="en-US" altLang="en-US" sz="1800" b="1" i="1">
              <a:solidFill>
                <a:schemeClr val="folHlink"/>
              </a:solidFill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243" name="Rectangle 17"/>
          <p:cNvSpPr>
            <a:spLocks noChangeArrowheads="1"/>
          </p:cNvSpPr>
          <p:nvPr/>
        </p:nvSpPr>
        <p:spPr bwMode="auto">
          <a:xfrm>
            <a:off x="3962400" y="22860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52244" name="Rectangle 18"/>
          <p:cNvSpPr>
            <a:spLocks noChangeArrowheads="1"/>
          </p:cNvSpPr>
          <p:nvPr/>
        </p:nvSpPr>
        <p:spPr bwMode="auto">
          <a:xfrm>
            <a:off x="3962400" y="2895600"/>
            <a:ext cx="4572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52245" name="Rectangle 19"/>
          <p:cNvSpPr>
            <a:spLocks noChangeArrowheads="1"/>
          </p:cNvSpPr>
          <p:nvPr/>
        </p:nvSpPr>
        <p:spPr bwMode="auto">
          <a:xfrm>
            <a:off x="6629400" y="22860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2246" name="Rectangle 20"/>
          <p:cNvSpPr>
            <a:spLocks noChangeArrowheads="1"/>
          </p:cNvSpPr>
          <p:nvPr/>
        </p:nvSpPr>
        <p:spPr bwMode="auto">
          <a:xfrm>
            <a:off x="7086600" y="22860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52247" name="Rectangle 21"/>
          <p:cNvSpPr>
            <a:spLocks noChangeArrowheads="1"/>
          </p:cNvSpPr>
          <p:nvPr/>
        </p:nvSpPr>
        <p:spPr bwMode="auto">
          <a:xfrm>
            <a:off x="6629400" y="28956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2248" name="Rectangle 22"/>
          <p:cNvSpPr>
            <a:spLocks noChangeArrowheads="1"/>
          </p:cNvSpPr>
          <p:nvPr/>
        </p:nvSpPr>
        <p:spPr bwMode="auto">
          <a:xfrm>
            <a:off x="7086600" y="28956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  <a:endParaRPr lang="en-US" altLang="en-US" sz="1800" b="1" i="1">
              <a:solidFill>
                <a:schemeClr val="hlink"/>
              </a:solidFill>
              <a:latin typeface="Helvetica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52249" name="Rectangle 23"/>
          <p:cNvSpPr>
            <a:spLocks noChangeArrowheads="1"/>
          </p:cNvSpPr>
          <p:nvPr/>
        </p:nvSpPr>
        <p:spPr bwMode="auto">
          <a:xfrm>
            <a:off x="7543800" y="22860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2250" name="Rectangle 24"/>
          <p:cNvSpPr>
            <a:spLocks noChangeArrowheads="1"/>
          </p:cNvSpPr>
          <p:nvPr/>
        </p:nvSpPr>
        <p:spPr bwMode="auto">
          <a:xfrm>
            <a:off x="7543800" y="2895600"/>
            <a:ext cx="457200" cy="609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2251" name="Text Box 25"/>
          <p:cNvSpPr txBox="1">
            <a:spLocks noChangeArrowheads="1"/>
          </p:cNvSpPr>
          <p:nvPr/>
        </p:nvSpPr>
        <p:spPr bwMode="auto">
          <a:xfrm>
            <a:off x="1570038" y="496728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52252" name="Text Box 26"/>
          <p:cNvSpPr txBox="1">
            <a:spLocks noChangeArrowheads="1"/>
          </p:cNvSpPr>
          <p:nvPr/>
        </p:nvSpPr>
        <p:spPr bwMode="auto">
          <a:xfrm>
            <a:off x="3768725" y="33670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52253" name="Line 27"/>
          <p:cNvSpPr>
            <a:spLocks noChangeShapeType="1"/>
          </p:cNvSpPr>
          <p:nvPr/>
        </p:nvSpPr>
        <p:spPr bwMode="auto">
          <a:xfrm>
            <a:off x="6096000" y="29718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52254" name="TextBox 29"/>
          <p:cNvSpPr txBox="1">
            <a:spLocks noChangeArrowheads="1"/>
          </p:cNvSpPr>
          <p:nvPr/>
        </p:nvSpPr>
        <p:spPr bwMode="auto">
          <a:xfrm>
            <a:off x="3124200" y="3962400"/>
            <a:ext cx="60198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List of departments (deptno) that contains job titles for all Clerk, Salesman, Manager (scott.emp Schema).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Output: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Deptno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-------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30</a:t>
            </a:r>
          </a:p>
        </p:txBody>
      </p:sp>
      <p:pic>
        <p:nvPicPr>
          <p:cNvPr id="522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8" y="228600"/>
            <a:ext cx="9021762" cy="640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9FB25E-5343-4666-9263-6A35311D827D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325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32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14B8AE-C662-4244-B494-5F6EB4411E86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200" smtClean="0"/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Assignment Operation</a:t>
            </a:r>
          </a:p>
        </p:txBody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204075" cy="468153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The assignment operation (</a:t>
            </a:r>
            <a:r>
              <a:rPr lang="en-US" altLang="en-US" sz="2000" smtClean="0">
                <a:sym typeface="Symbol" panose="05050102010706020507" pitchFamily="18" charset="2"/>
              </a:rPr>
              <a:t>) provides a convenient way to express complex queries. </a:t>
            </a:r>
          </a:p>
          <a:p>
            <a:pPr marL="628650" lvl="1" eaLnBrk="1" hangingPunct="1">
              <a:lnSpc>
                <a:spcPct val="90000"/>
              </a:lnSpc>
            </a:pPr>
            <a:r>
              <a:rPr lang="en-US" altLang="en-US" sz="1800" smtClean="0">
                <a:sym typeface="Symbol" panose="05050102010706020507" pitchFamily="18" charset="2"/>
              </a:rPr>
              <a:t> Write query as a sequential program consisting of</a:t>
            </a:r>
          </a:p>
          <a:p>
            <a:pPr marL="1085850" lvl="2" eaLnBrk="1" hangingPunct="1">
              <a:lnSpc>
                <a:spcPct val="90000"/>
              </a:lnSpc>
            </a:pPr>
            <a:r>
              <a:rPr lang="en-US" altLang="en-US" sz="1600" smtClean="0">
                <a:sym typeface="Symbol" panose="05050102010706020507" pitchFamily="18" charset="2"/>
              </a:rPr>
              <a:t>a series of assignments </a:t>
            </a:r>
          </a:p>
          <a:p>
            <a:pPr marL="1085850" lvl="2" eaLnBrk="1" hangingPunct="1">
              <a:lnSpc>
                <a:spcPct val="90000"/>
              </a:lnSpc>
            </a:pPr>
            <a:r>
              <a:rPr lang="en-US" altLang="en-US" sz="1600" smtClean="0">
                <a:sym typeface="Symbol" panose="05050102010706020507" pitchFamily="18" charset="2"/>
              </a:rPr>
              <a:t>followed by an expression whose value is displayed as a result of the query.</a:t>
            </a:r>
          </a:p>
          <a:p>
            <a:pPr marL="628650" lvl="1" eaLnBrk="1" hangingPunct="1">
              <a:lnSpc>
                <a:spcPct val="90000"/>
              </a:lnSpc>
            </a:pPr>
            <a:r>
              <a:rPr lang="en-US" altLang="en-US" sz="1800" smtClean="0">
                <a:sym typeface="Symbol" panose="05050102010706020507" pitchFamily="18" charset="2"/>
              </a:rPr>
              <a:t>Assignment must always be made to a temporary relation variable.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>
                <a:sym typeface="Symbol" panose="05050102010706020507" pitchFamily="18" charset="2"/>
              </a:rPr>
              <a:t>Example:  Write </a:t>
            </a:r>
            <a:r>
              <a:rPr lang="en-US" altLang="en-US" sz="2000" i="1" smtClean="0">
                <a:solidFill>
                  <a:srgbClr val="FF0000"/>
                </a:solidFill>
                <a:sym typeface="Symbol" panose="05050102010706020507" pitchFamily="18" charset="2"/>
              </a:rPr>
              <a:t>r</a:t>
            </a:r>
            <a:r>
              <a:rPr lang="en-US" altLang="en-US" sz="2000" smtClean="0">
                <a:solidFill>
                  <a:srgbClr val="FF0000"/>
                </a:solidFill>
                <a:sym typeface="Symbol" panose="05050102010706020507" pitchFamily="18" charset="2"/>
              </a:rPr>
              <a:t>  </a:t>
            </a:r>
            <a:r>
              <a:rPr lang="en-US" altLang="en-US" sz="2000" i="1" smtClean="0">
                <a:solidFill>
                  <a:srgbClr val="FF0000"/>
                </a:solidFill>
                <a:sym typeface="Symbol" panose="05050102010706020507" pitchFamily="18" charset="2"/>
              </a:rPr>
              <a:t>s</a:t>
            </a:r>
            <a:r>
              <a:rPr lang="en-US" altLang="en-US" sz="2000" smtClean="0">
                <a:sym typeface="Symbol" panose="05050102010706020507" pitchFamily="18" charset="2"/>
              </a:rPr>
              <a:t>   as 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en-US" sz="2000" smtClean="0"/>
              <a:t>			</a:t>
            </a:r>
            <a:r>
              <a:rPr lang="en-US" altLang="en-US" sz="1800" i="1" smtClean="0"/>
              <a:t>temp</a:t>
            </a:r>
            <a:r>
              <a:rPr lang="en-US" altLang="en-US" sz="1800" smtClean="0"/>
              <a:t>1</a:t>
            </a:r>
            <a:r>
              <a:rPr lang="en-US" altLang="en-US" sz="1800" baseline="30000" smtClean="0"/>
              <a:t> </a:t>
            </a:r>
            <a:r>
              <a:rPr lang="en-US" altLang="en-US" sz="1800" smtClean="0">
                <a:sym typeface="Symbol" panose="05050102010706020507" pitchFamily="18" charset="2"/>
              </a:rPr>
              <a:t> </a:t>
            </a:r>
            <a:r>
              <a:rPr lang="en-US" altLang="en-US" sz="1800" i="1" baseline="-25000" smtClean="0">
                <a:sym typeface="Symbol" panose="05050102010706020507" pitchFamily="18" charset="2"/>
              </a:rPr>
              <a:t>R-S</a:t>
            </a:r>
            <a:r>
              <a:rPr lang="en-US" altLang="en-US" sz="1800" smtClean="0">
                <a:sym typeface="Symbol" panose="05050102010706020507" pitchFamily="18" charset="2"/>
              </a:rPr>
              <a:t> (</a:t>
            </a:r>
            <a:r>
              <a:rPr lang="en-US" altLang="en-US" sz="1800" i="1" smtClean="0">
                <a:sym typeface="Symbol" panose="05050102010706020507" pitchFamily="18" charset="2"/>
              </a:rPr>
              <a:t>r</a:t>
            </a:r>
            <a:r>
              <a:rPr lang="en-US" altLang="en-US" sz="1800" smtClean="0">
                <a:sym typeface="Symbol" panose="05050102010706020507" pitchFamily="18" charset="2"/>
              </a:rPr>
              <a:t>)</a:t>
            </a:r>
            <a:r>
              <a:rPr lang="en-US" altLang="en-US" sz="1800" smtClean="0"/>
              <a:t> </a:t>
            </a:r>
            <a:br>
              <a:rPr lang="en-US" altLang="en-US" sz="1800" smtClean="0"/>
            </a:br>
            <a:r>
              <a:rPr lang="en-US" altLang="en-US" sz="1800" smtClean="0"/>
              <a:t>		</a:t>
            </a:r>
            <a:r>
              <a:rPr lang="en-US" altLang="en-US" sz="1800" i="1" smtClean="0"/>
              <a:t>temp</a:t>
            </a:r>
            <a:r>
              <a:rPr lang="en-US" altLang="en-US" sz="1800" smtClean="0"/>
              <a:t>2 </a:t>
            </a:r>
            <a:r>
              <a:rPr lang="en-US" altLang="en-US" sz="1800" smtClean="0">
                <a:sym typeface="Symbol" panose="05050102010706020507" pitchFamily="18" charset="2"/>
              </a:rPr>
              <a:t> </a:t>
            </a:r>
            <a:r>
              <a:rPr lang="en-US" altLang="en-US" sz="1800" i="1" baseline="-25000" smtClean="0">
                <a:sym typeface="Symbol" panose="05050102010706020507" pitchFamily="18" charset="2"/>
              </a:rPr>
              <a:t>R-S</a:t>
            </a:r>
            <a:r>
              <a:rPr lang="en-US" altLang="en-US" sz="1800" smtClean="0">
                <a:sym typeface="Symbol" panose="05050102010706020507" pitchFamily="18" charset="2"/>
              </a:rPr>
              <a:t>  ((</a:t>
            </a:r>
            <a:r>
              <a:rPr lang="en-US" altLang="en-US" sz="1800" i="1" smtClean="0">
                <a:sym typeface="Symbol" panose="05050102010706020507" pitchFamily="18" charset="2"/>
              </a:rPr>
              <a:t>temp</a:t>
            </a:r>
            <a:r>
              <a:rPr lang="en-US" altLang="en-US" sz="1800" smtClean="0">
                <a:sym typeface="Symbol" panose="05050102010706020507" pitchFamily="18" charset="2"/>
              </a:rPr>
              <a:t>1 x </a:t>
            </a:r>
            <a:r>
              <a:rPr lang="en-US" altLang="en-US" sz="1800" i="1" smtClean="0">
                <a:sym typeface="Symbol" panose="05050102010706020507" pitchFamily="18" charset="2"/>
              </a:rPr>
              <a:t>s</a:t>
            </a:r>
            <a:r>
              <a:rPr lang="en-US" altLang="en-US" sz="1800" smtClean="0">
                <a:sym typeface="Symbol" panose="05050102010706020507" pitchFamily="18" charset="2"/>
              </a:rPr>
              <a:t>) – </a:t>
            </a:r>
            <a:r>
              <a:rPr lang="en-US" altLang="en-US" sz="1800" b="1" smtClean="0">
                <a:sym typeface="Symbol" panose="05050102010706020507" pitchFamily="18" charset="2"/>
              </a:rPr>
              <a:t></a:t>
            </a:r>
            <a:r>
              <a:rPr lang="en-US" altLang="en-US" sz="1800" i="1" baseline="-25000" smtClean="0">
                <a:sym typeface="Symbol" panose="05050102010706020507" pitchFamily="18" charset="2"/>
              </a:rPr>
              <a:t> </a:t>
            </a:r>
            <a:r>
              <a:rPr lang="en-US" altLang="en-US" sz="1800" i="1" smtClean="0">
                <a:sym typeface="Symbol" panose="05050102010706020507" pitchFamily="18" charset="2"/>
              </a:rPr>
              <a:t>(r</a:t>
            </a:r>
            <a:r>
              <a:rPr lang="en-US" altLang="en-US" sz="1800" smtClean="0">
                <a:sym typeface="Symbol" panose="05050102010706020507" pitchFamily="18" charset="2"/>
              </a:rPr>
              <a:t>))</a:t>
            </a:r>
            <a:br>
              <a:rPr lang="en-US" altLang="en-US" sz="1800" smtClean="0">
                <a:sym typeface="Symbol" panose="05050102010706020507" pitchFamily="18" charset="2"/>
              </a:rPr>
            </a:br>
            <a:r>
              <a:rPr lang="en-US" altLang="en-US" sz="1800" smtClean="0">
                <a:sym typeface="Symbol" panose="05050102010706020507" pitchFamily="18" charset="2"/>
              </a:rPr>
              <a:t>		</a:t>
            </a:r>
            <a:r>
              <a:rPr lang="en-US" altLang="en-US" sz="1800" i="1" smtClean="0">
                <a:sym typeface="Symbol" panose="05050102010706020507" pitchFamily="18" charset="2"/>
              </a:rPr>
              <a:t>result</a:t>
            </a:r>
            <a:r>
              <a:rPr lang="en-US" altLang="en-US" sz="1800" smtClean="0">
                <a:sym typeface="Symbol" panose="05050102010706020507" pitchFamily="18" charset="2"/>
              </a:rPr>
              <a:t> = </a:t>
            </a:r>
            <a:r>
              <a:rPr lang="en-US" altLang="en-US" sz="1800" i="1" smtClean="0">
                <a:sym typeface="Symbol" panose="05050102010706020507" pitchFamily="18" charset="2"/>
              </a:rPr>
              <a:t>temp</a:t>
            </a:r>
            <a:r>
              <a:rPr lang="en-US" altLang="en-US" sz="1800" smtClean="0">
                <a:sym typeface="Symbol" panose="05050102010706020507" pitchFamily="18" charset="2"/>
              </a:rPr>
              <a:t>1 –</a:t>
            </a:r>
            <a:r>
              <a:rPr lang="en-US" altLang="en-US" sz="1800" i="1" smtClean="0">
                <a:sym typeface="Symbol" panose="05050102010706020507" pitchFamily="18" charset="2"/>
              </a:rPr>
              <a:t> temp</a:t>
            </a:r>
            <a:r>
              <a:rPr lang="en-US" altLang="en-US" sz="1800" smtClean="0">
                <a:sym typeface="Symbol" panose="05050102010706020507" pitchFamily="18" charset="2"/>
              </a:rPr>
              <a:t>2</a:t>
            </a:r>
          </a:p>
          <a:p>
            <a:pPr marL="628650" lvl="1" eaLnBrk="1" hangingPunct="1">
              <a:lnSpc>
                <a:spcPct val="130000"/>
              </a:lnSpc>
            </a:pPr>
            <a:r>
              <a:rPr lang="en-US" altLang="en-US" sz="1800" smtClean="0">
                <a:sym typeface="Symbol" panose="05050102010706020507" pitchFamily="18" charset="2"/>
              </a:rPr>
              <a:t>The result to the right of the  is assigned to the relation variable on the left of the </a:t>
            </a:r>
          </a:p>
          <a:p>
            <a:pPr marL="628650" lvl="1" eaLnBrk="1" hangingPunct="1">
              <a:lnSpc>
                <a:spcPct val="130000"/>
              </a:lnSpc>
            </a:pPr>
            <a:r>
              <a:rPr lang="en-US" altLang="en-US" sz="1800" smtClean="0">
                <a:sym typeface="Symbol" panose="05050102010706020507" pitchFamily="18" charset="2"/>
              </a:rPr>
              <a:t>May use variable in subsequent expressions.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04FDCD-068F-4F8D-BC7C-DAC4C6738E77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427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42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36AF7C-DDF1-435C-8C94-DF158574430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200" smtClean="0"/>
          </a:p>
        </p:txBody>
      </p:sp>
      <p:sp>
        <p:nvSpPr>
          <p:cNvPr id="542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Assignment Operation – Example</a:t>
            </a:r>
          </a:p>
        </p:txBody>
      </p:sp>
      <p:sp>
        <p:nvSpPr>
          <p:cNvPr id="54278" name="Rectangle 3"/>
          <p:cNvSpPr>
            <a:spLocks noChangeArrowheads="1"/>
          </p:cNvSpPr>
          <p:nvPr/>
        </p:nvSpPr>
        <p:spPr bwMode="auto">
          <a:xfrm>
            <a:off x="12954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4279" name="Rectangle 4"/>
          <p:cNvSpPr>
            <a:spLocks noChangeArrowheads="1"/>
          </p:cNvSpPr>
          <p:nvPr/>
        </p:nvSpPr>
        <p:spPr bwMode="auto">
          <a:xfrm>
            <a:off x="17526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54280" name="Rectangle 5"/>
          <p:cNvSpPr>
            <a:spLocks noChangeArrowheads="1"/>
          </p:cNvSpPr>
          <p:nvPr/>
        </p:nvSpPr>
        <p:spPr bwMode="auto">
          <a:xfrm>
            <a:off x="2209800" y="2438400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4281" name="Rectangle 6"/>
          <p:cNvSpPr>
            <a:spLocks noChangeArrowheads="1"/>
          </p:cNvSpPr>
          <p:nvPr/>
        </p:nvSpPr>
        <p:spPr bwMode="auto">
          <a:xfrm>
            <a:off x="12954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4282" name="Rectangle 7"/>
          <p:cNvSpPr>
            <a:spLocks noChangeArrowheads="1"/>
          </p:cNvSpPr>
          <p:nvPr/>
        </p:nvSpPr>
        <p:spPr bwMode="auto">
          <a:xfrm>
            <a:off x="17526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30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40</a:t>
            </a:r>
          </a:p>
        </p:txBody>
      </p:sp>
      <p:sp>
        <p:nvSpPr>
          <p:cNvPr id="54283" name="Rectangle 8"/>
          <p:cNvSpPr>
            <a:spLocks noChangeArrowheads="1"/>
          </p:cNvSpPr>
          <p:nvPr/>
        </p:nvSpPr>
        <p:spPr bwMode="auto">
          <a:xfrm>
            <a:off x="2209800" y="2971800"/>
            <a:ext cx="457200" cy="1676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tx2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4284" name="Rectangle 9"/>
          <p:cNvSpPr>
            <a:spLocks noChangeArrowheads="1"/>
          </p:cNvSpPr>
          <p:nvPr/>
        </p:nvSpPr>
        <p:spPr bwMode="auto">
          <a:xfrm>
            <a:off x="9906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54285" name="Rectangle 10"/>
          <p:cNvSpPr>
            <a:spLocks noChangeArrowheads="1"/>
          </p:cNvSpPr>
          <p:nvPr/>
        </p:nvSpPr>
        <p:spPr bwMode="auto">
          <a:xfrm>
            <a:off x="533400" y="41148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endParaRPr kumimoji="1" lang="en-US" altLang="en-US" sz="2000" b="1">
              <a:latin typeface="Times New Roman" panose="02020603050405020304" pitchFamily="18" charset="0"/>
            </a:endParaRPr>
          </a:p>
        </p:txBody>
      </p:sp>
      <p:sp>
        <p:nvSpPr>
          <p:cNvPr id="54286" name="Rectangle 11"/>
          <p:cNvSpPr>
            <a:spLocks noChangeArrowheads="1"/>
          </p:cNvSpPr>
          <p:nvPr/>
        </p:nvSpPr>
        <p:spPr bwMode="auto">
          <a:xfrm>
            <a:off x="407988" y="4140200"/>
            <a:ext cx="7029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4287" name="Rectangle 12"/>
          <p:cNvSpPr>
            <a:spLocks noChangeArrowheads="1"/>
          </p:cNvSpPr>
          <p:nvPr/>
        </p:nvSpPr>
        <p:spPr bwMode="auto">
          <a:xfrm>
            <a:off x="3124200" y="3276600"/>
            <a:ext cx="281940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i="1">
                <a:sym typeface="Symbol" panose="05050102010706020507" pitchFamily="18" charset="2"/>
              </a:rPr>
              <a:t>Temp1 </a:t>
            </a:r>
            <a:r>
              <a:rPr lang="en-US" altLang="en-US" b="1">
                <a:sym typeface="Wingdings" panose="05000000000000000000" pitchFamily="2" charset="2"/>
              </a:rPr>
              <a:t></a:t>
            </a:r>
            <a:r>
              <a:rPr lang="en-US" altLang="en-US" b="1">
                <a:sym typeface="Symbol" panose="05050102010706020507" pitchFamily="18" charset="2"/>
              </a:rPr>
              <a:t> </a:t>
            </a:r>
            <a:r>
              <a:rPr lang="en-US" altLang="en-US" sz="1800" b="1" baseline="-25000"/>
              <a:t>A,C</a:t>
            </a:r>
            <a:r>
              <a:rPr lang="en-US" altLang="en-US" sz="1800" b="1"/>
              <a:t> </a:t>
            </a:r>
            <a:r>
              <a:rPr lang="en-US" altLang="en-US" b="1"/>
              <a:t>(</a:t>
            </a:r>
            <a:r>
              <a:rPr lang="en-US" altLang="en-US" b="1" i="1"/>
              <a:t>r</a:t>
            </a:r>
            <a:r>
              <a:rPr lang="en-US" altLang="en-US" b="1"/>
              <a:t>)</a:t>
            </a:r>
          </a:p>
        </p:txBody>
      </p:sp>
      <p:sp>
        <p:nvSpPr>
          <p:cNvPr id="54288" name="Rectangle 13"/>
          <p:cNvSpPr>
            <a:spLocks noChangeArrowheads="1"/>
          </p:cNvSpPr>
          <p:nvPr/>
        </p:nvSpPr>
        <p:spPr bwMode="auto">
          <a:xfrm>
            <a:off x="1752600" y="4595813"/>
            <a:ext cx="338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i="1"/>
              <a:t>r</a:t>
            </a:r>
          </a:p>
        </p:txBody>
      </p:sp>
      <p:sp>
        <p:nvSpPr>
          <p:cNvPr id="54289" name="Rectangle 14"/>
          <p:cNvSpPr>
            <a:spLocks noChangeArrowheads="1"/>
          </p:cNvSpPr>
          <p:nvPr/>
        </p:nvSpPr>
        <p:spPr bwMode="auto">
          <a:xfrm>
            <a:off x="7010400" y="2505075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4290" name="Rectangle 15"/>
          <p:cNvSpPr>
            <a:spLocks noChangeArrowheads="1"/>
          </p:cNvSpPr>
          <p:nvPr/>
        </p:nvSpPr>
        <p:spPr bwMode="auto">
          <a:xfrm>
            <a:off x="7467600" y="2505075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4291" name="Rectangle 16"/>
          <p:cNvSpPr>
            <a:spLocks noChangeArrowheads="1"/>
          </p:cNvSpPr>
          <p:nvPr/>
        </p:nvSpPr>
        <p:spPr bwMode="auto">
          <a:xfrm>
            <a:off x="7010400" y="3038475"/>
            <a:ext cx="457200" cy="1304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4292" name="Rectangle 17"/>
          <p:cNvSpPr>
            <a:spLocks noChangeArrowheads="1"/>
          </p:cNvSpPr>
          <p:nvPr/>
        </p:nvSpPr>
        <p:spPr bwMode="auto">
          <a:xfrm>
            <a:off x="7467600" y="3038475"/>
            <a:ext cx="457200" cy="13049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4293" name="Rectangle 18"/>
          <p:cNvSpPr>
            <a:spLocks noChangeArrowheads="1"/>
          </p:cNvSpPr>
          <p:nvPr/>
        </p:nvSpPr>
        <p:spPr bwMode="auto">
          <a:xfrm>
            <a:off x="6924675" y="4419600"/>
            <a:ext cx="1228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/>
              <a:t>Temp1</a:t>
            </a:r>
          </a:p>
        </p:txBody>
      </p:sp>
      <p:sp>
        <p:nvSpPr>
          <p:cNvPr id="54294" name="Line 19"/>
          <p:cNvSpPr>
            <a:spLocks noChangeShapeType="1"/>
          </p:cNvSpPr>
          <p:nvPr/>
        </p:nvSpPr>
        <p:spPr bwMode="auto">
          <a:xfrm>
            <a:off x="5867400" y="3505200"/>
            <a:ext cx="9906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676A6D7-A243-45FA-A7DC-CB8542862476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63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63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79818C-C57F-42F9-A502-10EA97F6E251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200" smtClean="0"/>
          </a:p>
        </p:txBody>
      </p:sp>
      <p:sp>
        <p:nvSpPr>
          <p:cNvPr id="563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Cartesian-Product Operation</a:t>
            </a:r>
          </a:p>
        </p:txBody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724400"/>
          </a:xfrm>
        </p:spPr>
        <p:txBody>
          <a:bodyPr/>
          <a:lstStyle/>
          <a:p>
            <a:pPr eaLnBrk="1" hangingPunct="1">
              <a:tabLst>
                <a:tab pos="3149600" algn="ctr"/>
              </a:tabLst>
            </a:pPr>
            <a:r>
              <a:rPr lang="en-US" altLang="en-US" smtClean="0"/>
              <a:t>Is denoted by: </a:t>
            </a:r>
            <a:r>
              <a:rPr lang="en-US" altLang="en-US" i="1" smtClean="0"/>
              <a:t> r </a:t>
            </a:r>
            <a:r>
              <a:rPr lang="en-US" altLang="en-US" smtClean="0"/>
              <a:t>x</a:t>
            </a:r>
            <a:r>
              <a:rPr lang="en-US" altLang="en-US" i="1" smtClean="0"/>
              <a:t> s</a:t>
            </a:r>
          </a:p>
          <a:p>
            <a:pPr eaLnBrk="1" hangingPunct="1">
              <a:tabLst>
                <a:tab pos="3149600" algn="ctr"/>
              </a:tabLst>
            </a:pPr>
            <a:endParaRPr lang="en-US" altLang="en-US" sz="1000" smtClean="0"/>
          </a:p>
          <a:p>
            <a:pPr eaLnBrk="1" hangingPunct="1">
              <a:tabLst>
                <a:tab pos="3149600" algn="ctr"/>
              </a:tabLst>
            </a:pPr>
            <a:r>
              <a:rPr lang="en-US" altLang="en-US" smtClean="0"/>
              <a:t>Is defined as: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149600" algn="ctr"/>
              </a:tabLst>
            </a:pPr>
            <a:r>
              <a:rPr lang="en-US" altLang="en-US" smtClean="0"/>
              <a:t>		</a:t>
            </a:r>
            <a:r>
              <a:rPr lang="en-US" altLang="en-US" i="1" smtClean="0"/>
              <a:t>r</a:t>
            </a:r>
            <a:r>
              <a:rPr lang="en-US" altLang="en-US" smtClean="0"/>
              <a:t> x </a:t>
            </a:r>
            <a:r>
              <a:rPr lang="en-US" altLang="en-US" i="1" smtClean="0"/>
              <a:t>s</a:t>
            </a:r>
            <a:r>
              <a:rPr lang="en-US" altLang="en-US" smtClean="0"/>
              <a:t> = {</a:t>
            </a:r>
            <a:r>
              <a:rPr lang="en-US" altLang="en-US" i="1" smtClean="0"/>
              <a:t>t q </a:t>
            </a:r>
            <a:r>
              <a:rPr lang="en-US" altLang="en-US" smtClean="0"/>
              <a:t>|</a:t>
            </a:r>
            <a:r>
              <a:rPr lang="en-US" altLang="en-US" i="1" smtClean="0"/>
              <a:t> t </a:t>
            </a:r>
            <a:r>
              <a:rPr lang="en-US" altLang="en-US" smtClean="0">
                <a:sym typeface="Symbol" panose="05050102010706020507" pitchFamily="18" charset="2"/>
              </a:rPr>
              <a:t></a:t>
            </a:r>
            <a:r>
              <a:rPr lang="en-US" altLang="en-US" i="1" smtClean="0">
                <a:sym typeface="Symbol" panose="05050102010706020507" pitchFamily="18" charset="2"/>
              </a:rPr>
              <a:t> r </a:t>
            </a:r>
            <a:r>
              <a:rPr lang="en-US" altLang="en-US" b="1" smtClean="0">
                <a:sym typeface="Symbol" panose="05050102010706020507" pitchFamily="18" charset="2"/>
              </a:rPr>
              <a:t>and </a:t>
            </a:r>
            <a:r>
              <a:rPr lang="en-US" altLang="en-US" i="1" smtClean="0">
                <a:sym typeface="Symbol" panose="05050102010706020507" pitchFamily="18" charset="2"/>
              </a:rPr>
              <a:t>q </a:t>
            </a:r>
            <a:r>
              <a:rPr lang="en-US" altLang="en-US" smtClean="0">
                <a:sym typeface="Symbol" panose="05050102010706020507" pitchFamily="18" charset="2"/>
              </a:rPr>
              <a:t> </a:t>
            </a:r>
            <a:r>
              <a:rPr lang="en-US" altLang="en-US" i="1" smtClean="0">
                <a:sym typeface="Symbol" panose="05050102010706020507" pitchFamily="18" charset="2"/>
              </a:rPr>
              <a:t>s</a:t>
            </a:r>
            <a:r>
              <a:rPr lang="en-US" altLang="en-US" smtClean="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3149600" algn="ctr"/>
              </a:tabLst>
            </a:pPr>
            <a:endParaRPr lang="en-US" altLang="en-US" sz="1000" smtClean="0">
              <a:sym typeface="Symbol" panose="05050102010706020507" pitchFamily="18" charset="2"/>
            </a:endParaRPr>
          </a:p>
          <a:p>
            <a:pPr eaLnBrk="1" hangingPunct="1">
              <a:tabLst>
                <a:tab pos="3149600" algn="ctr"/>
              </a:tabLst>
            </a:pPr>
            <a:r>
              <a:rPr lang="en-US" altLang="en-US" smtClean="0">
                <a:sym typeface="Symbol" panose="05050102010706020507" pitchFamily="18" charset="2"/>
              </a:rPr>
              <a:t>The result of </a:t>
            </a:r>
            <a:r>
              <a:rPr lang="en-US" altLang="en-US" i="1" smtClean="0"/>
              <a:t>r </a:t>
            </a:r>
            <a:r>
              <a:rPr lang="en-US" altLang="en-US" smtClean="0"/>
              <a:t>x</a:t>
            </a:r>
            <a:r>
              <a:rPr lang="en-US" altLang="en-US" i="1" smtClean="0"/>
              <a:t> s </a:t>
            </a:r>
            <a:r>
              <a:rPr lang="en-US" altLang="en-US" smtClean="0"/>
              <a:t>will combine tuples from both </a:t>
            </a:r>
            <a:r>
              <a:rPr lang="en-US" altLang="en-US" i="1" smtClean="0"/>
              <a:t>r</a:t>
            </a:r>
            <a:r>
              <a:rPr lang="en-US" altLang="en-US" smtClean="0"/>
              <a:t> and </a:t>
            </a:r>
            <a:r>
              <a:rPr lang="en-US" altLang="en-US" i="1" smtClean="0"/>
              <a:t>s</a:t>
            </a:r>
            <a:r>
              <a:rPr lang="en-US" altLang="en-US" smtClean="0"/>
              <a:t> in a combinatorial fashion.</a:t>
            </a:r>
          </a:p>
          <a:p>
            <a:pPr eaLnBrk="1" hangingPunct="1">
              <a:tabLst>
                <a:tab pos="3149600" algn="ctr"/>
              </a:tabLst>
            </a:pPr>
            <a:endParaRPr lang="en-US" altLang="en-US" sz="1000" smtClean="0"/>
          </a:p>
          <a:p>
            <a:pPr eaLnBrk="1" hangingPunct="1">
              <a:tabLst>
                <a:tab pos="3149600" algn="ctr"/>
              </a:tabLst>
            </a:pPr>
            <a:r>
              <a:rPr lang="en-US" altLang="en-US" smtClean="0">
                <a:sym typeface="Symbol" panose="05050102010706020507" pitchFamily="18" charset="2"/>
              </a:rPr>
              <a:t>Assume that attributes of r(A) and s(B) are disjoint.  (That is,  </a:t>
            </a:r>
            <a:r>
              <a:rPr lang="en-US" altLang="en-US" i="1" smtClean="0">
                <a:sym typeface="Symbol" panose="05050102010706020507" pitchFamily="18" charset="2"/>
              </a:rPr>
              <a:t>A</a:t>
            </a:r>
            <a:r>
              <a:rPr lang="en-US" altLang="en-US" smtClean="0">
                <a:sym typeface="Symbol" panose="05050102010706020507" pitchFamily="18" charset="2"/>
              </a:rPr>
              <a:t> </a:t>
            </a:r>
            <a:r>
              <a:rPr lang="en-US" altLang="en-US" i="1" smtClean="0">
                <a:sym typeface="Symbol" panose="05050102010706020507" pitchFamily="18" charset="2"/>
              </a:rPr>
              <a:t> B</a:t>
            </a:r>
            <a:r>
              <a:rPr lang="en-US" altLang="en-US" smtClean="0">
                <a:sym typeface="Symbol" panose="05050102010706020507" pitchFamily="18" charset="2"/>
              </a:rPr>
              <a:t> = </a:t>
            </a:r>
            <a:r>
              <a:rPr lang="en-US" altLang="en-US" i="1" smtClean="0">
                <a:sym typeface="Symbol" panose="05050102010706020507" pitchFamily="18" charset="2"/>
              </a:rPr>
              <a:t></a:t>
            </a:r>
            <a:r>
              <a:rPr lang="en-US" altLang="en-US" smtClean="0">
                <a:sym typeface="Symbol" panose="05050102010706020507" pitchFamily="18" charset="2"/>
              </a:rPr>
              <a:t>).</a:t>
            </a:r>
          </a:p>
          <a:p>
            <a:pPr eaLnBrk="1" hangingPunct="1">
              <a:tabLst>
                <a:tab pos="3149600" algn="ctr"/>
              </a:tabLst>
            </a:pPr>
            <a:endParaRPr lang="en-US" altLang="en-US" sz="1000" smtClean="0">
              <a:sym typeface="Symbol" panose="05050102010706020507" pitchFamily="18" charset="2"/>
            </a:endParaRPr>
          </a:p>
          <a:p>
            <a:pPr eaLnBrk="1" hangingPunct="1">
              <a:tabLst>
                <a:tab pos="3149600" algn="ctr"/>
              </a:tabLst>
            </a:pPr>
            <a:r>
              <a:rPr lang="en-US" altLang="en-US" smtClean="0">
                <a:sym typeface="Symbol" panose="05050102010706020507" pitchFamily="18" charset="2"/>
              </a:rPr>
              <a:t>If attributes of </a:t>
            </a:r>
            <a:r>
              <a:rPr lang="en-US" altLang="en-US" i="1" smtClean="0">
                <a:sym typeface="Symbol" panose="05050102010706020507" pitchFamily="18" charset="2"/>
              </a:rPr>
              <a:t>r(A)</a:t>
            </a:r>
            <a:r>
              <a:rPr lang="en-US" altLang="en-US" smtClean="0">
                <a:sym typeface="Symbol" panose="05050102010706020507" pitchFamily="18" charset="2"/>
              </a:rPr>
              <a:t> and </a:t>
            </a:r>
            <a:r>
              <a:rPr lang="en-US" altLang="en-US" i="1" smtClean="0">
                <a:sym typeface="Symbol" panose="05050102010706020507" pitchFamily="18" charset="2"/>
              </a:rPr>
              <a:t>s(B</a:t>
            </a:r>
            <a:r>
              <a:rPr lang="en-US" altLang="en-US" smtClean="0">
                <a:sym typeface="Symbol" panose="05050102010706020507" pitchFamily="18" charset="2"/>
              </a:rPr>
              <a:t>) are not disjoint, then renaming must be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7A197E-07FE-4C47-A6B9-598B2687B9E8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734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734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719AEC-8135-43E2-9754-07BB1CB79050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200" smtClean="0"/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title"/>
          </p:nvPr>
        </p:nvSpPr>
        <p:spPr>
          <a:xfrm>
            <a:off x="1139825" y="715963"/>
            <a:ext cx="7678738" cy="503237"/>
          </a:xfrm>
        </p:spPr>
        <p:txBody>
          <a:bodyPr/>
          <a:lstStyle/>
          <a:p>
            <a:pPr eaLnBrk="1" hangingPunct="1"/>
            <a:r>
              <a:rPr lang="en-US" altLang="en-US" smtClean="0"/>
              <a:t>--- Cartesian-Product Operation-Example</a:t>
            </a:r>
          </a:p>
        </p:txBody>
      </p:sp>
      <p:sp>
        <p:nvSpPr>
          <p:cNvPr id="57350" name="Rectangle 4"/>
          <p:cNvSpPr>
            <a:spLocks noChangeArrowheads="1"/>
          </p:cNvSpPr>
          <p:nvPr/>
        </p:nvSpPr>
        <p:spPr bwMode="auto">
          <a:xfrm>
            <a:off x="3352800" y="3200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3149600" algn="ct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3149600" algn="ctr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3149600" algn="ct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3149600" algn="ctr"/>
              </a:tabLst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49600" algn="ctr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49600" algn="ctr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49600" algn="ctr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49600" algn="ctr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49600" algn="ctr"/>
              </a:tabLst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lang="en-US" altLang="en-US" b="1">
                <a:sym typeface="Symbol" panose="05050102010706020507" pitchFamily="18" charset="2"/>
              </a:rPr>
              <a:t></a:t>
            </a:r>
            <a:r>
              <a:rPr kumimoji="1" lang="en-US" altLang="en-US"/>
              <a:t> (</a:t>
            </a:r>
            <a:r>
              <a:rPr kumimoji="1" lang="en-US" altLang="en-US" sz="2800" b="1" i="1">
                <a:latin typeface="Helvetica" panose="020B0604020202020204" pitchFamily="34" charset="0"/>
              </a:rPr>
              <a:t>r</a:t>
            </a:r>
            <a:r>
              <a:rPr kumimoji="1" lang="en-US" altLang="en-US" sz="2800" b="1">
                <a:latin typeface="Helvetica" panose="020B0604020202020204" pitchFamily="34" charset="0"/>
              </a:rPr>
              <a:t> x</a:t>
            </a:r>
            <a:r>
              <a:rPr kumimoji="1" lang="en-US" altLang="en-US" sz="2800" b="1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sz="2800" b="1" i="1">
                <a:latin typeface="Helvetica" panose="020B0604020202020204" pitchFamily="34" charset="0"/>
                <a:sym typeface="Symbol" panose="05050102010706020507" pitchFamily="18" charset="2"/>
              </a:rPr>
              <a:t>s</a:t>
            </a:r>
            <a:r>
              <a:rPr kumimoji="1" lang="en-US" altLang="en-US" sz="2800"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57351" name="Rectangle 5"/>
          <p:cNvSpPr>
            <a:spLocks noChangeArrowheads="1"/>
          </p:cNvSpPr>
          <p:nvPr/>
        </p:nvSpPr>
        <p:spPr bwMode="auto">
          <a:xfrm>
            <a:off x="304800" y="2605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7352" name="Rectangle 6"/>
          <p:cNvSpPr>
            <a:spLocks noChangeArrowheads="1"/>
          </p:cNvSpPr>
          <p:nvPr/>
        </p:nvSpPr>
        <p:spPr bwMode="auto">
          <a:xfrm>
            <a:off x="762000" y="2605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57353" name="Rectangle 7"/>
          <p:cNvSpPr>
            <a:spLocks noChangeArrowheads="1"/>
          </p:cNvSpPr>
          <p:nvPr/>
        </p:nvSpPr>
        <p:spPr bwMode="auto">
          <a:xfrm>
            <a:off x="304800" y="3138488"/>
            <a:ext cx="4572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7354" name="Rectangle 8"/>
          <p:cNvSpPr>
            <a:spLocks noChangeArrowheads="1"/>
          </p:cNvSpPr>
          <p:nvPr/>
        </p:nvSpPr>
        <p:spPr bwMode="auto">
          <a:xfrm>
            <a:off x="762000" y="3138488"/>
            <a:ext cx="4572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7355" name="Rectangle 9"/>
          <p:cNvSpPr>
            <a:spLocks noChangeArrowheads="1"/>
          </p:cNvSpPr>
          <p:nvPr/>
        </p:nvSpPr>
        <p:spPr bwMode="auto">
          <a:xfrm>
            <a:off x="6019800" y="25908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57356" name="Rectangle 10"/>
          <p:cNvSpPr>
            <a:spLocks noChangeArrowheads="1"/>
          </p:cNvSpPr>
          <p:nvPr/>
        </p:nvSpPr>
        <p:spPr bwMode="auto">
          <a:xfrm>
            <a:off x="6477000" y="25908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57357" name="Rectangle 11"/>
          <p:cNvSpPr>
            <a:spLocks noChangeArrowheads="1"/>
          </p:cNvSpPr>
          <p:nvPr/>
        </p:nvSpPr>
        <p:spPr bwMode="auto">
          <a:xfrm>
            <a:off x="6019800" y="32004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7358" name="Rectangle 12"/>
          <p:cNvSpPr>
            <a:spLocks noChangeArrowheads="1"/>
          </p:cNvSpPr>
          <p:nvPr/>
        </p:nvSpPr>
        <p:spPr bwMode="auto">
          <a:xfrm>
            <a:off x="6477000" y="32004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57359" name="Rectangle 13"/>
          <p:cNvSpPr>
            <a:spLocks noChangeArrowheads="1"/>
          </p:cNvSpPr>
          <p:nvPr/>
        </p:nvSpPr>
        <p:spPr bwMode="auto">
          <a:xfrm>
            <a:off x="6934200" y="25908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7360" name="Rectangle 14"/>
          <p:cNvSpPr>
            <a:spLocks noChangeArrowheads="1"/>
          </p:cNvSpPr>
          <p:nvPr/>
        </p:nvSpPr>
        <p:spPr bwMode="auto">
          <a:xfrm>
            <a:off x="7391400" y="25908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57361" name="Rectangle 15"/>
          <p:cNvSpPr>
            <a:spLocks noChangeArrowheads="1"/>
          </p:cNvSpPr>
          <p:nvPr/>
        </p:nvSpPr>
        <p:spPr bwMode="auto">
          <a:xfrm>
            <a:off x="6934200" y="32004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 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7362" name="Rectangle 16"/>
          <p:cNvSpPr>
            <a:spLocks noChangeArrowheads="1"/>
          </p:cNvSpPr>
          <p:nvPr/>
        </p:nvSpPr>
        <p:spPr bwMode="auto">
          <a:xfrm>
            <a:off x="7391400" y="32004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7363" name="Rectangle 17"/>
          <p:cNvSpPr>
            <a:spLocks noChangeArrowheads="1"/>
          </p:cNvSpPr>
          <p:nvPr/>
        </p:nvSpPr>
        <p:spPr bwMode="auto">
          <a:xfrm>
            <a:off x="7848600" y="2590800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57364" name="Rectangle 18"/>
          <p:cNvSpPr>
            <a:spLocks noChangeArrowheads="1"/>
          </p:cNvSpPr>
          <p:nvPr/>
        </p:nvSpPr>
        <p:spPr bwMode="auto">
          <a:xfrm>
            <a:off x="7848600" y="3200400"/>
            <a:ext cx="457200" cy="2133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57365" name="Rectangle 19"/>
          <p:cNvSpPr>
            <a:spLocks noChangeArrowheads="1"/>
          </p:cNvSpPr>
          <p:nvPr/>
        </p:nvSpPr>
        <p:spPr bwMode="auto">
          <a:xfrm>
            <a:off x="1828800" y="2605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57366" name="Rectangle 20"/>
          <p:cNvSpPr>
            <a:spLocks noChangeArrowheads="1"/>
          </p:cNvSpPr>
          <p:nvPr/>
        </p:nvSpPr>
        <p:spPr bwMode="auto">
          <a:xfrm>
            <a:off x="2286000" y="2605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57367" name="Rectangle 21"/>
          <p:cNvSpPr>
            <a:spLocks noChangeArrowheads="1"/>
          </p:cNvSpPr>
          <p:nvPr/>
        </p:nvSpPr>
        <p:spPr bwMode="auto">
          <a:xfrm>
            <a:off x="1828800" y="3138488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</p:txBody>
      </p:sp>
      <p:sp>
        <p:nvSpPr>
          <p:cNvPr id="57368" name="Rectangle 22"/>
          <p:cNvSpPr>
            <a:spLocks noChangeArrowheads="1"/>
          </p:cNvSpPr>
          <p:nvPr/>
        </p:nvSpPr>
        <p:spPr bwMode="auto">
          <a:xfrm>
            <a:off x="2286000" y="3138488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20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57369" name="Rectangle 23"/>
          <p:cNvSpPr>
            <a:spLocks noChangeArrowheads="1"/>
          </p:cNvSpPr>
          <p:nvPr/>
        </p:nvSpPr>
        <p:spPr bwMode="auto">
          <a:xfrm>
            <a:off x="2743200" y="2605088"/>
            <a:ext cx="4572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57370" name="Rectangle 24"/>
          <p:cNvSpPr>
            <a:spLocks noChangeArrowheads="1"/>
          </p:cNvSpPr>
          <p:nvPr/>
        </p:nvSpPr>
        <p:spPr bwMode="auto">
          <a:xfrm>
            <a:off x="2743200" y="3138488"/>
            <a:ext cx="4572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57371" name="Text Box 26"/>
          <p:cNvSpPr txBox="1">
            <a:spLocks noChangeArrowheads="1"/>
          </p:cNvSpPr>
          <p:nvPr/>
        </p:nvSpPr>
        <p:spPr bwMode="auto">
          <a:xfrm>
            <a:off x="579438" y="382428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57372" name="Text Box 27"/>
          <p:cNvSpPr txBox="1">
            <a:spLocks noChangeArrowheads="1"/>
          </p:cNvSpPr>
          <p:nvPr/>
        </p:nvSpPr>
        <p:spPr bwMode="auto">
          <a:xfrm>
            <a:off x="2378075" y="42814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57373" name="Line 28"/>
          <p:cNvSpPr>
            <a:spLocks noChangeShapeType="1"/>
          </p:cNvSpPr>
          <p:nvPr/>
        </p:nvSpPr>
        <p:spPr bwMode="auto">
          <a:xfrm>
            <a:off x="4876800" y="3505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DDC010-22EF-400A-87A2-147B68DBB93E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83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83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0531CD-E590-4F0C-94DB-DCB92B18E5F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200" smtClean="0"/>
          </a:p>
        </p:txBody>
      </p:sp>
      <p:sp>
        <p:nvSpPr>
          <p:cNvPr id="583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--- Characteristics of Cartesian-Product Operation </a:t>
            </a:r>
          </a:p>
        </p:txBody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Degree r X s = degree(r) + degree(s) </a:t>
            </a:r>
          </a:p>
          <a:p>
            <a:pPr eaLnBrk="1" hangingPunct="1"/>
            <a:r>
              <a:rPr lang="en-US" altLang="en-US" smtClean="0"/>
              <a:t>Cardinality of r X s = cardinality(r) * cardinality(s)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Generally the result of CARTESIAN PRODUCT is </a:t>
            </a:r>
            <a:r>
              <a:rPr lang="en-US" altLang="en-US" i="1" u="sng" smtClean="0"/>
              <a:t>meaningless</a:t>
            </a:r>
            <a:r>
              <a:rPr lang="en-US" altLang="en-US" smtClean="0"/>
              <a:t> unless is used with other operators like SELECT, PROJECT etc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smtClean="0"/>
              <a:t>Application of Cartesian-Product Operation</a:t>
            </a:r>
          </a:p>
        </p:txBody>
      </p:sp>
      <p:sp>
        <p:nvSpPr>
          <p:cNvPr id="5939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85800" y="1646238"/>
            <a:ext cx="8077200" cy="4495800"/>
          </a:xfrm>
        </p:spPr>
        <p:txBody>
          <a:bodyPr/>
          <a:lstStyle/>
          <a:p>
            <a:r>
              <a:rPr lang="en-US" altLang="en-US" sz="1800" smtClean="0"/>
              <a:t>Problem: Show e-name and d-name of that employee who is manager of “Accounts” department</a:t>
            </a:r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r>
              <a:rPr lang="en-US" altLang="en-US" sz="1800" smtClean="0"/>
              <a:t>Step 1: Take cross product of Employee and Department relations</a:t>
            </a:r>
          </a:p>
        </p:txBody>
      </p:sp>
      <p:sp>
        <p:nvSpPr>
          <p:cNvPr id="59396" name="Date Placeholder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DC0A14-9BFF-46D4-9858-8D9D7433D4C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59397" name="Footer Placeholder 4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59398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BCF3FF-65A8-40E6-A192-55C99295D059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US" altLang="en-US" sz="1200" smtClean="0"/>
          </a:p>
        </p:txBody>
      </p:sp>
      <p:pic>
        <p:nvPicPr>
          <p:cNvPr id="5939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2286000"/>
            <a:ext cx="5334000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3946525" y="5070475"/>
            <a:ext cx="777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/>
              <a:t>r </a:t>
            </a:r>
            <a:r>
              <a:rPr lang="en-US" altLang="en-US"/>
              <a:t>x</a:t>
            </a:r>
            <a:r>
              <a:rPr lang="en-US" altLang="en-US" i="1"/>
              <a:t> s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smtClean="0"/>
              <a:t>Application of Cartesian-Product Operation</a:t>
            </a:r>
          </a:p>
        </p:txBody>
      </p:sp>
      <p:sp>
        <p:nvSpPr>
          <p:cNvPr id="604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85800" y="1646238"/>
            <a:ext cx="8077200" cy="4495800"/>
          </a:xfrm>
        </p:spPr>
        <p:txBody>
          <a:bodyPr/>
          <a:lstStyle/>
          <a:p>
            <a:r>
              <a:rPr lang="en-US" altLang="en-US" sz="1800" smtClean="0"/>
              <a:t>Problem: Show e-name and d-name of that employee who is manager of “Accounts” department</a:t>
            </a:r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r>
              <a:rPr lang="en-US" altLang="en-US" sz="1800" smtClean="0"/>
              <a:t>Step 2: Perform “selection” operation on output of previous step with according predicates </a:t>
            </a:r>
          </a:p>
        </p:txBody>
      </p:sp>
      <p:sp>
        <p:nvSpPr>
          <p:cNvPr id="60420" name="Date Placeholder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F2D9D8-D668-4B2F-99DE-A9959385DF7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60421" name="Footer Placeholder 4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60422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B08AD4F-BDBC-487B-AAD9-920773C33A53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US" altLang="en-US" sz="1200" smtClean="0"/>
          </a:p>
        </p:txBody>
      </p:sp>
      <p:pic>
        <p:nvPicPr>
          <p:cNvPr id="6042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2286000"/>
            <a:ext cx="5334000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4" name="Rectangle 8"/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5334000"/>
            <a:ext cx="65659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smtClean="0"/>
              <a:t>Application of Cartesian-Product Operation</a:t>
            </a:r>
          </a:p>
        </p:txBody>
      </p:sp>
      <p:sp>
        <p:nvSpPr>
          <p:cNvPr id="6144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85800" y="1646238"/>
            <a:ext cx="8077200" cy="4495800"/>
          </a:xfrm>
        </p:spPr>
        <p:txBody>
          <a:bodyPr/>
          <a:lstStyle/>
          <a:p>
            <a:r>
              <a:rPr lang="en-US" altLang="en-US" sz="1800" smtClean="0"/>
              <a:t>Problem: Show e-name and d-name of that employee who is manager of “Accounts” department</a:t>
            </a:r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endParaRPr lang="en-US" altLang="en-US" sz="1800" smtClean="0"/>
          </a:p>
          <a:p>
            <a:r>
              <a:rPr lang="en-US" altLang="en-US" sz="1800" smtClean="0"/>
              <a:t>Step 3: Perform “projection” operation on output of previous step to get only e-name and d-name</a:t>
            </a:r>
          </a:p>
        </p:txBody>
      </p:sp>
      <p:sp>
        <p:nvSpPr>
          <p:cNvPr id="61444" name="Date Placeholder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CBA0A9-B0F5-47FE-AC70-315BDE326AB9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61445" name="Footer Placeholder 4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61446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D6FE57-B1DD-43D2-A21A-5BBF0065C027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US" altLang="en-US" sz="1200" smtClean="0"/>
          </a:p>
        </p:txBody>
      </p:sp>
      <p:pic>
        <p:nvPicPr>
          <p:cNvPr id="61447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2286000"/>
            <a:ext cx="5334000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8" name="Rectangle 8"/>
          <p:cNvPicPr>
            <a:picLocks noRot="1" noChangeAspect="1" noMove="1" noResize="1" noEditPoints="1" noAdjustHandles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5524500"/>
            <a:ext cx="8661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B02164-06D9-4966-BCDA-896A3D6729E3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624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624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DA45CD-99C2-4563-BBC6-B623A59B0858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US" altLang="en-US" sz="1200" smtClean="0"/>
          </a:p>
        </p:txBody>
      </p:sp>
      <p:sp>
        <p:nvSpPr>
          <p:cNvPr id="624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JOIN</a:t>
            </a:r>
          </a:p>
        </p:txBody>
      </p:sp>
      <p:sp>
        <p:nvSpPr>
          <p:cNvPr id="624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Join Operation combine related tuples from two relations into a single tuple based on join condition.</a:t>
            </a:r>
          </a:p>
          <a:p>
            <a:pPr eaLnBrk="1" hangingPunct="1"/>
            <a:r>
              <a:rPr lang="en-US" altLang="en-US" smtClean="0"/>
              <a:t>Its is denoted by: r      </a:t>
            </a:r>
            <a:r>
              <a:rPr lang="en-US" altLang="en-US" sz="1800" smtClean="0"/>
              <a:t>&lt;</a:t>
            </a:r>
            <a:r>
              <a:rPr lang="en-US" altLang="en-US" sz="1600" i="1" smtClean="0"/>
              <a:t>join condition&gt;</a:t>
            </a:r>
            <a:r>
              <a:rPr lang="en-US" altLang="en-US" smtClean="0"/>
              <a:t>s</a:t>
            </a:r>
          </a:p>
        </p:txBody>
      </p:sp>
      <p:sp>
        <p:nvSpPr>
          <p:cNvPr id="62471" name="AutoShape 4"/>
          <p:cNvSpPr>
            <a:spLocks noChangeArrowheads="1"/>
          </p:cNvSpPr>
          <p:nvPr/>
        </p:nvSpPr>
        <p:spPr bwMode="auto">
          <a:xfrm>
            <a:off x="3810000" y="2971800"/>
            <a:ext cx="3810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JOIN Operation Example(1)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1066800"/>
          </a:xfrm>
        </p:spPr>
        <p:txBody>
          <a:bodyPr/>
          <a:lstStyle/>
          <a:p>
            <a:r>
              <a:rPr lang="en-US" altLang="en-US" smtClean="0"/>
              <a:t>Consider employee and department relations of an organization</a:t>
            </a: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auto">
          <a:xfrm>
            <a:off x="304800" y="2895600"/>
            <a:ext cx="162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cs typeface="Times New Roman" panose="02020603050405020304" pitchFamily="18" charset="0"/>
              </a:rPr>
              <a:t>Employee</a:t>
            </a:r>
            <a:endParaRPr lang="en-US" altLang="en-US" sz="3600" b="1"/>
          </a:p>
        </p:txBody>
      </p:sp>
      <p:graphicFrame>
        <p:nvGraphicFramePr>
          <p:cNvPr id="192517" name="Group 5">
            <a:extLst>
              <a:ext uri="{FF2B5EF4-FFF2-40B4-BE49-F238E27FC236}">
                <a16:creationId xmlns:a16="http://schemas.microsoft.com/office/drawing/2014/main" id="{12673CE2-77ED-1D48-9E9F-DF4E8EE83545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3352800"/>
          <a:ext cx="3749675" cy="2743200"/>
        </p:xfrm>
        <a:graphic>
          <a:graphicData uri="http://schemas.openxmlformats.org/drawingml/2006/table">
            <a:tbl>
              <a:tblPr/>
              <a:tblGrid>
                <a:gridCol w="1874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EID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ENAME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Naveed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Anees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1002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Khurram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1003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Asim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Mohsin</a:t>
                      </a:r>
                      <a:endParaRPr kumimoji="0" lang="en-US" sz="3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516" name="Rectangle 28"/>
          <p:cNvSpPr>
            <a:spLocks noChangeArrowheads="1"/>
          </p:cNvSpPr>
          <p:nvPr/>
        </p:nvSpPr>
        <p:spPr bwMode="auto">
          <a:xfrm>
            <a:off x="4267200" y="2895600"/>
            <a:ext cx="187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cs typeface="Times New Roman" panose="02020603050405020304" pitchFamily="18" charset="0"/>
              </a:rPr>
              <a:t>Department</a:t>
            </a:r>
            <a:endParaRPr lang="en-US" altLang="en-US" sz="3600" b="1"/>
          </a:p>
        </p:txBody>
      </p:sp>
      <p:graphicFrame>
        <p:nvGraphicFramePr>
          <p:cNvPr id="192541" name="Group 29">
            <a:extLst>
              <a:ext uri="{FF2B5EF4-FFF2-40B4-BE49-F238E27FC236}">
                <a16:creationId xmlns:a16="http://schemas.microsoft.com/office/drawing/2014/main" id="{D119C187-CE2F-934D-A57B-59F55F3CDB5C}"/>
              </a:ext>
            </a:extLst>
          </p:cNvPr>
          <p:cNvGraphicFramePr>
            <a:graphicFrameLocks noGrp="1"/>
          </p:cNvGraphicFramePr>
          <p:nvPr/>
        </p:nvGraphicFramePr>
        <p:xfrm>
          <a:off x="4267200" y="3352800"/>
          <a:ext cx="4572000" cy="28194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8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MGRID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Accounts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Development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Research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104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Management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1000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105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Academics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1004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JOIN Operation Example(2)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Now suppose we want to retrieve the name of manager of each department</a:t>
            </a:r>
          </a:p>
          <a:p>
            <a:r>
              <a:rPr lang="en-US" altLang="en-US" smtClean="0"/>
              <a:t>We need to combine each department tuple with the employee tuple whose EID matches with the MGRID in department tuple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JOIN Operation Example(3)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928813"/>
            <a:ext cx="8382000" cy="1828800"/>
          </a:xfrm>
        </p:spPr>
        <p:txBody>
          <a:bodyPr/>
          <a:lstStyle/>
          <a:p>
            <a:r>
              <a:rPr lang="en-US" altLang="en-US" sz="2800" smtClean="0"/>
              <a:t>We can do it in two ways</a:t>
            </a:r>
          </a:p>
          <a:p>
            <a:pPr lvl="1"/>
            <a:r>
              <a:rPr lang="en-US" altLang="en-US" sz="2400" smtClean="0"/>
              <a:t>(1) We can simply use cartesian product first and then project required attributes</a:t>
            </a:r>
          </a:p>
          <a:p>
            <a:endParaRPr lang="en-US" altLang="en-US" sz="2800" smtClean="0"/>
          </a:p>
        </p:txBody>
      </p:sp>
      <p:graphicFrame>
        <p:nvGraphicFramePr>
          <p:cNvPr id="6554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381000" y="4267200"/>
          <a:ext cx="82915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41" name="Equation" r:id="rId3" imgW="59245500" imgH="7458075" progId="Equation.3">
                  <p:embed/>
                </p:oleObj>
              </mc:Choice>
              <mc:Fallback>
                <p:oleObj name="Equation" r:id="rId3" imgW="59245500" imgH="7458075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267200"/>
                        <a:ext cx="8291513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JOIN Operation Example(4)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077200" cy="1293813"/>
          </a:xfrm>
        </p:spPr>
        <p:txBody>
          <a:bodyPr/>
          <a:lstStyle/>
          <a:p>
            <a:r>
              <a:rPr lang="en-US" altLang="en-US" sz="2800" smtClean="0"/>
              <a:t>We can do it in two ways</a:t>
            </a:r>
          </a:p>
          <a:p>
            <a:pPr lvl="1"/>
            <a:r>
              <a:rPr lang="en-US" altLang="en-US" sz="2400" smtClean="0"/>
              <a:t>(2) We can use JOIN operation (More common way)</a:t>
            </a:r>
          </a:p>
        </p:txBody>
      </p:sp>
      <p:graphicFrame>
        <p:nvGraphicFramePr>
          <p:cNvPr id="66564" name="Object 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57225" y="4114800"/>
          <a:ext cx="79295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6" name="Equation" r:id="rId3" imgW="137160000" imgH="7991475" progId="Equation.3">
                  <p:embed/>
                </p:oleObj>
              </mc:Choice>
              <mc:Fallback>
                <p:oleObj name="Equation" r:id="rId3" imgW="137160000" imgH="7991475" progId="Equation.3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4114800"/>
                        <a:ext cx="79295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57225" y="5105400"/>
          <a:ext cx="7670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67" name="Equation" r:id="rId5" imgW="46739175" imgH="3514725" progId="Equation.3">
                  <p:embed/>
                </p:oleObj>
              </mc:Choice>
              <mc:Fallback>
                <p:oleObj name="Equation" r:id="rId5" imgW="46739175" imgH="3514725" progId="Equation.3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" y="5105400"/>
                        <a:ext cx="7670800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JOIN Operation Example(5)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543800" cy="912813"/>
          </a:xfrm>
        </p:spPr>
        <p:txBody>
          <a:bodyPr/>
          <a:lstStyle/>
          <a:p>
            <a:r>
              <a:rPr lang="en-US" altLang="en-US" sz="2800" smtClean="0"/>
              <a:t>Result of both methods will be:</a:t>
            </a:r>
          </a:p>
        </p:txBody>
      </p:sp>
      <p:graphicFrame>
        <p:nvGraphicFramePr>
          <p:cNvPr id="196612" name="Group 4">
            <a:extLst>
              <a:ext uri="{FF2B5EF4-FFF2-40B4-BE49-F238E27FC236}">
                <a16:creationId xmlns:a16="http://schemas.microsoft.com/office/drawing/2014/main" id="{30DE8662-1AEF-4648-8942-759BCCA7F34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2819400"/>
          <a:ext cx="6934200" cy="3479800"/>
        </p:xfrm>
        <a:graphic>
          <a:graphicData uri="http://schemas.openxmlformats.org/drawingml/2006/table">
            <a:tbl>
              <a:tblPr/>
              <a:tblGrid>
                <a:gridCol w="2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DID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DNAME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MGRNAME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Accounts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Naveed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102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Development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Anees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103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Research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Anees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104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Management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Naveed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105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Academics</a:t>
                      </a:r>
                      <a:endParaRPr kumimoji="0" lang="en-US" sz="4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Mohsin</a:t>
                      </a:r>
                      <a:endParaRPr kumimoji="0" lang="en-US" sz="4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7618" name="Rectangle 34"/>
          <p:cNvSpPr>
            <a:spLocks noChangeArrowheads="1"/>
          </p:cNvSpPr>
          <p:nvPr/>
        </p:nvSpPr>
        <p:spPr bwMode="auto">
          <a:xfrm>
            <a:off x="838200" y="2286000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>
                <a:cs typeface="Times New Roman" panose="02020603050405020304" pitchFamily="18" charset="0"/>
              </a:rPr>
              <a:t>Result</a:t>
            </a:r>
            <a:endParaRPr lang="en-US" altLang="en-US" sz="36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B42244-0D47-40FE-9786-7410933A4FC2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6861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6861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21CE33-67E3-4602-BABE-583275A39E53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200" smtClean="0"/>
          </a:p>
        </p:txBody>
      </p:sp>
      <p:sp>
        <p:nvSpPr>
          <p:cNvPr id="686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Characteristic of the Join Operation</a:t>
            </a:r>
          </a:p>
        </p:txBody>
      </p:sp>
      <p:sp>
        <p:nvSpPr>
          <p:cNvPr id="686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77200" cy="4648200"/>
          </a:xfrm>
        </p:spPr>
        <p:txBody>
          <a:bodyPr/>
          <a:lstStyle/>
          <a:p>
            <a:pPr eaLnBrk="1" hangingPunct="1"/>
            <a:r>
              <a:rPr lang="en-US" altLang="en-US" smtClean="0"/>
              <a:t>Degree of the </a:t>
            </a:r>
            <a:r>
              <a:rPr lang="en-US" altLang="en-US" i="1" smtClean="0"/>
              <a:t>r      s</a:t>
            </a:r>
            <a:r>
              <a:rPr lang="en-US" altLang="en-US" smtClean="0"/>
              <a:t> = degree(r) + degree(s).</a:t>
            </a:r>
          </a:p>
          <a:p>
            <a:pPr eaLnBrk="1" hangingPunct="1"/>
            <a:endParaRPr lang="en-US" altLang="en-US" sz="1000" smtClean="0"/>
          </a:p>
          <a:p>
            <a:pPr eaLnBrk="1" hangingPunct="1"/>
            <a:r>
              <a:rPr lang="en-US" altLang="en-US" smtClean="0"/>
              <a:t>Cardinality of </a:t>
            </a:r>
            <a:r>
              <a:rPr lang="en-US" altLang="en-US" i="1" smtClean="0"/>
              <a:t>r       s</a:t>
            </a:r>
            <a:r>
              <a:rPr lang="en-US" altLang="en-US" smtClean="0"/>
              <a:t>  is between 0 and cardinality (r) * cardinality(s).</a:t>
            </a:r>
          </a:p>
          <a:p>
            <a:pPr eaLnBrk="1" hangingPunct="1"/>
            <a:endParaRPr lang="en-US" altLang="en-US" sz="1000" smtClean="0"/>
          </a:p>
          <a:p>
            <a:pPr eaLnBrk="1" hangingPunct="1"/>
            <a:r>
              <a:rPr lang="en-US" altLang="en-US" smtClean="0"/>
              <a:t>The order of attributes in r      s is { A</a:t>
            </a:r>
            <a:r>
              <a:rPr lang="en-US" altLang="en-US" sz="1600" smtClean="0"/>
              <a:t>1</a:t>
            </a:r>
            <a:r>
              <a:rPr lang="en-US" altLang="en-US" smtClean="0"/>
              <a:t>, A</a:t>
            </a:r>
            <a:r>
              <a:rPr lang="en-US" altLang="en-US" sz="1600" smtClean="0"/>
              <a:t>2</a:t>
            </a:r>
            <a:r>
              <a:rPr lang="en-US" altLang="en-US" smtClean="0"/>
              <a:t>, …, A</a:t>
            </a:r>
            <a:r>
              <a:rPr lang="en-US" altLang="en-US" sz="1600" smtClean="0"/>
              <a:t>n</a:t>
            </a:r>
            <a:r>
              <a:rPr lang="en-US" altLang="en-US" smtClean="0"/>
              <a:t>, B</a:t>
            </a:r>
            <a:r>
              <a:rPr lang="en-US" altLang="en-US" sz="1600" smtClean="0"/>
              <a:t>1</a:t>
            </a:r>
            <a:r>
              <a:rPr lang="en-US" altLang="en-US" smtClean="0"/>
              <a:t>, B</a:t>
            </a:r>
            <a:r>
              <a:rPr lang="en-US" altLang="en-US" sz="1600" smtClean="0"/>
              <a:t>2</a:t>
            </a:r>
            <a:r>
              <a:rPr lang="en-US" altLang="en-US" smtClean="0"/>
              <a:t>, …, B</a:t>
            </a:r>
            <a:r>
              <a:rPr lang="en-US" altLang="en-US" sz="1600" smtClean="0"/>
              <a:t>m</a:t>
            </a:r>
            <a:r>
              <a:rPr lang="en-US" altLang="en-US" smtClean="0"/>
              <a:t>} where A</a:t>
            </a:r>
            <a:r>
              <a:rPr lang="en-US" altLang="en-US" sz="1600" smtClean="0"/>
              <a:t>1</a:t>
            </a:r>
            <a:r>
              <a:rPr lang="en-US" altLang="en-US" smtClean="0"/>
              <a:t>, A</a:t>
            </a:r>
            <a:r>
              <a:rPr lang="en-US" altLang="en-US" sz="1600" smtClean="0"/>
              <a:t>2</a:t>
            </a:r>
            <a:r>
              <a:rPr lang="en-US" altLang="en-US" smtClean="0"/>
              <a:t>, …, A</a:t>
            </a:r>
            <a:r>
              <a:rPr lang="en-US" altLang="en-US" sz="1600" smtClean="0"/>
              <a:t>n </a:t>
            </a:r>
            <a:r>
              <a:rPr lang="en-US" altLang="en-US" smtClean="0"/>
              <a:t>attributes of </a:t>
            </a:r>
            <a:r>
              <a:rPr lang="en-US" altLang="en-US" i="1" smtClean="0"/>
              <a:t>r</a:t>
            </a:r>
            <a:r>
              <a:rPr lang="en-US" altLang="en-US" smtClean="0"/>
              <a:t> and B</a:t>
            </a:r>
            <a:r>
              <a:rPr lang="en-US" altLang="en-US" sz="1600" smtClean="0"/>
              <a:t>1</a:t>
            </a:r>
            <a:r>
              <a:rPr lang="en-US" altLang="en-US" smtClean="0"/>
              <a:t>, B</a:t>
            </a:r>
            <a:r>
              <a:rPr lang="en-US" altLang="en-US" sz="1600" smtClean="0"/>
              <a:t>2</a:t>
            </a:r>
            <a:r>
              <a:rPr lang="en-US" altLang="en-US" smtClean="0"/>
              <a:t>, …, B</a:t>
            </a:r>
            <a:r>
              <a:rPr lang="en-US" altLang="en-US" sz="1600" smtClean="0"/>
              <a:t>m </a:t>
            </a:r>
            <a:r>
              <a:rPr lang="en-US" altLang="en-US" smtClean="0"/>
              <a:t>are attributes of </a:t>
            </a:r>
            <a:r>
              <a:rPr lang="en-US" altLang="en-US" i="1" smtClean="0"/>
              <a:t>s</a:t>
            </a:r>
            <a:r>
              <a:rPr lang="en-US" altLang="en-US" smtClean="0"/>
              <a:t>. </a:t>
            </a:r>
          </a:p>
          <a:p>
            <a:pPr eaLnBrk="1" hangingPunct="1"/>
            <a:endParaRPr lang="en-US" altLang="en-US" sz="1000" smtClean="0"/>
          </a:p>
          <a:p>
            <a:pPr eaLnBrk="1" hangingPunct="1"/>
            <a:r>
              <a:rPr lang="en-US" altLang="en-US" smtClean="0"/>
              <a:t>The resulting relation has one tuple for each combination of tuples – one from r and one for s – whenever the combination satisfies the join condition.</a:t>
            </a:r>
          </a:p>
        </p:txBody>
      </p:sp>
      <p:sp>
        <p:nvSpPr>
          <p:cNvPr id="68615" name="AutoShape 4"/>
          <p:cNvSpPr>
            <a:spLocks noChangeArrowheads="1"/>
          </p:cNvSpPr>
          <p:nvPr/>
        </p:nvSpPr>
        <p:spPr bwMode="auto">
          <a:xfrm>
            <a:off x="3352800" y="19812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68616" name="AutoShape 5"/>
          <p:cNvSpPr>
            <a:spLocks noChangeArrowheads="1"/>
          </p:cNvSpPr>
          <p:nvPr/>
        </p:nvSpPr>
        <p:spPr bwMode="auto">
          <a:xfrm>
            <a:off x="3276600" y="25908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68617" name="AutoShape 6"/>
          <p:cNvSpPr>
            <a:spLocks noChangeArrowheads="1"/>
          </p:cNvSpPr>
          <p:nvPr/>
        </p:nvSpPr>
        <p:spPr bwMode="auto">
          <a:xfrm>
            <a:off x="4800600" y="35814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B47BAA-A4F5-49B5-8ADA-3D30A09F574B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6963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696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1A5A07-3206-41B4-8A56-FA3802ED3738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200" smtClean="0"/>
          </a:p>
        </p:txBody>
      </p:sp>
      <p:sp>
        <p:nvSpPr>
          <p:cNvPr id="696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Types of Join Operation</a:t>
            </a:r>
          </a:p>
        </p:txBody>
      </p:sp>
      <p:sp>
        <p:nvSpPr>
          <p:cNvPr id="696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Theta join +</a:t>
            </a:r>
          </a:p>
          <a:p>
            <a:pPr eaLnBrk="1" hangingPunct="1"/>
            <a:r>
              <a:rPr lang="en-US" altLang="en-US" smtClean="0"/>
              <a:t>Equijoin +</a:t>
            </a:r>
          </a:p>
          <a:p>
            <a:pPr eaLnBrk="1" hangingPunct="1"/>
            <a:r>
              <a:rPr lang="en-US" altLang="en-US" smtClean="0"/>
              <a:t>Natural join +</a:t>
            </a:r>
          </a:p>
          <a:p>
            <a:pPr eaLnBrk="1" hangingPunct="1"/>
            <a:r>
              <a:rPr lang="en-US" altLang="en-US" smtClean="0"/>
              <a:t>Outer Join +</a:t>
            </a:r>
          </a:p>
          <a:p>
            <a:pPr lvl="1" eaLnBrk="1" hangingPunct="1"/>
            <a:r>
              <a:rPr lang="en-US" altLang="en-US" smtClean="0"/>
              <a:t>Left Outer Join +</a:t>
            </a:r>
          </a:p>
          <a:p>
            <a:pPr lvl="1" eaLnBrk="1" hangingPunct="1"/>
            <a:r>
              <a:rPr lang="en-US" altLang="en-US" smtClean="0"/>
              <a:t>Right Outer Join +</a:t>
            </a:r>
          </a:p>
          <a:p>
            <a:pPr lvl="1" eaLnBrk="1" hangingPunct="1"/>
            <a:r>
              <a:rPr lang="en-US" altLang="en-US" smtClean="0"/>
              <a:t>Full Outer Join 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5EB129-5244-48E0-B0B2-B26238D89C0A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065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06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0F4A35-CF7A-4AF3-8F38-AD4CBDB860B8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200" smtClean="0"/>
          </a:p>
        </p:txBody>
      </p:sp>
      <p:sp>
        <p:nvSpPr>
          <p:cNvPr id="706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Tables Used in Coming Examples</a:t>
            </a:r>
          </a:p>
        </p:txBody>
      </p:sp>
      <p:sp>
        <p:nvSpPr>
          <p:cNvPr id="706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0038" y="2660650"/>
            <a:ext cx="812800" cy="4476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 b="1" smtClean="0"/>
              <a:t>loan</a:t>
            </a:r>
          </a:p>
        </p:txBody>
      </p:sp>
      <p:sp>
        <p:nvSpPr>
          <p:cNvPr id="70663" name="Rectangle 4"/>
          <p:cNvSpPr>
            <a:spLocks noChangeArrowheads="1"/>
          </p:cNvSpPr>
          <p:nvPr/>
        </p:nvSpPr>
        <p:spPr bwMode="auto">
          <a:xfrm>
            <a:off x="3886200" y="5686425"/>
            <a:ext cx="15113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1800" b="1">
                <a:latin typeface="Helvetica" panose="020B0604020202020204" pitchFamily="34" charset="0"/>
              </a:rPr>
              <a:t>borrower</a:t>
            </a:r>
          </a:p>
        </p:txBody>
      </p:sp>
      <p:grpSp>
        <p:nvGrpSpPr>
          <p:cNvPr id="70664" name="Group 5"/>
          <p:cNvGrpSpPr>
            <a:grpSpLocks/>
          </p:cNvGrpSpPr>
          <p:nvPr/>
        </p:nvGrpSpPr>
        <p:grpSpPr bwMode="auto">
          <a:xfrm>
            <a:off x="3048000" y="4467225"/>
            <a:ext cx="3276600" cy="1219200"/>
            <a:chOff x="1536" y="2576"/>
            <a:chExt cx="2064" cy="768"/>
          </a:xfrm>
        </p:grpSpPr>
        <p:sp>
          <p:nvSpPr>
            <p:cNvPr id="70673" name="Rectangle 6"/>
            <p:cNvSpPr>
              <a:spLocks noChangeArrowheads="1"/>
            </p:cNvSpPr>
            <p:nvPr/>
          </p:nvSpPr>
          <p:spPr bwMode="auto">
            <a:xfrm>
              <a:off x="1536" y="2576"/>
              <a:ext cx="105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customer-name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0674" name="Rectangle 7"/>
            <p:cNvSpPr>
              <a:spLocks noChangeArrowheads="1"/>
            </p:cNvSpPr>
            <p:nvPr/>
          </p:nvSpPr>
          <p:spPr bwMode="auto">
            <a:xfrm>
              <a:off x="2592" y="2576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loan-number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0675" name="Rectangle 8"/>
            <p:cNvSpPr>
              <a:spLocks noChangeArrowheads="1"/>
            </p:cNvSpPr>
            <p:nvPr/>
          </p:nvSpPr>
          <p:spPr bwMode="auto">
            <a:xfrm>
              <a:off x="1536" y="2816"/>
              <a:ext cx="1056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Adel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Sami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Hashem</a:t>
              </a:r>
            </a:p>
          </p:txBody>
        </p:sp>
        <p:sp>
          <p:nvSpPr>
            <p:cNvPr id="70676" name="Rectangle 9"/>
            <p:cNvSpPr>
              <a:spLocks noChangeArrowheads="1"/>
            </p:cNvSpPr>
            <p:nvPr/>
          </p:nvSpPr>
          <p:spPr bwMode="auto">
            <a:xfrm>
              <a:off x="2592" y="2816"/>
              <a:ext cx="100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L-170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L-230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L-155</a:t>
              </a:r>
            </a:p>
          </p:txBody>
        </p:sp>
      </p:grpSp>
      <p:grpSp>
        <p:nvGrpSpPr>
          <p:cNvPr id="70665" name="Group 10"/>
          <p:cNvGrpSpPr>
            <a:grpSpLocks/>
          </p:cNvGrpSpPr>
          <p:nvPr/>
        </p:nvGrpSpPr>
        <p:grpSpPr bwMode="auto">
          <a:xfrm>
            <a:off x="2565400" y="3022600"/>
            <a:ext cx="4292600" cy="1223963"/>
            <a:chOff x="1288" y="1229"/>
            <a:chExt cx="2704" cy="771"/>
          </a:xfrm>
        </p:grpSpPr>
        <p:sp>
          <p:nvSpPr>
            <p:cNvPr id="70667" name="Rectangle 11"/>
            <p:cNvSpPr>
              <a:spLocks noChangeArrowheads="1"/>
            </p:cNvSpPr>
            <p:nvPr/>
          </p:nvSpPr>
          <p:spPr bwMode="auto">
            <a:xfrm>
              <a:off x="3272" y="1472"/>
              <a:ext cx="720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3000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4000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1700</a:t>
              </a:r>
            </a:p>
          </p:txBody>
        </p:sp>
        <p:sp>
          <p:nvSpPr>
            <p:cNvPr id="70668" name="Rectangle 12"/>
            <p:cNvSpPr>
              <a:spLocks noChangeArrowheads="1"/>
            </p:cNvSpPr>
            <p:nvPr/>
          </p:nvSpPr>
          <p:spPr bwMode="auto">
            <a:xfrm>
              <a:off x="1288" y="1232"/>
              <a:ext cx="990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loan-number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0669" name="Rectangle 13"/>
            <p:cNvSpPr>
              <a:spLocks noChangeArrowheads="1"/>
            </p:cNvSpPr>
            <p:nvPr/>
          </p:nvSpPr>
          <p:spPr bwMode="auto">
            <a:xfrm>
              <a:off x="3269" y="1232"/>
              <a:ext cx="707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amount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0670" name="Rectangle 14"/>
            <p:cNvSpPr>
              <a:spLocks noChangeArrowheads="1"/>
            </p:cNvSpPr>
            <p:nvPr/>
          </p:nvSpPr>
          <p:spPr bwMode="auto">
            <a:xfrm>
              <a:off x="1288" y="1472"/>
              <a:ext cx="990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L-170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L-230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L-260</a:t>
              </a:r>
            </a:p>
          </p:txBody>
        </p:sp>
        <p:sp>
          <p:nvSpPr>
            <p:cNvPr id="70671" name="Rectangle 15"/>
            <p:cNvSpPr>
              <a:spLocks noChangeArrowheads="1"/>
            </p:cNvSpPr>
            <p:nvPr/>
          </p:nvSpPr>
          <p:spPr bwMode="auto">
            <a:xfrm>
              <a:off x="2281" y="1229"/>
              <a:ext cx="991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branch-name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0672" name="Rectangle 16"/>
            <p:cNvSpPr>
              <a:spLocks noChangeArrowheads="1"/>
            </p:cNvSpPr>
            <p:nvPr/>
          </p:nvSpPr>
          <p:spPr bwMode="auto">
            <a:xfrm>
              <a:off x="2281" y="1469"/>
              <a:ext cx="991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Khobar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Riyadh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Dammam</a:t>
              </a:r>
            </a:p>
          </p:txBody>
        </p:sp>
      </p:grpSp>
      <p:sp>
        <p:nvSpPr>
          <p:cNvPr id="70666" name="Text Box 17"/>
          <p:cNvSpPr txBox="1">
            <a:spLocks noChangeArrowheads="1"/>
          </p:cNvSpPr>
          <p:nvPr/>
        </p:nvSpPr>
        <p:spPr bwMode="auto">
          <a:xfrm>
            <a:off x="1050925" y="1828800"/>
            <a:ext cx="7124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en-US"/>
              <a:t> </a:t>
            </a:r>
            <a:r>
              <a:rPr lang="en-US" altLang="en-US" sz="2000"/>
              <a:t>The following two tables will be used in coming examples.</a:t>
            </a:r>
            <a:r>
              <a:rPr lang="en-US" altLang="en-US"/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9F8106-6593-4496-A1B3-3A4C8895D041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168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16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CAB3383-DF82-44E1-927F-7E0E9FD0EC47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200" smtClean="0"/>
          </a:p>
        </p:txBody>
      </p:sp>
      <p:sp>
        <p:nvSpPr>
          <p:cNvPr id="716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Theta Join</a:t>
            </a:r>
          </a:p>
        </p:txBody>
      </p:sp>
      <p:sp>
        <p:nvSpPr>
          <p:cNvPr id="716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077200" cy="1066800"/>
          </a:xfrm>
        </p:spPr>
        <p:txBody>
          <a:bodyPr/>
          <a:lstStyle/>
          <a:p>
            <a:pPr eaLnBrk="1" hangingPunct="1"/>
            <a:r>
              <a:rPr lang="en-US" altLang="en-US" smtClean="0"/>
              <a:t>It is denoted by: r     </a:t>
            </a:r>
            <a:r>
              <a:rPr lang="en-US" altLang="en-US" sz="1800" smtClean="0"/>
              <a:t>&lt;</a:t>
            </a:r>
            <a:r>
              <a:rPr lang="en-US" altLang="en-US" sz="1600" i="1" smtClean="0"/>
              <a:t>r.A </a:t>
            </a:r>
            <a:r>
              <a:rPr lang="el-GR" altLang="en-US" sz="1600" smtClean="0"/>
              <a:t>θ</a:t>
            </a:r>
            <a:r>
              <a:rPr lang="en-US" altLang="en-US" sz="1600" i="1" smtClean="0"/>
              <a:t> s.B&gt; </a:t>
            </a:r>
            <a:r>
              <a:rPr lang="en-US" altLang="en-US" smtClean="0"/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mtClean="0"/>
              <a:t>    Where </a:t>
            </a:r>
            <a:r>
              <a:rPr lang="el-GR" altLang="en-US" smtClean="0"/>
              <a:t>θ</a:t>
            </a:r>
            <a:r>
              <a:rPr lang="en-US" altLang="en-US" smtClean="0"/>
              <a:t> = {=, ≠, &lt; , &gt;, ≤, ≥} 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71687" name="AutoShape 5"/>
          <p:cNvSpPr>
            <a:spLocks noChangeArrowheads="1"/>
          </p:cNvSpPr>
          <p:nvPr/>
        </p:nvSpPr>
        <p:spPr bwMode="auto">
          <a:xfrm>
            <a:off x="3810000" y="21336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1688" name="Text Box 6"/>
          <p:cNvSpPr txBox="1">
            <a:spLocks noChangeArrowheads="1"/>
          </p:cNvSpPr>
          <p:nvPr/>
        </p:nvSpPr>
        <p:spPr bwMode="auto">
          <a:xfrm>
            <a:off x="838200" y="3429000"/>
            <a:ext cx="70104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/>
              <a:t>loan       </a:t>
            </a:r>
            <a:r>
              <a:rPr lang="en-US" altLang="en-US" sz="1200" i="1"/>
              <a:t>l.Loan-number = b.loan-number</a:t>
            </a:r>
            <a:r>
              <a:rPr lang="en-US" altLang="en-US" i="1"/>
              <a:t> Borrower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1689" name="AutoShape 7"/>
          <p:cNvSpPr>
            <a:spLocks noChangeArrowheads="1"/>
          </p:cNvSpPr>
          <p:nvPr/>
        </p:nvSpPr>
        <p:spPr bwMode="auto">
          <a:xfrm>
            <a:off x="1752600" y="35052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1690" name="Rectangle 8"/>
          <p:cNvSpPr>
            <a:spLocks noChangeArrowheads="1"/>
          </p:cNvSpPr>
          <p:nvPr/>
        </p:nvSpPr>
        <p:spPr bwMode="auto">
          <a:xfrm>
            <a:off x="304800" y="4800600"/>
            <a:ext cx="853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1691" name="Text Box 9"/>
          <p:cNvSpPr txBox="1">
            <a:spLocks noChangeArrowheads="1"/>
          </p:cNvSpPr>
          <p:nvPr/>
        </p:nvSpPr>
        <p:spPr bwMode="auto">
          <a:xfrm>
            <a:off x="304800" y="4814888"/>
            <a:ext cx="15287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Loan-number</a:t>
            </a:r>
          </a:p>
        </p:txBody>
      </p:sp>
      <p:sp>
        <p:nvSpPr>
          <p:cNvPr id="71692" name="Text Box 10"/>
          <p:cNvSpPr txBox="1">
            <a:spLocks noChangeArrowheads="1"/>
          </p:cNvSpPr>
          <p:nvPr/>
        </p:nvSpPr>
        <p:spPr bwMode="auto">
          <a:xfrm>
            <a:off x="2057400" y="4814888"/>
            <a:ext cx="1524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Branch-name</a:t>
            </a:r>
          </a:p>
        </p:txBody>
      </p:sp>
      <p:sp>
        <p:nvSpPr>
          <p:cNvPr id="71693" name="Text Box 11"/>
          <p:cNvSpPr txBox="1">
            <a:spLocks noChangeArrowheads="1"/>
          </p:cNvSpPr>
          <p:nvPr/>
        </p:nvSpPr>
        <p:spPr bwMode="auto">
          <a:xfrm>
            <a:off x="3810000" y="48006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amount</a:t>
            </a:r>
          </a:p>
        </p:txBody>
      </p:sp>
      <p:sp>
        <p:nvSpPr>
          <p:cNvPr id="71694" name="Text Box 12"/>
          <p:cNvSpPr txBox="1">
            <a:spLocks noChangeArrowheads="1"/>
          </p:cNvSpPr>
          <p:nvPr/>
        </p:nvSpPr>
        <p:spPr bwMode="auto">
          <a:xfrm>
            <a:off x="7239000" y="4800600"/>
            <a:ext cx="1528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Loan-number</a:t>
            </a:r>
          </a:p>
        </p:txBody>
      </p:sp>
      <p:sp>
        <p:nvSpPr>
          <p:cNvPr id="71695" name="Text Box 13"/>
          <p:cNvSpPr txBox="1">
            <a:spLocks noChangeArrowheads="1"/>
          </p:cNvSpPr>
          <p:nvPr/>
        </p:nvSpPr>
        <p:spPr bwMode="auto">
          <a:xfrm>
            <a:off x="5146675" y="4800600"/>
            <a:ext cx="178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Customer-name</a:t>
            </a:r>
          </a:p>
        </p:txBody>
      </p:sp>
      <p:sp>
        <p:nvSpPr>
          <p:cNvPr id="71696" name="Line 14"/>
          <p:cNvSpPr>
            <a:spLocks noChangeShapeType="1"/>
          </p:cNvSpPr>
          <p:nvPr/>
        </p:nvSpPr>
        <p:spPr bwMode="auto">
          <a:xfrm>
            <a:off x="1905000" y="4800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697" name="Line 15"/>
          <p:cNvSpPr>
            <a:spLocks noChangeShapeType="1"/>
          </p:cNvSpPr>
          <p:nvPr/>
        </p:nvSpPr>
        <p:spPr bwMode="auto">
          <a:xfrm>
            <a:off x="3733800" y="4800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698" name="Line 16"/>
          <p:cNvSpPr>
            <a:spLocks noChangeShapeType="1"/>
          </p:cNvSpPr>
          <p:nvPr/>
        </p:nvSpPr>
        <p:spPr bwMode="auto">
          <a:xfrm>
            <a:off x="4876800" y="4800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699" name="Line 17"/>
          <p:cNvSpPr>
            <a:spLocks noChangeShapeType="1"/>
          </p:cNvSpPr>
          <p:nvPr/>
        </p:nvSpPr>
        <p:spPr bwMode="auto">
          <a:xfrm>
            <a:off x="7086600" y="4800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00" name="Rectangle 18"/>
          <p:cNvSpPr>
            <a:spLocks noChangeArrowheads="1"/>
          </p:cNvSpPr>
          <p:nvPr/>
        </p:nvSpPr>
        <p:spPr bwMode="auto">
          <a:xfrm>
            <a:off x="304800" y="5257800"/>
            <a:ext cx="853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1701" name="Text Box 19"/>
          <p:cNvSpPr txBox="1">
            <a:spLocks noChangeArrowheads="1"/>
          </p:cNvSpPr>
          <p:nvPr/>
        </p:nvSpPr>
        <p:spPr bwMode="auto">
          <a:xfrm>
            <a:off x="304800" y="5272088"/>
            <a:ext cx="757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L-170</a:t>
            </a:r>
          </a:p>
        </p:txBody>
      </p:sp>
      <p:sp>
        <p:nvSpPr>
          <p:cNvPr id="71702" name="Text Box 20"/>
          <p:cNvSpPr txBox="1">
            <a:spLocks noChangeArrowheads="1"/>
          </p:cNvSpPr>
          <p:nvPr/>
        </p:nvSpPr>
        <p:spPr bwMode="auto">
          <a:xfrm>
            <a:off x="2057400" y="5272088"/>
            <a:ext cx="900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Khobar</a:t>
            </a:r>
          </a:p>
        </p:txBody>
      </p:sp>
      <p:sp>
        <p:nvSpPr>
          <p:cNvPr id="71703" name="Text Box 21"/>
          <p:cNvSpPr txBox="1">
            <a:spLocks noChangeArrowheads="1"/>
          </p:cNvSpPr>
          <p:nvPr/>
        </p:nvSpPr>
        <p:spPr bwMode="auto">
          <a:xfrm>
            <a:off x="3810000" y="52578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3000</a:t>
            </a:r>
          </a:p>
        </p:txBody>
      </p:sp>
      <p:sp>
        <p:nvSpPr>
          <p:cNvPr id="71704" name="Text Box 22"/>
          <p:cNvSpPr txBox="1">
            <a:spLocks noChangeArrowheads="1"/>
          </p:cNvSpPr>
          <p:nvPr/>
        </p:nvSpPr>
        <p:spPr bwMode="auto">
          <a:xfrm>
            <a:off x="7239000" y="5257800"/>
            <a:ext cx="75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L-170</a:t>
            </a:r>
          </a:p>
        </p:txBody>
      </p:sp>
      <p:sp>
        <p:nvSpPr>
          <p:cNvPr id="71705" name="Text Box 23"/>
          <p:cNvSpPr txBox="1">
            <a:spLocks noChangeArrowheads="1"/>
          </p:cNvSpPr>
          <p:nvPr/>
        </p:nvSpPr>
        <p:spPr bwMode="auto">
          <a:xfrm>
            <a:off x="5146675" y="5257800"/>
            <a:ext cx="620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Adel</a:t>
            </a:r>
          </a:p>
        </p:txBody>
      </p:sp>
      <p:sp>
        <p:nvSpPr>
          <p:cNvPr id="71706" name="Line 24"/>
          <p:cNvSpPr>
            <a:spLocks noChangeShapeType="1"/>
          </p:cNvSpPr>
          <p:nvPr/>
        </p:nvSpPr>
        <p:spPr bwMode="auto">
          <a:xfrm>
            <a:off x="19050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07" name="Line 25"/>
          <p:cNvSpPr>
            <a:spLocks noChangeShapeType="1"/>
          </p:cNvSpPr>
          <p:nvPr/>
        </p:nvSpPr>
        <p:spPr bwMode="auto">
          <a:xfrm>
            <a:off x="37338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08" name="Line 26"/>
          <p:cNvSpPr>
            <a:spLocks noChangeShapeType="1"/>
          </p:cNvSpPr>
          <p:nvPr/>
        </p:nvSpPr>
        <p:spPr bwMode="auto">
          <a:xfrm>
            <a:off x="48768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09" name="Line 27"/>
          <p:cNvSpPr>
            <a:spLocks noChangeShapeType="1"/>
          </p:cNvSpPr>
          <p:nvPr/>
        </p:nvSpPr>
        <p:spPr bwMode="auto">
          <a:xfrm>
            <a:off x="70866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10" name="Rectangle 28"/>
          <p:cNvSpPr>
            <a:spLocks noChangeArrowheads="1"/>
          </p:cNvSpPr>
          <p:nvPr/>
        </p:nvSpPr>
        <p:spPr bwMode="auto">
          <a:xfrm>
            <a:off x="304800" y="5638800"/>
            <a:ext cx="853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1711" name="Text Box 29"/>
          <p:cNvSpPr txBox="1">
            <a:spLocks noChangeArrowheads="1"/>
          </p:cNvSpPr>
          <p:nvPr/>
        </p:nvSpPr>
        <p:spPr bwMode="auto">
          <a:xfrm>
            <a:off x="304800" y="5653088"/>
            <a:ext cx="757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L-230</a:t>
            </a:r>
          </a:p>
        </p:txBody>
      </p:sp>
      <p:sp>
        <p:nvSpPr>
          <p:cNvPr id="71712" name="Text Box 30"/>
          <p:cNvSpPr txBox="1">
            <a:spLocks noChangeArrowheads="1"/>
          </p:cNvSpPr>
          <p:nvPr/>
        </p:nvSpPr>
        <p:spPr bwMode="auto">
          <a:xfrm>
            <a:off x="2057400" y="5653088"/>
            <a:ext cx="866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Riyadh</a:t>
            </a:r>
          </a:p>
        </p:txBody>
      </p:sp>
      <p:sp>
        <p:nvSpPr>
          <p:cNvPr id="71713" name="Text Box 31"/>
          <p:cNvSpPr txBox="1">
            <a:spLocks noChangeArrowheads="1"/>
          </p:cNvSpPr>
          <p:nvPr/>
        </p:nvSpPr>
        <p:spPr bwMode="auto">
          <a:xfrm>
            <a:off x="3810000" y="56388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4000</a:t>
            </a:r>
          </a:p>
        </p:txBody>
      </p:sp>
      <p:sp>
        <p:nvSpPr>
          <p:cNvPr id="71714" name="Text Box 32"/>
          <p:cNvSpPr txBox="1">
            <a:spLocks noChangeArrowheads="1"/>
          </p:cNvSpPr>
          <p:nvPr/>
        </p:nvSpPr>
        <p:spPr bwMode="auto">
          <a:xfrm>
            <a:off x="7239000" y="5638800"/>
            <a:ext cx="75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L-230</a:t>
            </a:r>
          </a:p>
        </p:txBody>
      </p:sp>
      <p:sp>
        <p:nvSpPr>
          <p:cNvPr id="71715" name="Text Box 33"/>
          <p:cNvSpPr txBox="1">
            <a:spLocks noChangeArrowheads="1"/>
          </p:cNvSpPr>
          <p:nvPr/>
        </p:nvSpPr>
        <p:spPr bwMode="auto">
          <a:xfrm>
            <a:off x="5146675" y="56388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71716" name="Line 34"/>
          <p:cNvSpPr>
            <a:spLocks noChangeShapeType="1"/>
          </p:cNvSpPr>
          <p:nvPr/>
        </p:nvSpPr>
        <p:spPr bwMode="auto">
          <a:xfrm>
            <a:off x="19050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17" name="Line 35"/>
          <p:cNvSpPr>
            <a:spLocks noChangeShapeType="1"/>
          </p:cNvSpPr>
          <p:nvPr/>
        </p:nvSpPr>
        <p:spPr bwMode="auto">
          <a:xfrm>
            <a:off x="37338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18" name="Line 36"/>
          <p:cNvSpPr>
            <a:spLocks noChangeShapeType="1"/>
          </p:cNvSpPr>
          <p:nvPr/>
        </p:nvSpPr>
        <p:spPr bwMode="auto">
          <a:xfrm>
            <a:off x="48768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19" name="Line 37"/>
          <p:cNvSpPr>
            <a:spLocks noChangeShapeType="1"/>
          </p:cNvSpPr>
          <p:nvPr/>
        </p:nvSpPr>
        <p:spPr bwMode="auto">
          <a:xfrm>
            <a:off x="70866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720" name="Line 38"/>
          <p:cNvSpPr>
            <a:spLocks noChangeShapeType="1"/>
          </p:cNvSpPr>
          <p:nvPr/>
        </p:nvSpPr>
        <p:spPr bwMode="auto">
          <a:xfrm>
            <a:off x="3810000" y="4038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pic>
        <p:nvPicPr>
          <p:cNvPr id="717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863" y="2078038"/>
            <a:ext cx="272415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B9A948-D634-43FE-88E3-88A26DAE612D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270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27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AF9F57-692B-4897-90B3-88E27C096BAA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200" smtClean="0"/>
          </a:p>
        </p:txBody>
      </p:sp>
      <p:sp>
        <p:nvSpPr>
          <p:cNvPr id="727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Equijoin</a:t>
            </a:r>
          </a:p>
        </p:txBody>
      </p:sp>
      <p:sp>
        <p:nvSpPr>
          <p:cNvPr id="7271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The most common join involves join conditions with equality comparisons, where </a:t>
            </a:r>
            <a:r>
              <a:rPr lang="el-GR" altLang="en-US" smtClean="0"/>
              <a:t>θ</a:t>
            </a:r>
            <a:r>
              <a:rPr lang="en-US" altLang="en-US" smtClean="0"/>
              <a:t> is ‘</a:t>
            </a:r>
            <a:r>
              <a:rPr lang="en-US" altLang="en-US" smtClean="0">
                <a:solidFill>
                  <a:srgbClr val="FF0000"/>
                </a:solidFill>
              </a:rPr>
              <a:t>=</a:t>
            </a:r>
            <a:r>
              <a:rPr lang="en-US" altLang="en-US" smtClean="0"/>
              <a:t>‘. This special type of Theta join is called Equijoin.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2CE5130-1A22-4A58-93D0-A0482F53EFDE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37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37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A990B3B-BF1D-4BC4-954F-4F8AA1948DA4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200" smtClean="0"/>
          </a:p>
        </p:txBody>
      </p:sp>
      <p:sp>
        <p:nvSpPr>
          <p:cNvPr id="737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Equijoin</a:t>
            </a:r>
          </a:p>
        </p:txBody>
      </p:sp>
      <p:sp>
        <p:nvSpPr>
          <p:cNvPr id="737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9154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smtClean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smtClean="0"/>
          </a:p>
          <a:p>
            <a:pPr eaLnBrk="1" hangingPunct="1"/>
            <a:r>
              <a:rPr lang="en-US" altLang="en-US" sz="1800" smtClean="0"/>
              <a:t>Its is denoted by: r        &lt;</a:t>
            </a:r>
            <a:r>
              <a:rPr lang="en-US" altLang="en-US" sz="1800" i="1" smtClean="0"/>
              <a:t>r.A </a:t>
            </a:r>
            <a:r>
              <a:rPr lang="en-US" altLang="en-US" sz="1800" smtClean="0"/>
              <a:t>=</a:t>
            </a:r>
            <a:r>
              <a:rPr lang="en-US" altLang="en-US" sz="1800" i="1" smtClean="0"/>
              <a:t> s.B&gt; </a:t>
            </a:r>
            <a:r>
              <a:rPr lang="en-US" altLang="en-US" sz="1800" smtClean="0"/>
              <a:t>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 smtClean="0"/>
          </a:p>
        </p:txBody>
      </p:sp>
      <p:sp>
        <p:nvSpPr>
          <p:cNvPr id="73735" name="AutoShape 4"/>
          <p:cNvSpPr>
            <a:spLocks noChangeArrowheads="1"/>
          </p:cNvSpPr>
          <p:nvPr/>
        </p:nvSpPr>
        <p:spPr bwMode="auto">
          <a:xfrm>
            <a:off x="2743200" y="31242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3736" name="Text Box 15"/>
          <p:cNvSpPr txBox="1">
            <a:spLocks noChangeArrowheads="1"/>
          </p:cNvSpPr>
          <p:nvPr/>
        </p:nvSpPr>
        <p:spPr bwMode="auto">
          <a:xfrm>
            <a:off x="838200" y="3352800"/>
            <a:ext cx="7010400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/>
              <a:t>loan       </a:t>
            </a:r>
            <a:r>
              <a:rPr lang="en-US" altLang="en-US" sz="1600" i="1"/>
              <a:t>loan-number = loan-number</a:t>
            </a:r>
            <a:r>
              <a:rPr lang="en-US" altLang="en-US" i="1"/>
              <a:t> Borrower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3737" name="AutoShape 17"/>
          <p:cNvSpPr>
            <a:spLocks noChangeArrowheads="1"/>
          </p:cNvSpPr>
          <p:nvPr/>
        </p:nvSpPr>
        <p:spPr bwMode="auto">
          <a:xfrm>
            <a:off x="1676400" y="35052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3738" name="Rectangle 18"/>
          <p:cNvSpPr>
            <a:spLocks noChangeArrowheads="1"/>
          </p:cNvSpPr>
          <p:nvPr/>
        </p:nvSpPr>
        <p:spPr bwMode="auto">
          <a:xfrm>
            <a:off x="304800" y="4191000"/>
            <a:ext cx="853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3739" name="Text Box 22"/>
          <p:cNvSpPr txBox="1">
            <a:spLocks noChangeArrowheads="1"/>
          </p:cNvSpPr>
          <p:nvPr/>
        </p:nvSpPr>
        <p:spPr bwMode="auto">
          <a:xfrm>
            <a:off x="304800" y="4205288"/>
            <a:ext cx="15287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Loan-number</a:t>
            </a:r>
          </a:p>
        </p:txBody>
      </p:sp>
      <p:sp>
        <p:nvSpPr>
          <p:cNvPr id="73740" name="Text Box 23"/>
          <p:cNvSpPr txBox="1">
            <a:spLocks noChangeArrowheads="1"/>
          </p:cNvSpPr>
          <p:nvPr/>
        </p:nvSpPr>
        <p:spPr bwMode="auto">
          <a:xfrm>
            <a:off x="2057400" y="4205288"/>
            <a:ext cx="1524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Branch-name</a:t>
            </a:r>
          </a:p>
        </p:txBody>
      </p:sp>
      <p:sp>
        <p:nvSpPr>
          <p:cNvPr id="73741" name="Text Box 24"/>
          <p:cNvSpPr txBox="1">
            <a:spLocks noChangeArrowheads="1"/>
          </p:cNvSpPr>
          <p:nvPr/>
        </p:nvSpPr>
        <p:spPr bwMode="auto">
          <a:xfrm>
            <a:off x="3810000" y="4191000"/>
            <a:ext cx="95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amount</a:t>
            </a:r>
          </a:p>
        </p:txBody>
      </p:sp>
      <p:sp>
        <p:nvSpPr>
          <p:cNvPr id="73742" name="Text Box 25"/>
          <p:cNvSpPr txBox="1">
            <a:spLocks noChangeArrowheads="1"/>
          </p:cNvSpPr>
          <p:nvPr/>
        </p:nvSpPr>
        <p:spPr bwMode="auto">
          <a:xfrm>
            <a:off x="7239000" y="4191000"/>
            <a:ext cx="1528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Loan-number</a:t>
            </a:r>
          </a:p>
        </p:txBody>
      </p:sp>
      <p:sp>
        <p:nvSpPr>
          <p:cNvPr id="73743" name="Text Box 26"/>
          <p:cNvSpPr txBox="1">
            <a:spLocks noChangeArrowheads="1"/>
          </p:cNvSpPr>
          <p:nvPr/>
        </p:nvSpPr>
        <p:spPr bwMode="auto">
          <a:xfrm>
            <a:off x="5146675" y="4191000"/>
            <a:ext cx="17875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Customer-name</a:t>
            </a:r>
          </a:p>
        </p:txBody>
      </p:sp>
      <p:sp>
        <p:nvSpPr>
          <p:cNvPr id="73744" name="Line 27"/>
          <p:cNvSpPr>
            <a:spLocks noChangeShapeType="1"/>
          </p:cNvSpPr>
          <p:nvPr/>
        </p:nvSpPr>
        <p:spPr bwMode="auto">
          <a:xfrm>
            <a:off x="1905000" y="4191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45" name="Line 28"/>
          <p:cNvSpPr>
            <a:spLocks noChangeShapeType="1"/>
          </p:cNvSpPr>
          <p:nvPr/>
        </p:nvSpPr>
        <p:spPr bwMode="auto">
          <a:xfrm>
            <a:off x="3733800" y="4191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46" name="Line 29"/>
          <p:cNvSpPr>
            <a:spLocks noChangeShapeType="1"/>
          </p:cNvSpPr>
          <p:nvPr/>
        </p:nvSpPr>
        <p:spPr bwMode="auto">
          <a:xfrm>
            <a:off x="4876800" y="4191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47" name="Line 30"/>
          <p:cNvSpPr>
            <a:spLocks noChangeShapeType="1"/>
          </p:cNvSpPr>
          <p:nvPr/>
        </p:nvSpPr>
        <p:spPr bwMode="auto">
          <a:xfrm>
            <a:off x="7086600" y="4191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48" name="Rectangle 31"/>
          <p:cNvSpPr>
            <a:spLocks noChangeArrowheads="1"/>
          </p:cNvSpPr>
          <p:nvPr/>
        </p:nvSpPr>
        <p:spPr bwMode="auto">
          <a:xfrm>
            <a:off x="304800" y="4648200"/>
            <a:ext cx="853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3749" name="Text Box 32"/>
          <p:cNvSpPr txBox="1">
            <a:spLocks noChangeArrowheads="1"/>
          </p:cNvSpPr>
          <p:nvPr/>
        </p:nvSpPr>
        <p:spPr bwMode="auto">
          <a:xfrm>
            <a:off x="304800" y="4662488"/>
            <a:ext cx="757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L-170</a:t>
            </a:r>
          </a:p>
        </p:txBody>
      </p:sp>
      <p:sp>
        <p:nvSpPr>
          <p:cNvPr id="73750" name="Text Box 33"/>
          <p:cNvSpPr txBox="1">
            <a:spLocks noChangeArrowheads="1"/>
          </p:cNvSpPr>
          <p:nvPr/>
        </p:nvSpPr>
        <p:spPr bwMode="auto">
          <a:xfrm>
            <a:off x="2057400" y="4662488"/>
            <a:ext cx="9001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Khobar</a:t>
            </a:r>
          </a:p>
        </p:txBody>
      </p:sp>
      <p:sp>
        <p:nvSpPr>
          <p:cNvPr id="73751" name="Text Box 34"/>
          <p:cNvSpPr txBox="1">
            <a:spLocks noChangeArrowheads="1"/>
          </p:cNvSpPr>
          <p:nvPr/>
        </p:nvSpPr>
        <p:spPr bwMode="auto">
          <a:xfrm>
            <a:off x="3810000" y="46482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3000</a:t>
            </a:r>
          </a:p>
        </p:txBody>
      </p:sp>
      <p:sp>
        <p:nvSpPr>
          <p:cNvPr id="73752" name="Text Box 35"/>
          <p:cNvSpPr txBox="1">
            <a:spLocks noChangeArrowheads="1"/>
          </p:cNvSpPr>
          <p:nvPr/>
        </p:nvSpPr>
        <p:spPr bwMode="auto">
          <a:xfrm>
            <a:off x="7239000" y="4648200"/>
            <a:ext cx="75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L-170</a:t>
            </a:r>
          </a:p>
        </p:txBody>
      </p:sp>
      <p:sp>
        <p:nvSpPr>
          <p:cNvPr id="73753" name="Text Box 36"/>
          <p:cNvSpPr txBox="1">
            <a:spLocks noChangeArrowheads="1"/>
          </p:cNvSpPr>
          <p:nvPr/>
        </p:nvSpPr>
        <p:spPr bwMode="auto">
          <a:xfrm>
            <a:off x="5146675" y="4648200"/>
            <a:ext cx="620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Adel</a:t>
            </a:r>
          </a:p>
        </p:txBody>
      </p:sp>
      <p:sp>
        <p:nvSpPr>
          <p:cNvPr id="73754" name="Line 37"/>
          <p:cNvSpPr>
            <a:spLocks noChangeShapeType="1"/>
          </p:cNvSpPr>
          <p:nvPr/>
        </p:nvSpPr>
        <p:spPr bwMode="auto">
          <a:xfrm>
            <a:off x="19050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55" name="Line 38"/>
          <p:cNvSpPr>
            <a:spLocks noChangeShapeType="1"/>
          </p:cNvSpPr>
          <p:nvPr/>
        </p:nvSpPr>
        <p:spPr bwMode="auto">
          <a:xfrm>
            <a:off x="37338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56" name="Line 39"/>
          <p:cNvSpPr>
            <a:spLocks noChangeShapeType="1"/>
          </p:cNvSpPr>
          <p:nvPr/>
        </p:nvSpPr>
        <p:spPr bwMode="auto">
          <a:xfrm>
            <a:off x="48768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57" name="Line 40"/>
          <p:cNvSpPr>
            <a:spLocks noChangeShapeType="1"/>
          </p:cNvSpPr>
          <p:nvPr/>
        </p:nvSpPr>
        <p:spPr bwMode="auto">
          <a:xfrm>
            <a:off x="7086600" y="4648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58" name="Rectangle 41"/>
          <p:cNvSpPr>
            <a:spLocks noChangeArrowheads="1"/>
          </p:cNvSpPr>
          <p:nvPr/>
        </p:nvSpPr>
        <p:spPr bwMode="auto">
          <a:xfrm>
            <a:off x="304800" y="5029200"/>
            <a:ext cx="85344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3759" name="Text Box 42"/>
          <p:cNvSpPr txBox="1">
            <a:spLocks noChangeArrowheads="1"/>
          </p:cNvSpPr>
          <p:nvPr/>
        </p:nvSpPr>
        <p:spPr bwMode="auto">
          <a:xfrm>
            <a:off x="304800" y="5043488"/>
            <a:ext cx="757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L-230</a:t>
            </a:r>
          </a:p>
        </p:txBody>
      </p:sp>
      <p:sp>
        <p:nvSpPr>
          <p:cNvPr id="73760" name="Text Box 43"/>
          <p:cNvSpPr txBox="1">
            <a:spLocks noChangeArrowheads="1"/>
          </p:cNvSpPr>
          <p:nvPr/>
        </p:nvSpPr>
        <p:spPr bwMode="auto">
          <a:xfrm>
            <a:off x="2057400" y="5043488"/>
            <a:ext cx="866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Riyadh</a:t>
            </a:r>
          </a:p>
        </p:txBody>
      </p:sp>
      <p:sp>
        <p:nvSpPr>
          <p:cNvPr id="73761" name="Text Box 44"/>
          <p:cNvSpPr txBox="1">
            <a:spLocks noChangeArrowheads="1"/>
          </p:cNvSpPr>
          <p:nvPr/>
        </p:nvSpPr>
        <p:spPr bwMode="auto">
          <a:xfrm>
            <a:off x="3810000" y="5029200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4000</a:t>
            </a:r>
          </a:p>
        </p:txBody>
      </p:sp>
      <p:sp>
        <p:nvSpPr>
          <p:cNvPr id="73762" name="Text Box 45"/>
          <p:cNvSpPr txBox="1">
            <a:spLocks noChangeArrowheads="1"/>
          </p:cNvSpPr>
          <p:nvPr/>
        </p:nvSpPr>
        <p:spPr bwMode="auto">
          <a:xfrm>
            <a:off x="7239000" y="5029200"/>
            <a:ext cx="75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L-230</a:t>
            </a:r>
          </a:p>
        </p:txBody>
      </p:sp>
      <p:sp>
        <p:nvSpPr>
          <p:cNvPr id="73763" name="Text Box 46"/>
          <p:cNvSpPr txBox="1">
            <a:spLocks noChangeArrowheads="1"/>
          </p:cNvSpPr>
          <p:nvPr/>
        </p:nvSpPr>
        <p:spPr bwMode="auto">
          <a:xfrm>
            <a:off x="5146675" y="50292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73764" name="Line 47"/>
          <p:cNvSpPr>
            <a:spLocks noChangeShapeType="1"/>
          </p:cNvSpPr>
          <p:nvPr/>
        </p:nvSpPr>
        <p:spPr bwMode="auto">
          <a:xfrm>
            <a:off x="19050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65" name="Line 48"/>
          <p:cNvSpPr>
            <a:spLocks noChangeShapeType="1"/>
          </p:cNvSpPr>
          <p:nvPr/>
        </p:nvSpPr>
        <p:spPr bwMode="auto">
          <a:xfrm>
            <a:off x="37338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66" name="Line 49"/>
          <p:cNvSpPr>
            <a:spLocks noChangeShapeType="1"/>
          </p:cNvSpPr>
          <p:nvPr/>
        </p:nvSpPr>
        <p:spPr bwMode="auto">
          <a:xfrm>
            <a:off x="48768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67" name="Line 50"/>
          <p:cNvSpPr>
            <a:spLocks noChangeShapeType="1"/>
          </p:cNvSpPr>
          <p:nvPr/>
        </p:nvSpPr>
        <p:spPr bwMode="auto">
          <a:xfrm>
            <a:off x="70866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68" name="Line 51"/>
          <p:cNvSpPr>
            <a:spLocks noChangeShapeType="1"/>
          </p:cNvSpPr>
          <p:nvPr/>
        </p:nvSpPr>
        <p:spPr bwMode="auto">
          <a:xfrm>
            <a:off x="3810000" y="3810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69" name="Text Box 52"/>
          <p:cNvSpPr txBox="1">
            <a:spLocks noChangeArrowheads="1"/>
          </p:cNvSpPr>
          <p:nvPr/>
        </p:nvSpPr>
        <p:spPr bwMode="auto">
          <a:xfrm>
            <a:off x="228600" y="5835650"/>
            <a:ext cx="77485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en-US" sz="1600"/>
              <a:t>  The problem with Equijoin is Pairs of attributes with identical values in evey tuple.</a:t>
            </a:r>
          </a:p>
        </p:txBody>
      </p:sp>
      <p:sp>
        <p:nvSpPr>
          <p:cNvPr id="73770" name="Line 53"/>
          <p:cNvSpPr>
            <a:spLocks noChangeShapeType="1"/>
          </p:cNvSpPr>
          <p:nvPr/>
        </p:nvSpPr>
        <p:spPr bwMode="auto">
          <a:xfrm flipV="1">
            <a:off x="5715000" y="5410200"/>
            <a:ext cx="2667000" cy="4572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3771" name="Line 54"/>
          <p:cNvSpPr>
            <a:spLocks noChangeShapeType="1"/>
          </p:cNvSpPr>
          <p:nvPr/>
        </p:nvSpPr>
        <p:spPr bwMode="auto">
          <a:xfrm flipH="1" flipV="1">
            <a:off x="914400" y="5486400"/>
            <a:ext cx="4648200" cy="3810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pic>
        <p:nvPicPr>
          <p:cNvPr id="7377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2950" y="409575"/>
            <a:ext cx="3262313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73" name="Rectangle 3"/>
          <p:cNvSpPr>
            <a:spLocks noChangeArrowheads="1"/>
          </p:cNvSpPr>
          <p:nvPr/>
        </p:nvSpPr>
        <p:spPr bwMode="auto">
          <a:xfrm>
            <a:off x="304800" y="1836738"/>
            <a:ext cx="4572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The most common join involves join conditions with equality comparisons, where </a:t>
            </a:r>
            <a:r>
              <a:rPr lang="el-GR" altLang="en-US" sz="1600"/>
              <a:t>θ</a:t>
            </a:r>
            <a:r>
              <a:rPr lang="en-US" altLang="en-US" sz="1600"/>
              <a:t> is {=}. This special type of Theta join is called Equijoin.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6AA087-49FA-4DC8-B2D2-C87FB01D5D2F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47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47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03A8C1-CC7A-4327-B032-3CF1057F437B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200" smtClean="0"/>
          </a:p>
        </p:txBody>
      </p:sp>
      <p:sp>
        <p:nvSpPr>
          <p:cNvPr id="7475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Natural-Join Operation</a:t>
            </a:r>
          </a:p>
        </p:txBody>
      </p:sp>
      <p:sp>
        <p:nvSpPr>
          <p:cNvPr id="7475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08000" y="1752600"/>
            <a:ext cx="8215313" cy="4848225"/>
          </a:xfrm>
        </p:spPr>
        <p:txBody>
          <a:bodyPr/>
          <a:lstStyle/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kumimoji="1" lang="en-US" altLang="en-US" sz="1800" smtClean="0"/>
              <a:t>Is denoted by:  </a:t>
            </a:r>
            <a:r>
              <a:rPr kumimoji="1" lang="en-US" altLang="en-US" sz="1800" i="1" smtClean="0"/>
              <a:t>r        s</a:t>
            </a:r>
            <a:endParaRPr lang="en-US" altLang="en-US" sz="1800" i="1" smtClean="0"/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Char char="n"/>
            </a:pPr>
            <a:r>
              <a:rPr lang="en-US" altLang="en-US" sz="1800" smtClean="0"/>
              <a:t>Let </a:t>
            </a:r>
            <a:r>
              <a:rPr lang="en-US" altLang="en-US" sz="1800" i="1" smtClean="0"/>
              <a:t>r</a:t>
            </a:r>
            <a:r>
              <a:rPr lang="en-US" altLang="en-US" sz="1800" smtClean="0"/>
              <a:t> and </a:t>
            </a:r>
            <a:r>
              <a:rPr lang="en-US" altLang="en-US" sz="1800" i="1" smtClean="0"/>
              <a:t>s </a:t>
            </a:r>
            <a:r>
              <a:rPr lang="en-US" altLang="en-US" sz="1800" smtClean="0"/>
              <a:t> be relations on schemas </a:t>
            </a:r>
            <a:r>
              <a:rPr lang="en-US" altLang="en-US" sz="1800" i="1" smtClean="0"/>
              <a:t>R</a:t>
            </a:r>
            <a:r>
              <a:rPr lang="en-US" altLang="en-US" sz="1800" smtClean="0"/>
              <a:t> and </a:t>
            </a:r>
            <a:r>
              <a:rPr lang="en-US" altLang="en-US" sz="1800" i="1" smtClean="0"/>
              <a:t>S</a:t>
            </a:r>
            <a:r>
              <a:rPr lang="en-US" altLang="en-US" sz="1800" smtClean="0"/>
              <a:t> respectively. </a:t>
            </a:r>
            <a:br>
              <a:rPr lang="en-US" altLang="en-US" sz="1800" smtClean="0"/>
            </a:br>
            <a:r>
              <a:rPr lang="en-US" altLang="en-US" sz="1800" smtClean="0"/>
              <a:t>Then,  </a:t>
            </a:r>
            <a:r>
              <a:rPr lang="en-US" altLang="en-US" sz="1800" i="1" smtClean="0"/>
              <a:t>r      s</a:t>
            </a:r>
            <a:r>
              <a:rPr lang="en-US" altLang="en-US" sz="1800" smtClean="0"/>
              <a:t>  is a relation on schema </a:t>
            </a:r>
            <a:r>
              <a:rPr lang="en-US" altLang="en-US" sz="1800" i="1" smtClean="0"/>
              <a:t>R </a:t>
            </a:r>
            <a:r>
              <a:rPr lang="en-US" altLang="en-US" sz="1800" smtClean="0">
                <a:sym typeface="Symbol" panose="05050102010706020507" pitchFamily="18" charset="2"/>
              </a:rPr>
              <a:t></a:t>
            </a:r>
            <a:r>
              <a:rPr lang="en-US" altLang="en-US" sz="1800" smtClean="0"/>
              <a:t> </a:t>
            </a:r>
            <a:r>
              <a:rPr lang="en-US" altLang="en-US" sz="1800" i="1" smtClean="0"/>
              <a:t>S </a:t>
            </a:r>
            <a:r>
              <a:rPr lang="en-US" altLang="en-US" sz="1800" smtClean="0"/>
              <a:t> obtained as follows:</a:t>
            </a:r>
          </a:p>
          <a:p>
            <a:pPr lvl="1" eaLnBrk="1" hangingPunct="1"/>
            <a:r>
              <a:rPr lang="en-US" altLang="en-US" sz="1800" smtClean="0"/>
              <a:t>Consider each pair of tuples </a:t>
            </a:r>
            <a:r>
              <a:rPr lang="en-US" altLang="en-US" sz="1800" i="1" smtClean="0"/>
              <a:t>t</a:t>
            </a:r>
            <a:r>
              <a:rPr lang="en-US" altLang="en-US" sz="1800" i="1" baseline="-25000" smtClean="0"/>
              <a:t>r</a:t>
            </a:r>
            <a:r>
              <a:rPr lang="en-US" altLang="en-US" sz="1800" smtClean="0"/>
              <a:t> from </a:t>
            </a:r>
            <a:r>
              <a:rPr lang="en-US" altLang="en-US" sz="1800" i="1" smtClean="0"/>
              <a:t>r</a:t>
            </a:r>
            <a:r>
              <a:rPr lang="en-US" altLang="en-US" sz="1800" smtClean="0"/>
              <a:t> and </a:t>
            </a:r>
            <a:r>
              <a:rPr lang="en-US" altLang="en-US" sz="1800" i="1" smtClean="0"/>
              <a:t>t</a:t>
            </a:r>
            <a:r>
              <a:rPr lang="en-US" altLang="en-US" sz="1800" i="1" baseline="-25000" smtClean="0"/>
              <a:t>s</a:t>
            </a:r>
            <a:r>
              <a:rPr lang="en-US" altLang="en-US" sz="1800" smtClean="0"/>
              <a:t> from </a:t>
            </a:r>
            <a:r>
              <a:rPr lang="en-US" altLang="en-US" sz="1800" i="1" smtClean="0"/>
              <a:t>s</a:t>
            </a:r>
            <a:r>
              <a:rPr lang="en-US" altLang="en-US" sz="1800" smtClean="0"/>
              <a:t>.  </a:t>
            </a:r>
          </a:p>
          <a:p>
            <a:pPr lvl="1" eaLnBrk="1" hangingPunct="1"/>
            <a:r>
              <a:rPr lang="en-US" altLang="en-US" sz="1800" smtClean="0"/>
              <a:t>If </a:t>
            </a:r>
            <a:r>
              <a:rPr lang="en-US" altLang="en-US" sz="1800" i="1" smtClean="0"/>
              <a:t>t</a:t>
            </a:r>
            <a:r>
              <a:rPr lang="en-US" altLang="en-US" sz="1800" i="1" baseline="-25000" smtClean="0"/>
              <a:t>r</a:t>
            </a:r>
            <a:r>
              <a:rPr lang="en-US" altLang="en-US" sz="1800" smtClean="0"/>
              <a:t> and </a:t>
            </a:r>
            <a:r>
              <a:rPr lang="en-US" altLang="en-US" sz="1800" i="1" smtClean="0"/>
              <a:t>t</a:t>
            </a:r>
            <a:r>
              <a:rPr lang="en-US" altLang="en-US" sz="1800" i="1" baseline="-25000" smtClean="0"/>
              <a:t>s</a:t>
            </a:r>
            <a:r>
              <a:rPr lang="en-US" altLang="en-US" sz="1800" smtClean="0"/>
              <a:t> have the same value on each of the attributes in </a:t>
            </a:r>
            <a:r>
              <a:rPr lang="en-US" altLang="en-US" sz="1800" i="1" smtClean="0"/>
              <a:t>R</a:t>
            </a:r>
            <a:r>
              <a:rPr lang="en-US" altLang="en-US" sz="1800" smtClean="0"/>
              <a:t> </a:t>
            </a:r>
            <a:r>
              <a:rPr lang="en-US" altLang="en-US" sz="1800" smtClean="0">
                <a:sym typeface="Symbol" panose="05050102010706020507" pitchFamily="18" charset="2"/>
              </a:rPr>
              <a:t></a:t>
            </a:r>
            <a:r>
              <a:rPr lang="en-US" altLang="en-US" sz="1800" smtClean="0"/>
              <a:t> </a:t>
            </a:r>
            <a:r>
              <a:rPr lang="en-US" altLang="en-US" sz="1800" i="1" smtClean="0"/>
              <a:t>S</a:t>
            </a:r>
            <a:r>
              <a:rPr lang="en-US" altLang="en-US" sz="1800" smtClean="0"/>
              <a:t>, add a tuple </a:t>
            </a:r>
            <a:r>
              <a:rPr lang="en-US" altLang="en-US" sz="1800" i="1" smtClean="0"/>
              <a:t>t</a:t>
            </a:r>
            <a:r>
              <a:rPr lang="en-US" altLang="en-US" sz="1800" smtClean="0"/>
              <a:t>  to the result, where</a:t>
            </a:r>
          </a:p>
          <a:p>
            <a:pPr marL="1085850" lvl="2" eaLnBrk="1" hangingPunct="1"/>
            <a:r>
              <a:rPr lang="en-US" altLang="en-US" sz="1800" i="1" smtClean="0"/>
              <a:t>t </a:t>
            </a:r>
            <a:r>
              <a:rPr lang="en-US" altLang="en-US" sz="1800" smtClean="0"/>
              <a:t> has the same value as </a:t>
            </a:r>
            <a:r>
              <a:rPr lang="en-US" altLang="en-US" sz="1800" i="1" smtClean="0"/>
              <a:t>t</a:t>
            </a:r>
            <a:r>
              <a:rPr lang="en-US" altLang="en-US" sz="1800" i="1" baseline="-25000" smtClean="0"/>
              <a:t>r</a:t>
            </a:r>
            <a:r>
              <a:rPr lang="en-US" altLang="en-US" sz="1800" smtClean="0"/>
              <a:t> on </a:t>
            </a:r>
            <a:r>
              <a:rPr lang="en-US" altLang="en-US" sz="1800" i="1" smtClean="0"/>
              <a:t>r</a:t>
            </a:r>
            <a:endParaRPr lang="en-US" altLang="en-US" sz="1800" smtClean="0"/>
          </a:p>
          <a:p>
            <a:pPr marL="1085850" lvl="2" eaLnBrk="1" hangingPunct="1"/>
            <a:r>
              <a:rPr lang="en-US" altLang="en-US" sz="1800" i="1" smtClean="0"/>
              <a:t>t </a:t>
            </a:r>
            <a:r>
              <a:rPr lang="en-US" altLang="en-US" sz="1800" smtClean="0"/>
              <a:t> has the same value as </a:t>
            </a:r>
            <a:r>
              <a:rPr lang="en-US" altLang="en-US" sz="1800" i="1" smtClean="0"/>
              <a:t>t</a:t>
            </a:r>
            <a:r>
              <a:rPr lang="en-US" altLang="en-US" sz="1800" i="1" baseline="-25000" smtClean="0"/>
              <a:t>s</a:t>
            </a:r>
            <a:r>
              <a:rPr lang="en-US" altLang="en-US" sz="1800" smtClean="0"/>
              <a:t> on </a:t>
            </a:r>
            <a:r>
              <a:rPr lang="en-US" altLang="en-US" sz="1800" i="1" smtClean="0"/>
              <a:t>s</a:t>
            </a:r>
            <a:endParaRPr lang="en-US" altLang="en-US" sz="1800" smtClean="0"/>
          </a:p>
          <a:p>
            <a:pPr eaLnBrk="1" hangingPunct="1"/>
            <a:r>
              <a:rPr lang="en-US" altLang="en-US" sz="1800" smtClean="0"/>
              <a:t>Example: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800" i="1" smtClean="0"/>
              <a:t>R</a:t>
            </a:r>
            <a:r>
              <a:rPr lang="en-US" altLang="en-US" sz="1800" smtClean="0"/>
              <a:t> = (</a:t>
            </a:r>
            <a:r>
              <a:rPr lang="en-US" altLang="en-US" sz="1800" i="1" smtClean="0"/>
              <a:t>A, B, C, D</a:t>
            </a:r>
            <a:r>
              <a:rPr lang="en-US" altLang="en-US" sz="1800" smtClean="0"/>
              <a:t>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1800" i="1" smtClean="0"/>
              <a:t>S</a:t>
            </a:r>
            <a:r>
              <a:rPr lang="en-US" altLang="en-US" sz="1800" smtClean="0"/>
              <a:t> = (</a:t>
            </a:r>
            <a:r>
              <a:rPr lang="en-US" altLang="en-US" sz="1800" i="1" smtClean="0"/>
              <a:t>E, B, D</a:t>
            </a:r>
            <a:r>
              <a:rPr lang="en-US" altLang="en-US" sz="1800" smtClean="0"/>
              <a:t>)</a:t>
            </a:r>
          </a:p>
          <a:p>
            <a:pPr lvl="1" eaLnBrk="1" hangingPunct="1"/>
            <a:r>
              <a:rPr lang="en-US" altLang="en-US" sz="1800" smtClean="0"/>
              <a:t>Result schema = (</a:t>
            </a:r>
            <a:r>
              <a:rPr lang="en-US" altLang="en-US" sz="1800" i="1" smtClean="0"/>
              <a:t>A, B, C, D, E</a:t>
            </a:r>
            <a:r>
              <a:rPr lang="en-US" altLang="en-US" sz="1800" smtClean="0"/>
              <a:t>)</a:t>
            </a:r>
          </a:p>
          <a:p>
            <a:pPr lvl="1" eaLnBrk="1" hangingPunct="1"/>
            <a:r>
              <a:rPr lang="en-US" altLang="en-US" sz="1800" i="1" smtClean="0"/>
              <a:t>r</a:t>
            </a:r>
            <a:r>
              <a:rPr lang="en-US" altLang="en-US" sz="1800" smtClean="0"/>
              <a:t>      </a:t>
            </a:r>
            <a:r>
              <a:rPr lang="en-US" altLang="en-US" sz="1800" i="1" smtClean="0"/>
              <a:t>s </a:t>
            </a:r>
            <a:r>
              <a:rPr lang="en-US" altLang="en-US" sz="1800" smtClean="0"/>
              <a:t> is defined as:</a:t>
            </a:r>
            <a:br>
              <a:rPr lang="en-US" altLang="en-US" sz="1800" smtClean="0"/>
            </a:br>
            <a:r>
              <a:rPr lang="en-US" altLang="en-US" sz="1800" smtClean="0"/>
              <a:t>      </a:t>
            </a:r>
            <a:r>
              <a:rPr lang="en-US" altLang="en-US" sz="1800" smtClean="0">
                <a:sym typeface="Symbol" panose="05050102010706020507" pitchFamily="18" charset="2"/>
              </a:rPr>
              <a:t></a:t>
            </a:r>
            <a:r>
              <a:rPr lang="en-US" altLang="en-US" sz="1800" i="1" baseline="-25000" smtClean="0"/>
              <a:t>r.A, r.B, r.C, r.D, s.E</a:t>
            </a:r>
            <a:r>
              <a:rPr lang="en-US" altLang="en-US" sz="1800" smtClean="0"/>
              <a:t> (</a:t>
            </a:r>
            <a:r>
              <a:rPr lang="en-US" altLang="en-US" sz="1800" smtClean="0">
                <a:sym typeface="Symbol" panose="05050102010706020507" pitchFamily="18" charset="2"/>
              </a:rPr>
              <a:t></a:t>
            </a:r>
            <a:r>
              <a:rPr lang="en-US" altLang="en-US" sz="1800" i="1" baseline="-25000" smtClean="0"/>
              <a:t>r.B = s.B </a:t>
            </a:r>
            <a:r>
              <a:rPr lang="en-US" altLang="en-US" sz="1800" smtClean="0">
                <a:sym typeface="Symbol" panose="05050102010706020507" pitchFamily="18" charset="2"/>
              </a:rPr>
              <a:t></a:t>
            </a:r>
            <a:r>
              <a:rPr lang="en-US" altLang="en-US" sz="1800" i="1" baseline="-25000" smtClean="0"/>
              <a:t> r.D = s.D</a:t>
            </a:r>
            <a:r>
              <a:rPr lang="en-US" altLang="en-US" sz="1800" smtClean="0"/>
              <a:t> (</a:t>
            </a:r>
            <a:r>
              <a:rPr lang="en-US" altLang="en-US" sz="1800" i="1" smtClean="0"/>
              <a:t>r </a:t>
            </a:r>
            <a:r>
              <a:rPr lang="en-US" altLang="en-US" sz="1800" smtClean="0"/>
              <a:t> x  </a:t>
            </a:r>
            <a:r>
              <a:rPr lang="en-US" altLang="en-US" sz="1800" i="1" smtClean="0"/>
              <a:t>s</a:t>
            </a:r>
            <a:r>
              <a:rPr lang="en-US" altLang="en-US" sz="1800" smtClean="0"/>
              <a:t>))</a:t>
            </a:r>
          </a:p>
        </p:txBody>
      </p:sp>
      <p:sp>
        <p:nvSpPr>
          <p:cNvPr id="74759" name="AutoShape 4"/>
          <p:cNvSpPr>
            <a:spLocks noChangeArrowheads="1"/>
          </p:cNvSpPr>
          <p:nvPr/>
        </p:nvSpPr>
        <p:spPr bwMode="auto">
          <a:xfrm>
            <a:off x="2819400" y="19050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4760" name="AutoShape 4"/>
          <p:cNvSpPr>
            <a:spLocks noChangeArrowheads="1"/>
          </p:cNvSpPr>
          <p:nvPr/>
        </p:nvSpPr>
        <p:spPr bwMode="auto">
          <a:xfrm>
            <a:off x="1828800" y="25146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4761" name="AutoShape 4"/>
          <p:cNvSpPr>
            <a:spLocks noChangeArrowheads="1"/>
          </p:cNvSpPr>
          <p:nvPr/>
        </p:nvSpPr>
        <p:spPr bwMode="auto">
          <a:xfrm>
            <a:off x="1524000" y="57912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C0C59D4-BB3A-43F4-84FD-F5BB7981B3EE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57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57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B64477-FBC1-4CD0-9485-56AEDE6A6F82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200" smtClean="0"/>
          </a:p>
        </p:txBody>
      </p:sp>
      <p:sp>
        <p:nvSpPr>
          <p:cNvPr id="757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---- Natural Join Operation – Example 1</a:t>
            </a:r>
          </a:p>
        </p:txBody>
      </p:sp>
      <p:sp>
        <p:nvSpPr>
          <p:cNvPr id="75782" name="Rectangle 4"/>
          <p:cNvSpPr>
            <a:spLocks noChangeArrowheads="1"/>
          </p:cNvSpPr>
          <p:nvPr/>
        </p:nvSpPr>
        <p:spPr bwMode="auto">
          <a:xfrm>
            <a:off x="228600" y="24526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75783" name="Rectangle 5"/>
          <p:cNvSpPr>
            <a:spLocks noChangeArrowheads="1"/>
          </p:cNvSpPr>
          <p:nvPr/>
        </p:nvSpPr>
        <p:spPr bwMode="auto">
          <a:xfrm>
            <a:off x="685800" y="24526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75784" name="Rectangle 6"/>
          <p:cNvSpPr>
            <a:spLocks noChangeArrowheads="1"/>
          </p:cNvSpPr>
          <p:nvPr/>
        </p:nvSpPr>
        <p:spPr bwMode="auto">
          <a:xfrm>
            <a:off x="228600" y="3062288"/>
            <a:ext cx="4572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</p:txBody>
      </p:sp>
      <p:sp>
        <p:nvSpPr>
          <p:cNvPr id="75785" name="Rectangle 7"/>
          <p:cNvSpPr>
            <a:spLocks noChangeArrowheads="1"/>
          </p:cNvSpPr>
          <p:nvPr/>
        </p:nvSpPr>
        <p:spPr bwMode="auto">
          <a:xfrm>
            <a:off x="685800" y="3062288"/>
            <a:ext cx="4572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4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75786" name="Rectangle 8"/>
          <p:cNvSpPr>
            <a:spLocks noChangeArrowheads="1"/>
          </p:cNvSpPr>
          <p:nvPr/>
        </p:nvSpPr>
        <p:spPr bwMode="auto">
          <a:xfrm>
            <a:off x="1143000" y="24526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75787" name="Rectangle 9"/>
          <p:cNvSpPr>
            <a:spLocks noChangeArrowheads="1"/>
          </p:cNvSpPr>
          <p:nvPr/>
        </p:nvSpPr>
        <p:spPr bwMode="auto">
          <a:xfrm>
            <a:off x="1600200" y="24526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75788" name="Rectangle 10"/>
          <p:cNvSpPr>
            <a:spLocks noChangeArrowheads="1"/>
          </p:cNvSpPr>
          <p:nvPr/>
        </p:nvSpPr>
        <p:spPr bwMode="auto">
          <a:xfrm>
            <a:off x="1143000" y="3062288"/>
            <a:ext cx="4572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75789" name="Rectangle 11"/>
          <p:cNvSpPr>
            <a:spLocks noChangeArrowheads="1"/>
          </p:cNvSpPr>
          <p:nvPr/>
        </p:nvSpPr>
        <p:spPr bwMode="auto">
          <a:xfrm>
            <a:off x="1600200" y="3062288"/>
            <a:ext cx="457200" cy="1371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75790" name="Rectangle 12"/>
          <p:cNvSpPr>
            <a:spLocks noChangeArrowheads="1"/>
          </p:cNvSpPr>
          <p:nvPr/>
        </p:nvSpPr>
        <p:spPr bwMode="auto">
          <a:xfrm>
            <a:off x="2590800" y="24526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75791" name="Rectangle 13"/>
          <p:cNvSpPr>
            <a:spLocks noChangeArrowheads="1"/>
          </p:cNvSpPr>
          <p:nvPr/>
        </p:nvSpPr>
        <p:spPr bwMode="auto">
          <a:xfrm>
            <a:off x="2590800" y="3062288"/>
            <a:ext cx="4572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75792" name="Rectangle 14"/>
          <p:cNvSpPr>
            <a:spLocks noChangeArrowheads="1"/>
          </p:cNvSpPr>
          <p:nvPr/>
        </p:nvSpPr>
        <p:spPr bwMode="auto">
          <a:xfrm>
            <a:off x="3048000" y="24526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75793" name="Rectangle 15"/>
          <p:cNvSpPr>
            <a:spLocks noChangeArrowheads="1"/>
          </p:cNvSpPr>
          <p:nvPr/>
        </p:nvSpPr>
        <p:spPr bwMode="auto">
          <a:xfrm>
            <a:off x="3048000" y="3062288"/>
            <a:ext cx="4572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75794" name="Rectangle 16"/>
          <p:cNvSpPr>
            <a:spLocks noChangeArrowheads="1"/>
          </p:cNvSpPr>
          <p:nvPr/>
        </p:nvSpPr>
        <p:spPr bwMode="auto">
          <a:xfrm>
            <a:off x="3505200" y="2452688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75795" name="Rectangle 17"/>
          <p:cNvSpPr>
            <a:spLocks noChangeArrowheads="1"/>
          </p:cNvSpPr>
          <p:nvPr/>
        </p:nvSpPr>
        <p:spPr bwMode="auto">
          <a:xfrm>
            <a:off x="3505200" y="3062288"/>
            <a:ext cx="4572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</a:t>
            </a:r>
          </a:p>
        </p:txBody>
      </p:sp>
      <p:sp>
        <p:nvSpPr>
          <p:cNvPr id="75796" name="Text Box 18"/>
          <p:cNvSpPr txBox="1">
            <a:spLocks noChangeArrowheads="1"/>
          </p:cNvSpPr>
          <p:nvPr/>
        </p:nvSpPr>
        <p:spPr bwMode="auto">
          <a:xfrm>
            <a:off x="884238" y="435768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r</a:t>
            </a:r>
          </a:p>
        </p:txBody>
      </p:sp>
      <p:sp>
        <p:nvSpPr>
          <p:cNvPr id="75797" name="Rectangle 19"/>
          <p:cNvSpPr>
            <a:spLocks noChangeArrowheads="1"/>
          </p:cNvSpPr>
          <p:nvPr/>
        </p:nvSpPr>
        <p:spPr bwMode="auto">
          <a:xfrm>
            <a:off x="6586538" y="2500313"/>
            <a:ext cx="434975" cy="4968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75798" name="Rectangle 20"/>
          <p:cNvSpPr>
            <a:spLocks noChangeArrowheads="1"/>
          </p:cNvSpPr>
          <p:nvPr/>
        </p:nvSpPr>
        <p:spPr bwMode="auto">
          <a:xfrm>
            <a:off x="7021513" y="2500313"/>
            <a:ext cx="434975" cy="4968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75799" name="Rectangle 21"/>
          <p:cNvSpPr>
            <a:spLocks noChangeArrowheads="1"/>
          </p:cNvSpPr>
          <p:nvPr/>
        </p:nvSpPr>
        <p:spPr bwMode="auto">
          <a:xfrm>
            <a:off x="6586538" y="3068638"/>
            <a:ext cx="434975" cy="1350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</p:txBody>
      </p:sp>
      <p:sp>
        <p:nvSpPr>
          <p:cNvPr id="75800" name="Rectangle 22"/>
          <p:cNvSpPr>
            <a:spLocks noChangeArrowheads="1"/>
          </p:cNvSpPr>
          <p:nvPr/>
        </p:nvSpPr>
        <p:spPr bwMode="auto">
          <a:xfrm>
            <a:off x="7021513" y="3068638"/>
            <a:ext cx="434975" cy="1350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75801" name="Rectangle 23"/>
          <p:cNvSpPr>
            <a:spLocks noChangeArrowheads="1"/>
          </p:cNvSpPr>
          <p:nvPr/>
        </p:nvSpPr>
        <p:spPr bwMode="auto">
          <a:xfrm>
            <a:off x="7456488" y="2500313"/>
            <a:ext cx="436562" cy="4968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75802" name="Rectangle 24"/>
          <p:cNvSpPr>
            <a:spLocks noChangeArrowheads="1"/>
          </p:cNvSpPr>
          <p:nvPr/>
        </p:nvSpPr>
        <p:spPr bwMode="auto">
          <a:xfrm>
            <a:off x="7893050" y="2500313"/>
            <a:ext cx="434975" cy="4968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solidFill>
                  <a:schemeClr val="hlink"/>
                </a:solidFill>
                <a:latin typeface="Helvetica" panose="020B0604020202020204" pitchFamily="34" charset="0"/>
              </a:rPr>
              <a:t>D</a:t>
            </a:r>
          </a:p>
        </p:txBody>
      </p:sp>
      <p:sp>
        <p:nvSpPr>
          <p:cNvPr id="75803" name="Rectangle 25"/>
          <p:cNvSpPr>
            <a:spLocks noChangeArrowheads="1"/>
          </p:cNvSpPr>
          <p:nvPr/>
        </p:nvSpPr>
        <p:spPr bwMode="auto">
          <a:xfrm>
            <a:off x="7456488" y="3068638"/>
            <a:ext cx="436562" cy="1350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75804" name="Rectangle 26"/>
          <p:cNvSpPr>
            <a:spLocks noChangeArrowheads="1"/>
          </p:cNvSpPr>
          <p:nvPr/>
        </p:nvSpPr>
        <p:spPr bwMode="auto">
          <a:xfrm>
            <a:off x="7893050" y="3068638"/>
            <a:ext cx="434975" cy="1350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b</a:t>
            </a:r>
          </a:p>
        </p:txBody>
      </p:sp>
      <p:sp>
        <p:nvSpPr>
          <p:cNvPr id="75805" name="Rectangle 27"/>
          <p:cNvSpPr>
            <a:spLocks noChangeArrowheads="1"/>
          </p:cNvSpPr>
          <p:nvPr/>
        </p:nvSpPr>
        <p:spPr bwMode="auto">
          <a:xfrm>
            <a:off x="8328025" y="2500313"/>
            <a:ext cx="434975" cy="496887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E</a:t>
            </a:r>
          </a:p>
        </p:txBody>
      </p:sp>
      <p:sp>
        <p:nvSpPr>
          <p:cNvPr id="75806" name="Rectangle 28"/>
          <p:cNvSpPr>
            <a:spLocks noChangeArrowheads="1"/>
          </p:cNvSpPr>
          <p:nvPr/>
        </p:nvSpPr>
        <p:spPr bwMode="auto">
          <a:xfrm>
            <a:off x="8328025" y="3068638"/>
            <a:ext cx="434975" cy="1350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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</a:t>
            </a:r>
          </a:p>
        </p:txBody>
      </p:sp>
      <p:sp>
        <p:nvSpPr>
          <p:cNvPr id="75807" name="Text Box 29"/>
          <p:cNvSpPr txBox="1">
            <a:spLocks noChangeArrowheads="1"/>
          </p:cNvSpPr>
          <p:nvPr/>
        </p:nvSpPr>
        <p:spPr bwMode="auto">
          <a:xfrm>
            <a:off x="3082925" y="443388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 b="1" i="1">
                <a:latin typeface="Helvetica" panose="020B0604020202020204" pitchFamily="34" charset="0"/>
              </a:rPr>
              <a:t>s</a:t>
            </a:r>
          </a:p>
        </p:txBody>
      </p:sp>
      <p:sp>
        <p:nvSpPr>
          <p:cNvPr id="75808" name="Text Box 33"/>
          <p:cNvSpPr txBox="1">
            <a:spLocks noChangeArrowheads="1"/>
          </p:cNvSpPr>
          <p:nvPr/>
        </p:nvSpPr>
        <p:spPr bwMode="auto">
          <a:xfrm>
            <a:off x="4495800" y="2946400"/>
            <a:ext cx="947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i="1"/>
              <a:t>r    s</a:t>
            </a:r>
          </a:p>
        </p:txBody>
      </p:sp>
      <p:sp>
        <p:nvSpPr>
          <p:cNvPr id="75809" name="Line 35"/>
          <p:cNvSpPr>
            <a:spLocks noChangeShapeType="1"/>
          </p:cNvSpPr>
          <p:nvPr/>
        </p:nvSpPr>
        <p:spPr bwMode="auto">
          <a:xfrm>
            <a:off x="5638800" y="3276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5810" name="Line 36"/>
          <p:cNvSpPr>
            <a:spLocks noChangeShapeType="1"/>
          </p:cNvSpPr>
          <p:nvPr/>
        </p:nvSpPr>
        <p:spPr bwMode="auto">
          <a:xfrm>
            <a:off x="4953000" y="3581400"/>
            <a:ext cx="0" cy="17526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5811" name="Text Box 37"/>
          <p:cNvSpPr txBox="1">
            <a:spLocks noChangeArrowheads="1"/>
          </p:cNvSpPr>
          <p:nvPr/>
        </p:nvSpPr>
        <p:spPr bwMode="auto">
          <a:xfrm>
            <a:off x="3584575" y="5302250"/>
            <a:ext cx="28432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Look for: r.B=s.B ^ r.D = s.D</a:t>
            </a:r>
          </a:p>
        </p:txBody>
      </p:sp>
      <p:sp>
        <p:nvSpPr>
          <p:cNvPr id="75812" name="AutoShape 4"/>
          <p:cNvSpPr>
            <a:spLocks noChangeArrowheads="1"/>
          </p:cNvSpPr>
          <p:nvPr/>
        </p:nvSpPr>
        <p:spPr bwMode="auto">
          <a:xfrm>
            <a:off x="4808538" y="316865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90B608-3922-468A-BADB-D4FB4CA86193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680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68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2D365D-172B-4F7D-B7A1-77AF62BCA205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200" smtClean="0"/>
          </a:p>
        </p:txBody>
      </p:sp>
      <p:sp>
        <p:nvSpPr>
          <p:cNvPr id="768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---- Natural Join – Example 2</a:t>
            </a:r>
          </a:p>
        </p:txBody>
      </p:sp>
      <p:grpSp>
        <p:nvGrpSpPr>
          <p:cNvPr id="76806" name="Group 4"/>
          <p:cNvGrpSpPr>
            <a:grpSpLocks/>
          </p:cNvGrpSpPr>
          <p:nvPr/>
        </p:nvGrpSpPr>
        <p:grpSpPr bwMode="auto">
          <a:xfrm>
            <a:off x="1066800" y="3581400"/>
            <a:ext cx="6019800" cy="990600"/>
            <a:chOff x="960" y="1392"/>
            <a:chExt cx="3792" cy="624"/>
          </a:xfrm>
        </p:grpSpPr>
        <p:sp>
          <p:nvSpPr>
            <p:cNvPr id="76812" name="Rectangle 5"/>
            <p:cNvSpPr>
              <a:spLocks noChangeArrowheads="1"/>
            </p:cNvSpPr>
            <p:nvPr/>
          </p:nvSpPr>
          <p:spPr bwMode="auto">
            <a:xfrm>
              <a:off x="960" y="1392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loan-number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6813" name="Rectangle 6"/>
            <p:cNvSpPr>
              <a:spLocks noChangeArrowheads="1"/>
            </p:cNvSpPr>
            <p:nvPr/>
          </p:nvSpPr>
          <p:spPr bwMode="auto">
            <a:xfrm>
              <a:off x="2976" y="1392"/>
              <a:ext cx="720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amount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6814" name="Rectangle 7"/>
            <p:cNvSpPr>
              <a:spLocks noChangeArrowheads="1"/>
            </p:cNvSpPr>
            <p:nvPr/>
          </p:nvSpPr>
          <p:spPr bwMode="auto">
            <a:xfrm>
              <a:off x="960" y="1632"/>
              <a:ext cx="100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L-170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L-230</a:t>
              </a:r>
            </a:p>
          </p:txBody>
        </p:sp>
        <p:sp>
          <p:nvSpPr>
            <p:cNvPr id="76815" name="Rectangle 8"/>
            <p:cNvSpPr>
              <a:spLocks noChangeArrowheads="1"/>
            </p:cNvSpPr>
            <p:nvPr/>
          </p:nvSpPr>
          <p:spPr bwMode="auto">
            <a:xfrm>
              <a:off x="2976" y="1632"/>
              <a:ext cx="720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3000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4000</a:t>
              </a:r>
            </a:p>
          </p:txBody>
        </p:sp>
        <p:sp>
          <p:nvSpPr>
            <p:cNvPr id="76816" name="Rectangle 9"/>
            <p:cNvSpPr>
              <a:spLocks noChangeArrowheads="1"/>
            </p:cNvSpPr>
            <p:nvPr/>
          </p:nvSpPr>
          <p:spPr bwMode="auto">
            <a:xfrm>
              <a:off x="3696" y="1392"/>
              <a:ext cx="105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customer-name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6817" name="Rectangle 10"/>
            <p:cNvSpPr>
              <a:spLocks noChangeArrowheads="1"/>
            </p:cNvSpPr>
            <p:nvPr/>
          </p:nvSpPr>
          <p:spPr bwMode="auto">
            <a:xfrm>
              <a:off x="3696" y="1632"/>
              <a:ext cx="1056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Adel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Sami</a:t>
              </a:r>
            </a:p>
          </p:txBody>
        </p:sp>
        <p:sp>
          <p:nvSpPr>
            <p:cNvPr id="76818" name="Rectangle 11"/>
            <p:cNvSpPr>
              <a:spLocks noChangeArrowheads="1"/>
            </p:cNvSpPr>
            <p:nvPr/>
          </p:nvSpPr>
          <p:spPr bwMode="auto">
            <a:xfrm>
              <a:off x="1968" y="1392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branch-name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76819" name="Rectangle 12"/>
            <p:cNvSpPr>
              <a:spLocks noChangeArrowheads="1"/>
            </p:cNvSpPr>
            <p:nvPr/>
          </p:nvSpPr>
          <p:spPr bwMode="auto">
            <a:xfrm>
              <a:off x="1968" y="1632"/>
              <a:ext cx="1008" cy="3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Khobar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Riyadh</a:t>
              </a:r>
            </a:p>
          </p:txBody>
        </p:sp>
      </p:grpSp>
      <p:sp>
        <p:nvSpPr>
          <p:cNvPr id="76807" name="Text Box 13"/>
          <p:cNvSpPr txBox="1">
            <a:spLocks noChangeArrowheads="1"/>
          </p:cNvSpPr>
          <p:nvPr/>
        </p:nvSpPr>
        <p:spPr bwMode="auto">
          <a:xfrm>
            <a:off x="2438400" y="2162175"/>
            <a:ext cx="283527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/>
              <a:t>loan       Borrower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76808" name="Line 14"/>
          <p:cNvSpPr>
            <a:spLocks noChangeShapeType="1"/>
          </p:cNvSpPr>
          <p:nvPr/>
        </p:nvSpPr>
        <p:spPr bwMode="auto">
          <a:xfrm>
            <a:off x="3505200" y="2643188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6809" name="Text Box 15"/>
          <p:cNvSpPr txBox="1">
            <a:spLocks noChangeArrowheads="1"/>
          </p:cNvSpPr>
          <p:nvPr/>
        </p:nvSpPr>
        <p:spPr bwMode="auto">
          <a:xfrm>
            <a:off x="304800" y="5132388"/>
            <a:ext cx="853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 typeface="Wingdings" panose="05000000000000000000" pitchFamily="2" charset="2"/>
              <a:buChar char="§"/>
            </a:pPr>
            <a:r>
              <a:rPr lang="en-US" altLang="en-US" sz="2000"/>
              <a:t>  </a:t>
            </a:r>
            <a:r>
              <a:rPr lang="en-US" altLang="en-US" sz="1800"/>
              <a:t>Unlike Equijoin, no pairs of attributes with identical values in evey tuple.</a:t>
            </a:r>
          </a:p>
        </p:txBody>
      </p:sp>
      <p:sp>
        <p:nvSpPr>
          <p:cNvPr id="76810" name="AutoShape 4"/>
          <p:cNvSpPr>
            <a:spLocks noChangeArrowheads="1"/>
          </p:cNvSpPr>
          <p:nvPr/>
        </p:nvSpPr>
        <p:spPr bwMode="auto">
          <a:xfrm>
            <a:off x="3276600" y="22860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pic>
        <p:nvPicPr>
          <p:cNvPr id="768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688" y="1162050"/>
            <a:ext cx="3262312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E9C7A6-E578-4C18-AE86-D0B8DB93F125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782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78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7CA9E6-9226-4587-9ABA-04A2CE39E369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200" smtClean="0"/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---- Natural Join – Exercise </a:t>
            </a:r>
          </a:p>
        </p:txBody>
      </p:sp>
      <p:pic>
        <p:nvPicPr>
          <p:cNvPr id="7783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97088"/>
            <a:ext cx="55562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1" name="Rectangle 4"/>
          <p:cNvSpPr>
            <a:spLocks noChangeArrowheads="1"/>
          </p:cNvSpPr>
          <p:nvPr/>
        </p:nvSpPr>
        <p:spPr bwMode="auto">
          <a:xfrm>
            <a:off x="685800" y="1752600"/>
            <a:ext cx="777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Show first_name, job_title, and dept_name where max_Salary is &gt; 1000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E5BF93-EC38-459D-80E8-E377AE6D8576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7987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798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9BFD2F-8186-47BE-BEDD-9F4C4D645CA7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200" smtClean="0"/>
          </a:p>
        </p:txBody>
      </p:sp>
      <p:sp>
        <p:nvSpPr>
          <p:cNvPr id="798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Outer Join</a:t>
            </a:r>
          </a:p>
        </p:txBody>
      </p:sp>
      <p:sp>
        <p:nvSpPr>
          <p:cNvPr id="798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077200" cy="4648200"/>
          </a:xfrm>
        </p:spPr>
        <p:txBody>
          <a:bodyPr/>
          <a:lstStyle/>
          <a:p>
            <a:pPr eaLnBrk="1" hangingPunct="1"/>
            <a:r>
              <a:rPr lang="en-US" altLang="en-US" smtClean="0"/>
              <a:t>An extension of the join operation that avoids loss of information.</a:t>
            </a:r>
          </a:p>
          <a:p>
            <a:pPr eaLnBrk="1" hangingPunct="1"/>
            <a:r>
              <a:rPr lang="en-US" altLang="en-US" smtClean="0"/>
              <a:t>Computes the join and then adds tuples form one relation that does not match tuples in the other relation to the result of the join. </a:t>
            </a:r>
          </a:p>
          <a:p>
            <a:pPr eaLnBrk="1" hangingPunct="1"/>
            <a:r>
              <a:rPr lang="en-US" altLang="en-US" smtClean="0"/>
              <a:t>Uses </a:t>
            </a:r>
            <a:r>
              <a:rPr lang="en-US" altLang="en-US" i="1" smtClean="0"/>
              <a:t>null</a:t>
            </a:r>
            <a:r>
              <a:rPr lang="en-US" altLang="en-US" smtClean="0"/>
              <a:t> values:</a:t>
            </a:r>
          </a:p>
          <a:p>
            <a:pPr lvl="1" eaLnBrk="1" hangingPunct="1"/>
            <a:r>
              <a:rPr lang="en-US" altLang="en-US" i="1" smtClean="0"/>
              <a:t>null </a:t>
            </a:r>
            <a:r>
              <a:rPr lang="en-US" altLang="en-US" smtClean="0"/>
              <a:t>signifies that the value is unknown or does not exist </a:t>
            </a:r>
          </a:p>
          <a:p>
            <a:pPr lvl="1" eaLnBrk="1" hangingPunct="1"/>
            <a:r>
              <a:rPr lang="en-US" altLang="en-US" smtClean="0"/>
              <a:t>All comparisons involving </a:t>
            </a:r>
            <a:r>
              <a:rPr lang="en-US" altLang="en-US" i="1" smtClean="0"/>
              <a:t>null</a:t>
            </a:r>
            <a:r>
              <a:rPr lang="en-US" altLang="en-US" smtClean="0"/>
              <a:t> are (roughly speaking) </a:t>
            </a:r>
            <a:r>
              <a:rPr lang="en-US" altLang="en-US" b="1" smtClean="0"/>
              <a:t>false</a:t>
            </a:r>
            <a:r>
              <a:rPr lang="en-US" altLang="en-US" smtClean="0"/>
              <a:t> by definition.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LEFT Vs RIGHT OUTER JOIN</a:t>
            </a:r>
          </a:p>
        </p:txBody>
      </p:sp>
      <p:pic>
        <p:nvPicPr>
          <p:cNvPr id="80899" name="Picture 4" descr="Conceptual diagram details the Left Outer Join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2514600"/>
            <a:ext cx="3227388" cy="2447925"/>
          </a:xfrm>
        </p:spPr>
      </p:pic>
      <p:pic>
        <p:nvPicPr>
          <p:cNvPr id="80900" name="Picture 6" descr="Conceptual diagram of a Right Outer Join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81600" y="2514600"/>
            <a:ext cx="3227388" cy="2447925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25500"/>
          </a:xfrm>
        </p:spPr>
        <p:txBody>
          <a:bodyPr/>
          <a:lstStyle/>
          <a:p>
            <a:r>
              <a:rPr lang="en-US" altLang="en-US" smtClean="0"/>
              <a:t>Dangling Tuples in JOIN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229600" cy="4222750"/>
          </a:xfrm>
        </p:spPr>
        <p:txBody>
          <a:bodyPr/>
          <a:lstStyle/>
          <a:p>
            <a:r>
              <a:rPr lang="en-US" altLang="en-US" smtClean="0"/>
              <a:t>Usually, only a subset of tuples of each relation will actually participate in a join.</a:t>
            </a:r>
          </a:p>
          <a:p>
            <a:r>
              <a:rPr lang="en-US" altLang="en-US" smtClean="0"/>
              <a:t>Tuples of a relation not participating in a join are </a:t>
            </a:r>
            <a:r>
              <a:rPr lang="en-US" altLang="en-US" i="1" u="sng" smtClean="0">
                <a:solidFill>
                  <a:schemeClr val="accent2"/>
                </a:solidFill>
              </a:rPr>
              <a:t>dangling tuples</a:t>
            </a:r>
            <a:r>
              <a:rPr lang="en-US" altLang="en-US" smtClean="0">
                <a:solidFill>
                  <a:schemeClr val="accent2"/>
                </a:solidFill>
              </a:rPr>
              <a:t>.</a:t>
            </a:r>
          </a:p>
          <a:p>
            <a:r>
              <a:rPr lang="en-US" altLang="en-US" smtClean="0"/>
              <a:t>How do we keep dangling tuples in the result of a join? </a:t>
            </a:r>
          </a:p>
          <a:p>
            <a:pPr lvl="1"/>
            <a:r>
              <a:rPr lang="en-US" altLang="en-US" smtClean="0"/>
              <a:t>Use null values to indicate a “no-join” situation.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BF81980-7C2E-45E4-A94D-A17A3770CBF6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29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29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4B1571-6246-4B48-ACE0-BC1F2ECABAA1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200" smtClean="0"/>
          </a:p>
        </p:txBody>
      </p:sp>
      <p:sp>
        <p:nvSpPr>
          <p:cNvPr id="829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---- Left Outer Join – Example</a:t>
            </a:r>
          </a:p>
        </p:txBody>
      </p:sp>
      <p:grpSp>
        <p:nvGrpSpPr>
          <p:cNvPr id="82950" name="Group 14"/>
          <p:cNvGrpSpPr>
            <a:grpSpLocks/>
          </p:cNvGrpSpPr>
          <p:nvPr/>
        </p:nvGrpSpPr>
        <p:grpSpPr bwMode="auto">
          <a:xfrm>
            <a:off x="1206500" y="4772025"/>
            <a:ext cx="6032500" cy="1219200"/>
            <a:chOff x="1001" y="2680"/>
            <a:chExt cx="3800" cy="768"/>
          </a:xfrm>
        </p:grpSpPr>
        <p:sp>
          <p:nvSpPr>
            <p:cNvPr id="82964" name="Rectangle 15"/>
            <p:cNvSpPr>
              <a:spLocks noChangeArrowheads="1"/>
            </p:cNvSpPr>
            <p:nvPr/>
          </p:nvSpPr>
          <p:spPr bwMode="auto">
            <a:xfrm>
              <a:off x="3728" y="2920"/>
              <a:ext cx="1056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Adel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Sami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null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2965" name="Rectangle 16"/>
            <p:cNvSpPr>
              <a:spLocks noChangeArrowheads="1"/>
            </p:cNvSpPr>
            <p:nvPr/>
          </p:nvSpPr>
          <p:spPr bwMode="auto">
            <a:xfrm>
              <a:off x="1010" y="2680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loan-number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2966" name="Rectangle 17"/>
            <p:cNvSpPr>
              <a:spLocks noChangeArrowheads="1"/>
            </p:cNvSpPr>
            <p:nvPr/>
          </p:nvSpPr>
          <p:spPr bwMode="auto">
            <a:xfrm>
              <a:off x="3026" y="2680"/>
              <a:ext cx="720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amount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2967" name="Rectangle 18"/>
            <p:cNvSpPr>
              <a:spLocks noChangeArrowheads="1"/>
            </p:cNvSpPr>
            <p:nvPr/>
          </p:nvSpPr>
          <p:spPr bwMode="auto">
            <a:xfrm>
              <a:off x="1001" y="2920"/>
              <a:ext cx="100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L-170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L-230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L-260</a:t>
              </a:r>
            </a:p>
          </p:txBody>
        </p:sp>
        <p:sp>
          <p:nvSpPr>
            <p:cNvPr id="82968" name="Rectangle 19"/>
            <p:cNvSpPr>
              <a:spLocks noChangeArrowheads="1"/>
            </p:cNvSpPr>
            <p:nvPr/>
          </p:nvSpPr>
          <p:spPr bwMode="auto">
            <a:xfrm>
              <a:off x="3008" y="2920"/>
              <a:ext cx="720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3000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4000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1700</a:t>
              </a:r>
            </a:p>
          </p:txBody>
        </p:sp>
        <p:sp>
          <p:nvSpPr>
            <p:cNvPr id="82969" name="Rectangle 20"/>
            <p:cNvSpPr>
              <a:spLocks noChangeArrowheads="1"/>
            </p:cNvSpPr>
            <p:nvPr/>
          </p:nvSpPr>
          <p:spPr bwMode="auto">
            <a:xfrm>
              <a:off x="3745" y="2680"/>
              <a:ext cx="105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customer-name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2970" name="Rectangle 21"/>
            <p:cNvSpPr>
              <a:spLocks noChangeArrowheads="1"/>
            </p:cNvSpPr>
            <p:nvPr/>
          </p:nvSpPr>
          <p:spPr bwMode="auto">
            <a:xfrm>
              <a:off x="2018" y="2680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branch-name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2971" name="Rectangle 22"/>
            <p:cNvSpPr>
              <a:spLocks noChangeArrowheads="1"/>
            </p:cNvSpPr>
            <p:nvPr/>
          </p:nvSpPr>
          <p:spPr bwMode="auto">
            <a:xfrm>
              <a:off x="2000" y="2920"/>
              <a:ext cx="100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Khobar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Riyadh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Dammam</a:t>
              </a:r>
            </a:p>
          </p:txBody>
        </p:sp>
      </p:grpSp>
      <p:grpSp>
        <p:nvGrpSpPr>
          <p:cNvPr id="82951" name="Group 23"/>
          <p:cNvGrpSpPr>
            <a:grpSpLocks/>
          </p:cNvGrpSpPr>
          <p:nvPr/>
        </p:nvGrpSpPr>
        <p:grpSpPr bwMode="auto">
          <a:xfrm>
            <a:off x="2546350" y="2127250"/>
            <a:ext cx="4235450" cy="768350"/>
            <a:chOff x="714" y="2156"/>
            <a:chExt cx="2668" cy="484"/>
          </a:xfrm>
        </p:grpSpPr>
        <p:sp>
          <p:nvSpPr>
            <p:cNvPr id="82959" name="Rectangle 24"/>
            <p:cNvSpPr>
              <a:spLocks noChangeArrowheads="1"/>
            </p:cNvSpPr>
            <p:nvPr/>
          </p:nvSpPr>
          <p:spPr bwMode="auto">
            <a:xfrm>
              <a:off x="714" y="2156"/>
              <a:ext cx="2668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None/>
              </a:pPr>
              <a:endParaRPr kumimoji="1" lang="en-US" altLang="en-US" sz="2000" b="1">
                <a:latin typeface="Helvetica" panose="020B0604020202020204" pitchFamily="34" charset="0"/>
              </a:endParaRPr>
            </a:p>
            <a:p>
              <a:pPr>
                <a:spcBef>
                  <a:spcPct val="35000"/>
                </a:spcBef>
                <a:buClr>
                  <a:schemeClr val="tx2"/>
                </a:buClr>
                <a:buSzTx/>
                <a:buFont typeface="Monotype Sorts" pitchFamily="2" charset="2"/>
                <a:buNone/>
              </a:pPr>
              <a:r>
                <a:rPr kumimoji="1" lang="en-US" altLang="en-US" sz="1800" i="1">
                  <a:latin typeface="Helvetica" panose="020B0604020202020204" pitchFamily="34" charset="0"/>
                </a:rPr>
                <a:t>    loan          Borrower</a:t>
              </a:r>
              <a:endParaRPr kumimoji="1" lang="en-US" altLang="en-US" sz="2000" b="1">
                <a:latin typeface="Helvetica" panose="020B0604020202020204" pitchFamily="34" charset="0"/>
              </a:endParaRPr>
            </a:p>
          </p:txBody>
        </p:sp>
        <p:grpSp>
          <p:nvGrpSpPr>
            <p:cNvPr id="82960" name="Group 25"/>
            <p:cNvGrpSpPr>
              <a:grpSpLocks/>
            </p:cNvGrpSpPr>
            <p:nvPr/>
          </p:nvGrpSpPr>
          <p:grpSpPr bwMode="auto">
            <a:xfrm>
              <a:off x="1248" y="2465"/>
              <a:ext cx="261" cy="132"/>
              <a:chOff x="1225" y="2417"/>
              <a:chExt cx="261" cy="132"/>
            </a:xfrm>
          </p:grpSpPr>
          <p:sp>
            <p:nvSpPr>
              <p:cNvPr id="82961" name="AutoShape 26"/>
              <p:cNvSpPr>
                <a:spLocks noChangeArrowheads="1"/>
              </p:cNvSpPr>
              <p:nvPr/>
            </p:nvSpPr>
            <p:spPr bwMode="auto">
              <a:xfrm rot="16200000" flipV="1">
                <a:off x="1354" y="2417"/>
                <a:ext cx="132" cy="132"/>
              </a:xfrm>
              <a:prstGeom prst="flowChartCollat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82962" name="Line 27"/>
              <p:cNvSpPr>
                <a:spLocks noChangeShapeType="1"/>
              </p:cNvSpPr>
              <p:nvPr/>
            </p:nvSpPr>
            <p:spPr bwMode="auto">
              <a:xfrm flipH="1">
                <a:off x="1228" y="2419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82963" name="Line 28"/>
              <p:cNvSpPr>
                <a:spLocks noChangeShapeType="1"/>
              </p:cNvSpPr>
              <p:nvPr/>
            </p:nvSpPr>
            <p:spPr bwMode="auto">
              <a:xfrm flipH="1">
                <a:off x="1225" y="254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sp>
        <p:nvSpPr>
          <p:cNvPr id="82952" name="Line 30"/>
          <p:cNvSpPr>
            <a:spLocks noChangeShapeType="1"/>
          </p:cNvSpPr>
          <p:nvPr/>
        </p:nvSpPr>
        <p:spPr bwMode="auto">
          <a:xfrm>
            <a:off x="3657600" y="3048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2953" name="Rectangle 1"/>
          <p:cNvSpPr>
            <a:spLocks noChangeArrowheads="1"/>
          </p:cNvSpPr>
          <p:nvPr/>
        </p:nvSpPr>
        <p:spPr bwMode="auto">
          <a:xfrm>
            <a:off x="152400" y="1566863"/>
            <a:ext cx="7848600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Format: R1      R2. Similar to a natural join but keep all dangling tuples of R1.</a:t>
            </a:r>
          </a:p>
        </p:txBody>
      </p:sp>
      <p:grpSp>
        <p:nvGrpSpPr>
          <p:cNvPr id="82954" name="Group 4"/>
          <p:cNvGrpSpPr>
            <a:grpSpLocks/>
          </p:cNvGrpSpPr>
          <p:nvPr/>
        </p:nvGrpSpPr>
        <p:grpSpPr bwMode="auto">
          <a:xfrm flipH="1">
            <a:off x="2206625" y="1724025"/>
            <a:ext cx="381000" cy="152400"/>
            <a:chOff x="384" y="528"/>
            <a:chExt cx="240" cy="96"/>
          </a:xfrm>
        </p:grpSpPr>
        <p:sp>
          <p:nvSpPr>
            <p:cNvPr id="82956" name="AutoShape 5"/>
            <p:cNvSpPr>
              <a:spLocks noChangeArrowheads="1"/>
            </p:cNvSpPr>
            <p:nvPr/>
          </p:nvSpPr>
          <p:spPr bwMode="auto">
            <a:xfrm rot="5400000">
              <a:off x="432" y="480"/>
              <a:ext cx="96" cy="192"/>
            </a:xfrm>
            <a:prstGeom prst="flowChartCollate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82957" name="Line 6"/>
            <p:cNvSpPr>
              <a:spLocks noChangeShapeType="1"/>
            </p:cNvSpPr>
            <p:nvPr/>
          </p:nvSpPr>
          <p:spPr bwMode="auto">
            <a:xfrm flipH="1">
              <a:off x="576" y="528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82958" name="Line 7"/>
            <p:cNvSpPr>
              <a:spLocks noChangeShapeType="1"/>
            </p:cNvSpPr>
            <p:nvPr/>
          </p:nvSpPr>
          <p:spPr bwMode="auto">
            <a:xfrm flipH="1">
              <a:off x="576" y="624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</p:grpSp>
      <p:pic>
        <p:nvPicPr>
          <p:cNvPr id="829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450" y="2208213"/>
            <a:ext cx="3262313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EAFB61-F1CC-4E3E-A183-D14B1B939120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39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39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03406B-76BD-49D6-A9B3-8AC0D717BF92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200" smtClean="0"/>
          </a:p>
        </p:txBody>
      </p:sp>
      <p:sp>
        <p:nvSpPr>
          <p:cNvPr id="839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---- Right Outer Join – Example</a:t>
            </a:r>
          </a:p>
        </p:txBody>
      </p:sp>
      <p:sp>
        <p:nvSpPr>
          <p:cNvPr id="839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19400" y="2544763"/>
            <a:ext cx="2962275" cy="6826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i="1" smtClean="0"/>
              <a:t>loan</a:t>
            </a:r>
            <a:r>
              <a:rPr lang="en-US" altLang="en-US" sz="2000" smtClean="0"/>
              <a:t> </a:t>
            </a:r>
            <a:r>
              <a:rPr lang="en-US" altLang="en-US" sz="2000" smtClean="0">
                <a:sym typeface="Symbol" panose="05050102010706020507" pitchFamily="18" charset="2"/>
              </a:rPr>
              <a:t>         </a:t>
            </a:r>
            <a:r>
              <a:rPr lang="en-US" altLang="en-US" sz="2000" i="1" smtClean="0">
                <a:sym typeface="Symbol" panose="05050102010706020507" pitchFamily="18" charset="2"/>
              </a:rPr>
              <a:t>borrower</a:t>
            </a:r>
            <a:endParaRPr lang="en-US" altLang="en-US" sz="2000" i="1" smtClean="0"/>
          </a:p>
        </p:txBody>
      </p:sp>
      <p:grpSp>
        <p:nvGrpSpPr>
          <p:cNvPr id="83975" name="Group 6"/>
          <p:cNvGrpSpPr>
            <a:grpSpLocks/>
          </p:cNvGrpSpPr>
          <p:nvPr/>
        </p:nvGrpSpPr>
        <p:grpSpPr bwMode="auto">
          <a:xfrm>
            <a:off x="1208088" y="5029200"/>
            <a:ext cx="6019800" cy="1219200"/>
            <a:chOff x="816" y="1299"/>
            <a:chExt cx="3792" cy="768"/>
          </a:xfrm>
        </p:grpSpPr>
        <p:sp>
          <p:nvSpPr>
            <p:cNvPr id="83987" name="Rectangle 7"/>
            <p:cNvSpPr>
              <a:spLocks noChangeArrowheads="1"/>
            </p:cNvSpPr>
            <p:nvPr/>
          </p:nvSpPr>
          <p:spPr bwMode="auto">
            <a:xfrm>
              <a:off x="816" y="1299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loan-number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3988" name="Rectangle 8"/>
            <p:cNvSpPr>
              <a:spLocks noChangeArrowheads="1"/>
            </p:cNvSpPr>
            <p:nvPr/>
          </p:nvSpPr>
          <p:spPr bwMode="auto">
            <a:xfrm>
              <a:off x="2832" y="1299"/>
              <a:ext cx="720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amount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3989" name="Rectangle 9"/>
            <p:cNvSpPr>
              <a:spLocks noChangeArrowheads="1"/>
            </p:cNvSpPr>
            <p:nvPr/>
          </p:nvSpPr>
          <p:spPr bwMode="auto">
            <a:xfrm>
              <a:off x="816" y="1539"/>
              <a:ext cx="100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L-170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L-230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L-155</a:t>
              </a:r>
            </a:p>
          </p:txBody>
        </p:sp>
        <p:sp>
          <p:nvSpPr>
            <p:cNvPr id="83990" name="Rectangle 10"/>
            <p:cNvSpPr>
              <a:spLocks noChangeArrowheads="1"/>
            </p:cNvSpPr>
            <p:nvPr/>
          </p:nvSpPr>
          <p:spPr bwMode="auto">
            <a:xfrm>
              <a:off x="2832" y="1539"/>
              <a:ext cx="720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3000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4000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null</a:t>
              </a:r>
            </a:p>
          </p:txBody>
        </p:sp>
        <p:sp>
          <p:nvSpPr>
            <p:cNvPr id="83991" name="Rectangle 11"/>
            <p:cNvSpPr>
              <a:spLocks noChangeArrowheads="1"/>
            </p:cNvSpPr>
            <p:nvPr/>
          </p:nvSpPr>
          <p:spPr bwMode="auto">
            <a:xfrm>
              <a:off x="3552" y="1299"/>
              <a:ext cx="105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customer-name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3992" name="Rectangle 12"/>
            <p:cNvSpPr>
              <a:spLocks noChangeArrowheads="1"/>
            </p:cNvSpPr>
            <p:nvPr/>
          </p:nvSpPr>
          <p:spPr bwMode="auto">
            <a:xfrm>
              <a:off x="3552" y="1539"/>
              <a:ext cx="1056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Adel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Sami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Hashim</a:t>
              </a:r>
            </a:p>
          </p:txBody>
        </p:sp>
        <p:sp>
          <p:nvSpPr>
            <p:cNvPr id="83993" name="Rectangle 13"/>
            <p:cNvSpPr>
              <a:spLocks noChangeArrowheads="1"/>
            </p:cNvSpPr>
            <p:nvPr/>
          </p:nvSpPr>
          <p:spPr bwMode="auto">
            <a:xfrm>
              <a:off x="1824" y="1299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branch-name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3994" name="Rectangle 14"/>
            <p:cNvSpPr>
              <a:spLocks noChangeArrowheads="1"/>
            </p:cNvSpPr>
            <p:nvPr/>
          </p:nvSpPr>
          <p:spPr bwMode="auto">
            <a:xfrm>
              <a:off x="1824" y="1539"/>
              <a:ext cx="1008" cy="5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Khobar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Riyadh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null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</p:grpSp>
      <p:grpSp>
        <p:nvGrpSpPr>
          <p:cNvPr id="83976" name="Group 24"/>
          <p:cNvGrpSpPr>
            <a:grpSpLocks/>
          </p:cNvGrpSpPr>
          <p:nvPr/>
        </p:nvGrpSpPr>
        <p:grpSpPr bwMode="auto">
          <a:xfrm>
            <a:off x="3602038" y="2627313"/>
            <a:ext cx="263525" cy="157162"/>
            <a:chOff x="1146" y="1007"/>
            <a:chExt cx="167" cy="99"/>
          </a:xfrm>
        </p:grpSpPr>
        <p:sp>
          <p:nvSpPr>
            <p:cNvPr id="83984" name="AutoShape 25"/>
            <p:cNvSpPr>
              <a:spLocks noChangeArrowheads="1"/>
            </p:cNvSpPr>
            <p:nvPr/>
          </p:nvSpPr>
          <p:spPr bwMode="auto">
            <a:xfrm rot="16200000" flipV="1">
              <a:off x="1146" y="1008"/>
              <a:ext cx="96" cy="96"/>
            </a:xfrm>
            <a:prstGeom prst="flowChartCollat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83985" name="Line 26"/>
            <p:cNvSpPr>
              <a:spLocks noChangeShapeType="1"/>
            </p:cNvSpPr>
            <p:nvPr/>
          </p:nvSpPr>
          <p:spPr bwMode="auto">
            <a:xfrm flipH="1">
              <a:off x="1249" y="1007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3986" name="Line 27"/>
            <p:cNvSpPr>
              <a:spLocks noChangeShapeType="1"/>
            </p:cNvSpPr>
            <p:nvPr/>
          </p:nvSpPr>
          <p:spPr bwMode="auto">
            <a:xfrm flipH="1">
              <a:off x="1249" y="110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83977" name="Line 34"/>
          <p:cNvSpPr>
            <a:spLocks noChangeShapeType="1"/>
          </p:cNvSpPr>
          <p:nvPr/>
        </p:nvSpPr>
        <p:spPr bwMode="auto">
          <a:xfrm>
            <a:off x="3733800" y="28194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3978" name="Rectangle 1"/>
          <p:cNvSpPr>
            <a:spLocks noChangeArrowheads="1"/>
          </p:cNvSpPr>
          <p:nvPr/>
        </p:nvSpPr>
        <p:spPr bwMode="auto">
          <a:xfrm>
            <a:off x="0" y="1631950"/>
            <a:ext cx="8229600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Format: R1      R2. Similar to a natural join but keep all dangling tuples of R2.</a:t>
            </a:r>
          </a:p>
        </p:txBody>
      </p:sp>
      <p:grpSp>
        <p:nvGrpSpPr>
          <p:cNvPr id="83979" name="Group 14"/>
          <p:cNvGrpSpPr>
            <a:grpSpLocks/>
          </p:cNvGrpSpPr>
          <p:nvPr/>
        </p:nvGrpSpPr>
        <p:grpSpPr bwMode="auto">
          <a:xfrm>
            <a:off x="2133600" y="1751013"/>
            <a:ext cx="381000" cy="152400"/>
            <a:chOff x="384" y="528"/>
            <a:chExt cx="240" cy="96"/>
          </a:xfrm>
        </p:grpSpPr>
        <p:sp>
          <p:nvSpPr>
            <p:cNvPr id="83981" name="AutoShape 15"/>
            <p:cNvSpPr>
              <a:spLocks noChangeArrowheads="1"/>
            </p:cNvSpPr>
            <p:nvPr/>
          </p:nvSpPr>
          <p:spPr bwMode="auto">
            <a:xfrm rot="5400000">
              <a:off x="432" y="480"/>
              <a:ext cx="96" cy="192"/>
            </a:xfrm>
            <a:prstGeom prst="flowChartCollate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83982" name="Line 16"/>
            <p:cNvSpPr>
              <a:spLocks noChangeShapeType="1"/>
            </p:cNvSpPr>
            <p:nvPr/>
          </p:nvSpPr>
          <p:spPr bwMode="auto">
            <a:xfrm flipH="1">
              <a:off x="576" y="528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83983" name="Line 17"/>
            <p:cNvSpPr>
              <a:spLocks noChangeShapeType="1"/>
            </p:cNvSpPr>
            <p:nvPr/>
          </p:nvSpPr>
          <p:spPr bwMode="auto">
            <a:xfrm flipH="1">
              <a:off x="576" y="624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</p:grpSp>
      <p:pic>
        <p:nvPicPr>
          <p:cNvPr id="8398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938" y="2433638"/>
            <a:ext cx="3262312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541892-3C62-4B60-9F7F-ECD877780D61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49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49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22F794-7332-4E57-ADC9-723DE14D34B4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200" smtClean="0"/>
          </a:p>
        </p:txBody>
      </p:sp>
      <p:sp>
        <p:nvSpPr>
          <p:cNvPr id="849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---- Full Outer Join – Example</a:t>
            </a:r>
          </a:p>
        </p:txBody>
      </p:sp>
      <p:sp>
        <p:nvSpPr>
          <p:cNvPr id="84998" name="Rectangle 4"/>
          <p:cNvSpPr>
            <a:spLocks noChangeArrowheads="1"/>
          </p:cNvSpPr>
          <p:nvPr/>
        </p:nvSpPr>
        <p:spPr bwMode="auto">
          <a:xfrm>
            <a:off x="2667000" y="2652713"/>
            <a:ext cx="31686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kumimoji="1" lang="en-US" altLang="en-US" i="1">
                <a:latin typeface="Times New Roman" panose="02020603050405020304" pitchFamily="18" charset="0"/>
              </a:rPr>
              <a:t>loan </a:t>
            </a:r>
            <a:r>
              <a:rPr kumimoji="1" lang="en-US" altLang="en-US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en-US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        borrower</a:t>
            </a:r>
            <a:endParaRPr kumimoji="1" lang="en-US" altLang="en-US" i="1">
              <a:latin typeface="Times New Roman" panose="02020603050405020304" pitchFamily="18" charset="0"/>
            </a:endParaRPr>
          </a:p>
        </p:txBody>
      </p:sp>
      <p:grpSp>
        <p:nvGrpSpPr>
          <p:cNvPr id="84999" name="Group 15"/>
          <p:cNvGrpSpPr>
            <a:grpSpLocks/>
          </p:cNvGrpSpPr>
          <p:nvPr/>
        </p:nvGrpSpPr>
        <p:grpSpPr bwMode="auto">
          <a:xfrm>
            <a:off x="1219200" y="4953000"/>
            <a:ext cx="6019800" cy="1524000"/>
            <a:chOff x="768" y="2688"/>
            <a:chExt cx="3792" cy="960"/>
          </a:xfrm>
        </p:grpSpPr>
        <p:sp>
          <p:nvSpPr>
            <p:cNvPr id="85015" name="Rectangle 16"/>
            <p:cNvSpPr>
              <a:spLocks noChangeArrowheads="1"/>
            </p:cNvSpPr>
            <p:nvPr/>
          </p:nvSpPr>
          <p:spPr bwMode="auto">
            <a:xfrm>
              <a:off x="768" y="2688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loan-number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5016" name="Rectangle 17"/>
            <p:cNvSpPr>
              <a:spLocks noChangeArrowheads="1"/>
            </p:cNvSpPr>
            <p:nvPr/>
          </p:nvSpPr>
          <p:spPr bwMode="auto">
            <a:xfrm>
              <a:off x="2784" y="2688"/>
              <a:ext cx="720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amount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5017" name="Rectangle 18"/>
            <p:cNvSpPr>
              <a:spLocks noChangeArrowheads="1"/>
            </p:cNvSpPr>
            <p:nvPr/>
          </p:nvSpPr>
          <p:spPr bwMode="auto">
            <a:xfrm>
              <a:off x="768" y="2928"/>
              <a:ext cx="1008" cy="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L-170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L-230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L-260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L-155</a:t>
              </a:r>
            </a:p>
          </p:txBody>
        </p:sp>
        <p:sp>
          <p:nvSpPr>
            <p:cNvPr id="85018" name="Rectangle 19"/>
            <p:cNvSpPr>
              <a:spLocks noChangeArrowheads="1"/>
            </p:cNvSpPr>
            <p:nvPr/>
          </p:nvSpPr>
          <p:spPr bwMode="auto">
            <a:xfrm>
              <a:off x="2784" y="2928"/>
              <a:ext cx="720" cy="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3000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4000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1700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null</a:t>
              </a:r>
            </a:p>
          </p:txBody>
        </p:sp>
        <p:sp>
          <p:nvSpPr>
            <p:cNvPr id="85019" name="Rectangle 20"/>
            <p:cNvSpPr>
              <a:spLocks noChangeArrowheads="1"/>
            </p:cNvSpPr>
            <p:nvPr/>
          </p:nvSpPr>
          <p:spPr bwMode="auto">
            <a:xfrm>
              <a:off x="3504" y="2688"/>
              <a:ext cx="1056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customer-name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5020" name="Rectangle 21"/>
            <p:cNvSpPr>
              <a:spLocks noChangeArrowheads="1"/>
            </p:cNvSpPr>
            <p:nvPr/>
          </p:nvSpPr>
          <p:spPr bwMode="auto">
            <a:xfrm>
              <a:off x="3504" y="2928"/>
              <a:ext cx="1056" cy="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Adel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Sami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null</a:t>
              </a:r>
              <a:endParaRPr lang="en-US" altLang="en-US" sz="1800">
                <a:latin typeface="Helvetica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Hashim</a:t>
              </a:r>
            </a:p>
          </p:txBody>
        </p:sp>
        <p:sp>
          <p:nvSpPr>
            <p:cNvPr id="85021" name="Rectangle 22"/>
            <p:cNvSpPr>
              <a:spLocks noChangeArrowheads="1"/>
            </p:cNvSpPr>
            <p:nvPr/>
          </p:nvSpPr>
          <p:spPr bwMode="auto">
            <a:xfrm>
              <a:off x="1776" y="2688"/>
              <a:ext cx="1008" cy="1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branch-name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  <p:sp>
          <p:nvSpPr>
            <p:cNvPr id="85022" name="Rectangle 23"/>
            <p:cNvSpPr>
              <a:spLocks noChangeArrowheads="1"/>
            </p:cNvSpPr>
            <p:nvPr/>
          </p:nvSpPr>
          <p:spPr bwMode="auto">
            <a:xfrm>
              <a:off x="1776" y="2928"/>
              <a:ext cx="1008" cy="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Khobar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Riyadh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Helvetica" panose="020B0604020202020204" pitchFamily="34" charset="0"/>
                </a:rPr>
                <a:t>Dammam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Helvetica" panose="020B0604020202020204" pitchFamily="34" charset="0"/>
                </a:rPr>
                <a:t>null</a:t>
              </a:r>
              <a:endParaRPr lang="en-US" altLang="en-US" sz="1800">
                <a:latin typeface="Helvetica" panose="020B0604020202020204" pitchFamily="34" charset="0"/>
              </a:endParaRPr>
            </a:p>
          </p:txBody>
        </p:sp>
      </p:grpSp>
      <p:grpSp>
        <p:nvGrpSpPr>
          <p:cNvPr id="85000" name="Group 28"/>
          <p:cNvGrpSpPr>
            <a:grpSpLocks/>
          </p:cNvGrpSpPr>
          <p:nvPr/>
        </p:nvGrpSpPr>
        <p:grpSpPr bwMode="auto">
          <a:xfrm>
            <a:off x="3540125" y="2735263"/>
            <a:ext cx="387350" cy="152400"/>
            <a:chOff x="1141" y="2444"/>
            <a:chExt cx="244" cy="96"/>
          </a:xfrm>
        </p:grpSpPr>
        <p:sp>
          <p:nvSpPr>
            <p:cNvPr id="85010" name="AutoShape 29"/>
            <p:cNvSpPr>
              <a:spLocks noChangeArrowheads="1"/>
            </p:cNvSpPr>
            <p:nvPr/>
          </p:nvSpPr>
          <p:spPr bwMode="auto">
            <a:xfrm rot="16200000" flipV="1">
              <a:off x="1213" y="2444"/>
              <a:ext cx="96" cy="96"/>
            </a:xfrm>
            <a:prstGeom prst="flowChartCollat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85011" name="Line 30"/>
            <p:cNvSpPr>
              <a:spLocks noChangeShapeType="1"/>
            </p:cNvSpPr>
            <p:nvPr/>
          </p:nvSpPr>
          <p:spPr bwMode="auto">
            <a:xfrm flipH="1">
              <a:off x="1144" y="2450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5012" name="Line 31"/>
            <p:cNvSpPr>
              <a:spLocks noChangeShapeType="1"/>
            </p:cNvSpPr>
            <p:nvPr/>
          </p:nvSpPr>
          <p:spPr bwMode="auto">
            <a:xfrm flipH="1">
              <a:off x="1141" y="2537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5013" name="Line 32"/>
            <p:cNvSpPr>
              <a:spLocks noChangeShapeType="1"/>
            </p:cNvSpPr>
            <p:nvPr/>
          </p:nvSpPr>
          <p:spPr bwMode="auto">
            <a:xfrm flipH="1">
              <a:off x="1321" y="2537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5014" name="Line 33"/>
            <p:cNvSpPr>
              <a:spLocks noChangeShapeType="1"/>
            </p:cNvSpPr>
            <p:nvPr/>
          </p:nvSpPr>
          <p:spPr bwMode="auto">
            <a:xfrm flipH="1">
              <a:off x="1309" y="2444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85001" name="Line 35"/>
          <p:cNvSpPr>
            <a:spLocks noChangeShapeType="1"/>
          </p:cNvSpPr>
          <p:nvPr/>
        </p:nvSpPr>
        <p:spPr bwMode="auto">
          <a:xfrm>
            <a:off x="3733800" y="2971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5002" name="Rectangle 1"/>
          <p:cNvSpPr>
            <a:spLocks noChangeArrowheads="1"/>
          </p:cNvSpPr>
          <p:nvPr/>
        </p:nvSpPr>
        <p:spPr bwMode="auto">
          <a:xfrm>
            <a:off x="455613" y="1508125"/>
            <a:ext cx="7545387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Format: R1      R2. Similar to a natural join but keep all dangling tuples of both R1 &amp; R2.</a:t>
            </a:r>
          </a:p>
        </p:txBody>
      </p:sp>
      <p:grpSp>
        <p:nvGrpSpPr>
          <p:cNvPr id="85003" name="Group 8"/>
          <p:cNvGrpSpPr>
            <a:grpSpLocks/>
          </p:cNvGrpSpPr>
          <p:nvPr/>
        </p:nvGrpSpPr>
        <p:grpSpPr bwMode="auto">
          <a:xfrm>
            <a:off x="2514600" y="1662113"/>
            <a:ext cx="457200" cy="152400"/>
            <a:chOff x="3792" y="3984"/>
            <a:chExt cx="288" cy="144"/>
          </a:xfrm>
        </p:grpSpPr>
        <p:sp>
          <p:nvSpPr>
            <p:cNvPr id="85005" name="AutoShape 9"/>
            <p:cNvSpPr>
              <a:spLocks noChangeArrowheads="1"/>
            </p:cNvSpPr>
            <p:nvPr/>
          </p:nvSpPr>
          <p:spPr bwMode="auto">
            <a:xfrm rot="5400000">
              <a:off x="3864" y="3960"/>
              <a:ext cx="144" cy="192"/>
            </a:xfrm>
            <a:prstGeom prst="flowChartCollate">
              <a:avLst/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85006" name="Line 10"/>
            <p:cNvSpPr>
              <a:spLocks noChangeShapeType="1"/>
            </p:cNvSpPr>
            <p:nvPr/>
          </p:nvSpPr>
          <p:spPr bwMode="auto">
            <a:xfrm flipH="1" flipV="1">
              <a:off x="3792" y="3984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GB"/>
            </a:p>
          </p:txBody>
        </p:sp>
        <p:sp>
          <p:nvSpPr>
            <p:cNvPr id="85007" name="Line 11"/>
            <p:cNvSpPr>
              <a:spLocks noChangeShapeType="1"/>
            </p:cNvSpPr>
            <p:nvPr/>
          </p:nvSpPr>
          <p:spPr bwMode="auto">
            <a:xfrm flipH="1">
              <a:off x="3792" y="4128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85008" name="Line 12"/>
            <p:cNvSpPr>
              <a:spLocks noChangeShapeType="1"/>
            </p:cNvSpPr>
            <p:nvPr/>
          </p:nvSpPr>
          <p:spPr bwMode="auto">
            <a:xfrm flipH="1">
              <a:off x="4032" y="3984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  <p:sp>
          <p:nvSpPr>
            <p:cNvPr id="85009" name="Line 13"/>
            <p:cNvSpPr>
              <a:spLocks noChangeShapeType="1"/>
            </p:cNvSpPr>
            <p:nvPr/>
          </p:nvSpPr>
          <p:spPr bwMode="auto">
            <a:xfrm flipH="1">
              <a:off x="4032" y="4128"/>
              <a:ext cx="48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GB"/>
            </a:p>
          </p:txBody>
        </p:sp>
      </p:grpSp>
      <p:pic>
        <p:nvPicPr>
          <p:cNvPr id="850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5300" y="2401888"/>
            <a:ext cx="3262313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EA0665E-A3FA-4590-A174-121A7F95CF58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60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60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EF9381-C767-4392-A69F-081B7A567D1B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200" smtClean="0"/>
          </a:p>
        </p:txBody>
      </p:sp>
      <p:sp>
        <p:nvSpPr>
          <p:cNvPr id="860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OUTER Join using UNION Operation</a:t>
            </a:r>
          </a:p>
        </p:txBody>
      </p:sp>
      <p:sp>
        <p:nvSpPr>
          <p:cNvPr id="860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0772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Outer Union operation computes the union of two relations if the relations are </a:t>
            </a:r>
            <a:r>
              <a:rPr lang="en-US" altLang="en-US" smtClean="0">
                <a:solidFill>
                  <a:schemeClr val="hlink"/>
                </a:solidFill>
              </a:rPr>
              <a:t>partially union compatible</a:t>
            </a:r>
            <a:r>
              <a:rPr lang="en-US" altLang="en-US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Characteristics: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The list of compatible attributes includes a key for both relations.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Tuples from the component relations with the same key are presented only once in the result and have values for all attributes in the result.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The attributes that are not union compatible from either relation are kept in the result.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Tuples that have no values for these attributes are padded with null values.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OUTER UNION is equivalent to a FULL OUTER JOIN if the join attributes are </a:t>
            </a:r>
            <a:r>
              <a:rPr lang="en-US" altLang="en-US" smtClean="0">
                <a:solidFill>
                  <a:schemeClr val="hlink"/>
                </a:solidFill>
              </a:rPr>
              <a:t>all</a:t>
            </a:r>
            <a:r>
              <a:rPr lang="en-US" altLang="en-US" smtClean="0"/>
              <a:t> the common attributes of the two relations.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3FE44F-26DB-4FF4-9B8B-001EEF16D54D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70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70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8D8354-A907-4A91-8EF3-DCF5FF3B9660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200" smtClean="0"/>
          </a:p>
        </p:txBody>
      </p:sp>
      <p:sp>
        <p:nvSpPr>
          <p:cNvPr id="870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OUTER UNION Operation: Example</a:t>
            </a:r>
          </a:p>
        </p:txBody>
      </p:sp>
      <p:sp>
        <p:nvSpPr>
          <p:cNvPr id="87046" name="Rectangle 4"/>
          <p:cNvSpPr>
            <a:spLocks noChangeArrowheads="1"/>
          </p:cNvSpPr>
          <p:nvPr/>
        </p:nvSpPr>
        <p:spPr bwMode="auto">
          <a:xfrm>
            <a:off x="381000" y="1981200"/>
            <a:ext cx="35052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047" name="Text Box 5"/>
          <p:cNvSpPr txBox="1">
            <a:spLocks noChangeArrowheads="1"/>
          </p:cNvSpPr>
          <p:nvPr/>
        </p:nvSpPr>
        <p:spPr bwMode="auto">
          <a:xfrm>
            <a:off x="381000" y="1981200"/>
            <a:ext cx="769938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Name</a:t>
            </a:r>
          </a:p>
        </p:txBody>
      </p:sp>
      <p:sp>
        <p:nvSpPr>
          <p:cNvPr id="87048" name="Text Box 6"/>
          <p:cNvSpPr txBox="1">
            <a:spLocks noChangeArrowheads="1"/>
          </p:cNvSpPr>
          <p:nvPr/>
        </p:nvSpPr>
        <p:spPr bwMode="auto">
          <a:xfrm>
            <a:off x="1295400" y="1995488"/>
            <a:ext cx="590550" cy="3667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SSN</a:t>
            </a:r>
          </a:p>
        </p:txBody>
      </p:sp>
      <p:sp>
        <p:nvSpPr>
          <p:cNvPr id="87049" name="Text Box 7"/>
          <p:cNvSpPr txBox="1">
            <a:spLocks noChangeArrowheads="1"/>
          </p:cNvSpPr>
          <p:nvPr/>
        </p:nvSpPr>
        <p:spPr bwMode="auto">
          <a:xfrm>
            <a:off x="2133600" y="1981200"/>
            <a:ext cx="663575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Dept</a:t>
            </a:r>
          </a:p>
        </p:txBody>
      </p:sp>
      <p:sp>
        <p:nvSpPr>
          <p:cNvPr id="87050" name="Text Box 8"/>
          <p:cNvSpPr txBox="1">
            <a:spLocks noChangeArrowheads="1"/>
          </p:cNvSpPr>
          <p:nvPr/>
        </p:nvSpPr>
        <p:spPr bwMode="auto">
          <a:xfrm>
            <a:off x="2895600" y="1981200"/>
            <a:ext cx="922338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Advisor</a:t>
            </a:r>
          </a:p>
        </p:txBody>
      </p:sp>
      <p:sp>
        <p:nvSpPr>
          <p:cNvPr id="87051" name="Line 13"/>
          <p:cNvSpPr>
            <a:spLocks noChangeShapeType="1"/>
          </p:cNvSpPr>
          <p:nvPr/>
        </p:nvSpPr>
        <p:spPr bwMode="auto">
          <a:xfrm>
            <a:off x="12954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52" name="Line 14"/>
          <p:cNvSpPr>
            <a:spLocks noChangeShapeType="1"/>
          </p:cNvSpPr>
          <p:nvPr/>
        </p:nvSpPr>
        <p:spPr bwMode="auto">
          <a:xfrm>
            <a:off x="19812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53" name="Line 15"/>
          <p:cNvSpPr>
            <a:spLocks noChangeShapeType="1"/>
          </p:cNvSpPr>
          <p:nvPr/>
        </p:nvSpPr>
        <p:spPr bwMode="auto">
          <a:xfrm>
            <a:off x="28956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54" name="Rectangle 16"/>
          <p:cNvSpPr>
            <a:spLocks noChangeArrowheads="1"/>
          </p:cNvSpPr>
          <p:nvPr/>
        </p:nvSpPr>
        <p:spPr bwMode="auto">
          <a:xfrm>
            <a:off x="381000" y="2438400"/>
            <a:ext cx="3505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055" name="Text Box 17"/>
          <p:cNvSpPr txBox="1">
            <a:spLocks noChangeArrowheads="1"/>
          </p:cNvSpPr>
          <p:nvPr/>
        </p:nvSpPr>
        <p:spPr bwMode="auto">
          <a:xfrm>
            <a:off x="381000" y="2438400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Ali</a:t>
            </a:r>
          </a:p>
        </p:txBody>
      </p:sp>
      <p:sp>
        <p:nvSpPr>
          <p:cNvPr id="87056" name="Text Box 18"/>
          <p:cNvSpPr txBox="1">
            <a:spLocks noChangeArrowheads="1"/>
          </p:cNvSpPr>
          <p:nvPr/>
        </p:nvSpPr>
        <p:spPr bwMode="auto">
          <a:xfrm>
            <a:off x="1295400" y="2452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111</a:t>
            </a:r>
          </a:p>
        </p:txBody>
      </p:sp>
      <p:sp>
        <p:nvSpPr>
          <p:cNvPr id="87057" name="Text Box 19"/>
          <p:cNvSpPr txBox="1">
            <a:spLocks noChangeArrowheads="1"/>
          </p:cNvSpPr>
          <p:nvPr/>
        </p:nvSpPr>
        <p:spPr bwMode="auto">
          <a:xfrm>
            <a:off x="2133600" y="2438400"/>
            <a:ext cx="611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COE</a:t>
            </a:r>
          </a:p>
        </p:txBody>
      </p:sp>
      <p:sp>
        <p:nvSpPr>
          <p:cNvPr id="87058" name="Text Box 20"/>
          <p:cNvSpPr txBox="1">
            <a:spLocks noChangeArrowheads="1"/>
          </p:cNvSpPr>
          <p:nvPr/>
        </p:nvSpPr>
        <p:spPr bwMode="auto">
          <a:xfrm>
            <a:off x="2895600" y="24384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87059" name="Line 21"/>
          <p:cNvSpPr>
            <a:spLocks noChangeShapeType="1"/>
          </p:cNvSpPr>
          <p:nvPr/>
        </p:nvSpPr>
        <p:spPr bwMode="auto">
          <a:xfrm>
            <a:off x="1295400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60" name="Line 22"/>
          <p:cNvSpPr>
            <a:spLocks noChangeShapeType="1"/>
          </p:cNvSpPr>
          <p:nvPr/>
        </p:nvSpPr>
        <p:spPr bwMode="auto">
          <a:xfrm>
            <a:off x="1981200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61" name="Line 23"/>
          <p:cNvSpPr>
            <a:spLocks noChangeShapeType="1"/>
          </p:cNvSpPr>
          <p:nvPr/>
        </p:nvSpPr>
        <p:spPr bwMode="auto">
          <a:xfrm>
            <a:off x="2895600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62" name="Rectangle 24"/>
          <p:cNvSpPr>
            <a:spLocks noChangeArrowheads="1"/>
          </p:cNvSpPr>
          <p:nvPr/>
        </p:nvSpPr>
        <p:spPr bwMode="auto">
          <a:xfrm>
            <a:off x="381000" y="2819400"/>
            <a:ext cx="3505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063" name="Text Box 25"/>
          <p:cNvSpPr txBox="1">
            <a:spLocks noChangeArrowheads="1"/>
          </p:cNvSpPr>
          <p:nvPr/>
        </p:nvSpPr>
        <p:spPr bwMode="auto">
          <a:xfrm>
            <a:off x="381000" y="2819400"/>
            <a:ext cx="620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Adel</a:t>
            </a:r>
          </a:p>
        </p:txBody>
      </p:sp>
      <p:sp>
        <p:nvSpPr>
          <p:cNvPr id="87064" name="Text Box 26"/>
          <p:cNvSpPr txBox="1">
            <a:spLocks noChangeArrowheads="1"/>
          </p:cNvSpPr>
          <p:nvPr/>
        </p:nvSpPr>
        <p:spPr bwMode="auto">
          <a:xfrm>
            <a:off x="1295400" y="2833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222</a:t>
            </a:r>
          </a:p>
        </p:txBody>
      </p:sp>
      <p:sp>
        <p:nvSpPr>
          <p:cNvPr id="87065" name="Text Box 27"/>
          <p:cNvSpPr txBox="1">
            <a:spLocks noChangeArrowheads="1"/>
          </p:cNvSpPr>
          <p:nvPr/>
        </p:nvSpPr>
        <p:spPr bwMode="auto">
          <a:xfrm>
            <a:off x="2209800" y="2819400"/>
            <a:ext cx="441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EE</a:t>
            </a:r>
          </a:p>
        </p:txBody>
      </p:sp>
      <p:sp>
        <p:nvSpPr>
          <p:cNvPr id="87066" name="Text Box 28"/>
          <p:cNvSpPr txBox="1">
            <a:spLocks noChangeArrowheads="1"/>
          </p:cNvSpPr>
          <p:nvPr/>
        </p:nvSpPr>
        <p:spPr bwMode="auto">
          <a:xfrm>
            <a:off x="2895600" y="281940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Khaled</a:t>
            </a:r>
          </a:p>
        </p:txBody>
      </p:sp>
      <p:sp>
        <p:nvSpPr>
          <p:cNvPr id="87067" name="Line 29"/>
          <p:cNvSpPr>
            <a:spLocks noChangeShapeType="1"/>
          </p:cNvSpPr>
          <p:nvPr/>
        </p:nvSpPr>
        <p:spPr bwMode="auto">
          <a:xfrm>
            <a:off x="12954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68" name="Line 30"/>
          <p:cNvSpPr>
            <a:spLocks noChangeShapeType="1"/>
          </p:cNvSpPr>
          <p:nvPr/>
        </p:nvSpPr>
        <p:spPr bwMode="auto">
          <a:xfrm>
            <a:off x="19812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69" name="Line 31"/>
          <p:cNvSpPr>
            <a:spLocks noChangeShapeType="1"/>
          </p:cNvSpPr>
          <p:nvPr/>
        </p:nvSpPr>
        <p:spPr bwMode="auto">
          <a:xfrm>
            <a:off x="28956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70" name="Rectangle 32"/>
          <p:cNvSpPr>
            <a:spLocks noChangeArrowheads="1"/>
          </p:cNvSpPr>
          <p:nvPr/>
        </p:nvSpPr>
        <p:spPr bwMode="auto">
          <a:xfrm>
            <a:off x="381000" y="3200400"/>
            <a:ext cx="3505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071" name="Text Box 33"/>
          <p:cNvSpPr txBox="1">
            <a:spLocks noChangeArrowheads="1"/>
          </p:cNvSpPr>
          <p:nvPr/>
        </p:nvSpPr>
        <p:spPr bwMode="auto">
          <a:xfrm>
            <a:off x="381000" y="3200400"/>
            <a:ext cx="677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Fahd</a:t>
            </a:r>
          </a:p>
        </p:txBody>
      </p:sp>
      <p:sp>
        <p:nvSpPr>
          <p:cNvPr id="87072" name="Text Box 34"/>
          <p:cNvSpPr txBox="1">
            <a:spLocks noChangeArrowheads="1"/>
          </p:cNvSpPr>
          <p:nvPr/>
        </p:nvSpPr>
        <p:spPr bwMode="auto">
          <a:xfrm>
            <a:off x="1295400" y="3214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333</a:t>
            </a:r>
          </a:p>
        </p:txBody>
      </p:sp>
      <p:sp>
        <p:nvSpPr>
          <p:cNvPr id="87073" name="Text Box 35"/>
          <p:cNvSpPr txBox="1">
            <a:spLocks noChangeArrowheads="1"/>
          </p:cNvSpPr>
          <p:nvPr/>
        </p:nvSpPr>
        <p:spPr bwMode="auto">
          <a:xfrm>
            <a:off x="2133600" y="3200400"/>
            <a:ext cx="611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COE</a:t>
            </a:r>
          </a:p>
        </p:txBody>
      </p:sp>
      <p:sp>
        <p:nvSpPr>
          <p:cNvPr id="87074" name="Text Box 36"/>
          <p:cNvSpPr txBox="1">
            <a:spLocks noChangeArrowheads="1"/>
          </p:cNvSpPr>
          <p:nvPr/>
        </p:nvSpPr>
        <p:spPr bwMode="auto">
          <a:xfrm>
            <a:off x="2895600" y="32004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87075" name="Line 37"/>
          <p:cNvSpPr>
            <a:spLocks noChangeShapeType="1"/>
          </p:cNvSpPr>
          <p:nvPr/>
        </p:nvSpPr>
        <p:spPr bwMode="auto">
          <a:xfrm>
            <a:off x="12954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76" name="Line 38"/>
          <p:cNvSpPr>
            <a:spLocks noChangeShapeType="1"/>
          </p:cNvSpPr>
          <p:nvPr/>
        </p:nvSpPr>
        <p:spPr bwMode="auto">
          <a:xfrm>
            <a:off x="19812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77" name="Line 39"/>
          <p:cNvSpPr>
            <a:spLocks noChangeShapeType="1"/>
          </p:cNvSpPr>
          <p:nvPr/>
        </p:nvSpPr>
        <p:spPr bwMode="auto">
          <a:xfrm>
            <a:off x="28956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78" name="Rectangle 40"/>
          <p:cNvSpPr>
            <a:spLocks noChangeArrowheads="1"/>
          </p:cNvSpPr>
          <p:nvPr/>
        </p:nvSpPr>
        <p:spPr bwMode="auto">
          <a:xfrm>
            <a:off x="5257800" y="1981200"/>
            <a:ext cx="35052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079" name="Text Box 41"/>
          <p:cNvSpPr txBox="1">
            <a:spLocks noChangeArrowheads="1"/>
          </p:cNvSpPr>
          <p:nvPr/>
        </p:nvSpPr>
        <p:spPr bwMode="auto">
          <a:xfrm>
            <a:off x="5257800" y="1981200"/>
            <a:ext cx="769938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Name</a:t>
            </a:r>
          </a:p>
        </p:txBody>
      </p:sp>
      <p:sp>
        <p:nvSpPr>
          <p:cNvPr id="87080" name="Text Box 42"/>
          <p:cNvSpPr txBox="1">
            <a:spLocks noChangeArrowheads="1"/>
          </p:cNvSpPr>
          <p:nvPr/>
        </p:nvSpPr>
        <p:spPr bwMode="auto">
          <a:xfrm>
            <a:off x="6172200" y="1995488"/>
            <a:ext cx="590550" cy="3667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SSN</a:t>
            </a:r>
          </a:p>
        </p:txBody>
      </p:sp>
      <p:sp>
        <p:nvSpPr>
          <p:cNvPr id="87081" name="Text Box 43"/>
          <p:cNvSpPr txBox="1">
            <a:spLocks noChangeArrowheads="1"/>
          </p:cNvSpPr>
          <p:nvPr/>
        </p:nvSpPr>
        <p:spPr bwMode="auto">
          <a:xfrm>
            <a:off x="7010400" y="1981200"/>
            <a:ext cx="663575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Dept</a:t>
            </a:r>
          </a:p>
        </p:txBody>
      </p:sp>
      <p:sp>
        <p:nvSpPr>
          <p:cNvPr id="87082" name="Text Box 44"/>
          <p:cNvSpPr txBox="1">
            <a:spLocks noChangeArrowheads="1"/>
          </p:cNvSpPr>
          <p:nvPr/>
        </p:nvSpPr>
        <p:spPr bwMode="auto">
          <a:xfrm>
            <a:off x="7772400" y="1981200"/>
            <a:ext cx="687388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Rank</a:t>
            </a:r>
          </a:p>
        </p:txBody>
      </p:sp>
      <p:sp>
        <p:nvSpPr>
          <p:cNvPr id="87083" name="Line 45"/>
          <p:cNvSpPr>
            <a:spLocks noChangeShapeType="1"/>
          </p:cNvSpPr>
          <p:nvPr/>
        </p:nvSpPr>
        <p:spPr bwMode="auto">
          <a:xfrm>
            <a:off x="61722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84" name="Line 46"/>
          <p:cNvSpPr>
            <a:spLocks noChangeShapeType="1"/>
          </p:cNvSpPr>
          <p:nvPr/>
        </p:nvSpPr>
        <p:spPr bwMode="auto">
          <a:xfrm>
            <a:off x="68580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85" name="Line 47"/>
          <p:cNvSpPr>
            <a:spLocks noChangeShapeType="1"/>
          </p:cNvSpPr>
          <p:nvPr/>
        </p:nvSpPr>
        <p:spPr bwMode="auto">
          <a:xfrm>
            <a:off x="7772400" y="198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86" name="Rectangle 48"/>
          <p:cNvSpPr>
            <a:spLocks noChangeArrowheads="1"/>
          </p:cNvSpPr>
          <p:nvPr/>
        </p:nvSpPr>
        <p:spPr bwMode="auto">
          <a:xfrm>
            <a:off x="5257800" y="2438400"/>
            <a:ext cx="3505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087" name="Text Box 49"/>
          <p:cNvSpPr txBox="1">
            <a:spLocks noChangeArrowheads="1"/>
          </p:cNvSpPr>
          <p:nvPr/>
        </p:nvSpPr>
        <p:spPr bwMode="auto">
          <a:xfrm>
            <a:off x="5257800" y="24384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87088" name="Text Box 50"/>
          <p:cNvSpPr txBox="1">
            <a:spLocks noChangeArrowheads="1"/>
          </p:cNvSpPr>
          <p:nvPr/>
        </p:nvSpPr>
        <p:spPr bwMode="auto">
          <a:xfrm>
            <a:off x="6172200" y="2452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444</a:t>
            </a:r>
          </a:p>
        </p:txBody>
      </p:sp>
      <p:sp>
        <p:nvSpPr>
          <p:cNvPr id="87089" name="Text Box 51"/>
          <p:cNvSpPr txBox="1">
            <a:spLocks noChangeArrowheads="1"/>
          </p:cNvSpPr>
          <p:nvPr/>
        </p:nvSpPr>
        <p:spPr bwMode="auto">
          <a:xfrm>
            <a:off x="7010400" y="2438400"/>
            <a:ext cx="611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COE</a:t>
            </a:r>
          </a:p>
        </p:txBody>
      </p:sp>
      <p:sp>
        <p:nvSpPr>
          <p:cNvPr id="87090" name="Text Box 52"/>
          <p:cNvSpPr txBox="1">
            <a:spLocks noChangeArrowheads="1"/>
          </p:cNvSpPr>
          <p:nvPr/>
        </p:nvSpPr>
        <p:spPr bwMode="auto">
          <a:xfrm>
            <a:off x="7772400" y="2438400"/>
            <a:ext cx="428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FP</a:t>
            </a:r>
          </a:p>
        </p:txBody>
      </p:sp>
      <p:sp>
        <p:nvSpPr>
          <p:cNvPr id="87091" name="Line 53"/>
          <p:cNvSpPr>
            <a:spLocks noChangeShapeType="1"/>
          </p:cNvSpPr>
          <p:nvPr/>
        </p:nvSpPr>
        <p:spPr bwMode="auto">
          <a:xfrm>
            <a:off x="6172200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92" name="Line 54"/>
          <p:cNvSpPr>
            <a:spLocks noChangeShapeType="1"/>
          </p:cNvSpPr>
          <p:nvPr/>
        </p:nvSpPr>
        <p:spPr bwMode="auto">
          <a:xfrm>
            <a:off x="6858000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93" name="Line 55"/>
          <p:cNvSpPr>
            <a:spLocks noChangeShapeType="1"/>
          </p:cNvSpPr>
          <p:nvPr/>
        </p:nvSpPr>
        <p:spPr bwMode="auto">
          <a:xfrm>
            <a:off x="7772400" y="2438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94" name="Rectangle 56"/>
          <p:cNvSpPr>
            <a:spLocks noChangeArrowheads="1"/>
          </p:cNvSpPr>
          <p:nvPr/>
        </p:nvSpPr>
        <p:spPr bwMode="auto">
          <a:xfrm>
            <a:off x="5257800" y="2819400"/>
            <a:ext cx="3505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095" name="Text Box 57"/>
          <p:cNvSpPr txBox="1">
            <a:spLocks noChangeArrowheads="1"/>
          </p:cNvSpPr>
          <p:nvPr/>
        </p:nvSpPr>
        <p:spPr bwMode="auto">
          <a:xfrm>
            <a:off x="5257800" y="281940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Khaled</a:t>
            </a:r>
          </a:p>
        </p:txBody>
      </p:sp>
      <p:sp>
        <p:nvSpPr>
          <p:cNvPr id="87096" name="Text Box 58"/>
          <p:cNvSpPr txBox="1">
            <a:spLocks noChangeArrowheads="1"/>
          </p:cNvSpPr>
          <p:nvPr/>
        </p:nvSpPr>
        <p:spPr bwMode="auto">
          <a:xfrm>
            <a:off x="6172200" y="2833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555</a:t>
            </a:r>
          </a:p>
        </p:txBody>
      </p:sp>
      <p:sp>
        <p:nvSpPr>
          <p:cNvPr id="87097" name="Text Box 59"/>
          <p:cNvSpPr txBox="1">
            <a:spLocks noChangeArrowheads="1"/>
          </p:cNvSpPr>
          <p:nvPr/>
        </p:nvSpPr>
        <p:spPr bwMode="auto">
          <a:xfrm>
            <a:off x="7086600" y="2819400"/>
            <a:ext cx="441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EE</a:t>
            </a:r>
          </a:p>
        </p:txBody>
      </p:sp>
      <p:sp>
        <p:nvSpPr>
          <p:cNvPr id="87098" name="Line 61"/>
          <p:cNvSpPr>
            <a:spLocks noChangeShapeType="1"/>
          </p:cNvSpPr>
          <p:nvPr/>
        </p:nvSpPr>
        <p:spPr bwMode="auto">
          <a:xfrm>
            <a:off x="61722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099" name="Line 62"/>
          <p:cNvSpPr>
            <a:spLocks noChangeShapeType="1"/>
          </p:cNvSpPr>
          <p:nvPr/>
        </p:nvSpPr>
        <p:spPr bwMode="auto">
          <a:xfrm>
            <a:off x="68580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00" name="Line 63"/>
          <p:cNvSpPr>
            <a:spLocks noChangeShapeType="1"/>
          </p:cNvSpPr>
          <p:nvPr/>
        </p:nvSpPr>
        <p:spPr bwMode="auto">
          <a:xfrm>
            <a:off x="7772400" y="2819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01" name="Rectangle 64"/>
          <p:cNvSpPr>
            <a:spLocks noChangeArrowheads="1"/>
          </p:cNvSpPr>
          <p:nvPr/>
        </p:nvSpPr>
        <p:spPr bwMode="auto">
          <a:xfrm>
            <a:off x="5257800" y="3200400"/>
            <a:ext cx="3505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102" name="Text Box 65"/>
          <p:cNvSpPr txBox="1">
            <a:spLocks noChangeArrowheads="1"/>
          </p:cNvSpPr>
          <p:nvPr/>
        </p:nvSpPr>
        <p:spPr bwMode="auto">
          <a:xfrm>
            <a:off x="5257800" y="3200400"/>
            <a:ext cx="620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Adel</a:t>
            </a:r>
          </a:p>
        </p:txBody>
      </p:sp>
      <p:sp>
        <p:nvSpPr>
          <p:cNvPr id="87103" name="Text Box 66"/>
          <p:cNvSpPr txBox="1">
            <a:spLocks noChangeArrowheads="1"/>
          </p:cNvSpPr>
          <p:nvPr/>
        </p:nvSpPr>
        <p:spPr bwMode="auto">
          <a:xfrm>
            <a:off x="6172200" y="32146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222</a:t>
            </a:r>
          </a:p>
        </p:txBody>
      </p:sp>
      <p:sp>
        <p:nvSpPr>
          <p:cNvPr id="87104" name="Text Box 67"/>
          <p:cNvSpPr txBox="1">
            <a:spLocks noChangeArrowheads="1"/>
          </p:cNvSpPr>
          <p:nvPr/>
        </p:nvSpPr>
        <p:spPr bwMode="auto">
          <a:xfrm>
            <a:off x="7096125" y="3200400"/>
            <a:ext cx="441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hlink"/>
                </a:solidFill>
              </a:rPr>
              <a:t>EE</a:t>
            </a:r>
          </a:p>
        </p:txBody>
      </p:sp>
      <p:sp>
        <p:nvSpPr>
          <p:cNvPr id="87105" name="Text Box 68"/>
          <p:cNvSpPr txBox="1">
            <a:spLocks noChangeArrowheads="1"/>
          </p:cNvSpPr>
          <p:nvPr/>
        </p:nvSpPr>
        <p:spPr bwMode="auto">
          <a:xfrm>
            <a:off x="7772400" y="3200400"/>
            <a:ext cx="454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TA</a:t>
            </a:r>
          </a:p>
        </p:txBody>
      </p:sp>
      <p:sp>
        <p:nvSpPr>
          <p:cNvPr id="87106" name="Line 69"/>
          <p:cNvSpPr>
            <a:spLocks noChangeShapeType="1"/>
          </p:cNvSpPr>
          <p:nvPr/>
        </p:nvSpPr>
        <p:spPr bwMode="auto">
          <a:xfrm>
            <a:off x="61722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07" name="Line 70"/>
          <p:cNvSpPr>
            <a:spLocks noChangeShapeType="1"/>
          </p:cNvSpPr>
          <p:nvPr/>
        </p:nvSpPr>
        <p:spPr bwMode="auto">
          <a:xfrm>
            <a:off x="68580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08" name="Line 71"/>
          <p:cNvSpPr>
            <a:spLocks noChangeShapeType="1"/>
          </p:cNvSpPr>
          <p:nvPr/>
        </p:nvSpPr>
        <p:spPr bwMode="auto">
          <a:xfrm>
            <a:off x="7772400" y="32004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09" name="Rectangle 72"/>
          <p:cNvSpPr>
            <a:spLocks noChangeArrowheads="1"/>
          </p:cNvSpPr>
          <p:nvPr/>
        </p:nvSpPr>
        <p:spPr bwMode="auto">
          <a:xfrm>
            <a:off x="2286000" y="4038600"/>
            <a:ext cx="4648200" cy="3810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110" name="Text Box 73"/>
          <p:cNvSpPr txBox="1">
            <a:spLocks noChangeArrowheads="1"/>
          </p:cNvSpPr>
          <p:nvPr/>
        </p:nvSpPr>
        <p:spPr bwMode="auto">
          <a:xfrm>
            <a:off x="2286000" y="4038600"/>
            <a:ext cx="769938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Name</a:t>
            </a:r>
          </a:p>
        </p:txBody>
      </p:sp>
      <p:sp>
        <p:nvSpPr>
          <p:cNvPr id="87111" name="Text Box 74"/>
          <p:cNvSpPr txBox="1">
            <a:spLocks noChangeArrowheads="1"/>
          </p:cNvSpPr>
          <p:nvPr/>
        </p:nvSpPr>
        <p:spPr bwMode="auto">
          <a:xfrm>
            <a:off x="3200400" y="4052888"/>
            <a:ext cx="590550" cy="366712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SSN</a:t>
            </a:r>
          </a:p>
        </p:txBody>
      </p:sp>
      <p:sp>
        <p:nvSpPr>
          <p:cNvPr id="87112" name="Text Box 75"/>
          <p:cNvSpPr txBox="1">
            <a:spLocks noChangeArrowheads="1"/>
          </p:cNvSpPr>
          <p:nvPr/>
        </p:nvSpPr>
        <p:spPr bwMode="auto">
          <a:xfrm>
            <a:off x="4038600" y="4038600"/>
            <a:ext cx="663575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Dept</a:t>
            </a:r>
          </a:p>
        </p:txBody>
      </p:sp>
      <p:sp>
        <p:nvSpPr>
          <p:cNvPr id="87113" name="Text Box 76"/>
          <p:cNvSpPr txBox="1">
            <a:spLocks noChangeArrowheads="1"/>
          </p:cNvSpPr>
          <p:nvPr/>
        </p:nvSpPr>
        <p:spPr bwMode="auto">
          <a:xfrm>
            <a:off x="4800600" y="4038600"/>
            <a:ext cx="922338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Advisor</a:t>
            </a:r>
          </a:p>
        </p:txBody>
      </p:sp>
      <p:sp>
        <p:nvSpPr>
          <p:cNvPr id="87114" name="Line 77"/>
          <p:cNvSpPr>
            <a:spLocks noChangeShapeType="1"/>
          </p:cNvSpPr>
          <p:nvPr/>
        </p:nvSpPr>
        <p:spPr bwMode="auto">
          <a:xfrm>
            <a:off x="32004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15" name="Line 78"/>
          <p:cNvSpPr>
            <a:spLocks noChangeShapeType="1"/>
          </p:cNvSpPr>
          <p:nvPr/>
        </p:nvSpPr>
        <p:spPr bwMode="auto">
          <a:xfrm>
            <a:off x="38862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16" name="Line 79"/>
          <p:cNvSpPr>
            <a:spLocks noChangeShapeType="1"/>
          </p:cNvSpPr>
          <p:nvPr/>
        </p:nvSpPr>
        <p:spPr bwMode="auto">
          <a:xfrm>
            <a:off x="48006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17" name="Rectangle 80"/>
          <p:cNvSpPr>
            <a:spLocks noChangeArrowheads="1"/>
          </p:cNvSpPr>
          <p:nvPr/>
        </p:nvSpPr>
        <p:spPr bwMode="auto">
          <a:xfrm>
            <a:off x="2286000" y="4495800"/>
            <a:ext cx="464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118" name="Text Box 81"/>
          <p:cNvSpPr txBox="1">
            <a:spLocks noChangeArrowheads="1"/>
          </p:cNvSpPr>
          <p:nvPr/>
        </p:nvSpPr>
        <p:spPr bwMode="auto">
          <a:xfrm>
            <a:off x="2286000" y="4495800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Ali</a:t>
            </a:r>
          </a:p>
        </p:txBody>
      </p:sp>
      <p:sp>
        <p:nvSpPr>
          <p:cNvPr id="87119" name="Text Box 82"/>
          <p:cNvSpPr txBox="1">
            <a:spLocks noChangeArrowheads="1"/>
          </p:cNvSpPr>
          <p:nvPr/>
        </p:nvSpPr>
        <p:spPr bwMode="auto">
          <a:xfrm>
            <a:off x="3200400" y="45100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111</a:t>
            </a:r>
          </a:p>
        </p:txBody>
      </p:sp>
      <p:sp>
        <p:nvSpPr>
          <p:cNvPr id="87120" name="Text Box 83"/>
          <p:cNvSpPr txBox="1">
            <a:spLocks noChangeArrowheads="1"/>
          </p:cNvSpPr>
          <p:nvPr/>
        </p:nvSpPr>
        <p:spPr bwMode="auto">
          <a:xfrm>
            <a:off x="4038600" y="4495800"/>
            <a:ext cx="611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COE</a:t>
            </a:r>
          </a:p>
        </p:txBody>
      </p:sp>
      <p:sp>
        <p:nvSpPr>
          <p:cNvPr id="87121" name="Text Box 84"/>
          <p:cNvSpPr txBox="1">
            <a:spLocks noChangeArrowheads="1"/>
          </p:cNvSpPr>
          <p:nvPr/>
        </p:nvSpPr>
        <p:spPr bwMode="auto">
          <a:xfrm>
            <a:off x="4800600" y="44958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87122" name="Line 85"/>
          <p:cNvSpPr>
            <a:spLocks noChangeShapeType="1"/>
          </p:cNvSpPr>
          <p:nvPr/>
        </p:nvSpPr>
        <p:spPr bwMode="auto">
          <a:xfrm>
            <a:off x="32004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23" name="Line 86"/>
          <p:cNvSpPr>
            <a:spLocks noChangeShapeType="1"/>
          </p:cNvSpPr>
          <p:nvPr/>
        </p:nvSpPr>
        <p:spPr bwMode="auto">
          <a:xfrm>
            <a:off x="38862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24" name="Line 87"/>
          <p:cNvSpPr>
            <a:spLocks noChangeShapeType="1"/>
          </p:cNvSpPr>
          <p:nvPr/>
        </p:nvSpPr>
        <p:spPr bwMode="auto">
          <a:xfrm>
            <a:off x="48006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25" name="Rectangle 88"/>
          <p:cNvSpPr>
            <a:spLocks noChangeArrowheads="1"/>
          </p:cNvSpPr>
          <p:nvPr/>
        </p:nvSpPr>
        <p:spPr bwMode="auto">
          <a:xfrm>
            <a:off x="2286000" y="4876800"/>
            <a:ext cx="464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126" name="Text Box 89"/>
          <p:cNvSpPr txBox="1">
            <a:spLocks noChangeArrowheads="1"/>
          </p:cNvSpPr>
          <p:nvPr/>
        </p:nvSpPr>
        <p:spPr bwMode="auto">
          <a:xfrm>
            <a:off x="2286000" y="4876800"/>
            <a:ext cx="620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Adel</a:t>
            </a:r>
          </a:p>
        </p:txBody>
      </p:sp>
      <p:sp>
        <p:nvSpPr>
          <p:cNvPr id="87127" name="Text Box 90"/>
          <p:cNvSpPr txBox="1">
            <a:spLocks noChangeArrowheads="1"/>
          </p:cNvSpPr>
          <p:nvPr/>
        </p:nvSpPr>
        <p:spPr bwMode="auto">
          <a:xfrm>
            <a:off x="3200400" y="48910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222</a:t>
            </a:r>
          </a:p>
        </p:txBody>
      </p:sp>
      <p:sp>
        <p:nvSpPr>
          <p:cNvPr id="87128" name="Text Box 91"/>
          <p:cNvSpPr txBox="1">
            <a:spLocks noChangeArrowheads="1"/>
          </p:cNvSpPr>
          <p:nvPr/>
        </p:nvSpPr>
        <p:spPr bwMode="auto">
          <a:xfrm>
            <a:off x="4114800" y="4876800"/>
            <a:ext cx="441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EE</a:t>
            </a:r>
          </a:p>
        </p:txBody>
      </p:sp>
      <p:sp>
        <p:nvSpPr>
          <p:cNvPr id="87129" name="Text Box 92"/>
          <p:cNvSpPr txBox="1">
            <a:spLocks noChangeArrowheads="1"/>
          </p:cNvSpPr>
          <p:nvPr/>
        </p:nvSpPr>
        <p:spPr bwMode="auto">
          <a:xfrm>
            <a:off x="4800600" y="487680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Khaled</a:t>
            </a:r>
          </a:p>
        </p:txBody>
      </p:sp>
      <p:sp>
        <p:nvSpPr>
          <p:cNvPr id="87130" name="Line 93"/>
          <p:cNvSpPr>
            <a:spLocks noChangeShapeType="1"/>
          </p:cNvSpPr>
          <p:nvPr/>
        </p:nvSpPr>
        <p:spPr bwMode="auto">
          <a:xfrm>
            <a:off x="32004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31" name="Line 94"/>
          <p:cNvSpPr>
            <a:spLocks noChangeShapeType="1"/>
          </p:cNvSpPr>
          <p:nvPr/>
        </p:nvSpPr>
        <p:spPr bwMode="auto">
          <a:xfrm>
            <a:off x="38862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32" name="Line 95"/>
          <p:cNvSpPr>
            <a:spLocks noChangeShapeType="1"/>
          </p:cNvSpPr>
          <p:nvPr/>
        </p:nvSpPr>
        <p:spPr bwMode="auto">
          <a:xfrm>
            <a:off x="48006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33" name="Rectangle 96"/>
          <p:cNvSpPr>
            <a:spLocks noChangeArrowheads="1"/>
          </p:cNvSpPr>
          <p:nvPr/>
        </p:nvSpPr>
        <p:spPr bwMode="auto">
          <a:xfrm>
            <a:off x="2286000" y="5257800"/>
            <a:ext cx="464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134" name="Text Box 97"/>
          <p:cNvSpPr txBox="1">
            <a:spLocks noChangeArrowheads="1"/>
          </p:cNvSpPr>
          <p:nvPr/>
        </p:nvSpPr>
        <p:spPr bwMode="auto">
          <a:xfrm>
            <a:off x="2286000" y="5257800"/>
            <a:ext cx="677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Fahd</a:t>
            </a:r>
          </a:p>
        </p:txBody>
      </p:sp>
      <p:sp>
        <p:nvSpPr>
          <p:cNvPr id="87135" name="Text Box 98"/>
          <p:cNvSpPr txBox="1">
            <a:spLocks noChangeArrowheads="1"/>
          </p:cNvSpPr>
          <p:nvPr/>
        </p:nvSpPr>
        <p:spPr bwMode="auto">
          <a:xfrm>
            <a:off x="3200400" y="52720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333</a:t>
            </a:r>
          </a:p>
        </p:txBody>
      </p:sp>
      <p:sp>
        <p:nvSpPr>
          <p:cNvPr id="87136" name="Text Box 99"/>
          <p:cNvSpPr txBox="1">
            <a:spLocks noChangeArrowheads="1"/>
          </p:cNvSpPr>
          <p:nvPr/>
        </p:nvSpPr>
        <p:spPr bwMode="auto">
          <a:xfrm>
            <a:off x="4038600" y="5257800"/>
            <a:ext cx="611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COE</a:t>
            </a:r>
          </a:p>
        </p:txBody>
      </p:sp>
      <p:sp>
        <p:nvSpPr>
          <p:cNvPr id="87137" name="Text Box 100"/>
          <p:cNvSpPr txBox="1">
            <a:spLocks noChangeArrowheads="1"/>
          </p:cNvSpPr>
          <p:nvPr/>
        </p:nvSpPr>
        <p:spPr bwMode="auto">
          <a:xfrm>
            <a:off x="4800600" y="52578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87138" name="Line 101"/>
          <p:cNvSpPr>
            <a:spLocks noChangeShapeType="1"/>
          </p:cNvSpPr>
          <p:nvPr/>
        </p:nvSpPr>
        <p:spPr bwMode="auto">
          <a:xfrm>
            <a:off x="32004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39" name="Line 102"/>
          <p:cNvSpPr>
            <a:spLocks noChangeShapeType="1"/>
          </p:cNvSpPr>
          <p:nvPr/>
        </p:nvSpPr>
        <p:spPr bwMode="auto">
          <a:xfrm>
            <a:off x="38862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40" name="Line 103"/>
          <p:cNvSpPr>
            <a:spLocks noChangeShapeType="1"/>
          </p:cNvSpPr>
          <p:nvPr/>
        </p:nvSpPr>
        <p:spPr bwMode="auto">
          <a:xfrm>
            <a:off x="48006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41" name="Rectangle 104"/>
          <p:cNvSpPr>
            <a:spLocks noChangeArrowheads="1"/>
          </p:cNvSpPr>
          <p:nvPr/>
        </p:nvSpPr>
        <p:spPr bwMode="auto">
          <a:xfrm>
            <a:off x="2286000" y="5638800"/>
            <a:ext cx="464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142" name="Text Box 105"/>
          <p:cNvSpPr txBox="1">
            <a:spLocks noChangeArrowheads="1"/>
          </p:cNvSpPr>
          <p:nvPr/>
        </p:nvSpPr>
        <p:spPr bwMode="auto">
          <a:xfrm>
            <a:off x="2286000" y="5638800"/>
            <a:ext cx="676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Sami</a:t>
            </a:r>
          </a:p>
        </p:txBody>
      </p:sp>
      <p:sp>
        <p:nvSpPr>
          <p:cNvPr id="87143" name="Text Box 106"/>
          <p:cNvSpPr txBox="1">
            <a:spLocks noChangeArrowheads="1"/>
          </p:cNvSpPr>
          <p:nvPr/>
        </p:nvSpPr>
        <p:spPr bwMode="auto">
          <a:xfrm>
            <a:off x="3200400" y="56530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444</a:t>
            </a:r>
          </a:p>
        </p:txBody>
      </p:sp>
      <p:sp>
        <p:nvSpPr>
          <p:cNvPr id="87144" name="Text Box 107"/>
          <p:cNvSpPr txBox="1">
            <a:spLocks noChangeArrowheads="1"/>
          </p:cNvSpPr>
          <p:nvPr/>
        </p:nvSpPr>
        <p:spPr bwMode="auto">
          <a:xfrm>
            <a:off x="4038600" y="5638800"/>
            <a:ext cx="611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COE</a:t>
            </a:r>
          </a:p>
        </p:txBody>
      </p:sp>
      <p:sp>
        <p:nvSpPr>
          <p:cNvPr id="87145" name="Text Box 108"/>
          <p:cNvSpPr txBox="1">
            <a:spLocks noChangeArrowheads="1"/>
          </p:cNvSpPr>
          <p:nvPr/>
        </p:nvSpPr>
        <p:spPr bwMode="auto">
          <a:xfrm>
            <a:off x="4800600" y="5638800"/>
            <a:ext cx="542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null</a:t>
            </a:r>
          </a:p>
        </p:txBody>
      </p:sp>
      <p:sp>
        <p:nvSpPr>
          <p:cNvPr id="87146" name="Line 109"/>
          <p:cNvSpPr>
            <a:spLocks noChangeShapeType="1"/>
          </p:cNvSpPr>
          <p:nvPr/>
        </p:nvSpPr>
        <p:spPr bwMode="auto">
          <a:xfrm>
            <a:off x="32004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47" name="Line 110"/>
          <p:cNvSpPr>
            <a:spLocks noChangeShapeType="1"/>
          </p:cNvSpPr>
          <p:nvPr/>
        </p:nvSpPr>
        <p:spPr bwMode="auto">
          <a:xfrm>
            <a:off x="38862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48" name="Line 111"/>
          <p:cNvSpPr>
            <a:spLocks noChangeShapeType="1"/>
          </p:cNvSpPr>
          <p:nvPr/>
        </p:nvSpPr>
        <p:spPr bwMode="auto">
          <a:xfrm>
            <a:off x="48006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49" name="Rectangle 112"/>
          <p:cNvSpPr>
            <a:spLocks noChangeArrowheads="1"/>
          </p:cNvSpPr>
          <p:nvPr/>
        </p:nvSpPr>
        <p:spPr bwMode="auto">
          <a:xfrm>
            <a:off x="2286000" y="6019800"/>
            <a:ext cx="46482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87150" name="Text Box 113"/>
          <p:cNvSpPr txBox="1">
            <a:spLocks noChangeArrowheads="1"/>
          </p:cNvSpPr>
          <p:nvPr/>
        </p:nvSpPr>
        <p:spPr bwMode="auto">
          <a:xfrm>
            <a:off x="2286000" y="6019800"/>
            <a:ext cx="866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Khaled</a:t>
            </a:r>
          </a:p>
        </p:txBody>
      </p:sp>
      <p:sp>
        <p:nvSpPr>
          <p:cNvPr id="87151" name="Text Box 114"/>
          <p:cNvSpPr txBox="1">
            <a:spLocks noChangeArrowheads="1"/>
          </p:cNvSpPr>
          <p:nvPr/>
        </p:nvSpPr>
        <p:spPr bwMode="auto">
          <a:xfrm>
            <a:off x="3200400" y="6034088"/>
            <a:ext cx="560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555</a:t>
            </a:r>
          </a:p>
        </p:txBody>
      </p:sp>
      <p:sp>
        <p:nvSpPr>
          <p:cNvPr id="87152" name="Text Box 115"/>
          <p:cNvSpPr txBox="1">
            <a:spLocks noChangeArrowheads="1"/>
          </p:cNvSpPr>
          <p:nvPr/>
        </p:nvSpPr>
        <p:spPr bwMode="auto">
          <a:xfrm>
            <a:off x="4122738" y="6019800"/>
            <a:ext cx="441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EE</a:t>
            </a:r>
          </a:p>
        </p:txBody>
      </p:sp>
      <p:sp>
        <p:nvSpPr>
          <p:cNvPr id="87153" name="Text Box 116"/>
          <p:cNvSpPr txBox="1">
            <a:spLocks noChangeArrowheads="1"/>
          </p:cNvSpPr>
          <p:nvPr/>
        </p:nvSpPr>
        <p:spPr bwMode="auto">
          <a:xfrm>
            <a:off x="4800600" y="6019800"/>
            <a:ext cx="542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null</a:t>
            </a:r>
          </a:p>
        </p:txBody>
      </p:sp>
      <p:sp>
        <p:nvSpPr>
          <p:cNvPr id="87154" name="Line 117"/>
          <p:cNvSpPr>
            <a:spLocks noChangeShapeType="1"/>
          </p:cNvSpPr>
          <p:nvPr/>
        </p:nvSpPr>
        <p:spPr bwMode="auto">
          <a:xfrm>
            <a:off x="3200400" y="601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55" name="Line 118"/>
          <p:cNvSpPr>
            <a:spLocks noChangeShapeType="1"/>
          </p:cNvSpPr>
          <p:nvPr/>
        </p:nvSpPr>
        <p:spPr bwMode="auto">
          <a:xfrm>
            <a:off x="3886200" y="601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56" name="Line 119"/>
          <p:cNvSpPr>
            <a:spLocks noChangeShapeType="1"/>
          </p:cNvSpPr>
          <p:nvPr/>
        </p:nvSpPr>
        <p:spPr bwMode="auto">
          <a:xfrm>
            <a:off x="4800600" y="601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57" name="Text Box 128"/>
          <p:cNvSpPr txBox="1">
            <a:spLocks noChangeArrowheads="1"/>
          </p:cNvSpPr>
          <p:nvPr/>
        </p:nvSpPr>
        <p:spPr bwMode="auto">
          <a:xfrm>
            <a:off x="7772400" y="2833688"/>
            <a:ext cx="446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</a:t>
            </a:r>
          </a:p>
        </p:txBody>
      </p:sp>
      <p:sp>
        <p:nvSpPr>
          <p:cNvPr id="87158" name="Line 129"/>
          <p:cNvSpPr>
            <a:spLocks noChangeShapeType="1"/>
          </p:cNvSpPr>
          <p:nvPr/>
        </p:nvSpPr>
        <p:spPr bwMode="auto">
          <a:xfrm>
            <a:off x="5791200" y="4038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59" name="Line 130"/>
          <p:cNvSpPr>
            <a:spLocks noChangeShapeType="1"/>
          </p:cNvSpPr>
          <p:nvPr/>
        </p:nvSpPr>
        <p:spPr bwMode="auto">
          <a:xfrm>
            <a:off x="5791200" y="4495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60" name="Line 131"/>
          <p:cNvSpPr>
            <a:spLocks noChangeShapeType="1"/>
          </p:cNvSpPr>
          <p:nvPr/>
        </p:nvSpPr>
        <p:spPr bwMode="auto">
          <a:xfrm>
            <a:off x="5791200" y="4876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61" name="Line 132"/>
          <p:cNvSpPr>
            <a:spLocks noChangeShapeType="1"/>
          </p:cNvSpPr>
          <p:nvPr/>
        </p:nvSpPr>
        <p:spPr bwMode="auto">
          <a:xfrm>
            <a:off x="5791200" y="5257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62" name="Line 133"/>
          <p:cNvSpPr>
            <a:spLocks noChangeShapeType="1"/>
          </p:cNvSpPr>
          <p:nvPr/>
        </p:nvSpPr>
        <p:spPr bwMode="auto">
          <a:xfrm>
            <a:off x="5791200" y="563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63" name="Line 134"/>
          <p:cNvSpPr>
            <a:spLocks noChangeShapeType="1"/>
          </p:cNvSpPr>
          <p:nvPr/>
        </p:nvSpPr>
        <p:spPr bwMode="auto">
          <a:xfrm>
            <a:off x="5791200" y="6019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64" name="Text Box 135"/>
          <p:cNvSpPr txBox="1">
            <a:spLocks noChangeArrowheads="1"/>
          </p:cNvSpPr>
          <p:nvPr/>
        </p:nvSpPr>
        <p:spPr bwMode="auto">
          <a:xfrm>
            <a:off x="5943600" y="4038600"/>
            <a:ext cx="687388" cy="366713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folHlink"/>
                </a:solidFill>
              </a:rPr>
              <a:t>Rank</a:t>
            </a:r>
          </a:p>
        </p:txBody>
      </p:sp>
      <p:sp>
        <p:nvSpPr>
          <p:cNvPr id="87165" name="Text Box 136"/>
          <p:cNvSpPr txBox="1">
            <a:spLocks noChangeArrowheads="1"/>
          </p:cNvSpPr>
          <p:nvPr/>
        </p:nvSpPr>
        <p:spPr bwMode="auto">
          <a:xfrm>
            <a:off x="6019800" y="4495800"/>
            <a:ext cx="542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null</a:t>
            </a:r>
          </a:p>
        </p:txBody>
      </p:sp>
      <p:sp>
        <p:nvSpPr>
          <p:cNvPr id="87166" name="Text Box 137"/>
          <p:cNvSpPr txBox="1">
            <a:spLocks noChangeArrowheads="1"/>
          </p:cNvSpPr>
          <p:nvPr/>
        </p:nvSpPr>
        <p:spPr bwMode="auto">
          <a:xfrm>
            <a:off x="6086475" y="5272088"/>
            <a:ext cx="5429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null</a:t>
            </a:r>
          </a:p>
        </p:txBody>
      </p:sp>
      <p:sp>
        <p:nvSpPr>
          <p:cNvPr id="87167" name="Text Box 138"/>
          <p:cNvSpPr txBox="1">
            <a:spLocks noChangeArrowheads="1"/>
          </p:cNvSpPr>
          <p:nvPr/>
        </p:nvSpPr>
        <p:spPr bwMode="auto">
          <a:xfrm>
            <a:off x="6019800" y="4891088"/>
            <a:ext cx="454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TA</a:t>
            </a:r>
          </a:p>
        </p:txBody>
      </p:sp>
      <p:sp>
        <p:nvSpPr>
          <p:cNvPr id="87168" name="Text Box 139"/>
          <p:cNvSpPr txBox="1">
            <a:spLocks noChangeArrowheads="1"/>
          </p:cNvSpPr>
          <p:nvPr/>
        </p:nvSpPr>
        <p:spPr bwMode="auto">
          <a:xfrm>
            <a:off x="6096000" y="5653088"/>
            <a:ext cx="428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FP</a:t>
            </a:r>
          </a:p>
        </p:txBody>
      </p:sp>
      <p:sp>
        <p:nvSpPr>
          <p:cNvPr id="87169" name="Text Box 140"/>
          <p:cNvSpPr txBox="1">
            <a:spLocks noChangeArrowheads="1"/>
          </p:cNvSpPr>
          <p:nvPr/>
        </p:nvSpPr>
        <p:spPr bwMode="auto">
          <a:xfrm>
            <a:off x="6124575" y="6019800"/>
            <a:ext cx="446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AP</a:t>
            </a:r>
          </a:p>
        </p:txBody>
      </p:sp>
      <p:sp>
        <p:nvSpPr>
          <p:cNvPr id="87170" name="Text Box 141"/>
          <p:cNvSpPr txBox="1">
            <a:spLocks noChangeArrowheads="1"/>
          </p:cNvSpPr>
          <p:nvPr/>
        </p:nvSpPr>
        <p:spPr bwMode="auto">
          <a:xfrm>
            <a:off x="4403725" y="2547938"/>
            <a:ext cx="701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/>
              <a:t>U</a:t>
            </a:r>
          </a:p>
        </p:txBody>
      </p:sp>
      <p:sp>
        <p:nvSpPr>
          <p:cNvPr id="87171" name="Line 142"/>
          <p:cNvSpPr>
            <a:spLocks noChangeShapeType="1"/>
          </p:cNvSpPr>
          <p:nvPr/>
        </p:nvSpPr>
        <p:spPr bwMode="auto">
          <a:xfrm>
            <a:off x="4648200" y="3505200"/>
            <a:ext cx="0" cy="4572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72" name="Text Box 143"/>
          <p:cNvSpPr txBox="1">
            <a:spLocks noChangeArrowheads="1"/>
          </p:cNvSpPr>
          <p:nvPr/>
        </p:nvSpPr>
        <p:spPr bwMode="auto">
          <a:xfrm>
            <a:off x="4486275" y="1416050"/>
            <a:ext cx="25241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Non-compatible Attributes</a:t>
            </a:r>
          </a:p>
        </p:txBody>
      </p:sp>
      <p:sp>
        <p:nvSpPr>
          <p:cNvPr id="87173" name="Line 144"/>
          <p:cNvSpPr>
            <a:spLocks noChangeShapeType="1"/>
          </p:cNvSpPr>
          <p:nvPr/>
        </p:nvSpPr>
        <p:spPr bwMode="auto">
          <a:xfrm>
            <a:off x="7010400" y="1600200"/>
            <a:ext cx="990600" cy="3048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74" name="Line 145"/>
          <p:cNvSpPr>
            <a:spLocks noChangeShapeType="1"/>
          </p:cNvSpPr>
          <p:nvPr/>
        </p:nvSpPr>
        <p:spPr bwMode="auto">
          <a:xfrm flipH="1">
            <a:off x="3429000" y="16764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7175" name="Line 146"/>
          <p:cNvSpPr>
            <a:spLocks noChangeShapeType="1"/>
          </p:cNvSpPr>
          <p:nvPr/>
        </p:nvSpPr>
        <p:spPr bwMode="auto">
          <a:xfrm>
            <a:off x="228600" y="3733800"/>
            <a:ext cx="8610600" cy="0"/>
          </a:xfrm>
          <a:prstGeom prst="line">
            <a:avLst/>
          </a:prstGeom>
          <a:noFill/>
          <a:ln w="76200" cmpd="tri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E3D415-4FCE-4356-8BAE-1C2EBA2D7EDC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80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80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40B075-1BF2-4D39-A46F-7A05056FC915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200" smtClean="0"/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609600"/>
            <a:ext cx="8077200" cy="609600"/>
          </a:xfrm>
        </p:spPr>
        <p:txBody>
          <a:bodyPr/>
          <a:lstStyle/>
          <a:p>
            <a:pPr eaLnBrk="1" hangingPunct="1"/>
            <a:r>
              <a:rPr lang="en-US" altLang="en-US" smtClean="0"/>
              <a:t> -- Aggregate Functions and Operations</a:t>
            </a:r>
          </a:p>
        </p:txBody>
      </p:sp>
      <p:sp>
        <p:nvSpPr>
          <p:cNvPr id="880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77200" cy="4953000"/>
          </a:xfrm>
        </p:spPr>
        <p:txBody>
          <a:bodyPr/>
          <a:lstStyle/>
          <a:p>
            <a:pPr eaLnBrk="1" hangingPunct="1">
              <a:tabLst>
                <a:tab pos="2119313" algn="l"/>
                <a:tab pos="2689225" algn="ctr"/>
              </a:tabLst>
            </a:pPr>
            <a:r>
              <a:rPr lang="en-US" altLang="en-US" sz="2000" b="1" smtClean="0">
                <a:solidFill>
                  <a:schemeClr val="tx2"/>
                </a:solidFill>
              </a:rPr>
              <a:t>Aggregation function</a:t>
            </a:r>
            <a:r>
              <a:rPr lang="en-US" altLang="en-US" sz="2000" smtClean="0"/>
              <a:t> takes a collection of values and returns a single value as a result.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119313" algn="l"/>
                <a:tab pos="2689225" algn="ctr"/>
              </a:tabLst>
            </a:pPr>
            <a:r>
              <a:rPr lang="en-US" altLang="en-US" sz="2000" smtClean="0"/>
              <a:t>		</a:t>
            </a:r>
            <a:r>
              <a:rPr lang="en-US" altLang="en-US" sz="2000" b="1" smtClean="0"/>
              <a:t>avg</a:t>
            </a:r>
            <a:r>
              <a:rPr lang="en-US" altLang="en-US" sz="2000" smtClean="0"/>
              <a:t>:  average value</a:t>
            </a:r>
            <a:br>
              <a:rPr lang="en-US" altLang="en-US" sz="2000" smtClean="0"/>
            </a:br>
            <a:r>
              <a:rPr lang="en-US" altLang="en-US" sz="2000" smtClean="0"/>
              <a:t>	</a:t>
            </a:r>
            <a:r>
              <a:rPr lang="en-US" altLang="en-US" sz="2000" b="1" smtClean="0"/>
              <a:t>min</a:t>
            </a:r>
            <a:r>
              <a:rPr lang="en-US" altLang="en-US" sz="2000" smtClean="0"/>
              <a:t>:  minimum value</a:t>
            </a:r>
            <a:br>
              <a:rPr lang="en-US" altLang="en-US" sz="2000" smtClean="0"/>
            </a:br>
            <a:r>
              <a:rPr lang="en-US" altLang="en-US" sz="2000" smtClean="0"/>
              <a:t>	</a:t>
            </a:r>
            <a:r>
              <a:rPr lang="en-US" altLang="en-US" sz="2000" b="1" smtClean="0"/>
              <a:t>max</a:t>
            </a:r>
            <a:r>
              <a:rPr lang="en-US" altLang="en-US" sz="2000" smtClean="0"/>
              <a:t>:  maximum value</a:t>
            </a:r>
            <a:br>
              <a:rPr lang="en-US" altLang="en-US" sz="2000" smtClean="0"/>
            </a:br>
            <a:r>
              <a:rPr lang="en-US" altLang="en-US" sz="2000" smtClean="0"/>
              <a:t>	</a:t>
            </a:r>
            <a:r>
              <a:rPr lang="en-US" altLang="en-US" sz="2000" b="1" smtClean="0"/>
              <a:t>sum</a:t>
            </a:r>
            <a:r>
              <a:rPr lang="en-US" altLang="en-US" sz="2000" smtClean="0"/>
              <a:t>:  sum of values</a:t>
            </a:r>
            <a:br>
              <a:rPr lang="en-US" altLang="en-US" sz="2000" smtClean="0"/>
            </a:br>
            <a:r>
              <a:rPr lang="en-US" altLang="en-US" sz="2000" smtClean="0"/>
              <a:t>	</a:t>
            </a:r>
            <a:r>
              <a:rPr lang="en-US" altLang="en-US" sz="2000" b="1" smtClean="0"/>
              <a:t>count</a:t>
            </a:r>
            <a:r>
              <a:rPr lang="en-US" altLang="en-US" sz="2000" smtClean="0"/>
              <a:t>:  number of values</a:t>
            </a:r>
          </a:p>
          <a:p>
            <a:pPr eaLnBrk="1" hangingPunct="1">
              <a:tabLst>
                <a:tab pos="2119313" algn="l"/>
                <a:tab pos="2689225" algn="ctr"/>
              </a:tabLst>
            </a:pPr>
            <a:r>
              <a:rPr lang="en-US" altLang="en-US" sz="2000" b="1" smtClean="0">
                <a:solidFill>
                  <a:schemeClr val="tx2"/>
                </a:solidFill>
              </a:rPr>
              <a:t>Aggregate operation</a:t>
            </a:r>
            <a:r>
              <a:rPr lang="en-US" altLang="en-US" sz="2000" smtClean="0"/>
              <a:t> in relational algebra </a:t>
            </a:r>
          </a:p>
          <a:p>
            <a:pPr eaLnBrk="1" hangingPunct="1">
              <a:buFont typeface="Wingdings" panose="05000000000000000000" pitchFamily="2" charset="2"/>
              <a:buNone/>
              <a:tabLst>
                <a:tab pos="2119313" algn="l"/>
                <a:tab pos="2689225" algn="ctr"/>
              </a:tabLst>
            </a:pPr>
            <a:r>
              <a:rPr lang="en-US" altLang="en-US" sz="2000" smtClean="0"/>
              <a:t>		</a:t>
            </a:r>
            <a:r>
              <a:rPr lang="en-US" altLang="en-US" sz="2000" baseline="-25000" smtClean="0"/>
              <a:t>	G1, G2, …, Gn</a:t>
            </a:r>
            <a:r>
              <a:rPr lang="en-US" altLang="en-US" sz="2000" smtClean="0"/>
              <a:t> </a:t>
            </a:r>
            <a:r>
              <a:rPr lang="en-US" altLang="en-US" sz="2000" i="1" smtClean="0">
                <a:latin typeface="Lucida Sans Unicode" panose="020B0602030504020204" pitchFamily="34" charset="0"/>
                <a:sym typeface="Symbol" panose="05050102010706020507" pitchFamily="18" charset="2"/>
              </a:rPr>
              <a:t>g</a:t>
            </a:r>
            <a:r>
              <a:rPr lang="en-US" altLang="en-US" sz="2000" smtClean="0"/>
              <a:t> </a:t>
            </a:r>
            <a:r>
              <a:rPr lang="en-US" altLang="en-US" sz="2000" baseline="-25000" smtClean="0"/>
              <a:t>F1( A1), F2( A2),…, Fn( An)</a:t>
            </a:r>
            <a:r>
              <a:rPr lang="en-US" altLang="en-US" sz="2000" smtClean="0"/>
              <a:t> (</a:t>
            </a:r>
            <a:r>
              <a:rPr lang="en-US" altLang="en-US" sz="2000" i="1" smtClean="0"/>
              <a:t>E</a:t>
            </a:r>
            <a:r>
              <a:rPr lang="en-US" altLang="en-US" sz="2000" smtClean="0"/>
              <a:t>)</a:t>
            </a:r>
          </a:p>
          <a:p>
            <a:pPr lvl="1" eaLnBrk="1" hangingPunct="1">
              <a:tabLst>
                <a:tab pos="2119313" algn="l"/>
                <a:tab pos="2689225" algn="ctr"/>
              </a:tabLst>
            </a:pPr>
            <a:r>
              <a:rPr lang="en-US" altLang="en-US" i="1" smtClean="0"/>
              <a:t>E</a:t>
            </a:r>
            <a:r>
              <a:rPr lang="en-US" altLang="en-US" smtClean="0"/>
              <a:t> is any relational-algebra expression</a:t>
            </a:r>
          </a:p>
          <a:p>
            <a:pPr lvl="1" eaLnBrk="1" hangingPunct="1">
              <a:tabLst>
                <a:tab pos="2119313" algn="l"/>
                <a:tab pos="2689225" algn="ctr"/>
              </a:tabLst>
            </a:pPr>
            <a:r>
              <a:rPr lang="en-US" altLang="en-US" i="1" smtClean="0"/>
              <a:t>G</a:t>
            </a:r>
            <a:r>
              <a:rPr lang="en-US" altLang="en-US" baseline="-25000" smtClean="0"/>
              <a:t>1</a:t>
            </a:r>
            <a:r>
              <a:rPr lang="en-US" altLang="en-US" smtClean="0"/>
              <a:t>, </a:t>
            </a:r>
            <a:r>
              <a:rPr lang="en-US" altLang="en-US" i="1" smtClean="0"/>
              <a:t>G</a:t>
            </a:r>
            <a:r>
              <a:rPr lang="en-US" altLang="en-US" baseline="-25000" smtClean="0"/>
              <a:t>2</a:t>
            </a:r>
            <a:r>
              <a:rPr lang="en-US" altLang="en-US" smtClean="0"/>
              <a:t> …, </a:t>
            </a:r>
            <a:r>
              <a:rPr lang="en-US" altLang="en-US" i="1" smtClean="0"/>
              <a:t>G</a:t>
            </a:r>
            <a:r>
              <a:rPr lang="en-US" altLang="en-US" baseline="-25000" smtClean="0"/>
              <a:t>n</a:t>
            </a:r>
            <a:r>
              <a:rPr lang="en-US" altLang="en-US" smtClean="0"/>
              <a:t> is a list of attributes on which to group (can be empty)</a:t>
            </a:r>
          </a:p>
          <a:p>
            <a:pPr lvl="1" eaLnBrk="1" hangingPunct="1">
              <a:tabLst>
                <a:tab pos="2119313" algn="l"/>
                <a:tab pos="2689225" algn="ctr"/>
              </a:tabLst>
            </a:pPr>
            <a:r>
              <a:rPr lang="en-US" altLang="en-US" smtClean="0"/>
              <a:t>Each </a:t>
            </a:r>
            <a:r>
              <a:rPr lang="en-US" altLang="en-US" i="1" smtClean="0"/>
              <a:t>F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 </a:t>
            </a:r>
            <a:r>
              <a:rPr lang="en-US" altLang="en-US" smtClean="0"/>
              <a:t>is an aggregate function</a:t>
            </a:r>
            <a:endParaRPr lang="en-US" altLang="en-US" i="1" smtClean="0"/>
          </a:p>
          <a:p>
            <a:pPr lvl="1" eaLnBrk="1" hangingPunct="1">
              <a:tabLst>
                <a:tab pos="2119313" algn="l"/>
                <a:tab pos="2689225" algn="ctr"/>
              </a:tabLst>
            </a:pPr>
            <a:r>
              <a:rPr lang="en-US" altLang="en-US" smtClean="0"/>
              <a:t>Each </a:t>
            </a:r>
            <a:r>
              <a:rPr lang="en-US" altLang="en-US" i="1" smtClean="0"/>
              <a:t>A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 </a:t>
            </a:r>
            <a:r>
              <a:rPr lang="en-US" altLang="en-US" smtClean="0"/>
              <a:t>is an attribute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9F79B55-B807-454D-B8A7-54F2A06B87F4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8909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890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C136BC-DA62-45CA-A039-E1BF367155CC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200" smtClean="0"/>
          </a:p>
        </p:txBody>
      </p:sp>
      <p:sp>
        <p:nvSpPr>
          <p:cNvPr id="890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Aggregate Operation – Example 1</a:t>
            </a:r>
          </a:p>
        </p:txBody>
      </p:sp>
      <p:sp>
        <p:nvSpPr>
          <p:cNvPr id="89094" name="Rectangle 4"/>
          <p:cNvSpPr>
            <a:spLocks noChangeArrowheads="1"/>
          </p:cNvSpPr>
          <p:nvPr/>
        </p:nvSpPr>
        <p:spPr bwMode="auto">
          <a:xfrm>
            <a:off x="1371600" y="2405063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</a:t>
            </a:r>
          </a:p>
        </p:txBody>
      </p:sp>
      <p:sp>
        <p:nvSpPr>
          <p:cNvPr id="89095" name="Rectangle 5"/>
          <p:cNvSpPr>
            <a:spLocks noChangeArrowheads="1"/>
          </p:cNvSpPr>
          <p:nvPr/>
        </p:nvSpPr>
        <p:spPr bwMode="auto">
          <a:xfrm>
            <a:off x="1828800" y="2405063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</a:t>
            </a:r>
          </a:p>
        </p:txBody>
      </p:sp>
      <p:sp>
        <p:nvSpPr>
          <p:cNvPr id="89096" name="Rectangle 6"/>
          <p:cNvSpPr>
            <a:spLocks noChangeArrowheads="1"/>
          </p:cNvSpPr>
          <p:nvPr/>
        </p:nvSpPr>
        <p:spPr bwMode="auto">
          <a:xfrm>
            <a:off x="1371600" y="3014663"/>
            <a:ext cx="457200" cy="15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89097" name="Rectangle 7"/>
          <p:cNvSpPr>
            <a:spLocks noChangeArrowheads="1"/>
          </p:cNvSpPr>
          <p:nvPr/>
        </p:nvSpPr>
        <p:spPr bwMode="auto">
          <a:xfrm>
            <a:off x="1828800" y="3014663"/>
            <a:ext cx="457200" cy="15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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89098" name="Rectangle 8"/>
          <p:cNvSpPr>
            <a:spLocks noChangeArrowheads="1"/>
          </p:cNvSpPr>
          <p:nvPr/>
        </p:nvSpPr>
        <p:spPr bwMode="auto">
          <a:xfrm>
            <a:off x="2286000" y="2405063"/>
            <a:ext cx="457200" cy="533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C</a:t>
            </a:r>
          </a:p>
        </p:txBody>
      </p:sp>
      <p:sp>
        <p:nvSpPr>
          <p:cNvPr id="89099" name="Rectangle 9"/>
          <p:cNvSpPr>
            <a:spLocks noChangeArrowheads="1"/>
          </p:cNvSpPr>
          <p:nvPr/>
        </p:nvSpPr>
        <p:spPr bwMode="auto">
          <a:xfrm>
            <a:off x="2286000" y="3014663"/>
            <a:ext cx="457200" cy="152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7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3</a:t>
            </a:r>
          </a:p>
          <a:p>
            <a:pPr algn="ctr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  <a:sym typeface="Symbol" panose="05050102010706020507" pitchFamily="18" charset="2"/>
              </a:rPr>
              <a:t>10</a:t>
            </a:r>
          </a:p>
        </p:txBody>
      </p:sp>
      <p:sp>
        <p:nvSpPr>
          <p:cNvPr id="89100" name="Rectangle 10"/>
          <p:cNvSpPr>
            <a:spLocks noChangeArrowheads="1"/>
          </p:cNvSpPr>
          <p:nvPr/>
        </p:nvSpPr>
        <p:spPr bwMode="auto">
          <a:xfrm>
            <a:off x="2895600" y="2981325"/>
            <a:ext cx="243840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Tx/>
              <a:buFont typeface="Monotype Sorts" pitchFamily="2" charset="2"/>
              <a:buNone/>
            </a:pPr>
            <a:r>
              <a:rPr lang="en-US" altLang="en-US" sz="4400" b="1">
                <a:sym typeface="Symbol" panose="05050102010706020507" pitchFamily="18" charset="2"/>
              </a:rPr>
              <a:t> </a:t>
            </a:r>
            <a:r>
              <a:rPr kumimoji="1" lang="en-US" altLang="en-US" sz="2800" b="1" i="1" baseline="-25000">
                <a:latin typeface="Lucida Sans Unicode" panose="020B0602030504020204" pitchFamily="34" charset="0"/>
                <a:sym typeface="Symbol" panose="05050102010706020507" pitchFamily="18" charset="2"/>
              </a:rPr>
              <a:t>g</a:t>
            </a:r>
            <a:r>
              <a:rPr kumimoji="1" lang="en-US" altLang="en-US" sz="28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en-US" sz="2800" b="1" baseline="-25000">
                <a:solidFill>
                  <a:schemeClr val="hlink"/>
                </a:solidFill>
                <a:latin typeface="Times New Roman" panose="02020603050405020304" pitchFamily="18" charset="0"/>
              </a:rPr>
              <a:t>sum</a:t>
            </a:r>
            <a:r>
              <a:rPr kumimoji="1" lang="en-US" altLang="en-US" sz="2800" b="1" baseline="-25000">
                <a:latin typeface="Times New Roman" panose="02020603050405020304" pitchFamily="18" charset="0"/>
              </a:rPr>
              <a:t>(c)</a:t>
            </a:r>
            <a:r>
              <a:rPr kumimoji="1" lang="en-US" altLang="en-US" sz="20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en-US" sz="6000" b="1" baseline="-25000">
                <a:latin typeface="Times New Roman" panose="02020603050405020304" pitchFamily="18" charset="0"/>
              </a:rPr>
              <a:t>(r)</a:t>
            </a:r>
          </a:p>
        </p:txBody>
      </p:sp>
      <p:sp>
        <p:nvSpPr>
          <p:cNvPr id="89101" name="Rectangle 11"/>
          <p:cNvSpPr>
            <a:spLocks noChangeArrowheads="1"/>
          </p:cNvSpPr>
          <p:nvPr/>
        </p:nvSpPr>
        <p:spPr bwMode="auto">
          <a:xfrm>
            <a:off x="6172200" y="2862263"/>
            <a:ext cx="914400" cy="4572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sum-C</a:t>
            </a:r>
            <a:endParaRPr lang="en-US" altLang="en-US" sz="1800" b="1">
              <a:latin typeface="Helvetica" panose="020B0604020202020204" pitchFamily="34" charset="0"/>
            </a:endParaRPr>
          </a:p>
        </p:txBody>
      </p:sp>
      <p:sp>
        <p:nvSpPr>
          <p:cNvPr id="89102" name="Rectangle 12"/>
          <p:cNvSpPr>
            <a:spLocks noChangeArrowheads="1"/>
          </p:cNvSpPr>
          <p:nvPr/>
        </p:nvSpPr>
        <p:spPr bwMode="auto">
          <a:xfrm>
            <a:off x="6172200" y="3395663"/>
            <a:ext cx="914400" cy="457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27</a:t>
            </a:r>
          </a:p>
        </p:txBody>
      </p:sp>
      <p:sp>
        <p:nvSpPr>
          <p:cNvPr id="89103" name="Text Box 15"/>
          <p:cNvSpPr txBox="1">
            <a:spLocks noChangeArrowheads="1"/>
          </p:cNvSpPr>
          <p:nvPr/>
        </p:nvSpPr>
        <p:spPr bwMode="auto">
          <a:xfrm>
            <a:off x="1965325" y="4648200"/>
            <a:ext cx="315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i="1"/>
              <a:t>r</a:t>
            </a:r>
          </a:p>
        </p:txBody>
      </p:sp>
      <p:sp>
        <p:nvSpPr>
          <p:cNvPr id="89104" name="Line 16"/>
          <p:cNvSpPr>
            <a:spLocks noChangeShapeType="1"/>
          </p:cNvSpPr>
          <p:nvPr/>
        </p:nvSpPr>
        <p:spPr bwMode="auto">
          <a:xfrm>
            <a:off x="5181600" y="3429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E42DA6-0C4D-40EB-9CD5-32C258F517D1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01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01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E513DFD-DFF8-408A-A0D3-CFF375151EF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en-US" altLang="en-US" sz="1200" smtClean="0"/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Aggregate Operation – Example 2</a:t>
            </a:r>
          </a:p>
        </p:txBody>
      </p:sp>
      <p:sp>
        <p:nvSpPr>
          <p:cNvPr id="901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234238" cy="377825"/>
          </a:xfrm>
        </p:spPr>
        <p:txBody>
          <a:bodyPr/>
          <a:lstStyle/>
          <a:p>
            <a:pPr eaLnBrk="1" hangingPunct="1"/>
            <a:r>
              <a:rPr lang="en-US" altLang="en-US" sz="2000" b="1" smtClean="0"/>
              <a:t>Relation </a:t>
            </a:r>
            <a:r>
              <a:rPr lang="en-US" altLang="en-US" sz="2000" b="1" i="1" smtClean="0"/>
              <a:t>account</a:t>
            </a:r>
            <a:r>
              <a:rPr lang="en-US" altLang="en-US" sz="2000" b="1" smtClean="0"/>
              <a:t> grouped by </a:t>
            </a:r>
            <a:r>
              <a:rPr lang="en-US" altLang="en-US" sz="2000" b="1" i="1" smtClean="0"/>
              <a:t>branch-name</a:t>
            </a:r>
            <a:r>
              <a:rPr lang="en-US" altLang="en-US" sz="2000" b="1" smtClean="0"/>
              <a:t>:</a:t>
            </a:r>
          </a:p>
        </p:txBody>
      </p:sp>
      <p:sp>
        <p:nvSpPr>
          <p:cNvPr id="90119" name="Rectangle 4"/>
          <p:cNvSpPr>
            <a:spLocks noChangeArrowheads="1"/>
          </p:cNvSpPr>
          <p:nvPr/>
        </p:nvSpPr>
        <p:spPr bwMode="auto">
          <a:xfrm>
            <a:off x="304800" y="4419600"/>
            <a:ext cx="7791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b="1" i="1" baseline="-25000">
                <a:latin typeface="Times New Roman" panose="02020603050405020304" pitchFamily="18" charset="0"/>
              </a:rPr>
              <a:t>T = branch-name</a:t>
            </a:r>
            <a:r>
              <a:rPr lang="en-US" altLang="en-US" b="1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latin typeface="Lucida Sans Unicode" panose="020B0602030504020204" pitchFamily="34" charset="0"/>
                <a:sym typeface="Symbol" panose="05050102010706020507" pitchFamily="18" charset="2"/>
              </a:rPr>
              <a:t>g </a:t>
            </a:r>
            <a:r>
              <a:rPr lang="en-US" altLang="en-US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sum(balance)</a:t>
            </a:r>
            <a:r>
              <a:rPr lang="en-US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account</a:t>
            </a:r>
            <a:r>
              <a:rPr lang="en-US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b="1">
              <a:latin typeface="Times New Roman" panose="02020603050405020304" pitchFamily="18" charset="0"/>
            </a:endParaRPr>
          </a:p>
        </p:txBody>
      </p:sp>
      <p:sp>
        <p:nvSpPr>
          <p:cNvPr id="90120" name="Rectangle 5"/>
          <p:cNvSpPr>
            <a:spLocks noChangeArrowheads="1"/>
          </p:cNvSpPr>
          <p:nvPr/>
        </p:nvSpPr>
        <p:spPr bwMode="auto">
          <a:xfrm>
            <a:off x="1676400" y="2209800"/>
            <a:ext cx="16002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branch-name</a:t>
            </a:r>
          </a:p>
        </p:txBody>
      </p:sp>
      <p:sp>
        <p:nvSpPr>
          <p:cNvPr id="90121" name="Rectangle 6"/>
          <p:cNvSpPr>
            <a:spLocks noChangeArrowheads="1"/>
          </p:cNvSpPr>
          <p:nvPr/>
        </p:nvSpPr>
        <p:spPr bwMode="auto">
          <a:xfrm>
            <a:off x="3275013" y="2209800"/>
            <a:ext cx="18288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account-number</a:t>
            </a:r>
            <a:endParaRPr lang="en-US" altLang="en-US" sz="1800" b="1">
              <a:latin typeface="Helvetica" panose="020B0604020202020204" pitchFamily="34" charset="0"/>
            </a:endParaRPr>
          </a:p>
        </p:txBody>
      </p:sp>
      <p:sp>
        <p:nvSpPr>
          <p:cNvPr id="90122" name="Rectangle 7"/>
          <p:cNvSpPr>
            <a:spLocks noChangeArrowheads="1"/>
          </p:cNvSpPr>
          <p:nvPr/>
        </p:nvSpPr>
        <p:spPr bwMode="auto">
          <a:xfrm>
            <a:off x="5103813" y="2209800"/>
            <a:ext cx="16764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balance</a:t>
            </a:r>
          </a:p>
        </p:txBody>
      </p:sp>
      <p:sp>
        <p:nvSpPr>
          <p:cNvPr id="90123" name="Rectangle 8"/>
          <p:cNvSpPr>
            <a:spLocks noChangeArrowheads="1"/>
          </p:cNvSpPr>
          <p:nvPr/>
        </p:nvSpPr>
        <p:spPr bwMode="auto">
          <a:xfrm>
            <a:off x="1703388" y="2590800"/>
            <a:ext cx="16002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Dammam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Dammam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Khobar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Khobar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Hafuf</a:t>
            </a:r>
          </a:p>
        </p:txBody>
      </p:sp>
      <p:sp>
        <p:nvSpPr>
          <p:cNvPr id="90124" name="Rectangle 9"/>
          <p:cNvSpPr>
            <a:spLocks noChangeArrowheads="1"/>
          </p:cNvSpPr>
          <p:nvPr/>
        </p:nvSpPr>
        <p:spPr bwMode="auto">
          <a:xfrm>
            <a:off x="3275013" y="2590800"/>
            <a:ext cx="18288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A-102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A-201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A-217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A-215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A-222</a:t>
            </a:r>
          </a:p>
        </p:txBody>
      </p:sp>
      <p:sp>
        <p:nvSpPr>
          <p:cNvPr id="90125" name="Rectangle 10"/>
          <p:cNvSpPr>
            <a:spLocks noChangeArrowheads="1"/>
          </p:cNvSpPr>
          <p:nvPr/>
        </p:nvSpPr>
        <p:spPr bwMode="auto">
          <a:xfrm>
            <a:off x="5103813" y="2590800"/>
            <a:ext cx="1676400" cy="1447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400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900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750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750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700</a:t>
            </a:r>
            <a:endParaRPr lang="en-US" altLang="en-US" sz="1800" b="1" i="1">
              <a:latin typeface="Helvetica" panose="020B0604020202020204" pitchFamily="34" charset="0"/>
            </a:endParaRPr>
          </a:p>
        </p:txBody>
      </p:sp>
      <p:sp>
        <p:nvSpPr>
          <p:cNvPr id="90126" name="Rectangle 11"/>
          <p:cNvSpPr>
            <a:spLocks noChangeArrowheads="1"/>
          </p:cNvSpPr>
          <p:nvPr/>
        </p:nvSpPr>
        <p:spPr bwMode="auto">
          <a:xfrm>
            <a:off x="2438400" y="5105400"/>
            <a:ext cx="16002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branch-name</a:t>
            </a:r>
          </a:p>
        </p:txBody>
      </p:sp>
      <p:sp>
        <p:nvSpPr>
          <p:cNvPr id="90127" name="Rectangle 12"/>
          <p:cNvSpPr>
            <a:spLocks noChangeArrowheads="1"/>
          </p:cNvSpPr>
          <p:nvPr/>
        </p:nvSpPr>
        <p:spPr bwMode="auto">
          <a:xfrm>
            <a:off x="4038600" y="5105400"/>
            <a:ext cx="1676400" cy="304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i="1">
                <a:latin typeface="Helvetica" panose="020B0604020202020204" pitchFamily="34" charset="0"/>
              </a:rPr>
              <a:t>balance</a:t>
            </a:r>
          </a:p>
        </p:txBody>
      </p:sp>
      <p:sp>
        <p:nvSpPr>
          <p:cNvPr id="90128" name="Rectangle 13"/>
          <p:cNvSpPr>
            <a:spLocks noChangeArrowheads="1"/>
          </p:cNvSpPr>
          <p:nvPr/>
        </p:nvSpPr>
        <p:spPr bwMode="auto">
          <a:xfrm>
            <a:off x="2438400" y="5486400"/>
            <a:ext cx="16002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Dammam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Khobar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Hafuf</a:t>
            </a:r>
          </a:p>
        </p:txBody>
      </p:sp>
      <p:sp>
        <p:nvSpPr>
          <p:cNvPr id="90129" name="Rectangle 14"/>
          <p:cNvSpPr>
            <a:spLocks noChangeArrowheads="1"/>
          </p:cNvSpPr>
          <p:nvPr/>
        </p:nvSpPr>
        <p:spPr bwMode="auto">
          <a:xfrm>
            <a:off x="4038600" y="5486400"/>
            <a:ext cx="1676400" cy="838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1300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1500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latin typeface="Helvetica" panose="020B0604020202020204" pitchFamily="34" charset="0"/>
              </a:rPr>
              <a:t>700</a:t>
            </a:r>
            <a:endParaRPr lang="en-US" altLang="en-US" sz="1800" b="1" i="1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D0E48C-D65C-40DC-BB2D-FEF92335C0A4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113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11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A6B63CB-6307-48D9-89AA-F147B24F55FC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en-US" altLang="en-US" sz="1200" smtClean="0"/>
          </a:p>
        </p:txBody>
      </p:sp>
      <p:sp>
        <p:nvSpPr>
          <p:cNvPr id="911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--- Aggregate Functions: Renaming </a:t>
            </a:r>
          </a:p>
        </p:txBody>
      </p:sp>
      <p:sp>
        <p:nvSpPr>
          <p:cNvPr id="911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Result of aggregation does not have a name</a:t>
            </a:r>
          </a:p>
          <a:p>
            <a:pPr lvl="1" eaLnBrk="1" hangingPunct="1"/>
            <a:r>
              <a:rPr lang="en-US" altLang="en-US" smtClean="0"/>
              <a:t>Can use rename operation to give it a name</a:t>
            </a:r>
          </a:p>
          <a:p>
            <a:pPr lvl="1" eaLnBrk="1" hangingPunct="1"/>
            <a:r>
              <a:rPr lang="en-US" altLang="en-US" smtClean="0"/>
              <a:t>For convenience, we permit renaming as part of aggregate operation</a:t>
            </a:r>
            <a:br>
              <a:rPr lang="en-US" altLang="en-US" smtClean="0"/>
            </a:br>
            <a:endParaRPr lang="en-US" altLang="en-US" smtClean="0"/>
          </a:p>
          <a:p>
            <a:pPr lvl="1" eaLnBrk="1" hangingPunct="1"/>
            <a:endParaRPr lang="en-US" altLang="en-US" smtClean="0"/>
          </a:p>
        </p:txBody>
      </p:sp>
      <p:sp>
        <p:nvSpPr>
          <p:cNvPr id="91143" name="Rectangle 4"/>
          <p:cNvSpPr>
            <a:spLocks noChangeArrowheads="1"/>
          </p:cNvSpPr>
          <p:nvPr/>
        </p:nvSpPr>
        <p:spPr bwMode="auto">
          <a:xfrm>
            <a:off x="1295400" y="3505200"/>
            <a:ext cx="639445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1" baseline="-25000">
                <a:latin typeface="Times New Roman" panose="02020603050405020304" pitchFamily="18" charset="0"/>
              </a:rPr>
              <a:t>branch-name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i="1">
                <a:latin typeface="Lucida Sans Unicode" panose="020B0602030504020204" pitchFamily="34" charset="0"/>
                <a:sym typeface="Symbol" panose="05050102010706020507" pitchFamily="18" charset="2"/>
              </a:rPr>
              <a:t>g </a:t>
            </a:r>
            <a:r>
              <a:rPr lang="en-US" altLang="en-US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sum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(balance) </a:t>
            </a:r>
            <a:r>
              <a:rPr lang="en-US" altLang="en-US" sz="28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as</a:t>
            </a:r>
            <a:r>
              <a:rPr lang="en-US" altLang="en-US" sz="2800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sum-balance </a:t>
            </a:r>
            <a:r>
              <a:rPr lang="en-US" altLang="en-US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sym typeface="Symbol" panose="05050102010706020507" pitchFamily="18" charset="2"/>
              </a:rPr>
              <a:t>account</a:t>
            </a:r>
            <a:r>
              <a:rPr lang="en-US" altLang="en-US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3FE42A-7393-4AFF-AD34-B21D161121F7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216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21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F002C5-8172-4078-BECE-6EFC6C03A372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en-US" altLang="en-US" sz="1200" smtClean="0"/>
          </a:p>
        </p:txBody>
      </p:sp>
      <p:sp>
        <p:nvSpPr>
          <p:cNvPr id="921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-- Null Values …</a:t>
            </a:r>
          </a:p>
        </p:txBody>
      </p:sp>
      <p:sp>
        <p:nvSpPr>
          <p:cNvPr id="921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8077200" cy="47244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It is possible for tuples to have a null value, denoted by </a:t>
            </a:r>
            <a:r>
              <a:rPr lang="en-US" altLang="en-US" sz="2000" i="1" smtClean="0"/>
              <a:t>null</a:t>
            </a:r>
            <a:r>
              <a:rPr lang="en-US" altLang="en-US" sz="2000" smtClean="0"/>
              <a:t>, for some of their attributes</a:t>
            </a:r>
          </a:p>
          <a:p>
            <a:pPr eaLnBrk="1" hangingPunct="1"/>
            <a:r>
              <a:rPr lang="en-US" altLang="en-US" sz="2000" i="1" smtClean="0"/>
              <a:t>null</a:t>
            </a:r>
            <a:r>
              <a:rPr lang="en-US" altLang="en-US" sz="2000" smtClean="0"/>
              <a:t> signifies an unknown value or that a value does not exist.</a:t>
            </a:r>
          </a:p>
          <a:p>
            <a:pPr eaLnBrk="1" hangingPunct="1"/>
            <a:r>
              <a:rPr lang="en-US" altLang="en-US" sz="2000" smtClean="0"/>
              <a:t>The result of any arithmetic expression involving </a:t>
            </a:r>
            <a:r>
              <a:rPr lang="en-US" altLang="en-US" sz="2000" i="1" smtClean="0"/>
              <a:t>null</a:t>
            </a:r>
            <a:r>
              <a:rPr lang="en-US" altLang="en-US" sz="2000" smtClean="0"/>
              <a:t> is </a:t>
            </a:r>
            <a:r>
              <a:rPr lang="en-US" altLang="en-US" sz="2000" i="1" smtClean="0"/>
              <a:t>null.</a:t>
            </a:r>
          </a:p>
          <a:p>
            <a:pPr eaLnBrk="1" hangingPunct="1"/>
            <a:r>
              <a:rPr lang="en-US" altLang="en-US" sz="2000" smtClean="0"/>
              <a:t>Aggregate functions simply ignore null values</a:t>
            </a:r>
          </a:p>
          <a:p>
            <a:pPr lvl="1" eaLnBrk="1" hangingPunct="1"/>
            <a:r>
              <a:rPr lang="en-US" altLang="en-US" sz="1800" smtClean="0"/>
              <a:t>Is an arbitrary decision.  Could have returned null as result instead.</a:t>
            </a:r>
          </a:p>
          <a:p>
            <a:pPr lvl="1" eaLnBrk="1" hangingPunct="1"/>
            <a:r>
              <a:rPr lang="en-US" altLang="en-US" sz="1800" smtClean="0"/>
              <a:t>We follow the semantics of SQL in its handling of null values</a:t>
            </a:r>
          </a:p>
          <a:p>
            <a:pPr eaLnBrk="1" hangingPunct="1"/>
            <a:r>
              <a:rPr lang="en-US" altLang="en-US" sz="2000" smtClean="0"/>
              <a:t>For duplicate elimination and grouping, null is treated like any other value, and two nulls are assumed to be the same</a:t>
            </a:r>
          </a:p>
          <a:p>
            <a:pPr lvl="1" eaLnBrk="1" hangingPunct="1"/>
            <a:r>
              <a:rPr lang="en-US" altLang="en-US" sz="1800" smtClean="0"/>
              <a:t>Alternative: assume each null is different from each other</a:t>
            </a:r>
          </a:p>
          <a:p>
            <a:pPr lvl="1" eaLnBrk="1" hangingPunct="1"/>
            <a:r>
              <a:rPr lang="en-US" altLang="en-US" sz="1800" smtClean="0"/>
              <a:t>Both are arbitrary decisions, so we simply follow 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681815C-5A1E-4176-B722-183708E5EDB7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318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318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A5735B-3847-4D56-969D-A636C1430930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en-US" altLang="en-US" sz="1200" smtClean="0"/>
          </a:p>
        </p:txBody>
      </p:sp>
      <p:sp>
        <p:nvSpPr>
          <p:cNvPr id="931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-- Null Values</a:t>
            </a:r>
          </a:p>
        </p:txBody>
      </p:sp>
      <p:sp>
        <p:nvSpPr>
          <p:cNvPr id="931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676400"/>
            <a:ext cx="7791450" cy="43592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Comparisons with null values return the special truth value </a:t>
            </a:r>
            <a:r>
              <a:rPr lang="en-US" altLang="en-US" sz="2000" i="1" smtClean="0"/>
              <a:t>unknown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If </a:t>
            </a:r>
            <a:r>
              <a:rPr lang="en-US" altLang="en-US" sz="1600" i="1" smtClean="0"/>
              <a:t>false</a:t>
            </a:r>
            <a:r>
              <a:rPr lang="en-US" altLang="en-US" sz="1600" smtClean="0"/>
              <a:t> was used instead of </a:t>
            </a:r>
            <a:r>
              <a:rPr lang="en-US" altLang="en-US" sz="1600" i="1" smtClean="0"/>
              <a:t>unknown</a:t>
            </a:r>
            <a:r>
              <a:rPr lang="en-US" altLang="en-US" sz="1600" smtClean="0"/>
              <a:t>, then    </a:t>
            </a:r>
            <a:r>
              <a:rPr lang="en-US" altLang="en-US" sz="1600" i="1" smtClean="0"/>
              <a:t>not (A &lt; 5)</a:t>
            </a:r>
            <a:r>
              <a:rPr lang="en-US" altLang="en-US" sz="1600" smtClean="0"/>
              <a:t> </a:t>
            </a:r>
            <a:br>
              <a:rPr lang="en-US" altLang="en-US" sz="1600" smtClean="0"/>
            </a:br>
            <a:r>
              <a:rPr lang="en-US" altLang="en-US" sz="1600" smtClean="0"/>
              <a:t>               would not be equivalent to               </a:t>
            </a:r>
            <a:r>
              <a:rPr lang="en-US" altLang="en-US" sz="1600" i="1" smtClean="0"/>
              <a:t>A &gt;= 5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Three-valued logic using the truth value </a:t>
            </a:r>
            <a:r>
              <a:rPr lang="en-US" altLang="en-US" sz="2000" i="1" smtClean="0"/>
              <a:t>unknown</a:t>
            </a:r>
            <a:r>
              <a:rPr lang="en-US" altLang="en-US" sz="2000" smtClean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OR: (</a:t>
            </a:r>
            <a:r>
              <a:rPr lang="en-US" altLang="en-US" sz="1600" i="1" smtClean="0"/>
              <a:t>unknown</a:t>
            </a:r>
            <a:r>
              <a:rPr lang="en-US" altLang="en-US" sz="1600" smtClean="0"/>
              <a:t> </a:t>
            </a:r>
            <a:r>
              <a:rPr lang="en-US" altLang="en-US" sz="1600" b="1" smtClean="0"/>
              <a:t>or</a:t>
            </a:r>
            <a:r>
              <a:rPr lang="en-US" altLang="en-US" sz="1600" smtClean="0"/>
              <a:t> </a:t>
            </a:r>
            <a:r>
              <a:rPr lang="en-US" altLang="en-US" sz="1600" i="1" smtClean="0"/>
              <a:t>true</a:t>
            </a:r>
            <a:r>
              <a:rPr lang="en-US" altLang="en-US" sz="1600" smtClean="0"/>
              <a:t>)         = </a:t>
            </a:r>
            <a:r>
              <a:rPr lang="en-US" altLang="en-US" sz="1600" i="1" smtClean="0"/>
              <a:t>true</a:t>
            </a:r>
            <a:r>
              <a:rPr lang="en-US" altLang="en-US" sz="1600" smtClean="0"/>
              <a:t>, </a:t>
            </a:r>
            <a:br>
              <a:rPr lang="en-US" altLang="en-US" sz="1600" smtClean="0"/>
            </a:br>
            <a:r>
              <a:rPr lang="en-US" altLang="en-US" sz="1600" smtClean="0"/>
              <a:t>       (</a:t>
            </a:r>
            <a:r>
              <a:rPr lang="en-US" altLang="en-US" sz="1600" i="1" smtClean="0"/>
              <a:t>unknown</a:t>
            </a:r>
            <a:r>
              <a:rPr lang="en-US" altLang="en-US" sz="1600" smtClean="0"/>
              <a:t> </a:t>
            </a:r>
            <a:r>
              <a:rPr lang="en-US" altLang="en-US" sz="1600" b="1" smtClean="0"/>
              <a:t>or</a:t>
            </a:r>
            <a:r>
              <a:rPr lang="en-US" altLang="en-US" sz="1600" smtClean="0"/>
              <a:t> </a:t>
            </a:r>
            <a:r>
              <a:rPr lang="en-US" altLang="en-US" sz="1600" i="1" smtClean="0"/>
              <a:t>false</a:t>
            </a:r>
            <a:r>
              <a:rPr lang="en-US" altLang="en-US" sz="1600" smtClean="0"/>
              <a:t>)        = </a:t>
            </a:r>
            <a:r>
              <a:rPr lang="en-US" altLang="en-US" sz="1600" i="1" smtClean="0"/>
              <a:t>unknown</a:t>
            </a:r>
            <a:r>
              <a:rPr lang="en-US" altLang="en-US" sz="1600" smtClean="0"/>
              <a:t/>
            </a:r>
            <a:br>
              <a:rPr lang="en-US" altLang="en-US" sz="1600" smtClean="0"/>
            </a:br>
            <a:r>
              <a:rPr lang="en-US" altLang="en-US" sz="1600" smtClean="0"/>
              <a:t>       (</a:t>
            </a:r>
            <a:r>
              <a:rPr lang="en-US" altLang="en-US" sz="1600" i="1" smtClean="0"/>
              <a:t>unknown </a:t>
            </a:r>
            <a:r>
              <a:rPr lang="en-US" altLang="en-US" sz="1600" b="1" smtClean="0"/>
              <a:t>or</a:t>
            </a:r>
            <a:r>
              <a:rPr lang="en-US" altLang="en-US" sz="1600" i="1" smtClean="0"/>
              <a:t> unknown) = unknown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AND:</a:t>
            </a:r>
            <a:r>
              <a:rPr lang="en-US" altLang="en-US" sz="1600" i="1" smtClean="0"/>
              <a:t>   (true</a:t>
            </a:r>
            <a:r>
              <a:rPr lang="en-US" altLang="en-US" sz="1600" b="1" smtClean="0"/>
              <a:t> and </a:t>
            </a:r>
            <a:r>
              <a:rPr lang="en-US" altLang="en-US" sz="1600" i="1" smtClean="0"/>
              <a:t>unknown)         = unknown,   </a:t>
            </a:r>
            <a:br>
              <a:rPr lang="en-US" altLang="en-US" sz="1600" i="1" smtClean="0"/>
            </a:br>
            <a:r>
              <a:rPr lang="en-US" altLang="en-US" sz="1600" i="1" smtClean="0"/>
              <a:t>           (false</a:t>
            </a:r>
            <a:r>
              <a:rPr lang="en-US" altLang="en-US" sz="1600" b="1" smtClean="0"/>
              <a:t> and </a:t>
            </a:r>
            <a:r>
              <a:rPr lang="en-US" altLang="en-US" sz="1600" i="1" smtClean="0"/>
              <a:t>unknown)        = false,</a:t>
            </a:r>
            <a:br>
              <a:rPr lang="en-US" altLang="en-US" sz="1600" i="1" smtClean="0"/>
            </a:br>
            <a:r>
              <a:rPr lang="en-US" altLang="en-US" sz="1600" i="1" smtClean="0"/>
              <a:t>           (unknown </a:t>
            </a:r>
            <a:r>
              <a:rPr lang="en-US" altLang="en-US" sz="1600" b="1" smtClean="0"/>
              <a:t>and</a:t>
            </a:r>
            <a:r>
              <a:rPr lang="en-US" altLang="en-US" sz="1600" i="1" smtClean="0"/>
              <a:t> unknown) = unknown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NOT</a:t>
            </a:r>
            <a:r>
              <a:rPr lang="en-US" altLang="en-US" sz="1600" i="1" smtClean="0"/>
              <a:t>:  (</a:t>
            </a:r>
            <a:r>
              <a:rPr lang="en-US" altLang="en-US" sz="1600" b="1" smtClean="0"/>
              <a:t>not</a:t>
            </a:r>
            <a:r>
              <a:rPr lang="en-US" altLang="en-US" sz="1600" i="1" smtClean="0"/>
              <a:t> unknown) = unknown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600" smtClean="0"/>
              <a:t>In SQL “</a:t>
            </a:r>
            <a:r>
              <a:rPr lang="en-US" altLang="en-US" sz="1600" i="1" smtClean="0"/>
              <a:t>P</a:t>
            </a:r>
            <a:r>
              <a:rPr lang="en-US" altLang="en-US" sz="1600" b="1" smtClean="0"/>
              <a:t> is unknown” </a:t>
            </a:r>
            <a:r>
              <a:rPr lang="en-US" altLang="en-US" sz="1600" smtClean="0"/>
              <a:t>evaluates to true if predicate </a:t>
            </a:r>
            <a:r>
              <a:rPr lang="en-US" altLang="en-US" sz="1600" i="1" smtClean="0"/>
              <a:t>P</a:t>
            </a:r>
            <a:r>
              <a:rPr lang="en-US" altLang="en-US" sz="1600" smtClean="0"/>
              <a:t> evaluates to </a:t>
            </a:r>
            <a:r>
              <a:rPr lang="en-US" altLang="en-US" sz="1600" i="1" smtClean="0"/>
              <a:t>unknown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Result of select</a:t>
            </a:r>
            <a:r>
              <a:rPr lang="en-US" altLang="en-US" sz="2000" b="1" smtClean="0"/>
              <a:t> </a:t>
            </a:r>
            <a:r>
              <a:rPr lang="en-US" altLang="en-US" sz="2000" smtClean="0"/>
              <a:t> predicate is treated as </a:t>
            </a:r>
            <a:r>
              <a:rPr lang="en-US" altLang="en-US" sz="2000" i="1" smtClean="0"/>
              <a:t>false </a:t>
            </a:r>
            <a:r>
              <a:rPr lang="en-US" altLang="en-US" sz="2000" smtClean="0"/>
              <a:t>if it evaluates to </a:t>
            </a:r>
            <a:r>
              <a:rPr lang="en-US" altLang="en-US" sz="2000" i="1" smtClean="0"/>
              <a:t>unknown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Date Placeholder 2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2CAA03-7E55-4902-9758-05A38F425742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523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523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B3E750-F150-49D6-9057-EDF259A12C65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en-US" altLang="en-US" sz="1200" smtClean="0"/>
          </a:p>
        </p:txBody>
      </p:sp>
      <p:sp>
        <p:nvSpPr>
          <p:cNvPr id="95237" name="Rectangle 2"/>
          <p:cNvSpPr>
            <a:spLocks noChangeArrowheads="1"/>
          </p:cNvSpPr>
          <p:nvPr/>
        </p:nvSpPr>
        <p:spPr bwMode="auto">
          <a:xfrm>
            <a:off x="1219200" y="776288"/>
            <a:ext cx="762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Monotype Sorts" pitchFamily="2" charset="2"/>
              <a:buNone/>
            </a:pPr>
            <a:r>
              <a:rPr lang="en-US" altLang="en-US" sz="2800">
                <a:solidFill>
                  <a:schemeClr val="tx2"/>
                </a:solidFill>
                <a:cs typeface="Times New Roman" panose="02020603050405020304" pitchFamily="18" charset="0"/>
              </a:rPr>
              <a:t>- Summary …</a:t>
            </a:r>
          </a:p>
        </p:txBody>
      </p:sp>
      <p:pic>
        <p:nvPicPr>
          <p:cNvPr id="95238" name="Picture 3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2296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1A800B-D656-4417-A3BE-CAD16EB29D7E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625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62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34B2ED-53DE-46ED-B0BE-00588DE41B9A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en-US" altLang="en-US" sz="1200" smtClean="0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Summary …</a:t>
            </a:r>
          </a:p>
        </p:txBody>
      </p:sp>
      <p:pic>
        <p:nvPicPr>
          <p:cNvPr id="96262" name="Picture 4"/>
          <p:cNvPicPr>
            <a:picLocks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752600"/>
            <a:ext cx="9144000" cy="4800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Date Placeholder 4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48C535-88A6-430E-A066-C5D090ED8A85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7283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728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5E1A4D-CE04-4EB0-A3A6-8CF0B3825ED0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en-US" altLang="en-US" sz="1200" smtClean="0"/>
          </a:p>
        </p:txBody>
      </p:sp>
      <p:sp>
        <p:nvSpPr>
          <p:cNvPr id="972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Summary</a:t>
            </a:r>
          </a:p>
        </p:txBody>
      </p:sp>
      <p:sp>
        <p:nvSpPr>
          <p:cNvPr id="97286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altLang="en-US" sz="2000" smtClean="0">
                <a:sym typeface="Symbol" panose="05050102010706020507" pitchFamily="18" charset="2"/>
              </a:rPr>
              <a:t>Select        		</a:t>
            </a:r>
          </a:p>
          <a:p>
            <a:pPr eaLnBrk="1" hangingPunct="1"/>
            <a:r>
              <a:rPr lang="en-US" altLang="en-US" sz="2000" smtClean="0">
                <a:sym typeface="Symbol" panose="05050102010706020507" pitchFamily="18" charset="2"/>
              </a:rPr>
              <a:t>Project            	</a:t>
            </a:r>
          </a:p>
          <a:p>
            <a:pPr eaLnBrk="1" hangingPunct="1"/>
            <a:r>
              <a:rPr lang="en-US" altLang="en-US" sz="2000" smtClean="0">
                <a:sym typeface="Symbol" panose="05050102010706020507" pitchFamily="18" charset="2"/>
              </a:rPr>
              <a:t>Rename          	</a:t>
            </a:r>
          </a:p>
          <a:p>
            <a:pPr eaLnBrk="1" hangingPunct="1"/>
            <a:r>
              <a:rPr lang="en-US" altLang="en-US" sz="2000" smtClean="0">
                <a:sym typeface="Symbol" panose="05050102010706020507" pitchFamily="18" charset="2"/>
              </a:rPr>
              <a:t>Union              	</a:t>
            </a:r>
          </a:p>
          <a:p>
            <a:pPr eaLnBrk="1" hangingPunct="1"/>
            <a:r>
              <a:rPr lang="en-US" altLang="en-US" sz="2000" smtClean="0"/>
              <a:t>Difference        	–</a:t>
            </a:r>
          </a:p>
          <a:p>
            <a:pPr eaLnBrk="1" hangingPunct="1"/>
            <a:r>
              <a:rPr lang="en-US" altLang="en-US" sz="2000" smtClean="0">
                <a:sym typeface="Symbol" panose="05050102010706020507" pitchFamily="18" charset="2"/>
              </a:rPr>
              <a:t>Intersection      	</a:t>
            </a:r>
          </a:p>
          <a:p>
            <a:pPr eaLnBrk="1" hangingPunct="1"/>
            <a:r>
              <a:rPr lang="en-US" altLang="en-US" sz="2000" smtClean="0">
                <a:sym typeface="Symbol" panose="05050102010706020507" pitchFamily="18" charset="2"/>
              </a:rPr>
              <a:t>Division		</a:t>
            </a:r>
          </a:p>
          <a:p>
            <a:pPr eaLnBrk="1" hangingPunct="1"/>
            <a:r>
              <a:rPr lang="en-US" altLang="en-US" sz="2000" smtClean="0">
                <a:sym typeface="Symbol" panose="05050102010706020507" pitchFamily="18" charset="2"/>
              </a:rPr>
              <a:t>Assignment		</a:t>
            </a:r>
          </a:p>
          <a:p>
            <a:pPr eaLnBrk="1" hangingPunct="1"/>
            <a:r>
              <a:rPr lang="en-US" altLang="en-US" sz="2000" smtClean="0"/>
              <a:t>Cartesian Product	X</a:t>
            </a:r>
          </a:p>
          <a:p>
            <a:pPr eaLnBrk="1" hangingPunct="1"/>
            <a:endParaRPr lang="en-US" altLang="en-US" sz="2000" smtClean="0"/>
          </a:p>
          <a:p>
            <a:pPr eaLnBrk="1" hangingPunct="1"/>
            <a:endParaRPr lang="en-US" altLang="en-US" sz="2000" b="1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i="1" smtClean="0"/>
          </a:p>
          <a:p>
            <a:pPr eaLnBrk="1" hangingPunct="1"/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i="1" smtClean="0">
              <a:sym typeface="Symbol" panose="05050102010706020507" pitchFamily="18" charset="2"/>
            </a:endParaRPr>
          </a:p>
          <a:p>
            <a:pPr eaLnBrk="1" hangingPunct="1"/>
            <a:endParaRPr lang="en-US" altLang="en-US" sz="2000" i="1" smtClean="0">
              <a:sym typeface="Symbol" panose="05050102010706020507" pitchFamily="18" charset="2"/>
            </a:endParaRPr>
          </a:p>
        </p:txBody>
      </p:sp>
      <p:sp>
        <p:nvSpPr>
          <p:cNvPr id="97287" name="Rectangle 8"/>
          <p:cNvSpPr>
            <a:spLocks noGrp="1" noChangeArrowheads="1"/>
          </p:cNvSpPr>
          <p:nvPr>
            <p:ph type="body" sz="half" idx="2"/>
          </p:nvPr>
        </p:nvSpPr>
        <p:spPr>
          <a:xfrm>
            <a:off x="4800600" y="1905000"/>
            <a:ext cx="3962400" cy="45720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Join</a:t>
            </a:r>
          </a:p>
          <a:p>
            <a:pPr eaLnBrk="1" hangingPunct="1"/>
            <a:r>
              <a:rPr lang="en-US" altLang="en-US" sz="2000" smtClean="0"/>
              <a:t>Natural Join                  </a:t>
            </a:r>
          </a:p>
          <a:p>
            <a:pPr eaLnBrk="1" hangingPunct="1"/>
            <a:r>
              <a:rPr lang="en-US" altLang="en-US" sz="2000" smtClean="0"/>
              <a:t>Left Outer Join</a:t>
            </a:r>
          </a:p>
          <a:p>
            <a:pPr eaLnBrk="1" hangingPunct="1"/>
            <a:r>
              <a:rPr lang="en-US" altLang="en-US" sz="2000" smtClean="0"/>
              <a:t>Right Outer Join</a:t>
            </a:r>
          </a:p>
          <a:p>
            <a:pPr eaLnBrk="1" hangingPunct="1"/>
            <a:r>
              <a:rPr lang="en-US" altLang="en-US" sz="2000" smtClean="0"/>
              <a:t>Full Outer Join</a:t>
            </a:r>
          </a:p>
          <a:p>
            <a:pPr eaLnBrk="1" hangingPunct="1"/>
            <a:r>
              <a:rPr lang="en-US" altLang="en-US" sz="2000" smtClean="0"/>
              <a:t>Aggregate Function       </a:t>
            </a:r>
            <a:r>
              <a:rPr kumimoji="1" lang="en-US" altLang="en-US" sz="2000" i="1" smtClean="0">
                <a:sym typeface="Symbol" panose="05050102010706020507" pitchFamily="18" charset="2"/>
              </a:rPr>
              <a:t>g</a:t>
            </a:r>
            <a:r>
              <a:rPr lang="en-US" altLang="en-US" sz="2000" smtClean="0"/>
              <a:t>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smtClean="0"/>
              <a:t>	</a:t>
            </a:r>
          </a:p>
        </p:txBody>
      </p:sp>
      <p:sp>
        <p:nvSpPr>
          <p:cNvPr id="97288" name="AutoShape 9"/>
          <p:cNvSpPr>
            <a:spLocks noChangeArrowheads="1"/>
          </p:cNvSpPr>
          <p:nvPr/>
        </p:nvSpPr>
        <p:spPr bwMode="auto">
          <a:xfrm>
            <a:off x="7924800" y="20574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  </a:t>
            </a:r>
          </a:p>
        </p:txBody>
      </p:sp>
      <p:grpSp>
        <p:nvGrpSpPr>
          <p:cNvPr id="97289" name="Group 10"/>
          <p:cNvGrpSpPr>
            <a:grpSpLocks/>
          </p:cNvGrpSpPr>
          <p:nvPr/>
        </p:nvGrpSpPr>
        <p:grpSpPr bwMode="auto">
          <a:xfrm>
            <a:off x="7391400" y="2133600"/>
            <a:ext cx="2743200" cy="838200"/>
            <a:chOff x="714" y="2156"/>
            <a:chExt cx="2668" cy="441"/>
          </a:xfrm>
        </p:grpSpPr>
        <p:sp>
          <p:nvSpPr>
            <p:cNvPr id="97303" name="Rectangle 11"/>
            <p:cNvSpPr>
              <a:spLocks noChangeArrowheads="1"/>
            </p:cNvSpPr>
            <p:nvPr/>
          </p:nvSpPr>
          <p:spPr bwMode="auto">
            <a:xfrm>
              <a:off x="714" y="2156"/>
              <a:ext cx="266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None/>
              </a:pPr>
              <a:endParaRPr kumimoji="1" lang="en-US" altLang="en-US" sz="2000" b="1">
                <a:latin typeface="Helvetica" panose="020B0604020202020204" pitchFamily="34" charset="0"/>
              </a:endParaRPr>
            </a:p>
          </p:txBody>
        </p:sp>
        <p:grpSp>
          <p:nvGrpSpPr>
            <p:cNvPr id="97304" name="Group 12"/>
            <p:cNvGrpSpPr>
              <a:grpSpLocks/>
            </p:cNvGrpSpPr>
            <p:nvPr/>
          </p:nvGrpSpPr>
          <p:grpSpPr bwMode="auto">
            <a:xfrm>
              <a:off x="1248" y="2465"/>
              <a:ext cx="261" cy="132"/>
              <a:chOff x="1225" y="2417"/>
              <a:chExt cx="261" cy="132"/>
            </a:xfrm>
          </p:grpSpPr>
          <p:sp>
            <p:nvSpPr>
              <p:cNvPr id="97305" name="AutoShape 13"/>
              <p:cNvSpPr>
                <a:spLocks noChangeArrowheads="1"/>
              </p:cNvSpPr>
              <p:nvPr/>
            </p:nvSpPr>
            <p:spPr bwMode="auto">
              <a:xfrm rot="16200000" flipV="1">
                <a:off x="1354" y="2417"/>
                <a:ext cx="132" cy="132"/>
              </a:xfrm>
              <a:prstGeom prst="flowChartCollat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97306" name="Line 14"/>
              <p:cNvSpPr>
                <a:spLocks noChangeShapeType="1"/>
              </p:cNvSpPr>
              <p:nvPr/>
            </p:nvSpPr>
            <p:spPr bwMode="auto">
              <a:xfrm flipH="1">
                <a:off x="1228" y="2419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97307" name="Line 15"/>
              <p:cNvSpPr>
                <a:spLocks noChangeShapeType="1"/>
              </p:cNvSpPr>
              <p:nvPr/>
            </p:nvSpPr>
            <p:spPr bwMode="auto">
              <a:xfrm flipH="1">
                <a:off x="1225" y="254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grpSp>
        <p:nvGrpSpPr>
          <p:cNvPr id="97290" name="Group 16"/>
          <p:cNvGrpSpPr>
            <a:grpSpLocks/>
          </p:cNvGrpSpPr>
          <p:nvPr/>
        </p:nvGrpSpPr>
        <p:grpSpPr bwMode="auto">
          <a:xfrm rot="10800000">
            <a:off x="6019800" y="3124200"/>
            <a:ext cx="2743200" cy="838200"/>
            <a:chOff x="714" y="2156"/>
            <a:chExt cx="2668" cy="441"/>
          </a:xfrm>
        </p:grpSpPr>
        <p:sp>
          <p:nvSpPr>
            <p:cNvPr id="97298" name="Rectangle 17"/>
            <p:cNvSpPr>
              <a:spLocks noChangeArrowheads="1"/>
            </p:cNvSpPr>
            <p:nvPr/>
          </p:nvSpPr>
          <p:spPr bwMode="auto">
            <a:xfrm>
              <a:off x="714" y="2156"/>
              <a:ext cx="266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35000"/>
                </a:spcBef>
                <a:buClr>
                  <a:schemeClr val="tx2"/>
                </a:buClr>
                <a:buSzPct val="90000"/>
                <a:buFont typeface="Monotype Sorts" pitchFamily="2" charset="2"/>
                <a:buNone/>
              </a:pPr>
              <a:endParaRPr kumimoji="1" lang="en-US" altLang="en-US" sz="2000" b="1">
                <a:latin typeface="Helvetica" panose="020B0604020202020204" pitchFamily="34" charset="0"/>
              </a:endParaRPr>
            </a:p>
          </p:txBody>
        </p:sp>
        <p:grpSp>
          <p:nvGrpSpPr>
            <p:cNvPr id="97299" name="Group 18"/>
            <p:cNvGrpSpPr>
              <a:grpSpLocks/>
            </p:cNvGrpSpPr>
            <p:nvPr/>
          </p:nvGrpSpPr>
          <p:grpSpPr bwMode="auto">
            <a:xfrm>
              <a:off x="1248" y="2465"/>
              <a:ext cx="261" cy="132"/>
              <a:chOff x="1225" y="2417"/>
              <a:chExt cx="261" cy="132"/>
            </a:xfrm>
          </p:grpSpPr>
          <p:sp>
            <p:nvSpPr>
              <p:cNvPr id="97300" name="AutoShape 19"/>
              <p:cNvSpPr>
                <a:spLocks noChangeArrowheads="1"/>
              </p:cNvSpPr>
              <p:nvPr/>
            </p:nvSpPr>
            <p:spPr bwMode="auto">
              <a:xfrm rot="16200000" flipV="1">
                <a:off x="1354" y="2417"/>
                <a:ext cx="132" cy="132"/>
              </a:xfrm>
              <a:prstGeom prst="flowChartCollat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1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97301" name="Line 20"/>
              <p:cNvSpPr>
                <a:spLocks noChangeShapeType="1"/>
              </p:cNvSpPr>
              <p:nvPr/>
            </p:nvSpPr>
            <p:spPr bwMode="auto">
              <a:xfrm flipH="1">
                <a:off x="1228" y="2419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97302" name="Line 21"/>
              <p:cNvSpPr>
                <a:spLocks noChangeShapeType="1"/>
              </p:cNvSpPr>
              <p:nvPr/>
            </p:nvSpPr>
            <p:spPr bwMode="auto">
              <a:xfrm flipH="1">
                <a:off x="1225" y="2542"/>
                <a:ext cx="1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grpSp>
        <p:nvGrpSpPr>
          <p:cNvPr id="97291" name="Group 41"/>
          <p:cNvGrpSpPr>
            <a:grpSpLocks/>
          </p:cNvGrpSpPr>
          <p:nvPr/>
        </p:nvGrpSpPr>
        <p:grpSpPr bwMode="auto">
          <a:xfrm>
            <a:off x="7918450" y="3505200"/>
            <a:ext cx="387350" cy="152400"/>
            <a:chOff x="1141" y="2444"/>
            <a:chExt cx="244" cy="96"/>
          </a:xfrm>
        </p:grpSpPr>
        <p:sp>
          <p:nvSpPr>
            <p:cNvPr id="97293" name="AutoShape 42"/>
            <p:cNvSpPr>
              <a:spLocks noChangeArrowheads="1"/>
            </p:cNvSpPr>
            <p:nvPr/>
          </p:nvSpPr>
          <p:spPr bwMode="auto">
            <a:xfrm rot="16200000" flipV="1">
              <a:off x="1213" y="2444"/>
              <a:ext cx="96" cy="96"/>
            </a:xfrm>
            <a:prstGeom prst="flowChartCollat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16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1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97294" name="Line 43"/>
            <p:cNvSpPr>
              <a:spLocks noChangeShapeType="1"/>
            </p:cNvSpPr>
            <p:nvPr/>
          </p:nvSpPr>
          <p:spPr bwMode="auto">
            <a:xfrm flipH="1">
              <a:off x="1144" y="2450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7295" name="Line 44"/>
            <p:cNvSpPr>
              <a:spLocks noChangeShapeType="1"/>
            </p:cNvSpPr>
            <p:nvPr/>
          </p:nvSpPr>
          <p:spPr bwMode="auto">
            <a:xfrm flipH="1">
              <a:off x="1141" y="2537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7296" name="Line 45"/>
            <p:cNvSpPr>
              <a:spLocks noChangeShapeType="1"/>
            </p:cNvSpPr>
            <p:nvPr/>
          </p:nvSpPr>
          <p:spPr bwMode="auto">
            <a:xfrm flipH="1">
              <a:off x="1321" y="2537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7297" name="Line 46"/>
            <p:cNvSpPr>
              <a:spLocks noChangeShapeType="1"/>
            </p:cNvSpPr>
            <p:nvPr/>
          </p:nvSpPr>
          <p:spPr bwMode="auto">
            <a:xfrm flipH="1">
              <a:off x="1309" y="2444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97292" name="AutoShape 4"/>
          <p:cNvSpPr>
            <a:spLocks noChangeArrowheads="1"/>
          </p:cNvSpPr>
          <p:nvPr/>
        </p:nvSpPr>
        <p:spPr bwMode="auto">
          <a:xfrm>
            <a:off x="7924800" y="2438400"/>
            <a:ext cx="304800" cy="152400"/>
          </a:xfrm>
          <a:prstGeom prst="flowChartCollat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382EA4-EB76-46EC-899A-1B38D51504FD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830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83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8C2B2B-0AEE-4677-B716-E985E73C3423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en-US" altLang="en-US" sz="1200" smtClean="0"/>
          </a:p>
        </p:txBody>
      </p:sp>
      <p:sp>
        <p:nvSpPr>
          <p:cNvPr id="983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- Example Queries …</a:t>
            </a:r>
          </a:p>
        </p:txBody>
      </p:sp>
      <p:sp>
        <p:nvSpPr>
          <p:cNvPr id="983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057400"/>
            <a:ext cx="8382000" cy="4322763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altLang="en-US" sz="2000" b="1" smtClean="0"/>
              <a:t>The following Relations are used for the coming Examples.</a:t>
            </a:r>
          </a:p>
          <a:p>
            <a:pPr eaLnBrk="1" hangingPunct="1">
              <a:lnSpc>
                <a:spcPct val="70000"/>
              </a:lnSpc>
              <a:buFont typeface="Wingdings" panose="05000000000000000000" pitchFamily="2" charset="2"/>
              <a:buNone/>
            </a:pPr>
            <a:endParaRPr lang="en-US" altLang="en-US" sz="2000" b="1" smtClean="0"/>
          </a:p>
          <a:p>
            <a:pPr lvl="1" eaLnBrk="1" hangingPunct="1">
              <a:lnSpc>
                <a:spcPct val="70000"/>
              </a:lnSpc>
            </a:pPr>
            <a:r>
              <a:rPr lang="en-US" altLang="en-US" smtClean="0"/>
              <a:t>branch (branch-name, branch-city, assets)</a:t>
            </a:r>
            <a:br>
              <a:rPr lang="en-US" altLang="en-US" smtClean="0"/>
            </a:br>
            <a:endParaRPr lang="en-US" altLang="en-US" smtClean="0"/>
          </a:p>
          <a:p>
            <a:pPr lvl="1" eaLnBrk="1" hangingPunct="1">
              <a:lnSpc>
                <a:spcPct val="70000"/>
              </a:lnSpc>
            </a:pPr>
            <a:r>
              <a:rPr lang="en-US" altLang="en-US" smtClean="0"/>
              <a:t>customer (customer-name, customer-street, customer-only)</a:t>
            </a:r>
          </a:p>
          <a:p>
            <a:pPr lvl="1" eaLnBrk="1" hangingPunct="1">
              <a:lnSpc>
                <a:spcPct val="70000"/>
              </a:lnSpc>
            </a:pPr>
            <a:endParaRPr lang="en-US" altLang="en-US" smtClean="0"/>
          </a:p>
          <a:p>
            <a:pPr lvl="1" eaLnBrk="1" hangingPunct="1">
              <a:lnSpc>
                <a:spcPct val="70000"/>
              </a:lnSpc>
            </a:pPr>
            <a:r>
              <a:rPr lang="en-US" altLang="en-US" smtClean="0"/>
              <a:t>account (account-number, branch-name, balance)</a:t>
            </a:r>
          </a:p>
          <a:p>
            <a:pPr lvl="1" eaLnBrk="1" hangingPunct="1">
              <a:lnSpc>
                <a:spcPct val="70000"/>
              </a:lnSpc>
            </a:pPr>
            <a:endParaRPr lang="en-US" altLang="en-US" smtClean="0"/>
          </a:p>
          <a:p>
            <a:pPr lvl="1" eaLnBrk="1" hangingPunct="1">
              <a:lnSpc>
                <a:spcPct val="70000"/>
              </a:lnSpc>
            </a:pPr>
            <a:r>
              <a:rPr lang="en-US" altLang="en-US" smtClean="0"/>
              <a:t>loan (loan-number, branch-name, amount)</a:t>
            </a:r>
          </a:p>
          <a:p>
            <a:pPr lvl="1" eaLnBrk="1" hangingPunct="1">
              <a:lnSpc>
                <a:spcPct val="70000"/>
              </a:lnSpc>
            </a:pPr>
            <a:endParaRPr lang="en-US" altLang="en-US" smtClean="0"/>
          </a:p>
          <a:p>
            <a:pPr lvl="1" eaLnBrk="1" hangingPunct="1">
              <a:lnSpc>
                <a:spcPct val="70000"/>
              </a:lnSpc>
            </a:pPr>
            <a:r>
              <a:rPr lang="en-US" altLang="en-US" smtClean="0"/>
              <a:t>depositor (customer-name, account-number)</a:t>
            </a:r>
          </a:p>
          <a:p>
            <a:pPr lvl="1" eaLnBrk="1" hangingPunct="1">
              <a:lnSpc>
                <a:spcPct val="70000"/>
              </a:lnSpc>
            </a:pPr>
            <a:endParaRPr lang="en-US" altLang="en-US" smtClean="0"/>
          </a:p>
          <a:p>
            <a:pPr lvl="1" eaLnBrk="1" hangingPunct="1">
              <a:lnSpc>
                <a:spcPct val="70000"/>
              </a:lnSpc>
            </a:pPr>
            <a:r>
              <a:rPr lang="en-US" altLang="en-US" smtClean="0"/>
              <a:t>borrower (customer-name, loan-number)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E3A5F79-F21F-442D-A94E-DDF82850828B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993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993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95691E-F574-4694-9455-8FD6C036290A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en-US" altLang="en-US" sz="1200" smtClean="0"/>
          </a:p>
        </p:txBody>
      </p:sp>
      <p:sp>
        <p:nvSpPr>
          <p:cNvPr id="993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Example Queries …</a:t>
            </a:r>
          </a:p>
        </p:txBody>
      </p:sp>
      <p:sp>
        <p:nvSpPr>
          <p:cNvPr id="993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184400"/>
            <a:ext cx="7912100" cy="55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Find all loans of over $1200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smtClean="0">
                <a:sym typeface="Symbol" panose="05050102010706020507" pitchFamily="18" charset="2"/>
              </a:rPr>
              <a:t>                       </a:t>
            </a:r>
            <a:endParaRPr lang="en-US" altLang="en-US" smtClean="0">
              <a:sym typeface="Symbol" panose="05050102010706020507" pitchFamily="18" charset="2"/>
            </a:endParaRPr>
          </a:p>
        </p:txBody>
      </p:sp>
      <p:sp>
        <p:nvSpPr>
          <p:cNvPr id="1329157" name="Text Box 5"/>
          <p:cNvSpPr txBox="1">
            <a:spLocks noChangeArrowheads="1"/>
          </p:cNvSpPr>
          <p:nvPr/>
        </p:nvSpPr>
        <p:spPr bwMode="auto">
          <a:xfrm>
            <a:off x="1828800" y="2849563"/>
            <a:ext cx="3255963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T = 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amount</a:t>
            </a:r>
            <a:r>
              <a:rPr kumimoji="1" lang="en-US" altLang="en-US" i="1" baseline="-25000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baseline="-25000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&gt; 1200</a:t>
            </a:r>
            <a:r>
              <a:rPr kumimoji="1" lang="en-US" altLang="en-US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loan</a:t>
            </a:r>
            <a:r>
              <a:rPr kumimoji="1" lang="en-US" altLang="en-US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)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hlink"/>
              </a:solidFill>
              <a:latin typeface="Helvetica" panose="020B0604020202020204" pitchFamily="34" charset="0"/>
            </a:endParaRPr>
          </a:p>
        </p:txBody>
      </p:sp>
      <p:sp>
        <p:nvSpPr>
          <p:cNvPr id="1329158" name="Text Box 6"/>
          <p:cNvSpPr txBox="1">
            <a:spLocks noChangeArrowheads="1"/>
          </p:cNvSpPr>
          <p:nvPr/>
        </p:nvSpPr>
        <p:spPr bwMode="auto">
          <a:xfrm>
            <a:off x="1755775" y="4937125"/>
            <a:ext cx="5181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T = 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loan-number</a:t>
            </a:r>
            <a:r>
              <a:rPr kumimoji="1" lang="en-US" altLang="en-US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 (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amount</a:t>
            </a:r>
            <a:r>
              <a:rPr kumimoji="1" lang="en-US" altLang="en-US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 baseline="-25000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&gt; 1200</a:t>
            </a:r>
            <a:r>
              <a:rPr kumimoji="1" lang="en-US" altLang="en-US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loan</a:t>
            </a:r>
            <a:r>
              <a:rPr kumimoji="1" lang="en-US" altLang="en-US">
                <a:solidFill>
                  <a:schemeClr val="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))</a:t>
            </a:r>
            <a:endParaRPr kumimoji="1" lang="en-US" altLang="en-US">
              <a:solidFill>
                <a:schemeClr val="hlink"/>
              </a:solidFill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hlink"/>
              </a:solidFill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Helvetica" panose="020B0604020202020204" pitchFamily="34" charset="0"/>
            </a:endParaRPr>
          </a:p>
        </p:txBody>
      </p:sp>
      <p:sp>
        <p:nvSpPr>
          <p:cNvPr id="99337" name="Rectangle 7"/>
          <p:cNvSpPr>
            <a:spLocks noChangeArrowheads="1"/>
          </p:cNvSpPr>
          <p:nvPr/>
        </p:nvSpPr>
        <p:spPr bwMode="auto">
          <a:xfrm>
            <a:off x="381000" y="3937000"/>
            <a:ext cx="8534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en-US" sz="2000"/>
              <a:t>Find </a:t>
            </a:r>
            <a:r>
              <a:rPr kumimoji="1" lang="en-US" altLang="en-US" sz="2000">
                <a:sym typeface="Symbol" panose="05050102010706020507" pitchFamily="18" charset="2"/>
              </a:rPr>
              <a:t>the loan number for each loan of an amount greater than $1200 </a:t>
            </a:r>
            <a:endParaRPr lang="en-US" altLang="en-US" sz="20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sym typeface="Symbol" panose="05050102010706020507" pitchFamily="18" charset="2"/>
              </a:rPr>
              <a:t>            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9157" grpId="0" autoUpdateAnimBg="0"/>
      <p:bldP spid="1329158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24AFF3-A97F-4F19-B8FA-D744CB5C0CA7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035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035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C24590-A6E6-41E5-8562-96EE80C09564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en-US" altLang="en-US" sz="1200" smtClean="0"/>
          </a:p>
        </p:txBody>
      </p:sp>
      <p:sp>
        <p:nvSpPr>
          <p:cNvPr id="1003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Example Queries …</a:t>
            </a:r>
          </a:p>
        </p:txBody>
      </p:sp>
      <p:sp>
        <p:nvSpPr>
          <p:cNvPr id="1003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8458200" cy="4572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Find the names of all customers who have a loan, an account, or both, from the bank</a:t>
            </a:r>
          </a:p>
        </p:txBody>
      </p:sp>
      <p:sp>
        <p:nvSpPr>
          <p:cNvPr id="1330181" name="Text Box 5"/>
          <p:cNvSpPr txBox="1">
            <a:spLocks noChangeArrowheads="1"/>
          </p:cNvSpPr>
          <p:nvPr/>
        </p:nvSpPr>
        <p:spPr bwMode="auto">
          <a:xfrm>
            <a:off x="1014413" y="2995613"/>
            <a:ext cx="74993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algn="ctr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 = </a:t>
            </a:r>
            <a:r>
              <a:rPr kumimoji="1" lang="en-US" altLang="en-US" sz="24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  </a:t>
            </a:r>
            <a:r>
              <a:rPr kumimoji="1" lang="en-US" altLang="en-US" sz="24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depositor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Comic Sans MS" panose="030F0702030302020204" pitchFamily="66" charset="0"/>
            </a:endParaRPr>
          </a:p>
        </p:txBody>
      </p:sp>
      <p:sp>
        <p:nvSpPr>
          <p:cNvPr id="1330182" name="Text Box 6"/>
          <p:cNvSpPr txBox="1">
            <a:spLocks noChangeArrowheads="1"/>
          </p:cNvSpPr>
          <p:nvPr/>
        </p:nvSpPr>
        <p:spPr bwMode="auto">
          <a:xfrm>
            <a:off x="1001713" y="5006975"/>
            <a:ext cx="7499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 algn="ctr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 = </a:t>
            </a:r>
            <a:r>
              <a:rPr kumimoji="1" lang="en-US" altLang="en-US" sz="24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  </a:t>
            </a:r>
            <a:r>
              <a:rPr kumimoji="1" lang="en-US" altLang="en-US" sz="24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depositor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  <a:endParaRPr kumimoji="1" lang="en-US" altLang="en-US">
              <a:solidFill>
                <a:schemeClr val="hlink"/>
              </a:solidFill>
              <a:latin typeface="Comic Sans MS" panose="030F0702030302020204" pitchFamily="66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hlink"/>
              </a:solidFill>
              <a:latin typeface="Helvetica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hlink"/>
              </a:solidFill>
              <a:latin typeface="Helvetica" panose="020B0604020202020204" pitchFamily="34" charset="0"/>
            </a:endParaRPr>
          </a:p>
        </p:txBody>
      </p:sp>
      <p:sp>
        <p:nvSpPr>
          <p:cNvPr id="100361" name="Rectangle 7"/>
          <p:cNvSpPr>
            <a:spLocks noChangeArrowheads="1"/>
          </p:cNvSpPr>
          <p:nvPr/>
        </p:nvSpPr>
        <p:spPr bwMode="auto">
          <a:xfrm>
            <a:off x="533400" y="39624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2000"/>
              <a:t>Find the names of all customers who have a loan and an account at bank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0181" grpId="0" autoUpdateAnimBg="0"/>
      <p:bldP spid="1330182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767EB25-BEC1-4C39-AA19-B766D514B2B7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137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138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8050B1-24E0-4096-A089-83FFAB925488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en-US" altLang="en-US" sz="1200" smtClean="0"/>
          </a:p>
        </p:txBody>
      </p:sp>
      <p:sp>
        <p:nvSpPr>
          <p:cNvPr id="1013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Example Queries …</a:t>
            </a:r>
          </a:p>
        </p:txBody>
      </p:sp>
      <p:sp>
        <p:nvSpPr>
          <p:cNvPr id="1013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1800225"/>
            <a:ext cx="8561388" cy="485775"/>
          </a:xfrm>
        </p:spPr>
        <p:txBody>
          <a:bodyPr/>
          <a:lstStyle/>
          <a:p>
            <a:pPr eaLnBrk="1" hangingPunct="1"/>
            <a:r>
              <a:rPr lang="en-US" altLang="en-US" sz="1800" smtClean="0"/>
              <a:t>Find the names of all customers who have a loan at the ISB branch.</a:t>
            </a:r>
          </a:p>
        </p:txBody>
      </p:sp>
      <p:sp>
        <p:nvSpPr>
          <p:cNvPr id="1331205" name="Text Box 5"/>
          <p:cNvSpPr txBox="1">
            <a:spLocks noChangeArrowheads="1"/>
          </p:cNvSpPr>
          <p:nvPr/>
        </p:nvSpPr>
        <p:spPr bwMode="auto">
          <a:xfrm>
            <a:off x="750888" y="4495800"/>
            <a:ext cx="8469312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 = 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kumimoji="1" lang="en-US" altLang="en-US" sz="28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branch-name = “ISB”</a:t>
            </a:r>
            <a:endParaRPr kumimoji="1" lang="en-US" altLang="en-US" sz="2800">
              <a:solidFill>
                <a:schemeClr val="hlink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(</a:t>
            </a:r>
            <a:r>
              <a:rPr kumimoji="1" lang="en-US" altLang="en-US" sz="28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borrower.loan-number = loan.loan-number</a:t>
            </a: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 * loan</a:t>
            </a: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)))  –           </a:t>
            </a:r>
            <a:b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</a:b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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depositor</a:t>
            </a:r>
            <a:r>
              <a:rPr kumimoji="1" lang="en-US" altLang="en-US" sz="2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</a:t>
            </a:r>
            <a:endParaRPr lang="en-US" altLang="en-US" sz="1800">
              <a:solidFill>
                <a:schemeClr val="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1331206" name="Text Box 6"/>
          <p:cNvSpPr txBox="1">
            <a:spLocks noChangeArrowheads="1"/>
          </p:cNvSpPr>
          <p:nvPr/>
        </p:nvSpPr>
        <p:spPr bwMode="auto">
          <a:xfrm>
            <a:off x="914400" y="2371725"/>
            <a:ext cx="785495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 = 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</a:t>
            </a:r>
            <a:r>
              <a:rPr kumimoji="1" lang="en-US" altLang="en-US" sz="28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branch-name=“ISB</a:t>
            </a:r>
            <a:r>
              <a:rPr kumimoji="1" lang="en-US" altLang="en-US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”</a:t>
            </a:r>
            <a:endParaRPr kumimoji="1" lang="en-US" altLang="en-US">
              <a:solidFill>
                <a:schemeClr val="hlink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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borrower.loan-number = loan.loan-number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 * loan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)))</a:t>
            </a:r>
          </a:p>
        </p:txBody>
      </p:sp>
      <p:sp>
        <p:nvSpPr>
          <p:cNvPr id="101385" name="Rectangle 7"/>
          <p:cNvSpPr>
            <a:spLocks noChangeArrowheads="1"/>
          </p:cNvSpPr>
          <p:nvPr/>
        </p:nvSpPr>
        <p:spPr bwMode="auto">
          <a:xfrm>
            <a:off x="533400" y="3705225"/>
            <a:ext cx="857408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/>
              <a:t>Find the </a:t>
            </a:r>
            <a:r>
              <a:rPr kumimoji="1" lang="en-US" altLang="en-US" sz="1800">
                <a:sym typeface="Symbol" panose="05050102010706020507" pitchFamily="18" charset="2"/>
              </a:rPr>
              <a:t>of all customers who have a loan at the ISB branch but do not have an account at any branch of the bank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05" grpId="0" autoUpdateAnimBg="0"/>
      <p:bldP spid="1331206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CCBD87-2F8A-44E0-B094-CCDB771E04FD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240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240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DC6283-ED29-48DE-A738-36D22A200D94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en-US" altLang="en-US" sz="1200" smtClean="0"/>
          </a:p>
        </p:txBody>
      </p:sp>
      <p:sp>
        <p:nvSpPr>
          <p:cNvPr id="1024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Example Queries …</a:t>
            </a:r>
          </a:p>
        </p:txBody>
      </p:sp>
      <p:sp>
        <p:nvSpPr>
          <p:cNvPr id="1024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100" y="1816100"/>
            <a:ext cx="8775700" cy="4699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smtClean="0"/>
              <a:t>Find the names of all customers who have a loan at the ISB  branch.</a:t>
            </a:r>
          </a:p>
        </p:txBody>
      </p:sp>
      <p:sp>
        <p:nvSpPr>
          <p:cNvPr id="1332228" name="Text Box 4"/>
          <p:cNvSpPr txBox="1">
            <a:spLocks noChangeArrowheads="1"/>
          </p:cNvSpPr>
          <p:nvPr/>
        </p:nvSpPr>
        <p:spPr bwMode="auto">
          <a:xfrm>
            <a:off x="76200" y="4343400"/>
            <a:ext cx="8382000" cy="153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 </a:t>
            </a:r>
            <a:r>
              <a:rPr kumimoji="1" lang="en-US" altLang="en-US">
                <a:solidFill>
                  <a:schemeClr val="folHlink"/>
                </a:solidFill>
                <a:latin typeface="Helvetica" panose="020B0604020202020204" pitchFamily="34" charset="0"/>
                <a:sym typeface="Symbol" panose="05050102010706020507" pitchFamily="18" charset="2"/>
              </a:rPr>
              <a:t>	Query 2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>
                <a:latin typeface="Helvetica" panose="020B0604020202020204" pitchFamily="34" charset="0"/>
                <a:sym typeface="Symbol" panose="05050102010706020507" pitchFamily="18" charset="2"/>
              </a:rPr>
              <a:t>    T = </a:t>
            </a:r>
            <a:r>
              <a:rPr kumimoji="1" lang="en-US" altLang="en-US" sz="24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kumimoji="1" lang="en-US" altLang="en-US" sz="2800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 sz="24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(</a:t>
            </a:r>
            <a:r>
              <a:rPr kumimoji="1" lang="en-US" altLang="en-US" sz="2800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loan.loan-number = borrower.loan-number</a:t>
            </a:r>
            <a:r>
              <a:rPr kumimoji="1" lang="en-US" altLang="en-US" sz="24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br>
              <a:rPr kumimoji="1" lang="en-US" altLang="en-US" sz="24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</a:br>
            <a:r>
              <a:rPr kumimoji="1" lang="en-US" altLang="en-US" sz="24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         (</a:t>
            </a:r>
            <a:r>
              <a:rPr kumimoji="1" lang="en-US" altLang="en-US" sz="2800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branch-name = “ISB”</a:t>
            </a:r>
            <a:r>
              <a:rPr kumimoji="1" lang="en-US" altLang="en-US" sz="24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(loan)) *  borrower))</a:t>
            </a:r>
            <a:endParaRPr kumimoji="1" lang="en-US" altLang="en-US" sz="2400">
              <a:solidFill>
                <a:schemeClr val="hlink"/>
              </a:solidFill>
              <a:latin typeface="Comic Sans MS" panose="030F0702030302020204" pitchFamily="66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hlink"/>
              </a:solidFill>
              <a:latin typeface="Comic Sans MS" panose="030F0702030302020204" pitchFamily="66" charset="0"/>
            </a:endParaRPr>
          </a:p>
        </p:txBody>
      </p:sp>
      <p:sp>
        <p:nvSpPr>
          <p:cNvPr id="1332229" name="Text Box 5"/>
          <p:cNvSpPr txBox="1">
            <a:spLocks noChangeArrowheads="1"/>
          </p:cNvSpPr>
          <p:nvPr/>
        </p:nvSpPr>
        <p:spPr bwMode="auto">
          <a:xfrm>
            <a:off x="603250" y="2514600"/>
            <a:ext cx="8077200" cy="143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rgbClr val="CC6600"/>
              </a:buClr>
              <a:buSzPct val="105000"/>
              <a:buFont typeface="Symbol" panose="05050102010706020507" pitchFamily="18" charset="2"/>
              <a:buChar char="-"/>
            </a:pPr>
            <a:r>
              <a:rPr kumimoji="1" lang="en-US" altLang="en-US" sz="1800">
                <a:latin typeface="Helvetica" panose="020B0604020202020204" pitchFamily="34" charset="0"/>
              </a:rPr>
              <a:t>     </a:t>
            </a:r>
            <a:r>
              <a:rPr kumimoji="1" lang="en-US" altLang="en-US" sz="1800">
                <a:solidFill>
                  <a:schemeClr val="folHlink"/>
                </a:solidFill>
                <a:latin typeface="Helvetica" panose="020B0604020202020204" pitchFamily="34" charset="0"/>
              </a:rPr>
              <a:t>Query 1</a:t>
            </a:r>
            <a:br>
              <a:rPr kumimoji="1" lang="en-US" altLang="en-US" sz="1800">
                <a:solidFill>
                  <a:schemeClr val="folHlink"/>
                </a:solidFill>
                <a:latin typeface="Helvetica" panose="020B0604020202020204" pitchFamily="34" charset="0"/>
              </a:rPr>
            </a:br>
            <a:r>
              <a:rPr kumimoji="1" lang="en-US" altLang="en-US" sz="1800">
                <a:latin typeface="Helvetica" panose="020B0604020202020204" pitchFamily="34" charset="0"/>
              </a:rPr>
              <a:t>  T = 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</a:t>
            </a:r>
            <a:r>
              <a:rPr kumimoji="1" lang="en-US" altLang="en-US" sz="2800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customer-name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(</a:t>
            </a:r>
            <a:r>
              <a:rPr kumimoji="1" lang="en-US" altLang="en-US" sz="2800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branch-name = “ISB”</a:t>
            </a:r>
            <a:r>
              <a:rPr kumimoji="1" lang="en-US" altLang="en-US" sz="28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b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</a:b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</a:t>
            </a:r>
            <a:r>
              <a:rPr kumimoji="1" lang="en-US" altLang="en-US" sz="2800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borrower.loan-number = loan.loan-number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(borrower * loan)))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chemeClr val="hlink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228" grpId="0" autoUpdateAnimBg="0"/>
      <p:bldP spid="1332229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705615-D5E7-4DE6-B38C-F719C4C2DC8E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342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34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25AB78-D26A-4A02-95DD-EC980D0F046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en-US" altLang="en-US" sz="1200" smtClean="0"/>
          </a:p>
        </p:txBody>
      </p:sp>
      <p:sp>
        <p:nvSpPr>
          <p:cNvPr id="1034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Example Queries …</a:t>
            </a:r>
          </a:p>
        </p:txBody>
      </p:sp>
      <p:sp>
        <p:nvSpPr>
          <p:cNvPr id="1034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209800"/>
            <a:ext cx="8077200" cy="457200"/>
          </a:xfrm>
        </p:spPr>
        <p:txBody>
          <a:bodyPr/>
          <a:lstStyle/>
          <a:p>
            <a:pPr eaLnBrk="1" hangingPunct="1"/>
            <a:r>
              <a:rPr lang="en-US" altLang="en-US" sz="2000" smtClean="0"/>
              <a:t>Find the largest account balance. Rename </a:t>
            </a:r>
            <a:r>
              <a:rPr lang="en-US" altLang="en-US" sz="2000" i="1" smtClean="0"/>
              <a:t>account </a:t>
            </a:r>
            <a:r>
              <a:rPr lang="en-US" altLang="en-US" sz="2000" smtClean="0"/>
              <a:t>relation as </a:t>
            </a:r>
            <a:r>
              <a:rPr lang="en-US" altLang="en-US" sz="2000" i="1" smtClean="0"/>
              <a:t>d</a:t>
            </a:r>
            <a:r>
              <a:rPr lang="en-US" altLang="en-US" sz="2000" smtClean="0">
                <a:sym typeface="Symbol" panose="05050102010706020507" pitchFamily="18" charset="2"/>
              </a:rPr>
              <a:t>     </a:t>
            </a:r>
            <a:endParaRPr lang="en-US" altLang="en-US" sz="2000" smtClean="0"/>
          </a:p>
        </p:txBody>
      </p:sp>
      <p:sp>
        <p:nvSpPr>
          <p:cNvPr id="1333252" name="Text Box 4"/>
          <p:cNvSpPr txBox="1">
            <a:spLocks noChangeArrowheads="1"/>
          </p:cNvSpPr>
          <p:nvPr/>
        </p:nvSpPr>
        <p:spPr bwMode="auto">
          <a:xfrm>
            <a:off x="838200" y="3200400"/>
            <a:ext cx="7848600" cy="101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T = 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balance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(account) 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- 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account.balance</a:t>
            </a:r>
            <a:endParaRPr kumimoji="1" lang="en-US" altLang="en-US" sz="2800">
              <a:solidFill>
                <a:schemeClr val="hlink"/>
              </a:solidFill>
              <a:latin typeface="Comic Sans MS" panose="030F0702030302020204" pitchFamily="66" charset="0"/>
              <a:sym typeface="Symbol" panose="05050102010706020507" pitchFamily="18" charset="2"/>
            </a:endParaRPr>
          </a:p>
          <a:p>
            <a: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   (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account.balance &lt; d.balance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(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account X </a:t>
            </a:r>
            <a:r>
              <a:rPr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</a:t>
            </a:r>
            <a:r>
              <a:rPr kumimoji="1" lang="en-US" altLang="en-US" sz="2800" i="1" baseline="-25000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d</a:t>
            </a:r>
            <a:r>
              <a:rPr kumimoji="1" lang="en-US" altLang="en-US" i="1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 (account</a:t>
            </a:r>
            <a:r>
              <a:rPr kumimoji="1" lang="en-US" altLang="en-US">
                <a:solidFill>
                  <a:schemeClr val="hlink"/>
                </a:solidFill>
                <a:latin typeface="Comic Sans MS" panose="030F0702030302020204" pitchFamily="66" charset="0"/>
                <a:sym typeface="Symbol" panose="05050102010706020507" pitchFamily="18" charset="2"/>
              </a:rPr>
              <a:t>)))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252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F8A74C-4D08-4BA2-A0F3-813CAD690136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445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44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067F99-6EE1-4335-8BAE-63C9D85E8EBD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en-US" altLang="en-US" sz="1200" smtClean="0"/>
          </a:p>
        </p:txBody>
      </p:sp>
      <p:sp>
        <p:nvSpPr>
          <p:cNvPr id="1044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Example Queries …</a:t>
            </a:r>
          </a:p>
        </p:txBody>
      </p:sp>
      <p:sp>
        <p:nvSpPr>
          <p:cNvPr id="10445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47838"/>
            <a:ext cx="8077200" cy="690562"/>
          </a:xfrm>
        </p:spPr>
        <p:txBody>
          <a:bodyPr/>
          <a:lstStyle/>
          <a:p>
            <a:pPr eaLnBrk="1" hangingPunct="1"/>
            <a:r>
              <a:rPr lang="en-US" altLang="en-US" sz="1600" smtClean="0"/>
              <a:t>Find all customers who have an account from at least the “ISB” and the “LHR” branches.</a:t>
            </a:r>
          </a:p>
        </p:txBody>
      </p:sp>
      <p:sp>
        <p:nvSpPr>
          <p:cNvPr id="1337358" name="Text Box 14"/>
          <p:cNvSpPr txBox="1">
            <a:spLocks noChangeArrowheads="1"/>
          </p:cNvSpPr>
          <p:nvPr/>
        </p:nvSpPr>
        <p:spPr bwMode="auto">
          <a:xfrm>
            <a:off x="609600" y="4711700"/>
            <a:ext cx="6672263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lnSpc>
                <a:spcPct val="120000"/>
              </a:lnSpc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 b="1" u="sng">
                <a:solidFill>
                  <a:schemeClr val="folHlink"/>
                </a:solidFill>
                <a:sym typeface="Symbol" panose="05050102010706020507" pitchFamily="18" charset="2"/>
              </a:rPr>
              <a:t>Query 2</a:t>
            </a:r>
          </a:p>
          <a:p>
            <a:pPr lvl="1">
              <a:lnSpc>
                <a:spcPct val="120000"/>
              </a:lnSpc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 sz="2400">
                <a:solidFill>
                  <a:schemeClr val="hlink"/>
                </a:solidFill>
                <a:sym typeface="Symbol" panose="05050102010706020507" pitchFamily="18" charset="2"/>
              </a:rPr>
              <a:t>T = </a:t>
            </a:r>
            <a:r>
              <a:rPr kumimoji="1" lang="en-US" altLang="en-US" sz="1600" i="1">
                <a:solidFill>
                  <a:schemeClr val="hlink"/>
                </a:solidFill>
              </a:rPr>
              <a:t>customer-name, branch-name</a:t>
            </a:r>
            <a:r>
              <a:rPr kumimoji="1" lang="en-US" altLang="en-US">
                <a:solidFill>
                  <a:schemeClr val="hlink"/>
                </a:solidFill>
              </a:rPr>
              <a:t> (</a:t>
            </a:r>
            <a:r>
              <a:rPr kumimoji="1"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depositor</a:t>
            </a:r>
            <a:r>
              <a:rPr kumimoji="1"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 * </a:t>
            </a:r>
            <a:r>
              <a:rPr kumimoji="1"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account</a:t>
            </a:r>
            <a:r>
              <a:rPr kumimoji="1"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br>
              <a:rPr kumimoji="1" lang="en-US" altLang="en-US">
                <a:solidFill>
                  <a:schemeClr val="hlink"/>
                </a:solidFill>
                <a:sym typeface="Symbol" panose="05050102010706020507" pitchFamily="18" charset="2"/>
              </a:rPr>
            </a:b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</a:t>
            </a:r>
            <a:r>
              <a:rPr kumimoji="1"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en-US" sz="2800" i="1">
                <a:solidFill>
                  <a:schemeClr val="hlink"/>
                </a:solidFill>
                <a:sym typeface="Symbol" panose="05050102010706020507" pitchFamily="18" charset="2"/>
              </a:rPr>
              <a:t></a:t>
            </a:r>
            <a:r>
              <a:rPr kumimoji="1" lang="en-US" altLang="en-US" sz="1600" i="1">
                <a:solidFill>
                  <a:schemeClr val="hlink"/>
                </a:solidFill>
                <a:sym typeface="Symbol" panose="05050102010706020507" pitchFamily="18" charset="2"/>
              </a:rPr>
              <a:t>temp</a:t>
            </a:r>
            <a:r>
              <a:rPr kumimoji="1" lang="en-US" altLang="en-US" i="1">
                <a:solidFill>
                  <a:schemeClr val="hlink"/>
                </a:solidFill>
                <a:sym typeface="Symbol" panose="05050102010706020507" pitchFamily="18" charset="2"/>
              </a:rPr>
              <a:t>(branch-name) ({(“ISB”), (“LHR”)})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/>
          </a:p>
        </p:txBody>
      </p:sp>
      <p:sp>
        <p:nvSpPr>
          <p:cNvPr id="1337360" name="Text Box 16"/>
          <p:cNvSpPr txBox="1">
            <a:spLocks noChangeArrowheads="1"/>
          </p:cNvSpPr>
          <p:nvPr/>
        </p:nvSpPr>
        <p:spPr bwMode="auto">
          <a:xfrm>
            <a:off x="593725" y="2514600"/>
            <a:ext cx="7437438" cy="211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1">
              <a:lnSpc>
                <a:spcPct val="120000"/>
              </a:lnSpc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 b="1" u="sng">
                <a:solidFill>
                  <a:schemeClr val="folHlink"/>
                </a:solidFill>
                <a:sym typeface="Symbol" panose="05050102010706020507" pitchFamily="18" charset="2"/>
              </a:rPr>
              <a:t>Query 1</a:t>
            </a:r>
          </a:p>
          <a:p>
            <a:pPr lvl="1">
              <a:lnSpc>
                <a:spcPct val="120000"/>
              </a:lnSpc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endParaRPr kumimoji="1" lang="en-US" altLang="en-US" sz="800" b="1" u="sng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>
                <a:solidFill>
                  <a:schemeClr val="hlink"/>
                </a:solidFill>
                <a:sym typeface="Symbol" panose="05050102010706020507" pitchFamily="18" charset="2"/>
              </a:rPr>
              <a:t>     T= 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</a:t>
            </a:r>
            <a:r>
              <a:rPr kumimoji="1" lang="en-US" altLang="en-US" sz="1600">
                <a:solidFill>
                  <a:schemeClr val="hlink"/>
                </a:solidFill>
              </a:rPr>
              <a:t>CN</a:t>
            </a:r>
            <a:r>
              <a:rPr kumimoji="1" lang="en-US" altLang="en-US" sz="2000">
                <a:solidFill>
                  <a:schemeClr val="hlink"/>
                </a:solidFill>
              </a:rPr>
              <a:t>(</a:t>
            </a: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</a:t>
            </a:r>
            <a:r>
              <a:rPr kumimoji="1" lang="en-US" altLang="en-US" sz="1600" i="1">
                <a:solidFill>
                  <a:schemeClr val="hlink"/>
                </a:solidFill>
                <a:sym typeface="Symbol" panose="05050102010706020507" pitchFamily="18" charset="2"/>
              </a:rPr>
              <a:t>BN</a:t>
            </a:r>
            <a:r>
              <a:rPr kumimoji="1" lang="en-US" altLang="en-US" sz="1600">
                <a:solidFill>
                  <a:schemeClr val="hlink"/>
                </a:solidFill>
                <a:sym typeface="Symbol" panose="05050102010706020507" pitchFamily="18" charset="2"/>
              </a:rPr>
              <a:t>=“ISB”(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depositor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    * 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account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)) </a:t>
            </a: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</a:t>
            </a: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        </a:t>
            </a:r>
            <a:r>
              <a:rPr kumimoji="1" lang="en-US" altLang="en-US" sz="1600" i="1">
                <a:solidFill>
                  <a:schemeClr val="hlink"/>
                </a:solidFill>
              </a:rPr>
              <a:t>CN</a:t>
            </a:r>
            <a:r>
              <a:rPr kumimoji="1" lang="en-US" altLang="en-US" sz="2000">
                <a:solidFill>
                  <a:schemeClr val="hlink"/>
                </a:solidFill>
              </a:rPr>
              <a:t>(</a:t>
            </a: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</a:t>
            </a:r>
            <a:r>
              <a:rPr kumimoji="1" lang="en-US" altLang="en-US" sz="1600" i="1">
                <a:solidFill>
                  <a:schemeClr val="hlink"/>
                </a:solidFill>
                <a:sym typeface="Symbol" panose="05050102010706020507" pitchFamily="18" charset="2"/>
              </a:rPr>
              <a:t>BN</a:t>
            </a:r>
            <a:r>
              <a:rPr kumimoji="1" lang="en-US" altLang="en-US" sz="1600">
                <a:solidFill>
                  <a:schemeClr val="hlink"/>
                </a:solidFill>
                <a:sym typeface="Symbol" panose="05050102010706020507" pitchFamily="18" charset="2"/>
              </a:rPr>
              <a:t>=“LHR”(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depositor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  * 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account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))</a:t>
            </a:r>
            <a:endParaRPr lang="en-US" altLang="en-US" sz="2000">
              <a:solidFill>
                <a:schemeClr val="hlink"/>
              </a:solidFill>
            </a:endParaRPr>
          </a:p>
          <a:p>
            <a:pPr lvl="1">
              <a:lnSpc>
                <a:spcPct val="120000"/>
              </a:lnSpc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endParaRPr kumimoji="1" lang="en-US" altLang="en-US" sz="800">
              <a:solidFill>
                <a:schemeClr val="folHlink"/>
              </a:solidFill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ct val="35000"/>
              </a:spcBef>
              <a:buClr>
                <a:srgbClr val="CC6600"/>
              </a:buClr>
              <a:buSzPct val="105000"/>
              <a:buFont typeface="Monotype Sorts" pitchFamily="2" charset="2"/>
              <a:buNone/>
            </a:pPr>
            <a:r>
              <a:rPr kumimoji="1" lang="en-US" altLang="en-US" sz="1800"/>
              <a:t>where </a:t>
            </a:r>
            <a:r>
              <a:rPr kumimoji="1" lang="en-US" altLang="en-US" sz="1800" b="1" i="1"/>
              <a:t>CN</a:t>
            </a:r>
            <a:r>
              <a:rPr kumimoji="1" lang="en-US" altLang="en-US" sz="1800"/>
              <a:t> denotes customer-name and </a:t>
            </a:r>
            <a:r>
              <a:rPr kumimoji="1" lang="en-US" altLang="en-US" sz="1800" b="1" i="1"/>
              <a:t>BN</a:t>
            </a:r>
            <a:r>
              <a:rPr kumimoji="1" lang="en-US" altLang="en-US" sz="1800"/>
              <a:t> denotes  </a:t>
            </a:r>
            <a:r>
              <a:rPr kumimoji="1" lang="en-US" altLang="en-US" sz="1800" i="1"/>
              <a:t>branch-name</a:t>
            </a:r>
            <a:r>
              <a:rPr kumimoji="1" lang="en-US" altLang="en-US" sz="180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358" grpId="0"/>
      <p:bldP spid="1337360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Date Placeholder 3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EA33CE-5EF5-4179-8CA2-76DDA50E6072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547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54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E6FAC1-0D72-4980-8484-AB78924F05AC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en-US" altLang="en-US" sz="1200" smtClean="0"/>
          </a:p>
        </p:txBody>
      </p:sp>
      <p:sp>
        <p:nvSpPr>
          <p:cNvPr id="105477" name="Rectangle 2"/>
          <p:cNvSpPr>
            <a:spLocks noChangeArrowheads="1"/>
          </p:cNvSpPr>
          <p:nvPr>
            <p:ph type="body" idx="1"/>
          </p:nvPr>
        </p:nvSpPr>
        <p:spPr>
          <a:xfrm>
            <a:off x="635000" y="2120900"/>
            <a:ext cx="7848600" cy="10033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mtClean="0"/>
              <a:t>Find all customers who have an account at all branches located in ISB city.</a:t>
            </a:r>
          </a:p>
        </p:txBody>
      </p:sp>
      <p:sp>
        <p:nvSpPr>
          <p:cNvPr id="10547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… - Example Queries</a:t>
            </a:r>
          </a:p>
        </p:txBody>
      </p:sp>
      <p:sp>
        <p:nvSpPr>
          <p:cNvPr id="1335303" name="Text Box 7"/>
          <p:cNvSpPr txBox="1">
            <a:spLocks noChangeArrowheads="1"/>
          </p:cNvSpPr>
          <p:nvPr/>
        </p:nvSpPr>
        <p:spPr bwMode="auto">
          <a:xfrm>
            <a:off x="1482725" y="3606800"/>
            <a:ext cx="6434138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2" charset="2"/>
              <a:buNone/>
            </a:pP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T = </a:t>
            </a:r>
            <a:r>
              <a:rPr kumimoji="1" lang="en-US" altLang="en-US" sz="1600" i="1">
                <a:solidFill>
                  <a:schemeClr val="hlink"/>
                </a:solidFill>
              </a:rPr>
              <a:t>customer-name, branch-name</a:t>
            </a:r>
            <a:r>
              <a:rPr kumimoji="1" lang="en-US" altLang="en-US" sz="2000">
                <a:solidFill>
                  <a:schemeClr val="hlink"/>
                </a:solidFill>
              </a:rPr>
              <a:t> (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depositor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  * 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account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)</a:t>
            </a:r>
            <a:b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</a:b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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</a:t>
            </a:r>
            <a:r>
              <a:rPr kumimoji="1" lang="en-US" altLang="en-US" sz="1600" i="1">
                <a:solidFill>
                  <a:schemeClr val="hlink"/>
                </a:solidFill>
                <a:sym typeface="Symbol" panose="05050102010706020507" pitchFamily="18" charset="2"/>
              </a:rPr>
              <a:t>branch-name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(</a:t>
            </a:r>
            <a:r>
              <a:rPr kumimoji="1" lang="en-US" altLang="en-US" sz="2800">
                <a:solidFill>
                  <a:schemeClr val="hlink"/>
                </a:solidFill>
                <a:sym typeface="Symbol" panose="05050102010706020507" pitchFamily="18" charset="2"/>
              </a:rPr>
              <a:t></a:t>
            </a:r>
            <a:r>
              <a:rPr kumimoji="1" lang="en-US" altLang="en-US" sz="1600" i="1">
                <a:solidFill>
                  <a:schemeClr val="hlink"/>
                </a:solidFill>
                <a:sym typeface="Symbol" panose="05050102010706020507" pitchFamily="18" charset="2"/>
              </a:rPr>
              <a:t>branch-city</a:t>
            </a:r>
            <a:r>
              <a:rPr kumimoji="1" lang="en-US" altLang="en-US" sz="1600">
                <a:solidFill>
                  <a:schemeClr val="hlink"/>
                </a:solidFill>
                <a:sym typeface="Symbol" panose="05050102010706020507" pitchFamily="18" charset="2"/>
              </a:rPr>
              <a:t> = “ISB”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 (</a:t>
            </a:r>
            <a:r>
              <a:rPr kumimoji="1" lang="en-US" altLang="en-US" sz="2000" i="1">
                <a:solidFill>
                  <a:schemeClr val="hlink"/>
                </a:solidFill>
                <a:sym typeface="Symbol" panose="05050102010706020507" pitchFamily="18" charset="2"/>
              </a:rPr>
              <a:t>branch</a:t>
            </a:r>
            <a:r>
              <a:rPr kumimoji="1" lang="en-US" altLang="en-US" sz="2000">
                <a:solidFill>
                  <a:schemeClr val="hlink"/>
                </a:solidFill>
                <a:sym typeface="Symbol" panose="05050102010706020507" pitchFamily="18" charset="2"/>
              </a:rPr>
              <a:t>))</a:t>
            </a:r>
            <a:endParaRPr lang="en-US" altLang="en-US" sz="2000">
              <a:solidFill>
                <a:schemeClr val="hlink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5303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Useful Links from Stanford</a:t>
            </a:r>
          </a:p>
        </p:txBody>
      </p:sp>
      <p:sp>
        <p:nvSpPr>
          <p:cNvPr id="10649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hlinkClick r:id="rId2"/>
              </a:rPr>
              <a:t>https://www.youtube.com/watch?v=tii7xcFilOA</a:t>
            </a:r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>
                <a:hlinkClick r:id="rId3"/>
              </a:rPr>
              <a:t>https://www.youtube.com/watch?v=GkBf2dZAES0&amp;t=336s</a:t>
            </a:r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106500" name="Date Placeholder 3"/>
          <p:cNvSpPr>
            <a:spLocks noGrp="1" noChangeArrowheads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930C66C-58C5-4AE9-9BE5-4BC096273F12}" type="datetime4">
              <a:rPr lang="en-US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July 28, 2025</a:t>
            </a:fld>
            <a:endParaRPr lang="en-US" altLang="en-US" sz="1200" smtClean="0"/>
          </a:p>
        </p:txBody>
      </p:sp>
      <p:sp>
        <p:nvSpPr>
          <p:cNvPr id="106501" name="Footer Placeholder 4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/>
              <a:t>DB:Relational Algebra</a:t>
            </a:r>
          </a:p>
        </p:txBody>
      </p:sp>
      <p:sp>
        <p:nvSpPr>
          <p:cNvPr id="106502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1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24F794-9D8E-4C87-A142-E5D13BC3752E}" type="slidenum">
              <a:rPr lang="ar-SA" altLang="en-US" sz="12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en-US" altLang="en-US" sz="1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13221</TotalTime>
  <Words>5086</Words>
  <Application>Microsoft Office PowerPoint</Application>
  <PresentationFormat>On-screen Show (4:3)</PresentationFormat>
  <Paragraphs>1775</Paragraphs>
  <Slides>87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9" baseType="lpstr">
      <vt:lpstr>Tahoma</vt:lpstr>
      <vt:lpstr>Arial</vt:lpstr>
      <vt:lpstr>Wingdings</vt:lpstr>
      <vt:lpstr>Times New Roman</vt:lpstr>
      <vt:lpstr>Symbol</vt:lpstr>
      <vt:lpstr>Helvetica</vt:lpstr>
      <vt:lpstr>WP MultinationalA Roman</vt:lpstr>
      <vt:lpstr>Comic Sans MS</vt:lpstr>
      <vt:lpstr>Monotype Sorts</vt:lpstr>
      <vt:lpstr>Lucida Sans Unicode</vt:lpstr>
      <vt:lpstr>Blends</vt:lpstr>
      <vt:lpstr>Equation</vt:lpstr>
      <vt:lpstr>Relational Algebra</vt:lpstr>
      <vt:lpstr>Objectives</vt:lpstr>
      <vt:lpstr>- Introduction To Relational Algebra ...</vt:lpstr>
      <vt:lpstr>… - Introduction To Relational Algebra</vt:lpstr>
      <vt:lpstr>- Relational Algebra Operations</vt:lpstr>
      <vt:lpstr>-- Select Operation</vt:lpstr>
      <vt:lpstr>--- Select Operation – Example</vt:lpstr>
      <vt:lpstr>--- Select Operation – Example</vt:lpstr>
      <vt:lpstr>Another Example</vt:lpstr>
      <vt:lpstr>--- Characteristics of SELECT Operation</vt:lpstr>
      <vt:lpstr>-- Project Operation</vt:lpstr>
      <vt:lpstr>--- Project Operation – Example</vt:lpstr>
      <vt:lpstr>--- Project Operation – Example</vt:lpstr>
      <vt:lpstr>AnotherExample</vt:lpstr>
      <vt:lpstr>--- Characteristics of PROJECT Operation</vt:lpstr>
      <vt:lpstr>-- Composition of Operation – Example</vt:lpstr>
      <vt:lpstr>-- Composition of Operation – Example</vt:lpstr>
      <vt:lpstr>-- Composition of Operation – Example</vt:lpstr>
      <vt:lpstr>Four Possible ways for Select and Project</vt:lpstr>
      <vt:lpstr>-- Rename Operation</vt:lpstr>
      <vt:lpstr>--- Rename Operations: Example </vt:lpstr>
      <vt:lpstr>-- Union Operation</vt:lpstr>
      <vt:lpstr>--- Union Operation – Example</vt:lpstr>
      <vt:lpstr>-- Set Difference Operation</vt:lpstr>
      <vt:lpstr>--- Set Difference Operation – Example</vt:lpstr>
      <vt:lpstr>-- Set-Intersection Operation</vt:lpstr>
      <vt:lpstr>--- Set-Intersection Operation - Example</vt:lpstr>
      <vt:lpstr>-- Division Operation …</vt:lpstr>
      <vt:lpstr>--- Division Operation – Example1</vt:lpstr>
      <vt:lpstr>… -- Division Operation: step by step - 1</vt:lpstr>
      <vt:lpstr>… -- Division Operation: step by step - 1</vt:lpstr>
      <vt:lpstr>… -- Division Operation: step by step - 1</vt:lpstr>
      <vt:lpstr>… -- Division Operation: step by step - 2</vt:lpstr>
      <vt:lpstr>… -- Division Operation: step by step - 3</vt:lpstr>
      <vt:lpstr>… -- Division Operation: step by step - 4</vt:lpstr>
      <vt:lpstr>--- Division Operations: Example 2</vt:lpstr>
      <vt:lpstr>--- Division Operations: Example 2</vt:lpstr>
      <vt:lpstr>-- Assignment Operation</vt:lpstr>
      <vt:lpstr>--- Assignment Operation – Example</vt:lpstr>
      <vt:lpstr>-- Cartesian-Product Operation</vt:lpstr>
      <vt:lpstr>--- Cartesian-Product Operation-Example</vt:lpstr>
      <vt:lpstr>--- Characteristics of Cartesian-Product Operation </vt:lpstr>
      <vt:lpstr>Application of Cartesian-Product Operation</vt:lpstr>
      <vt:lpstr>Application of Cartesian-Product Operation</vt:lpstr>
      <vt:lpstr>Application of Cartesian-Product Operation</vt:lpstr>
      <vt:lpstr>-- JOIN</vt:lpstr>
      <vt:lpstr>JOIN Operation Example(1)</vt:lpstr>
      <vt:lpstr>JOIN Operation Example(2)</vt:lpstr>
      <vt:lpstr>JOIN Operation Example(3)</vt:lpstr>
      <vt:lpstr>JOIN Operation Example(4)</vt:lpstr>
      <vt:lpstr>JOIN Operation Example(5)</vt:lpstr>
      <vt:lpstr>--- Characteristic of the Join Operation</vt:lpstr>
      <vt:lpstr>--- Types of Join Operation</vt:lpstr>
      <vt:lpstr>--- Tables Used in Coming Examples</vt:lpstr>
      <vt:lpstr>--- Theta Join</vt:lpstr>
      <vt:lpstr>--- Equijoin</vt:lpstr>
      <vt:lpstr>--- Equijoin</vt:lpstr>
      <vt:lpstr>--- Natural-Join Operation</vt:lpstr>
      <vt:lpstr>---- Natural Join Operation – Example 1</vt:lpstr>
      <vt:lpstr>---- Natural Join – Example 2</vt:lpstr>
      <vt:lpstr>---- Natural Join – Exercise </vt:lpstr>
      <vt:lpstr>--- Outer Join</vt:lpstr>
      <vt:lpstr>LEFT Vs RIGHT OUTER JOIN</vt:lpstr>
      <vt:lpstr>Dangling Tuples in JOIN</vt:lpstr>
      <vt:lpstr>---- Left Outer Join – Example</vt:lpstr>
      <vt:lpstr>---- Right Outer Join – Example</vt:lpstr>
      <vt:lpstr>---- Full Outer Join – Example</vt:lpstr>
      <vt:lpstr>-- OUTER Join using UNION Operation</vt:lpstr>
      <vt:lpstr>--- OUTER UNION Operation: Example</vt:lpstr>
      <vt:lpstr> -- Aggregate Functions and Operations</vt:lpstr>
      <vt:lpstr>--- Aggregate Operation – Example 1</vt:lpstr>
      <vt:lpstr>--- Aggregate Operation – Example 2</vt:lpstr>
      <vt:lpstr>--- Aggregate Functions: Renaming </vt:lpstr>
      <vt:lpstr>-- Null Values …</vt:lpstr>
      <vt:lpstr>… -- Null Values</vt:lpstr>
      <vt:lpstr>PowerPoint Presentation</vt:lpstr>
      <vt:lpstr>… - Summary …</vt:lpstr>
      <vt:lpstr>… - Summary</vt:lpstr>
      <vt:lpstr>- Example Queries …</vt:lpstr>
      <vt:lpstr>… - Example Queries …</vt:lpstr>
      <vt:lpstr>… - Example Queries …</vt:lpstr>
      <vt:lpstr>… - Example Queries …</vt:lpstr>
      <vt:lpstr>… - Example Queries …</vt:lpstr>
      <vt:lpstr>… - Example Queries …</vt:lpstr>
      <vt:lpstr>… - Example Queries …</vt:lpstr>
      <vt:lpstr>… - Example Queries</vt:lpstr>
      <vt:lpstr>Useful Links from Stanford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Jiawei Han</dc:creator>
  <cp:lastModifiedBy>user1</cp:lastModifiedBy>
  <cp:revision>547</cp:revision>
  <cp:lastPrinted>2021-12-08T09:51:56Z</cp:lastPrinted>
  <dcterms:created xsi:type="dcterms:W3CDTF">1998-06-19T04:38:52Z</dcterms:created>
  <dcterms:modified xsi:type="dcterms:W3CDTF">2025-07-28T10:25:40Z</dcterms:modified>
</cp:coreProperties>
</file>