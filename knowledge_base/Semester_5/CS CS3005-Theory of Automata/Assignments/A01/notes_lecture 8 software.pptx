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sldIdLst>
    <p:sldId id="256" r:id="rId2"/>
    <p:sldId id="326" r:id="rId3"/>
    <p:sldId id="286" r:id="rId4"/>
    <p:sldId id="287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8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92" r:id="rId24"/>
    <p:sldId id="296" r:id="rId25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3366CC"/>
    <a:srgbClr val="0066CC"/>
    <a:srgbClr val="3333CC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9" autoAdjust="0"/>
    <p:restoredTop sz="94507" autoAdjust="0"/>
  </p:normalViewPr>
  <p:slideViewPr>
    <p:cSldViewPr>
      <p:cViewPr varScale="1">
        <p:scale>
          <a:sx n="99" d="100"/>
          <a:sy n="99" d="100"/>
        </p:scale>
        <p:origin x="-12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76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Times New Roman" panose="02020603050405020304" pitchFamily="18" charset="0"/>
              </a:defRPr>
            </a:lvl1pPr>
          </a:lstStyle>
          <a:p>
            <a:fld id="{31D8010A-6CF9-4553-851A-32212AAA1825}" type="slidenum">
              <a:rPr lang="ar-SA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ea typeface="ＭＳ Ｐゴシック" pitchFamily="50" charset="-128"/>
              </a:endParaRPr>
            </a:p>
          </p:txBody>
        </p:sp>
        <p:sp>
          <p:nvSpPr>
            <p:cNvPr id="6" name="Arc 4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ＭＳ Ｐゴシック" pitchFamily="50" charset="-128"/>
              </a:endParaRPr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37099-4F20-4159-92BE-989F69BF02F2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0535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4E177-660D-43DE-B411-258A2D6C18F2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660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A6E598-C05E-461C-BBE7-5A5137C6E703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37206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FDFE3F-B001-45C6-AFC2-1431CD91D6E8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1608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A00344-C66C-4953-A90E-C7D2070C8423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6117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950DDC-196F-48AA-9314-526DFAD9F9DB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49533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CBF684-C97E-47FB-BFE3-0A6ED1DCFB81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4410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634752-4855-45D4-B728-AA311F61C7DF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24318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30135A-831D-40BB-AD58-580E082BED06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2311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E176C2-AE74-41FB-8930-5114CF9B1F5E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6187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2A7F06-1C32-40C0-AAAE-B38133FA10A5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89134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0BAF71-31C1-4C5B-9C3D-C230B45E27A0}" type="slidenum">
              <a:rPr lang="ar-SA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97816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075" name="Freeform 3"/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>
                <a:ea typeface="ＭＳ Ｐゴシック" pitchFamily="50" charset="-128"/>
              </a:endParaRPr>
            </a:p>
          </p:txBody>
        </p:sp>
        <p:sp>
          <p:nvSpPr>
            <p:cNvPr id="3076" name="Arc 4"/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ea typeface="ＭＳ Ｐゴシック" pitchFamily="50" charset="-128"/>
              </a:endParaRPr>
            </a:p>
          </p:txBody>
        </p:sp>
      </p:grpSp>
      <p:sp>
        <p:nvSpPr>
          <p:cNvPr id="30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>
                <a:cs typeface="Times New Roman" panose="02020603050405020304" pitchFamily="18" charset="0"/>
              </a:defRPr>
            </a:lvl1pPr>
          </a:lstStyle>
          <a:p>
            <a:fld id="{EA5B198A-9AD3-44F4-8E6B-57AD2A64FF9E}" type="slidenum">
              <a:rPr lang="ar-SA" altLang="ja-JP"/>
              <a:pPr/>
              <a:t>‹#›</a:t>
            </a:fld>
            <a:endParaRPr lang="en-US" altLang="ja-JP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3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838200" y="838200"/>
            <a:ext cx="77724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algn="ctr">
              <a:defRPr/>
            </a:pPr>
            <a:r>
              <a:rPr lang="en-US" altLang="ja-JP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50" charset="-128"/>
              </a:rPr>
              <a:t>Module 2 </a:t>
            </a:r>
          </a:p>
          <a:p>
            <a:pPr algn="ctr">
              <a:defRPr/>
            </a:pPr>
            <a:r>
              <a:rPr lang="en-US" altLang="ja-JP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ＭＳ Ｐゴシック" pitchFamily="50" charset="-128"/>
              </a:rPr>
              <a:t>How to design Computer  Language</a:t>
            </a:r>
          </a:p>
        </p:txBody>
      </p:sp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1371600" y="4800600"/>
            <a:ext cx="6705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ja-JP" sz="2800" b="1">
                <a:solidFill>
                  <a:schemeClr val="folHlink"/>
                </a:solidFill>
                <a:latin typeface="Arial" panose="020B0604020202020204" pitchFamily="34" charset="0"/>
              </a:rPr>
              <a:t>Huma Ayub</a:t>
            </a:r>
          </a:p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ja-JP" sz="2800" b="1">
                <a:solidFill>
                  <a:schemeClr val="folHlink"/>
                </a:solidFill>
                <a:latin typeface="Arial" panose="020B0604020202020204" pitchFamily="34" charset="0"/>
              </a:rPr>
              <a:t>Software Construction</a:t>
            </a:r>
          </a:p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ja-JP" sz="2800" b="1">
                <a:solidFill>
                  <a:schemeClr val="folHlink"/>
                </a:solidFill>
                <a:latin typeface="Arial" panose="020B0604020202020204" pitchFamily="34" charset="0"/>
              </a:rPr>
              <a:t>Lecture 8</a:t>
            </a:r>
          </a:p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en-US" altLang="ja-JP" sz="2800" b="1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ChangeArrowheads="1"/>
          </p:cNvSpPr>
          <p:nvPr/>
        </p:nvSpPr>
        <p:spPr bwMode="auto">
          <a:xfrm>
            <a:off x="0" y="762000"/>
            <a:ext cx="86106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800"/>
              <a:t>                                            Previous Lecture </a:t>
            </a:r>
          </a:p>
          <a:p>
            <a:pPr eaLnBrk="1" hangingPunct="1"/>
            <a:r>
              <a:rPr lang="en-GB" altLang="en-US"/>
              <a:t>Types of languages </a:t>
            </a:r>
            <a:endParaRPr lang="en-US" altLang="en-US"/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0" y="1447800"/>
            <a:ext cx="68580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ja-JP" b="1">
              <a:ea typeface="MS PMincho" pitchFamily="18" charset="-128"/>
            </a:endParaRPr>
          </a:p>
          <a:p>
            <a:pPr eaLnBrk="1" hangingPunct="1"/>
            <a:endParaRPr lang="en-US" altLang="ja-JP" b="1">
              <a:ea typeface="MS PMincho" pitchFamily="18" charset="-128"/>
            </a:endParaRPr>
          </a:p>
          <a:p>
            <a:pPr eaLnBrk="1" hangingPunct="1"/>
            <a:r>
              <a:rPr lang="en-US" altLang="ja-JP" b="1">
                <a:ea typeface="MS PMincho" pitchFamily="18" charset="-128"/>
              </a:rPr>
              <a:t>How a Language for Computers is developed</a:t>
            </a:r>
            <a:r>
              <a:rPr lang="en-US" altLang="en-US" b="1"/>
              <a:t> </a:t>
            </a:r>
          </a:p>
          <a:p>
            <a:pPr eaLnBrk="1" hangingPunct="1"/>
            <a:endParaRPr lang="en-US" altLang="en-US" b="1"/>
          </a:p>
          <a:p>
            <a:pPr eaLnBrk="1" hangingPunct="1"/>
            <a:r>
              <a:rPr lang="en-US" altLang="en-US" b="1"/>
              <a:t>Alphabets</a:t>
            </a:r>
            <a:endParaRPr lang="en-US" altLang="ja-JP" b="1">
              <a:ea typeface="MS PMincho" pitchFamily="18" charset="-128"/>
            </a:endParaRPr>
          </a:p>
          <a:p>
            <a:pPr eaLnBrk="1" hangingPunct="1"/>
            <a:endParaRPr lang="en-US" altLang="ja-JP" b="1">
              <a:ea typeface="MS PMincho" pitchFamily="18" charset="-128"/>
            </a:endParaRPr>
          </a:p>
          <a:p>
            <a:pPr eaLnBrk="1" hangingPunct="1"/>
            <a:endParaRPr lang="en-US" altLang="ja-JP" b="1">
              <a:ea typeface="MS PMincho" pitchFamily="18" charset="-128"/>
            </a:endParaRPr>
          </a:p>
          <a:p>
            <a:pPr eaLnBrk="1" hangingPunct="1"/>
            <a:endParaRPr lang="en-US" altLang="ja-JP" b="1">
              <a:ea typeface="MS PMincho" pitchFamily="18" charset="-128"/>
            </a:endParaRPr>
          </a:p>
          <a:p>
            <a:pPr eaLnBrk="1" hangingPunct="1"/>
            <a:r>
              <a:rPr lang="en-US" altLang="ja-JP" b="1">
                <a:ea typeface="MS PMincho" pitchFamily="18" charset="-128"/>
              </a:rPr>
              <a:t> </a:t>
            </a:r>
            <a:endParaRPr lang="en-US" altLang="en-US"/>
          </a:p>
        </p:txBody>
      </p:sp>
      <p:sp>
        <p:nvSpPr>
          <p:cNvPr id="4100" name="Rectangle 3"/>
          <p:cNvSpPr>
            <a:spLocks noChangeArrowheads="1"/>
          </p:cNvSpPr>
          <p:nvPr/>
        </p:nvSpPr>
        <p:spPr bwMode="auto">
          <a:xfrm>
            <a:off x="0" y="2667000"/>
            <a:ext cx="25908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2000" b="1"/>
          </a:p>
          <a:p>
            <a:pPr eaLnBrk="1" hangingPunct="1"/>
            <a:endParaRPr lang="en-US" altLang="en-US" sz="2000" b="1"/>
          </a:p>
          <a:p>
            <a:pPr eaLnBrk="1" hangingPunct="1"/>
            <a:endParaRPr lang="en-US" altLang="en-US" sz="2000" b="1"/>
          </a:p>
          <a:p>
            <a:pPr eaLnBrk="1" hangingPunct="1"/>
            <a:r>
              <a:rPr lang="en-US" altLang="en-US" b="1"/>
              <a:t>Words Vs String</a:t>
            </a:r>
          </a:p>
          <a:p>
            <a:pPr eaLnBrk="1" hangingPunct="1"/>
            <a:endParaRPr lang="en-US" altLang="en-US" sz="2000" b="1"/>
          </a:p>
          <a:p>
            <a:pPr eaLnBrk="1" hangingPunct="1"/>
            <a:r>
              <a:rPr lang="en-US" altLang="en-US" sz="2000" b="1"/>
              <a:t> </a:t>
            </a:r>
            <a:endParaRPr lang="en-US" altLang="en-US" sz="2000"/>
          </a:p>
        </p:txBody>
      </p:sp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0" y="2667000"/>
            <a:ext cx="74549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Valid/In-valid alphabets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Length of string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Reverse of String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Definiation of different languages defined over alphabets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ea typeface="+mj-ea"/>
              </a:rPr>
              <a:t>Kleene</a:t>
            </a:r>
            <a:r>
              <a:rPr lang="en-US" dirty="0" smtClean="0">
                <a:ea typeface="+mj-ea"/>
              </a:rPr>
              <a:t> Star Closure(*)</a:t>
            </a:r>
            <a:br>
              <a:rPr lang="en-US" dirty="0" smtClean="0">
                <a:ea typeface="+mj-ea"/>
              </a:rPr>
            </a:br>
            <a:endParaRPr lang="en-US" dirty="0" smtClean="0">
              <a:ea typeface="+mj-ea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What is  Closure Property   ??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Given Σ, then the Kleene Star Closure of the alphabet Σ, denoted by Σ*, is the collection of all strings defined over Σ, including Λ.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It is to be noted that Kleene Star Closure can be defined over any set of strings.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Examples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If Σ = {x}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Then Σ* = {Λ, x, xx, xxx, xxxx, ….}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If Σ = {0,1}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Then Σ* = {Λ, 0, 1, 00, 01, 10, 11, ….}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If Σ = {aaB, c}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Then Σ* = {Λ, aaB, c, aaBaaB, aaBc, caaB, cc, ….}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Note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600" smtClean="0"/>
              <a:t>Languages generated by Kleene Star Closure of set of strings, are infinite languages. (By infinite language, it is supposed that the language contains infinite many words, each of finite length).</a:t>
            </a:r>
          </a:p>
          <a:p>
            <a:pPr eaLnBrk="1" hangingPunct="1">
              <a:lnSpc>
                <a:spcPct val="80000"/>
              </a:lnSpc>
            </a:pPr>
            <a:endParaRPr lang="en-US" altLang="en-US" sz="160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+mj-ea"/>
              </a:rPr>
              <a:t>PLUS Operation (+)</a:t>
            </a:r>
            <a:br>
              <a:rPr lang="en-US" dirty="0" smtClean="0">
                <a:ea typeface="+mj-ea"/>
              </a:rPr>
            </a:br>
            <a:r>
              <a:rPr lang="en-US" dirty="0" smtClean="0">
                <a:ea typeface="+mj-ea"/>
              </a:rPr>
              <a:t>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Plus Operation is same as Kleene Star Closure except that it does not generate Λ (null string), automatically.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Example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If Σ = {0,1}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Then Σ+ = {0, 1, 00, 01, 10, 11, ….}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If Σ = {aab, c}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Then Σ+ = {aab, c, aabaab, aabc, caab, cc, ….}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solidFill>
                  <a:srgbClr val="FF0000"/>
                </a:solidFill>
              </a:rPr>
              <a:t>Recursive definition of languages</a:t>
            </a:r>
          </a:p>
          <a:p>
            <a:pPr eaLnBrk="1" hangingPunct="1"/>
            <a:r>
              <a:rPr lang="en-US" altLang="en-US" sz="2800" smtClean="0"/>
              <a:t>The following three steps are used in recursive definition</a:t>
            </a:r>
          </a:p>
          <a:p>
            <a:pPr eaLnBrk="1" hangingPunct="1"/>
            <a:r>
              <a:rPr lang="en-US" altLang="en-US" sz="2800" smtClean="0"/>
              <a:t>Some basic words are specified in the language.</a:t>
            </a:r>
          </a:p>
          <a:p>
            <a:pPr eaLnBrk="1" hangingPunct="1"/>
            <a:r>
              <a:rPr lang="en-US" altLang="en-US" sz="2800" smtClean="0"/>
              <a:t>Rules for constructing more words are defined in the language.</a:t>
            </a:r>
          </a:p>
          <a:p>
            <a:pPr eaLnBrk="1" hangingPunct="1"/>
            <a:r>
              <a:rPr lang="en-US" altLang="en-US" sz="2800" smtClean="0"/>
              <a:t>No strings except those constructed in above, are allowed to be in the language.</a:t>
            </a:r>
          </a:p>
          <a:p>
            <a:pPr eaLnBrk="1" hangingPunct="1"/>
            <a:r>
              <a:rPr lang="en-US" altLang="en-US" sz="2800" b="1" smtClean="0">
                <a:solidFill>
                  <a:srgbClr val="FF0000"/>
                </a:solidFill>
              </a:rPr>
              <a:t>Examples</a:t>
            </a:r>
          </a:p>
          <a:p>
            <a:pPr eaLnBrk="1" hangingPunct="1"/>
            <a:r>
              <a:rPr lang="en-US" altLang="en-US" sz="2800" b="1" smtClean="0"/>
              <a:t>Defining language of INTEGER</a:t>
            </a:r>
          </a:p>
          <a:p>
            <a:pPr eaLnBrk="1" hangingPunct="1"/>
            <a:r>
              <a:rPr lang="en-US" altLang="en-US" sz="2800" smtClean="0"/>
              <a:t>Step 1: 1 is in </a:t>
            </a:r>
            <a:r>
              <a:rPr lang="en-US" altLang="en-US" sz="2800" b="1" smtClean="0"/>
              <a:t>INTEGER</a:t>
            </a:r>
            <a:r>
              <a:rPr lang="en-US" altLang="en-US" sz="2800" smtClean="0"/>
              <a:t>.</a:t>
            </a:r>
          </a:p>
          <a:p>
            <a:pPr eaLnBrk="1" hangingPunct="1"/>
            <a:r>
              <a:rPr lang="en-US" altLang="en-US" sz="2800" smtClean="0"/>
              <a:t>Step 2: If x is in </a:t>
            </a:r>
            <a:r>
              <a:rPr lang="en-US" altLang="en-US" sz="2800" b="1" smtClean="0"/>
              <a:t>INTEGER </a:t>
            </a:r>
            <a:r>
              <a:rPr lang="en-US" altLang="en-US" sz="2800" smtClean="0"/>
              <a:t>then x+1 and x-1 are also in </a:t>
            </a:r>
            <a:r>
              <a:rPr lang="en-US" altLang="en-US" sz="2800" b="1" smtClean="0"/>
              <a:t>INTEGER</a:t>
            </a:r>
            <a:r>
              <a:rPr lang="en-US" altLang="en-US" sz="2800" smtClean="0"/>
              <a:t>.</a:t>
            </a:r>
          </a:p>
          <a:p>
            <a:pPr eaLnBrk="1" hangingPunct="1"/>
            <a:r>
              <a:rPr lang="en-US" altLang="en-US" sz="2800" smtClean="0"/>
              <a:t>Step 3: No strings except those constructed in above, are allowed to be in </a:t>
            </a:r>
            <a:r>
              <a:rPr lang="en-US" altLang="en-US" sz="2800" b="1" smtClean="0"/>
              <a:t>INTEGER</a:t>
            </a:r>
            <a:r>
              <a:rPr lang="en-US" altLang="en-US" sz="2800" smtClean="0"/>
              <a:t>.</a:t>
            </a:r>
          </a:p>
          <a:p>
            <a:pPr eaLnBrk="1" hangingPunct="1"/>
            <a:endParaRPr lang="en-US" altLang="en-US" sz="280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752600"/>
            <a:ext cx="9144000" cy="6096000"/>
          </a:xfrm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rgbClr val="FF0000"/>
                </a:solidFill>
              </a:rPr>
              <a:t>Defining language of EVEN</a:t>
            </a:r>
          </a:p>
          <a:p>
            <a:pPr eaLnBrk="1" hangingPunct="1"/>
            <a:r>
              <a:rPr lang="en-US" altLang="en-US" smtClean="0"/>
              <a:t>Step 1: 2 is in </a:t>
            </a:r>
            <a:r>
              <a:rPr lang="en-US" altLang="en-US" b="1" smtClean="0"/>
              <a:t>EVEN</a:t>
            </a:r>
            <a:r>
              <a:rPr lang="en-US" altLang="en-US" smtClean="0"/>
              <a:t>.</a:t>
            </a:r>
          </a:p>
          <a:p>
            <a:pPr eaLnBrk="1" hangingPunct="1"/>
            <a:r>
              <a:rPr lang="en-US" altLang="en-US" smtClean="0"/>
              <a:t>Step 2: If x is in </a:t>
            </a:r>
            <a:r>
              <a:rPr lang="en-US" altLang="en-US" b="1" smtClean="0"/>
              <a:t>EVEN </a:t>
            </a:r>
            <a:r>
              <a:rPr lang="en-US" altLang="en-US" smtClean="0"/>
              <a:t>then x+2 and x-2 are also in </a:t>
            </a:r>
            <a:r>
              <a:rPr lang="en-US" altLang="en-US" b="1" smtClean="0"/>
              <a:t>EVEN</a:t>
            </a:r>
            <a:r>
              <a:rPr lang="en-US" altLang="en-US" smtClean="0"/>
              <a:t>.</a:t>
            </a:r>
          </a:p>
          <a:p>
            <a:pPr eaLnBrk="1" hangingPunct="1"/>
            <a:r>
              <a:rPr lang="en-US" altLang="en-US" smtClean="0"/>
              <a:t>Step 3: No strings except those constructed in above, are allowed to be in </a:t>
            </a:r>
            <a:r>
              <a:rPr lang="en-US" altLang="en-US" b="1" smtClean="0"/>
              <a:t>EVEN</a:t>
            </a:r>
            <a:r>
              <a:rPr lang="en-US" altLang="en-US" smtClean="0"/>
              <a:t>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+mj-ea"/>
              </a:rPr>
              <a:t>Example Recursive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+mj-ea"/>
              </a:rPr>
              <a:t>Example Recursive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b="1" smtClean="0">
                <a:solidFill>
                  <a:srgbClr val="FF0000"/>
                </a:solidFill>
              </a:rPr>
              <a:t>Defining the language factorial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Step 1: As 0!=1, so 1 is in </a:t>
            </a:r>
            <a:r>
              <a:rPr lang="en-US" altLang="en-US" sz="2400" b="1" smtClean="0"/>
              <a:t>factorial</a:t>
            </a:r>
            <a:r>
              <a:rPr lang="en-US" altLang="en-US" sz="2400" smtClean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Step 2: n!=n*(n-1)! is in </a:t>
            </a:r>
            <a:r>
              <a:rPr lang="en-US" altLang="en-US" sz="2400" b="1" smtClean="0"/>
              <a:t>factorial</a:t>
            </a:r>
            <a:r>
              <a:rPr lang="en-US" altLang="en-US" sz="2400" smtClean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Step 3: No strings except those constructed in above, are allowed to be in </a:t>
            </a:r>
            <a:r>
              <a:rPr lang="en-US" altLang="en-US" sz="2400" b="1" smtClean="0"/>
              <a:t>factorial</a:t>
            </a:r>
            <a:r>
              <a:rPr lang="en-US" altLang="en-US" sz="2400" smtClean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b="1" smtClean="0">
                <a:solidFill>
                  <a:srgbClr val="FF0000"/>
                </a:solidFill>
              </a:rPr>
              <a:t>Defining the language PALINDROME</a:t>
            </a:r>
            <a:r>
              <a:rPr lang="en-US" altLang="en-US" sz="2400" b="1" smtClean="0"/>
              <a:t>, defined over Σ = {a,b}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Step 1: a and b are in </a:t>
            </a:r>
            <a:r>
              <a:rPr lang="en-US" altLang="en-US" sz="2400" b="1" smtClean="0"/>
              <a:t>PALINDROME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Step 2: if x is palindrome, then s(x)Rev(s) and xx will also be palindrome, where s belongs to Σ*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Step 3: No strings except those constructed in above, are allowed to be in palindrome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+mj-ea"/>
              </a:rPr>
              <a:t>Example Recursive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b="1" smtClean="0">
                <a:solidFill>
                  <a:srgbClr val="FF0000"/>
                </a:solidFill>
              </a:rPr>
              <a:t>Defining the language </a:t>
            </a:r>
            <a:r>
              <a:rPr lang="en-US" altLang="en-US" sz="2000" b="1" smtClean="0"/>
              <a:t>{a</a:t>
            </a:r>
            <a:r>
              <a:rPr lang="en-US" altLang="en-US" sz="2000" b="1" baseline="30000" smtClean="0"/>
              <a:t> n</a:t>
            </a:r>
            <a:r>
              <a:rPr lang="en-US" altLang="en-US" sz="2000" b="1" smtClean="0"/>
              <a:t>b </a:t>
            </a:r>
            <a:r>
              <a:rPr lang="en-US" altLang="en-US" sz="2000" b="1" baseline="30000" smtClean="0"/>
              <a:t>n</a:t>
            </a:r>
            <a:r>
              <a:rPr lang="en-US" altLang="en-US" sz="2000" b="1" smtClean="0"/>
              <a:t> }, n=1,2,3,… , of strings defined over Σ={a,b}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1: ab is in {</a:t>
            </a:r>
            <a:r>
              <a:rPr lang="en-US" altLang="en-US" sz="2000" b="1" smtClean="0"/>
              <a:t>a </a:t>
            </a:r>
            <a:r>
              <a:rPr lang="en-US" altLang="en-US" sz="2000" b="1" baseline="30000" smtClean="0"/>
              <a:t>n</a:t>
            </a:r>
            <a:r>
              <a:rPr lang="en-US" altLang="en-US" sz="2000" b="1" smtClean="0"/>
              <a:t>b</a:t>
            </a:r>
            <a:r>
              <a:rPr lang="en-US" altLang="en-US" sz="2000" b="1" baseline="30000" smtClean="0"/>
              <a:t>n</a:t>
            </a:r>
            <a:r>
              <a:rPr lang="en-US" altLang="en-US" sz="2000" smtClean="0"/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2: if x is in {</a:t>
            </a:r>
            <a:r>
              <a:rPr lang="en-US" altLang="en-US" sz="2000" b="1" smtClean="0"/>
              <a:t>a </a:t>
            </a:r>
            <a:r>
              <a:rPr lang="en-US" altLang="en-US" sz="2000" b="1" baseline="30000" smtClean="0"/>
              <a:t>n</a:t>
            </a:r>
            <a:r>
              <a:rPr lang="en-US" altLang="en-US" sz="2000" b="1" smtClean="0"/>
              <a:t>b</a:t>
            </a:r>
            <a:r>
              <a:rPr lang="en-US" altLang="en-US" sz="2000" b="1" baseline="30000" smtClean="0"/>
              <a:t>n</a:t>
            </a:r>
            <a:r>
              <a:rPr lang="en-US" altLang="en-US" sz="2000" smtClean="0"/>
              <a:t>}, then axb is in {</a:t>
            </a:r>
            <a:r>
              <a:rPr lang="en-US" altLang="en-US" sz="2000" b="1" smtClean="0"/>
              <a:t>a </a:t>
            </a:r>
            <a:r>
              <a:rPr lang="en-US" altLang="en-US" sz="2000" b="1" baseline="30000" smtClean="0"/>
              <a:t>n</a:t>
            </a:r>
            <a:r>
              <a:rPr lang="en-US" altLang="en-US" sz="2000" b="1" smtClean="0"/>
              <a:t>b</a:t>
            </a:r>
            <a:r>
              <a:rPr lang="en-US" altLang="en-US" sz="2000" b="1" baseline="30000" smtClean="0"/>
              <a:t>n</a:t>
            </a:r>
            <a:r>
              <a:rPr lang="en-US" altLang="en-US" sz="2000" smtClean="0"/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3: No strings except those constructed in above, are allowed to be in {</a:t>
            </a:r>
            <a:r>
              <a:rPr lang="en-US" altLang="en-US" sz="2000" b="1" smtClean="0"/>
              <a:t>a</a:t>
            </a:r>
            <a:r>
              <a:rPr lang="en-US" altLang="en-US" sz="2000" b="1" baseline="30000" smtClean="0"/>
              <a:t>n</a:t>
            </a:r>
            <a:r>
              <a:rPr lang="en-US" altLang="en-US" sz="2000" b="1" smtClean="0"/>
              <a:t> b</a:t>
            </a:r>
            <a:r>
              <a:rPr lang="en-US" altLang="en-US" sz="2000" b="1" baseline="30000" smtClean="0"/>
              <a:t>n</a:t>
            </a:r>
            <a:r>
              <a:rPr lang="en-US" altLang="en-US" sz="2000" b="1" smtClean="0"/>
              <a:t>.</a:t>
            </a:r>
            <a:r>
              <a:rPr lang="en-US" altLang="en-US" sz="2000" smtClean="0"/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 smtClean="0">
                <a:solidFill>
                  <a:srgbClr val="FF0000"/>
                </a:solidFill>
              </a:rPr>
              <a:t>Defining the language L</a:t>
            </a:r>
            <a:r>
              <a:rPr lang="en-US" altLang="en-US" sz="2000" b="1" smtClean="0"/>
              <a:t>, of strings ending in a , defined over Σ={a,b}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1: a is in 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2: if x is in L then s(x) is also in </a:t>
            </a:r>
            <a:r>
              <a:rPr lang="en-US" altLang="en-US" sz="2000" b="1" smtClean="0"/>
              <a:t>L, </a:t>
            </a:r>
            <a:r>
              <a:rPr lang="en-US" altLang="en-US" sz="2000" smtClean="0"/>
              <a:t>where s belongs to Σ*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3: No strings except those constructed in above, are allowed to be in </a:t>
            </a:r>
            <a:r>
              <a:rPr lang="en-US" altLang="en-US" sz="2000" b="1" smtClean="0"/>
              <a:t>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 smtClean="0"/>
              <a:t>note: Ending character is right most</a:t>
            </a:r>
            <a:endParaRPr lang="en-US" altLang="en-US" sz="2000" smtClean="0"/>
          </a:p>
          <a:p>
            <a:pPr eaLnBrk="1" hangingPunct="1">
              <a:lnSpc>
                <a:spcPct val="80000"/>
              </a:lnSpc>
            </a:pPr>
            <a:endParaRPr lang="en-US" altLang="en-US" sz="200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+mj-ea"/>
              </a:rPr>
              <a:t>Example Recursive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b="1" smtClean="0">
                <a:solidFill>
                  <a:srgbClr val="FF0000"/>
                </a:solidFill>
              </a:rPr>
              <a:t>Defining the language L</a:t>
            </a:r>
            <a:r>
              <a:rPr lang="en-US" altLang="en-US" sz="2000" b="1" smtClean="0"/>
              <a:t>, of strings beginning and ending in same letters , defined over Σ={a, b}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1: a and b are in 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2: (a)s(a) and (b)s(b) are also in </a:t>
            </a:r>
            <a:r>
              <a:rPr lang="en-US" altLang="en-US" sz="2000" b="1" smtClean="0"/>
              <a:t>L, </a:t>
            </a:r>
            <a:r>
              <a:rPr lang="en-US" altLang="en-US" sz="2000" smtClean="0"/>
              <a:t>where s belongs to Σ*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3: No strings except those constructed in above, are allowed to be in </a:t>
            </a:r>
            <a:r>
              <a:rPr lang="en-US" altLang="en-US" sz="2000" b="1" smtClean="0"/>
              <a:t>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 smtClean="0">
                <a:solidFill>
                  <a:srgbClr val="FF0000"/>
                </a:solidFill>
              </a:rPr>
              <a:t>Defining the language L</a:t>
            </a:r>
            <a:r>
              <a:rPr lang="en-US" altLang="en-US" sz="2000" b="1" smtClean="0"/>
              <a:t>, of strings containing aa or bb , defined over Σ={a, b}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1: aa and bb are in 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2: s(aa)s and s(bb)s are also in </a:t>
            </a:r>
            <a:r>
              <a:rPr lang="en-US" altLang="en-US" sz="2000" b="1" smtClean="0"/>
              <a:t>L, </a:t>
            </a:r>
            <a:r>
              <a:rPr lang="en-US" altLang="en-US" sz="2000" smtClean="0"/>
              <a:t>where s belongs to Σ*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Step 3: No strings except those constructed in above, are allowed to be in </a:t>
            </a:r>
            <a:r>
              <a:rPr lang="en-US" altLang="en-US" sz="2000" b="1" smtClean="0"/>
              <a:t>L.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b="1" smtClean="0"/>
              <a:t>Note : consisting[ fixed elements ] vs  containing  of [at least means aa, bb or both] </a:t>
            </a:r>
            <a:endParaRPr lang="en-US" altLang="en-US" sz="2000" smtClean="0"/>
          </a:p>
          <a:p>
            <a:pPr eaLnBrk="1" hangingPunct="1">
              <a:lnSpc>
                <a:spcPct val="80000"/>
              </a:lnSpc>
            </a:pPr>
            <a:endParaRPr lang="en-US" altLang="en-US" sz="200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>
              <a:ea typeface="+mj-ea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b="1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 smtClean="0"/>
              <a:t>                        Regular Expression</a:t>
            </a:r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+mj-ea"/>
              </a:rPr>
              <a:t>Regular Expression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As discussed earlier that a* generates Λ, a, aa, aaa, … and a+ generates a, aa, aaa, aaaa, …, so the language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 L1= {Λ, a, aa, aaa, …} and L2 = {a, aa, aaa, aaaa, …} can simply be expressed by a* and a+, respectively.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a* and a+ are called the regular expressions (RE) for L1 and L2 respectively.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Note a+, aa* and a*a generate L2.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>
              <a:ea typeface="+mj-ea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b="1" smtClean="0"/>
              <a:t>Recursive definition of Regular Expression(RE)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Step 1: Every letter of Σ including Λ is a regular expression.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Step 2: If r1 and r2 are regular expressions then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r1 * r2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r1 + r2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r1* and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r2*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are also regular expressions.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Step 3: Nothing else is a regular expression.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>
              <a:ea typeface="+mj-ea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b="1" smtClean="0"/>
              <a:t>Method 3 (Regular Expressions)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Consider the language L={Λ, x, xx, xxx,…} of strings, defined over Σ = {x}.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We can write this language as the Kleene star closure of alphabet Σ or L=Σ*={x}* 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This language can also be expressed by the regular expression x*.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Similarly the language L={x, xx, xxx,…}, defined over Σ = {x}, can be expressed by the regular expression x+.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Now consider another language L, consisting of all possible strings, defined over Σ = {a, b}. This language can also be expressed by the regular expression (a + b)*.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>
              <a:ea typeface="+mj-ea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Now consider another language L, of strings having exactly double a, defined over Σ = {a, b}, then it’s regular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expression may be b*aab*.(cover end, mid and start)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FF0000"/>
                </a:solidFill>
              </a:rPr>
              <a:t>Why not (a+b)*aa (a+b)*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FF0000"/>
                </a:solidFill>
              </a:rPr>
              <a:t>Now consider another language L</a:t>
            </a:r>
            <a:r>
              <a:rPr lang="en-US" altLang="en-US" sz="2400" smtClean="0"/>
              <a:t>, of even length, defined over Σ = {a, b}, then it’s regular expression may be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((a+b)(a+b))*.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FF0000"/>
                </a:solidFill>
              </a:rPr>
              <a:t>Now consider another language L</a:t>
            </a:r>
            <a:r>
              <a:rPr lang="en-US" altLang="en-US" sz="2400" smtClean="0"/>
              <a:t>, of odd length, defined over Σ = {a, b},  ???????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a typeface="+mj-ea"/>
              </a:rPr>
              <a:t>Answer</a:t>
            </a:r>
            <a:endParaRPr lang="en-US" dirty="0">
              <a:ea typeface="+mj-ea"/>
            </a:endParaRP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mtClean="0"/>
              <a:t>   Then it’s regular expression may be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(a+b)((a+b)(a+b))* or ((a+b)(a+b))*(a+b).</a:t>
            </a:r>
          </a:p>
          <a:p>
            <a:endParaRPr lang="en-US" altLang="en-US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a typeface="+mj-ea"/>
              </a:rPr>
              <a:t>Remark</a:t>
            </a:r>
            <a:br>
              <a:rPr lang="en-US" b="1" dirty="0" smtClean="0">
                <a:ea typeface="+mj-ea"/>
              </a:rPr>
            </a:br>
            <a:endParaRPr lang="en-US" dirty="0" smtClean="0">
              <a:ea typeface="+mj-ea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It may be noted that a language may be expressed by more than one regular expression, while given a regular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expression there exist a unique language generated by that regular expression.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a typeface="+mj-ea"/>
              </a:rPr>
              <a:t>Example</a:t>
            </a:r>
            <a:br>
              <a:rPr lang="en-US" dirty="0" smtClean="0">
                <a:ea typeface="+mj-ea"/>
              </a:rPr>
            </a:br>
            <a:endParaRPr lang="en-US" dirty="0" smtClean="0">
              <a:ea typeface="+mj-ea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solidFill>
                  <a:srgbClr val="FF0000"/>
                </a:solidFill>
              </a:rPr>
              <a:t>Consider the language</a:t>
            </a:r>
            <a:r>
              <a:rPr lang="en-US" altLang="en-US" sz="2400" smtClean="0"/>
              <a:t>, defined over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Σ = {a , b} of words having at least one a, may be expressed by a regular expression (a+b)*a(a+b)*.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>
                <a:solidFill>
                  <a:srgbClr val="FF0000"/>
                </a:solidFill>
              </a:rPr>
              <a:t>Consider the language</a:t>
            </a:r>
            <a:r>
              <a:rPr lang="en-US" altLang="en-US" sz="2400" smtClean="0"/>
              <a:t>, defined over Σ ={a, b}, of words starting with double a and ending in double b then its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regular expression may be aa(a+b)*bb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n-US" smtClean="0">
              <a:ea typeface="+mj-ea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rgbClr val="FF0000"/>
                </a:solidFill>
              </a:rPr>
              <a:t>Consider the language</a:t>
            </a:r>
            <a:r>
              <a:rPr lang="en-US" altLang="en-US" smtClean="0"/>
              <a:t>, defined over Σ ={a, b} of words starting with a and ending in b 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mtClean="0"/>
              <a:t>starting with b and ending in a, then its regular expression may be a(a+b)*b+b(a+b)*a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>
                <a:solidFill>
                  <a:srgbClr val="FF0000"/>
                </a:solidFill>
              </a:rPr>
              <a:t>Consider the language</a:t>
            </a:r>
            <a:r>
              <a:rPr lang="en-US" altLang="en-US" sz="2800" smtClean="0"/>
              <a:t>, defined over Σ = {a, b} of words having at least one a and one b, may be expressed by 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regular expression (a+b)*a(a+b)*b(a+b)*+ (a+b)*b(a+b)*a(a+b)*.</a:t>
            </a: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The Language EVEN-EVEN</a:t>
            </a:r>
            <a:br>
              <a:rPr lang="en-US" dirty="0" smtClean="0"/>
            </a:br>
            <a:endParaRPr lang="en-US" dirty="0" smtClean="0">
              <a:ea typeface="+mj-ea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An important example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Language of strings, defined over Σ={a, b} having even number of a’s and even number of b’s. i.e.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EVEN-EVEN = {Λ, aa, bb, aaaa,aabb,abab, abba, baab, baba, bbaa, bbbb,…}, its regular expression can be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written as ((aa+bb)+(ab+ba)(aa+bb)*(ab+ba))*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Note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It is important to be clear about the difference of the following regular expressions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r1 = a*+b*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r2 = (a+b)*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smtClean="0"/>
              <a:t>Here r1 does not generate any string of concatenation of a and b, while r2 generates such strings.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Equivalent Regular Expressions</a:t>
            </a:r>
            <a:br>
              <a:rPr lang="en-US" dirty="0" smtClean="0"/>
            </a:br>
            <a:endParaRPr lang="en-US" dirty="0" smtClean="0">
              <a:ea typeface="+mj-ea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Definition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Two regular expressions are said to be equivalent if they generate the same language.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Example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Consider the following regular expressions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r1 = (a + b)* (aa + bb)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r2 = (a + b)*aa + ( a + b)*bb then both regular expressions define the language of strings ending in aa or bb.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Note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If r1 = (aa + bb) and r2 = ( a + b) then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r1+r2 = (aa + bb) + (a + b)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r1r2 = (aa + bb) (a + b)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= (aaa + aab + bba + bbb)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smtClean="0"/>
              <a:t>(r1)* = (aa + bb)*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a typeface="+mj-ea"/>
              </a:rPr>
              <a:t>Regular Languages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sz="2800" b="1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The language generated by any regular expression is called a </a:t>
            </a:r>
            <a:r>
              <a:rPr lang="en-US" altLang="en-US" sz="2800" b="1" smtClean="0"/>
              <a:t>regular language</a:t>
            </a:r>
            <a:r>
              <a:rPr lang="en-US" altLang="en-US" sz="2800" smtClean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It is to be noted that if r1, r2 are regular expressions, corresponding to the languages L1 and L2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then the languages generated by r1+ r2, r1r2( or r</a:t>
            </a:r>
            <a:r>
              <a:rPr lang="en-US" altLang="en-US" sz="2800" baseline="-25000" smtClean="0"/>
              <a:t>2</a:t>
            </a:r>
            <a:r>
              <a:rPr lang="en-US" altLang="en-US" sz="2800" smtClean="0"/>
              <a:t>r</a:t>
            </a:r>
            <a:r>
              <a:rPr lang="en-US" altLang="en-US" sz="2800" baseline="-25000" smtClean="0"/>
              <a:t>1</a:t>
            </a:r>
            <a:r>
              <a:rPr lang="en-US" altLang="en-US" sz="2800" smtClean="0"/>
              <a:t>) and r1*( or r</a:t>
            </a:r>
            <a:r>
              <a:rPr lang="en-US" altLang="en-US" sz="2000" smtClean="0"/>
              <a:t>2</a:t>
            </a:r>
            <a:r>
              <a:rPr lang="en-US" altLang="en-US" sz="2800" smtClean="0"/>
              <a:t>*) are also regular languages.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a typeface="+mj-ea"/>
              </a:rPr>
              <a:t>Regular Languages</a:t>
            </a:r>
            <a:endParaRPr lang="en-US" dirty="0" smtClean="0">
              <a:ea typeface="+mj-ea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Note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It is to be noted that if L1 and L2 are expressed by r1and r2, respectively then the language expressed by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r1+ r2, is the language L1 + L2 or L1 ∪ L2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r1r2, , is the language L1L2, of strings obtained by prefixing every string of L1 with every string of L2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r1*, is the language L1*, of strings obtained by concatenating the strings of L, including the null string.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76400"/>
            <a:ext cx="7772400" cy="76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smtClean="0"/>
              <a:t>Example</a:t>
            </a:r>
          </a:p>
          <a:p>
            <a:r>
              <a:rPr lang="en-US" altLang="en-US" sz="2000" smtClean="0"/>
              <a:t>Consider the language L, defined over Σ = {a,b}, of strings of length 2, starting with a, then</a:t>
            </a:r>
          </a:p>
          <a:p>
            <a:r>
              <a:rPr lang="en-US" altLang="en-US" sz="2000" smtClean="0"/>
              <a:t>L = {aa, ab}, may be expressed by the regular expression aa+ab. Hence L, by definition, is a regular language.</a:t>
            </a:r>
          </a:p>
          <a:p>
            <a:r>
              <a:rPr lang="en-US" altLang="en-US" sz="2000" smtClean="0"/>
              <a:t>Note</a:t>
            </a:r>
          </a:p>
          <a:p>
            <a:r>
              <a:rPr lang="en-US" altLang="en-US" sz="2000" smtClean="0"/>
              <a:t>It may be noted that if a language contains even thousand words, its RE may be expressed, placing ‘ + ’ between</a:t>
            </a:r>
          </a:p>
          <a:p>
            <a:r>
              <a:rPr lang="en-US" altLang="en-US" sz="2000" smtClean="0"/>
              <a:t>all the words.</a:t>
            </a:r>
          </a:p>
          <a:p>
            <a:r>
              <a:rPr lang="en-US" altLang="en-US" sz="2000" smtClean="0"/>
              <a:t>Here the special structure of RE is not important.</a:t>
            </a:r>
          </a:p>
          <a:p>
            <a:r>
              <a:rPr lang="en-US" altLang="en-US" sz="2000" smtClean="0"/>
              <a:t>Consider the language L = {aaa, aab, aba, abb, baa, bab, bba, bbb}, that may be expressed by a RE</a:t>
            </a:r>
          </a:p>
          <a:p>
            <a:r>
              <a:rPr lang="en-US" altLang="en-US" sz="2000" smtClean="0"/>
              <a:t>aaa+aab+aba+abb+baa+bab+bba+bbb, which is equivalent to (a+b)(a+b)(a+b).</a:t>
            </a:r>
          </a:p>
          <a:p>
            <a:endParaRPr lang="en-US" altLang="en-US" sz="2000" smtClean="0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838200" y="838200"/>
            <a:ext cx="7543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800" b="1"/>
              <a:t>      All finite languages are regular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Quiz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ＭＳ Ｐゴシック" pitchFamily="50" charset="-128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1846</TotalTime>
  <Words>1964</Words>
  <Application>Microsoft Office PowerPoint</Application>
  <PresentationFormat>On-screen Show (4:3)</PresentationFormat>
  <Paragraphs>192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Times New Roman</vt:lpstr>
      <vt:lpstr>MS PGothic</vt:lpstr>
      <vt:lpstr>Arial</vt:lpstr>
      <vt:lpstr>Wingdings</vt:lpstr>
      <vt:lpstr>MS PMincho</vt:lpstr>
      <vt:lpstr>Soaring</vt:lpstr>
      <vt:lpstr>PowerPoint Presentation</vt:lpstr>
      <vt:lpstr>PowerPoint Presentation</vt:lpstr>
      <vt:lpstr>Kleene Star Closure(*) </vt:lpstr>
      <vt:lpstr>PLUS Operation (+)  </vt:lpstr>
      <vt:lpstr>PowerPoint Presentation</vt:lpstr>
      <vt:lpstr>Example Recursive</vt:lpstr>
      <vt:lpstr>Example Recursive</vt:lpstr>
      <vt:lpstr>Example Recursive</vt:lpstr>
      <vt:lpstr>Example Recursive</vt:lpstr>
      <vt:lpstr>PowerPoint Presentation</vt:lpstr>
      <vt:lpstr>Regular Expression</vt:lpstr>
      <vt:lpstr>PowerPoint Presentation</vt:lpstr>
      <vt:lpstr>PowerPoint Presentation</vt:lpstr>
      <vt:lpstr>PowerPoint Presentation</vt:lpstr>
      <vt:lpstr>Answer</vt:lpstr>
      <vt:lpstr>Remark </vt:lpstr>
      <vt:lpstr>Example </vt:lpstr>
      <vt:lpstr>PowerPoint Presentation</vt:lpstr>
      <vt:lpstr>The Language EVEN-EVEN </vt:lpstr>
      <vt:lpstr>Equivalent Regular Expressions </vt:lpstr>
      <vt:lpstr>Regular Languages</vt:lpstr>
      <vt:lpstr>Regular Languages</vt:lpstr>
      <vt:lpstr>PowerPoint Presentation</vt:lpstr>
      <vt:lpstr>Quiz </vt:lpstr>
    </vt:vector>
  </TitlesOfParts>
  <Company>UNDL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M_zhu</dc:creator>
  <cp:lastModifiedBy>user1</cp:lastModifiedBy>
  <cp:revision>80</cp:revision>
  <dcterms:created xsi:type="dcterms:W3CDTF">2002-05-30T22:29:30Z</dcterms:created>
  <dcterms:modified xsi:type="dcterms:W3CDTF">2025-07-28T10:26:39Z</dcterms:modified>
</cp:coreProperties>
</file>