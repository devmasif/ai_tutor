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1" r:id="rId1"/>
  </p:sldMasterIdLst>
  <p:notesMasterIdLst>
    <p:notesMasterId r:id="rId4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5085" autoAdjust="0"/>
  </p:normalViewPr>
  <p:slideViewPr>
    <p:cSldViewPr>
      <p:cViewPr varScale="1">
        <p:scale>
          <a:sx n="106" d="100"/>
          <a:sy n="106" d="100"/>
        </p:scale>
        <p:origin x="240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A910623-F120-44F1-8F3C-50E5A85802F4}" type="slidenum">
              <a:rPr lang="en-US" altLang="en-GB"/>
              <a:pPr/>
              <a:t>‹#›</a:t>
            </a:fld>
            <a:endParaRPr lang="en-US" alt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7237B40-BC9F-4BD1-8DAA-48B09C309504}" type="slidenum">
              <a:rPr lang="en-US" altLang="en-GB"/>
              <a:pPr/>
              <a:t>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FCFDD9-4B79-44B0-959B-603A1BD990B0}" type="slidenum">
              <a:rPr lang="en-US" altLang="en-GB"/>
              <a:pPr/>
              <a:t>2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BEC99D-5EEB-4029-A46B-6AEE06E5DD5B}" type="slidenum">
              <a:rPr lang="en-US" altLang="en-GB"/>
              <a:pPr/>
              <a:t>3</a:t>
            </a:fld>
            <a:endParaRPr lang="en-US" altLang="en-GB"/>
          </a:p>
        </p:txBody>
      </p:sp>
      <p:sp>
        <p:nvSpPr>
          <p:cNvPr id="819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197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8628207-CDA4-47C5-83EE-17A04565B9C9}" type="slidenum">
              <a:rPr lang="en-US" altLang="en-GB" sz="1200">
                <a:latin typeface="Calibri" panose="020F0502020204030204" pitchFamily="34" charset="0"/>
              </a:rPr>
              <a:pPr algn="r"/>
              <a:t>3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6DE2DE-1E20-4EC0-BDBE-D5A9C1594180}" type="slidenum">
              <a:rPr lang="en-US" altLang="en-GB"/>
              <a:pPr/>
              <a:t>4</a:t>
            </a:fld>
            <a:endParaRPr lang="en-US" altLang="en-GB"/>
          </a:p>
        </p:txBody>
      </p:sp>
      <p:sp>
        <p:nvSpPr>
          <p:cNvPr id="1024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0245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B26CD3A-FD32-4EEE-9F5F-CC47F7D78341}" type="slidenum">
              <a:rPr lang="en-US" altLang="en-GB" sz="1200">
                <a:latin typeface="Calibri" panose="020F0502020204030204" pitchFamily="34" charset="0"/>
              </a:rPr>
              <a:pPr algn="r"/>
              <a:t>4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4FA4F9-2D73-4036-9551-537D3D277A2C}" type="slidenum">
              <a:rPr lang="en-US" altLang="en-GB"/>
              <a:pPr/>
              <a:t>5</a:t>
            </a:fld>
            <a:endParaRPr lang="en-US" altLang="en-GB"/>
          </a:p>
        </p:txBody>
      </p:sp>
      <p:sp>
        <p:nvSpPr>
          <p:cNvPr id="1229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2293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442EB31-159C-4F3A-B795-D22356F0A94B}" type="slidenum">
              <a:rPr lang="en-US" altLang="en-GB" sz="1200">
                <a:latin typeface="Calibri" panose="020F0502020204030204" pitchFamily="34" charset="0"/>
              </a:rPr>
              <a:pPr algn="r"/>
              <a:t>5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F16A43-1F4A-426A-A9C0-3B2F9393C68A}" type="slidenum">
              <a:rPr lang="en-US" altLang="en-GB"/>
              <a:pPr/>
              <a:t>6</a:t>
            </a:fld>
            <a:endParaRPr lang="en-US" altLang="en-GB"/>
          </a:p>
        </p:txBody>
      </p:sp>
      <p:sp>
        <p:nvSpPr>
          <p:cNvPr id="1433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4341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964EC26-210D-4D8B-82EA-AB82D3B591D3}" type="slidenum">
              <a:rPr lang="en-US" altLang="en-GB" sz="1200">
                <a:latin typeface="Calibri" panose="020F0502020204030204" pitchFamily="34" charset="0"/>
              </a:rPr>
              <a:pPr algn="r"/>
              <a:t>6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ADFB3D-8E4B-4F38-BE6D-87367D0C233D}" type="slidenum">
              <a:rPr lang="en-US" altLang="en-GB"/>
              <a:pPr/>
              <a:t>7</a:t>
            </a:fld>
            <a:endParaRPr lang="en-US" altLang="en-GB"/>
          </a:p>
        </p:txBody>
      </p:sp>
      <p:sp>
        <p:nvSpPr>
          <p:cNvPr id="1638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6389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9BB3FFF-5006-4DCD-A48F-C32575C54484}" type="slidenum">
              <a:rPr lang="en-US" altLang="en-GB" sz="1200">
                <a:latin typeface="Calibri" panose="020F0502020204030204" pitchFamily="34" charset="0"/>
              </a:rPr>
              <a:pPr algn="r"/>
              <a:t>7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D608F1-2C29-42C7-BD0A-2EDAA68C780E}" type="slidenum">
              <a:rPr lang="en-US" altLang="en-GB"/>
              <a:pPr/>
              <a:t>8</a:t>
            </a:fld>
            <a:endParaRPr lang="en-US" altLang="en-GB"/>
          </a:p>
        </p:txBody>
      </p:sp>
      <p:sp>
        <p:nvSpPr>
          <p:cNvPr id="1843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18437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AD9D14A-3FA9-496F-A748-5042C438F88B}" type="slidenum">
              <a:rPr lang="en-US" altLang="en-GB" sz="1200">
                <a:latin typeface="Calibri" panose="020F0502020204030204" pitchFamily="34" charset="0"/>
              </a:rPr>
              <a:pPr algn="r"/>
              <a:t>8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41DA56-5F68-4C18-A7C2-DE25A5E3E30C}" type="slidenum">
              <a:rPr lang="en-US" altLang="en-GB"/>
              <a:pPr/>
              <a:t>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59E996-D508-477C-8ADF-D985EA27EBF8}" type="slidenum">
              <a:rPr lang="en-US" altLang="en-GB"/>
              <a:pPr/>
              <a:t>10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AEB5B8-5ECD-4821-BF4D-1E352C8D93EF}" type="slidenum">
              <a:rPr lang="en-US" altLang="en-GB"/>
              <a:pPr/>
              <a:t>11</a:t>
            </a:fld>
            <a:endParaRPr lang="en-US" altLang="en-GB"/>
          </a:p>
        </p:txBody>
      </p:sp>
      <p:sp>
        <p:nvSpPr>
          <p:cNvPr id="2457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4581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F1CA289-442B-4B86-ACAF-8C52D1F7B3B7}" type="slidenum">
              <a:rPr lang="en-US" altLang="en-GB" sz="1200">
                <a:latin typeface="Calibri" panose="020F0502020204030204" pitchFamily="34" charset="0"/>
              </a:rPr>
              <a:pPr algn="r"/>
              <a:t>11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BDF091-BF80-4E09-8559-6A7372ED667C}" type="slidenum">
              <a:rPr lang="en-US" altLang="en-GB"/>
              <a:pPr/>
              <a:t>12</a:t>
            </a:fld>
            <a:endParaRPr lang="en-US" altLang="en-GB"/>
          </a:p>
        </p:txBody>
      </p:sp>
      <p:sp>
        <p:nvSpPr>
          <p:cNvPr id="2662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6629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6EC80CDA-547F-4A64-9BB8-3D87F392EC7C}" type="slidenum">
              <a:rPr lang="en-US" altLang="en-GB" sz="1200">
                <a:latin typeface="Calibri" panose="020F0502020204030204" pitchFamily="34" charset="0"/>
              </a:rPr>
              <a:pPr algn="r"/>
              <a:t>12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1A2A39-BCE6-45F5-A1B3-B5E84CBD2172}" type="slidenum">
              <a:rPr lang="en-US" altLang="en-GB"/>
              <a:pPr/>
              <a:t>13</a:t>
            </a:fld>
            <a:endParaRPr lang="en-US" altLang="en-GB"/>
          </a:p>
        </p:txBody>
      </p:sp>
      <p:sp>
        <p:nvSpPr>
          <p:cNvPr id="2867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28677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E3D973C-6E2D-4F18-BB7F-E6B177B1CA9E}" type="slidenum">
              <a:rPr lang="en-US" altLang="en-GB" sz="1200">
                <a:latin typeface="Calibri" panose="020F0502020204030204" pitchFamily="34" charset="0"/>
              </a:rPr>
              <a:pPr algn="r"/>
              <a:t>13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C63D3F-B62F-47DE-AF63-D4957049C1C9}" type="slidenum">
              <a:rPr lang="en-US" altLang="en-GB"/>
              <a:pPr/>
              <a:t>14</a:t>
            </a:fld>
            <a:endParaRPr lang="en-US" altLang="en-GB"/>
          </a:p>
        </p:txBody>
      </p:sp>
      <p:sp>
        <p:nvSpPr>
          <p:cNvPr id="3072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0725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B2FFB2A-8781-4A3B-B4DD-B5A1A23669DC}" type="slidenum">
              <a:rPr lang="en-US" altLang="en-GB" sz="1200">
                <a:latin typeface="Calibri" panose="020F0502020204030204" pitchFamily="34" charset="0"/>
              </a:rPr>
              <a:pPr algn="r"/>
              <a:t>14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3D7BA9-F34F-4A4F-9C02-4E570363CA4B}" type="slidenum">
              <a:rPr lang="en-US" altLang="en-GB"/>
              <a:pPr/>
              <a:t>15</a:t>
            </a:fld>
            <a:endParaRPr lang="en-US" altLang="en-GB"/>
          </a:p>
        </p:txBody>
      </p:sp>
      <p:sp>
        <p:nvSpPr>
          <p:cNvPr id="3277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2773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FF122D22-95F1-4E3E-AE11-FAF8975EF980}" type="slidenum">
              <a:rPr lang="en-US" altLang="en-GB" sz="1200">
                <a:latin typeface="Calibri" panose="020F0502020204030204" pitchFamily="34" charset="0"/>
              </a:rPr>
              <a:pPr algn="r"/>
              <a:t>15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A7B5D6-17A5-4C0C-BACF-70B1472D1EE7}" type="slidenum">
              <a:rPr lang="en-US" altLang="en-GB"/>
              <a:pPr/>
              <a:t>16</a:t>
            </a:fld>
            <a:endParaRPr lang="en-US" altLang="en-GB"/>
          </a:p>
        </p:txBody>
      </p:sp>
      <p:sp>
        <p:nvSpPr>
          <p:cNvPr id="3481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4821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0C3C3AF-D4EC-42F6-9C92-90A853C107D4}" type="slidenum">
              <a:rPr lang="en-US" altLang="en-GB" sz="1200">
                <a:latin typeface="Calibri" panose="020F0502020204030204" pitchFamily="34" charset="0"/>
              </a:rPr>
              <a:pPr algn="r"/>
              <a:t>16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1CB943-BB86-49B8-8387-30BBF3E19943}" type="slidenum">
              <a:rPr lang="en-US" altLang="en-GB"/>
              <a:pPr/>
              <a:t>17</a:t>
            </a:fld>
            <a:endParaRPr lang="en-US" altLang="en-GB"/>
          </a:p>
        </p:txBody>
      </p:sp>
      <p:sp>
        <p:nvSpPr>
          <p:cNvPr id="3686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6869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C72ED4A5-FC9D-4EB8-807D-BE09E5E8E0A9}" type="slidenum">
              <a:rPr lang="en-US" altLang="en-GB" sz="1200">
                <a:latin typeface="Calibri" panose="020F0502020204030204" pitchFamily="34" charset="0"/>
              </a:rPr>
              <a:pPr algn="r"/>
              <a:t>17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53723E-F87B-4160-869E-1EB00D53F52C}" type="slidenum">
              <a:rPr lang="en-US" altLang="en-GB"/>
              <a:pPr/>
              <a:t>18</a:t>
            </a:fld>
            <a:endParaRPr lang="en-US" altLang="en-GB"/>
          </a:p>
        </p:txBody>
      </p:sp>
      <p:sp>
        <p:nvSpPr>
          <p:cNvPr id="3891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38917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606FC9C-6273-4757-B1B8-6A17DEFBD7FE}" type="slidenum">
              <a:rPr lang="en-US" altLang="en-GB" sz="1200">
                <a:latin typeface="Calibri" panose="020F0502020204030204" pitchFamily="34" charset="0"/>
              </a:rPr>
              <a:pPr algn="r"/>
              <a:t>18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CE1FCD-13E9-44F1-80B7-CB1DD5BE2FF9}" type="slidenum">
              <a:rPr lang="en-US" altLang="en-GB"/>
              <a:pPr/>
              <a:t>19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54B483-5EC1-464D-B69C-A2D0BC98D181}" type="slidenum">
              <a:rPr lang="en-US" altLang="en-GB"/>
              <a:pPr/>
              <a:t>20</a:t>
            </a:fld>
            <a:endParaRPr lang="en-US" altLang="en-GB"/>
          </a:p>
        </p:txBody>
      </p:sp>
      <p:sp>
        <p:nvSpPr>
          <p:cNvPr id="4301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3013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833E716-1DFB-4B6A-9B6C-B6E2314AF599}" type="slidenum">
              <a:rPr lang="en-US" altLang="en-GB" sz="1200">
                <a:latin typeface="Calibri" panose="020F0502020204030204" pitchFamily="34" charset="0"/>
              </a:rPr>
              <a:pPr algn="r"/>
              <a:t>20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1C356F8-4718-4768-98A0-C6F6D7363841}" type="slidenum">
              <a:rPr lang="en-US" altLang="en-GB"/>
              <a:pPr/>
              <a:t>21</a:t>
            </a:fld>
            <a:endParaRPr lang="en-US" altLang="en-GB"/>
          </a:p>
        </p:txBody>
      </p:sp>
      <p:sp>
        <p:nvSpPr>
          <p:cNvPr id="4505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5061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1558367-5F1F-4117-AE38-0F2E90913B44}" type="slidenum">
              <a:rPr lang="en-US" altLang="en-GB" sz="1200">
                <a:latin typeface="Calibri" panose="020F0502020204030204" pitchFamily="34" charset="0"/>
              </a:rPr>
              <a:pPr algn="r"/>
              <a:t>21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F2CA59-A263-4E2F-B72E-F67C6BCF08F6}" type="slidenum">
              <a:rPr lang="en-US" altLang="en-GB"/>
              <a:pPr/>
              <a:t>22</a:t>
            </a:fld>
            <a:endParaRPr lang="en-US" altLang="en-GB"/>
          </a:p>
        </p:txBody>
      </p:sp>
      <p:sp>
        <p:nvSpPr>
          <p:cNvPr id="4710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7109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240297B-EC8F-4FB4-BC7A-C33507721483}" type="slidenum">
              <a:rPr lang="en-US" altLang="en-GB" sz="1200">
                <a:latin typeface="Calibri" panose="020F0502020204030204" pitchFamily="34" charset="0"/>
              </a:rPr>
              <a:pPr algn="r"/>
              <a:t>22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3A2361-6D5E-43D8-A60A-EEEA8783609E}" type="slidenum">
              <a:rPr lang="en-US" altLang="en-GB"/>
              <a:pPr/>
              <a:t>23</a:t>
            </a:fld>
            <a:endParaRPr lang="en-US" altLang="en-GB"/>
          </a:p>
        </p:txBody>
      </p:sp>
      <p:sp>
        <p:nvSpPr>
          <p:cNvPr id="4915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49157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2C6512C-C25E-4CDE-A59B-225BDB1BECE0}" type="slidenum">
              <a:rPr lang="en-US" altLang="en-GB" sz="1200">
                <a:latin typeface="Calibri" panose="020F0502020204030204" pitchFamily="34" charset="0"/>
              </a:rPr>
              <a:pPr algn="r"/>
              <a:t>23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C969E7-1D08-4E04-A42D-17A890D4EDE0}" type="slidenum">
              <a:rPr lang="en-US" altLang="en-GB"/>
              <a:pPr/>
              <a:t>24</a:t>
            </a:fld>
            <a:endParaRPr lang="en-US" altLang="en-GB"/>
          </a:p>
        </p:txBody>
      </p:sp>
      <p:sp>
        <p:nvSpPr>
          <p:cNvPr id="5120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1205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1207E01-BB2C-4741-BD21-3CA66FA4C565}" type="slidenum">
              <a:rPr lang="en-US" altLang="en-GB" sz="1200">
                <a:latin typeface="Calibri" panose="020F0502020204030204" pitchFamily="34" charset="0"/>
              </a:rPr>
              <a:pPr algn="r"/>
              <a:t>24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7E2FE4-8BBC-4397-B294-02F0AE83BDBD}" type="slidenum">
              <a:rPr lang="en-US" altLang="en-GB"/>
              <a:pPr/>
              <a:t>25</a:t>
            </a:fld>
            <a:endParaRPr lang="en-US" altLang="en-GB"/>
          </a:p>
        </p:txBody>
      </p:sp>
      <p:sp>
        <p:nvSpPr>
          <p:cNvPr id="5325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3253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7F5F6DAB-88D4-4650-BFB6-BC7B50A1B797}" type="slidenum">
              <a:rPr lang="en-US" altLang="en-GB" sz="1200">
                <a:latin typeface="Calibri" panose="020F0502020204030204" pitchFamily="34" charset="0"/>
              </a:rPr>
              <a:pPr algn="r"/>
              <a:t>25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57C51B-294E-4847-BACA-5C657E6B0388}" type="slidenum">
              <a:rPr lang="en-US" altLang="en-GB"/>
              <a:pPr/>
              <a:t>26</a:t>
            </a:fld>
            <a:endParaRPr lang="en-US" altLang="en-GB"/>
          </a:p>
        </p:txBody>
      </p:sp>
      <p:sp>
        <p:nvSpPr>
          <p:cNvPr id="5529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5301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9B90C2D7-0367-4E0F-842F-05711061448B}" type="slidenum">
              <a:rPr lang="en-US" altLang="en-GB" sz="1200">
                <a:latin typeface="Calibri" panose="020F0502020204030204" pitchFamily="34" charset="0"/>
              </a:rPr>
              <a:pPr algn="r"/>
              <a:t>26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B40B0B-0D93-4C68-A49B-E5337EB522ED}" type="slidenum">
              <a:rPr lang="en-US" altLang="en-GB"/>
              <a:pPr/>
              <a:t>27</a:t>
            </a:fld>
            <a:endParaRPr lang="en-US" altLang="en-GB"/>
          </a:p>
        </p:txBody>
      </p:sp>
      <p:sp>
        <p:nvSpPr>
          <p:cNvPr id="5734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7349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26F6FB00-5775-4449-8511-D6CF0093D7F2}" type="slidenum">
              <a:rPr lang="en-US" altLang="en-GB" sz="1200">
                <a:latin typeface="Calibri" panose="020F0502020204030204" pitchFamily="34" charset="0"/>
              </a:rPr>
              <a:pPr algn="r"/>
              <a:t>27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EBADAE-C764-425F-89BB-84AADAAB8EAB}" type="slidenum">
              <a:rPr lang="en-US" altLang="en-GB"/>
              <a:pPr/>
              <a:t>28</a:t>
            </a:fld>
            <a:endParaRPr lang="en-US" altLang="en-GB"/>
          </a:p>
        </p:txBody>
      </p:sp>
      <p:sp>
        <p:nvSpPr>
          <p:cNvPr id="5939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59397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3AD3E31-BE99-4E37-8064-3A2A9EB0D483}" type="slidenum">
              <a:rPr lang="en-US" altLang="en-GB" sz="1200">
                <a:latin typeface="Calibri" panose="020F0502020204030204" pitchFamily="34" charset="0"/>
              </a:rPr>
              <a:pPr algn="r"/>
              <a:t>28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9E585F-48A3-41EF-A04C-5B33594DBA02}" type="slidenum">
              <a:rPr lang="en-US" altLang="en-GB"/>
              <a:pPr/>
              <a:t>29</a:t>
            </a:fld>
            <a:endParaRPr lang="en-US" altLang="en-GB"/>
          </a:p>
        </p:txBody>
      </p:sp>
      <p:sp>
        <p:nvSpPr>
          <p:cNvPr id="6144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1445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A2BDA77-4070-4A4D-9606-686C8045C7D9}" type="slidenum">
              <a:rPr lang="en-US" altLang="en-GB" sz="1200">
                <a:latin typeface="Calibri" panose="020F0502020204030204" pitchFamily="34" charset="0"/>
              </a:rPr>
              <a:pPr algn="r"/>
              <a:t>29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B4BDF2-D4FA-4B32-B141-28E9BD0632B5}" type="slidenum">
              <a:rPr lang="en-US" altLang="en-GB"/>
              <a:pPr/>
              <a:t>30</a:t>
            </a:fld>
            <a:endParaRPr lang="en-US" altLang="en-GB"/>
          </a:p>
        </p:txBody>
      </p:sp>
      <p:sp>
        <p:nvSpPr>
          <p:cNvPr id="6349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3493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1B73D833-41FD-420C-99B1-DA7E72390C53}" type="slidenum">
              <a:rPr lang="en-US" altLang="en-GB" sz="1200">
                <a:latin typeface="Calibri" panose="020F0502020204030204" pitchFamily="34" charset="0"/>
              </a:rPr>
              <a:pPr algn="r"/>
              <a:t>30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B93927-F589-4D53-BAC4-5D71769CD0C2}" type="slidenum">
              <a:rPr lang="en-US" altLang="en-GB"/>
              <a:pPr/>
              <a:t>31</a:t>
            </a:fld>
            <a:endParaRPr lang="en-US" altLang="en-GB"/>
          </a:p>
        </p:txBody>
      </p:sp>
      <p:sp>
        <p:nvSpPr>
          <p:cNvPr id="6553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5541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18155DC-FA49-4B83-99AD-DD52D89B7DF0}" type="slidenum">
              <a:rPr lang="en-US" altLang="en-GB" sz="1200">
                <a:latin typeface="Calibri" panose="020F0502020204030204" pitchFamily="34" charset="0"/>
              </a:rPr>
              <a:pPr algn="r"/>
              <a:t>31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1AE7AE-1E64-46BF-9CA2-9C8E1A508B24}" type="slidenum">
              <a:rPr lang="en-US" altLang="en-GB"/>
              <a:pPr/>
              <a:t>32</a:t>
            </a:fld>
            <a:endParaRPr lang="en-US" altLang="en-GB"/>
          </a:p>
        </p:txBody>
      </p:sp>
      <p:sp>
        <p:nvSpPr>
          <p:cNvPr id="6758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7589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BEA49C9-B609-4FC3-B1B7-2B68F09EB2C5}" type="slidenum">
              <a:rPr lang="en-US" altLang="en-GB" sz="1200">
                <a:latin typeface="Calibri" panose="020F0502020204030204" pitchFamily="34" charset="0"/>
              </a:rPr>
              <a:pPr algn="r"/>
              <a:t>32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B9ADFB-D57F-4AF5-85A7-B2A6D0FD9ADE}" type="slidenum">
              <a:rPr lang="en-US" altLang="en-GB"/>
              <a:pPr/>
              <a:t>33</a:t>
            </a:fld>
            <a:endParaRPr lang="en-US" altLang="en-GB"/>
          </a:p>
        </p:txBody>
      </p:sp>
      <p:sp>
        <p:nvSpPr>
          <p:cNvPr id="6963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69637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DCC053FB-60C5-4428-93B6-6635098693C8}" type="slidenum">
              <a:rPr lang="en-US" altLang="en-GB" sz="1200">
                <a:latin typeface="Calibri" panose="020F0502020204030204" pitchFamily="34" charset="0"/>
              </a:rPr>
              <a:pPr algn="r"/>
              <a:t>33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C221C2-14E6-4E8F-BE97-D37495190FD4}" type="slidenum">
              <a:rPr lang="en-US" altLang="en-GB"/>
              <a:pPr/>
              <a:t>34</a:t>
            </a:fld>
            <a:endParaRPr lang="en-US" altLang="en-GB"/>
          </a:p>
        </p:txBody>
      </p:sp>
      <p:sp>
        <p:nvSpPr>
          <p:cNvPr id="71683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71685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32959058-370C-47DF-B3E4-6FF490C9AE9E}" type="slidenum">
              <a:rPr lang="en-US" altLang="en-GB" sz="1200">
                <a:latin typeface="Calibri" panose="020F0502020204030204" pitchFamily="34" charset="0"/>
              </a:rPr>
              <a:pPr algn="r"/>
              <a:t>34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8D475A-29E5-41D7-89CD-28C86E52E418}" type="slidenum">
              <a:rPr lang="en-US" altLang="en-GB"/>
              <a:pPr/>
              <a:t>35</a:t>
            </a:fld>
            <a:endParaRPr lang="en-US" altLang="en-GB"/>
          </a:p>
        </p:txBody>
      </p:sp>
      <p:sp>
        <p:nvSpPr>
          <p:cNvPr id="73731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73733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ADEB543-472D-4BD2-AC15-422FD310D8A1}" type="slidenum">
              <a:rPr lang="en-US" altLang="en-GB" sz="1200">
                <a:latin typeface="Calibri" panose="020F0502020204030204" pitchFamily="34" charset="0"/>
              </a:rPr>
              <a:pPr algn="r"/>
              <a:t>35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B767CB-2BEE-4ADE-BAE3-B4A1229D56D9}" type="slidenum">
              <a:rPr lang="en-US" altLang="en-GB"/>
              <a:pPr/>
              <a:t>36</a:t>
            </a:fld>
            <a:endParaRPr lang="en-US" altLang="en-GB"/>
          </a:p>
        </p:txBody>
      </p:sp>
      <p:sp>
        <p:nvSpPr>
          <p:cNvPr id="75779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75781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83ED0603-576B-46EF-91E7-B9561CA486BC}" type="slidenum">
              <a:rPr lang="en-US" altLang="en-GB" sz="1200">
                <a:latin typeface="Calibri" panose="020F0502020204030204" pitchFamily="34" charset="0"/>
              </a:rPr>
              <a:pPr algn="r"/>
              <a:t>36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854579-D404-4753-B3EC-D08CDC79229F}" type="slidenum">
              <a:rPr lang="en-US" altLang="en-GB"/>
              <a:pPr/>
              <a:t>37</a:t>
            </a:fld>
            <a:endParaRPr lang="en-US" altLang="en-GB"/>
          </a:p>
        </p:txBody>
      </p:sp>
      <p:sp>
        <p:nvSpPr>
          <p:cNvPr id="7782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77829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3CE2E3F-68EC-48FB-810E-48B93EAC632C}" type="slidenum">
              <a:rPr lang="en-US" altLang="en-GB" sz="1200">
                <a:latin typeface="Calibri" panose="020F0502020204030204" pitchFamily="34" charset="0"/>
              </a:rPr>
              <a:pPr algn="r"/>
              <a:t>37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05DC04-C262-4EA5-9B29-BF21D137503A}" type="slidenum">
              <a:rPr lang="en-US" altLang="en-GB"/>
              <a:pPr/>
              <a:t>38</a:t>
            </a:fld>
            <a:endParaRPr lang="en-US" altLang="en-GB"/>
          </a:p>
        </p:txBody>
      </p:sp>
      <p:sp>
        <p:nvSpPr>
          <p:cNvPr id="7987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79877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EB8644A-F2F9-4144-B521-E17D6080ABAC}" type="slidenum">
              <a:rPr lang="en-US" altLang="en-GB" sz="1200">
                <a:latin typeface="Calibri" panose="020F0502020204030204" pitchFamily="34" charset="0"/>
              </a:rPr>
              <a:pPr algn="r"/>
              <a:t>38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54957E-940A-4038-BE40-8F4AF4CEC641}" type="slidenum">
              <a:rPr lang="en-US" altLang="en-GB"/>
              <a:pPr/>
              <a:t>39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B6FEA1-9BFF-4DB2-9F1E-398734D78CAB}" type="slidenum">
              <a:rPr lang="en-US" altLang="en-GB"/>
              <a:pPr/>
              <a:t>40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58B2B8-9AA0-4154-9348-23E26E4D1F43}" type="slidenum">
              <a:rPr lang="en-US" altLang="en-GB"/>
              <a:pPr/>
              <a:t>41</a:t>
            </a:fld>
            <a:endParaRPr lang="en-US" altLang="en-GB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D06CA6-35B6-4367-B4E1-006E7C6EE329}" type="slidenum">
              <a:rPr lang="en-US" altLang="en-GB"/>
              <a:pPr/>
              <a:t>42</a:t>
            </a:fld>
            <a:endParaRPr lang="en-US" altLang="en-GB"/>
          </a:p>
        </p:txBody>
      </p:sp>
      <p:sp>
        <p:nvSpPr>
          <p:cNvPr id="88067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88069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06E181A-EA89-46DC-88EF-AC0BC78BB7D8}" type="slidenum">
              <a:rPr lang="en-US" altLang="en-GB" sz="1200">
                <a:latin typeface="Calibri" panose="020F0502020204030204" pitchFamily="34" charset="0"/>
              </a:rPr>
              <a:pPr algn="r"/>
              <a:t>42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7A262A-6160-42B0-A49A-4286399BBE91}" type="slidenum">
              <a:rPr lang="en-US" altLang="en-GB"/>
              <a:pPr/>
              <a:t>43</a:t>
            </a:fld>
            <a:endParaRPr lang="en-US" altLang="en-GB"/>
          </a:p>
        </p:txBody>
      </p:sp>
      <p:sp>
        <p:nvSpPr>
          <p:cNvPr id="90115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90117" name="Slide Number Placeholder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A912180F-DE74-4C40-A309-45C7BFF7EE2A}" type="slidenum">
              <a:rPr lang="en-US" altLang="en-GB" sz="1200">
                <a:latin typeface="Calibri" panose="020F0502020204030204" pitchFamily="34" charset="0"/>
              </a:rPr>
              <a:pPr algn="r"/>
              <a:t>43</a:t>
            </a:fld>
            <a:endParaRPr lang="en-US" altLang="en-GB" sz="120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GB" smtClean="0">
              <a:latin typeface="Arial" panose="020B0604020202020204" pitchFamily="34" charset="0"/>
            </a:endParaRPr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7918E8-932E-42B8-8D57-F9C00C0AC836}" type="slidenum">
              <a:rPr lang="en-US" altLang="en-GB"/>
              <a:pPr/>
              <a:t>44</a:t>
            </a:fld>
            <a:endParaRPr lang="en-US" alt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14C9AE-6EF9-4994-8B13-8715326617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1814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F43549-0EC9-4A3A-B151-9A79D8F07F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8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34B87C-1581-40D8-A080-3BAFACCD1D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856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35834-54C1-4306-BA6D-4ACA2B5F6A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831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BDDFDD-7558-4C79-A730-C085033538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940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8CFC79-B393-4128-88B3-D6E6307CB8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7432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7CA5DE-1833-4E51-80FB-1CEC36052A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943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772DBF-C426-46B2-8722-FE21ADF9AE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4807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626DD-4544-41F5-831E-6BE86C5204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928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6A1D6-F8AC-4347-8EE3-D5B26945E5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29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07F99-C514-44BE-933B-AA8E713F04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31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smtClean="0"/>
              <a:t>Click to edit Master text styles</a:t>
            </a:r>
          </a:p>
          <a:p>
            <a:pPr lvl="1"/>
            <a:r>
              <a:rPr lang="en-US" altLang="en-GB" smtClean="0"/>
              <a:t>Second level</a:t>
            </a:r>
          </a:p>
          <a:p>
            <a:pPr lvl="2"/>
            <a:r>
              <a:rPr lang="en-US" altLang="en-GB" smtClean="0"/>
              <a:t>Third level</a:t>
            </a:r>
          </a:p>
          <a:p>
            <a:pPr lvl="3"/>
            <a:r>
              <a:rPr lang="en-US" altLang="en-GB" smtClean="0"/>
              <a:t>Fourth level</a:t>
            </a:r>
          </a:p>
          <a:p>
            <a:pPr lvl="4"/>
            <a:r>
              <a:rPr lang="en-US" altLang="en-GB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Oct 5, 2016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Theory of Automata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F41961D-65EC-4321-AB6F-6228847BDAC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wmf"/><Relationship Id="rId10" Type="http://schemas.openxmlformats.org/officeDocument/2006/relationships/image" Target="../media/image10.wmf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4.wmf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2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4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6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Theory of Automata</a:t>
            </a:r>
            <a:br>
              <a:rPr lang="en-US" altLang="en-GB" smtClean="0"/>
            </a:br>
            <a:r>
              <a:rPr lang="en-US" altLang="en-GB" smtClean="0"/>
              <a:t> Context Free Grammars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98989"/>
              </a:buClr>
              <a:buSzPts val="2500"/>
              <a:defRPr/>
            </a:pPr>
            <a:r>
              <a:rPr lang="en-US" sz="2400">
                <a:solidFill>
                  <a:srgbClr val="898989"/>
                </a:solidFill>
                <a:ea typeface="Calibri"/>
                <a:cs typeface="Calibri"/>
                <a:sym typeface="Calibri"/>
              </a:rPr>
              <a:t>Week </a:t>
            </a:r>
            <a:r>
              <a:rPr lang="en-US" sz="2400" dirty="0">
                <a:solidFill>
                  <a:srgbClr val="898989"/>
                </a:solidFill>
                <a:ea typeface="Calibri"/>
                <a:cs typeface="Calibri"/>
                <a:sym typeface="Calibri"/>
              </a:rPr>
              <a:t>8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E0946C-A7BD-4B04-8FA3-DE215966223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3800" smtClean="0"/>
              <a:t>Contents</a:t>
            </a:r>
          </a:p>
        </p:txBody>
      </p:sp>
      <p:sp>
        <p:nvSpPr>
          <p:cNvPr id="512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GB" sz="2600" smtClean="0"/>
              <a:t>Simplification of CFGs</a:t>
            </a:r>
          </a:p>
          <a:p>
            <a:pPr lvl="1" eaLnBrk="1" hangingPunct="1"/>
            <a:r>
              <a:rPr lang="en-US" altLang="en-GB" sz="2200" smtClean="0"/>
              <a:t>Killing </a:t>
            </a:r>
            <a:r>
              <a:rPr lang="el-GR" altLang="en-GB" sz="2200" smtClean="0">
                <a:cs typeface="Arial" panose="020B0604020202020204" pitchFamily="34" charset="0"/>
              </a:rPr>
              <a:t>Λ</a:t>
            </a:r>
            <a:r>
              <a:rPr lang="en-US" altLang="en-GB" sz="2200" smtClean="0">
                <a:cs typeface="Arial" panose="020B0604020202020204" pitchFamily="34" charset="0"/>
              </a:rPr>
              <a:t>-Productions</a:t>
            </a:r>
          </a:p>
          <a:p>
            <a:pPr lvl="1" eaLnBrk="1" hangingPunct="1"/>
            <a:r>
              <a:rPr lang="en-US" altLang="en-GB" sz="2200" smtClean="0"/>
              <a:t>Killing unit-productions</a:t>
            </a:r>
          </a:p>
          <a:p>
            <a:pPr lvl="1" eaLnBrk="1" hangingPunct="1"/>
            <a:r>
              <a:rPr lang="en-US" altLang="en-GB" sz="2200" smtClean="0"/>
              <a:t>Removing Useless Variables</a:t>
            </a:r>
          </a:p>
          <a:p>
            <a:pPr lvl="2" eaLnBrk="1" hangingPunct="1"/>
            <a:r>
              <a:rPr lang="en-US" altLang="en-GB" smtClean="0"/>
              <a:t>Symbols &amp; Productions</a:t>
            </a:r>
          </a:p>
          <a:p>
            <a:pPr lvl="1" eaLnBrk="1" hangingPunct="1"/>
            <a:r>
              <a:rPr lang="en-US" altLang="en-GB" sz="2200" smtClean="0"/>
              <a:t>Augmented Grammar</a:t>
            </a:r>
          </a:p>
          <a:p>
            <a:pPr lvl="1" eaLnBrk="1" hangingPunct="1"/>
            <a:r>
              <a:rPr lang="en-US" altLang="en-GB" smtClean="0"/>
              <a:t>Removal of Left Recursion</a:t>
            </a:r>
          </a:p>
          <a:p>
            <a:pPr lvl="1" eaLnBrk="1" hangingPunct="1"/>
            <a:r>
              <a:rPr lang="en-US" altLang="en-GB" smtClean="0"/>
              <a:t>Expression Grammar</a:t>
            </a:r>
          </a:p>
          <a:p>
            <a:pPr lvl="1" eaLnBrk="1" hangingPunct="1"/>
            <a:r>
              <a:rPr lang="en-US" altLang="en-GB" smtClean="0"/>
              <a:t>Left Factoring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EE4641-3BA6-43FB-9E59-C4D67AA15A0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Killing </a:t>
            </a:r>
            <a:r>
              <a:rPr lang="el-GR" altLang="en-GB" sz="2900" smtClean="0">
                <a:cs typeface="Arial" panose="020B0604020202020204" pitchFamily="34" charset="0"/>
              </a:rPr>
              <a:t>Λ</a:t>
            </a:r>
            <a:r>
              <a:rPr lang="en-US" altLang="en-GB" sz="2900" smtClean="0">
                <a:cs typeface="Arial" panose="020B0604020202020204" pitchFamily="34" charset="0"/>
              </a:rPr>
              <a:t>-Productions</a:t>
            </a:r>
            <a:endParaRPr lang="el-GR" altLang="en-GB" sz="2900" smtClean="0">
              <a:cs typeface="Arial" panose="020B0604020202020204" pitchFamily="34" charset="0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type="body" idx="4294967295"/>
          </p:nvPr>
        </p:nvSpPr>
        <p:spPr>
          <a:xfrm>
            <a:off x="457200" y="1219200"/>
            <a:ext cx="8686800" cy="4876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l-GR" altLang="en-GB" sz="2600" smtClean="0">
                <a:solidFill>
                  <a:srgbClr val="00B0F0"/>
                </a:solidFill>
                <a:cs typeface="Arial" panose="020B0604020202020204" pitchFamily="34" charset="0"/>
              </a:rPr>
              <a:t>Λ</a:t>
            </a:r>
            <a:r>
              <a:rPr lang="en-US" altLang="en-GB" sz="2600" smtClean="0">
                <a:solidFill>
                  <a:srgbClr val="00B0F0"/>
                </a:solidFill>
                <a:cs typeface="Arial" panose="020B0604020202020204" pitchFamily="34" charset="0"/>
              </a:rPr>
              <a:t>-Productions: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600" smtClean="0">
                <a:cs typeface="Arial" panose="020B0604020202020204" pitchFamily="34" charset="0"/>
              </a:rPr>
              <a:t>In a given CFG, we call a non-terminal N </a:t>
            </a:r>
            <a:r>
              <a:rPr lang="en-US" altLang="en-GB" sz="2600" b="1" i="1" smtClean="0">
                <a:solidFill>
                  <a:srgbClr val="FF0000"/>
                </a:solidFill>
                <a:cs typeface="Arial" panose="020B0604020202020204" pitchFamily="34" charset="0"/>
              </a:rPr>
              <a:t>nullable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smtClean="0">
                <a:cs typeface="Arial" panose="020B0604020202020204" pitchFamily="34" charset="0"/>
              </a:rPr>
              <a:t>if there is a production N </a:t>
            </a:r>
            <a:r>
              <a:rPr lang="en-US" altLang="en-GB" sz="2600" smtClean="0"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l-GR" altLang="en-GB" sz="2600" smtClean="0">
                <a:cs typeface="Arial" panose="020B0604020202020204" pitchFamily="34" charset="0"/>
              </a:rPr>
              <a:t>Λ</a:t>
            </a:r>
            <a:r>
              <a:rPr lang="en-US" altLang="en-GB" sz="2600" smtClean="0">
                <a:cs typeface="Arial" panose="020B0604020202020204" pitchFamily="34" charset="0"/>
              </a:rPr>
              <a:t>, or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smtClean="0">
                <a:cs typeface="Arial" panose="020B0604020202020204" pitchFamily="34" charset="0"/>
              </a:rPr>
              <a:t>there is a derivation that starts at N and lead to a </a:t>
            </a:r>
            <a:r>
              <a:rPr lang="el-GR" altLang="en-GB" sz="2600" smtClean="0">
                <a:cs typeface="Arial" panose="020B0604020202020204" pitchFamily="34" charset="0"/>
              </a:rPr>
              <a:t>Λ</a:t>
            </a:r>
            <a:r>
              <a:rPr lang="en-US" altLang="en-GB" sz="2600" smtClean="0">
                <a:cs typeface="Arial" panose="020B0604020202020204" pitchFamily="34" charset="0"/>
              </a:rPr>
              <a:t>.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600" smtClean="0">
                <a:cs typeface="Arial" panose="020B0604020202020204" pitchFamily="34" charset="0"/>
              </a:rPr>
              <a:t>		N </a:t>
            </a:r>
            <a:r>
              <a:rPr lang="en-US" altLang="en-GB" sz="2600" smtClean="0">
                <a:cs typeface="Arial" panose="020B0604020202020204" pitchFamily="34" charset="0"/>
                <a:sym typeface="Wingdings" panose="05000000000000000000" pitchFamily="2" charset="2"/>
              </a:rPr>
              <a:t> ………  </a:t>
            </a:r>
            <a:r>
              <a:rPr lang="el-GR" altLang="en-GB" sz="2600" smtClean="0">
                <a:cs typeface="Arial" panose="020B0604020202020204" pitchFamily="34" charset="0"/>
              </a:rPr>
              <a:t>Λ</a:t>
            </a:r>
            <a:endParaRPr lang="en-US" altLang="en-GB" sz="2600" smtClean="0">
              <a:cs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l-GR" altLang="en-GB" sz="2600" smtClean="0">
                <a:solidFill>
                  <a:srgbClr val="7030A0"/>
                </a:solidFill>
                <a:cs typeface="Arial" panose="020B0604020202020204" pitchFamily="34" charset="0"/>
              </a:rPr>
              <a:t>Λ</a:t>
            </a:r>
            <a:r>
              <a:rPr lang="en-US" altLang="en-GB" sz="2600" smtClean="0">
                <a:solidFill>
                  <a:srgbClr val="7030A0"/>
                </a:solidFill>
                <a:cs typeface="Arial" panose="020B0604020202020204" pitchFamily="34" charset="0"/>
              </a:rPr>
              <a:t>-Productions are undesirable</a:t>
            </a:r>
            <a:r>
              <a:rPr lang="en-US" altLang="en-GB" sz="2600" smtClean="0">
                <a:cs typeface="Arial" panose="020B0604020202020204" pitchFamily="34" charset="0"/>
              </a:rPr>
              <a:t>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600" smtClean="0">
                <a:cs typeface="Arial" panose="020B0604020202020204" pitchFamily="34" charset="0"/>
              </a:rPr>
              <a:t>We can replace </a:t>
            </a:r>
            <a:r>
              <a:rPr lang="el-GR" altLang="en-GB" sz="2600" smtClean="0">
                <a:cs typeface="Arial" panose="020B0604020202020204" pitchFamily="34" charset="0"/>
              </a:rPr>
              <a:t>Λ</a:t>
            </a:r>
            <a:r>
              <a:rPr lang="en-US" altLang="en-GB" sz="2600" smtClean="0">
                <a:cs typeface="Arial" panose="020B0604020202020204" pitchFamily="34" charset="0"/>
              </a:rPr>
              <a:t>-production with appropriate non-</a:t>
            </a:r>
            <a:r>
              <a:rPr lang="el-GR" altLang="en-GB" sz="2600" smtClean="0">
                <a:cs typeface="Arial" panose="020B0604020202020204" pitchFamily="34" charset="0"/>
              </a:rPr>
              <a:t>Λ</a:t>
            </a:r>
            <a:r>
              <a:rPr lang="en-US" altLang="en-GB" sz="2600" smtClean="0">
                <a:cs typeface="Arial" panose="020B0604020202020204" pitchFamily="34" charset="0"/>
              </a:rPr>
              <a:t> productions.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2600" smtClean="0"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A709D1-BC20-417F-8416-B32C4C12DE5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Theorem 23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43000"/>
            <a:ext cx="8686800" cy="4876800"/>
          </a:xfrm>
        </p:spPr>
        <p:txBody>
          <a:bodyPr rtlCol="0">
            <a:normAutofit lnSpcReduction="10000"/>
          </a:bodyPr>
          <a:lstStyle/>
          <a:p>
            <a:pPr marL="0" indent="0" algn="just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 sz="2100" i="1">
                <a:solidFill>
                  <a:srgbClr val="00B0F0"/>
                </a:solidFill>
                <a:latin typeface="Baskerville Old Face" pitchFamily="18" charset="0"/>
              </a:rPr>
              <a:t>If L is CFL generated by a CFG having </a:t>
            </a:r>
            <a:r>
              <a:rPr lang="el-GR" sz="2100" i="1">
                <a:solidFill>
                  <a:srgbClr val="00B0F0"/>
                </a:solidFill>
                <a:cs typeface="Arial" charset="0"/>
              </a:rPr>
              <a:t>Λ</a:t>
            </a:r>
            <a:r>
              <a:rPr lang="en-US" sz="2100" i="1">
                <a:solidFill>
                  <a:srgbClr val="00B0F0"/>
                </a:solidFill>
                <a:latin typeface="Baskerville Old Face" pitchFamily="18" charset="0"/>
                <a:cs typeface="Arial" charset="0"/>
              </a:rPr>
              <a:t>-productions, then there is a different CFG that has no </a:t>
            </a:r>
            <a:r>
              <a:rPr lang="el-GR" sz="2100" i="1">
                <a:solidFill>
                  <a:srgbClr val="00B0F0"/>
                </a:solidFill>
                <a:cs typeface="Arial" charset="0"/>
              </a:rPr>
              <a:t>Λ</a:t>
            </a:r>
            <a:r>
              <a:rPr lang="en-US" sz="2100" i="1">
                <a:solidFill>
                  <a:srgbClr val="00B0F0"/>
                </a:solidFill>
                <a:latin typeface="Baskerville Old Face" pitchFamily="18" charset="0"/>
                <a:cs typeface="Arial" charset="0"/>
              </a:rPr>
              <a:t>-production and still generates either the whole language L (if L does not include </a:t>
            </a:r>
            <a:r>
              <a:rPr lang="el-GR" sz="2100" i="1">
                <a:solidFill>
                  <a:srgbClr val="00B0F0"/>
                </a:solidFill>
                <a:cs typeface="Arial" charset="0"/>
              </a:rPr>
              <a:t>Λ</a:t>
            </a:r>
            <a:r>
              <a:rPr lang="en-US" sz="2100" i="1">
                <a:solidFill>
                  <a:srgbClr val="00B0F0"/>
                </a:solidFill>
                <a:latin typeface="Baskerville Old Face" pitchFamily="18" charset="0"/>
                <a:cs typeface="Arial" charset="0"/>
              </a:rPr>
              <a:t>) or else generate the language of all the words in L other than </a:t>
            </a:r>
            <a:r>
              <a:rPr lang="el-GR" sz="2100" i="1">
                <a:solidFill>
                  <a:srgbClr val="00B0F0"/>
                </a:solidFill>
                <a:cs typeface="Arial" charset="0"/>
              </a:rPr>
              <a:t>Λ</a:t>
            </a:r>
            <a:r>
              <a:rPr lang="en-US" sz="2100" i="1">
                <a:solidFill>
                  <a:srgbClr val="00B0F0"/>
                </a:solidFill>
                <a:latin typeface="Baskerville Old Face" pitchFamily="18" charset="0"/>
                <a:cs typeface="Arial" charset="0"/>
              </a:rPr>
              <a:t>.</a:t>
            </a:r>
          </a:p>
          <a:p>
            <a:pPr marL="0" indent="0" algn="just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en-US" sz="2100">
              <a:solidFill>
                <a:srgbClr val="FF3300"/>
              </a:solidFill>
              <a:cs typeface="Arial" charset="0"/>
            </a:endParaRPr>
          </a:p>
          <a:p>
            <a:pPr marL="0" indent="0" algn="just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 sz="2100">
                <a:solidFill>
                  <a:srgbClr val="FF3300"/>
                </a:solidFill>
                <a:cs typeface="Arial" charset="0"/>
              </a:rPr>
              <a:t>Replacement Rule.</a:t>
            </a:r>
          </a:p>
          <a:p>
            <a:pPr marL="0" indent="0" algn="just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en-US" sz="2800">
                <a:cs typeface="Arial" charset="0"/>
              </a:rPr>
              <a:t>Delete all </a:t>
            </a:r>
            <a:r>
              <a:rPr lang="el-GR" sz="2800">
                <a:cs typeface="Arial" charset="0"/>
              </a:rPr>
              <a:t>Λ</a:t>
            </a:r>
            <a:r>
              <a:rPr lang="en-US" sz="2800">
                <a:cs typeface="Arial" charset="0"/>
              </a:rPr>
              <a:t>-Productions.</a:t>
            </a:r>
          </a:p>
          <a:p>
            <a:pPr marL="0" indent="0" algn="just" eaLnBrk="1" fontAlgn="auto" hangingPunct="1">
              <a:lnSpc>
                <a:spcPct val="80000"/>
              </a:lnSpc>
              <a:spcAft>
                <a:spcPts val="0"/>
              </a:spcAft>
              <a:buFontTx/>
              <a:buAutoNum type="arabicPeriod"/>
              <a:defRPr/>
            </a:pPr>
            <a:r>
              <a:rPr lang="en-US" sz="2800">
                <a:cs typeface="Arial" charset="0"/>
              </a:rPr>
              <a:t>Add the following productions:</a:t>
            </a:r>
          </a:p>
          <a:p>
            <a:pPr marL="400050" lvl="1" indent="0" algn="just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>
                <a:solidFill>
                  <a:srgbClr val="00B050"/>
                </a:solidFill>
                <a:cs typeface="Arial" charset="0"/>
              </a:rPr>
              <a:t>For every production of the X </a:t>
            </a:r>
            <a:r>
              <a:rPr lang="en-US">
                <a:solidFill>
                  <a:srgbClr val="00B050"/>
                </a:solidFill>
                <a:cs typeface="Arial" charset="0"/>
                <a:sym typeface="Wingdings" pitchFamily="2" charset="2"/>
              </a:rPr>
              <a:t> old string</a:t>
            </a:r>
          </a:p>
          <a:p>
            <a:pPr marL="400050" lvl="1" indent="0" algn="just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en-US">
                <a:solidFill>
                  <a:srgbClr val="FF0000"/>
                </a:solidFill>
                <a:cs typeface="Arial" charset="0"/>
                <a:sym typeface="Wingdings" pitchFamily="2" charset="2"/>
              </a:rPr>
              <a:t>Add new production(s) of the form X  .., where right side will account for </a:t>
            </a:r>
            <a:r>
              <a:rPr lang="en-US" b="1">
                <a:solidFill>
                  <a:srgbClr val="00B0F0"/>
                </a:solidFill>
                <a:cs typeface="Arial" charset="0"/>
                <a:sym typeface="Wingdings" pitchFamily="2" charset="2"/>
              </a:rPr>
              <a:t>every modification </a:t>
            </a:r>
            <a:r>
              <a:rPr lang="en-US">
                <a:solidFill>
                  <a:srgbClr val="FF0000"/>
                </a:solidFill>
                <a:cs typeface="Arial" charset="0"/>
                <a:sym typeface="Wingdings" pitchFamily="2" charset="2"/>
              </a:rPr>
              <a:t>of the old string that can be formed by </a:t>
            </a:r>
            <a:r>
              <a:rPr lang="en-US" b="1">
                <a:solidFill>
                  <a:srgbClr val="00B0F0"/>
                </a:solidFill>
                <a:cs typeface="Arial" charset="0"/>
                <a:sym typeface="Wingdings" pitchFamily="2" charset="2"/>
              </a:rPr>
              <a:t>deleting all possible subsets </a:t>
            </a:r>
            <a:r>
              <a:rPr lang="en-US">
                <a:solidFill>
                  <a:srgbClr val="FF0000"/>
                </a:solidFill>
                <a:cs typeface="Arial" charset="0"/>
                <a:sym typeface="Wingdings" pitchFamily="2" charset="2"/>
              </a:rPr>
              <a:t>of null-able Non-Terminals, </a:t>
            </a:r>
            <a:r>
              <a:rPr lang="en-US">
                <a:solidFill>
                  <a:srgbClr val="D99694"/>
                </a:solidFill>
                <a:cs typeface="Arial" charset="0"/>
                <a:sym typeface="Wingdings" pitchFamily="2" charset="2"/>
              </a:rPr>
              <a:t>except that we do not allow X  </a:t>
            </a:r>
            <a:r>
              <a:rPr lang="el-GR">
                <a:solidFill>
                  <a:srgbClr val="D99694"/>
                </a:solidFill>
                <a:cs typeface="Arial" charset="0"/>
              </a:rPr>
              <a:t>Λ</a:t>
            </a:r>
            <a:r>
              <a:rPr lang="en-US">
                <a:solidFill>
                  <a:srgbClr val="FF0000"/>
                </a:solidFill>
                <a:cs typeface="Arial" charset="0"/>
              </a:rPr>
              <a:t>, to be formed if all the character in old string are null-able</a:t>
            </a:r>
            <a:r>
              <a:rPr lang="en-US">
                <a:solidFill>
                  <a:srgbClr val="FF0000"/>
                </a:solidFill>
                <a:cs typeface="Arial" charset="0"/>
                <a:sym typeface="Wingdings" pitchFamily="2" charset="2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1F9851-5ACE-4035-A942-B23BD16B17B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Example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2668588"/>
            <a:ext cx="4038600" cy="343217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GB" sz="2200" smtClean="0">
                <a:solidFill>
                  <a:srgbClr val="FF3300"/>
                </a:solidFill>
              </a:rPr>
              <a:t>Old nullable</a:t>
            </a:r>
            <a:r>
              <a:rPr lang="en-US" altLang="en-GB" sz="2200" smtClean="0"/>
              <a:t>		</a:t>
            </a:r>
            <a:r>
              <a:rPr lang="en-US" altLang="en-GB" sz="2200" smtClean="0">
                <a:solidFill>
                  <a:srgbClr val="33CC33"/>
                </a:solidFill>
              </a:rPr>
              <a:t>New  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solidFill>
                  <a:srgbClr val="FF3300"/>
                </a:solidFill>
              </a:rPr>
              <a:t>Production</a:t>
            </a:r>
            <a:r>
              <a:rPr lang="en-US" altLang="en-GB" sz="2200" smtClean="0"/>
              <a:t> 	      </a:t>
            </a:r>
            <a:r>
              <a:rPr lang="en-US" altLang="en-GB" sz="2200" smtClean="0">
                <a:solidFill>
                  <a:srgbClr val="33CC33"/>
                </a:solidFill>
              </a:rPr>
              <a:t>Production</a:t>
            </a:r>
          </a:p>
          <a:p>
            <a:pPr eaLnBrk="1" hangingPunct="1">
              <a:buFontTx/>
              <a:buNone/>
            </a:pPr>
            <a:r>
              <a:rPr lang="en-US" altLang="en-GB" sz="2200" smtClean="0"/>
              <a:t>X </a:t>
            </a:r>
            <a:r>
              <a:rPr lang="en-US" altLang="en-GB" sz="2200" smtClean="0">
                <a:sym typeface="Wingdings" panose="05000000000000000000" pitchFamily="2" charset="2"/>
              </a:rPr>
              <a:t> Y			nothing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X  </a:t>
            </a:r>
            <a:r>
              <a:rPr lang="el-GR" altLang="en-GB" sz="2200" smtClean="0">
                <a:cs typeface="Arial" panose="020B0604020202020204" pitchFamily="34" charset="0"/>
              </a:rPr>
              <a:t>Λ</a:t>
            </a:r>
            <a:r>
              <a:rPr lang="en-US" altLang="en-GB" sz="2200" smtClean="0">
                <a:cs typeface="Arial" panose="020B0604020202020204" pitchFamily="34" charset="0"/>
              </a:rPr>
              <a:t>			nothing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cs typeface="Arial" panose="020B0604020202020204" pitchFamily="34" charset="0"/>
              </a:rPr>
              <a:t>Y </a:t>
            </a:r>
            <a:r>
              <a:rPr lang="en-US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GB" sz="2200" smtClean="0">
                <a:cs typeface="Arial" panose="020B0604020202020204" pitchFamily="34" charset="0"/>
              </a:rPr>
              <a:t>X			nothing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cs typeface="Arial" panose="020B0604020202020204" pitchFamily="34" charset="0"/>
              </a:rPr>
              <a:t>S </a:t>
            </a:r>
            <a:r>
              <a:rPr lang="en-US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 Xb		S  b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S  aYa 		S  aa</a:t>
            </a:r>
          </a:p>
        </p:txBody>
      </p:sp>
      <p:sp>
        <p:nvSpPr>
          <p:cNvPr id="120837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105400" y="2668588"/>
            <a:ext cx="4038600" cy="343217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GB" sz="2200" smtClean="0"/>
              <a:t>So the new CFG is</a:t>
            </a:r>
          </a:p>
          <a:p>
            <a:pPr eaLnBrk="1" hangingPunct="1">
              <a:buFontTx/>
              <a:buNone/>
            </a:pPr>
            <a:endParaRPr lang="en-US" altLang="en-GB" sz="2200" smtClean="0"/>
          </a:p>
          <a:p>
            <a:pPr eaLnBrk="1" hangingPunct="1">
              <a:buFontTx/>
              <a:buNone/>
            </a:pPr>
            <a:r>
              <a:rPr lang="en-US" altLang="en-GB" sz="2200" smtClean="0"/>
              <a:t>S </a:t>
            </a:r>
            <a:r>
              <a:rPr lang="en-US" altLang="en-GB" sz="2200" smtClean="0">
                <a:sym typeface="Wingdings" panose="05000000000000000000" pitchFamily="2" charset="2"/>
              </a:rPr>
              <a:t> a | Xb | aa | aYa |b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X  Y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Y  b | X</a:t>
            </a:r>
            <a:endParaRPr lang="en-US" altLang="en-GB" sz="2200" smtClean="0"/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3032125" y="950913"/>
            <a:ext cx="374967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Consider the CFG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S </a:t>
            </a: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 a | Xb | aYa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X  Y | </a:t>
            </a:r>
            <a:r>
              <a:rPr lang="el-GR" altLang="en-GB" sz="2400">
                <a:cs typeface="Arial" panose="020B0604020202020204" pitchFamily="34" charset="0"/>
              </a:rPr>
              <a:t>Λ</a:t>
            </a:r>
            <a:endParaRPr lang="en-US" altLang="en-GB" sz="240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Y </a:t>
            </a: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 b | X</a:t>
            </a:r>
            <a:endParaRPr lang="en-US" altLang="en-GB" sz="2400">
              <a:cs typeface="Arial" panose="020B0604020202020204" pitchFamily="34" charset="0"/>
            </a:endParaRPr>
          </a:p>
        </p:txBody>
      </p:sp>
      <p:sp>
        <p:nvSpPr>
          <p:cNvPr id="11271" name="TextBox 6"/>
          <p:cNvSpPr txBox="1">
            <a:spLocks noChangeArrowheads="1"/>
          </p:cNvSpPr>
          <p:nvPr/>
        </p:nvSpPr>
        <p:spPr bwMode="auto">
          <a:xfrm>
            <a:off x="6553200" y="1600200"/>
            <a:ext cx="2133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solidFill>
                  <a:srgbClr val="00B050"/>
                </a:solidFill>
                <a:cs typeface="Arial" panose="020B0604020202020204" pitchFamily="34" charset="0"/>
              </a:rPr>
              <a:t>X is nullable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solidFill>
                  <a:srgbClr val="00B050"/>
                </a:solidFill>
                <a:cs typeface="Arial" panose="020B0604020202020204" pitchFamily="34" charset="0"/>
              </a:rPr>
              <a:t>Y is nullable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8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08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08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08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08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08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208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2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2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2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2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6" grpId="0" build="p" animBg="1"/>
      <p:bldP spid="120837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4D1D4E-F5A8-47A0-8FA9-C796348CB26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Example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2668588"/>
            <a:ext cx="4038600" cy="343217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GB" sz="2200" smtClean="0">
                <a:solidFill>
                  <a:srgbClr val="FF3300"/>
                </a:solidFill>
              </a:rPr>
              <a:t>Old nullable</a:t>
            </a:r>
            <a:r>
              <a:rPr lang="en-US" altLang="en-GB" sz="2200" smtClean="0"/>
              <a:t>		</a:t>
            </a:r>
            <a:r>
              <a:rPr lang="en-US" altLang="en-GB" sz="2200" smtClean="0">
                <a:solidFill>
                  <a:srgbClr val="33CC33"/>
                </a:solidFill>
              </a:rPr>
              <a:t>New  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solidFill>
                  <a:srgbClr val="FF3300"/>
                </a:solidFill>
              </a:rPr>
              <a:t>Production</a:t>
            </a:r>
            <a:r>
              <a:rPr lang="en-US" altLang="en-GB" sz="2200" smtClean="0"/>
              <a:t> 	      </a:t>
            </a:r>
            <a:r>
              <a:rPr lang="en-US" altLang="en-GB" sz="2200" smtClean="0">
                <a:solidFill>
                  <a:srgbClr val="33CC33"/>
                </a:solidFill>
              </a:rPr>
              <a:t>Production</a:t>
            </a:r>
          </a:p>
          <a:p>
            <a:pPr eaLnBrk="1" hangingPunct="1">
              <a:buFontTx/>
              <a:buNone/>
            </a:pPr>
            <a:r>
              <a:rPr lang="en-US" altLang="en-GB" sz="2200" smtClean="0"/>
              <a:t>S </a:t>
            </a:r>
            <a:r>
              <a:rPr lang="en-US" altLang="en-GB" sz="2200" smtClean="0">
                <a:sym typeface="Wingdings" panose="05000000000000000000" pitchFamily="2" charset="2"/>
              </a:rPr>
              <a:t> Xa		S  a</a:t>
            </a:r>
          </a:p>
          <a:p>
            <a:pPr eaLnBrk="1" hangingPunct="1">
              <a:buFontTx/>
              <a:buNone/>
            </a:pPr>
            <a:endParaRPr lang="en-US" altLang="en-GB" sz="2200" smtClean="0"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X  aX</a:t>
            </a:r>
            <a:r>
              <a:rPr lang="en-US" altLang="en-GB" sz="2200" smtClean="0">
                <a:cs typeface="Arial" panose="020B0604020202020204" pitchFamily="34" charset="0"/>
              </a:rPr>
              <a:t>		X </a:t>
            </a:r>
            <a:r>
              <a:rPr lang="en-US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 a</a:t>
            </a:r>
            <a:endParaRPr lang="en-US" altLang="en-GB" sz="2200" smtClean="0"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US" altLang="en-GB" sz="2200" smtClean="0"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en-GB" sz="2200" smtClean="0">
                <a:cs typeface="Arial" panose="020B0604020202020204" pitchFamily="34" charset="0"/>
              </a:rPr>
              <a:t>X </a:t>
            </a:r>
            <a:r>
              <a:rPr lang="en-US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 b</a:t>
            </a:r>
            <a:r>
              <a:rPr lang="en-US" altLang="en-GB" sz="2200" smtClean="0">
                <a:cs typeface="Arial" panose="020B0604020202020204" pitchFamily="34" charset="0"/>
              </a:rPr>
              <a:t>X		X </a:t>
            </a:r>
            <a:r>
              <a:rPr lang="en-US" altLang="en-GB" sz="2200" smtClean="0">
                <a:cs typeface="Arial" panose="020B0604020202020204" pitchFamily="34" charset="0"/>
                <a:sym typeface="Wingdings" panose="05000000000000000000" pitchFamily="2" charset="2"/>
              </a:rPr>
              <a:t> b</a:t>
            </a:r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105400" y="2668588"/>
            <a:ext cx="4038600" cy="343217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GB" sz="2200" smtClean="0"/>
              <a:t>So the new CFG is</a:t>
            </a:r>
          </a:p>
          <a:p>
            <a:pPr eaLnBrk="1" hangingPunct="1">
              <a:buFontTx/>
              <a:buNone/>
            </a:pPr>
            <a:endParaRPr lang="en-US" altLang="en-GB" sz="2200" smtClean="0"/>
          </a:p>
          <a:p>
            <a:pPr eaLnBrk="1" hangingPunct="1">
              <a:buFontTx/>
              <a:buNone/>
            </a:pPr>
            <a:r>
              <a:rPr lang="en-US" altLang="en-GB" sz="2200" smtClean="0"/>
              <a:t>S </a:t>
            </a:r>
            <a:r>
              <a:rPr lang="en-US" altLang="en-GB" sz="2200" smtClean="0">
                <a:sym typeface="Wingdings" panose="05000000000000000000" pitchFamily="2" charset="2"/>
              </a:rPr>
              <a:t> a | Xa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X  aX | bX | a | b</a:t>
            </a:r>
            <a:endParaRPr lang="en-US" altLang="en-GB" sz="2200" smtClean="0"/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3032125" y="950913"/>
            <a:ext cx="37496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Consider the CFG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S </a:t>
            </a: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 Xa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X  aX | bX | </a:t>
            </a:r>
            <a:r>
              <a:rPr lang="el-GR" altLang="en-GB" sz="2400">
                <a:cs typeface="Arial" panose="020B0604020202020204" pitchFamily="34" charset="0"/>
              </a:rPr>
              <a:t>Λ</a:t>
            </a:r>
            <a:endParaRPr lang="en-US" altLang="en-GB" sz="2400">
              <a:cs typeface="Arial" panose="020B0604020202020204" pitchFamily="34" charset="0"/>
            </a:endParaRPr>
          </a:p>
        </p:txBody>
      </p:sp>
      <p:sp>
        <p:nvSpPr>
          <p:cNvPr id="13319" name="TextBox 6"/>
          <p:cNvSpPr txBox="1">
            <a:spLocks noChangeArrowheads="1"/>
          </p:cNvSpPr>
          <p:nvPr/>
        </p:nvSpPr>
        <p:spPr bwMode="auto">
          <a:xfrm>
            <a:off x="6400800" y="1905000"/>
            <a:ext cx="213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solidFill>
                  <a:srgbClr val="00B050"/>
                </a:solidFill>
                <a:cs typeface="Arial" panose="020B0604020202020204" pitchFamily="34" charset="0"/>
              </a:rPr>
              <a:t>X is nullable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390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23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239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239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 animBg="1"/>
      <p:bldP spid="123908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F923F8-C750-45F6-9749-220955E4FEF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Example</a:t>
            </a:r>
          </a:p>
        </p:txBody>
      </p:sp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685800" y="2057400"/>
            <a:ext cx="3733800" cy="350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>
                <a:cs typeface="Arial" panose="020B0604020202020204" pitchFamily="34" charset="0"/>
              </a:rPr>
              <a:t>S </a:t>
            </a:r>
            <a:r>
              <a:rPr lang="en-US" altLang="en-GB">
                <a:cs typeface="Arial" panose="020B0604020202020204" pitchFamily="34" charset="0"/>
                <a:sym typeface="Wingdings" panose="05000000000000000000" pitchFamily="2" charset="2"/>
              </a:rPr>
              <a:t> XY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>
                <a:cs typeface="Arial" panose="020B0604020202020204" pitchFamily="34" charset="0"/>
                <a:sym typeface="Wingdings" panose="05000000000000000000" pitchFamily="2" charset="2"/>
              </a:rPr>
              <a:t>X  Zb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>
                <a:cs typeface="Arial" panose="020B0604020202020204" pitchFamily="34" charset="0"/>
                <a:sym typeface="Wingdings" panose="05000000000000000000" pitchFamily="2" charset="2"/>
              </a:rPr>
              <a:t>Y  bW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>
                <a:cs typeface="Arial" panose="020B0604020202020204" pitchFamily="34" charset="0"/>
                <a:sym typeface="Wingdings" panose="05000000000000000000" pitchFamily="2" charset="2"/>
              </a:rPr>
              <a:t>Z  AB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>
                <a:cs typeface="Arial" panose="020B0604020202020204" pitchFamily="34" charset="0"/>
                <a:sym typeface="Wingdings" panose="05000000000000000000" pitchFamily="2" charset="2"/>
              </a:rPr>
              <a:t>W  Z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>
                <a:cs typeface="Arial" panose="020B0604020202020204" pitchFamily="34" charset="0"/>
                <a:sym typeface="Wingdings" panose="05000000000000000000" pitchFamily="2" charset="2"/>
              </a:rPr>
              <a:t>A  aA | bA | </a:t>
            </a:r>
            <a:r>
              <a:rPr lang="el-GR" altLang="en-GB">
                <a:cs typeface="Arial" panose="020B0604020202020204" pitchFamily="34" charset="0"/>
                <a:sym typeface="Wingdings" panose="05000000000000000000" pitchFamily="2" charset="2"/>
              </a:rPr>
              <a:t>Λ</a:t>
            </a:r>
            <a:endParaRPr lang="en-US" altLang="en-GB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>
                <a:cs typeface="Arial" panose="020B0604020202020204" pitchFamily="34" charset="0"/>
                <a:sym typeface="Wingdings" panose="05000000000000000000" pitchFamily="2" charset="2"/>
              </a:rPr>
              <a:t>B  Ba | Bb | </a:t>
            </a:r>
            <a:r>
              <a:rPr lang="el-GR" altLang="en-GB">
                <a:cs typeface="Arial" panose="020B0604020202020204" pitchFamily="34" charset="0"/>
                <a:sym typeface="Wingdings" panose="05000000000000000000" pitchFamily="2" charset="2"/>
              </a:rPr>
              <a:t>Λ</a:t>
            </a:r>
          </a:p>
        </p:txBody>
      </p:sp>
      <p:sp>
        <p:nvSpPr>
          <p:cNvPr id="125958" name="Text Box 6"/>
          <p:cNvSpPr txBox="1">
            <a:spLocks noChangeArrowheads="1"/>
          </p:cNvSpPr>
          <p:nvPr/>
        </p:nvSpPr>
        <p:spPr bwMode="auto">
          <a:xfrm>
            <a:off x="4724400" y="2984500"/>
            <a:ext cx="42608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2400">
                <a:solidFill>
                  <a:srgbClr val="33CC33"/>
                </a:solidFill>
                <a:cs typeface="Arial" panose="020B0604020202020204" pitchFamily="34" charset="0"/>
              </a:rPr>
              <a:t> Null-able Non-terminals are?</a:t>
            </a:r>
          </a:p>
          <a:p>
            <a:pPr>
              <a:spcBef>
                <a:spcPct val="0"/>
              </a:spcBef>
              <a:buFontTx/>
              <a:buChar char="•"/>
            </a:pPr>
            <a:endParaRPr lang="en-US" altLang="en-GB" sz="2400">
              <a:solidFill>
                <a:srgbClr val="33CC33"/>
              </a:solidFill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2400">
                <a:solidFill>
                  <a:srgbClr val="33CC33"/>
                </a:solidFill>
                <a:cs typeface="Arial" panose="020B0604020202020204" pitchFamily="34" charset="0"/>
              </a:rPr>
              <a:t> A, B, Z and W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59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0C053C-506D-4A02-9C1F-7FD368DCB74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Example Contd.</a:t>
            </a:r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2819400"/>
            <a:ext cx="4648200" cy="3429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000" smtClean="0"/>
              <a:t>Old nullable		     New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000" smtClean="0"/>
              <a:t>Production 	             Production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000" smtClean="0"/>
              <a:t>X </a:t>
            </a:r>
            <a:r>
              <a:rPr lang="en-US" altLang="en-GB" sz="2000" smtClean="0">
                <a:sym typeface="Wingdings" panose="05000000000000000000" pitchFamily="2" charset="2"/>
              </a:rPr>
              <a:t> Zb		   	X  b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000" smtClean="0">
                <a:sym typeface="Wingdings" panose="05000000000000000000" pitchFamily="2" charset="2"/>
              </a:rPr>
              <a:t>Y  bW</a:t>
            </a:r>
            <a:r>
              <a:rPr lang="en-US" altLang="en-GB" sz="2000" smtClean="0"/>
              <a:t>		Y </a:t>
            </a:r>
            <a:r>
              <a:rPr lang="en-US" altLang="en-GB" sz="2000" smtClean="0">
                <a:sym typeface="Wingdings" panose="05000000000000000000" pitchFamily="2" charset="2"/>
              </a:rPr>
              <a:t> b</a:t>
            </a:r>
            <a:endParaRPr lang="en-US" altLang="en-GB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000" smtClean="0"/>
              <a:t>Z </a:t>
            </a:r>
            <a:r>
              <a:rPr lang="en-US" altLang="en-GB" sz="2000" smtClean="0">
                <a:sym typeface="Wingdings" panose="05000000000000000000" pitchFamily="2" charset="2"/>
              </a:rPr>
              <a:t> AB</a:t>
            </a:r>
            <a:r>
              <a:rPr lang="en-US" altLang="en-GB" sz="2000" smtClean="0"/>
              <a:t>		       Z </a:t>
            </a:r>
            <a:r>
              <a:rPr lang="en-US" altLang="en-GB" sz="2000" smtClean="0">
                <a:sym typeface="Wingdings" panose="05000000000000000000" pitchFamily="2" charset="2"/>
              </a:rPr>
              <a:t> A and Z  B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000" smtClean="0">
                <a:sym typeface="Wingdings" panose="05000000000000000000" pitchFamily="2" charset="2"/>
              </a:rPr>
              <a:t>W  Z			Nothing new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000" smtClean="0">
                <a:sym typeface="Wingdings" panose="05000000000000000000" pitchFamily="2" charset="2"/>
              </a:rPr>
              <a:t>A  aA			A  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000" smtClean="0">
                <a:sym typeface="Wingdings" panose="05000000000000000000" pitchFamily="2" charset="2"/>
              </a:rPr>
              <a:t>A  bA			A  b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000" smtClean="0">
                <a:sym typeface="Wingdings" panose="05000000000000000000" pitchFamily="2" charset="2"/>
              </a:rPr>
              <a:t>B  Ba			B a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000" smtClean="0">
                <a:sym typeface="Wingdings" panose="05000000000000000000" pitchFamily="2" charset="2"/>
              </a:rPr>
              <a:t>B  Bb			B  b</a:t>
            </a:r>
          </a:p>
        </p:txBody>
      </p:sp>
      <p:sp>
        <p:nvSpPr>
          <p:cNvPr id="122885" name="Rectangle 5"/>
          <p:cNvSpPr>
            <a:spLocks noChangeArrowheads="1"/>
          </p:cNvSpPr>
          <p:nvPr/>
        </p:nvSpPr>
        <p:spPr bwMode="auto">
          <a:xfrm>
            <a:off x="5410200" y="2819400"/>
            <a:ext cx="35814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So the new CFG is</a:t>
            </a:r>
          </a:p>
          <a:p>
            <a:pPr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S </a:t>
            </a: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 XY</a:t>
            </a:r>
          </a:p>
          <a:p>
            <a:pPr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X  Zb | b</a:t>
            </a:r>
          </a:p>
          <a:p>
            <a:pPr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Y  bW | b</a:t>
            </a:r>
          </a:p>
          <a:p>
            <a:pPr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Z  AB | A | B</a:t>
            </a:r>
          </a:p>
          <a:p>
            <a:pPr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W  Z</a:t>
            </a:r>
          </a:p>
          <a:p>
            <a:pPr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A  aA | bA | a | b</a:t>
            </a:r>
          </a:p>
          <a:p>
            <a:pPr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B  Ba | Ba | a | b</a:t>
            </a:r>
            <a:endParaRPr lang="en-US" altLang="en-GB" sz="2400">
              <a:cs typeface="Arial" panose="020B0604020202020204" pitchFamily="34" charset="0"/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3352800" y="400050"/>
            <a:ext cx="304800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cs typeface="Arial" panose="020B0604020202020204" pitchFamily="34" charset="0"/>
              </a:rPr>
              <a:t>S </a:t>
            </a:r>
            <a:r>
              <a:rPr lang="en-US" altLang="en-GB" sz="2000">
                <a:cs typeface="Arial" panose="020B0604020202020204" pitchFamily="34" charset="0"/>
                <a:sym typeface="Wingdings" panose="05000000000000000000" pitchFamily="2" charset="2"/>
              </a:rPr>
              <a:t> XY      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cs typeface="Arial" panose="020B0604020202020204" pitchFamily="34" charset="0"/>
                <a:sym typeface="Wingdings" panose="05000000000000000000" pitchFamily="2" charset="2"/>
              </a:rPr>
              <a:t>X  Zb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cs typeface="Arial" panose="020B0604020202020204" pitchFamily="34" charset="0"/>
                <a:sym typeface="Wingdings" panose="05000000000000000000" pitchFamily="2" charset="2"/>
              </a:rPr>
              <a:t>Y  bW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cs typeface="Arial" panose="020B0604020202020204" pitchFamily="34" charset="0"/>
                <a:sym typeface="Wingdings" panose="05000000000000000000" pitchFamily="2" charset="2"/>
              </a:rPr>
              <a:t>Z  AB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cs typeface="Arial" panose="020B0604020202020204" pitchFamily="34" charset="0"/>
                <a:sym typeface="Wingdings" panose="05000000000000000000" pitchFamily="2" charset="2"/>
              </a:rPr>
              <a:t>W  Z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cs typeface="Arial" panose="020B0604020202020204" pitchFamily="34" charset="0"/>
                <a:sym typeface="Wingdings" panose="05000000000000000000" pitchFamily="2" charset="2"/>
              </a:rPr>
              <a:t>A  aA | bA | </a:t>
            </a:r>
            <a:r>
              <a:rPr lang="el-GR" altLang="en-GB" sz="2000">
                <a:cs typeface="Arial" panose="020B0604020202020204" pitchFamily="34" charset="0"/>
                <a:sym typeface="Wingdings" panose="05000000000000000000" pitchFamily="2" charset="2"/>
              </a:rPr>
              <a:t>Λ</a:t>
            </a:r>
            <a:endParaRPr lang="en-US" altLang="en-GB" sz="2000"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000">
                <a:cs typeface="Arial" panose="020B0604020202020204" pitchFamily="34" charset="0"/>
                <a:sym typeface="Wingdings" panose="05000000000000000000" pitchFamily="2" charset="2"/>
              </a:rPr>
              <a:t>B  Ba | Bb | </a:t>
            </a:r>
            <a:r>
              <a:rPr lang="el-GR" altLang="en-GB" sz="2000">
                <a:cs typeface="Arial" panose="020B0604020202020204" pitchFamily="34" charset="0"/>
                <a:sym typeface="Wingdings" panose="05000000000000000000" pitchFamily="2" charset="2"/>
              </a:rPr>
              <a:t>Λ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8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8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8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28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28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28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28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28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28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2288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22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228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1228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122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1228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1228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1228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1228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 build="p" animBg="1"/>
      <p:bldP spid="12288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Remove Nulls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19460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F6CF50-A40C-44E3-9568-FA1FDBD0073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22479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048000"/>
            <a:ext cx="49815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21508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ABFDEF-E023-4128-BC28-AA6EDD77EB4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150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0" y="2209800"/>
            <a:ext cx="20955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8A0579-7A98-4F54-8DEF-D1B5A6D0DAE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Killing unit-productions</a:t>
            </a:r>
          </a:p>
        </p:txBody>
      </p:sp>
      <p:sp>
        <p:nvSpPr>
          <p:cNvPr id="2355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400" b="1" smtClean="0"/>
              <a:t>Definition: </a:t>
            </a:r>
            <a:r>
              <a:rPr lang="en-US" altLang="en-GB" sz="2400" smtClean="0"/>
              <a:t>A production of the form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GB" sz="2100" smtClean="0">
                <a:solidFill>
                  <a:srgbClr val="FF0000"/>
                </a:solidFill>
              </a:rPr>
              <a:t>non-terminal </a:t>
            </a:r>
            <a:r>
              <a:rPr lang="en-US" altLang="en-GB" sz="2100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altLang="en-GB" sz="2100" smtClean="0">
                <a:solidFill>
                  <a:srgbClr val="FF0000"/>
                </a:solidFill>
              </a:rPr>
              <a:t> one non-terminal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400" smtClean="0"/>
              <a:t>is called a </a:t>
            </a:r>
            <a:r>
              <a:rPr lang="en-US" altLang="en-GB" sz="2400" b="1" smtClean="0"/>
              <a:t>unit production</a:t>
            </a:r>
            <a:r>
              <a:rPr lang="en-US" altLang="en-GB" sz="2400" smtClean="0"/>
              <a:t>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400" smtClean="0"/>
              <a:t>The following theorem allows us to get rid of unit productions: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400" b="1" smtClean="0"/>
              <a:t>Theorem 24: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400" smtClean="0"/>
              <a:t>If there is a CFG for the language L that has no </a:t>
            </a:r>
            <a:r>
              <a:rPr lang="el-GR" altLang="en-GB" sz="2400" smtClean="0">
                <a:cs typeface="Arial" panose="020B0604020202020204" pitchFamily="34" charset="0"/>
              </a:rPr>
              <a:t>Λ</a:t>
            </a:r>
            <a:r>
              <a:rPr lang="en-US" altLang="en-GB" sz="2400" smtClean="0">
                <a:cs typeface="Arial" panose="020B0604020202020204" pitchFamily="34" charset="0"/>
              </a:rPr>
              <a:t>-</a:t>
            </a:r>
            <a:r>
              <a:rPr lang="en-US" altLang="en-GB" sz="2400" smtClean="0"/>
              <a:t>productions, then there is also a CFG for L with no </a:t>
            </a:r>
            <a:r>
              <a:rPr lang="el-GR" altLang="en-GB" sz="2400" smtClean="0">
                <a:cs typeface="Arial" panose="020B0604020202020204" pitchFamily="34" charset="0"/>
              </a:rPr>
              <a:t>Λ</a:t>
            </a:r>
            <a:r>
              <a:rPr lang="en-US" altLang="en-GB" sz="2400" smtClean="0"/>
              <a:t>-productions and </a:t>
            </a:r>
            <a:r>
              <a:rPr lang="en-US" altLang="en-GB" sz="2400" b="1" smtClean="0"/>
              <a:t>no unit productions</a:t>
            </a:r>
            <a:r>
              <a:rPr lang="en-US" altLang="en-GB" sz="2400" smtClean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DC221F-0D6F-4D04-93C2-0293EB3CB1A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Proof of Theorem 24</a:t>
            </a:r>
          </a:p>
        </p:txBody>
      </p:sp>
      <p:sp>
        <p:nvSpPr>
          <p:cNvPr id="2560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2500" smtClean="0"/>
              <a:t>This is another proof by constructive algorithm.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500" b="1" smtClean="0"/>
              <a:t>Algorithm: </a:t>
            </a:r>
            <a:r>
              <a:rPr lang="en-US" altLang="en-GB" sz="2500" smtClean="0"/>
              <a:t>For every pair of non-terminals A and B, if the CFG has a unit production A </a:t>
            </a:r>
            <a:r>
              <a:rPr lang="en-US" altLang="en-GB" sz="2500" smtClean="0">
                <a:sym typeface="Wingdings" panose="05000000000000000000" pitchFamily="2" charset="2"/>
              </a:rPr>
              <a:t></a:t>
            </a:r>
            <a:r>
              <a:rPr lang="en-US" altLang="en-GB" sz="2500" smtClean="0"/>
              <a:t> B, or if there is a chain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500" smtClean="0"/>
              <a:t>    A </a:t>
            </a:r>
            <a:r>
              <a:rPr lang="en-US" altLang="en-GB" sz="2500" smtClean="0">
                <a:sym typeface="Wingdings" panose="05000000000000000000" pitchFamily="2" charset="2"/>
              </a:rPr>
              <a:t></a:t>
            </a:r>
            <a:r>
              <a:rPr lang="en-US" altLang="en-GB" sz="2500" smtClean="0"/>
              <a:t> X</a:t>
            </a:r>
            <a:r>
              <a:rPr lang="en-US" altLang="en-GB" sz="2500" baseline="-25000" smtClean="0"/>
              <a:t>1</a:t>
            </a:r>
            <a:r>
              <a:rPr lang="en-US" altLang="en-GB" sz="2500" smtClean="0"/>
              <a:t> </a:t>
            </a:r>
            <a:r>
              <a:rPr lang="en-US" altLang="en-GB" sz="2500" smtClean="0">
                <a:sym typeface="Wingdings" panose="05000000000000000000" pitchFamily="2" charset="2"/>
              </a:rPr>
              <a:t> </a:t>
            </a:r>
            <a:r>
              <a:rPr lang="en-US" altLang="en-GB" sz="2500" smtClean="0"/>
              <a:t>X</a:t>
            </a:r>
            <a:r>
              <a:rPr lang="en-US" altLang="en-GB" sz="2500" baseline="-25000" smtClean="0"/>
              <a:t>2</a:t>
            </a:r>
            <a:r>
              <a:rPr lang="en-US" altLang="en-GB" sz="2500" smtClean="0"/>
              <a:t> </a:t>
            </a:r>
            <a:r>
              <a:rPr lang="en-US" altLang="en-GB" sz="2500" smtClean="0">
                <a:sym typeface="Wingdings" panose="05000000000000000000" pitchFamily="2" charset="2"/>
              </a:rPr>
              <a:t> </a:t>
            </a:r>
            <a:r>
              <a:rPr lang="en-US" altLang="en-GB" sz="2500" smtClean="0"/>
              <a:t>… </a:t>
            </a:r>
            <a:r>
              <a:rPr lang="en-US" altLang="en-GB" sz="2500" smtClean="0">
                <a:sym typeface="Wingdings" panose="05000000000000000000" pitchFamily="2" charset="2"/>
              </a:rPr>
              <a:t></a:t>
            </a:r>
            <a:r>
              <a:rPr lang="en-US" altLang="en-GB" sz="2500" smtClean="0"/>
              <a:t> B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500" smtClean="0"/>
              <a:t> where X</a:t>
            </a:r>
            <a:r>
              <a:rPr lang="en-US" altLang="en-GB" sz="2500" baseline="-25000" smtClean="0"/>
              <a:t>1</a:t>
            </a:r>
            <a:r>
              <a:rPr lang="en-US" altLang="en-GB" sz="2500" smtClean="0"/>
              <a:t>, X</a:t>
            </a:r>
            <a:r>
              <a:rPr lang="en-US" altLang="en-GB" sz="2500" baseline="-25000" smtClean="0"/>
              <a:t>2</a:t>
            </a:r>
            <a:r>
              <a:rPr lang="en-US" altLang="en-GB" sz="2500" smtClean="0"/>
              <a:t>, ... are non-terminals, create new productions as follows: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GB" sz="2500" smtClean="0"/>
              <a:t>If the non-unit productions from B are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500" smtClean="0"/>
              <a:t>		B </a:t>
            </a:r>
            <a:r>
              <a:rPr lang="en-US" altLang="en-GB" sz="2500" smtClean="0">
                <a:sym typeface="Wingdings" panose="05000000000000000000" pitchFamily="2" charset="2"/>
              </a:rPr>
              <a:t></a:t>
            </a:r>
            <a:r>
              <a:rPr lang="en-US" altLang="en-GB" sz="2500" smtClean="0"/>
              <a:t> s</a:t>
            </a:r>
            <a:r>
              <a:rPr lang="en-US" altLang="en-GB" sz="2500" baseline="-25000" smtClean="0"/>
              <a:t>1</a:t>
            </a:r>
            <a:r>
              <a:rPr lang="en-US" altLang="en-GB" sz="2500" smtClean="0"/>
              <a:t> | s</a:t>
            </a:r>
            <a:r>
              <a:rPr lang="en-US" altLang="en-GB" sz="2500" baseline="-25000" smtClean="0"/>
              <a:t>2</a:t>
            </a:r>
            <a:r>
              <a:rPr lang="en-US" altLang="en-GB" sz="2500" smtClean="0"/>
              <a:t>| …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500" smtClean="0"/>
              <a:t>where s</a:t>
            </a:r>
            <a:r>
              <a:rPr lang="en-US" altLang="en-GB" sz="2500" baseline="-25000" smtClean="0"/>
              <a:t>1</a:t>
            </a:r>
            <a:r>
              <a:rPr lang="en-US" altLang="en-GB" sz="2500" smtClean="0"/>
              <a:t>, s</a:t>
            </a:r>
            <a:r>
              <a:rPr lang="en-US" altLang="en-GB" sz="2500" baseline="-25000" smtClean="0"/>
              <a:t>2</a:t>
            </a:r>
            <a:r>
              <a:rPr lang="en-US" altLang="en-GB" sz="2500" smtClean="0"/>
              <a:t>, ... are strings, we create the productions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500" smtClean="0"/>
              <a:t>		A </a:t>
            </a:r>
            <a:r>
              <a:rPr lang="en-US" altLang="en-GB" sz="2500" smtClean="0">
                <a:sym typeface="Wingdings" panose="05000000000000000000" pitchFamily="2" charset="2"/>
              </a:rPr>
              <a:t></a:t>
            </a:r>
            <a:r>
              <a:rPr lang="en-US" altLang="en-GB" sz="2500" smtClean="0"/>
              <a:t> s</a:t>
            </a:r>
            <a:r>
              <a:rPr lang="en-US" altLang="en-GB" sz="2500" baseline="-25000" smtClean="0"/>
              <a:t>1</a:t>
            </a:r>
            <a:r>
              <a:rPr lang="en-US" altLang="en-GB" sz="2500" smtClean="0"/>
              <a:t>| s</a:t>
            </a:r>
            <a:r>
              <a:rPr lang="en-US" altLang="en-GB" sz="2500" baseline="-25000" smtClean="0"/>
              <a:t>2</a:t>
            </a:r>
            <a:r>
              <a:rPr lang="en-US" altLang="en-GB" sz="2500" smtClean="0"/>
              <a:t>| …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03DFC9-DF7C-4D9D-8892-E70256D613B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Example</a:t>
            </a:r>
          </a:p>
        </p:txBody>
      </p:sp>
      <p:sp>
        <p:nvSpPr>
          <p:cNvPr id="2765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altLang="en-GB" sz="2800" smtClean="0"/>
              <a:t>Consider the CFG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GB" sz="2800" smtClean="0"/>
              <a:t>		S </a:t>
            </a:r>
            <a:r>
              <a:rPr lang="en-US" altLang="en-GB" sz="2800" smtClean="0">
                <a:sym typeface="Wingdings" panose="05000000000000000000" pitchFamily="2" charset="2"/>
              </a:rPr>
              <a:t></a:t>
            </a:r>
            <a:r>
              <a:rPr lang="en-US" altLang="en-GB" sz="2800" smtClean="0"/>
              <a:t> A| bb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GB" sz="2800" smtClean="0"/>
              <a:t>		A </a:t>
            </a:r>
            <a:r>
              <a:rPr lang="en-US" altLang="en-GB" sz="2800" smtClean="0">
                <a:sym typeface="Wingdings" panose="05000000000000000000" pitchFamily="2" charset="2"/>
              </a:rPr>
              <a:t></a:t>
            </a:r>
            <a:r>
              <a:rPr lang="en-US" altLang="en-GB" sz="2800" smtClean="0"/>
              <a:t> B | b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GB" sz="2800" smtClean="0"/>
              <a:t>		B </a:t>
            </a:r>
            <a:r>
              <a:rPr lang="en-US" altLang="en-GB" sz="2800" smtClean="0">
                <a:sym typeface="Wingdings" panose="05000000000000000000" pitchFamily="2" charset="2"/>
              </a:rPr>
              <a:t></a:t>
            </a:r>
            <a:r>
              <a:rPr lang="en-US" altLang="en-GB" sz="2800" smtClean="0"/>
              <a:t> S | a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GB" sz="2800" smtClean="0"/>
              <a:t>The non-unit productions are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GB" sz="2800" smtClean="0"/>
              <a:t>		S </a:t>
            </a:r>
            <a:r>
              <a:rPr lang="en-US" altLang="en-GB" sz="2800" smtClean="0">
                <a:sym typeface="Wingdings" panose="05000000000000000000" pitchFamily="2" charset="2"/>
              </a:rPr>
              <a:t></a:t>
            </a:r>
            <a:r>
              <a:rPr lang="en-US" altLang="en-GB" sz="2800" smtClean="0"/>
              <a:t> bb        A </a:t>
            </a:r>
            <a:r>
              <a:rPr lang="en-US" altLang="en-GB" sz="2800" smtClean="0">
                <a:sym typeface="Wingdings" panose="05000000000000000000" pitchFamily="2" charset="2"/>
              </a:rPr>
              <a:t></a:t>
            </a:r>
            <a:r>
              <a:rPr lang="en-US" altLang="en-GB" sz="2800" smtClean="0"/>
              <a:t> b        B </a:t>
            </a:r>
            <a:r>
              <a:rPr lang="en-US" altLang="en-GB" sz="2800" smtClean="0">
                <a:sym typeface="Wingdings" panose="05000000000000000000" pitchFamily="2" charset="2"/>
              </a:rPr>
              <a:t></a:t>
            </a:r>
            <a:r>
              <a:rPr lang="en-US" altLang="en-GB" sz="2800" smtClean="0"/>
              <a:t> a</a:t>
            </a:r>
          </a:p>
          <a:p>
            <a:pPr eaLnBrk="1" hangingPunct="1">
              <a:lnSpc>
                <a:spcPct val="70000"/>
              </a:lnSpc>
            </a:pPr>
            <a:r>
              <a:rPr lang="en-US" altLang="en-GB" sz="2800" smtClean="0"/>
              <a:t>And unit productions are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GB" sz="2800" smtClean="0"/>
              <a:t>	S </a:t>
            </a:r>
            <a:r>
              <a:rPr lang="en-US" altLang="en-GB" sz="2800" smtClean="0">
                <a:sym typeface="Wingdings" panose="05000000000000000000" pitchFamily="2" charset="2"/>
              </a:rPr>
              <a:t> A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GB" sz="2800" smtClean="0">
                <a:sym typeface="Wingdings" panose="05000000000000000000" pitchFamily="2" charset="2"/>
              </a:rPr>
              <a:t>	A  B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altLang="en-GB" sz="2800" smtClean="0">
                <a:sym typeface="Wingdings" panose="05000000000000000000" pitchFamily="2" charset="2"/>
              </a:rPr>
              <a:t>	B  S</a:t>
            </a:r>
            <a:endParaRPr lang="en-US" altLang="en-GB" sz="28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BEF7E6-C0D0-4364-9182-794AD732B16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Example contd.</a:t>
            </a:r>
          </a:p>
        </p:txBody>
      </p:sp>
      <p:sp>
        <p:nvSpPr>
          <p:cNvPr id="2970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GB" sz="1900" smtClean="0"/>
              <a:t>Let’s list all unit productions and their sequences and create new productions: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	S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A 		gives		S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b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	S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A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B 		gives 		S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	A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B 		gives 		A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	A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B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S 		gives 		A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bb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	B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S 		gives 		B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bb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	B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S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A 		gives	 	B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b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GB" sz="1900" smtClean="0"/>
              <a:t>Eliminating all unit productions, the new CFG is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	S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bb | b | 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	A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b | a | bb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	B </a:t>
            </a:r>
            <a:r>
              <a:rPr lang="en-US" altLang="en-GB" sz="1900" smtClean="0">
                <a:sym typeface="Wingdings" panose="05000000000000000000" pitchFamily="2" charset="2"/>
              </a:rPr>
              <a:t></a:t>
            </a:r>
            <a:r>
              <a:rPr lang="en-US" altLang="en-GB" sz="1900" smtClean="0"/>
              <a:t> a | bb | b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GB" sz="1900" smtClean="0"/>
              <a:t>This CFG generates a finite language since there are no non-terminals in any strings produced from S.</a:t>
            </a:r>
          </a:p>
          <a:p>
            <a:pPr eaLnBrk="1" hangingPunct="1">
              <a:lnSpc>
                <a:spcPct val="80000"/>
              </a:lnSpc>
            </a:pPr>
            <a:endParaRPr lang="en-US" altLang="en-GB" sz="19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FD0907-1DB1-402B-B235-20BE927C994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type="title" idx="4294967295"/>
          </p:nvPr>
        </p:nvSpPr>
        <p:spPr>
          <a:xfrm>
            <a:off x="0" y="384175"/>
            <a:ext cx="8229600" cy="608013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Useless Symbols</a:t>
            </a:r>
          </a:p>
        </p:txBody>
      </p:sp>
      <p:sp>
        <p:nvSpPr>
          <p:cNvPr id="31748" name="Rectangle 3"/>
          <p:cNvSpPr>
            <a:spLocks noGrp="1"/>
          </p:cNvSpPr>
          <p:nvPr>
            <p:ph type="body" sz="half" idx="4294967295"/>
          </p:nvPr>
        </p:nvSpPr>
        <p:spPr>
          <a:xfrm>
            <a:off x="304800" y="1219200"/>
            <a:ext cx="8839200" cy="4953000"/>
          </a:xfrm>
        </p:spPr>
        <p:txBody>
          <a:bodyPr/>
          <a:lstStyle/>
          <a:p>
            <a:pPr marL="381000" indent="-381000" algn="just" eaLnBrk="1" hangingPunct="1">
              <a:lnSpc>
                <a:spcPct val="80000"/>
              </a:lnSpc>
            </a:pPr>
            <a:r>
              <a:rPr lang="en-US" altLang="en-GB" sz="2000" smtClean="0">
                <a:solidFill>
                  <a:srgbClr val="7030A0"/>
                </a:solidFill>
                <a:cs typeface="Arial" panose="020B0604020202020204" pitchFamily="34" charset="0"/>
              </a:rPr>
              <a:t>A symbol that is not useful is useless </a:t>
            </a:r>
          </a:p>
          <a:p>
            <a:pPr marL="381000" indent="-381000" algn="just" eaLnBrk="1" hangingPunct="1">
              <a:lnSpc>
                <a:spcPct val="80000"/>
              </a:lnSpc>
            </a:pPr>
            <a:r>
              <a:rPr lang="en-US" altLang="en-GB" sz="2000" smtClean="0"/>
              <a:t>Let a CFG G. A symbol   </a:t>
            </a:r>
            <a:r>
              <a:rPr lang="en-US" altLang="en-GB" i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GB" sz="2000" smtClean="0"/>
              <a:t> </a:t>
            </a:r>
            <a:r>
              <a:rPr lang="el-GR" altLang="en-GB" sz="2000" smtClean="0">
                <a:cs typeface="Arial" panose="020B0604020202020204" pitchFamily="34" charset="0"/>
              </a:rPr>
              <a:t>ε</a:t>
            </a:r>
            <a:r>
              <a:rPr lang="en-US" altLang="en-GB" sz="2000" smtClean="0">
                <a:cs typeface="Arial" panose="020B0604020202020204" pitchFamily="34" charset="0"/>
              </a:rPr>
              <a:t> (V U </a:t>
            </a:r>
            <a:r>
              <a:rPr lang="el-GR" altLang="en-GB" sz="2000" smtClean="0">
                <a:cs typeface="Arial" panose="020B0604020202020204" pitchFamily="34" charset="0"/>
              </a:rPr>
              <a:t>∑</a:t>
            </a:r>
            <a:r>
              <a:rPr lang="en-US" altLang="en-GB" sz="2000" smtClean="0">
                <a:cs typeface="Arial" panose="020B0604020202020204" pitchFamily="34" charset="0"/>
              </a:rPr>
              <a:t>) </a:t>
            </a:r>
            <a:r>
              <a:rPr lang="en-US" altLang="en-GB" sz="2000" smtClean="0"/>
              <a:t>is useful if there is a derivation</a:t>
            </a:r>
          </a:p>
          <a:p>
            <a:pPr marL="381000" indent="-381000" algn="just" eaLnBrk="1" hangingPunct="1">
              <a:lnSpc>
                <a:spcPct val="80000"/>
              </a:lnSpc>
            </a:pPr>
            <a:endParaRPr lang="en-US" altLang="en-GB" sz="2000" smtClean="0"/>
          </a:p>
          <a:p>
            <a:pPr marL="381000" indent="-381000" algn="just" eaLnBrk="1" hangingPunct="1">
              <a:lnSpc>
                <a:spcPct val="80000"/>
              </a:lnSpc>
            </a:pPr>
            <a:endParaRPr lang="en-US" altLang="en-GB" sz="2000" smtClean="0"/>
          </a:p>
          <a:p>
            <a:pPr marL="381000" indent="-381000"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000" smtClean="0"/>
              <a:t>Where U and V </a:t>
            </a:r>
            <a:r>
              <a:rPr lang="el-GR" altLang="en-GB" sz="2000" smtClean="0">
                <a:cs typeface="Arial" panose="020B0604020202020204" pitchFamily="34" charset="0"/>
              </a:rPr>
              <a:t>ε</a:t>
            </a:r>
            <a:r>
              <a:rPr lang="en-US" altLang="en-GB" sz="2000" smtClean="0">
                <a:cs typeface="Arial" panose="020B0604020202020204" pitchFamily="34" charset="0"/>
              </a:rPr>
              <a:t> (V U </a:t>
            </a:r>
            <a:r>
              <a:rPr lang="el-GR" altLang="en-GB" sz="2000" smtClean="0">
                <a:cs typeface="Arial" panose="020B0604020202020204" pitchFamily="34" charset="0"/>
              </a:rPr>
              <a:t>∑</a:t>
            </a:r>
            <a:r>
              <a:rPr lang="en-US" altLang="en-GB" sz="2000" smtClean="0">
                <a:cs typeface="Arial" panose="020B0604020202020204" pitchFamily="34" charset="0"/>
              </a:rPr>
              <a:t>) and w </a:t>
            </a:r>
            <a:r>
              <a:rPr lang="el-GR" altLang="en-GB" sz="2000" smtClean="0">
                <a:cs typeface="Arial" panose="020B0604020202020204" pitchFamily="34" charset="0"/>
              </a:rPr>
              <a:t>ε</a:t>
            </a:r>
            <a:r>
              <a:rPr lang="en-US" altLang="en-GB" sz="2000" smtClean="0">
                <a:cs typeface="Arial" panose="020B0604020202020204" pitchFamily="34" charset="0"/>
              </a:rPr>
              <a:t> </a:t>
            </a:r>
            <a:r>
              <a:rPr lang="el-GR" altLang="en-GB" sz="2000" smtClean="0">
                <a:cs typeface="Arial" panose="020B0604020202020204" pitchFamily="34" charset="0"/>
              </a:rPr>
              <a:t>∑</a:t>
            </a:r>
            <a:r>
              <a:rPr lang="en-US" altLang="en-GB" sz="2000" smtClean="0">
                <a:cs typeface="Arial" panose="020B0604020202020204" pitchFamily="34" charset="0"/>
              </a:rPr>
              <a:t>*. </a:t>
            </a:r>
          </a:p>
          <a:p>
            <a:pPr marL="381000" indent="-381000" algn="just" eaLnBrk="1" hangingPunct="1">
              <a:lnSpc>
                <a:spcPct val="80000"/>
              </a:lnSpc>
            </a:pPr>
            <a:r>
              <a:rPr lang="en-US" altLang="en-GB" sz="2000" smtClean="0">
                <a:cs typeface="Arial" panose="020B0604020202020204" pitchFamily="34" charset="0"/>
              </a:rPr>
              <a:t>A terminal is useful if it occurs in a string of the language of G.</a:t>
            </a:r>
          </a:p>
          <a:p>
            <a:pPr marL="381000" indent="-381000" algn="just" eaLnBrk="1" hangingPunct="1">
              <a:lnSpc>
                <a:spcPct val="80000"/>
              </a:lnSpc>
            </a:pPr>
            <a:r>
              <a:rPr lang="en-US" altLang="en-GB" sz="2000" smtClean="0">
                <a:cs typeface="Arial" panose="020B0604020202020204" pitchFamily="34" charset="0"/>
              </a:rPr>
              <a:t>A variable is useful if it occurs in a derivation that begins from S and generates a terminal string</a:t>
            </a:r>
          </a:p>
          <a:p>
            <a:pPr marL="381000" indent="-381000" algn="just" eaLnBrk="1" hangingPunct="1">
              <a:lnSpc>
                <a:spcPct val="80000"/>
              </a:lnSpc>
              <a:buFontTx/>
              <a:buNone/>
            </a:pPr>
            <a:endParaRPr lang="en-US" altLang="en-GB" sz="2000" smtClean="0"/>
          </a:p>
          <a:p>
            <a:pPr marL="381000" indent="-381000"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000" smtClean="0"/>
              <a:t>For a variable to be useful two conditions must be satisfied.</a:t>
            </a:r>
          </a:p>
          <a:p>
            <a:pPr marL="381000" indent="-381000" algn="just" eaLnBrk="1" hangingPunct="1">
              <a:lnSpc>
                <a:spcPct val="80000"/>
              </a:lnSpc>
              <a:buFontTx/>
              <a:buAutoNum type="arabicPeriod"/>
            </a:pPr>
            <a:endParaRPr lang="en-US" altLang="en-GB" sz="2000" smtClean="0">
              <a:solidFill>
                <a:srgbClr val="7030A0"/>
              </a:solidFill>
            </a:endParaRPr>
          </a:p>
          <a:p>
            <a:pPr marL="381000" indent="-3810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GB" sz="2000" smtClean="0">
                <a:solidFill>
                  <a:srgbClr val="7030A0"/>
                </a:solidFill>
              </a:rPr>
              <a:t>The variable must occur in a sentential form of the grammar</a:t>
            </a:r>
          </a:p>
          <a:p>
            <a:pPr marL="381000" indent="-3810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GB" sz="2000" smtClean="0"/>
              <a:t>There must be a derivation of a terminal string from the variable.</a:t>
            </a:r>
          </a:p>
          <a:p>
            <a:pPr marL="381000" indent="-381000" algn="just" eaLnBrk="1" hangingPunct="1">
              <a:lnSpc>
                <a:spcPct val="80000"/>
              </a:lnSpc>
            </a:pPr>
            <a:r>
              <a:rPr lang="en-US" altLang="en-GB" sz="2000" smtClean="0">
                <a:solidFill>
                  <a:srgbClr val="00B050"/>
                </a:solidFill>
              </a:rPr>
              <a:t>A variable that occurs in a sentential form is said to be reachable from S.</a:t>
            </a:r>
          </a:p>
          <a:p>
            <a:pPr marL="381000" indent="-381000" algn="just" eaLnBrk="1" hangingPunct="1">
              <a:lnSpc>
                <a:spcPct val="80000"/>
              </a:lnSpc>
            </a:pPr>
            <a:r>
              <a:rPr lang="en-US" altLang="en-GB" sz="2000" smtClean="0"/>
              <a:t>A two part procedure is presented to eliminate useless symbols.</a:t>
            </a:r>
          </a:p>
        </p:txBody>
      </p:sp>
      <p:graphicFrame>
        <p:nvGraphicFramePr>
          <p:cNvPr id="31749" name="Object 4"/>
          <p:cNvGraphicFramePr>
            <a:graphicFrameLocks noChangeAspect="1"/>
          </p:cNvGraphicFramePr>
          <p:nvPr>
            <p:ph sz="half" idx="4294967295"/>
          </p:nvPr>
        </p:nvGraphicFramePr>
        <p:xfrm>
          <a:off x="7010400" y="1905000"/>
          <a:ext cx="213360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4" imgW="889000" imgH="368300" progId="Equation.DSMT4">
                  <p:embed/>
                </p:oleObj>
              </mc:Choice>
              <mc:Fallback>
                <p:oleObj name="Equation" r:id="rId4" imgW="889000" imgH="368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905000"/>
                        <a:ext cx="2133600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BB8E30-6B3C-454E-A15E-9B6C1D3E727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Algorithm to remove useless symbols</a:t>
            </a:r>
          </a:p>
        </p:txBody>
      </p:sp>
      <p:sp>
        <p:nvSpPr>
          <p:cNvPr id="3379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600" smtClean="0"/>
              <a:t>PART-I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600" smtClean="0"/>
              <a:t>Identify variables that derive terminal strings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600" smtClean="0"/>
              <a:t>Remove non-terminals that do not derive terminal strings.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600" smtClean="0"/>
              <a:t>e.g. following grammar G = S </a:t>
            </a:r>
            <a:r>
              <a:rPr lang="en-US" altLang="en-GB" sz="2600" smtClean="0">
                <a:sym typeface="Wingdings" panose="05000000000000000000" pitchFamily="2" charset="2"/>
              </a:rPr>
              <a:t> aS | A | C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						 A  a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						 B  aa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						 C  CB</a:t>
            </a:r>
            <a:endParaRPr lang="en-US" altLang="en-GB" sz="26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2A3EBF-560F-4785-8990-F7845FD6717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Example</a:t>
            </a:r>
          </a:p>
        </p:txBody>
      </p:sp>
      <p:sp>
        <p:nvSpPr>
          <p:cNvPr id="35844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400" smtClean="0"/>
              <a:t>S </a:t>
            </a:r>
            <a:r>
              <a:rPr lang="en-US" altLang="en-GB" sz="2400" smtClean="0">
                <a:sym typeface="Wingdings" panose="05000000000000000000" pitchFamily="2" charset="2"/>
              </a:rPr>
              <a:t> aS | A | C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400" smtClean="0">
                <a:sym typeface="Wingdings" panose="05000000000000000000" pitchFamily="2" charset="2"/>
              </a:rPr>
              <a:t>A  a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400" smtClean="0">
                <a:sym typeface="Wingdings" panose="05000000000000000000" pitchFamily="2" charset="2"/>
              </a:rPr>
              <a:t>B  aa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400" smtClean="0">
                <a:sym typeface="Wingdings" panose="05000000000000000000" pitchFamily="2" charset="2"/>
              </a:rPr>
              <a:t>C  CB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en-GB" sz="2400" smtClean="0">
              <a:sym typeface="Wingdings" panose="05000000000000000000" pitchFamily="2" charset="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400" smtClean="0">
                <a:sym typeface="Wingdings" panose="05000000000000000000" pitchFamily="2" charset="2"/>
              </a:rPr>
              <a:t>We can identify variables that derive terminal strings.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400" smtClean="0">
                <a:sym typeface="Wingdings" panose="05000000000000000000" pitchFamily="2" charset="2"/>
              </a:rPr>
              <a:t>i.e. A  a              	B  aa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400" smtClean="0">
                <a:sym typeface="Wingdings" panose="05000000000000000000" pitchFamily="2" charset="2"/>
              </a:rPr>
              <a:t>And S A  a		TERM = {S, A, B}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400" smtClean="0">
                <a:sym typeface="Wingdings" panose="05000000000000000000" pitchFamily="2" charset="2"/>
              </a:rPr>
              <a:t>But not C. thus C is useless</a:t>
            </a:r>
            <a:endParaRPr lang="en-US" altLang="en-GB" sz="24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1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E29C43-16CB-4051-AB7D-755D737F02C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Example</a:t>
            </a:r>
          </a:p>
        </p:txBody>
      </p:sp>
      <p:sp>
        <p:nvSpPr>
          <p:cNvPr id="3789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>
                <a:sym typeface="Wingdings" panose="05000000000000000000" pitchFamily="2" charset="2"/>
              </a:rPr>
              <a:t>PART - II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GB" sz="19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Rename the grammar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/>
              <a:t>GT = S </a:t>
            </a:r>
            <a:r>
              <a:rPr lang="en-US" altLang="en-GB" sz="1900" smtClean="0">
                <a:sym typeface="Wingdings" panose="05000000000000000000" pitchFamily="2" charset="2"/>
              </a:rPr>
              <a:t> aS | 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>
                <a:sym typeface="Wingdings" panose="05000000000000000000" pitchFamily="2" charset="2"/>
              </a:rPr>
              <a:t>		A  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>
                <a:sym typeface="Wingdings" panose="05000000000000000000" pitchFamily="2" charset="2"/>
              </a:rPr>
              <a:t>		B  aa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>
                <a:sym typeface="Wingdings" panose="05000000000000000000" pitchFamily="2" charset="2"/>
              </a:rPr>
              <a:t>Now draw a graph and delete nodes not reachable from S.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GB" sz="19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GB" sz="19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GB" sz="19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GB" sz="19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GB" sz="19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>
                <a:sym typeface="Wingdings" panose="05000000000000000000" pitchFamily="2" charset="2"/>
              </a:rPr>
              <a:t>As B is unreachable so delete it and the final grammar will be G</a:t>
            </a:r>
            <a:r>
              <a:rPr lang="en-US" altLang="en-GB" sz="1900" baseline="-25000" smtClean="0">
                <a:sym typeface="Wingdings" panose="05000000000000000000" pitchFamily="2" charset="2"/>
              </a:rPr>
              <a:t>V</a:t>
            </a:r>
            <a:r>
              <a:rPr lang="en-US" altLang="en-GB" sz="1900" smtClean="0">
                <a:sym typeface="Wingdings" panose="05000000000000000000" pitchFamily="2" charset="2"/>
              </a:rPr>
              <a:t>=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>
                <a:sym typeface="Wingdings" panose="05000000000000000000" pitchFamily="2" charset="2"/>
              </a:rPr>
              <a:t>	S  aS | A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z="1900" smtClean="0">
                <a:sym typeface="Wingdings" panose="05000000000000000000" pitchFamily="2" charset="2"/>
              </a:rPr>
              <a:t>	A  a</a:t>
            </a:r>
          </a:p>
        </p:txBody>
      </p:sp>
      <p:grpSp>
        <p:nvGrpSpPr>
          <p:cNvPr id="37893" name="Group 12"/>
          <p:cNvGrpSpPr>
            <a:grpSpLocks/>
          </p:cNvGrpSpPr>
          <p:nvPr/>
        </p:nvGrpSpPr>
        <p:grpSpPr bwMode="auto">
          <a:xfrm>
            <a:off x="1355725" y="3595688"/>
            <a:ext cx="4511675" cy="1128712"/>
            <a:chOff x="326" y="2985"/>
            <a:chExt cx="2842" cy="711"/>
          </a:xfrm>
        </p:grpSpPr>
        <p:sp>
          <p:nvSpPr>
            <p:cNvPr id="37895" name="Oval 4"/>
            <p:cNvSpPr>
              <a:spLocks noChangeArrowheads="1"/>
            </p:cNvSpPr>
            <p:nvPr/>
          </p:nvSpPr>
          <p:spPr bwMode="auto">
            <a:xfrm>
              <a:off x="624" y="3312"/>
              <a:ext cx="336" cy="384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37896" name="Line 5"/>
            <p:cNvSpPr>
              <a:spLocks noChangeShapeType="1"/>
            </p:cNvSpPr>
            <p:nvPr/>
          </p:nvSpPr>
          <p:spPr bwMode="auto">
            <a:xfrm>
              <a:off x="960" y="3504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897" name="Oval 6"/>
            <p:cNvSpPr>
              <a:spLocks noChangeArrowheads="1"/>
            </p:cNvSpPr>
            <p:nvPr/>
          </p:nvSpPr>
          <p:spPr bwMode="auto">
            <a:xfrm>
              <a:off x="1776" y="3312"/>
              <a:ext cx="336" cy="384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7898" name="Freeform 7"/>
            <p:cNvSpPr>
              <a:spLocks/>
            </p:cNvSpPr>
            <p:nvPr/>
          </p:nvSpPr>
          <p:spPr bwMode="auto">
            <a:xfrm>
              <a:off x="464" y="3040"/>
              <a:ext cx="352" cy="416"/>
            </a:xfrm>
            <a:custGeom>
              <a:avLst/>
              <a:gdLst>
                <a:gd name="T0" fmla="*/ 160 w 352"/>
                <a:gd name="T1" fmla="*/ 416 h 416"/>
                <a:gd name="T2" fmla="*/ 16 w 352"/>
                <a:gd name="T3" fmla="*/ 80 h 416"/>
                <a:gd name="T4" fmla="*/ 256 w 352"/>
                <a:gd name="T5" fmla="*/ 32 h 416"/>
                <a:gd name="T6" fmla="*/ 352 w 352"/>
                <a:gd name="T7" fmla="*/ 272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2"/>
                <a:gd name="T13" fmla="*/ 0 h 416"/>
                <a:gd name="T14" fmla="*/ 352 w 352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2" h="416">
                  <a:moveTo>
                    <a:pt x="160" y="416"/>
                  </a:moveTo>
                  <a:cubicBezTo>
                    <a:pt x="80" y="280"/>
                    <a:pt x="0" y="144"/>
                    <a:pt x="16" y="80"/>
                  </a:cubicBezTo>
                  <a:cubicBezTo>
                    <a:pt x="32" y="16"/>
                    <a:pt x="200" y="0"/>
                    <a:pt x="256" y="32"/>
                  </a:cubicBezTo>
                  <a:cubicBezTo>
                    <a:pt x="312" y="64"/>
                    <a:pt x="332" y="168"/>
                    <a:pt x="352" y="27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899" name="Text Box 8"/>
            <p:cNvSpPr txBox="1">
              <a:spLocks noChangeArrowheads="1"/>
            </p:cNvSpPr>
            <p:nvPr/>
          </p:nvSpPr>
          <p:spPr bwMode="auto">
            <a:xfrm>
              <a:off x="326" y="3095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7900" name="Oval 9"/>
            <p:cNvSpPr>
              <a:spLocks noChangeArrowheads="1"/>
            </p:cNvSpPr>
            <p:nvPr/>
          </p:nvSpPr>
          <p:spPr bwMode="auto">
            <a:xfrm>
              <a:off x="2832" y="3264"/>
              <a:ext cx="336" cy="384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37901" name="Freeform 10"/>
            <p:cNvSpPr>
              <a:spLocks/>
            </p:cNvSpPr>
            <p:nvPr/>
          </p:nvSpPr>
          <p:spPr bwMode="auto">
            <a:xfrm>
              <a:off x="2672" y="2992"/>
              <a:ext cx="352" cy="416"/>
            </a:xfrm>
            <a:custGeom>
              <a:avLst/>
              <a:gdLst>
                <a:gd name="T0" fmla="*/ 160 w 352"/>
                <a:gd name="T1" fmla="*/ 416 h 416"/>
                <a:gd name="T2" fmla="*/ 16 w 352"/>
                <a:gd name="T3" fmla="*/ 80 h 416"/>
                <a:gd name="T4" fmla="*/ 256 w 352"/>
                <a:gd name="T5" fmla="*/ 32 h 416"/>
                <a:gd name="T6" fmla="*/ 352 w 352"/>
                <a:gd name="T7" fmla="*/ 272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52"/>
                <a:gd name="T13" fmla="*/ 0 h 416"/>
                <a:gd name="T14" fmla="*/ 352 w 352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52" h="416">
                  <a:moveTo>
                    <a:pt x="160" y="416"/>
                  </a:moveTo>
                  <a:cubicBezTo>
                    <a:pt x="80" y="280"/>
                    <a:pt x="0" y="144"/>
                    <a:pt x="16" y="80"/>
                  </a:cubicBezTo>
                  <a:cubicBezTo>
                    <a:pt x="32" y="16"/>
                    <a:pt x="200" y="0"/>
                    <a:pt x="256" y="32"/>
                  </a:cubicBezTo>
                  <a:cubicBezTo>
                    <a:pt x="312" y="64"/>
                    <a:pt x="332" y="168"/>
                    <a:pt x="352" y="272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902" name="Text Box 11"/>
            <p:cNvSpPr txBox="1">
              <a:spLocks noChangeArrowheads="1"/>
            </p:cNvSpPr>
            <p:nvPr/>
          </p:nvSpPr>
          <p:spPr bwMode="auto">
            <a:xfrm>
              <a:off x="2412" y="2985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GB" sz="1800">
                  <a:cs typeface="Arial" panose="020B0604020202020204" pitchFamily="34" charset="0"/>
                </a:rPr>
                <a:t>aa</a:t>
              </a:r>
            </a:p>
          </p:txBody>
        </p:sp>
      </p:grp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39939" name="Slide Number Placeholder 1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21FB00-7DE7-4AF2-8DBA-AF712111D36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9940" name="Rectangle 2"/>
          <p:cNvSpPr>
            <a:spLocks noChangeArrowheads="1"/>
          </p:cNvSpPr>
          <p:nvPr/>
        </p:nvSpPr>
        <p:spPr bwMode="auto">
          <a:xfrm>
            <a:off x="457200" y="762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4200">
                <a:solidFill>
                  <a:schemeClr val="tx2"/>
                </a:solidFill>
                <a:latin typeface="Garamond" panose="02020404030301010803" pitchFamily="18" charset="0"/>
              </a:rPr>
              <a:t>Useless Productions</a:t>
            </a:r>
          </a:p>
        </p:txBody>
      </p:sp>
      <p:graphicFrame>
        <p:nvGraphicFramePr>
          <p:cNvPr id="39941" name="Object 3"/>
          <p:cNvGraphicFramePr>
            <a:graphicFrameLocks noChangeAspect="1"/>
          </p:cNvGraphicFramePr>
          <p:nvPr/>
        </p:nvGraphicFramePr>
        <p:xfrm>
          <a:off x="3429000" y="1219200"/>
          <a:ext cx="18034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9" name="Equation" r:id="rId4" imgW="1803400" imgH="2717800" progId="Equation.3">
                  <p:embed/>
                </p:oleObj>
              </mc:Choice>
              <mc:Fallback>
                <p:oleObj name="Equation" r:id="rId4" imgW="1803400" imgH="2717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219200"/>
                        <a:ext cx="1803400" cy="271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813" y="4876800"/>
            <a:ext cx="8891587" cy="1409700"/>
            <a:chOff x="0" y="3072"/>
            <a:chExt cx="5601" cy="888"/>
          </a:xfrm>
        </p:grpSpPr>
        <p:graphicFrame>
          <p:nvGraphicFramePr>
            <p:cNvPr id="39947" name="Object 5"/>
            <p:cNvGraphicFramePr>
              <a:graphicFrameLocks noChangeAspect="1"/>
            </p:cNvGraphicFramePr>
            <p:nvPr/>
          </p:nvGraphicFramePr>
          <p:xfrm>
            <a:off x="2147483647" y="2147483647"/>
            <a:ext cx="0" cy="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0" name="Equation" r:id="rId6" imgW="8737600" imgH="419100" progId="Equation.3">
                    <p:embed/>
                  </p:oleObj>
                </mc:Choice>
                <mc:Fallback>
                  <p:oleObj name="Equation" r:id="rId6" imgW="8737600" imgH="4191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7483647" y="2147483647"/>
                          <a:ext cx="0" cy="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48" name="Text Box 6"/>
            <p:cNvSpPr txBox="1">
              <a:spLocks noChangeArrowheads="1"/>
            </p:cNvSpPr>
            <p:nvPr/>
          </p:nvSpPr>
          <p:spPr bwMode="auto">
            <a:xfrm>
              <a:off x="0" y="3072"/>
              <a:ext cx="436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GB">
                  <a:solidFill>
                    <a:schemeClr val="accent2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Some derivations never terminate...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048000" y="3276600"/>
            <a:ext cx="6096000" cy="990600"/>
            <a:chOff x="1920" y="2064"/>
            <a:chExt cx="3840" cy="624"/>
          </a:xfrm>
        </p:grpSpPr>
        <p:sp>
          <p:nvSpPr>
            <p:cNvPr id="39945" name="Oval 8"/>
            <p:cNvSpPr>
              <a:spLocks noChangeArrowheads="1"/>
            </p:cNvSpPr>
            <p:nvPr/>
          </p:nvSpPr>
          <p:spPr bwMode="auto">
            <a:xfrm>
              <a:off x="1920" y="2064"/>
              <a:ext cx="1440" cy="6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n-GB" sz="1800">
                <a:cs typeface="Arial" panose="020B0604020202020204" pitchFamily="34" charset="0"/>
              </a:endParaRPr>
            </a:p>
          </p:txBody>
        </p:sp>
        <p:sp>
          <p:nvSpPr>
            <p:cNvPr id="39946" name="Text Box 9"/>
            <p:cNvSpPr txBox="1">
              <a:spLocks noChangeArrowheads="1"/>
            </p:cNvSpPr>
            <p:nvPr/>
          </p:nvSpPr>
          <p:spPr bwMode="auto">
            <a:xfrm>
              <a:off x="3385" y="2160"/>
              <a:ext cx="237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GB">
                  <a:solidFill>
                    <a:srgbClr val="FF33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Useless Production</a:t>
              </a:r>
            </a:p>
          </p:txBody>
        </p:sp>
      </p:grp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3352800" y="1219200"/>
          <a:ext cx="16256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4" name="Equation" r:id="rId4" imgW="1625600" imgH="2717800" progId="Equation.3">
                  <p:embed/>
                </p:oleObj>
              </mc:Choice>
              <mc:Fallback>
                <p:oleObj name="Equation" r:id="rId4" imgW="1625600" imgH="2717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219200"/>
                        <a:ext cx="1625600" cy="271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539750" y="487363"/>
            <a:ext cx="36512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Another grammar:</a:t>
            </a:r>
          </a:p>
        </p:txBody>
      </p:sp>
      <p:sp>
        <p:nvSpPr>
          <p:cNvPr id="163844" name="Text Box 4"/>
          <p:cNvSpPr txBox="1">
            <a:spLocks noChangeArrowheads="1"/>
          </p:cNvSpPr>
          <p:nvPr/>
        </p:nvSpPr>
        <p:spPr bwMode="auto">
          <a:xfrm>
            <a:off x="2438400" y="4419600"/>
            <a:ext cx="447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Not reachable from S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0" y="3276600"/>
            <a:ext cx="6096000" cy="990600"/>
            <a:chOff x="1920" y="2064"/>
            <a:chExt cx="3840" cy="624"/>
          </a:xfrm>
        </p:grpSpPr>
        <p:sp>
          <p:nvSpPr>
            <p:cNvPr id="41992" name="Oval 6"/>
            <p:cNvSpPr>
              <a:spLocks noChangeArrowheads="1"/>
            </p:cNvSpPr>
            <p:nvPr/>
          </p:nvSpPr>
          <p:spPr bwMode="auto">
            <a:xfrm>
              <a:off x="1920" y="2064"/>
              <a:ext cx="1440" cy="6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GB" altLang="en-GB" sz="1800">
                <a:cs typeface="Arial" panose="020B0604020202020204" pitchFamily="34" charset="0"/>
              </a:endParaRPr>
            </a:p>
          </p:txBody>
        </p:sp>
        <p:sp>
          <p:nvSpPr>
            <p:cNvPr id="41993" name="Text Box 7"/>
            <p:cNvSpPr txBox="1">
              <a:spLocks noChangeArrowheads="1"/>
            </p:cNvSpPr>
            <p:nvPr/>
          </p:nvSpPr>
          <p:spPr bwMode="auto">
            <a:xfrm>
              <a:off x="3385" y="2160"/>
              <a:ext cx="237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GB">
                  <a:solidFill>
                    <a:srgbClr val="FF33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Useless Production</a:t>
              </a:r>
            </a:p>
          </p:txBody>
        </p:sp>
      </p:grpSp>
      <p:sp>
        <p:nvSpPr>
          <p:cNvPr id="41990" name="Slide Number Placeholder 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890E10-B830-45B2-8715-77561B5DC00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365125" y="411163"/>
            <a:ext cx="22510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In general: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533400" y="1168400"/>
            <a:ext cx="504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if</a:t>
            </a:r>
          </a:p>
        </p:txBody>
      </p:sp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1219200" y="1168400"/>
          <a:ext cx="4127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6" name="Equation" r:id="rId4" imgW="4127500" imgH="419100" progId="Equation.3">
                  <p:embed/>
                </p:oleObj>
              </mc:Choice>
              <mc:Fallback>
                <p:oleObj name="Equation" r:id="rId4" imgW="41275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168400"/>
                        <a:ext cx="4127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676400" y="3429000"/>
            <a:ext cx="52403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then variable        is useful</a:t>
            </a:r>
          </a:p>
        </p:txBody>
      </p:sp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4648200" y="3505200"/>
          <a:ext cx="368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7" name="Equation" r:id="rId6" imgW="368140" imgH="406224" progId="Equation.3">
                  <p:embed/>
                </p:oleObj>
              </mc:Choice>
              <mc:Fallback>
                <p:oleObj name="Equation" r:id="rId6" imgW="368140" imgH="4062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505200"/>
                        <a:ext cx="368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533400" y="4495800"/>
            <a:ext cx="65643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otherwise, variable        is useless</a:t>
            </a:r>
          </a:p>
        </p:txBody>
      </p:sp>
      <p:graphicFrame>
        <p:nvGraphicFramePr>
          <p:cNvPr id="44040" name="Object 8"/>
          <p:cNvGraphicFramePr>
            <a:graphicFrameLocks noChangeAspect="1"/>
          </p:cNvGraphicFramePr>
          <p:nvPr/>
        </p:nvGraphicFramePr>
        <p:xfrm>
          <a:off x="4572000" y="4572000"/>
          <a:ext cx="368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8" name="Equation" r:id="rId8" imgW="368140" imgH="406224" progId="Equation.3">
                  <p:embed/>
                </p:oleObj>
              </mc:Choice>
              <mc:Fallback>
                <p:oleObj name="Equation" r:id="rId8" imgW="368140" imgH="4062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72000"/>
                        <a:ext cx="368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Line 9"/>
          <p:cNvSpPr>
            <a:spLocks noChangeShapeType="1"/>
          </p:cNvSpPr>
          <p:nvPr/>
        </p:nvSpPr>
        <p:spPr bwMode="auto">
          <a:xfrm flipH="1" flipV="1">
            <a:off x="5314950" y="1592263"/>
            <a:ext cx="476250" cy="3762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graphicFrame>
        <p:nvGraphicFramePr>
          <p:cNvPr id="44042" name="Object 10"/>
          <p:cNvGraphicFramePr>
            <a:graphicFrameLocks noChangeAspect="1"/>
          </p:cNvGraphicFramePr>
          <p:nvPr/>
        </p:nvGraphicFramePr>
        <p:xfrm>
          <a:off x="5791200" y="1914525"/>
          <a:ext cx="18796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9" name="Equation" r:id="rId9" imgW="1879600" imgH="533400" progId="Equation.3">
                  <p:embed/>
                </p:oleObj>
              </mc:Choice>
              <mc:Fallback>
                <p:oleObj name="Equation" r:id="rId9" imgW="1879600" imgH="5334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914525"/>
                        <a:ext cx="18796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3" name="Text Box 11"/>
          <p:cNvSpPr txBox="1">
            <a:spLocks noChangeArrowheads="1"/>
          </p:cNvSpPr>
          <p:nvPr/>
        </p:nvSpPr>
        <p:spPr bwMode="auto">
          <a:xfrm>
            <a:off x="587375" y="1592263"/>
            <a:ext cx="47275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 sz="24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and</a:t>
            </a:r>
            <a:r>
              <a:rPr lang="en-US" altLang="en-GB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US" altLang="en-GB" sz="36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altLang="en-GB" sz="24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contains only  terminals</a:t>
            </a:r>
          </a:p>
        </p:txBody>
      </p:sp>
      <p:sp>
        <p:nvSpPr>
          <p:cNvPr id="44044" name="Slide Number Placeholder 1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BB5B8B-5072-4B9F-9B69-0FD93208EDA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914400" y="228600"/>
            <a:ext cx="6375400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rgbClr val="FF33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 production               is useless </a:t>
            </a:r>
          </a:p>
          <a:p>
            <a:pPr>
              <a:buFontTx/>
              <a:buNone/>
            </a:pPr>
            <a:r>
              <a:rPr lang="en-US" altLang="en-GB">
                <a:solidFill>
                  <a:srgbClr val="FF33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if any of its variables is useless</a:t>
            </a: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3657600" y="304800"/>
          <a:ext cx="1333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0" name="Equation" r:id="rId4" imgW="1333500" imgH="419100" progId="Equation.3">
                  <p:embed/>
                </p:oleObj>
              </mc:Choice>
              <mc:Fallback>
                <p:oleObj name="Equation" r:id="rId4" imgW="13335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04800"/>
                        <a:ext cx="1333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3200400" y="1905000"/>
          <a:ext cx="1803400" cy="424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1" name="Equation" r:id="rId6" imgW="1803400" imgH="4241800" progId="Equation.3">
                  <p:embed/>
                </p:oleObj>
              </mc:Choice>
              <mc:Fallback>
                <p:oleObj name="Equation" r:id="rId6" imgW="1803400" imgH="424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905000"/>
                        <a:ext cx="1803400" cy="424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19400" y="2692400"/>
            <a:ext cx="5046663" cy="3708400"/>
            <a:chOff x="1776" y="1696"/>
            <a:chExt cx="3179" cy="2336"/>
          </a:xfrm>
        </p:grpSpPr>
        <p:sp>
          <p:nvSpPr>
            <p:cNvPr id="46100" name="Text Box 6"/>
            <p:cNvSpPr txBox="1">
              <a:spLocks noChangeArrowheads="1"/>
            </p:cNvSpPr>
            <p:nvPr/>
          </p:nvSpPr>
          <p:spPr bwMode="auto">
            <a:xfrm>
              <a:off x="3446" y="1696"/>
              <a:ext cx="150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GB">
                  <a:latin typeface="Comic Sans MS" panose="030F0702030302020204" pitchFamily="66" charset="0"/>
                  <a:cs typeface="Arial" panose="020B0604020202020204" pitchFamily="34" charset="0"/>
                </a:rPr>
                <a:t>Productions</a:t>
              </a:r>
            </a:p>
          </p:txBody>
        </p:sp>
        <p:grpSp>
          <p:nvGrpSpPr>
            <p:cNvPr id="46101" name="Group 7"/>
            <p:cNvGrpSpPr>
              <a:grpSpLocks/>
            </p:cNvGrpSpPr>
            <p:nvPr/>
          </p:nvGrpSpPr>
          <p:grpSpPr bwMode="auto">
            <a:xfrm>
              <a:off x="1776" y="2080"/>
              <a:ext cx="2654" cy="1952"/>
              <a:chOff x="1776" y="2080"/>
              <a:chExt cx="2654" cy="1952"/>
            </a:xfrm>
          </p:grpSpPr>
          <p:sp>
            <p:nvSpPr>
              <p:cNvPr id="46102" name="Oval 8"/>
              <p:cNvSpPr>
                <a:spLocks noChangeArrowheads="1"/>
              </p:cNvSpPr>
              <p:nvPr/>
            </p:nvSpPr>
            <p:spPr bwMode="auto">
              <a:xfrm>
                <a:off x="1872" y="2112"/>
                <a:ext cx="1296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GB" altLang="en-GB" sz="1800">
                  <a:cs typeface="Arial" panose="020B0604020202020204" pitchFamily="34" charset="0"/>
                </a:endParaRPr>
              </a:p>
            </p:txBody>
          </p:sp>
          <p:sp>
            <p:nvSpPr>
              <p:cNvPr id="46103" name="Oval 9"/>
              <p:cNvSpPr>
                <a:spLocks noChangeArrowheads="1"/>
              </p:cNvSpPr>
              <p:nvPr/>
            </p:nvSpPr>
            <p:spPr bwMode="auto">
              <a:xfrm>
                <a:off x="1824" y="2592"/>
                <a:ext cx="1488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GB" altLang="en-GB" sz="1800">
                  <a:cs typeface="Arial" panose="020B0604020202020204" pitchFamily="34" charset="0"/>
                </a:endParaRPr>
              </a:p>
            </p:txBody>
          </p:sp>
          <p:sp>
            <p:nvSpPr>
              <p:cNvPr id="46104" name="Oval 10"/>
              <p:cNvSpPr>
                <a:spLocks noChangeArrowheads="1"/>
              </p:cNvSpPr>
              <p:nvPr/>
            </p:nvSpPr>
            <p:spPr bwMode="auto">
              <a:xfrm>
                <a:off x="1776" y="3072"/>
                <a:ext cx="1536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GB" altLang="en-GB" sz="1800">
                  <a:cs typeface="Arial" panose="020B0604020202020204" pitchFamily="34" charset="0"/>
                </a:endParaRPr>
              </a:p>
            </p:txBody>
          </p:sp>
          <p:sp>
            <p:nvSpPr>
              <p:cNvPr id="46105" name="Oval 11"/>
              <p:cNvSpPr>
                <a:spLocks noChangeArrowheads="1"/>
              </p:cNvSpPr>
              <p:nvPr/>
            </p:nvSpPr>
            <p:spPr bwMode="auto">
              <a:xfrm>
                <a:off x="1776" y="3552"/>
                <a:ext cx="1536" cy="48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GB" altLang="en-GB" sz="1800">
                  <a:cs typeface="Arial" panose="020B0604020202020204" pitchFamily="34" charset="0"/>
                </a:endParaRPr>
              </a:p>
            </p:txBody>
          </p:sp>
          <p:sp>
            <p:nvSpPr>
              <p:cNvPr id="46106" name="Text Box 12"/>
              <p:cNvSpPr txBox="1">
                <a:spLocks noChangeArrowheads="1"/>
              </p:cNvSpPr>
              <p:nvPr/>
            </p:nvSpPr>
            <p:spPr bwMode="auto">
              <a:xfrm>
                <a:off x="3446" y="2080"/>
                <a:ext cx="97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GB">
                    <a:solidFill>
                      <a:schemeClr val="accent2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useless</a:t>
                </a:r>
              </a:p>
            </p:txBody>
          </p:sp>
          <p:sp>
            <p:nvSpPr>
              <p:cNvPr id="46107" name="Text Box 13"/>
              <p:cNvSpPr txBox="1">
                <a:spLocks noChangeArrowheads="1"/>
              </p:cNvSpPr>
              <p:nvPr/>
            </p:nvSpPr>
            <p:spPr bwMode="auto">
              <a:xfrm>
                <a:off x="3456" y="2592"/>
                <a:ext cx="97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GB">
                    <a:solidFill>
                      <a:schemeClr val="accent2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useless</a:t>
                </a:r>
              </a:p>
            </p:txBody>
          </p:sp>
          <p:sp>
            <p:nvSpPr>
              <p:cNvPr id="46108" name="Text Box 14"/>
              <p:cNvSpPr txBox="1">
                <a:spLocks noChangeArrowheads="1"/>
              </p:cNvSpPr>
              <p:nvPr/>
            </p:nvSpPr>
            <p:spPr bwMode="auto">
              <a:xfrm>
                <a:off x="3408" y="3072"/>
                <a:ext cx="97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GB">
                    <a:solidFill>
                      <a:schemeClr val="accent2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useless</a:t>
                </a:r>
              </a:p>
            </p:txBody>
          </p:sp>
          <p:sp>
            <p:nvSpPr>
              <p:cNvPr id="46109" name="Text Box 15"/>
              <p:cNvSpPr txBox="1">
                <a:spLocks noChangeArrowheads="1"/>
              </p:cNvSpPr>
              <p:nvPr/>
            </p:nvSpPr>
            <p:spPr bwMode="auto">
              <a:xfrm>
                <a:off x="3456" y="3600"/>
                <a:ext cx="97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buFontTx/>
                  <a:buNone/>
                </a:pPr>
                <a:r>
                  <a:rPr lang="en-US" altLang="en-GB">
                    <a:solidFill>
                      <a:schemeClr val="accent2"/>
                    </a:solidFill>
                    <a:latin typeface="Comic Sans MS" panose="030F0702030302020204" pitchFamily="66" charset="0"/>
                    <a:cs typeface="Arial" panose="020B0604020202020204" pitchFamily="34" charset="0"/>
                  </a:rPr>
                  <a:t>useless</a:t>
                </a:r>
              </a:p>
            </p:txBody>
          </p:sp>
        </p:grp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62000" y="3429000"/>
            <a:ext cx="4038600" cy="2865438"/>
            <a:chOff x="480" y="2160"/>
            <a:chExt cx="2544" cy="1805"/>
          </a:xfrm>
        </p:grpSpPr>
        <p:sp>
          <p:nvSpPr>
            <p:cNvPr id="46089" name="Text Box 17"/>
            <p:cNvSpPr txBox="1">
              <a:spLocks noChangeArrowheads="1"/>
            </p:cNvSpPr>
            <p:nvPr/>
          </p:nvSpPr>
          <p:spPr bwMode="auto">
            <a:xfrm>
              <a:off x="480" y="2160"/>
              <a:ext cx="122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Tx/>
                <a:buNone/>
              </a:pPr>
              <a:r>
                <a:rPr lang="en-US" altLang="en-GB">
                  <a:latin typeface="Comic Sans MS" panose="030F0702030302020204" pitchFamily="66" charset="0"/>
                  <a:cs typeface="Arial" panose="020B0604020202020204" pitchFamily="34" charset="0"/>
                </a:rPr>
                <a:t>Variables</a:t>
              </a:r>
            </a:p>
          </p:txBody>
        </p:sp>
        <p:grpSp>
          <p:nvGrpSpPr>
            <p:cNvPr id="46090" name="Group 18"/>
            <p:cNvGrpSpPr>
              <a:grpSpLocks/>
            </p:cNvGrpSpPr>
            <p:nvPr/>
          </p:nvGrpSpPr>
          <p:grpSpPr bwMode="auto">
            <a:xfrm>
              <a:off x="816" y="2592"/>
              <a:ext cx="2208" cy="1373"/>
              <a:chOff x="816" y="2592"/>
              <a:chExt cx="2208" cy="1373"/>
            </a:xfrm>
          </p:grpSpPr>
          <p:grpSp>
            <p:nvGrpSpPr>
              <p:cNvPr id="46091" name="Group 19"/>
              <p:cNvGrpSpPr>
                <a:grpSpLocks/>
              </p:cNvGrpSpPr>
              <p:nvPr/>
            </p:nvGrpSpPr>
            <p:grpSpPr bwMode="auto">
              <a:xfrm>
                <a:off x="816" y="2592"/>
                <a:ext cx="974" cy="1373"/>
                <a:chOff x="816" y="2592"/>
                <a:chExt cx="974" cy="1373"/>
              </a:xfrm>
            </p:grpSpPr>
            <p:sp>
              <p:nvSpPr>
                <p:cNvPr id="46097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816" y="2592"/>
                  <a:ext cx="974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GB">
                      <a:solidFill>
                        <a:schemeClr val="accent2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useless</a:t>
                  </a:r>
                </a:p>
              </p:txBody>
            </p:sp>
            <p:sp>
              <p:nvSpPr>
                <p:cNvPr id="46098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816" y="3072"/>
                  <a:ext cx="974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GB">
                      <a:solidFill>
                        <a:schemeClr val="accent2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useless</a:t>
                  </a:r>
                </a:p>
              </p:txBody>
            </p:sp>
            <p:sp>
              <p:nvSpPr>
                <p:cNvPr id="46099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816" y="3600"/>
                  <a:ext cx="974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buFontTx/>
                    <a:buNone/>
                  </a:pPr>
                  <a:r>
                    <a:rPr lang="en-US" altLang="en-GB">
                      <a:solidFill>
                        <a:schemeClr val="accent2"/>
                      </a:solidFill>
                      <a:latin typeface="Comic Sans MS" panose="030F0702030302020204" pitchFamily="66" charset="0"/>
                      <a:cs typeface="Arial" panose="020B0604020202020204" pitchFamily="34" charset="0"/>
                    </a:rPr>
                    <a:t>useless</a:t>
                  </a:r>
                </a:p>
              </p:txBody>
            </p:sp>
          </p:grpSp>
          <p:grpSp>
            <p:nvGrpSpPr>
              <p:cNvPr id="46092" name="Group 23"/>
              <p:cNvGrpSpPr>
                <a:grpSpLocks/>
              </p:cNvGrpSpPr>
              <p:nvPr/>
            </p:nvGrpSpPr>
            <p:grpSpPr bwMode="auto">
              <a:xfrm>
                <a:off x="1920" y="2592"/>
                <a:ext cx="1104" cy="1344"/>
                <a:chOff x="1920" y="2592"/>
                <a:chExt cx="1104" cy="1344"/>
              </a:xfrm>
            </p:grpSpPr>
            <p:sp>
              <p:nvSpPr>
                <p:cNvPr id="46093" name="Oval 24"/>
                <p:cNvSpPr>
                  <a:spLocks noChangeArrowheads="1"/>
                </p:cNvSpPr>
                <p:nvPr/>
              </p:nvSpPr>
              <p:spPr bwMode="auto">
                <a:xfrm>
                  <a:off x="1920" y="3072"/>
                  <a:ext cx="384" cy="384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GB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94" name="Oval 25"/>
                <p:cNvSpPr>
                  <a:spLocks noChangeArrowheads="1"/>
                </p:cNvSpPr>
                <p:nvPr/>
              </p:nvSpPr>
              <p:spPr bwMode="auto">
                <a:xfrm>
                  <a:off x="1920" y="3552"/>
                  <a:ext cx="384" cy="384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GB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95" name="Oval 26"/>
                <p:cNvSpPr>
                  <a:spLocks noChangeArrowheads="1"/>
                </p:cNvSpPr>
                <p:nvPr/>
              </p:nvSpPr>
              <p:spPr bwMode="auto">
                <a:xfrm>
                  <a:off x="1920" y="2592"/>
                  <a:ext cx="384" cy="432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GB" sz="1800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096" name="Oval 27"/>
                <p:cNvSpPr>
                  <a:spLocks noChangeArrowheads="1"/>
                </p:cNvSpPr>
                <p:nvPr/>
              </p:nvSpPr>
              <p:spPr bwMode="auto">
                <a:xfrm>
                  <a:off x="2640" y="3552"/>
                  <a:ext cx="384" cy="384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en-GB" altLang="en-GB" sz="1800"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46087" name="Slide Number Placeholder 28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B676CA-BC0A-4EC6-BD16-2A47A620829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B5CFFD-498C-4483-8823-B8181AF009A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Removing Useless Productions</a:t>
            </a:r>
          </a:p>
        </p:txBody>
      </p:sp>
      <p:sp>
        <p:nvSpPr>
          <p:cNvPr id="48132" name="Text Box 3"/>
          <p:cNvSpPr txBox="1">
            <a:spLocks noChangeArrowheads="1"/>
          </p:cNvSpPr>
          <p:nvPr/>
        </p:nvSpPr>
        <p:spPr bwMode="auto">
          <a:xfrm>
            <a:off x="0" y="1295400"/>
            <a:ext cx="3711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Example Grammar:</a:t>
            </a:r>
          </a:p>
        </p:txBody>
      </p:sp>
      <p:graphicFrame>
        <p:nvGraphicFramePr>
          <p:cNvPr id="48133" name="Object 4"/>
          <p:cNvGraphicFramePr>
            <a:graphicFrameLocks noChangeAspect="1"/>
          </p:cNvGraphicFramePr>
          <p:nvPr/>
        </p:nvGraphicFramePr>
        <p:xfrm>
          <a:off x="3124200" y="2362200"/>
          <a:ext cx="28321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Equation" r:id="rId4" imgW="2832100" imgH="2717800" progId="Equation.3">
                  <p:embed/>
                </p:oleObj>
              </mc:Choice>
              <mc:Fallback>
                <p:oleObj name="Equation" r:id="rId4" imgW="2832100" imgH="271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362200"/>
                        <a:ext cx="2832100" cy="271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685800" y="501650"/>
            <a:ext cx="14462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 sz="3600" b="1">
                <a:solidFill>
                  <a:srgbClr val="FF33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First:</a:t>
            </a: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2438400" y="436563"/>
            <a:ext cx="6659563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find all variables that can produce</a:t>
            </a:r>
          </a:p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strings with only terminals</a:t>
            </a:r>
          </a:p>
        </p:txBody>
      </p:sp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393700" y="2984500"/>
          <a:ext cx="28321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0" name="Equation" r:id="rId4" imgW="2832100" imgH="2717800" progId="Equation.3">
                  <p:embed/>
                </p:oleObj>
              </mc:Choice>
              <mc:Fallback>
                <p:oleObj name="Equation" r:id="rId4" imgW="2832100" imgH="271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2984500"/>
                        <a:ext cx="2832100" cy="271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1" name="Object 5"/>
          <p:cNvGraphicFramePr>
            <a:graphicFrameLocks noChangeAspect="1"/>
          </p:cNvGraphicFramePr>
          <p:nvPr/>
        </p:nvGraphicFramePr>
        <p:xfrm>
          <a:off x="6019800" y="2819400"/>
          <a:ext cx="12446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1" name="Equation" r:id="rId6" imgW="1244600" imgH="533400" progId="Equation.3">
                  <p:embed/>
                </p:oleObj>
              </mc:Choice>
              <mc:Fallback>
                <p:oleObj name="Equation" r:id="rId6" imgW="1244600" imgH="533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819400"/>
                        <a:ext cx="12446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2" name="Oval 6"/>
          <p:cNvSpPr>
            <a:spLocks noChangeArrowheads="1"/>
          </p:cNvSpPr>
          <p:nvPr/>
        </p:nvSpPr>
        <p:spPr bwMode="auto">
          <a:xfrm>
            <a:off x="152400" y="3581400"/>
            <a:ext cx="18288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cs typeface="Arial" panose="020B0604020202020204" pitchFamily="34" charset="0"/>
            </a:endParaRPr>
          </a:p>
        </p:txBody>
      </p:sp>
      <p:sp>
        <p:nvSpPr>
          <p:cNvPr id="167943" name="Oval 7"/>
          <p:cNvSpPr>
            <a:spLocks noChangeArrowheads="1"/>
          </p:cNvSpPr>
          <p:nvPr/>
        </p:nvSpPr>
        <p:spPr bwMode="auto">
          <a:xfrm>
            <a:off x="76200" y="4419600"/>
            <a:ext cx="21336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cs typeface="Arial" panose="020B0604020202020204" pitchFamily="34" charset="0"/>
            </a:endParaRPr>
          </a:p>
        </p:txBody>
      </p:sp>
      <p:graphicFrame>
        <p:nvGraphicFramePr>
          <p:cNvPr id="167944" name="Object 8"/>
          <p:cNvGraphicFramePr>
            <a:graphicFrameLocks noChangeAspect="1"/>
          </p:cNvGraphicFramePr>
          <p:nvPr/>
        </p:nvGraphicFramePr>
        <p:xfrm>
          <a:off x="6019800" y="4038600"/>
          <a:ext cx="11430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2" name="Equation" r:id="rId8" imgW="1384300" imgH="419100" progId="Equation.3">
                  <p:embed/>
                </p:oleObj>
              </mc:Choice>
              <mc:Fallback>
                <p:oleObj name="Equation" r:id="rId8" imgW="13843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038600"/>
                        <a:ext cx="11430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945" name="Object 9"/>
          <p:cNvGraphicFramePr>
            <a:graphicFrameLocks noChangeAspect="1"/>
          </p:cNvGraphicFramePr>
          <p:nvPr/>
        </p:nvGraphicFramePr>
        <p:xfrm>
          <a:off x="5943600" y="5105400"/>
          <a:ext cx="172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3" name="Equation" r:id="rId10" imgW="1726451" imgH="533169" progId="Equation.3">
                  <p:embed/>
                </p:oleObj>
              </mc:Choice>
              <mc:Fallback>
                <p:oleObj name="Equation" r:id="rId10" imgW="1726451" imgH="53316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105400"/>
                        <a:ext cx="17272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6" name="Text Box 10"/>
          <p:cNvSpPr txBox="1">
            <a:spLocks noChangeArrowheads="1"/>
          </p:cNvSpPr>
          <p:nvPr/>
        </p:nvSpPr>
        <p:spPr bwMode="auto">
          <a:xfrm>
            <a:off x="4038600" y="2743200"/>
            <a:ext cx="1743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Round 1:</a:t>
            </a:r>
          </a:p>
        </p:txBody>
      </p:sp>
      <p:sp>
        <p:nvSpPr>
          <p:cNvPr id="167947" name="Text Box 11"/>
          <p:cNvSpPr txBox="1">
            <a:spLocks noChangeArrowheads="1"/>
          </p:cNvSpPr>
          <p:nvPr/>
        </p:nvSpPr>
        <p:spPr bwMode="auto">
          <a:xfrm>
            <a:off x="4038600" y="5105400"/>
            <a:ext cx="18081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Round 2:</a:t>
            </a:r>
          </a:p>
        </p:txBody>
      </p:sp>
      <p:sp>
        <p:nvSpPr>
          <p:cNvPr id="50188" name="Slide Number Placeholder 12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B9DAF4-C869-4C9F-8D15-90BD774457A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7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2" grpId="0" animBg="1"/>
      <p:bldP spid="167943" grpId="0" animBg="1"/>
      <p:bldP spid="167946" grpId="0" autoUpdateAnimBg="0"/>
      <p:bldP spid="167947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685800" y="533400"/>
            <a:ext cx="6070600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Keep only the variables</a:t>
            </a:r>
          </a:p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that produce terminal symbols:</a:t>
            </a: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393700" y="2984500"/>
          <a:ext cx="28321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9" name="Equation" r:id="rId4" imgW="2832100" imgH="2717800" progId="Equation.3">
                  <p:embed/>
                </p:oleObj>
              </mc:Choice>
              <mc:Fallback>
                <p:oleObj name="Equation" r:id="rId4" imgW="2832100" imgH="2717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2984500"/>
                        <a:ext cx="2832100" cy="271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7086600" y="1143000"/>
          <a:ext cx="172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0" name="Equation" r:id="rId6" imgW="1726451" imgH="533169" progId="Equation.3">
                  <p:embed/>
                </p:oleObj>
              </mc:Choice>
              <mc:Fallback>
                <p:oleObj name="Equation" r:id="rId6" imgW="1726451" imgH="53316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143000"/>
                        <a:ext cx="17272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Line 5"/>
          <p:cNvSpPr>
            <a:spLocks noChangeShapeType="1"/>
          </p:cNvSpPr>
          <p:nvPr/>
        </p:nvSpPr>
        <p:spPr bwMode="auto">
          <a:xfrm flipV="1">
            <a:off x="228600" y="5105400"/>
            <a:ext cx="2286000" cy="76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52230" name="Line 6"/>
          <p:cNvSpPr>
            <a:spLocks noChangeShapeType="1"/>
          </p:cNvSpPr>
          <p:nvPr/>
        </p:nvSpPr>
        <p:spPr bwMode="auto">
          <a:xfrm>
            <a:off x="304800" y="5105400"/>
            <a:ext cx="2209800" cy="762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52231" name="AutoShape 7"/>
          <p:cNvSpPr>
            <a:spLocks noChangeArrowheads="1"/>
          </p:cNvSpPr>
          <p:nvPr/>
        </p:nvSpPr>
        <p:spPr bwMode="auto">
          <a:xfrm>
            <a:off x="4191000" y="42672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cs typeface="Arial" panose="020B0604020202020204" pitchFamily="34" charset="0"/>
            </a:endParaRPr>
          </a:p>
        </p:txBody>
      </p:sp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6292850" y="3562350"/>
          <a:ext cx="220980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1" name="Equation" r:id="rId8" imgW="2209800" imgH="1955800" progId="Equation.3">
                  <p:embed/>
                </p:oleObj>
              </mc:Choice>
              <mc:Fallback>
                <p:oleObj name="Equation" r:id="rId8" imgW="2209800" imgH="1955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2850" y="3562350"/>
                        <a:ext cx="2209800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3" name="Line 9"/>
          <p:cNvSpPr>
            <a:spLocks noChangeShapeType="1"/>
          </p:cNvSpPr>
          <p:nvPr/>
        </p:nvSpPr>
        <p:spPr bwMode="auto">
          <a:xfrm>
            <a:off x="2667000" y="2895600"/>
            <a:ext cx="6858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 flipH="1">
            <a:off x="2667000" y="2895600"/>
            <a:ext cx="6858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1584325" y="1798638"/>
            <a:ext cx="461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 sz="24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(the rest variables are useless)</a:t>
            </a: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2133600" y="5867400"/>
            <a:ext cx="477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 sz="28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Remove useless productions</a:t>
            </a:r>
          </a:p>
        </p:txBody>
      </p:sp>
      <p:sp>
        <p:nvSpPr>
          <p:cNvPr id="52237" name="Slide Number Placeholder 1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3E1F6A-5B91-4229-827D-AC5E187EC868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457200" y="255588"/>
            <a:ext cx="19383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 sz="3600" b="1">
                <a:solidFill>
                  <a:srgbClr val="FF33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Second: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2514600" y="304800"/>
            <a:ext cx="3367088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Find all variables</a:t>
            </a:r>
          </a:p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reachable from</a:t>
            </a:r>
          </a:p>
        </p:txBody>
      </p: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425450" y="3486150"/>
          <a:ext cx="220980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0" name="Equation" r:id="rId4" imgW="2209800" imgH="1955800" progId="Equation.3">
                  <p:embed/>
                </p:oleObj>
              </mc:Choice>
              <mc:Fallback>
                <p:oleObj name="Equation" r:id="rId4" imgW="2209800" imgH="195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450" y="3486150"/>
                        <a:ext cx="2209800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7" name="Oval 5"/>
          <p:cNvSpPr>
            <a:spLocks noChangeArrowheads="1"/>
          </p:cNvSpPr>
          <p:nvPr/>
        </p:nvSpPr>
        <p:spPr bwMode="auto">
          <a:xfrm>
            <a:off x="44958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cs typeface="Arial" panose="020B0604020202020204" pitchFamily="34" charset="0"/>
            </a:endParaRPr>
          </a:p>
        </p:txBody>
      </p:sp>
      <p:graphicFrame>
        <p:nvGraphicFramePr>
          <p:cNvPr id="54278" name="Object 6"/>
          <p:cNvGraphicFramePr>
            <a:graphicFrameLocks noChangeAspect="1"/>
          </p:cNvGraphicFramePr>
          <p:nvPr/>
        </p:nvGraphicFramePr>
        <p:xfrm>
          <a:off x="4648200" y="4191000"/>
          <a:ext cx="3032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1" name="Equation" r:id="rId6" imgW="304668" imgH="380835" progId="Equation.3">
                  <p:embed/>
                </p:oleObj>
              </mc:Choice>
              <mc:Fallback>
                <p:oleObj name="Equation" r:id="rId6" imgW="304668" imgH="3808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191000"/>
                        <a:ext cx="3032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Oval 7"/>
          <p:cNvSpPr>
            <a:spLocks noChangeArrowheads="1"/>
          </p:cNvSpPr>
          <p:nvPr/>
        </p:nvSpPr>
        <p:spPr bwMode="auto">
          <a:xfrm>
            <a:off x="59436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cs typeface="Arial" panose="020B0604020202020204" pitchFamily="34" charset="0"/>
            </a:endParaRPr>
          </a:p>
        </p:txBody>
      </p:sp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6083300" y="419735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2" name="Equation" r:id="rId8" imgW="330200" imgH="368300" progId="Equation.3">
                  <p:embed/>
                </p:oleObj>
              </mc:Choice>
              <mc:Fallback>
                <p:oleObj name="Equation" r:id="rId8" imgW="330200" imgH="368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419735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1" name="Oval 9"/>
          <p:cNvSpPr>
            <a:spLocks noChangeArrowheads="1"/>
          </p:cNvSpPr>
          <p:nvPr/>
        </p:nvSpPr>
        <p:spPr bwMode="auto">
          <a:xfrm>
            <a:off x="76962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cs typeface="Arial" panose="020B0604020202020204" pitchFamily="34" charset="0"/>
            </a:endParaRPr>
          </a:p>
        </p:txBody>
      </p:sp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7835900" y="419735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3" name="Equation" r:id="rId10" imgW="330200" imgH="368300" progId="Equation.3">
                  <p:embed/>
                </p:oleObj>
              </mc:Choice>
              <mc:Fallback>
                <p:oleObj name="Equation" r:id="rId10" imgW="330200" imgH="368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5900" y="419735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3" name="Freeform 11"/>
          <p:cNvSpPr>
            <a:spLocks/>
          </p:cNvSpPr>
          <p:nvPr/>
        </p:nvSpPr>
        <p:spPr bwMode="auto">
          <a:xfrm>
            <a:off x="4394200" y="3251200"/>
            <a:ext cx="812800" cy="863600"/>
          </a:xfrm>
          <a:custGeom>
            <a:avLst/>
            <a:gdLst>
              <a:gd name="T0" fmla="*/ 2147483646 w 512"/>
              <a:gd name="T1" fmla="*/ 2147483646 h 544"/>
              <a:gd name="T2" fmla="*/ 2147483646 w 512"/>
              <a:gd name="T3" fmla="*/ 2147483646 h 544"/>
              <a:gd name="T4" fmla="*/ 2147483646 w 512"/>
              <a:gd name="T5" fmla="*/ 2147483646 h 544"/>
              <a:gd name="T6" fmla="*/ 2147483646 w 512"/>
              <a:gd name="T7" fmla="*/ 2147483646 h 544"/>
              <a:gd name="T8" fmla="*/ 2147483646 w 512"/>
              <a:gd name="T9" fmla="*/ 2147483646 h 5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544"/>
              <a:gd name="T17" fmla="*/ 512 w 512"/>
              <a:gd name="T18" fmla="*/ 544 h 5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544">
                <a:moveTo>
                  <a:pt x="352" y="544"/>
                </a:moveTo>
                <a:cubicBezTo>
                  <a:pt x="432" y="444"/>
                  <a:pt x="512" y="344"/>
                  <a:pt x="496" y="256"/>
                </a:cubicBezTo>
                <a:cubicBezTo>
                  <a:pt x="480" y="168"/>
                  <a:pt x="336" y="32"/>
                  <a:pt x="256" y="16"/>
                </a:cubicBezTo>
                <a:cubicBezTo>
                  <a:pt x="176" y="0"/>
                  <a:pt x="32" y="72"/>
                  <a:pt x="16" y="160"/>
                </a:cubicBezTo>
                <a:cubicBezTo>
                  <a:pt x="0" y="248"/>
                  <a:pt x="80" y="396"/>
                  <a:pt x="160" y="5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>
            <a:off x="5029200" y="4419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3886200" y="2362200"/>
            <a:ext cx="4873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Use a Dependency Graph</a:t>
            </a:r>
          </a:p>
        </p:txBody>
      </p:sp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7107238" y="4876800"/>
            <a:ext cx="2036762" cy="116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   not</a:t>
            </a:r>
          </a:p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reachable</a:t>
            </a:r>
          </a:p>
        </p:txBody>
      </p:sp>
      <p:graphicFrame>
        <p:nvGraphicFramePr>
          <p:cNvPr id="54287" name="Object 15"/>
          <p:cNvGraphicFramePr>
            <a:graphicFrameLocks noChangeAspect="1"/>
          </p:cNvGraphicFramePr>
          <p:nvPr/>
        </p:nvGraphicFramePr>
        <p:xfrm>
          <a:off x="5638800" y="9906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4" name="Equation" r:id="rId12" imgW="330200" imgH="419100" progId="Equation.3">
                  <p:embed/>
                </p:oleObj>
              </mc:Choice>
              <mc:Fallback>
                <p:oleObj name="Equation" r:id="rId12" imgW="330200" imgH="4191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9906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8" name="Slide Number Placeholder 1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6449E0-55B9-46C3-A893-D1E0C16957F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1981200" y="436563"/>
            <a:ext cx="4556125" cy="116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Keep only the variables</a:t>
            </a:r>
          </a:p>
          <a:p>
            <a:pPr>
              <a:buFontTx/>
              <a:buNone/>
            </a:pPr>
            <a:r>
              <a:rPr lang="en-US" altLang="en-GB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reachable from S</a:t>
            </a:r>
          </a:p>
        </p:txBody>
      </p:sp>
      <p:graphicFrame>
        <p:nvGraphicFramePr>
          <p:cNvPr id="56323" name="Object 3"/>
          <p:cNvGraphicFramePr>
            <a:graphicFrameLocks noChangeAspect="1"/>
          </p:cNvGraphicFramePr>
          <p:nvPr/>
        </p:nvGraphicFramePr>
        <p:xfrm>
          <a:off x="577850" y="2800350"/>
          <a:ext cx="2209800" cy="195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3" name="Equation" r:id="rId4" imgW="2209800" imgH="1955800" progId="Equation.3">
                  <p:embed/>
                </p:oleObj>
              </mc:Choice>
              <mc:Fallback>
                <p:oleObj name="Equation" r:id="rId4" imgW="2209800" imgH="1955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" y="2800350"/>
                        <a:ext cx="2209800" cy="195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Line 4"/>
          <p:cNvSpPr>
            <a:spLocks noChangeShapeType="1"/>
          </p:cNvSpPr>
          <p:nvPr/>
        </p:nvSpPr>
        <p:spPr bwMode="auto">
          <a:xfrm flipV="1">
            <a:off x="457200" y="4267200"/>
            <a:ext cx="19050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56325" name="Line 5"/>
          <p:cNvSpPr>
            <a:spLocks noChangeShapeType="1"/>
          </p:cNvSpPr>
          <p:nvPr/>
        </p:nvSpPr>
        <p:spPr bwMode="auto">
          <a:xfrm>
            <a:off x="381000" y="4267200"/>
            <a:ext cx="19812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GB"/>
          </a:p>
        </p:txBody>
      </p:sp>
      <p:sp>
        <p:nvSpPr>
          <p:cNvPr id="56326" name="AutoShape 6"/>
          <p:cNvSpPr>
            <a:spLocks noChangeArrowheads="1"/>
          </p:cNvSpPr>
          <p:nvPr/>
        </p:nvSpPr>
        <p:spPr bwMode="auto">
          <a:xfrm>
            <a:off x="4038600" y="36576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cs typeface="Arial" panose="020B0604020202020204" pitchFamily="34" charset="0"/>
            </a:endParaRPr>
          </a:p>
        </p:txBody>
      </p:sp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6216650" y="3257550"/>
          <a:ext cx="22098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4" name="Equation" r:id="rId6" imgW="2209800" imgH="1193800" progId="Equation.3">
                  <p:embed/>
                </p:oleObj>
              </mc:Choice>
              <mc:Fallback>
                <p:oleObj name="Equation" r:id="rId6" imgW="2209800" imgH="1193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6650" y="3257550"/>
                        <a:ext cx="2209800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5791200" y="2133600"/>
            <a:ext cx="2913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>
                <a:solidFill>
                  <a:srgbClr val="FF33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Final Grammar</a:t>
            </a:r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2422525" y="1676400"/>
            <a:ext cx="4614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 sz="24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(the rest variables are useless)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2133600" y="5410200"/>
            <a:ext cx="477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GB" sz="28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Remove useless productions</a:t>
            </a:r>
          </a:p>
        </p:txBody>
      </p:sp>
      <p:sp>
        <p:nvSpPr>
          <p:cNvPr id="56331" name="Slide Number Placeholder 1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95C1A2-830E-4867-B0D8-50AD1EB7AEA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8559D0-3742-49F7-9B1D-D33560B3FB6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Set of variables that Derive terminal symbols</a:t>
            </a:r>
          </a:p>
        </p:txBody>
      </p:sp>
      <p:sp>
        <p:nvSpPr>
          <p:cNvPr id="58372" name="Rectangle 4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577850" indent="-577850" eaLnBrk="1" hangingPunct="1">
              <a:lnSpc>
                <a:spcPct val="80000"/>
              </a:lnSpc>
            </a:pPr>
            <a:r>
              <a:rPr lang="en-US" altLang="en-GB" sz="2800" smtClean="0"/>
              <a:t>Input = CFG (V, ∑, P , S)</a:t>
            </a:r>
          </a:p>
          <a:p>
            <a:pPr marL="577850" indent="-577850" eaLnBrk="1" hangingPunct="1">
              <a:lnSpc>
                <a:spcPct val="80000"/>
              </a:lnSpc>
            </a:pPr>
            <a:endParaRPr lang="en-US" altLang="en-GB" sz="2800" smtClean="0"/>
          </a:p>
          <a:p>
            <a:pPr marL="577850" indent="-577850" eaLnBrk="1" hangingPunct="1">
              <a:lnSpc>
                <a:spcPct val="80000"/>
              </a:lnSpc>
            </a:pPr>
            <a:r>
              <a:rPr lang="en-US" altLang="en-GB" sz="2800" smtClean="0"/>
              <a:t>TERM = { A | there is a rule A</a:t>
            </a:r>
            <a:r>
              <a:rPr lang="en-US" altLang="en-GB" sz="2800" smtClean="0">
                <a:sym typeface="Wingdings" panose="05000000000000000000" pitchFamily="2" charset="2"/>
              </a:rPr>
              <a:t>w </a:t>
            </a:r>
            <a:r>
              <a:rPr lang="el-GR" altLang="en-GB" sz="2800" smtClean="0">
                <a:cs typeface="Arial" panose="020B0604020202020204" pitchFamily="34" charset="0"/>
                <a:sym typeface="Wingdings" panose="05000000000000000000" pitchFamily="2" charset="2"/>
              </a:rPr>
              <a:t>ε</a:t>
            </a:r>
            <a:r>
              <a:rPr lang="en-US" altLang="en-GB" sz="2800" smtClean="0">
                <a:cs typeface="Arial" panose="020B0604020202020204" pitchFamily="34" charset="0"/>
                <a:sym typeface="Wingdings" panose="05000000000000000000" pitchFamily="2" charset="2"/>
              </a:rPr>
              <a:t> P with w </a:t>
            </a:r>
            <a:r>
              <a:rPr lang="el-GR" altLang="en-GB" sz="2800" smtClean="0">
                <a:cs typeface="Arial" panose="020B0604020202020204" pitchFamily="34" charset="0"/>
                <a:sym typeface="Wingdings" panose="05000000000000000000" pitchFamily="2" charset="2"/>
              </a:rPr>
              <a:t>ε</a:t>
            </a:r>
            <a:r>
              <a:rPr lang="en-US" altLang="en-GB" sz="2800" smtClean="0"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l-GR" altLang="en-GB" sz="2800" smtClean="0">
                <a:cs typeface="Arial" panose="020B0604020202020204" pitchFamily="34" charset="0"/>
                <a:sym typeface="Wingdings" panose="05000000000000000000" pitchFamily="2" charset="2"/>
              </a:rPr>
              <a:t>∑</a:t>
            </a:r>
            <a:r>
              <a:rPr lang="en-US" altLang="en-GB" sz="2800" smtClean="0">
                <a:cs typeface="Arial" panose="020B0604020202020204" pitchFamily="34" charset="0"/>
                <a:sym typeface="Wingdings" panose="05000000000000000000" pitchFamily="2" charset="2"/>
              </a:rPr>
              <a:t>*</a:t>
            </a:r>
            <a:endParaRPr lang="el-GR" altLang="en-GB" sz="2800" smtClean="0">
              <a:cs typeface="Arial" panose="020B0604020202020204" pitchFamily="34" charset="0"/>
            </a:endParaRPr>
          </a:p>
          <a:p>
            <a:pPr marL="577850" indent="-577850" eaLnBrk="1" hangingPunct="1">
              <a:lnSpc>
                <a:spcPct val="80000"/>
              </a:lnSpc>
            </a:pPr>
            <a:r>
              <a:rPr lang="en-US" altLang="en-GB" sz="2800" smtClean="0"/>
              <a:t>repeat</a:t>
            </a:r>
          </a:p>
          <a:p>
            <a:pPr marL="952500" lvl="1" indent="-495300" eaLnBrk="1" hangingPunct="1">
              <a:lnSpc>
                <a:spcPct val="80000"/>
              </a:lnSpc>
            </a:pPr>
            <a:r>
              <a:rPr lang="en-US" altLang="en-GB" smtClean="0"/>
              <a:t>PREV = TERM</a:t>
            </a:r>
          </a:p>
          <a:p>
            <a:pPr marL="952500" lvl="1" indent="-495300" eaLnBrk="1" hangingPunct="1">
              <a:lnSpc>
                <a:spcPct val="80000"/>
              </a:lnSpc>
            </a:pPr>
            <a:r>
              <a:rPr lang="en-US" altLang="en-GB" smtClean="0"/>
              <a:t>For each variable in A </a:t>
            </a:r>
            <a:r>
              <a:rPr lang="el-GR" altLang="en-GB" smtClean="0">
                <a:cs typeface="Arial" panose="020B0604020202020204" pitchFamily="34" charset="0"/>
                <a:sym typeface="Wingdings" panose="05000000000000000000" pitchFamily="2" charset="2"/>
              </a:rPr>
              <a:t>ε</a:t>
            </a:r>
            <a:r>
              <a:rPr lang="en-US" altLang="en-GB" smtClean="0"/>
              <a:t> V do</a:t>
            </a:r>
          </a:p>
          <a:p>
            <a:pPr marL="1368425" lvl="2" indent="-454025" eaLnBrk="1" hangingPunct="1">
              <a:lnSpc>
                <a:spcPct val="80000"/>
              </a:lnSpc>
            </a:pPr>
            <a:r>
              <a:rPr lang="en-US" altLang="en-GB" smtClean="0"/>
              <a:t>If there is a rule A </a:t>
            </a:r>
            <a:r>
              <a:rPr lang="en-US" altLang="en-GB" smtClean="0">
                <a:sym typeface="Wingdings" panose="05000000000000000000" pitchFamily="2" charset="2"/>
              </a:rPr>
              <a:t> w and w </a:t>
            </a:r>
            <a:r>
              <a:rPr lang="el-GR" altLang="en-GB" smtClean="0">
                <a:cs typeface="Arial" panose="020B0604020202020204" pitchFamily="34" charset="0"/>
                <a:sym typeface="Wingdings" panose="05000000000000000000" pitchFamily="2" charset="2"/>
              </a:rPr>
              <a:t>ε</a:t>
            </a:r>
            <a:r>
              <a:rPr lang="en-US" altLang="en-GB" smtClean="0">
                <a:sym typeface="Wingdings" panose="05000000000000000000" pitchFamily="2" charset="2"/>
              </a:rPr>
              <a:t>  (PREV U </a:t>
            </a:r>
            <a:r>
              <a:rPr lang="en-US" altLang="en-GB" smtClean="0"/>
              <a:t>∑</a:t>
            </a:r>
            <a:r>
              <a:rPr lang="en-US" altLang="en-GB" smtClean="0">
                <a:sym typeface="Wingdings" panose="05000000000000000000" pitchFamily="2" charset="2"/>
              </a:rPr>
              <a:t>)* then</a:t>
            </a:r>
          </a:p>
          <a:p>
            <a:pPr marL="1368425" lvl="2" indent="-454025" eaLnBrk="1" hangingPunct="1">
              <a:lnSpc>
                <a:spcPct val="80000"/>
              </a:lnSpc>
              <a:buFontTx/>
              <a:buNone/>
            </a:pPr>
            <a:r>
              <a:rPr lang="en-US" altLang="en-GB" smtClean="0"/>
              <a:t>	TERM = TERM U {A}</a:t>
            </a:r>
            <a:endParaRPr lang="en-US" altLang="en-GB" smtClean="0">
              <a:sym typeface="Wingdings" panose="05000000000000000000" pitchFamily="2" charset="2"/>
            </a:endParaRPr>
          </a:p>
          <a:p>
            <a:pPr marL="577850" indent="-577850" eaLnBrk="1" hangingPunct="1">
              <a:lnSpc>
                <a:spcPct val="80000"/>
              </a:lnSpc>
            </a:pPr>
            <a:r>
              <a:rPr lang="en-US" altLang="en-GB" sz="2800" smtClean="0"/>
              <a:t>Until PREV = TERM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B15A34-A039-4870-B864-3E585187CB3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Example</a:t>
            </a:r>
          </a:p>
        </p:txBody>
      </p:sp>
      <p:sp>
        <p:nvSpPr>
          <p:cNvPr id="60420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GB" smtClean="0"/>
              <a:t>Consider following CFG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mtClean="0"/>
              <a:t>G:	S </a:t>
            </a:r>
            <a:r>
              <a:rPr lang="en-US" altLang="en-GB" smtClean="0">
                <a:sym typeface="Wingdings" panose="05000000000000000000" pitchFamily="2" charset="2"/>
              </a:rPr>
              <a:t> AC | BS | B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mtClean="0">
                <a:sym typeface="Wingdings" panose="05000000000000000000" pitchFamily="2" charset="2"/>
              </a:rPr>
              <a:t>		A  aA | aF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mtClean="0">
                <a:sym typeface="Wingdings" panose="05000000000000000000" pitchFamily="2" charset="2"/>
              </a:rPr>
              <a:t>		B  CF | b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mtClean="0">
                <a:sym typeface="Wingdings" panose="05000000000000000000" pitchFamily="2" charset="2"/>
              </a:rPr>
              <a:t>		C cC | 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mtClean="0">
                <a:sym typeface="Wingdings" panose="05000000000000000000" pitchFamily="2" charset="2"/>
              </a:rPr>
              <a:t>		D aD | BD | C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mtClean="0">
                <a:sym typeface="Wingdings" panose="05000000000000000000" pitchFamily="2" charset="2"/>
              </a:rPr>
              <a:t>		E  aA | BSA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mtClean="0">
                <a:sym typeface="Wingdings" panose="05000000000000000000" pitchFamily="2" charset="2"/>
              </a:rPr>
              <a:t>		F  bB | b</a:t>
            </a:r>
            <a:endParaRPr lang="en-US" altLang="en-GB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16B693-9AFB-450E-960A-B4479DE36EA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2467" name="Rectangle 4"/>
          <p:cNvSpPr>
            <a:spLocks noChangeArrowheads="1"/>
          </p:cNvSpPr>
          <p:nvPr/>
        </p:nvSpPr>
        <p:spPr bwMode="auto">
          <a:xfrm>
            <a:off x="457200" y="762000"/>
            <a:ext cx="2362200" cy="243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200">
                <a:cs typeface="Arial" panose="020B0604020202020204" pitchFamily="34" charset="0"/>
              </a:rPr>
              <a:t>S </a:t>
            </a:r>
            <a:r>
              <a:rPr lang="en-US" altLang="en-GB" sz="2200">
                <a:cs typeface="Arial" panose="020B0604020202020204" pitchFamily="34" charset="0"/>
                <a:sym typeface="Wingdings" panose="05000000000000000000" pitchFamily="2" charset="2"/>
              </a:rPr>
              <a:t> AC | BS | 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200">
                <a:cs typeface="Arial" panose="020B0604020202020204" pitchFamily="34" charset="0"/>
                <a:sym typeface="Wingdings" panose="05000000000000000000" pitchFamily="2" charset="2"/>
              </a:rPr>
              <a:t>A  aA | aF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200">
                <a:cs typeface="Arial" panose="020B0604020202020204" pitchFamily="34" charset="0"/>
                <a:sym typeface="Wingdings" panose="05000000000000000000" pitchFamily="2" charset="2"/>
              </a:rPr>
              <a:t>B  CF | 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200">
                <a:cs typeface="Arial" panose="020B0604020202020204" pitchFamily="34" charset="0"/>
                <a:sym typeface="Wingdings" panose="05000000000000000000" pitchFamily="2" charset="2"/>
              </a:rPr>
              <a:t>C cC | 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200">
                <a:cs typeface="Arial" panose="020B0604020202020204" pitchFamily="34" charset="0"/>
                <a:sym typeface="Wingdings" panose="05000000000000000000" pitchFamily="2" charset="2"/>
              </a:rPr>
              <a:t>D aD | BD | C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200">
                <a:cs typeface="Arial" panose="020B0604020202020204" pitchFamily="34" charset="0"/>
                <a:sym typeface="Wingdings" panose="05000000000000000000" pitchFamily="2" charset="2"/>
              </a:rPr>
              <a:t>E  aA | BSA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200">
                <a:cs typeface="Arial" panose="020B0604020202020204" pitchFamily="34" charset="0"/>
                <a:sym typeface="Wingdings" panose="05000000000000000000" pitchFamily="2" charset="2"/>
              </a:rPr>
              <a:t>F  bB | b</a:t>
            </a:r>
          </a:p>
        </p:txBody>
      </p:sp>
      <p:sp>
        <p:nvSpPr>
          <p:cNvPr id="174129" name="Rectangle 49"/>
          <p:cNvSpPr>
            <a:spLocks noChangeArrowheads="1"/>
          </p:cNvSpPr>
          <p:nvPr/>
        </p:nvSpPr>
        <p:spPr bwMode="auto">
          <a:xfrm>
            <a:off x="5105400" y="685800"/>
            <a:ext cx="3657600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Char char="•"/>
            </a:pPr>
            <a:r>
              <a:rPr lang="en-US" altLang="en-GB" sz="2400">
                <a:cs typeface="Arial" panose="020B0604020202020204" pitchFamily="34" charset="0"/>
              </a:rPr>
              <a:t> New Grammar from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   TERM will be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G</a:t>
            </a:r>
            <a:r>
              <a:rPr lang="en-US" altLang="en-GB" sz="2400" baseline="-25000">
                <a:cs typeface="Arial" panose="020B0604020202020204" pitchFamily="34" charset="0"/>
              </a:rPr>
              <a:t>T</a:t>
            </a:r>
            <a:r>
              <a:rPr lang="en-US" altLang="en-GB" sz="2400">
                <a:cs typeface="Arial" panose="020B0604020202020204" pitchFamily="34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S </a:t>
            </a: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BS | 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A  aA | aF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B  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E  aA | BSA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F  bB | b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62000" y="3810000"/>
          <a:ext cx="7391400" cy="2284413"/>
        </p:xfrm>
        <a:graphic>
          <a:graphicData uri="http://schemas.openxmlformats.org/drawingml/2006/table">
            <a:tbl>
              <a:tblPr/>
              <a:tblGrid>
                <a:gridCol w="179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Iteration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TERM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PREV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{B, F}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{}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{B, F, A, S}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{B, F}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{B, F, A, S, E}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{B, F, A, S}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{B, F, A, S, E}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{B, F, A, S, E}</a:t>
                      </a:r>
                    </a:p>
                  </a:txBody>
                  <a:tcPr marL="8268" marR="8268" marT="8268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B2D1E1-1659-4F17-8A68-0BAACD04404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Construction of set of reachable Variables</a:t>
            </a:r>
          </a:p>
        </p:txBody>
      </p:sp>
      <p:sp>
        <p:nvSpPr>
          <p:cNvPr id="64516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marL="577850" indent="-577850" eaLnBrk="1" hangingPunct="1">
              <a:lnSpc>
                <a:spcPct val="90000"/>
              </a:lnSpc>
            </a:pPr>
            <a:r>
              <a:rPr lang="en-US" altLang="en-GB" sz="2800" smtClean="0"/>
              <a:t>Input = CFG (V, </a:t>
            </a:r>
            <a:r>
              <a:rPr lang="en-US" altLang="en-GB" sz="2800" smtClean="0">
                <a:cs typeface="Arial" panose="020B0604020202020204" pitchFamily="34" charset="0"/>
              </a:rPr>
              <a:t>∑</a:t>
            </a:r>
            <a:r>
              <a:rPr lang="en-US" altLang="en-GB" sz="2800" smtClean="0"/>
              <a:t>, P , S)</a:t>
            </a:r>
          </a:p>
          <a:p>
            <a:pPr marL="577850" indent="-577850" eaLnBrk="1" hangingPunct="1">
              <a:lnSpc>
                <a:spcPct val="90000"/>
              </a:lnSpc>
            </a:pPr>
            <a:r>
              <a:rPr lang="en-US" altLang="en-GB" sz="2800" smtClean="0"/>
              <a:t>REACH = {S}</a:t>
            </a:r>
          </a:p>
          <a:p>
            <a:pPr marL="577850" indent="-57785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GB" sz="2800" smtClean="0"/>
              <a:t>PREV = null</a:t>
            </a:r>
          </a:p>
          <a:p>
            <a:pPr marL="577850" indent="-57785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GB" sz="2800" smtClean="0"/>
              <a:t>repeat</a:t>
            </a:r>
          </a:p>
          <a:p>
            <a:pPr marL="952500" lvl="1" indent="-495300" eaLnBrk="1" hangingPunct="1">
              <a:lnSpc>
                <a:spcPct val="90000"/>
              </a:lnSpc>
              <a:buFontTx/>
              <a:buAutoNum type="romanLcPeriod"/>
            </a:pPr>
            <a:r>
              <a:rPr lang="en-US" altLang="en-GB" smtClean="0"/>
              <a:t>NEW = REACH – PREV</a:t>
            </a:r>
          </a:p>
          <a:p>
            <a:pPr marL="952500" lvl="1" indent="-495300" eaLnBrk="1" hangingPunct="1">
              <a:lnSpc>
                <a:spcPct val="90000"/>
              </a:lnSpc>
              <a:buFontTx/>
              <a:buAutoNum type="romanLcPeriod"/>
            </a:pPr>
            <a:r>
              <a:rPr lang="en-US" altLang="en-GB" smtClean="0"/>
              <a:t>PREV = REACH</a:t>
            </a:r>
          </a:p>
          <a:p>
            <a:pPr marL="952500" lvl="1" indent="-495300" eaLnBrk="1" hangingPunct="1">
              <a:lnSpc>
                <a:spcPct val="90000"/>
              </a:lnSpc>
              <a:buFontTx/>
              <a:buAutoNum type="romanLcPeriod"/>
            </a:pPr>
            <a:r>
              <a:rPr lang="en-US" altLang="en-GB" smtClean="0"/>
              <a:t>For each variable A in NEW do</a:t>
            </a:r>
          </a:p>
          <a:p>
            <a:pPr marL="1368425" lvl="2" indent="-454025" eaLnBrk="1" hangingPunct="1">
              <a:lnSpc>
                <a:spcPct val="90000"/>
              </a:lnSpc>
              <a:buFontTx/>
              <a:buAutoNum type="romanLcPeriod"/>
            </a:pPr>
            <a:r>
              <a:rPr lang="en-US" altLang="en-GB" smtClean="0"/>
              <a:t>For each rule A </a:t>
            </a:r>
            <a:r>
              <a:rPr lang="en-US" altLang="en-GB" smtClean="0">
                <a:sym typeface="Wingdings" panose="05000000000000000000" pitchFamily="2" charset="2"/>
              </a:rPr>
              <a:t> w do add all variables in w to REACH</a:t>
            </a:r>
          </a:p>
          <a:p>
            <a:pPr marL="577850" indent="-57785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GB" sz="2800" smtClean="0"/>
              <a:t>Until REACH = PREV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346F1A-C6EE-4F85-8AE5-DD559370B85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76157" name="Rectangle 29"/>
          <p:cNvSpPr>
            <a:spLocks noChangeArrowheads="1"/>
          </p:cNvSpPr>
          <p:nvPr/>
        </p:nvSpPr>
        <p:spPr bwMode="auto">
          <a:xfrm>
            <a:off x="533400" y="781050"/>
            <a:ext cx="36576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G</a:t>
            </a:r>
            <a:r>
              <a:rPr lang="en-US" altLang="en-GB" sz="2400" baseline="-25000">
                <a:cs typeface="Arial" panose="020B0604020202020204" pitchFamily="34" charset="0"/>
              </a:rPr>
              <a:t>T</a:t>
            </a:r>
            <a:r>
              <a:rPr lang="en-US" altLang="en-GB" sz="2400">
                <a:cs typeface="Arial" panose="020B0604020202020204" pitchFamily="34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S </a:t>
            </a: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BS | 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A  aA | aF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B  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E  aA | BSA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F  bB | b</a:t>
            </a:r>
          </a:p>
        </p:txBody>
      </p:sp>
      <p:sp>
        <p:nvSpPr>
          <p:cNvPr id="66564" name="Rectangle 52"/>
          <p:cNvSpPr>
            <a:spLocks noChangeArrowheads="1"/>
          </p:cNvSpPr>
          <p:nvPr/>
        </p:nvSpPr>
        <p:spPr bwMode="auto">
          <a:xfrm>
            <a:off x="457200" y="5638800"/>
            <a:ext cx="7772400" cy="533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GB" altLang="en-GB" sz="1800">
              <a:cs typeface="Arial" panose="020B0604020202020204" pitchFamily="34" charset="0"/>
            </a:endParaRPr>
          </a:p>
        </p:txBody>
      </p:sp>
      <p:sp>
        <p:nvSpPr>
          <p:cNvPr id="34" name="Rectangle 29"/>
          <p:cNvSpPr>
            <a:spLocks noChangeArrowheads="1"/>
          </p:cNvSpPr>
          <p:nvPr/>
        </p:nvSpPr>
        <p:spPr bwMode="auto">
          <a:xfrm>
            <a:off x="4648200" y="1066800"/>
            <a:ext cx="3657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GB" sz="2400" i="1">
                <a:cs typeface="Arial" panose="020B0604020202020204" pitchFamily="34" charset="0"/>
              </a:rPr>
              <a:t>G’</a:t>
            </a:r>
            <a:r>
              <a:rPr lang="en-US" altLang="en-GB" sz="2400" i="1" baseline="-25000">
                <a:cs typeface="Arial" panose="020B0604020202020204" pitchFamily="34" charset="0"/>
              </a:rPr>
              <a:t>T</a:t>
            </a:r>
            <a:r>
              <a:rPr lang="en-US" altLang="en-GB" sz="2400">
                <a:cs typeface="Arial" panose="020B0604020202020204" pitchFamily="34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</a:rPr>
              <a:t>S </a:t>
            </a: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BS | 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GB" sz="2400">
                <a:cs typeface="Arial" panose="020B0604020202020204" pitchFamily="34" charset="0"/>
                <a:sym typeface="Wingdings" panose="05000000000000000000" pitchFamily="2" charset="2"/>
              </a:rPr>
              <a:t>B  b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1066800" y="3352800"/>
          <a:ext cx="6705600" cy="2162175"/>
        </p:xfrm>
        <a:graphic>
          <a:graphicData uri="http://schemas.openxmlformats.org/drawingml/2006/table">
            <a:tbl>
              <a:tblPr/>
              <a:tblGrid>
                <a:gridCol w="1547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3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Iteration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REACH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PREV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NEW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{S}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{}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{S, B}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{S}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{S}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{S, B}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{S, B}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{B}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{S, B}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{S, B}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Tx/>
                        <a:buNone/>
                        <a:tabLst/>
                      </a:pPr>
                      <a:r>
                        <a:rPr kumimoji="0" lang="en-US" sz="2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{}</a:t>
                      </a:r>
                    </a:p>
                  </a:txBody>
                  <a:tcPr marL="0" marR="0" marT="0" marB="0" anchor="b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57" grpId="0" autoUpdateAnimBg="0"/>
      <p:bldP spid="3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AC6447-F94C-4675-A474-67DA2381539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Removing All</a:t>
            </a:r>
          </a:p>
        </p:txBody>
      </p:sp>
      <p:sp>
        <p:nvSpPr>
          <p:cNvPr id="68612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/>
            <a:endParaRPr lang="en-US" altLang="en-GB" smtClean="0"/>
          </a:p>
          <a:p>
            <a:pPr eaLnBrk="1" hangingPunct="1"/>
            <a:endParaRPr lang="en-US" altLang="en-GB" smtClean="0"/>
          </a:p>
          <a:p>
            <a:pPr eaLnBrk="1" hangingPunct="1"/>
            <a:r>
              <a:rPr lang="en-US" altLang="en-GB" b="1" smtClean="0">
                <a:solidFill>
                  <a:srgbClr val="FF3300"/>
                </a:solidFill>
              </a:rPr>
              <a:t>Step 1:</a:t>
            </a:r>
            <a:r>
              <a:rPr lang="en-US" altLang="en-GB" smtClean="0"/>
              <a:t>  Remove Nullable Variables</a:t>
            </a:r>
          </a:p>
          <a:p>
            <a:pPr eaLnBrk="1" hangingPunct="1"/>
            <a:endParaRPr lang="en-US" altLang="en-GB" smtClean="0"/>
          </a:p>
          <a:p>
            <a:pPr eaLnBrk="1" hangingPunct="1"/>
            <a:r>
              <a:rPr lang="en-US" altLang="en-GB" b="1" smtClean="0">
                <a:solidFill>
                  <a:srgbClr val="FF3300"/>
                </a:solidFill>
              </a:rPr>
              <a:t>Step 2:</a:t>
            </a:r>
            <a:r>
              <a:rPr lang="en-US" altLang="en-GB" smtClean="0"/>
              <a:t>  Remove Unit-Productions</a:t>
            </a:r>
          </a:p>
          <a:p>
            <a:pPr eaLnBrk="1" hangingPunct="1"/>
            <a:endParaRPr lang="en-US" altLang="en-GB" smtClean="0"/>
          </a:p>
          <a:p>
            <a:pPr eaLnBrk="1" hangingPunct="1"/>
            <a:r>
              <a:rPr lang="en-US" altLang="en-GB" b="1" smtClean="0">
                <a:solidFill>
                  <a:srgbClr val="FF3300"/>
                </a:solidFill>
              </a:rPr>
              <a:t>Step 3:</a:t>
            </a:r>
            <a:r>
              <a:rPr lang="en-US" altLang="en-GB" smtClean="0"/>
              <a:t>  Remove Useless Variables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241424-0120-4A12-9D41-530266DCEF5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0659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Augmented Grammar</a:t>
            </a:r>
          </a:p>
        </p:txBody>
      </p:sp>
      <p:sp>
        <p:nvSpPr>
          <p:cNvPr id="70660" name="Content Placeholder 2"/>
          <p:cNvSpPr>
            <a:spLocks noGrp="1"/>
          </p:cNvSpPr>
          <p:nvPr>
            <p:ph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Add a new start symbol    S</a:t>
            </a:r>
            <a:r>
              <a:rPr lang="en-US" altLang="en-GB" sz="2600" baseline="-25000" smtClean="0"/>
              <a:t>0</a:t>
            </a:r>
            <a:r>
              <a:rPr lang="en-US" altLang="en-GB" sz="2600" smtClean="0">
                <a:sym typeface="Wingdings 3" panose="05040102010807070707" pitchFamily="18" charset="2"/>
              </a:rPr>
              <a:t></a:t>
            </a:r>
            <a:r>
              <a:rPr lang="en-US" altLang="en-GB" sz="2600" smtClean="0"/>
              <a:t> S</a:t>
            </a:r>
          </a:p>
          <a:p>
            <a:pPr algn="just" eaLnBrk="1" hangingPunct="1"/>
            <a:r>
              <a:rPr lang="en-US" altLang="en-GB" sz="2600" smtClean="0"/>
              <a:t>This change guarantees that the start symbol of the new grammar will not occur on the </a:t>
            </a:r>
            <a:r>
              <a:rPr lang="en-US" altLang="en-GB" sz="2600" i="1" smtClean="0"/>
              <a:t>rhs</a:t>
            </a:r>
            <a:r>
              <a:rPr lang="en-US" altLang="en-GB" sz="2600" smtClean="0"/>
              <a:t> of any rule.</a:t>
            </a:r>
          </a:p>
          <a:p>
            <a:pPr algn="just" eaLnBrk="1" hangingPunct="1"/>
            <a:endParaRPr lang="en-US" altLang="en-GB" sz="26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A2AF17-008F-4D58-A987-7BBB8F5AB1D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Removal of Left Recursion</a:t>
            </a:r>
          </a:p>
        </p:txBody>
      </p:sp>
      <p:sp>
        <p:nvSpPr>
          <p:cNvPr id="72708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/>
            <a:r>
              <a:rPr lang="en-US" altLang="en-GB" sz="2600" smtClean="0"/>
              <a:t>Consider the grammar A </a:t>
            </a:r>
            <a:r>
              <a:rPr lang="en-US" altLang="en-GB" sz="2600" smtClean="0">
                <a:sym typeface="Wingdings" panose="05000000000000000000" pitchFamily="2" charset="2"/>
              </a:rPr>
              <a:t> Aa | b</a:t>
            </a:r>
          </a:p>
          <a:p>
            <a:pPr algn="just" eaLnBrk="1" hangingPunct="1"/>
            <a:endParaRPr lang="en-US" altLang="en-GB" sz="2600" smtClean="0"/>
          </a:p>
          <a:p>
            <a:pPr algn="just" eaLnBrk="1" hangingPunct="1"/>
            <a:r>
              <a:rPr lang="en-US" altLang="en-GB" sz="2600" smtClean="0"/>
              <a:t>Halting condition of top-down parsing depend upon the generation of terminal prefixes to discover dead ends.</a:t>
            </a:r>
          </a:p>
          <a:p>
            <a:pPr algn="just" eaLnBrk="1" hangingPunct="1"/>
            <a:r>
              <a:rPr lang="en-US" altLang="en-GB" sz="2600" smtClean="0"/>
              <a:t>Repeated application of above rule fail to generate a prefix that can terminate the parse.</a:t>
            </a:r>
          </a:p>
          <a:p>
            <a:pPr algn="just" eaLnBrk="1" hangingPunct="1"/>
            <a:endParaRPr lang="en-US" altLang="en-GB" sz="2600" smtClean="0"/>
          </a:p>
          <a:p>
            <a:pPr algn="just" eaLnBrk="1" hangingPunct="1">
              <a:buFontTx/>
              <a:buNone/>
            </a:pPr>
            <a:endParaRPr lang="en-US" altLang="en-GB" sz="260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DA6859-FE0F-4C46-9100-8CD720CA236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Removing left recursion</a:t>
            </a:r>
          </a:p>
        </p:txBody>
      </p:sp>
      <p:sp>
        <p:nvSpPr>
          <p:cNvPr id="194563" name="Rectangle 3"/>
          <p:cNvSpPr>
            <a:spLocks noGrp="1"/>
          </p:cNvSpPr>
          <p:nvPr>
            <p:ph type="body"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GB" sz="2800" smtClean="0"/>
              <a:t>To remove left recursion from A, the </a:t>
            </a:r>
            <a:r>
              <a:rPr lang="en-US" altLang="en-GB" sz="2800" b="1" i="1" smtClean="0"/>
              <a:t>A</a:t>
            </a:r>
            <a:r>
              <a:rPr lang="en-US" altLang="en-GB" sz="2800" smtClean="0"/>
              <a:t> rules are divided into two groups. 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800" smtClean="0"/>
              <a:t>	Left recursive and others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en-GB" sz="2800" smtClean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800" smtClean="0"/>
              <a:t>	A </a:t>
            </a:r>
            <a:r>
              <a:rPr lang="en-US" altLang="en-GB" sz="2800" smtClean="0">
                <a:sym typeface="Wingdings" panose="05000000000000000000" pitchFamily="2" charset="2"/>
              </a:rPr>
              <a:t> Au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800" smtClean="0">
                <a:sym typeface="Wingdings" panose="05000000000000000000" pitchFamily="2" charset="2"/>
              </a:rPr>
              <a:t> | Au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800" smtClean="0">
                <a:sym typeface="Wingdings" panose="05000000000000000000" pitchFamily="2" charset="2"/>
              </a:rPr>
              <a:t> | Au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3</a:t>
            </a:r>
            <a:r>
              <a:rPr lang="en-US" altLang="en-GB" sz="2800" smtClean="0">
                <a:sym typeface="Wingdings" panose="05000000000000000000" pitchFamily="2" charset="2"/>
              </a:rPr>
              <a:t> | ….| Au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j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800" baseline="-25000" smtClean="0"/>
              <a:t>	</a:t>
            </a:r>
            <a:r>
              <a:rPr lang="en-US" altLang="en-GB" sz="2800" smtClean="0"/>
              <a:t>A </a:t>
            </a:r>
            <a:r>
              <a:rPr lang="en-US" altLang="en-GB" sz="2800" smtClean="0">
                <a:sym typeface="Wingdings" panose="05000000000000000000" pitchFamily="2" charset="2"/>
              </a:rPr>
              <a:t> V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800" smtClean="0">
                <a:sym typeface="Wingdings" panose="05000000000000000000" pitchFamily="2" charset="2"/>
              </a:rPr>
              <a:t>   | V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800" smtClean="0">
                <a:sym typeface="Wingdings" panose="05000000000000000000" pitchFamily="2" charset="2"/>
              </a:rPr>
              <a:t>   | V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3</a:t>
            </a:r>
            <a:r>
              <a:rPr lang="en-US" altLang="en-GB" sz="2800" smtClean="0">
                <a:sym typeface="Wingdings" panose="05000000000000000000" pitchFamily="2" charset="2"/>
              </a:rPr>
              <a:t>   | … | V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k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800" smtClean="0">
                <a:sym typeface="Wingdings" panose="05000000000000000000" pitchFamily="2" charset="2"/>
              </a:rPr>
              <a:t>Solution:</a:t>
            </a:r>
          </a:p>
          <a:p>
            <a:pPr algn="just" eaLnBrk="1" hangingPunct="1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FontTx/>
              <a:buNone/>
            </a:pPr>
            <a:r>
              <a:rPr lang="en-US" altLang="en-GB" sz="2800" smtClean="0"/>
              <a:t>    A </a:t>
            </a:r>
            <a:r>
              <a:rPr lang="en-US" altLang="en-GB" sz="2800" smtClean="0">
                <a:sym typeface="Wingdings" panose="05000000000000000000" pitchFamily="2" charset="2"/>
              </a:rPr>
              <a:t> </a:t>
            </a:r>
            <a:r>
              <a:rPr lang="en-US" altLang="en-GB" sz="2800" smtClean="0">
                <a:solidFill>
                  <a:srgbClr val="0070C0"/>
                </a:solidFill>
                <a:sym typeface="Wingdings" panose="05000000000000000000" pitchFamily="2" charset="2"/>
              </a:rPr>
              <a:t>V</a:t>
            </a:r>
            <a:r>
              <a:rPr lang="en-US" altLang="en-GB" sz="2800" baseline="-25000" smtClean="0">
                <a:solidFill>
                  <a:srgbClr val="0070C0"/>
                </a:solidFill>
                <a:sym typeface="Wingdings" panose="05000000000000000000" pitchFamily="2" charset="2"/>
              </a:rPr>
              <a:t>1</a:t>
            </a:r>
            <a:r>
              <a:rPr lang="en-US" altLang="en-GB" sz="2800" smtClean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altLang="en-GB" sz="2800" smtClean="0">
                <a:solidFill>
                  <a:schemeClr val="tx2"/>
                </a:solidFill>
                <a:sym typeface="Wingdings" panose="05000000000000000000" pitchFamily="2" charset="2"/>
              </a:rPr>
              <a:t>| </a:t>
            </a:r>
            <a:r>
              <a:rPr lang="en-US" altLang="en-GB" sz="2800" smtClean="0">
                <a:solidFill>
                  <a:srgbClr val="0070C0"/>
                </a:solidFill>
                <a:sym typeface="Wingdings" panose="05000000000000000000" pitchFamily="2" charset="2"/>
              </a:rPr>
              <a:t>V</a:t>
            </a:r>
            <a:r>
              <a:rPr lang="en-US" altLang="en-GB" sz="2800" baseline="-25000" smtClean="0">
                <a:solidFill>
                  <a:srgbClr val="0070C0"/>
                </a:solidFill>
                <a:sym typeface="Wingdings" panose="05000000000000000000" pitchFamily="2" charset="2"/>
              </a:rPr>
              <a:t>2</a:t>
            </a:r>
            <a:r>
              <a:rPr lang="en-US" altLang="en-GB" sz="2800" smtClean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altLang="en-GB" sz="2800" smtClean="0">
                <a:solidFill>
                  <a:schemeClr val="tx2"/>
                </a:solidFill>
                <a:sym typeface="Wingdings" panose="05000000000000000000" pitchFamily="2" charset="2"/>
              </a:rPr>
              <a:t>|</a:t>
            </a:r>
            <a:r>
              <a:rPr lang="en-US" altLang="en-GB" sz="2800" smtClean="0">
                <a:solidFill>
                  <a:srgbClr val="0070C0"/>
                </a:solidFill>
                <a:sym typeface="Wingdings" panose="05000000000000000000" pitchFamily="2" charset="2"/>
              </a:rPr>
              <a:t> V</a:t>
            </a:r>
            <a:r>
              <a:rPr lang="en-US" altLang="en-GB" sz="2800" baseline="-25000" smtClean="0">
                <a:solidFill>
                  <a:srgbClr val="0070C0"/>
                </a:solidFill>
                <a:sym typeface="Wingdings" panose="05000000000000000000" pitchFamily="2" charset="2"/>
              </a:rPr>
              <a:t>3</a:t>
            </a:r>
            <a:r>
              <a:rPr lang="en-US" altLang="en-GB" sz="2800" smtClean="0">
                <a:solidFill>
                  <a:srgbClr val="0070C0"/>
                </a:solidFill>
                <a:sym typeface="Wingdings" panose="05000000000000000000" pitchFamily="2" charset="2"/>
              </a:rPr>
              <a:t> </a:t>
            </a:r>
            <a:r>
              <a:rPr lang="en-US" altLang="en-GB" sz="2800" smtClean="0">
                <a:solidFill>
                  <a:schemeClr val="tx2"/>
                </a:solidFill>
                <a:sym typeface="Wingdings" panose="05000000000000000000" pitchFamily="2" charset="2"/>
              </a:rPr>
              <a:t>|</a:t>
            </a:r>
            <a:r>
              <a:rPr lang="en-US" altLang="en-GB" sz="2800" smtClean="0">
                <a:solidFill>
                  <a:srgbClr val="0070C0"/>
                </a:solidFill>
                <a:sym typeface="Wingdings" panose="05000000000000000000" pitchFamily="2" charset="2"/>
              </a:rPr>
              <a:t> …</a:t>
            </a:r>
            <a:r>
              <a:rPr lang="en-US" altLang="en-GB" sz="2800" smtClean="0">
                <a:solidFill>
                  <a:schemeClr val="tx2"/>
                </a:solidFill>
                <a:sym typeface="Wingdings" panose="05000000000000000000" pitchFamily="2" charset="2"/>
              </a:rPr>
              <a:t> | </a:t>
            </a:r>
            <a:r>
              <a:rPr lang="en-US" altLang="en-GB" sz="2800" smtClean="0">
                <a:solidFill>
                  <a:srgbClr val="0070C0"/>
                </a:solidFill>
                <a:sym typeface="Wingdings" panose="05000000000000000000" pitchFamily="2" charset="2"/>
              </a:rPr>
              <a:t>V</a:t>
            </a:r>
            <a:r>
              <a:rPr lang="en-US" altLang="en-GB" sz="2800" baseline="-25000" smtClean="0">
                <a:solidFill>
                  <a:srgbClr val="0070C0"/>
                </a:solidFill>
                <a:sym typeface="Wingdings" panose="05000000000000000000" pitchFamily="2" charset="2"/>
              </a:rPr>
              <a:t>k</a:t>
            </a:r>
            <a:r>
              <a:rPr lang="en-US" altLang="en-GB" sz="2800" smtClean="0">
                <a:sym typeface="Wingdings" panose="05000000000000000000" pitchFamily="2" charset="2"/>
              </a:rPr>
              <a:t>| </a:t>
            </a:r>
            <a:r>
              <a:rPr lang="en-US" altLang="en-GB" sz="2800" smtClean="0">
                <a:solidFill>
                  <a:srgbClr val="00B050"/>
                </a:solidFill>
                <a:sym typeface="Wingdings" panose="05000000000000000000" pitchFamily="2" charset="2"/>
              </a:rPr>
              <a:t>V</a:t>
            </a:r>
            <a:r>
              <a:rPr lang="en-US" altLang="en-GB" sz="2800" baseline="-25000" smtClean="0">
                <a:solidFill>
                  <a:srgbClr val="00B050"/>
                </a:solidFill>
                <a:sym typeface="Wingdings" panose="05000000000000000000" pitchFamily="2" charset="2"/>
              </a:rPr>
              <a:t>1</a:t>
            </a:r>
            <a:r>
              <a:rPr lang="en-US" altLang="en-GB" sz="2800" smtClean="0">
                <a:solidFill>
                  <a:srgbClr val="00B050"/>
                </a:solidFill>
                <a:sym typeface="Wingdings" panose="05000000000000000000" pitchFamily="2" charset="2"/>
              </a:rPr>
              <a:t>Z</a:t>
            </a:r>
            <a:r>
              <a:rPr lang="en-US" altLang="en-GB" sz="2800" smtClean="0">
                <a:sym typeface="Wingdings" panose="05000000000000000000" pitchFamily="2" charset="2"/>
              </a:rPr>
              <a:t> | </a:t>
            </a:r>
            <a:r>
              <a:rPr lang="en-US" altLang="en-GB" sz="2800" smtClean="0">
                <a:solidFill>
                  <a:srgbClr val="00B050"/>
                </a:solidFill>
                <a:sym typeface="Wingdings" panose="05000000000000000000" pitchFamily="2" charset="2"/>
              </a:rPr>
              <a:t>V</a:t>
            </a:r>
            <a:r>
              <a:rPr lang="en-US" altLang="en-GB" sz="2800" baseline="-25000" smtClean="0">
                <a:solidFill>
                  <a:srgbClr val="00B050"/>
                </a:solidFill>
                <a:sym typeface="Wingdings" panose="05000000000000000000" pitchFamily="2" charset="2"/>
              </a:rPr>
              <a:t>2</a:t>
            </a:r>
            <a:r>
              <a:rPr lang="en-US" altLang="en-GB" sz="2800" smtClean="0">
                <a:solidFill>
                  <a:srgbClr val="00B050"/>
                </a:solidFill>
                <a:sym typeface="Wingdings" panose="05000000000000000000" pitchFamily="2" charset="2"/>
              </a:rPr>
              <a:t>Z</a:t>
            </a:r>
            <a:r>
              <a:rPr lang="en-US" altLang="en-GB" sz="2800" smtClean="0">
                <a:sym typeface="Wingdings" panose="05000000000000000000" pitchFamily="2" charset="2"/>
              </a:rPr>
              <a:t> | </a:t>
            </a:r>
            <a:r>
              <a:rPr lang="en-US" altLang="en-GB" sz="2800" smtClean="0">
                <a:solidFill>
                  <a:srgbClr val="00B050"/>
                </a:solidFill>
                <a:sym typeface="Wingdings" panose="05000000000000000000" pitchFamily="2" charset="2"/>
              </a:rPr>
              <a:t>…</a:t>
            </a:r>
            <a:r>
              <a:rPr lang="en-US" altLang="en-GB" sz="2800" smtClean="0">
                <a:sym typeface="Wingdings" panose="05000000000000000000" pitchFamily="2" charset="2"/>
              </a:rPr>
              <a:t> | </a:t>
            </a:r>
            <a:r>
              <a:rPr lang="en-US" altLang="en-GB" sz="2800" smtClean="0">
                <a:solidFill>
                  <a:srgbClr val="00B050"/>
                </a:solidFill>
                <a:sym typeface="Wingdings" panose="05000000000000000000" pitchFamily="2" charset="2"/>
              </a:rPr>
              <a:t>V</a:t>
            </a:r>
            <a:r>
              <a:rPr lang="en-US" altLang="en-GB" sz="2800" baseline="-25000" smtClean="0">
                <a:solidFill>
                  <a:srgbClr val="00B050"/>
                </a:solidFill>
                <a:sym typeface="Wingdings" panose="05000000000000000000" pitchFamily="2" charset="2"/>
              </a:rPr>
              <a:t>k</a:t>
            </a:r>
            <a:r>
              <a:rPr lang="en-US" altLang="en-GB" sz="2800" smtClean="0">
                <a:solidFill>
                  <a:srgbClr val="00B050"/>
                </a:solidFill>
                <a:sym typeface="Wingdings" panose="05000000000000000000" pitchFamily="2" charset="2"/>
              </a:rPr>
              <a:t>Z</a:t>
            </a:r>
            <a:endParaRPr lang="en-US" altLang="en-GB" sz="2800" baseline="-25000" smtClean="0">
              <a:solidFill>
                <a:srgbClr val="00B050"/>
              </a:solidFill>
              <a:sym typeface="Wingdings" panose="05000000000000000000" pitchFamily="2" charset="2"/>
            </a:endParaRPr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en-GB" sz="2800" smtClean="0">
                <a:sym typeface="Wingdings" panose="05000000000000000000" pitchFamily="2" charset="2"/>
              </a:rPr>
              <a:t>    Z  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800" smtClean="0">
                <a:sym typeface="Wingdings" panose="05000000000000000000" pitchFamily="2" charset="2"/>
              </a:rPr>
              <a:t>Z | 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800" smtClean="0">
                <a:sym typeface="Wingdings" panose="05000000000000000000" pitchFamily="2" charset="2"/>
              </a:rPr>
              <a:t>Z | 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3</a:t>
            </a:r>
            <a:r>
              <a:rPr lang="en-US" altLang="en-GB" sz="2800" smtClean="0">
                <a:sym typeface="Wingdings" panose="05000000000000000000" pitchFamily="2" charset="2"/>
              </a:rPr>
              <a:t>Z | … | 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j</a:t>
            </a:r>
            <a:r>
              <a:rPr lang="en-US" altLang="en-GB" sz="2800" smtClean="0">
                <a:sym typeface="Wingdings" panose="05000000000000000000" pitchFamily="2" charset="2"/>
              </a:rPr>
              <a:t>Z | 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800" smtClean="0">
                <a:sym typeface="Wingdings" panose="05000000000000000000" pitchFamily="2" charset="2"/>
              </a:rPr>
              <a:t> | 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800" smtClean="0">
                <a:sym typeface="Wingdings" panose="05000000000000000000" pitchFamily="2" charset="2"/>
              </a:rPr>
              <a:t> | 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3</a:t>
            </a:r>
            <a:r>
              <a:rPr lang="en-US" altLang="en-GB" sz="2800" smtClean="0">
                <a:sym typeface="Wingdings" panose="05000000000000000000" pitchFamily="2" charset="2"/>
              </a:rPr>
              <a:t> | … | u</a:t>
            </a:r>
            <a:r>
              <a:rPr lang="en-US" altLang="en-GB" sz="2800" baseline="-25000" smtClean="0">
                <a:sym typeface="Wingdings" panose="05000000000000000000" pitchFamily="2" charset="2"/>
              </a:rPr>
              <a:t>j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DDBF38-6935-4E24-94F4-DB26BAA0641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6803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Removal of Left Recursion </a:t>
            </a:r>
          </a:p>
        </p:txBody>
      </p:sp>
      <p:sp>
        <p:nvSpPr>
          <p:cNvPr id="76804" name="Content Placeholder 2"/>
          <p:cNvSpPr>
            <a:spLocks noGrp="1"/>
          </p:cNvSpPr>
          <p:nvPr>
            <p:ph idx="4294967295"/>
          </p:nvPr>
        </p:nvSpPr>
        <p:spPr>
          <a:xfrm>
            <a:off x="0" y="1481138"/>
            <a:ext cx="82296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mtClean="0"/>
              <a:t>	</a:t>
            </a:r>
            <a:r>
              <a:rPr lang="en-US" altLang="en-GB" smtClean="0">
                <a:solidFill>
                  <a:srgbClr val="FF0000"/>
                </a:solidFill>
              </a:rPr>
              <a:t>Or Equivalently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GB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mtClean="0"/>
              <a:t>    A </a:t>
            </a:r>
            <a:r>
              <a:rPr lang="en-US" altLang="en-GB" smtClean="0">
                <a:sym typeface="Wingdings" panose="05000000000000000000" pitchFamily="2" charset="2"/>
              </a:rPr>
              <a:t> Au</a:t>
            </a:r>
            <a:r>
              <a:rPr lang="en-US" altLang="en-GB" baseline="-25000" smtClean="0">
                <a:sym typeface="Wingdings" panose="05000000000000000000" pitchFamily="2" charset="2"/>
              </a:rPr>
              <a:t>1</a:t>
            </a:r>
            <a:r>
              <a:rPr lang="en-US" altLang="en-GB" smtClean="0">
                <a:sym typeface="Wingdings" panose="05000000000000000000" pitchFamily="2" charset="2"/>
              </a:rPr>
              <a:t> | Au</a:t>
            </a:r>
            <a:r>
              <a:rPr lang="en-US" altLang="en-GB" baseline="-25000" smtClean="0">
                <a:sym typeface="Wingdings" panose="05000000000000000000" pitchFamily="2" charset="2"/>
              </a:rPr>
              <a:t>2</a:t>
            </a:r>
            <a:r>
              <a:rPr lang="en-US" altLang="en-GB" smtClean="0">
                <a:sym typeface="Wingdings" panose="05000000000000000000" pitchFamily="2" charset="2"/>
              </a:rPr>
              <a:t> | Au</a:t>
            </a:r>
            <a:r>
              <a:rPr lang="en-US" altLang="en-GB" baseline="-25000" smtClean="0">
                <a:sym typeface="Wingdings" panose="05000000000000000000" pitchFamily="2" charset="2"/>
              </a:rPr>
              <a:t>3</a:t>
            </a:r>
            <a:r>
              <a:rPr lang="en-US" altLang="en-GB" smtClean="0">
                <a:sym typeface="Wingdings" panose="05000000000000000000" pitchFamily="2" charset="2"/>
              </a:rPr>
              <a:t> | ….| Au</a:t>
            </a:r>
            <a:r>
              <a:rPr lang="en-US" altLang="en-GB" baseline="-25000" smtClean="0">
                <a:sym typeface="Wingdings" panose="05000000000000000000" pitchFamily="2" charset="2"/>
              </a:rPr>
              <a:t>j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baseline="-25000" smtClean="0"/>
              <a:t>	 </a:t>
            </a:r>
            <a:r>
              <a:rPr lang="en-US" altLang="en-GB" smtClean="0"/>
              <a:t>A </a:t>
            </a:r>
            <a:r>
              <a:rPr lang="en-US" altLang="en-GB" smtClean="0">
                <a:sym typeface="Wingdings" panose="05000000000000000000" pitchFamily="2" charset="2"/>
              </a:rPr>
              <a:t> V</a:t>
            </a:r>
            <a:r>
              <a:rPr lang="en-US" altLang="en-GB" baseline="-25000" smtClean="0">
                <a:sym typeface="Wingdings" panose="05000000000000000000" pitchFamily="2" charset="2"/>
              </a:rPr>
              <a:t>1</a:t>
            </a:r>
            <a:r>
              <a:rPr lang="en-US" altLang="en-GB" smtClean="0">
                <a:sym typeface="Wingdings" panose="05000000000000000000" pitchFamily="2" charset="2"/>
              </a:rPr>
              <a:t> | V</a:t>
            </a:r>
            <a:r>
              <a:rPr lang="en-US" altLang="en-GB" baseline="-25000" smtClean="0">
                <a:sym typeface="Wingdings" panose="05000000000000000000" pitchFamily="2" charset="2"/>
              </a:rPr>
              <a:t>2</a:t>
            </a:r>
            <a:r>
              <a:rPr lang="en-US" altLang="en-GB" smtClean="0">
                <a:sym typeface="Wingdings" panose="05000000000000000000" pitchFamily="2" charset="2"/>
              </a:rPr>
              <a:t> | V</a:t>
            </a:r>
            <a:r>
              <a:rPr lang="en-US" altLang="en-GB" baseline="-25000" smtClean="0">
                <a:sym typeface="Wingdings" panose="05000000000000000000" pitchFamily="2" charset="2"/>
              </a:rPr>
              <a:t>3</a:t>
            </a:r>
            <a:r>
              <a:rPr lang="en-US" altLang="en-GB" smtClean="0">
                <a:sym typeface="Wingdings" panose="05000000000000000000" pitchFamily="2" charset="2"/>
              </a:rPr>
              <a:t> | … | V</a:t>
            </a:r>
            <a:r>
              <a:rPr lang="en-US" altLang="en-GB" baseline="-25000" smtClean="0">
                <a:sym typeface="Wingdings" panose="05000000000000000000" pitchFamily="2" charset="2"/>
              </a:rPr>
              <a:t>k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mtClean="0">
                <a:sym typeface="Wingdings" panose="05000000000000000000" pitchFamily="2" charset="2"/>
              </a:rPr>
              <a:t>Solution: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GB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mtClean="0">
                <a:sym typeface="Wingdings" panose="05000000000000000000" pitchFamily="2" charset="2"/>
              </a:rPr>
              <a:t>                </a:t>
            </a:r>
            <a:r>
              <a:rPr lang="en-US" altLang="en-GB" smtClean="0"/>
              <a:t>A   </a:t>
            </a:r>
            <a:r>
              <a:rPr lang="en-US" altLang="en-GB" smtClean="0">
                <a:sym typeface="Wingdings" panose="05000000000000000000" pitchFamily="2" charset="2"/>
              </a:rPr>
              <a:t>  V</a:t>
            </a:r>
            <a:r>
              <a:rPr lang="en-US" altLang="en-GB" baseline="-25000" smtClean="0">
                <a:sym typeface="Wingdings" panose="05000000000000000000" pitchFamily="2" charset="2"/>
              </a:rPr>
              <a:t>1</a:t>
            </a:r>
            <a:r>
              <a:rPr lang="en-US" altLang="en-GB" smtClean="0">
                <a:sym typeface="Wingdings" panose="05000000000000000000" pitchFamily="2" charset="2"/>
              </a:rPr>
              <a:t>Z | V</a:t>
            </a:r>
            <a:r>
              <a:rPr lang="en-US" altLang="en-GB" baseline="-25000" smtClean="0">
                <a:sym typeface="Wingdings" panose="05000000000000000000" pitchFamily="2" charset="2"/>
              </a:rPr>
              <a:t>2</a:t>
            </a:r>
            <a:r>
              <a:rPr lang="en-US" altLang="en-GB" smtClean="0">
                <a:sym typeface="Wingdings" panose="05000000000000000000" pitchFamily="2" charset="2"/>
              </a:rPr>
              <a:t>Z | … | V</a:t>
            </a:r>
            <a:r>
              <a:rPr lang="en-US" altLang="en-GB" baseline="-25000" smtClean="0">
                <a:sym typeface="Wingdings" panose="05000000000000000000" pitchFamily="2" charset="2"/>
              </a:rPr>
              <a:t>k</a:t>
            </a:r>
            <a:r>
              <a:rPr lang="en-US" altLang="en-GB" smtClean="0">
                <a:sym typeface="Wingdings" panose="05000000000000000000" pitchFamily="2" charset="2"/>
              </a:rPr>
              <a:t>Z</a:t>
            </a:r>
            <a:endParaRPr lang="en-US" altLang="en-GB" baseline="-250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GB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GB" smtClean="0">
                <a:sym typeface="Wingdings" panose="05000000000000000000" pitchFamily="2" charset="2"/>
              </a:rPr>
              <a:t>                Z     u</a:t>
            </a:r>
            <a:r>
              <a:rPr lang="en-US" altLang="en-GB" baseline="-25000" smtClean="0">
                <a:sym typeface="Wingdings" panose="05000000000000000000" pitchFamily="2" charset="2"/>
              </a:rPr>
              <a:t>1</a:t>
            </a:r>
            <a:r>
              <a:rPr lang="en-US" altLang="en-GB" smtClean="0">
                <a:sym typeface="Wingdings" panose="05000000000000000000" pitchFamily="2" charset="2"/>
              </a:rPr>
              <a:t>Z | u</a:t>
            </a:r>
            <a:r>
              <a:rPr lang="en-US" altLang="en-GB" baseline="-25000" smtClean="0">
                <a:sym typeface="Wingdings" panose="05000000000000000000" pitchFamily="2" charset="2"/>
              </a:rPr>
              <a:t>2</a:t>
            </a:r>
            <a:r>
              <a:rPr lang="en-US" altLang="en-GB" smtClean="0">
                <a:sym typeface="Wingdings" panose="05000000000000000000" pitchFamily="2" charset="2"/>
              </a:rPr>
              <a:t>Z | u</a:t>
            </a:r>
            <a:r>
              <a:rPr lang="en-US" altLang="en-GB" baseline="-25000" smtClean="0">
                <a:sym typeface="Wingdings" panose="05000000000000000000" pitchFamily="2" charset="2"/>
              </a:rPr>
              <a:t>3</a:t>
            </a:r>
            <a:r>
              <a:rPr lang="en-US" altLang="en-GB" smtClean="0">
                <a:sym typeface="Wingdings" panose="05000000000000000000" pitchFamily="2" charset="2"/>
              </a:rPr>
              <a:t>Z | … | u</a:t>
            </a:r>
            <a:r>
              <a:rPr lang="en-US" altLang="en-GB" baseline="-25000" smtClean="0">
                <a:sym typeface="Wingdings" panose="05000000000000000000" pitchFamily="2" charset="2"/>
              </a:rPr>
              <a:t>j</a:t>
            </a:r>
            <a:r>
              <a:rPr lang="en-US" altLang="en-GB" smtClean="0">
                <a:sym typeface="Wingdings" panose="05000000000000000000" pitchFamily="2" charset="2"/>
              </a:rPr>
              <a:t>Z |  </a:t>
            </a:r>
            <a:r>
              <a:rPr lang="el-GR" altLang="en-GB" smtClean="0">
                <a:sym typeface="Wingdings" panose="05000000000000000000" pitchFamily="2" charset="2"/>
              </a:rPr>
              <a:t>λ</a:t>
            </a:r>
            <a:endParaRPr lang="en-US" altLang="en-GB" baseline="-25000" smtClean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en-GB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32ED4A-9633-4280-A5A5-ED2A8F920F0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z="2900" smtClean="0"/>
              <a:t>Example</a:t>
            </a:r>
          </a:p>
        </p:txBody>
      </p:sp>
      <p:sp>
        <p:nvSpPr>
          <p:cNvPr id="195587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1600200"/>
            <a:ext cx="4038600" cy="4530725"/>
          </a:xfrm>
        </p:spPr>
        <p:txBody>
          <a:bodyPr/>
          <a:lstStyle/>
          <a:p>
            <a:pPr eaLnBrk="1" hangingPunct="1"/>
            <a:r>
              <a:rPr lang="en-US" altLang="en-GB" sz="2200" smtClean="0"/>
              <a:t>A </a:t>
            </a:r>
            <a:r>
              <a:rPr lang="en-US" altLang="en-GB" sz="2200" smtClean="0">
                <a:sym typeface="Wingdings" panose="05000000000000000000" pitchFamily="2" charset="2"/>
              </a:rPr>
              <a:t> Aa | b</a:t>
            </a:r>
          </a:p>
          <a:p>
            <a:pPr eaLnBrk="1" hangingPunct="1">
              <a:buFontTx/>
              <a:buNone/>
            </a:pPr>
            <a:endParaRPr lang="en-US" altLang="en-GB" sz="2200" smtClean="0"/>
          </a:p>
          <a:p>
            <a:pPr eaLnBrk="1" hangingPunct="1">
              <a:buFontTx/>
              <a:buNone/>
            </a:pPr>
            <a:r>
              <a:rPr lang="en-US" altLang="en-GB" sz="2200" smtClean="0"/>
              <a:t>Solution: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solidFill>
                  <a:srgbClr val="33CC33"/>
                </a:solidFill>
              </a:rPr>
              <a:t>A </a:t>
            </a:r>
            <a:r>
              <a:rPr lang="en-US" altLang="en-GB" sz="2200" smtClean="0">
                <a:solidFill>
                  <a:srgbClr val="33CC33"/>
                </a:solidFill>
                <a:sym typeface="Wingdings" panose="05000000000000000000" pitchFamily="2" charset="2"/>
              </a:rPr>
              <a:t> bZ | b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solidFill>
                  <a:srgbClr val="33CC33"/>
                </a:solidFill>
                <a:sym typeface="Wingdings" panose="05000000000000000000" pitchFamily="2" charset="2"/>
              </a:rPr>
              <a:t>Z  aZ | a</a:t>
            </a:r>
          </a:p>
          <a:p>
            <a:pPr eaLnBrk="1" hangingPunct="1">
              <a:buFontTx/>
              <a:buNone/>
            </a:pPr>
            <a:endParaRPr lang="en-US" altLang="en-GB" sz="2200" smtClean="0">
              <a:solidFill>
                <a:srgbClr val="33CC33"/>
              </a:solidFill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GB" sz="2200" smtClean="0">
                <a:solidFill>
                  <a:srgbClr val="33CC33"/>
                </a:solidFill>
                <a:sym typeface="Wingdings" panose="05000000000000000000" pitchFamily="2" charset="2"/>
              </a:rPr>
              <a:t>OR</a:t>
            </a:r>
          </a:p>
          <a:p>
            <a:pPr eaLnBrk="1" hangingPunct="1">
              <a:buFontTx/>
              <a:buNone/>
            </a:pPr>
            <a:endParaRPr lang="en-US" altLang="en-GB" sz="2200" smtClean="0">
              <a:solidFill>
                <a:srgbClr val="33CC33"/>
              </a:solidFill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GB" sz="2200" smtClean="0">
                <a:solidFill>
                  <a:srgbClr val="002060"/>
                </a:solidFill>
              </a:rPr>
              <a:t>A </a:t>
            </a:r>
            <a:r>
              <a:rPr lang="en-US" altLang="en-GB" sz="2200" smtClean="0">
                <a:solidFill>
                  <a:srgbClr val="002060"/>
                </a:solidFill>
                <a:sym typeface="Wingdings" panose="05000000000000000000" pitchFamily="2" charset="2"/>
              </a:rPr>
              <a:t> bZ </a:t>
            </a:r>
          </a:p>
          <a:p>
            <a:pPr eaLnBrk="1" hangingPunct="1">
              <a:buFontTx/>
              <a:buNone/>
            </a:pPr>
            <a:r>
              <a:rPr lang="en-US" altLang="en-GB" sz="2200" smtClean="0">
                <a:solidFill>
                  <a:srgbClr val="002060"/>
                </a:solidFill>
                <a:sym typeface="Wingdings" panose="05000000000000000000" pitchFamily="2" charset="2"/>
              </a:rPr>
              <a:t>Z  aZ | </a:t>
            </a:r>
            <a:r>
              <a:rPr lang="el-GR" altLang="en-GB" sz="2200" smtClean="0">
                <a:solidFill>
                  <a:srgbClr val="002060"/>
                </a:solidFill>
                <a:sym typeface="Wingdings" panose="05000000000000000000" pitchFamily="2" charset="2"/>
              </a:rPr>
              <a:t>λ</a:t>
            </a:r>
            <a:endParaRPr lang="en-US" altLang="en-GB" sz="2200" smtClean="0">
              <a:solidFill>
                <a:srgbClr val="002060"/>
              </a:solidFill>
              <a:sym typeface="Wingdings" panose="05000000000000000000" pitchFamily="2" charset="2"/>
            </a:endParaRPr>
          </a:p>
        </p:txBody>
      </p:sp>
      <p:sp>
        <p:nvSpPr>
          <p:cNvPr id="195588" name="Rectangle 4"/>
          <p:cNvSpPr>
            <a:spLocks noGrp="1"/>
          </p:cNvSpPr>
          <p:nvPr>
            <p:ph type="body" sz="half" idx="4294967295"/>
          </p:nvPr>
        </p:nvSpPr>
        <p:spPr>
          <a:xfrm>
            <a:off x="5105400" y="1600200"/>
            <a:ext cx="40386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GB" sz="2200" smtClean="0"/>
              <a:t>A </a:t>
            </a:r>
            <a:r>
              <a:rPr lang="en-US" altLang="en-GB" sz="2200" smtClean="0">
                <a:sym typeface="Wingdings" panose="05000000000000000000" pitchFamily="2" charset="2"/>
              </a:rPr>
              <a:t> Aa | Ab | b | c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GB" sz="22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200" smtClean="0">
                <a:solidFill>
                  <a:srgbClr val="33CC33"/>
                </a:solidFill>
              </a:rPr>
              <a:t>A </a:t>
            </a:r>
            <a:r>
              <a:rPr lang="en-US" altLang="en-GB" sz="2200" smtClean="0">
                <a:solidFill>
                  <a:srgbClr val="33CC33"/>
                </a:solidFill>
                <a:sym typeface="Wingdings" panose="05000000000000000000" pitchFamily="2" charset="2"/>
              </a:rPr>
              <a:t> bZ | cZ | b | c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200" smtClean="0">
                <a:solidFill>
                  <a:srgbClr val="33CC33"/>
                </a:solidFill>
                <a:sym typeface="Wingdings" panose="05000000000000000000" pitchFamily="2" charset="2"/>
              </a:rPr>
              <a:t>Z  aZ | bZ | a | b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GB" sz="2200" smtClean="0">
              <a:solidFill>
                <a:srgbClr val="33CC33"/>
              </a:solidFill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Consider another example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GB" sz="2200" smtClean="0">
                <a:sym typeface="Wingdings" panose="05000000000000000000" pitchFamily="2" charset="2"/>
              </a:rPr>
              <a:t>A  AB | BA | 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GB" sz="2200" smtClean="0">
                <a:sym typeface="Wingdings" panose="05000000000000000000" pitchFamily="2" charset="2"/>
              </a:rPr>
              <a:t>B  b | c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200" smtClean="0">
                <a:solidFill>
                  <a:srgbClr val="33CC33"/>
                </a:solidFill>
              </a:rPr>
              <a:t>A </a:t>
            </a:r>
            <a:r>
              <a:rPr lang="en-US" altLang="en-GB" sz="2200" smtClean="0">
                <a:solidFill>
                  <a:srgbClr val="33CC33"/>
                </a:solidFill>
                <a:sym typeface="Wingdings" panose="05000000000000000000" pitchFamily="2" charset="2"/>
              </a:rPr>
              <a:t> BAZ | aZ | BA | 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200" smtClean="0">
                <a:solidFill>
                  <a:srgbClr val="33CC33"/>
                </a:solidFill>
                <a:sym typeface="Wingdings" panose="05000000000000000000" pitchFamily="2" charset="2"/>
              </a:rPr>
              <a:t>Z  BZ | B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B" sz="2200" smtClean="0">
                <a:solidFill>
                  <a:srgbClr val="33CC33"/>
                </a:solidFill>
                <a:sym typeface="Wingdings" panose="05000000000000000000" pitchFamily="2" charset="2"/>
              </a:rPr>
              <a:t>B  b | c</a:t>
            </a:r>
            <a:endParaRPr lang="en-US" altLang="en-GB" sz="2200" smtClean="0">
              <a:solidFill>
                <a:srgbClr val="33CC33"/>
              </a:solidFill>
            </a:endParaRPr>
          </a:p>
        </p:txBody>
      </p:sp>
      <p:graphicFrame>
        <p:nvGraphicFramePr>
          <p:cNvPr id="78854" name="Object 5"/>
          <p:cNvGraphicFramePr>
            <a:graphicFrameLocks noChangeAspect="1"/>
          </p:cNvGraphicFramePr>
          <p:nvPr/>
        </p:nvGraphicFramePr>
        <p:xfrm>
          <a:off x="4000500" y="1905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6" name="Equation" r:id="rId4" imgW="435285" imgH="677109" progId="Equation.DSMT4">
                  <p:embed/>
                </p:oleObj>
              </mc:Choice>
              <mc:Fallback>
                <p:oleObj name="Equation" r:id="rId4" imgW="435285" imgH="67710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19050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5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95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95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195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95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95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955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955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1955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1955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/>
      <p:bldP spid="195588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GB" sz="1700" smtClean="0"/>
              <a:t>The above transformations remove left-recursion by creating a right-recursive grammar; but this changes the associativity of our rules. Left recursion makes left associativity; right recursion makes right associativity. Example : We start out with a grammar :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1700" smtClean="0"/>
              <a:t>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1700" smtClean="0"/>
              <a:t>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1700" smtClean="0"/>
              <a:t>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1700" smtClean="0"/>
              <a:t>After having applied standard transformations to remove left-recursion, we have the following grammar :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GB" sz="1900" smtClean="0"/>
              <a:t> </a:t>
            </a:r>
          </a:p>
          <a:p>
            <a:pPr algn="just" eaLnBrk="1" hangingPunct="1">
              <a:lnSpc>
                <a:spcPct val="80000"/>
              </a:lnSpc>
            </a:pPr>
            <a:endParaRPr lang="en-US" altLang="en-GB" sz="1600" smtClean="0"/>
          </a:p>
          <a:p>
            <a:pPr algn="just" eaLnBrk="1" hangingPunct="1">
              <a:lnSpc>
                <a:spcPct val="80000"/>
              </a:lnSpc>
            </a:pPr>
            <a:r>
              <a:rPr lang="en-US" altLang="en-GB" sz="1600" smtClean="0"/>
              <a:t>Parsing the string 'a + a + a' with the first grammar in an LALR parser (which can recognize left-recursive grammars) would have resulted in the parse tree:</a:t>
            </a:r>
          </a:p>
        </p:txBody>
      </p:sp>
      <p:sp>
        <p:nvSpPr>
          <p:cNvPr id="80900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E9F872-1946-4B61-8772-087A39D14AC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8090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0" y="2362200"/>
            <a:ext cx="28575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3505200"/>
            <a:ext cx="24098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8294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GB" sz="2000" smtClean="0"/>
          </a:p>
          <a:p>
            <a:pPr eaLnBrk="1" hangingPunct="1"/>
            <a:endParaRPr lang="en-US" altLang="en-GB" sz="1400" smtClean="0"/>
          </a:p>
          <a:p>
            <a:pPr eaLnBrk="1" hangingPunct="1"/>
            <a:endParaRPr lang="en-US" altLang="en-GB" sz="2000" smtClean="0"/>
          </a:p>
          <a:p>
            <a:pPr eaLnBrk="1" hangingPunct="1"/>
            <a:endParaRPr lang="en-US" altLang="en-GB" sz="2000" smtClean="0"/>
          </a:p>
          <a:p>
            <a:pPr algn="just" eaLnBrk="1" hangingPunct="1"/>
            <a:r>
              <a:rPr lang="en-US" altLang="en-GB" sz="2000" smtClean="0"/>
              <a:t>This parse tree grows to the left, indicating that the '+' operator is left associative, representing (a + a) + a.</a:t>
            </a:r>
          </a:p>
          <a:p>
            <a:pPr algn="just" eaLnBrk="1" hangingPunct="1"/>
            <a:r>
              <a:rPr lang="en-US" altLang="en-GB" sz="2000" smtClean="0"/>
              <a:t>But now that we've changed the grammar, our parse tree looks like this :</a:t>
            </a:r>
          </a:p>
        </p:txBody>
      </p:sp>
      <p:sp>
        <p:nvSpPr>
          <p:cNvPr id="82948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92E166-8DBB-43A8-8323-4E0AE20BF8F9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8294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4171950"/>
            <a:ext cx="278130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5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57200"/>
            <a:ext cx="220980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We can see that the tree grows to the right, representing a + ( a + a). We have changed the associativity of our operator '+', it is now right-associative. While this isn't a problem for the associativity of addition, it would have a significantly different value if this were subtraction.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90000"/>
              </a:lnSpc>
            </a:pPr>
            <a:r>
              <a:rPr lang="en-US" altLang="en-GB" sz="1900" smtClean="0"/>
              <a:t>The problem is that normal arithmetic requires left associativity. Several solutions are: (a) rewrite the grammar to be left recursive, or (b) rewrite the grammar with more nonterminals to force the correct precedence/associativity, or (c) if using YACC or Bison, there are operator declarations, %left, %right and %nonassoc, which tell the parser generator which associativity to force.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  <a:p>
            <a:pPr algn="just" eaLnBrk="1" hangingPunct="1">
              <a:lnSpc>
                <a:spcPct val="90000"/>
              </a:lnSpc>
            </a:pPr>
            <a:endParaRPr lang="en-US" altLang="en-GB" sz="1900" smtClean="0"/>
          </a:p>
        </p:txBody>
      </p:sp>
      <p:sp>
        <p:nvSpPr>
          <p:cNvPr id="84996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1461EB-2645-4519-BDD0-112C6AA2EA4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3CC34B-3BD8-4636-8096-403211EBABA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108546" name="Title 1"/>
          <p:cNvSpPr>
            <a:spLocks noGrp="1"/>
          </p:cNvSpPr>
          <p:nvPr>
            <p:ph type="title" idx="4294967295"/>
          </p:nvPr>
        </p:nvSpPr>
        <p:spPr>
          <a:xfrm>
            <a:off x="0" y="381000"/>
            <a:ext cx="8534400" cy="9144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800" dirty="0"/>
              <a:t>Expression Grammar</a:t>
            </a:r>
            <a:br>
              <a:rPr lang="en-US" sz="3800" dirty="0"/>
            </a:br>
            <a:r>
              <a:rPr lang="en-US" sz="2200" dirty="0">
                <a:solidFill>
                  <a:srgbClr val="FF0000"/>
                </a:solidFill>
              </a:rPr>
              <a:t>Ambiguous        	 </a:t>
            </a:r>
            <a:r>
              <a:rPr lang="en-US" sz="2200" dirty="0">
                <a:solidFill>
                  <a:srgbClr val="00B050"/>
                </a:solidFill>
              </a:rPr>
              <a:t>non-Ambiguous            </a:t>
            </a:r>
            <a:r>
              <a:rPr lang="en-US" sz="2200" dirty="0">
                <a:solidFill>
                  <a:srgbClr val="FF0000"/>
                </a:solidFill>
              </a:rPr>
              <a:t>No  Left Rec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0" y="1447800"/>
            <a:ext cx="2590800" cy="4876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GB" sz="2600" smtClean="0"/>
              <a:t>S </a:t>
            </a:r>
            <a:r>
              <a:rPr lang="en-US" altLang="en-GB" sz="2600" smtClean="0">
                <a:sym typeface="Wingdings" panose="05000000000000000000" pitchFamily="2" charset="2"/>
              </a:rPr>
              <a:t> E</a:t>
            </a: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E  E + E  </a:t>
            </a: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E  E – E</a:t>
            </a: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E  E * E  </a:t>
            </a: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E  E / E</a:t>
            </a: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E  ( E )</a:t>
            </a: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E  num | id</a:t>
            </a:r>
          </a:p>
          <a:p>
            <a:pPr eaLnBrk="1" hangingPunct="1">
              <a:buFontTx/>
              <a:buNone/>
            </a:pPr>
            <a:endParaRPr lang="en-US" altLang="en-GB" sz="260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5638800" y="1447800"/>
            <a:ext cx="3505200" cy="4876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GB" sz="2600" smtClean="0"/>
              <a:t>S </a:t>
            </a:r>
            <a:r>
              <a:rPr lang="en-US" altLang="en-GB" sz="2600" smtClean="0">
                <a:sym typeface="Wingdings" panose="05000000000000000000" pitchFamily="2" charset="2"/>
              </a:rPr>
              <a:t> E</a:t>
            </a: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E  T </a:t>
            </a:r>
            <a:r>
              <a:rPr lang="en-US" altLang="en-GB" sz="2600" smtClean="0">
                <a:solidFill>
                  <a:srgbClr val="FF0000"/>
                </a:solidFill>
                <a:sym typeface="Wingdings" panose="05000000000000000000" pitchFamily="2" charset="2"/>
              </a:rPr>
              <a:t>E’</a:t>
            </a:r>
          </a:p>
          <a:p>
            <a:pPr eaLnBrk="1" hangingPunct="1">
              <a:buFontTx/>
              <a:buNone/>
            </a:pPr>
            <a:r>
              <a:rPr lang="en-US" altLang="en-GB" sz="2600" smtClean="0">
                <a:solidFill>
                  <a:srgbClr val="FF0000"/>
                </a:solidFill>
                <a:sym typeface="Wingdings" panose="05000000000000000000" pitchFamily="2" charset="2"/>
              </a:rPr>
              <a:t>E’ </a:t>
            </a:r>
            <a:r>
              <a:rPr lang="en-US" altLang="en-GB" sz="2600" smtClean="0">
                <a:sym typeface="Wingdings" panose="05000000000000000000" pitchFamily="2" charset="2"/>
              </a:rPr>
              <a:t> +T </a:t>
            </a:r>
            <a:r>
              <a:rPr lang="en-US" altLang="en-GB" sz="2600" smtClean="0">
                <a:solidFill>
                  <a:srgbClr val="FF0000"/>
                </a:solidFill>
                <a:sym typeface="Wingdings" panose="05000000000000000000" pitchFamily="2" charset="2"/>
              </a:rPr>
              <a:t>E’</a:t>
            </a:r>
            <a:r>
              <a:rPr lang="en-US" altLang="en-GB" sz="2600" smtClean="0">
                <a:sym typeface="Wingdings" panose="05000000000000000000" pitchFamily="2" charset="2"/>
              </a:rPr>
              <a:t> | -T </a:t>
            </a:r>
            <a:r>
              <a:rPr lang="en-US" altLang="en-GB" sz="2600" smtClean="0">
                <a:solidFill>
                  <a:srgbClr val="FF0000"/>
                </a:solidFill>
                <a:sym typeface="Wingdings" panose="05000000000000000000" pitchFamily="2" charset="2"/>
              </a:rPr>
              <a:t>E’</a:t>
            </a:r>
            <a:r>
              <a:rPr lang="en-US" altLang="en-GB" sz="2600" smtClean="0">
                <a:sym typeface="Wingdings" panose="05000000000000000000" pitchFamily="2" charset="2"/>
              </a:rPr>
              <a:t> |</a:t>
            </a:r>
            <a:r>
              <a:rPr lang="en-US" altLang="en-GB" sz="260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l-GR" altLang="en-GB" sz="2600" smtClean="0">
                <a:solidFill>
                  <a:srgbClr val="FF0000"/>
                </a:solidFill>
                <a:sym typeface="Wingdings" panose="05000000000000000000" pitchFamily="2" charset="2"/>
              </a:rPr>
              <a:t>λ</a:t>
            </a:r>
            <a:endParaRPr lang="en-US" altLang="en-GB" sz="260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T  F</a:t>
            </a:r>
            <a:r>
              <a:rPr lang="en-US" altLang="en-GB" sz="2600" smtClean="0">
                <a:solidFill>
                  <a:srgbClr val="7030A0"/>
                </a:solidFill>
                <a:sym typeface="Wingdings" panose="05000000000000000000" pitchFamily="2" charset="2"/>
              </a:rPr>
              <a:t>T’</a:t>
            </a: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T  * F</a:t>
            </a:r>
            <a:r>
              <a:rPr lang="en-US" altLang="en-GB" sz="2600" smtClean="0">
                <a:solidFill>
                  <a:srgbClr val="7030A0"/>
                </a:solidFill>
                <a:sym typeface="Wingdings" panose="05000000000000000000" pitchFamily="2" charset="2"/>
              </a:rPr>
              <a:t>T’ </a:t>
            </a:r>
            <a:r>
              <a:rPr lang="en-US" altLang="en-GB" sz="2600" smtClean="0">
                <a:sym typeface="Wingdings" panose="05000000000000000000" pitchFamily="2" charset="2"/>
              </a:rPr>
              <a:t>| / F </a:t>
            </a:r>
            <a:r>
              <a:rPr lang="en-US" altLang="en-GB" sz="2600" smtClean="0">
                <a:solidFill>
                  <a:srgbClr val="7030A0"/>
                </a:solidFill>
                <a:sym typeface="Wingdings" panose="05000000000000000000" pitchFamily="2" charset="2"/>
              </a:rPr>
              <a:t>T’</a:t>
            </a:r>
            <a:r>
              <a:rPr lang="en-US" altLang="en-GB" sz="2600" smtClean="0">
                <a:sym typeface="Wingdings" panose="05000000000000000000" pitchFamily="2" charset="2"/>
              </a:rPr>
              <a:t>| </a:t>
            </a:r>
            <a:r>
              <a:rPr lang="el-GR" altLang="en-GB" sz="2600" smtClean="0">
                <a:solidFill>
                  <a:srgbClr val="7030A0"/>
                </a:solidFill>
                <a:sym typeface="Wingdings" panose="05000000000000000000" pitchFamily="2" charset="2"/>
              </a:rPr>
              <a:t>λ</a:t>
            </a:r>
            <a:endParaRPr lang="en-US" altLang="en-GB" sz="2600" smtClean="0">
              <a:solidFill>
                <a:srgbClr val="7030A0"/>
              </a:solidFill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F  ( E )</a:t>
            </a:r>
          </a:p>
          <a:p>
            <a:pPr eaLnBrk="1" hangingPunct="1">
              <a:buFontTx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F  num | id</a:t>
            </a:r>
          </a:p>
          <a:p>
            <a:pPr eaLnBrk="1" hangingPunct="1"/>
            <a:endParaRPr lang="en-US" altLang="en-GB" sz="260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200400" y="1371600"/>
            <a:ext cx="2362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kern="0" dirty="0">
                <a:latin typeface="+mn-lt"/>
              </a:rPr>
              <a:t>S </a:t>
            </a:r>
            <a:r>
              <a:rPr lang="en-US" sz="2800" kern="0" dirty="0">
                <a:latin typeface="+mn-lt"/>
                <a:sym typeface="Wingdings" pitchFamily="2" charset="2"/>
              </a:rPr>
              <a:t> E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kern="0" dirty="0">
                <a:latin typeface="+mn-lt"/>
                <a:sym typeface="Wingdings" pitchFamily="2" charset="2"/>
              </a:rPr>
              <a:t>E  E + T  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kern="0" dirty="0">
                <a:latin typeface="+mn-lt"/>
                <a:sym typeface="Wingdings" pitchFamily="2" charset="2"/>
              </a:rPr>
              <a:t>E  E - T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kern="0" dirty="0">
                <a:latin typeface="+mn-lt"/>
                <a:sym typeface="Wingdings" pitchFamily="2" charset="2"/>
              </a:rPr>
              <a:t>E  T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kern="0" dirty="0">
                <a:latin typeface="+mn-lt"/>
                <a:sym typeface="Wingdings" pitchFamily="2" charset="2"/>
              </a:rPr>
              <a:t>T  T * F 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kern="0" dirty="0">
                <a:latin typeface="+mn-lt"/>
                <a:sym typeface="Wingdings" pitchFamily="2" charset="2"/>
              </a:rPr>
              <a:t>T  T / F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kern="0" dirty="0">
                <a:latin typeface="+mn-lt"/>
                <a:sym typeface="Wingdings" pitchFamily="2" charset="2"/>
              </a:rPr>
              <a:t>T  F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kern="0" dirty="0">
                <a:latin typeface="+mn-lt"/>
                <a:sym typeface="Wingdings" pitchFamily="2" charset="2"/>
              </a:rPr>
              <a:t>F  ( E )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800" kern="0" dirty="0">
                <a:latin typeface="+mn-lt"/>
                <a:sym typeface="Wingdings" pitchFamily="2" charset="2"/>
              </a:rPr>
              <a:t>F  num | id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sz="2800" kern="0" dirty="0">
              <a:latin typeface="+mn-lt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6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3B2D66-A46A-4016-A593-0F79EBCC6C6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89091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B" smtClean="0"/>
              <a:t>Left Factoring</a:t>
            </a:r>
          </a:p>
        </p:txBody>
      </p:sp>
      <p:sp>
        <p:nvSpPr>
          <p:cNvPr id="89092" name="Content Placeholder 5"/>
          <p:cNvSpPr>
            <a:spLocks noGrp="1"/>
          </p:cNvSpPr>
          <p:nvPr>
            <p:ph sz="half" idx="4294967295"/>
          </p:nvPr>
        </p:nvSpPr>
        <p:spPr>
          <a:xfrm>
            <a:off x="0" y="1600200"/>
            <a:ext cx="4572000" cy="4530725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/>
              <a:t>The grammar is unambiguous and non-left-recursion but we don't know which rule to apply on a symbol in: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     S  </a:t>
            </a:r>
            <a:r>
              <a:rPr lang="en-US" altLang="en-GB" sz="2200" smtClean="0"/>
              <a:t>V</a:t>
            </a:r>
            <a:r>
              <a:rPr lang="en-US" altLang="en-GB" sz="2200" smtClean="0">
                <a:sym typeface="Wingdings" panose="05000000000000000000" pitchFamily="2" charset="2"/>
              </a:rPr>
              <a:t>U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200" smtClean="0">
                <a:sym typeface="Wingdings" panose="05000000000000000000" pitchFamily="2" charset="2"/>
              </a:rPr>
              <a:t>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	 </a:t>
            </a:r>
            <a:r>
              <a:rPr lang="en-US" altLang="en-GB" sz="2200" smtClean="0"/>
              <a:t>V</a:t>
            </a:r>
            <a:r>
              <a:rPr lang="en-US" altLang="en-GB" sz="2200" smtClean="0">
                <a:sym typeface="Wingdings" panose="05000000000000000000" pitchFamily="2" charset="2"/>
              </a:rPr>
              <a:t>U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200" smtClean="0">
                <a:sym typeface="Wingdings" panose="05000000000000000000" pitchFamily="2" charset="2"/>
              </a:rPr>
              <a:t>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	 </a:t>
            </a:r>
            <a:r>
              <a:rPr lang="en-US" altLang="en-GB" sz="2200" smtClean="0"/>
              <a:t>V</a:t>
            </a:r>
            <a:r>
              <a:rPr lang="en-US" altLang="en-GB" sz="2200" smtClean="0">
                <a:sym typeface="Wingdings" panose="05000000000000000000" pitchFamily="2" charset="2"/>
              </a:rPr>
              <a:t>U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3</a:t>
            </a:r>
            <a:r>
              <a:rPr lang="en-US" altLang="en-GB" sz="2200" smtClean="0">
                <a:sym typeface="Wingdings" panose="05000000000000000000" pitchFamily="2" charset="2"/>
              </a:rPr>
              <a:t>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	………………</a:t>
            </a:r>
            <a:r>
              <a:rPr lang="en-US" altLang="en-GB" sz="2200" smtClean="0">
                <a:sym typeface="Wingdings" panose="05000000000000000000" pitchFamily="2" charset="2"/>
              </a:rPr>
              <a:t>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	 </a:t>
            </a:r>
            <a:r>
              <a:rPr lang="en-US" altLang="en-GB" sz="2200" smtClean="0"/>
              <a:t>V</a:t>
            </a:r>
            <a:r>
              <a:rPr lang="en-US" altLang="en-GB" sz="2200" smtClean="0">
                <a:sym typeface="Wingdings" panose="05000000000000000000" pitchFamily="2" charset="2"/>
              </a:rPr>
              <a:t>U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n</a:t>
            </a:r>
            <a:r>
              <a:rPr lang="en-US" altLang="en-GB" sz="2200" smtClean="0">
                <a:sym typeface="Wingdings" panose="05000000000000000000" pitchFamily="2" charset="2"/>
              </a:rPr>
              <a:t>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endParaRPr lang="en-US" altLang="en-GB" sz="2000" smtClean="0"/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endParaRPr lang="en-US" altLang="en-GB" sz="2000" smtClean="0">
              <a:sym typeface="Wingdings" panose="05000000000000000000" pitchFamily="2" charset="2"/>
            </a:endParaRPr>
          </a:p>
          <a:p>
            <a:pPr marL="0" indent="0" algn="just" eaLnBrk="1" hangingPunct="1"/>
            <a:endParaRPr lang="en-US" altLang="en-GB" sz="2000" smtClean="0"/>
          </a:p>
        </p:txBody>
      </p:sp>
      <p:sp>
        <p:nvSpPr>
          <p:cNvPr id="7" name="Content Placeholder 2"/>
          <p:cNvSpPr>
            <a:spLocks noGrp="1"/>
          </p:cNvSpPr>
          <p:nvPr>
            <p:ph sz="half" idx="4294967295"/>
          </p:nvPr>
        </p:nvSpPr>
        <p:spPr>
          <a:xfrm>
            <a:off x="5715000" y="1600200"/>
            <a:ext cx="3429000" cy="4530725"/>
          </a:xfrm>
        </p:spPr>
        <p:txBody>
          <a:bodyPr/>
          <a:lstStyle/>
          <a:p>
            <a:pPr marL="0" indent="0" algn="just" eaLnBrk="1" hangingPunct="1">
              <a:buFontTx/>
              <a:buNone/>
            </a:pPr>
            <a:r>
              <a:rPr lang="en-US" altLang="en-GB" sz="2600" smtClean="0"/>
              <a:t>However, it can be factored as follows.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600" smtClean="0">
                <a:sym typeface="Wingdings" panose="05000000000000000000" pitchFamily="2" charset="2"/>
              </a:rPr>
              <a:t>	</a:t>
            </a:r>
            <a:r>
              <a:rPr lang="en-US" altLang="en-GB" sz="2200" smtClean="0">
                <a:sym typeface="Wingdings" panose="05000000000000000000" pitchFamily="2" charset="2"/>
              </a:rPr>
              <a:t>S  </a:t>
            </a:r>
            <a:r>
              <a:rPr lang="en-US" altLang="en-GB" sz="2200" smtClean="0"/>
              <a:t>VB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B U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1</a:t>
            </a:r>
            <a:r>
              <a:rPr lang="en-US" altLang="en-GB" sz="2200" smtClean="0">
                <a:sym typeface="Wingdings" panose="05000000000000000000" pitchFamily="2" charset="2"/>
              </a:rPr>
              <a:t>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   U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2</a:t>
            </a:r>
            <a:r>
              <a:rPr lang="en-US" altLang="en-GB" sz="2200" smtClean="0">
                <a:sym typeface="Wingdings" panose="05000000000000000000" pitchFamily="2" charset="2"/>
              </a:rPr>
              <a:t>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   U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3</a:t>
            </a:r>
            <a:r>
              <a:rPr lang="en-US" altLang="en-GB" sz="2200" smtClean="0">
                <a:sym typeface="Wingdings" panose="05000000000000000000" pitchFamily="2" charset="2"/>
              </a:rPr>
              <a:t>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 ………………</a:t>
            </a:r>
            <a:r>
              <a:rPr lang="en-US" altLang="en-GB" sz="2200" smtClean="0">
                <a:sym typeface="Wingdings" panose="05000000000000000000" pitchFamily="2" charset="2"/>
              </a:rPr>
              <a:t>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en-US" altLang="en-GB" sz="2200" smtClean="0">
                <a:sym typeface="Wingdings" panose="05000000000000000000" pitchFamily="2" charset="2"/>
              </a:rPr>
              <a:t>	    U</a:t>
            </a:r>
            <a:r>
              <a:rPr lang="en-US" altLang="en-GB" sz="2200" baseline="-25000" smtClean="0">
                <a:sym typeface="Wingdings" panose="05000000000000000000" pitchFamily="2" charset="2"/>
              </a:rPr>
              <a:t>n</a:t>
            </a:r>
            <a:r>
              <a:rPr lang="en-US" altLang="en-GB" sz="2200" smtClean="0">
                <a:sym typeface="Wingdings" panose="05000000000000000000" pitchFamily="2" charset="2"/>
              </a:rPr>
              <a:t> </a:t>
            </a:r>
          </a:p>
          <a:p>
            <a:pPr marL="0" indent="0" algn="just" eaLnBrk="1" hangingPunct="1">
              <a:buFontTx/>
              <a:buNone/>
            </a:pPr>
            <a:endParaRPr lang="en-US" altLang="en-GB" sz="260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GB" smtClean="0"/>
          </a:p>
        </p:txBody>
      </p:sp>
      <p:sp>
        <p:nvSpPr>
          <p:cNvPr id="91139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GB" smtClean="0"/>
              <a:t>Should we apply right factoring too?</a:t>
            </a:r>
          </a:p>
        </p:txBody>
      </p:sp>
      <p:sp>
        <p:nvSpPr>
          <p:cNvPr id="91140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7B7E37-850E-44DB-A3D2-D9CD62A7137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Theory of Automata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7667</TotalTime>
  <Words>2115</Words>
  <Application>Microsoft Office PowerPoint</Application>
  <PresentationFormat>On-screen Show (4:3)</PresentationFormat>
  <Paragraphs>609</Paragraphs>
  <Slides>44</Slides>
  <Notes>44</Notes>
  <HiddenSlides>3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Arial</vt:lpstr>
      <vt:lpstr>Calibri</vt:lpstr>
      <vt:lpstr>Wingdings</vt:lpstr>
      <vt:lpstr>Baskerville Old Face</vt:lpstr>
      <vt:lpstr>Times New Roman</vt:lpstr>
      <vt:lpstr>Garamond</vt:lpstr>
      <vt:lpstr>Comic Sans MS</vt:lpstr>
      <vt:lpstr>Wingdings 3</vt:lpstr>
      <vt:lpstr>Office Theme</vt:lpstr>
      <vt:lpstr>MathType 6.0 Equation</vt:lpstr>
      <vt:lpstr>Microsoft Equation 3.0</vt:lpstr>
      <vt:lpstr>Theory of Automata  Context Free Grammars</vt:lpstr>
      <vt:lpstr>Contents</vt:lpstr>
      <vt:lpstr>Killing Λ-Productions</vt:lpstr>
      <vt:lpstr>Theorem 23</vt:lpstr>
      <vt:lpstr>Example</vt:lpstr>
      <vt:lpstr>Example</vt:lpstr>
      <vt:lpstr>Example</vt:lpstr>
      <vt:lpstr>Example Contd.</vt:lpstr>
      <vt:lpstr>Remove Nulls</vt:lpstr>
      <vt:lpstr>PowerPoint Presentation</vt:lpstr>
      <vt:lpstr>Killing unit-productions</vt:lpstr>
      <vt:lpstr>Proof of Theorem 24</vt:lpstr>
      <vt:lpstr>Example</vt:lpstr>
      <vt:lpstr>Example contd.</vt:lpstr>
      <vt:lpstr>Useless Symbols</vt:lpstr>
      <vt:lpstr>Algorithm to remove useless symbols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Removing Useless Productions</vt:lpstr>
      <vt:lpstr>PowerPoint Presentation</vt:lpstr>
      <vt:lpstr>PowerPoint Presentation</vt:lpstr>
      <vt:lpstr>PowerPoint Presentation</vt:lpstr>
      <vt:lpstr>PowerPoint Presentation</vt:lpstr>
      <vt:lpstr>Set of variables that Derive terminal symbols</vt:lpstr>
      <vt:lpstr>Example</vt:lpstr>
      <vt:lpstr>PowerPoint Presentation</vt:lpstr>
      <vt:lpstr>Construction of set of reachable Variables</vt:lpstr>
      <vt:lpstr>PowerPoint Presentation</vt:lpstr>
      <vt:lpstr>Removing All</vt:lpstr>
      <vt:lpstr>Augmented Grammar</vt:lpstr>
      <vt:lpstr>Removal of Left Recursion</vt:lpstr>
      <vt:lpstr>Removing left recursion</vt:lpstr>
      <vt:lpstr>Removal of Left Recursion </vt:lpstr>
      <vt:lpstr>Example</vt:lpstr>
      <vt:lpstr>PowerPoint Presentation</vt:lpstr>
      <vt:lpstr>PowerPoint Presentation</vt:lpstr>
      <vt:lpstr>PowerPoint Presentation</vt:lpstr>
      <vt:lpstr>Expression Grammar Ambiguous          non-Ambiguous            No  Left Rec</vt:lpstr>
      <vt:lpstr>Left Factoring</vt:lpstr>
      <vt:lpstr>PowerPoint Presentation</vt:lpstr>
    </vt:vector>
  </TitlesOfParts>
  <Company>fast-nu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Automata</dc:title>
  <dc:creator>Majid</dc:creator>
  <cp:lastModifiedBy>user1</cp:lastModifiedBy>
  <cp:revision>172</cp:revision>
  <dcterms:created xsi:type="dcterms:W3CDTF">2011-08-06T09:27:24Z</dcterms:created>
  <dcterms:modified xsi:type="dcterms:W3CDTF">2025-07-28T10:26:52Z</dcterms:modified>
</cp:coreProperties>
</file>