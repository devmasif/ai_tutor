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25" r:id="rId1"/>
  </p:sldMasterIdLst>
  <p:notesMasterIdLst>
    <p:notesMasterId r:id="rId67"/>
  </p:notesMasterIdLst>
  <p:sldIdLst>
    <p:sldId id="258" r:id="rId2"/>
    <p:sldId id="313" r:id="rId3"/>
    <p:sldId id="314" r:id="rId4"/>
    <p:sldId id="315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322" r:id="rId23"/>
    <p:sldId id="316" r:id="rId24"/>
    <p:sldId id="317" r:id="rId25"/>
    <p:sldId id="318" r:id="rId26"/>
    <p:sldId id="319" r:id="rId27"/>
    <p:sldId id="320" r:id="rId28"/>
    <p:sldId id="321" r:id="rId29"/>
    <p:sldId id="276" r:id="rId30"/>
    <p:sldId id="277" r:id="rId31"/>
    <p:sldId id="311" r:id="rId32"/>
    <p:sldId id="312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  <p:sldId id="302" r:id="rId58"/>
    <p:sldId id="303" r:id="rId59"/>
    <p:sldId id="304" r:id="rId60"/>
    <p:sldId id="305" r:id="rId61"/>
    <p:sldId id="306" r:id="rId62"/>
    <p:sldId id="307" r:id="rId63"/>
    <p:sldId id="308" r:id="rId64"/>
    <p:sldId id="309" r:id="rId65"/>
    <p:sldId id="310" r:id="rId6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95742" autoAdjust="0"/>
  </p:normalViewPr>
  <p:slideViewPr>
    <p:cSldViewPr>
      <p:cViewPr varScale="1">
        <p:scale>
          <a:sx n="102" d="100"/>
          <a:sy n="102" d="100"/>
        </p:scale>
        <p:origin x="252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1EE141CB-D1C0-4A0F-9A87-9EAD719A8EF6}" type="slidenum">
              <a:rPr lang="en-US" altLang="en-GB"/>
              <a:pPr/>
              <a:t>‹#›</a:t>
            </a:fld>
            <a:endParaRPr lang="en-US" alt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41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C7AFB18-6AF3-417D-B455-17EF7683D973}" type="slidenum">
              <a:rPr lang="en-US" altLang="en-GB"/>
              <a:pPr/>
              <a:t>1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C1C75CA-1D43-49C9-962E-7DF882695E57}" type="slidenum">
              <a:rPr lang="en-US" altLang="en-GB"/>
              <a:pPr/>
              <a:t>5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97D80D1-FB03-4542-AA0E-62CDC243F748}" type="slidenum">
              <a:rPr lang="en-US" altLang="en-GB"/>
              <a:pPr/>
              <a:t>6</a:t>
            </a:fld>
            <a:endParaRPr lang="en-US" altLang="en-GB"/>
          </a:p>
        </p:txBody>
      </p:sp>
      <p:sp>
        <p:nvSpPr>
          <p:cNvPr id="11267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1269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762420F-3C5E-48C8-81F2-373A6E92B997}" type="slidenum">
              <a:rPr lang="en-US" altLang="en-GB" sz="1200">
                <a:cs typeface="Arial" panose="020B0604020202020204" pitchFamily="34" charset="0"/>
              </a:rPr>
              <a:pPr algn="r"/>
              <a:t>6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37CE86B-E7E6-4899-ACE8-D291CF23B303}" type="slidenum">
              <a:rPr lang="en-US" altLang="en-GB"/>
              <a:pPr/>
              <a:t>7</a:t>
            </a:fld>
            <a:endParaRPr lang="en-US" altLang="en-GB"/>
          </a:p>
        </p:txBody>
      </p:sp>
      <p:sp>
        <p:nvSpPr>
          <p:cNvPr id="13315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3317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3C1FD9F3-B099-4DCF-B1F4-1058A24A69B7}" type="slidenum">
              <a:rPr lang="en-US" altLang="en-GB" sz="1200">
                <a:cs typeface="Arial" panose="020B0604020202020204" pitchFamily="34" charset="0"/>
              </a:rPr>
              <a:pPr algn="r"/>
              <a:t>7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A271D2F-F80C-4CCB-BBC8-D1864245424C}" type="slidenum">
              <a:rPr lang="en-US" altLang="en-GB"/>
              <a:pPr/>
              <a:t>8</a:t>
            </a:fld>
            <a:endParaRPr lang="en-US" altLang="en-GB"/>
          </a:p>
        </p:txBody>
      </p:sp>
      <p:sp>
        <p:nvSpPr>
          <p:cNvPr id="15363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5365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C1692666-DE16-4F04-A3B1-84085431387E}" type="slidenum">
              <a:rPr lang="en-US" altLang="en-GB" sz="1200">
                <a:cs typeface="Arial" panose="020B0604020202020204" pitchFamily="34" charset="0"/>
              </a:rPr>
              <a:pPr algn="r"/>
              <a:t>8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B915FF4-4E15-4451-AF61-563278BCE0BF}" type="slidenum">
              <a:rPr lang="en-US" altLang="en-GB"/>
              <a:pPr/>
              <a:t>9</a:t>
            </a:fld>
            <a:endParaRPr lang="en-US" altLang="en-GB"/>
          </a:p>
        </p:txBody>
      </p:sp>
      <p:sp>
        <p:nvSpPr>
          <p:cNvPr id="17411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7413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3625F555-D0A0-442B-85D8-066105AD5C0E}" type="slidenum">
              <a:rPr lang="en-US" altLang="en-GB" sz="1200">
                <a:cs typeface="Arial" panose="020B0604020202020204" pitchFamily="34" charset="0"/>
              </a:rPr>
              <a:pPr algn="r"/>
              <a:t>9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0BF19D3-8E16-49F2-BDE5-30DCA0C7BAF7}" type="slidenum">
              <a:rPr lang="en-US" altLang="en-GB"/>
              <a:pPr/>
              <a:t>10</a:t>
            </a:fld>
            <a:endParaRPr lang="en-US" altLang="en-GB"/>
          </a:p>
        </p:txBody>
      </p:sp>
      <p:sp>
        <p:nvSpPr>
          <p:cNvPr id="19459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946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DBDCC1D-1532-426A-947A-A546AAAB32F8}" type="slidenum">
              <a:rPr lang="en-US" altLang="en-GB" sz="1200">
                <a:cs typeface="Arial" panose="020B0604020202020204" pitchFamily="34" charset="0"/>
              </a:rPr>
              <a:pPr algn="r"/>
              <a:t>10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A24702D-97C9-444F-9CF3-27522447F3C8}" type="slidenum">
              <a:rPr lang="en-US" altLang="en-GB"/>
              <a:pPr/>
              <a:t>11</a:t>
            </a:fld>
            <a:endParaRPr lang="en-US" altLang="en-GB"/>
          </a:p>
        </p:txBody>
      </p:sp>
      <p:sp>
        <p:nvSpPr>
          <p:cNvPr id="21507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21509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7B3E1CC9-98DD-4526-9F80-AD4148458690}" type="slidenum">
              <a:rPr lang="en-US" altLang="en-GB" sz="1200">
                <a:cs typeface="Arial" panose="020B0604020202020204" pitchFamily="34" charset="0"/>
              </a:rPr>
              <a:pPr algn="r"/>
              <a:t>11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6FEB7AA-16A1-42C5-A197-5BEF77C13939}" type="slidenum">
              <a:rPr lang="en-US" altLang="en-GB"/>
              <a:pPr/>
              <a:t>12</a:t>
            </a:fld>
            <a:endParaRPr lang="en-US" altLang="en-GB"/>
          </a:p>
        </p:txBody>
      </p:sp>
      <p:sp>
        <p:nvSpPr>
          <p:cNvPr id="23555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23557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8C81939-BF27-4C5C-BC03-B3A88164D642}" type="slidenum">
              <a:rPr lang="en-US" altLang="en-GB" sz="1200">
                <a:cs typeface="Arial" panose="020B0604020202020204" pitchFamily="34" charset="0"/>
              </a:rPr>
              <a:pPr algn="r"/>
              <a:t>12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4A3EE08-1EE2-4EF5-B157-32565C3B9A01}" type="slidenum">
              <a:rPr lang="en-US" altLang="en-GB"/>
              <a:pPr/>
              <a:t>13</a:t>
            </a:fld>
            <a:endParaRPr lang="en-US" altLang="en-GB"/>
          </a:p>
        </p:txBody>
      </p:sp>
      <p:sp>
        <p:nvSpPr>
          <p:cNvPr id="25603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25605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26C16EA-8C5C-4208-85D0-9E1ECA0FAFC8}" type="slidenum">
              <a:rPr lang="en-US" altLang="en-GB" sz="1200">
                <a:cs typeface="Arial" panose="020B0604020202020204" pitchFamily="34" charset="0"/>
              </a:rPr>
              <a:pPr algn="r"/>
              <a:t>13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5CAE398-78C6-4624-BF62-806E9D20C4B2}" type="slidenum">
              <a:rPr lang="en-US" altLang="en-GB"/>
              <a:pPr/>
              <a:t>14</a:t>
            </a:fld>
            <a:endParaRPr lang="en-US" altLang="en-GB"/>
          </a:p>
        </p:txBody>
      </p:sp>
      <p:sp>
        <p:nvSpPr>
          <p:cNvPr id="27651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27653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58608EFA-B1E2-4D4A-9A6A-C3052CE9A536}" type="slidenum">
              <a:rPr lang="en-US" altLang="en-GB" sz="1200">
                <a:cs typeface="Arial" panose="020B0604020202020204" pitchFamily="34" charset="0"/>
              </a:rPr>
              <a:pPr algn="r"/>
              <a:t>14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3F9D666-E946-4336-80C0-8E0A7CD3D6B8}" type="slidenum">
              <a:rPr lang="en-US" altLang="en-GB"/>
              <a:pPr/>
              <a:t>15</a:t>
            </a:fld>
            <a:endParaRPr lang="en-US" altLang="en-GB"/>
          </a:p>
        </p:txBody>
      </p:sp>
      <p:sp>
        <p:nvSpPr>
          <p:cNvPr id="29699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2970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437D88E-70A8-468C-AD3D-583C8C75958D}" type="slidenum">
              <a:rPr lang="en-US" altLang="en-GB" sz="1200">
                <a:cs typeface="Arial" panose="020B0604020202020204" pitchFamily="34" charset="0"/>
              </a:rPr>
              <a:pPr algn="r"/>
              <a:t>15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36B1C6A-155C-4C06-B955-6C7A37C5E56B}" type="slidenum">
              <a:rPr lang="en-US" altLang="en-GB"/>
              <a:pPr/>
              <a:t>16</a:t>
            </a:fld>
            <a:endParaRPr lang="en-US" altLang="en-GB"/>
          </a:p>
        </p:txBody>
      </p:sp>
      <p:sp>
        <p:nvSpPr>
          <p:cNvPr id="31747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31749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753C3A32-8DA4-419D-A290-616DCE9438DE}" type="slidenum">
              <a:rPr lang="en-US" altLang="en-GB" sz="1200">
                <a:cs typeface="Arial" panose="020B0604020202020204" pitchFamily="34" charset="0"/>
              </a:rPr>
              <a:pPr algn="r"/>
              <a:t>16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15BD1C7-D0EC-4C14-8510-28BCFA9F2533}" type="slidenum">
              <a:rPr lang="en-US" altLang="en-GB"/>
              <a:pPr/>
              <a:t>17</a:t>
            </a:fld>
            <a:endParaRPr lang="en-US" altLang="en-GB"/>
          </a:p>
        </p:txBody>
      </p:sp>
      <p:sp>
        <p:nvSpPr>
          <p:cNvPr id="33795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33797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CCF82F49-128C-4CD3-87E6-D0E00B5E4CBE}" type="slidenum">
              <a:rPr lang="en-US" altLang="en-GB" sz="1200">
                <a:cs typeface="Arial" panose="020B0604020202020204" pitchFamily="34" charset="0"/>
              </a:rPr>
              <a:pPr algn="r"/>
              <a:t>17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4E66B4D-A37B-40A2-BAD7-0891B2FA7E49}" type="slidenum">
              <a:rPr lang="en-US" altLang="en-GB"/>
              <a:pPr/>
              <a:t>18</a:t>
            </a:fld>
            <a:endParaRPr lang="en-US" altLang="en-GB"/>
          </a:p>
        </p:txBody>
      </p:sp>
      <p:sp>
        <p:nvSpPr>
          <p:cNvPr id="35843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35845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FFF050FF-543E-4F24-A75E-E0EB092DFF9E}" type="slidenum">
              <a:rPr lang="en-US" altLang="en-GB" sz="1200">
                <a:cs typeface="Arial" panose="020B0604020202020204" pitchFamily="34" charset="0"/>
              </a:rPr>
              <a:pPr algn="r"/>
              <a:t>18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0240C2F-7400-4C46-B8E6-FF597D888794}" type="slidenum">
              <a:rPr lang="en-US" altLang="en-GB"/>
              <a:pPr/>
              <a:t>19</a:t>
            </a:fld>
            <a:endParaRPr lang="en-US" altLang="en-GB"/>
          </a:p>
        </p:txBody>
      </p:sp>
      <p:sp>
        <p:nvSpPr>
          <p:cNvPr id="37891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37893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0ACFEE23-C213-4F11-A257-C8A23775ED19}" type="slidenum">
              <a:rPr lang="en-US" altLang="en-GB" sz="1200">
                <a:cs typeface="Arial" panose="020B0604020202020204" pitchFamily="34" charset="0"/>
              </a:rPr>
              <a:pPr algn="r"/>
              <a:t>19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18AFD2-C6A5-41F2-AA6F-4FE2AB5717F3}" type="slidenum">
              <a:rPr lang="en-US" altLang="en-GB"/>
              <a:pPr/>
              <a:t>20</a:t>
            </a:fld>
            <a:endParaRPr lang="en-US" altLang="en-GB"/>
          </a:p>
        </p:txBody>
      </p:sp>
      <p:sp>
        <p:nvSpPr>
          <p:cNvPr id="39939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3994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43A92C93-D5E4-4805-A02A-EA7B892FB5D8}" type="slidenum">
              <a:rPr lang="en-US" altLang="en-GB" sz="1200">
                <a:cs typeface="Arial" panose="020B0604020202020204" pitchFamily="34" charset="0"/>
              </a:rPr>
              <a:pPr algn="r"/>
              <a:t>20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4D0F64A-E610-4455-92FD-F1E067BE2F41}" type="slidenum">
              <a:rPr lang="en-US" altLang="en-GB"/>
              <a:pPr/>
              <a:t>21</a:t>
            </a:fld>
            <a:endParaRPr lang="en-US" altLang="en-GB"/>
          </a:p>
        </p:txBody>
      </p:sp>
      <p:sp>
        <p:nvSpPr>
          <p:cNvPr id="41987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41989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7C9B15A6-EFAD-40EB-BDDE-37918B968585}" type="slidenum">
              <a:rPr lang="en-US" altLang="en-GB" sz="1200">
                <a:cs typeface="Arial" panose="020B0604020202020204" pitchFamily="34" charset="0"/>
              </a:rPr>
              <a:pPr algn="r"/>
              <a:t>21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69963BE-0C1B-4EBD-BC7B-3D60B9F4B2EC}" type="slidenum">
              <a:rPr lang="en-US" altLang="en-GB"/>
              <a:pPr/>
              <a:t>29</a:t>
            </a:fld>
            <a:endParaRPr lang="en-US" altLang="en-GB"/>
          </a:p>
        </p:txBody>
      </p:sp>
      <p:sp>
        <p:nvSpPr>
          <p:cNvPr id="51203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51205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732CF813-F5CB-4BDB-9F95-F26B75FFA9FD}" type="slidenum">
              <a:rPr lang="en-US" altLang="en-GB" sz="1200">
                <a:cs typeface="Arial" panose="020B0604020202020204" pitchFamily="34" charset="0"/>
              </a:rPr>
              <a:pPr algn="r"/>
              <a:t>29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B6B95B1-4035-4FBF-BEC7-AD1BF95BD275}" type="slidenum">
              <a:rPr lang="en-US" altLang="en-GB"/>
              <a:pPr/>
              <a:t>30</a:t>
            </a:fld>
            <a:endParaRPr lang="en-US" altLang="en-GB"/>
          </a:p>
        </p:txBody>
      </p:sp>
      <p:sp>
        <p:nvSpPr>
          <p:cNvPr id="53251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53253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5277CBE2-CBDC-4E5C-B020-E9A531CCA2F5}" type="slidenum">
              <a:rPr lang="en-US" altLang="en-GB" sz="1200">
                <a:cs typeface="Arial" panose="020B0604020202020204" pitchFamily="34" charset="0"/>
              </a:rPr>
              <a:pPr algn="r"/>
              <a:t>30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AF837D3-4798-4A9A-9B86-55A69FBE48A0}" type="slidenum">
              <a:rPr lang="en-US" altLang="en-GB"/>
              <a:pPr/>
              <a:t>33</a:t>
            </a:fld>
            <a:endParaRPr lang="en-US" altLang="en-GB"/>
          </a:p>
        </p:txBody>
      </p:sp>
      <p:sp>
        <p:nvSpPr>
          <p:cNvPr id="57347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57349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61F2DBB-D5DB-471F-B509-D86261631170}" type="slidenum">
              <a:rPr lang="en-US" altLang="en-GB" sz="1200">
                <a:cs typeface="Arial" panose="020B0604020202020204" pitchFamily="34" charset="0"/>
              </a:rPr>
              <a:pPr algn="r"/>
              <a:t>33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BA0F45B-7967-45BA-AC8C-5D5FD020C5E2}" type="slidenum">
              <a:rPr lang="en-US" altLang="en-GB"/>
              <a:pPr/>
              <a:t>34</a:t>
            </a:fld>
            <a:endParaRPr lang="en-US" altLang="en-GB"/>
          </a:p>
        </p:txBody>
      </p:sp>
      <p:sp>
        <p:nvSpPr>
          <p:cNvPr id="59395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59397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DB5C55C4-4E2E-4339-B457-B310A0F364BB}" type="slidenum">
              <a:rPr lang="en-US" altLang="en-GB" sz="1200">
                <a:cs typeface="Arial" panose="020B0604020202020204" pitchFamily="34" charset="0"/>
              </a:rPr>
              <a:pPr algn="r"/>
              <a:t>34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7ACE34B-106C-4CAF-844A-8FF3E4DCF4CF}" type="slidenum">
              <a:rPr lang="en-US" altLang="en-GB"/>
              <a:pPr/>
              <a:t>35</a:t>
            </a:fld>
            <a:endParaRPr lang="en-US" altLang="en-GB"/>
          </a:p>
        </p:txBody>
      </p:sp>
      <p:sp>
        <p:nvSpPr>
          <p:cNvPr id="61443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61445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B022C162-02AE-4ADE-8D01-A957D43B1CC9}" type="slidenum">
              <a:rPr lang="en-US" altLang="en-GB" sz="1200">
                <a:cs typeface="Arial" panose="020B0604020202020204" pitchFamily="34" charset="0"/>
              </a:rPr>
              <a:pPr algn="r"/>
              <a:t>35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FEC7324-A5B8-4694-89C6-FE17D12D3169}" type="slidenum">
              <a:rPr lang="en-US" altLang="en-GB"/>
              <a:pPr/>
              <a:t>36</a:t>
            </a:fld>
            <a:endParaRPr lang="en-US" altLang="en-GB"/>
          </a:p>
        </p:txBody>
      </p:sp>
      <p:sp>
        <p:nvSpPr>
          <p:cNvPr id="63491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63493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D7095FBC-C873-4888-B0B2-EC6AD026E80A}" type="slidenum">
              <a:rPr lang="en-US" altLang="en-GB" sz="1200">
                <a:cs typeface="Arial" panose="020B0604020202020204" pitchFamily="34" charset="0"/>
              </a:rPr>
              <a:pPr algn="r"/>
              <a:t>36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C18DF7-6A30-484B-AA88-197702DF3396}" type="slidenum">
              <a:rPr lang="en-US" altLang="en-GB"/>
              <a:pPr/>
              <a:t>37</a:t>
            </a:fld>
            <a:endParaRPr lang="en-US" altLang="en-GB"/>
          </a:p>
        </p:txBody>
      </p:sp>
      <p:sp>
        <p:nvSpPr>
          <p:cNvPr id="65539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6554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E8253E2-18CC-4A1D-B792-1C583F44EFF6}" type="slidenum">
              <a:rPr lang="en-US" altLang="en-GB" sz="1200">
                <a:cs typeface="Arial" panose="020B0604020202020204" pitchFamily="34" charset="0"/>
              </a:rPr>
              <a:pPr algn="r"/>
              <a:t>37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F33B3A8-123F-4710-BA7C-B7DCCB802BB6}" type="slidenum">
              <a:rPr lang="en-US" altLang="en-GB"/>
              <a:pPr/>
              <a:t>38</a:t>
            </a:fld>
            <a:endParaRPr lang="en-US" altLang="en-GB"/>
          </a:p>
        </p:txBody>
      </p:sp>
      <p:sp>
        <p:nvSpPr>
          <p:cNvPr id="67587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67589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889B3F28-F24E-4504-828B-1CDF86668C9C}" type="slidenum">
              <a:rPr lang="en-US" altLang="en-GB" sz="1200">
                <a:cs typeface="Arial" panose="020B0604020202020204" pitchFamily="34" charset="0"/>
              </a:rPr>
              <a:pPr algn="r"/>
              <a:t>38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38CEF70-999C-41C7-8B19-BBA04E808D20}" type="slidenum">
              <a:rPr lang="en-US" altLang="en-GB"/>
              <a:pPr/>
              <a:t>39</a:t>
            </a:fld>
            <a:endParaRPr lang="en-US" altLang="en-GB"/>
          </a:p>
        </p:txBody>
      </p:sp>
      <p:sp>
        <p:nvSpPr>
          <p:cNvPr id="69635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69637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0962F18F-7BDB-41A1-9013-BFC6B90B5B7E}" type="slidenum">
              <a:rPr lang="en-US" altLang="en-GB" sz="1200">
                <a:cs typeface="Arial" panose="020B0604020202020204" pitchFamily="34" charset="0"/>
              </a:rPr>
              <a:pPr algn="r"/>
              <a:t>39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E97FA95-57B9-41AA-A1F9-E335FD729CC1}" type="slidenum">
              <a:rPr lang="en-US" altLang="en-GB"/>
              <a:pPr/>
              <a:t>40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C461493-15CE-41A3-BB17-4A625F3C3BB9}" type="slidenum">
              <a:rPr lang="en-US" altLang="en-GB"/>
              <a:pPr/>
              <a:t>41</a:t>
            </a:fld>
            <a:endParaRPr lang="en-US" altLang="en-GB"/>
          </a:p>
        </p:txBody>
      </p:sp>
      <p:sp>
        <p:nvSpPr>
          <p:cNvPr id="73731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73733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447BC03A-C93F-45E0-B4A7-654E561BB26C}" type="slidenum">
              <a:rPr lang="en-US" altLang="en-GB" sz="1200">
                <a:cs typeface="Arial" panose="020B0604020202020204" pitchFamily="34" charset="0"/>
              </a:rPr>
              <a:pPr algn="r"/>
              <a:t>41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910939B-8E3B-4C6D-B17D-5D7300F64497}" type="slidenum">
              <a:rPr lang="en-US" altLang="en-GB"/>
              <a:pPr/>
              <a:t>42</a:t>
            </a:fld>
            <a:endParaRPr lang="en-US" altLang="en-GB"/>
          </a:p>
        </p:txBody>
      </p:sp>
      <p:sp>
        <p:nvSpPr>
          <p:cNvPr id="75779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7578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676CA6D-FE3C-40A1-936E-46E81142FF31}" type="slidenum">
              <a:rPr lang="en-US" altLang="en-GB" sz="1200">
                <a:cs typeface="Arial" panose="020B0604020202020204" pitchFamily="34" charset="0"/>
              </a:rPr>
              <a:pPr algn="r"/>
              <a:t>42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8E16B32-7395-4F29-A3E5-9F322A8119E2}" type="slidenum">
              <a:rPr lang="en-US" altLang="en-GB"/>
              <a:pPr/>
              <a:t>43</a:t>
            </a:fld>
            <a:endParaRPr lang="en-US" altLang="en-GB"/>
          </a:p>
        </p:txBody>
      </p:sp>
      <p:sp>
        <p:nvSpPr>
          <p:cNvPr id="77827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77829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31A975AA-D66E-4AD3-907F-A1A95A3BFB0D}" type="slidenum">
              <a:rPr lang="en-US" altLang="en-GB" sz="1200">
                <a:cs typeface="Arial" panose="020B0604020202020204" pitchFamily="34" charset="0"/>
              </a:rPr>
              <a:pPr algn="r"/>
              <a:t>43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4C4771A-9699-415C-97BD-7EDBE11D0813}" type="slidenum">
              <a:rPr lang="en-US" altLang="en-GB"/>
              <a:pPr/>
              <a:t>44</a:t>
            </a:fld>
            <a:endParaRPr lang="en-US" altLang="en-GB"/>
          </a:p>
        </p:txBody>
      </p:sp>
      <p:sp>
        <p:nvSpPr>
          <p:cNvPr id="79875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79877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8F377DBC-A5C2-49C1-B2F7-32E37943B80A}" type="slidenum">
              <a:rPr lang="en-US" altLang="en-GB" sz="1200">
                <a:cs typeface="Arial" panose="020B0604020202020204" pitchFamily="34" charset="0"/>
              </a:rPr>
              <a:pPr algn="r"/>
              <a:t>44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79C9DF4-10CC-4013-9E0C-F87C3D908B6D}" type="slidenum">
              <a:rPr lang="en-US" altLang="en-GB"/>
              <a:pPr/>
              <a:t>45</a:t>
            </a:fld>
            <a:endParaRPr lang="en-US" altLang="en-GB"/>
          </a:p>
        </p:txBody>
      </p:sp>
      <p:sp>
        <p:nvSpPr>
          <p:cNvPr id="81923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81925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4686B3E5-B1EF-4418-A166-9769F0704C0B}" type="slidenum">
              <a:rPr lang="en-US" altLang="en-GB" sz="1200">
                <a:cs typeface="Arial" panose="020B0604020202020204" pitchFamily="34" charset="0"/>
              </a:rPr>
              <a:pPr algn="r"/>
              <a:t>45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398AD25-B82C-427C-BFFC-8748802F5B8D}" type="slidenum">
              <a:rPr lang="en-US" altLang="en-GB"/>
              <a:pPr/>
              <a:t>46</a:t>
            </a:fld>
            <a:endParaRPr lang="en-US" altLang="en-GB"/>
          </a:p>
        </p:txBody>
      </p:sp>
      <p:sp>
        <p:nvSpPr>
          <p:cNvPr id="83971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83973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4C429B6C-47D7-4571-9334-D93AF8651B04}" type="slidenum">
              <a:rPr lang="en-US" altLang="en-GB" sz="1200">
                <a:cs typeface="Arial" panose="020B0604020202020204" pitchFamily="34" charset="0"/>
              </a:rPr>
              <a:pPr algn="r"/>
              <a:t>46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D18EAB4-FD4F-47AC-8F15-D37EF9039684}" type="slidenum">
              <a:rPr lang="en-US" altLang="en-GB"/>
              <a:pPr/>
              <a:t>47</a:t>
            </a:fld>
            <a:endParaRPr lang="en-US" altLang="en-GB"/>
          </a:p>
        </p:txBody>
      </p:sp>
      <p:sp>
        <p:nvSpPr>
          <p:cNvPr id="86019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8602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BE7E7744-4B0E-4F09-BEBD-A7B81A6163D9}" type="slidenum">
              <a:rPr lang="en-US" altLang="en-GB" sz="1200">
                <a:cs typeface="Arial" panose="020B0604020202020204" pitchFamily="34" charset="0"/>
              </a:rPr>
              <a:pPr algn="r"/>
              <a:t>47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FF2BCE4-AF8A-4D22-B02D-852F070D9DAE}" type="slidenum">
              <a:rPr lang="en-US" altLang="en-GB"/>
              <a:pPr/>
              <a:t>48</a:t>
            </a:fld>
            <a:endParaRPr lang="en-US" altLang="en-GB"/>
          </a:p>
        </p:txBody>
      </p:sp>
      <p:sp>
        <p:nvSpPr>
          <p:cNvPr id="88067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88069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817B453C-39B3-4826-9546-E7732555D486}" type="slidenum">
              <a:rPr lang="en-US" altLang="en-GB" sz="1200">
                <a:cs typeface="Arial" panose="020B0604020202020204" pitchFamily="34" charset="0"/>
              </a:rPr>
              <a:pPr algn="r"/>
              <a:t>48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E2B574A-1B9D-40DA-81FE-FCE3DD8217FE}" type="slidenum">
              <a:rPr lang="en-US" altLang="en-GB"/>
              <a:pPr/>
              <a:t>49</a:t>
            </a:fld>
            <a:endParaRPr lang="en-US" altLang="en-GB"/>
          </a:p>
        </p:txBody>
      </p:sp>
      <p:sp>
        <p:nvSpPr>
          <p:cNvPr id="90115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90117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60C76AE-D038-499B-9D4C-8A9A3D569E4E}" type="slidenum">
              <a:rPr lang="en-US" altLang="en-GB" sz="1200">
                <a:cs typeface="Arial" panose="020B0604020202020204" pitchFamily="34" charset="0"/>
              </a:rPr>
              <a:pPr algn="r"/>
              <a:t>49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1DC7726-C813-4859-93B9-C3D026EAC0B5}" type="slidenum">
              <a:rPr lang="en-US" altLang="en-GB"/>
              <a:pPr/>
              <a:t>50</a:t>
            </a:fld>
            <a:endParaRPr lang="en-US" altLang="en-GB"/>
          </a:p>
        </p:txBody>
      </p:sp>
      <p:sp>
        <p:nvSpPr>
          <p:cNvPr id="92163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92165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780E63CC-1A90-476A-8BD8-ABE87E66E042}" type="slidenum">
              <a:rPr lang="en-US" altLang="en-GB" sz="1200">
                <a:cs typeface="Arial" panose="020B0604020202020204" pitchFamily="34" charset="0"/>
              </a:rPr>
              <a:pPr algn="r"/>
              <a:t>50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D8A2AC-8127-4F1B-B984-19B38813441C}" type="slidenum">
              <a:rPr lang="en-US" altLang="en-GB"/>
              <a:pPr/>
              <a:t>51</a:t>
            </a:fld>
            <a:endParaRPr lang="en-US" altLang="en-GB"/>
          </a:p>
        </p:txBody>
      </p:sp>
      <p:sp>
        <p:nvSpPr>
          <p:cNvPr id="94211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94213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316EDC97-966A-48FD-9E80-1BF3985638FD}" type="slidenum">
              <a:rPr lang="en-US" altLang="en-GB" sz="1200">
                <a:cs typeface="Arial" panose="020B0604020202020204" pitchFamily="34" charset="0"/>
              </a:rPr>
              <a:pPr algn="r"/>
              <a:t>51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A341441-397F-4F2F-9470-3160B1861F83}" type="slidenum">
              <a:rPr lang="en-US" altLang="en-GB"/>
              <a:pPr/>
              <a:t>52</a:t>
            </a:fld>
            <a:endParaRPr lang="en-US" altLang="en-GB"/>
          </a:p>
        </p:txBody>
      </p:sp>
      <p:sp>
        <p:nvSpPr>
          <p:cNvPr id="96259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9626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F1BFCDDF-23E1-409E-AD0E-3A364D07EE74}" type="slidenum">
              <a:rPr lang="en-US" altLang="en-GB" sz="1200">
                <a:cs typeface="Arial" panose="020B0604020202020204" pitchFamily="34" charset="0"/>
              </a:rPr>
              <a:pPr algn="r"/>
              <a:t>52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776B9E2-496B-4397-A364-9185E5A777F0}" type="slidenum">
              <a:rPr lang="en-US" altLang="en-GB"/>
              <a:pPr/>
              <a:t>53</a:t>
            </a:fld>
            <a:endParaRPr lang="en-US" altLang="en-GB"/>
          </a:p>
        </p:txBody>
      </p:sp>
      <p:sp>
        <p:nvSpPr>
          <p:cNvPr id="98307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98309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F68D8B70-F9D6-4EF5-946A-C9299649945E}" type="slidenum">
              <a:rPr lang="en-US" altLang="en-GB" sz="1200">
                <a:cs typeface="Arial" panose="020B0604020202020204" pitchFamily="34" charset="0"/>
              </a:rPr>
              <a:pPr algn="r"/>
              <a:t>53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5735EB6-710A-4F16-B82B-CEEC7C1220F0}" type="slidenum">
              <a:rPr lang="en-US" altLang="en-GB"/>
              <a:pPr/>
              <a:t>54</a:t>
            </a:fld>
            <a:endParaRPr lang="en-US" altLang="en-GB"/>
          </a:p>
        </p:txBody>
      </p:sp>
      <p:sp>
        <p:nvSpPr>
          <p:cNvPr id="100355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00357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0A41A1D-DCC0-4151-89BD-30D120790DF2}" type="slidenum">
              <a:rPr lang="en-US" altLang="en-GB" sz="1200">
                <a:cs typeface="Arial" panose="020B0604020202020204" pitchFamily="34" charset="0"/>
              </a:rPr>
              <a:pPr algn="r"/>
              <a:t>54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12FBE5D-0851-436C-B8AC-9D8CA7796260}" type="slidenum">
              <a:rPr lang="en-US" altLang="en-GB"/>
              <a:pPr/>
              <a:t>55</a:t>
            </a:fld>
            <a:endParaRPr lang="en-US" altLang="en-GB"/>
          </a:p>
        </p:txBody>
      </p:sp>
      <p:sp>
        <p:nvSpPr>
          <p:cNvPr id="102403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02405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F55C8867-240F-45F5-88A9-AD40AE8F6FC6}" type="slidenum">
              <a:rPr lang="en-US" altLang="en-GB" sz="1200">
                <a:cs typeface="Arial" panose="020B0604020202020204" pitchFamily="34" charset="0"/>
              </a:rPr>
              <a:pPr algn="r"/>
              <a:t>55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CBA14D5-E1C3-4439-A270-B3C6095CBF88}" type="slidenum">
              <a:rPr lang="en-US" altLang="en-GB"/>
              <a:pPr/>
              <a:t>56</a:t>
            </a:fld>
            <a:endParaRPr lang="en-US" altLang="en-GB"/>
          </a:p>
        </p:txBody>
      </p:sp>
      <p:sp>
        <p:nvSpPr>
          <p:cNvPr id="104451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04453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44DAE5A9-9324-42E0-AB87-1D81402CA893}" type="slidenum">
              <a:rPr lang="en-US" altLang="en-GB" sz="1200">
                <a:cs typeface="Arial" panose="020B0604020202020204" pitchFamily="34" charset="0"/>
              </a:rPr>
              <a:pPr algn="r"/>
              <a:t>56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BB210DA-DB68-4936-8AF8-2FA51700EAD7}" type="slidenum">
              <a:rPr lang="en-US" altLang="en-GB"/>
              <a:pPr/>
              <a:t>57</a:t>
            </a:fld>
            <a:endParaRPr lang="en-US" altLang="en-GB"/>
          </a:p>
        </p:txBody>
      </p:sp>
      <p:sp>
        <p:nvSpPr>
          <p:cNvPr id="106499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0650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E869E026-EB1B-4003-8850-A9B86F31D5F6}" type="slidenum">
              <a:rPr lang="en-US" altLang="en-GB" sz="1200">
                <a:cs typeface="Arial" panose="020B0604020202020204" pitchFamily="34" charset="0"/>
              </a:rPr>
              <a:pPr algn="r"/>
              <a:t>57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C5F973-0A5B-4CA3-BA03-C36EC05F0853}" type="slidenum">
              <a:rPr lang="en-US" altLang="en-GB"/>
              <a:pPr/>
              <a:t>58</a:t>
            </a:fld>
            <a:endParaRPr lang="en-US" altLang="en-GB"/>
          </a:p>
        </p:txBody>
      </p:sp>
      <p:sp>
        <p:nvSpPr>
          <p:cNvPr id="108547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08549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7AEA2194-61BA-48C8-8519-04DC8A073A4C}" type="slidenum">
              <a:rPr lang="en-US" altLang="en-GB" sz="1200">
                <a:cs typeface="Arial" panose="020B0604020202020204" pitchFamily="34" charset="0"/>
              </a:rPr>
              <a:pPr algn="r"/>
              <a:t>58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8F9A5A7-84F6-49DF-B521-D30941471C7F}" type="slidenum">
              <a:rPr lang="en-US" altLang="en-GB"/>
              <a:pPr/>
              <a:t>59</a:t>
            </a:fld>
            <a:endParaRPr lang="en-US" altLang="en-GB"/>
          </a:p>
        </p:txBody>
      </p:sp>
      <p:sp>
        <p:nvSpPr>
          <p:cNvPr id="110595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10597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F924C45-2E88-48E7-B3E2-969E468AEDB0}" type="slidenum">
              <a:rPr lang="en-US" altLang="en-GB" sz="1200">
                <a:cs typeface="Arial" panose="020B0604020202020204" pitchFamily="34" charset="0"/>
              </a:rPr>
              <a:pPr algn="r"/>
              <a:t>59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559D4F4-A7FC-4078-9D43-E0E09F251E4F}" type="slidenum">
              <a:rPr lang="en-US" altLang="en-GB"/>
              <a:pPr/>
              <a:t>60</a:t>
            </a:fld>
            <a:endParaRPr lang="en-US" altLang="en-GB"/>
          </a:p>
        </p:txBody>
      </p:sp>
      <p:sp>
        <p:nvSpPr>
          <p:cNvPr id="112643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12645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23CFAA8-B7C2-4D9A-A7DA-4507233B53BC}" type="slidenum">
              <a:rPr lang="en-US" altLang="en-GB" sz="1200">
                <a:cs typeface="Arial" panose="020B0604020202020204" pitchFamily="34" charset="0"/>
              </a:rPr>
              <a:pPr algn="r"/>
              <a:t>60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44922A9-EBC4-4C7C-B2F2-13C762AB78FD}" type="slidenum">
              <a:rPr lang="en-US" altLang="en-GB"/>
              <a:pPr/>
              <a:t>61</a:t>
            </a:fld>
            <a:endParaRPr lang="en-US" altLang="en-GB"/>
          </a:p>
        </p:txBody>
      </p:sp>
      <p:sp>
        <p:nvSpPr>
          <p:cNvPr id="114691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14693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D434EA4-A04B-4017-B2B9-92B00BC725F8}" type="slidenum">
              <a:rPr lang="en-US" altLang="en-GB" sz="1200">
                <a:cs typeface="Arial" panose="020B0604020202020204" pitchFamily="34" charset="0"/>
              </a:rPr>
              <a:pPr algn="r"/>
              <a:t>61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0BB1F09-771D-4E60-8265-23FE9208C1D6}" type="slidenum">
              <a:rPr lang="en-US" altLang="en-GB"/>
              <a:pPr/>
              <a:t>62</a:t>
            </a:fld>
            <a:endParaRPr lang="en-US" altLang="en-GB"/>
          </a:p>
        </p:txBody>
      </p:sp>
      <p:sp>
        <p:nvSpPr>
          <p:cNvPr id="116739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16741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FFD96F2E-35A4-4C24-A0DB-9FDEE24667B7}" type="slidenum">
              <a:rPr lang="en-US" altLang="en-GB" sz="1200">
                <a:cs typeface="Arial" panose="020B0604020202020204" pitchFamily="34" charset="0"/>
              </a:rPr>
              <a:pPr algn="r"/>
              <a:t>62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F5A1573-41D6-47F2-94A6-60CDCF9F9DF7}" type="slidenum">
              <a:rPr lang="en-US" altLang="en-GB"/>
              <a:pPr/>
              <a:t>63</a:t>
            </a:fld>
            <a:endParaRPr lang="en-US" altLang="en-GB"/>
          </a:p>
        </p:txBody>
      </p:sp>
      <p:sp>
        <p:nvSpPr>
          <p:cNvPr id="118787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18789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7F7483F9-8948-48AD-97FF-EC22FC9F1BCF}" type="slidenum">
              <a:rPr lang="en-US" altLang="en-GB" sz="1200">
                <a:cs typeface="Arial" panose="020B0604020202020204" pitchFamily="34" charset="0"/>
              </a:rPr>
              <a:pPr algn="r"/>
              <a:t>63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66627C5-225F-4F29-BF73-4E9CB777EA3B}" type="slidenum">
              <a:rPr lang="en-US" altLang="en-GB"/>
              <a:pPr/>
              <a:t>64</a:t>
            </a:fld>
            <a:endParaRPr lang="en-US" altLang="en-GB"/>
          </a:p>
        </p:txBody>
      </p:sp>
      <p:sp>
        <p:nvSpPr>
          <p:cNvPr id="120835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20837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8A2EB6BC-67BD-4628-8C45-11D1D8854DC8}" type="slidenum">
              <a:rPr lang="en-US" altLang="en-GB" sz="1200">
                <a:cs typeface="Arial" panose="020B0604020202020204" pitchFamily="34" charset="0"/>
              </a:rPr>
              <a:pPr algn="r"/>
              <a:t>64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14AF4D5-3AA9-43D5-969C-AFD5E54DD560}" type="slidenum">
              <a:rPr lang="en-US" altLang="en-GB"/>
              <a:pPr/>
              <a:t>65</a:t>
            </a:fld>
            <a:endParaRPr lang="en-US" altLang="en-GB"/>
          </a:p>
        </p:txBody>
      </p:sp>
      <p:sp>
        <p:nvSpPr>
          <p:cNvPr id="122883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22885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869EC56A-2FDA-4422-96C3-754D92A02D01}" type="slidenum">
              <a:rPr lang="en-US" altLang="en-GB" sz="1200">
                <a:cs typeface="Arial" panose="020B0604020202020204" pitchFamily="34" charset="0"/>
              </a:rPr>
              <a:pPr algn="r"/>
              <a:t>65</a:t>
            </a:fld>
            <a:endParaRPr lang="en-US" altLang="en-GB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1, 2015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AB930A-F241-4DC3-8B6D-DF238E0ED1C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188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1, 2015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4B3220-A716-4146-911D-8695569F7B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0846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1, 2015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EC30B1-7C57-4090-BC60-FC7524DD0A2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2567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1, 2015</a:t>
            </a: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0F2A9-1A77-4BEA-8426-2320DE2ACE3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9984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1, 2015</a:t>
            </a:r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CCBA07-2039-4552-B7CF-83C9E9BA93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8060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1, 2015</a:t>
            </a:r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72ADD5-99A0-4B04-A7D4-840FB5B32F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5300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1, 2015</a:t>
            </a:r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81C68D-7046-4E24-A57F-FD79DA829B6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4034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1, 2015</a:t>
            </a: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78A80A-12BE-480F-A1C4-009F9E2B5B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1779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1, 2015</a:t>
            </a: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E42B6A-C932-4C9B-881E-CF1F56A1F0E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2242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1, 2015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C2E71E-7C05-49EC-867B-12E51635D37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6147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1, 2015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DA2D7-949E-45D9-B700-4E56B8033D0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2240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GB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GB" smtClean="0"/>
              <a:t>Click to edit Master text styles</a:t>
            </a:r>
          </a:p>
          <a:p>
            <a:pPr lvl="1"/>
            <a:r>
              <a:rPr lang="en-US" altLang="en-GB" smtClean="0"/>
              <a:t>Second level</a:t>
            </a:r>
          </a:p>
          <a:p>
            <a:pPr lvl="2"/>
            <a:r>
              <a:rPr lang="en-US" altLang="en-GB" smtClean="0"/>
              <a:t>Third level</a:t>
            </a:r>
          </a:p>
          <a:p>
            <a:pPr lvl="3"/>
            <a:r>
              <a:rPr lang="en-US" altLang="en-GB" smtClean="0"/>
              <a:t>Fourth level</a:t>
            </a:r>
          </a:p>
          <a:p>
            <a:pPr lvl="4"/>
            <a:r>
              <a:rPr lang="en-US" altLang="en-GB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Oct 1, 2015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C7E6D994-5A21-4469-AB22-F20EFFFE6A0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  <p:sldLayoutId id="2147483927" r:id="rId2"/>
    <p:sldLayoutId id="2147483928" r:id="rId3"/>
    <p:sldLayoutId id="2147483929" r:id="rId4"/>
    <p:sldLayoutId id="2147483930" r:id="rId5"/>
    <p:sldLayoutId id="2147483931" r:id="rId6"/>
    <p:sldLayoutId id="2147483932" r:id="rId7"/>
    <p:sldLayoutId id="2147483933" r:id="rId8"/>
    <p:sldLayoutId id="2147483934" r:id="rId9"/>
    <p:sldLayoutId id="2147483935" r:id="rId10"/>
    <p:sldLayoutId id="2147483936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6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GB" smtClean="0"/>
              <a:t>Theory of Automata</a:t>
            </a:r>
            <a:br>
              <a:rPr lang="en-US" altLang="en-GB" smtClean="0"/>
            </a:br>
            <a:r>
              <a:rPr lang="en-US" altLang="en-GB" smtClean="0"/>
              <a:t> Context Free Grammars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9"/>
              </a:buClr>
              <a:buSzPts val="2500"/>
              <a:defRPr/>
            </a:pPr>
            <a:r>
              <a:rPr lang="en-US" sz="2400">
                <a:solidFill>
                  <a:srgbClr val="898989"/>
                </a:solidFill>
                <a:ea typeface="Calibri"/>
                <a:cs typeface="Calibri"/>
                <a:sym typeface="Calibri"/>
              </a:rPr>
              <a:t>Week </a:t>
            </a:r>
            <a:r>
              <a:rPr lang="en-US" sz="2400" dirty="0">
                <a:solidFill>
                  <a:srgbClr val="898989"/>
                </a:solidFill>
                <a:ea typeface="Calibri"/>
                <a:cs typeface="Calibri"/>
                <a:sym typeface="Calibri"/>
              </a:rPr>
              <a:t>7</a:t>
            </a:r>
            <a:endParaRPr 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Languages (concepts/Algorithms/Pseudocode)</a:t>
            </a:r>
          </a:p>
          <a:p>
            <a:pPr lvl="1">
              <a:defRPr/>
            </a:pPr>
            <a:r>
              <a:rPr lang="en-US" dirty="0"/>
              <a:t>Regular</a:t>
            </a:r>
          </a:p>
          <a:p>
            <a:pPr lvl="1">
              <a:defRPr/>
            </a:pPr>
            <a:r>
              <a:rPr lang="en-US" dirty="0"/>
              <a:t>Non-regular</a:t>
            </a:r>
          </a:p>
          <a:p>
            <a:pPr lvl="2">
              <a:defRPr/>
            </a:pPr>
            <a:r>
              <a:rPr lang="en-US" dirty="0"/>
              <a:t>Context Free Languages</a:t>
            </a:r>
          </a:p>
          <a:p>
            <a:pPr marL="457200" lvl="1" indent="0">
              <a:buFont typeface="Arial" panose="020B0604020202020204" pitchFamily="34" charset="0"/>
              <a:buNone/>
              <a:defRPr/>
            </a:pPr>
            <a:r>
              <a:rPr lang="en-US" dirty="0"/>
              <a:t>Regular vs Context Free  </a:t>
            </a:r>
          </a:p>
          <a:p>
            <a:pPr marL="457200" lvl="1" indent="0">
              <a:buFont typeface="Arial" panose="020B0604020202020204" pitchFamily="34" charset="0"/>
              <a:buNone/>
              <a:defRPr/>
            </a:pPr>
            <a:r>
              <a:rPr lang="en-US" dirty="0"/>
              <a:t>Context Free CFL is a bigger set, and regular RL is a subset.</a:t>
            </a:r>
          </a:p>
          <a:p>
            <a:pPr marL="457200" lvl="1" indent="0">
              <a:buFont typeface="Arial" panose="020B0604020202020204" pitchFamily="34" charset="0"/>
              <a:buNone/>
              <a:defRPr/>
            </a:pPr>
            <a:r>
              <a:rPr lang="en-US" dirty="0"/>
              <a:t>CFL: bigger set, have more languages, more power,</a:t>
            </a:r>
          </a:p>
          <a:p>
            <a:pPr marL="457200" lvl="1" indent="0">
              <a:buFont typeface="Arial" panose="020B0604020202020204" pitchFamily="34" charset="0"/>
              <a:buNone/>
              <a:defRPr/>
            </a:pPr>
            <a:r>
              <a:rPr lang="en-US" dirty="0"/>
              <a:t>e.g. palindrome, </a:t>
            </a:r>
            <a:r>
              <a:rPr lang="en-US" dirty="0" err="1"/>
              <a:t>a</a:t>
            </a:r>
            <a:r>
              <a:rPr lang="en-US" baseline="30000" dirty="0" err="1"/>
              <a:t>n</a:t>
            </a:r>
            <a:r>
              <a:rPr lang="en-US" dirty="0" err="1"/>
              <a:t>b</a:t>
            </a:r>
            <a:r>
              <a:rPr lang="en-US" baseline="30000" dirty="0" err="1"/>
              <a:t>n</a:t>
            </a:r>
            <a:endParaRPr lang="en-PK" baseline="30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5125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43FF753-BD38-4ADC-ACA0-DCDC4CEE5CF6}" type="slidenum">
              <a:rPr lang="en-US" altLang="en-US">
                <a:solidFill>
                  <a:srgbClr val="898989"/>
                </a:solidFill>
              </a:rPr>
              <a:pPr/>
              <a:t>2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CFL cover that RL do not cover and also cover what RL cover.</a:t>
            </a:r>
          </a:p>
          <a:p>
            <a:r>
              <a:rPr lang="en-US" altLang="en-US" smtClean="0"/>
              <a:t>Since RL is a subset of CFL, so any language that is part of RL is always part of CFL</a:t>
            </a:r>
          </a:p>
          <a:p>
            <a:r>
              <a:rPr lang="en-US" altLang="en-US" smtClean="0"/>
              <a:t>E.g BiggerSet = {1,2,3,4}</a:t>
            </a:r>
          </a:p>
          <a:p>
            <a:r>
              <a:rPr lang="en-US" altLang="en-US" smtClean="0"/>
              <a:t>Subset = {3}</a:t>
            </a:r>
            <a:endParaRPr lang="en-GB" altLang="en-US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149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59EF832-A0B1-46BA-AA9D-62D0FE77030A}" type="slidenum">
              <a:rPr lang="en-US" altLang="en-US">
                <a:solidFill>
                  <a:srgbClr val="898989"/>
                </a:solidFill>
              </a:rPr>
              <a:pPr/>
              <a:t>3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 smtClean="0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RL:</a:t>
            </a:r>
          </a:p>
          <a:p>
            <a:pPr lvl="1"/>
            <a:r>
              <a:rPr lang="en-US" altLang="en-US" smtClean="0"/>
              <a:t>FA/RE/TG/</a:t>
            </a:r>
          </a:p>
          <a:p>
            <a:r>
              <a:rPr lang="en-US" altLang="en-US" smtClean="0"/>
              <a:t>CFL:</a:t>
            </a:r>
          </a:p>
          <a:p>
            <a:pPr lvl="1"/>
            <a:r>
              <a:rPr lang="en-US" altLang="en-US" smtClean="0"/>
              <a:t>CFG/PDA</a:t>
            </a:r>
          </a:p>
          <a:p>
            <a:pPr lvl="1"/>
            <a:r>
              <a:rPr lang="en-US" altLang="en-US" smtClean="0"/>
              <a:t>Context Free Grammar / Pushdown Automata</a:t>
            </a:r>
            <a:endParaRPr lang="en-GB" altLang="en-US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7173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8A94F43-0A66-4151-B0D3-EE4DC53743C4}" type="slidenum">
              <a:rPr lang="en-US" altLang="en-US">
                <a:solidFill>
                  <a:srgbClr val="898989"/>
                </a:solidFill>
              </a:rPr>
              <a:pPr/>
              <a:t>4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69101C4-CB21-4348-8927-AEE62FB12125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8195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Contents</a:t>
            </a:r>
          </a:p>
        </p:txBody>
      </p:sp>
      <p:sp>
        <p:nvSpPr>
          <p:cNvPr id="8196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GB" sz="2600" smtClean="0"/>
              <a:t>Syntax As a Method for Defining Languages</a:t>
            </a:r>
          </a:p>
          <a:p>
            <a:pPr eaLnBrk="1" hangingPunct="1"/>
            <a:r>
              <a:rPr lang="en-US" altLang="en-GB" sz="2600" smtClean="0"/>
              <a:t>Symbolism for Generative Grammars</a:t>
            </a:r>
          </a:p>
          <a:p>
            <a:pPr eaLnBrk="1" hangingPunct="1"/>
            <a:r>
              <a:rPr lang="en-US" altLang="en-GB" sz="2600" smtClean="0"/>
              <a:t>Trees</a:t>
            </a:r>
          </a:p>
          <a:p>
            <a:pPr eaLnBrk="1" hangingPunct="1"/>
            <a:r>
              <a:rPr lang="en-US" altLang="en-GB" sz="2600" smtClean="0"/>
              <a:t>Lukasiewicz Notation</a:t>
            </a:r>
          </a:p>
          <a:p>
            <a:pPr eaLnBrk="1" hangingPunct="1"/>
            <a:r>
              <a:rPr lang="en-US" altLang="en-GB" sz="2600" smtClean="0"/>
              <a:t>Ambiguity</a:t>
            </a:r>
          </a:p>
          <a:p>
            <a:pPr eaLnBrk="1" hangingPunct="1"/>
            <a:r>
              <a:rPr lang="en-US" altLang="en-GB" sz="2600" smtClean="0"/>
              <a:t>The Total Language Tree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45D847-FCF1-48AF-9159-F3460E1ACC81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0243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Context Free Grammars</a:t>
            </a:r>
          </a:p>
        </p:txBody>
      </p:sp>
      <p:sp>
        <p:nvSpPr>
          <p:cNvPr id="10244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sz="2600" smtClean="0"/>
              <a:t>Three fundamental areas covered in the book are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US" altLang="en-GB" sz="2000" smtClean="0"/>
              <a:t>1. </a:t>
            </a:r>
            <a:r>
              <a:rPr lang="en-US" altLang="en-GB" sz="2000" b="1" smtClean="0"/>
              <a:t>Theory of Automata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US" altLang="en-GB" sz="2000" smtClean="0"/>
              <a:t>2. </a:t>
            </a:r>
            <a:r>
              <a:rPr lang="en-US" altLang="en-GB" sz="2000" b="1" smtClean="0"/>
              <a:t>Theory of Formal Languages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US" altLang="en-GB" sz="2000" smtClean="0"/>
              <a:t>3. </a:t>
            </a:r>
            <a:r>
              <a:rPr lang="en-US" altLang="en-GB" sz="2000" b="1" smtClean="0"/>
              <a:t>Theory of Turing Machines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endParaRPr lang="en-US" altLang="en-GB" sz="2000" b="1" smtClean="0"/>
          </a:p>
          <a:p>
            <a:pPr algn="just" eaLnBrk="1" hangingPunct="1"/>
            <a:r>
              <a:rPr lang="en-US" altLang="en-GB" sz="2600" smtClean="0"/>
              <a:t>We have completed the first area.</a:t>
            </a:r>
          </a:p>
          <a:p>
            <a:pPr algn="just" eaLnBrk="1" hangingPunct="1"/>
            <a:endParaRPr lang="en-US" altLang="en-GB" sz="2600" smtClean="0"/>
          </a:p>
          <a:p>
            <a:pPr algn="just" eaLnBrk="1" hangingPunct="1"/>
            <a:r>
              <a:rPr lang="en-US" altLang="en-GB" sz="2600" smtClean="0"/>
              <a:t>We begin exploring the second area in this chapter.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D360779-65C4-42D8-8F1E-D7CD52E34031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800"/>
              <a:t>Syntax as a Method for Defining Languages</a:t>
            </a:r>
          </a:p>
        </p:txBody>
      </p:sp>
      <p:sp>
        <p:nvSpPr>
          <p:cNvPr id="12292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In Chapter 3 we recursively defined the set of valid arithmetic expressions as follows: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smtClean="0"/>
              <a:t>		Rule 1: Any number is in the set AE.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smtClean="0"/>
              <a:t>		Rule 2: If x and y are in AE, then so are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smtClean="0"/>
              <a:t>		(x),  -(x), (x + y),  (x - y),  (x * y),  (x/y),  (x ** y)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smtClean="0"/>
              <a:t>   where ** is our notation for exponentiation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Note that we use parentheses around every component factor to avoid ambiguity expressions such as 3 + 4 - 5 and 8/4/2.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There is a different way for defining the set AE: </a:t>
            </a:r>
            <a:r>
              <a:rPr lang="en-US" altLang="en-GB" sz="2200" b="1" smtClean="0"/>
              <a:t>using a set of substitution rules similar to the grammatical rules</a:t>
            </a:r>
            <a:r>
              <a:rPr lang="en-US" altLang="en-GB" sz="2200" smtClean="0"/>
              <a:t>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220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E03B8CD-CB79-457E-AD8E-FB3D2F11CAF8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4339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Defining AE by substitution rules</a:t>
            </a:r>
          </a:p>
        </p:txBody>
      </p:sp>
      <p:sp>
        <p:nvSpPr>
          <p:cNvPr id="14340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GB" sz="2600" smtClean="0"/>
              <a:t>Start </a:t>
            </a:r>
            <a:r>
              <a:rPr lang="en-US" altLang="en-GB" sz="2600" smtClean="0">
                <a:cs typeface="Arial" panose="020B0604020202020204" pitchFamily="34" charset="0"/>
              </a:rPr>
              <a:t>→</a:t>
            </a:r>
            <a:r>
              <a:rPr lang="en-US" altLang="en-GB" sz="2600" smtClean="0"/>
              <a:t> AE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AE </a:t>
            </a:r>
            <a:r>
              <a:rPr lang="en-US" altLang="en-GB" sz="2200" smtClean="0">
                <a:cs typeface="Arial" panose="020B0604020202020204" pitchFamily="34" charset="0"/>
              </a:rPr>
              <a:t>→</a:t>
            </a:r>
            <a:r>
              <a:rPr lang="en-US" altLang="en-GB" sz="2200" smtClean="0"/>
              <a:t> (AE + AE)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AE </a:t>
            </a:r>
            <a:r>
              <a:rPr lang="en-US" altLang="en-GB" sz="2200" smtClean="0">
                <a:cs typeface="Arial" panose="020B0604020202020204" pitchFamily="34" charset="0"/>
              </a:rPr>
              <a:t>→</a:t>
            </a:r>
            <a:r>
              <a:rPr lang="en-US" altLang="en-GB" sz="2200" smtClean="0"/>
              <a:t> (AE - AE)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AE </a:t>
            </a:r>
            <a:r>
              <a:rPr lang="en-US" altLang="en-GB" sz="2200" smtClean="0">
                <a:cs typeface="Arial" panose="020B0604020202020204" pitchFamily="34" charset="0"/>
              </a:rPr>
              <a:t>→</a:t>
            </a:r>
            <a:r>
              <a:rPr lang="en-US" altLang="en-GB" sz="2200" smtClean="0"/>
              <a:t> (AE * AE)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AE </a:t>
            </a:r>
            <a:r>
              <a:rPr lang="en-US" altLang="en-GB" sz="2200" smtClean="0">
                <a:cs typeface="Arial" panose="020B0604020202020204" pitchFamily="34" charset="0"/>
              </a:rPr>
              <a:t>→</a:t>
            </a:r>
            <a:r>
              <a:rPr lang="en-US" altLang="en-GB" sz="2200" smtClean="0"/>
              <a:t> (AE/AE)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AE </a:t>
            </a:r>
            <a:r>
              <a:rPr lang="en-US" altLang="en-GB" sz="2200" smtClean="0">
                <a:cs typeface="Arial" panose="020B0604020202020204" pitchFamily="34" charset="0"/>
              </a:rPr>
              <a:t>→</a:t>
            </a:r>
            <a:r>
              <a:rPr lang="en-US" altLang="en-GB" sz="2200" smtClean="0"/>
              <a:t> (AE ** AE)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AE </a:t>
            </a:r>
            <a:r>
              <a:rPr lang="en-US" altLang="en-GB" sz="2200" smtClean="0">
                <a:cs typeface="Arial" panose="020B0604020202020204" pitchFamily="34" charset="0"/>
              </a:rPr>
              <a:t>→</a:t>
            </a:r>
            <a:r>
              <a:rPr lang="en-US" altLang="en-GB" sz="2200" smtClean="0"/>
              <a:t> (AE)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AE </a:t>
            </a:r>
            <a:r>
              <a:rPr lang="en-US" altLang="en-GB" sz="2200" smtClean="0">
                <a:cs typeface="Arial" panose="020B0604020202020204" pitchFamily="34" charset="0"/>
              </a:rPr>
              <a:t>→</a:t>
            </a:r>
            <a:r>
              <a:rPr lang="en-US" altLang="en-GB" sz="2200" smtClean="0"/>
              <a:t> -(AE)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AE </a:t>
            </a:r>
            <a:r>
              <a:rPr lang="en-US" altLang="en-GB" sz="2200" smtClean="0">
                <a:cs typeface="Arial" panose="020B0604020202020204" pitchFamily="34" charset="0"/>
              </a:rPr>
              <a:t>→</a:t>
            </a:r>
            <a:r>
              <a:rPr lang="en-US" altLang="en-GB" sz="2200" smtClean="0"/>
              <a:t> 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18298C6-3C1A-42C5-A2B1-275210C17A9E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6387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Example</a:t>
            </a:r>
          </a:p>
        </p:txBody>
      </p:sp>
      <p:sp>
        <p:nvSpPr>
          <p:cNvPr id="16388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sz="2600" smtClean="0"/>
              <a:t>We will show that ((3 + 4) * (6 + 7)) is in AE</a:t>
            </a:r>
          </a:p>
          <a:p>
            <a:pPr algn="just" eaLnBrk="1" hangingPunct="1"/>
            <a:endParaRPr lang="en-US" altLang="en-GB" sz="2600" smtClean="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600" smtClean="0"/>
              <a:t>Start </a:t>
            </a:r>
            <a:r>
              <a:rPr lang="en-US" altLang="en-GB" sz="2600" smtClean="0">
                <a:sym typeface="Wingdings" panose="05000000000000000000" pitchFamily="2" charset="2"/>
              </a:rPr>
              <a:t></a:t>
            </a:r>
            <a:r>
              <a:rPr lang="en-US" altLang="en-GB" sz="2600" smtClean="0"/>
              <a:t> AE </a:t>
            </a:r>
            <a:r>
              <a:rPr lang="en-US" altLang="en-GB" sz="2600" smtClean="0">
                <a:sym typeface="Wingdings" panose="05000000000000000000" pitchFamily="2" charset="2"/>
              </a:rPr>
              <a:t></a:t>
            </a:r>
            <a:r>
              <a:rPr lang="en-US" altLang="en-GB" sz="2600" smtClean="0"/>
              <a:t> (AE * AE)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600" smtClean="0"/>
              <a:t>	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600" smtClean="0"/>
              <a:t>		</a:t>
            </a:r>
            <a:r>
              <a:rPr lang="en-US" altLang="en-GB" sz="2600" smtClean="0">
                <a:sym typeface="Wingdings" panose="05000000000000000000" pitchFamily="2" charset="2"/>
              </a:rPr>
              <a:t>(</a:t>
            </a:r>
            <a:r>
              <a:rPr lang="en-US" altLang="en-GB" sz="2600" smtClean="0"/>
              <a:t>(AE + AE) * (AE + AE))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600" smtClean="0"/>
              <a:t>	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600" smtClean="0"/>
              <a:t>		</a:t>
            </a:r>
            <a:r>
              <a:rPr lang="en-US" altLang="en-GB" sz="2600" smtClean="0">
                <a:sym typeface="Wingdings" panose="05000000000000000000" pitchFamily="2" charset="2"/>
              </a:rPr>
              <a:t></a:t>
            </a:r>
            <a:r>
              <a:rPr lang="en-US" altLang="en-GB" sz="2600" smtClean="0"/>
              <a:t>((3 + 4) * (6 + 7))</a:t>
            </a:r>
          </a:p>
          <a:p>
            <a:pPr algn="just" eaLnBrk="1" hangingPunct="1"/>
            <a:endParaRPr lang="en-US" altLang="en-GB" sz="260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7BEC8BB-AA17-4658-BB92-33D95D7EAD1E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8435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Definition of Terms</a:t>
            </a:r>
          </a:p>
        </p:txBody>
      </p:sp>
      <p:sp>
        <p:nvSpPr>
          <p:cNvPr id="18436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sz="2200" smtClean="0"/>
              <a:t>A word that cannot be replaced by anything is called </a:t>
            </a:r>
            <a:r>
              <a:rPr lang="en-US" altLang="en-GB" sz="2200" b="1" smtClean="0"/>
              <a:t>terminal</a:t>
            </a:r>
            <a:r>
              <a:rPr lang="en-US" altLang="en-GB" sz="2200" smtClean="0"/>
              <a:t>.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en-GB" sz="2000" b="1" smtClean="0"/>
              <a:t>– </a:t>
            </a:r>
            <a:r>
              <a:rPr lang="en-US" altLang="en-GB" sz="2000" smtClean="0"/>
              <a:t>In the above example, the terminals are the phrase AnyNumber, and the symbols  +   -   *    /     **     (    )</a:t>
            </a:r>
          </a:p>
          <a:p>
            <a:pPr algn="just" eaLnBrk="1" hangingPunct="1"/>
            <a:r>
              <a:rPr lang="en-US" altLang="en-GB" sz="2200" smtClean="0"/>
              <a:t>A word that must be replaced by other things is called </a:t>
            </a:r>
            <a:r>
              <a:rPr lang="en-US" altLang="en-GB" sz="2200" b="1" smtClean="0"/>
              <a:t>non-terminal</a:t>
            </a:r>
            <a:r>
              <a:rPr lang="en-US" altLang="en-GB" sz="2200" smtClean="0"/>
              <a:t>.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en-GB" sz="2000" b="1" smtClean="0"/>
              <a:t>– </a:t>
            </a:r>
            <a:r>
              <a:rPr lang="en-US" altLang="en-GB" sz="2000" smtClean="0"/>
              <a:t>The non-terminals are Start and AE.</a:t>
            </a:r>
          </a:p>
          <a:p>
            <a:pPr algn="just" eaLnBrk="1" hangingPunct="1"/>
            <a:r>
              <a:rPr lang="en-US" altLang="en-GB" sz="2200" smtClean="0"/>
              <a:t>The sequence of applications of the rules that produces the finished string of terminals from the starting symbol is called a </a:t>
            </a:r>
            <a:r>
              <a:rPr lang="en-US" altLang="en-GB" sz="2200" b="1" smtClean="0"/>
              <a:t>derivation </a:t>
            </a:r>
            <a:r>
              <a:rPr lang="en-US" altLang="en-GB" sz="2200" smtClean="0"/>
              <a:t>or a </a:t>
            </a:r>
            <a:r>
              <a:rPr lang="en-US" altLang="en-GB" sz="2200" b="1" smtClean="0"/>
              <a:t>generation </a:t>
            </a:r>
            <a:r>
              <a:rPr lang="en-US" altLang="en-GB" sz="2200" smtClean="0"/>
              <a:t>of the word.</a:t>
            </a:r>
          </a:p>
          <a:p>
            <a:pPr algn="just" eaLnBrk="1" hangingPunct="1"/>
            <a:endParaRPr lang="en-US" altLang="en-GB" sz="2200" smtClean="0"/>
          </a:p>
          <a:p>
            <a:pPr algn="just" eaLnBrk="1" hangingPunct="1"/>
            <a:r>
              <a:rPr lang="en-US" altLang="en-GB" sz="2200" smtClean="0"/>
              <a:t>The grammatical rules are referred to as </a:t>
            </a:r>
            <a:r>
              <a:rPr lang="en-US" altLang="en-GB" sz="2200" b="1" smtClean="0"/>
              <a:t>productions</a:t>
            </a:r>
            <a:r>
              <a:rPr lang="en-US" altLang="en-GB" sz="2200" smtClean="0"/>
              <a:t>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FE25BA4-2BF3-4646-A3A4-1C196FA11003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0483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Symbolism for Generative Grammars</a:t>
            </a:r>
          </a:p>
        </p:txBody>
      </p:sp>
      <p:sp>
        <p:nvSpPr>
          <p:cNvPr id="20484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GB" sz="1900" b="1" smtClean="0"/>
              <a:t>Definition: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GB" sz="1900" smtClean="0"/>
              <a:t>A </a:t>
            </a:r>
            <a:r>
              <a:rPr lang="en-US" altLang="en-GB" sz="1900" b="1" smtClean="0"/>
              <a:t>context-free grammar (CFG) </a:t>
            </a:r>
            <a:r>
              <a:rPr lang="en-US" altLang="en-GB" sz="1900" smtClean="0"/>
              <a:t>is a collection of three things:</a:t>
            </a:r>
          </a:p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GB" sz="1900" b="1" smtClean="0"/>
              <a:t>	</a:t>
            </a:r>
          </a:p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GB" sz="1900" b="1" smtClean="0"/>
              <a:t>	1. </a:t>
            </a:r>
            <a:r>
              <a:rPr lang="en-US" altLang="en-GB" sz="1900" smtClean="0"/>
              <a:t>An alphabet </a:t>
            </a:r>
            <a:r>
              <a:rPr lang="en-US" altLang="en-GB" sz="1900" smtClean="0">
                <a:cs typeface="Arial" panose="020B0604020202020204" pitchFamily="34" charset="0"/>
              </a:rPr>
              <a:t>∑</a:t>
            </a:r>
            <a:r>
              <a:rPr lang="en-US" altLang="en-GB" sz="1900" smtClean="0"/>
              <a:t> of letters called </a:t>
            </a:r>
            <a:r>
              <a:rPr lang="en-US" altLang="en-GB" sz="1900" b="1" smtClean="0"/>
              <a:t>terminals </a:t>
            </a:r>
            <a:r>
              <a:rPr lang="en-US" altLang="en-GB" sz="1900" smtClean="0"/>
              <a:t>from which we are going to make strings that will be the words of a language.</a:t>
            </a:r>
          </a:p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GB" sz="1900" b="1" smtClean="0"/>
              <a:t>	</a:t>
            </a:r>
          </a:p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GB" sz="1900" b="1" smtClean="0"/>
              <a:t>	2. </a:t>
            </a:r>
            <a:r>
              <a:rPr lang="en-US" altLang="en-GB" sz="1900" smtClean="0"/>
              <a:t>A set of symbols called </a:t>
            </a:r>
            <a:r>
              <a:rPr lang="en-US" altLang="en-GB" sz="1900" b="1" smtClean="0"/>
              <a:t>non-terminals</a:t>
            </a:r>
            <a:r>
              <a:rPr lang="en-US" altLang="en-GB" sz="1900" smtClean="0"/>
              <a:t>, one of which is the symbol S, standing for “start here”.</a:t>
            </a:r>
          </a:p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GB" sz="1900" b="1" smtClean="0"/>
              <a:t>	</a:t>
            </a:r>
          </a:p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GB" sz="1900" b="1" smtClean="0"/>
              <a:t>	3. </a:t>
            </a:r>
            <a:r>
              <a:rPr lang="en-US" altLang="en-GB" sz="1900" smtClean="0"/>
              <a:t>A finite set of </a:t>
            </a:r>
            <a:r>
              <a:rPr lang="en-US" altLang="en-GB" sz="1900" b="1" smtClean="0"/>
              <a:t>productions </a:t>
            </a:r>
            <a:r>
              <a:rPr lang="en-US" altLang="en-GB" sz="1900" smtClean="0"/>
              <a:t>of the form:</a:t>
            </a:r>
          </a:p>
          <a:p>
            <a:pPr lvl="1"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GB" sz="1800" smtClean="0"/>
              <a:t>	One non-terminal → finite string of terminals and/or non-terminals </a:t>
            </a:r>
          </a:p>
          <a:p>
            <a:pPr lvl="1"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GB" sz="1800" smtClean="0"/>
              <a:t>    </a:t>
            </a:r>
          </a:p>
          <a:p>
            <a:pPr lvl="1"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GB" sz="1800" smtClean="0"/>
              <a:t>    where the strings of terminals and non-terminals can consist of only terminals, or of only non-terminals, or of any mixture of terminals and non-terminals, or even the empty string. We require that at least one production that has the non-terminal </a:t>
            </a:r>
            <a:r>
              <a:rPr lang="en-US" altLang="en-GB" sz="1800" i="1" smtClean="0"/>
              <a:t>S</a:t>
            </a:r>
            <a:r>
              <a:rPr lang="en-US" altLang="en-GB" sz="1800" smtClean="0"/>
              <a:t> as its left side.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1FDEDC-7695-4100-B27B-16CA43E0C2F2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2531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1900" b="1" smtClean="0"/>
              <a:t>Definition: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GB" sz="1900" smtClean="0"/>
              <a:t>The </a:t>
            </a:r>
            <a:r>
              <a:rPr lang="en-US" altLang="en-GB" sz="1900" b="1" smtClean="0"/>
              <a:t>language generated by a CFG </a:t>
            </a:r>
            <a:r>
              <a:rPr lang="en-US" altLang="en-GB" sz="1900" smtClean="0"/>
              <a:t>is the set of all strings of terminals that can be produced from the start symbol S using the productions as substitutions.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GB" sz="1900" smtClean="0"/>
              <a:t>A language generated by a CFG is called a </a:t>
            </a:r>
            <a:r>
              <a:rPr lang="en-US" altLang="en-GB" sz="1900" b="1" smtClean="0"/>
              <a:t>context-free language (CFL)</a:t>
            </a:r>
            <a:r>
              <a:rPr lang="en-US" altLang="en-GB" sz="1900" smtClean="0"/>
              <a:t>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1900" smtClean="0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1900" b="1" smtClean="0"/>
              <a:t>Notes: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GB" sz="1900" smtClean="0"/>
              <a:t>The language generated by a CFG is also called the </a:t>
            </a:r>
            <a:r>
              <a:rPr lang="en-US" altLang="en-GB" sz="1900" b="1" smtClean="0"/>
              <a:t>language defined by the CFG</a:t>
            </a:r>
            <a:r>
              <a:rPr lang="en-US" altLang="en-GB" sz="1900" smtClean="0"/>
              <a:t>, or the </a:t>
            </a:r>
            <a:r>
              <a:rPr lang="en-US" altLang="en-GB" sz="1900" b="1" smtClean="0"/>
              <a:t>language derived from the CFG</a:t>
            </a:r>
            <a:r>
              <a:rPr lang="en-US" altLang="en-GB" sz="1900" smtClean="0"/>
              <a:t>, or the </a:t>
            </a:r>
            <a:r>
              <a:rPr lang="en-US" altLang="en-GB" sz="1900" b="1" smtClean="0"/>
              <a:t>language produced by the CFG</a:t>
            </a:r>
            <a:r>
              <a:rPr lang="en-US" altLang="en-GB" sz="1900" smtClean="0"/>
              <a:t>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1900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1900" smtClean="0"/>
              <a:t>We insist that </a:t>
            </a:r>
            <a:r>
              <a:rPr lang="en-US" altLang="en-GB" sz="1900" b="1" smtClean="0"/>
              <a:t>non-terminals be designated by capital letters</a:t>
            </a:r>
            <a:r>
              <a:rPr lang="en-US" altLang="en-GB" sz="1900" smtClean="0"/>
              <a:t>, whereas </a:t>
            </a:r>
            <a:r>
              <a:rPr lang="en-US" altLang="en-GB" sz="1900" b="1" smtClean="0"/>
              <a:t>terminals are designated by lowercase letters and special symbols</a:t>
            </a:r>
            <a:r>
              <a:rPr lang="en-US" altLang="en-GB" sz="1900" smtClean="0"/>
              <a:t>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190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BFAEC89-7953-4CA7-938E-AA5A4961ECDE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Example</a:t>
            </a:r>
          </a:p>
        </p:txBody>
      </p:sp>
      <p:sp>
        <p:nvSpPr>
          <p:cNvPr id="24580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en-US" altLang="en-GB" sz="2200" smtClean="0"/>
              <a:t>Let the only terminal be </a:t>
            </a:r>
            <a:r>
              <a:rPr lang="en-US" altLang="en-GB" sz="2200" i="1" smtClean="0"/>
              <a:t>a</a:t>
            </a:r>
            <a:r>
              <a:rPr lang="en-US" altLang="en-GB" sz="2200" smtClean="0"/>
              <a:t> and the productions be</a:t>
            </a:r>
          </a:p>
          <a:p>
            <a:pPr lvl="2"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GB" sz="1800" smtClean="0"/>
              <a:t>Prod1 S → aS</a:t>
            </a:r>
          </a:p>
          <a:p>
            <a:pPr lvl="2"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GB" sz="1800" smtClean="0"/>
              <a:t>Prod2 S → </a:t>
            </a:r>
            <a:r>
              <a:rPr lang="el-GR" altLang="en-GB" sz="1800" smtClean="0">
                <a:cs typeface="Arial" panose="020B0604020202020204" pitchFamily="34" charset="0"/>
              </a:rPr>
              <a:t>Λ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GB" sz="2200" smtClean="0"/>
              <a:t>If we apply Prod 1 six times and then apply Prod 2, we generate the following:</a:t>
            </a:r>
          </a:p>
          <a:p>
            <a:pPr algn="just" eaLnBrk="1" hangingPunct="1">
              <a:lnSpc>
                <a:spcPct val="80000"/>
              </a:lnSpc>
            </a:pPr>
            <a:endParaRPr lang="en-US" altLang="en-GB" sz="2200" smtClean="0"/>
          </a:p>
          <a:p>
            <a:pPr lvl="2"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GB" sz="1800" smtClean="0"/>
              <a:t>S </a:t>
            </a:r>
            <a:r>
              <a:rPr lang="en-US" altLang="en-GB" sz="1800" smtClean="0">
                <a:sym typeface="Wingdings" panose="05000000000000000000" pitchFamily="2" charset="2"/>
              </a:rPr>
              <a:t></a:t>
            </a:r>
            <a:r>
              <a:rPr lang="en-US" altLang="en-GB" sz="1800" smtClean="0"/>
              <a:t> aS </a:t>
            </a:r>
            <a:r>
              <a:rPr lang="en-US" altLang="en-GB" sz="1800" smtClean="0">
                <a:sym typeface="Wingdings" panose="05000000000000000000" pitchFamily="2" charset="2"/>
              </a:rPr>
              <a:t></a:t>
            </a:r>
            <a:r>
              <a:rPr lang="en-US" altLang="en-GB" sz="1800" smtClean="0"/>
              <a:t> aaS </a:t>
            </a:r>
            <a:r>
              <a:rPr lang="en-US" altLang="en-GB" sz="1800" smtClean="0">
                <a:sym typeface="Wingdings" panose="05000000000000000000" pitchFamily="2" charset="2"/>
              </a:rPr>
              <a:t></a:t>
            </a:r>
            <a:r>
              <a:rPr lang="en-US" altLang="en-GB" sz="1800" smtClean="0"/>
              <a:t> aaaS </a:t>
            </a:r>
            <a:r>
              <a:rPr lang="en-US" altLang="en-GB" sz="1800" smtClean="0">
                <a:sym typeface="Wingdings" panose="05000000000000000000" pitchFamily="2" charset="2"/>
              </a:rPr>
              <a:t></a:t>
            </a:r>
            <a:r>
              <a:rPr lang="en-US" altLang="en-GB" sz="1800" smtClean="0"/>
              <a:t> aaaaS</a:t>
            </a:r>
          </a:p>
          <a:p>
            <a:pPr lvl="2"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GB" sz="1800" smtClean="0">
                <a:sym typeface="Wingdings" panose="05000000000000000000" pitchFamily="2" charset="2"/>
              </a:rPr>
              <a:t></a:t>
            </a:r>
            <a:r>
              <a:rPr lang="en-US" altLang="en-GB" sz="1800" smtClean="0"/>
              <a:t> aaaaaS </a:t>
            </a:r>
            <a:r>
              <a:rPr lang="en-US" altLang="en-GB" sz="1800" smtClean="0">
                <a:sym typeface="Wingdings" panose="05000000000000000000" pitchFamily="2" charset="2"/>
              </a:rPr>
              <a:t></a:t>
            </a:r>
            <a:r>
              <a:rPr lang="en-US" altLang="en-GB" sz="1800" smtClean="0"/>
              <a:t> aaaaaaS </a:t>
            </a:r>
            <a:r>
              <a:rPr lang="en-US" altLang="en-GB" sz="1800" smtClean="0">
                <a:sym typeface="Wingdings" panose="05000000000000000000" pitchFamily="2" charset="2"/>
              </a:rPr>
              <a:t></a:t>
            </a:r>
            <a:r>
              <a:rPr lang="en-US" altLang="en-GB" sz="1800" smtClean="0"/>
              <a:t> aaaaaa</a:t>
            </a:r>
            <a:r>
              <a:rPr lang="el-GR" altLang="en-GB" sz="1800" smtClean="0">
                <a:cs typeface="Arial" panose="020B0604020202020204" pitchFamily="34" charset="0"/>
              </a:rPr>
              <a:t>Λ</a:t>
            </a:r>
            <a:r>
              <a:rPr lang="en-US" altLang="en-GB" sz="1800" smtClean="0"/>
              <a:t> = aaaaaa</a:t>
            </a:r>
          </a:p>
          <a:p>
            <a:pPr lvl="2"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GB" sz="1800" smtClean="0"/>
          </a:p>
          <a:p>
            <a:pPr algn="just" eaLnBrk="1" hangingPunct="1">
              <a:lnSpc>
                <a:spcPct val="80000"/>
              </a:lnSpc>
            </a:pPr>
            <a:r>
              <a:rPr lang="en-US" altLang="en-GB" sz="2200" smtClean="0"/>
              <a:t>If we apply Prod2 without Prod1, we find that </a:t>
            </a:r>
            <a:r>
              <a:rPr lang="el-GR" altLang="en-GB" sz="2200" smtClean="0"/>
              <a:t>Λ</a:t>
            </a:r>
            <a:r>
              <a:rPr lang="en-US" altLang="en-GB" sz="2200" smtClean="0"/>
              <a:t> is in the language generated by this CFG.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GB" sz="2200" smtClean="0"/>
              <a:t>Hence, this CFL is exactly a*.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GB" sz="2200" smtClean="0"/>
              <a:t>Note: the symbol “→” means “can be replaced by”, whereas the symbol “</a:t>
            </a:r>
            <a:r>
              <a:rPr lang="en-US" altLang="en-GB" sz="2200" smtClean="0">
                <a:sym typeface="Wingdings" panose="05000000000000000000" pitchFamily="2" charset="2"/>
              </a:rPr>
              <a:t></a:t>
            </a:r>
            <a:r>
              <a:rPr lang="en-US" altLang="en-GB" sz="2200" smtClean="0"/>
              <a:t>” means “can develop to”.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E7A59C1-4C77-4FE6-81DB-5857FF0E1016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6627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sz="2200" smtClean="0"/>
              <a:t>Let the terminals be a and b, the only non-terminal be S, and the productions be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		Prod1 S → aS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		Prod2 S → bS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		Prod3 S → </a:t>
            </a:r>
            <a:r>
              <a:rPr lang="el-GR" altLang="en-GB" sz="2200" smtClean="0"/>
              <a:t>Λ</a:t>
            </a:r>
            <a:r>
              <a:rPr lang="en-US" altLang="en-GB" sz="2200" smtClean="0"/>
              <a:t> </a:t>
            </a:r>
          </a:p>
          <a:p>
            <a:pPr algn="just" eaLnBrk="1" hangingPunct="1"/>
            <a:r>
              <a:rPr lang="en-US" altLang="en-GB" sz="2200" smtClean="0"/>
              <a:t>The word </a:t>
            </a:r>
            <a:r>
              <a:rPr lang="en-US" altLang="en-GB" sz="2200" i="1" smtClean="0"/>
              <a:t>ab</a:t>
            </a:r>
            <a:r>
              <a:rPr lang="en-US" altLang="en-GB" sz="2200" smtClean="0"/>
              <a:t> can be generated by the derivation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		S </a:t>
            </a:r>
            <a:r>
              <a:rPr lang="en-US" altLang="en-GB" sz="2200" smtClean="0">
                <a:sym typeface="Wingdings" panose="05000000000000000000" pitchFamily="2" charset="2"/>
              </a:rPr>
              <a:t></a:t>
            </a:r>
            <a:r>
              <a:rPr lang="en-US" altLang="en-GB" sz="2200" smtClean="0"/>
              <a:t> aS </a:t>
            </a:r>
            <a:r>
              <a:rPr lang="en-US" altLang="en-GB" sz="2200" smtClean="0">
                <a:sym typeface="Wingdings" panose="05000000000000000000" pitchFamily="2" charset="2"/>
              </a:rPr>
              <a:t></a:t>
            </a:r>
            <a:r>
              <a:rPr lang="en-US" altLang="en-GB" sz="2200" smtClean="0"/>
              <a:t> abS </a:t>
            </a:r>
            <a:r>
              <a:rPr lang="en-US" altLang="en-GB" sz="2200" smtClean="0">
                <a:sym typeface="Wingdings" panose="05000000000000000000" pitchFamily="2" charset="2"/>
              </a:rPr>
              <a:t></a:t>
            </a:r>
            <a:r>
              <a:rPr lang="en-US" altLang="en-GB" sz="2200" smtClean="0"/>
              <a:t> ab</a:t>
            </a:r>
            <a:r>
              <a:rPr lang="el-GR" altLang="en-GB" sz="2200" smtClean="0"/>
              <a:t>Λ</a:t>
            </a:r>
            <a:r>
              <a:rPr lang="en-US" altLang="en-GB" sz="2200" smtClean="0"/>
              <a:t> = ab</a:t>
            </a:r>
          </a:p>
          <a:p>
            <a:pPr algn="just" eaLnBrk="1" hangingPunct="1"/>
            <a:r>
              <a:rPr lang="en-US" altLang="en-GB" sz="2200" smtClean="0"/>
              <a:t>The word baab can be generated by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		S </a:t>
            </a:r>
            <a:r>
              <a:rPr lang="en-US" altLang="en-GB" sz="2200" smtClean="0">
                <a:sym typeface="Wingdings" panose="05000000000000000000" pitchFamily="2" charset="2"/>
              </a:rPr>
              <a:t></a:t>
            </a:r>
            <a:r>
              <a:rPr lang="en-US" altLang="en-GB" sz="2200" smtClean="0"/>
              <a:t> bS </a:t>
            </a:r>
            <a:r>
              <a:rPr lang="en-US" altLang="en-GB" sz="2200" smtClean="0">
                <a:sym typeface="Wingdings" panose="05000000000000000000" pitchFamily="2" charset="2"/>
              </a:rPr>
              <a:t></a:t>
            </a:r>
            <a:r>
              <a:rPr lang="en-US" altLang="en-GB" sz="2200" smtClean="0"/>
              <a:t> baS </a:t>
            </a:r>
            <a:r>
              <a:rPr lang="en-US" altLang="en-GB" sz="2200" smtClean="0">
                <a:sym typeface="Wingdings" panose="05000000000000000000" pitchFamily="2" charset="2"/>
              </a:rPr>
              <a:t></a:t>
            </a:r>
            <a:r>
              <a:rPr lang="en-US" altLang="en-GB" sz="2200" smtClean="0"/>
              <a:t> baaS </a:t>
            </a:r>
            <a:r>
              <a:rPr lang="en-US" altLang="en-GB" sz="2200" smtClean="0">
                <a:sym typeface="Wingdings" panose="05000000000000000000" pitchFamily="2" charset="2"/>
              </a:rPr>
              <a:t></a:t>
            </a:r>
            <a:r>
              <a:rPr lang="en-US" altLang="en-GB" sz="2200" smtClean="0"/>
              <a:t> baabS </a:t>
            </a:r>
            <a:r>
              <a:rPr lang="en-US" altLang="en-GB" sz="2200" smtClean="0">
                <a:sym typeface="Wingdings" panose="05000000000000000000" pitchFamily="2" charset="2"/>
              </a:rPr>
              <a:t></a:t>
            </a:r>
            <a:r>
              <a:rPr lang="en-US" altLang="en-GB" sz="2200" smtClean="0"/>
              <a:t> baab</a:t>
            </a:r>
            <a:r>
              <a:rPr lang="el-GR" altLang="en-GB" sz="2200" smtClean="0"/>
              <a:t>Λ</a:t>
            </a:r>
            <a:r>
              <a:rPr lang="en-US" altLang="en-GB" sz="2200" smtClean="0"/>
              <a:t> = baab</a:t>
            </a:r>
          </a:p>
          <a:p>
            <a:pPr algn="just" eaLnBrk="1" hangingPunct="1"/>
            <a:r>
              <a:rPr lang="en-US" altLang="en-GB" sz="2200" smtClean="0"/>
              <a:t>Clearly, the language generated by the above CFG is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			(a + b)*.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B77430E-3667-4811-AF2E-800011C34158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8675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Example</a:t>
            </a:r>
          </a:p>
        </p:txBody>
      </p:sp>
      <p:sp>
        <p:nvSpPr>
          <p:cNvPr id="28676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sz="2200" smtClean="0"/>
              <a:t>Let the terminals be a and b, the the non-terminal be S and X, and the productions be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		Prod 1 	S → XXXaXaXX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		Prod 2 	X → aX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		Prod 3 	X → bX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		Prod 4 	X → </a:t>
            </a:r>
            <a:r>
              <a:rPr lang="el-GR" altLang="en-GB" sz="2200" smtClean="0"/>
              <a:t>Λ</a:t>
            </a:r>
            <a:r>
              <a:rPr lang="en-US" altLang="en-GB" sz="2200" smtClean="0"/>
              <a:t> </a:t>
            </a:r>
          </a:p>
          <a:p>
            <a:pPr algn="just" eaLnBrk="1" hangingPunct="1"/>
            <a:r>
              <a:rPr lang="en-US" altLang="en-GB" sz="2200" smtClean="0"/>
              <a:t>We already know from the previous example that the last three productions will generate any possible strings of a’s and b’s from the non-terminal X. Hence, the words generated from S have the form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			</a:t>
            </a:r>
            <a:r>
              <a:rPr lang="en-US" altLang="en-GB" sz="2200" i="1" smtClean="0"/>
              <a:t>anything aa anything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9D47AEF-DDA7-4DA3-AC20-D28F9A7C09F1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30723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sz="2200" smtClean="0"/>
              <a:t>Hence, the language produced by this CFG is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			(a + b)*aa(a + b)*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	which is the language of all words with a double a in them somewhere.</a:t>
            </a:r>
          </a:p>
          <a:p>
            <a:pPr algn="just" eaLnBrk="1" hangingPunct="1"/>
            <a:r>
              <a:rPr lang="en-US" altLang="en-GB" sz="2200" smtClean="0"/>
              <a:t>For example, the word </a:t>
            </a:r>
            <a:r>
              <a:rPr lang="en-US" altLang="en-GB" sz="2200" i="1" smtClean="0"/>
              <a:t>baabb</a:t>
            </a:r>
            <a:r>
              <a:rPr lang="en-US" altLang="en-GB" sz="2200" smtClean="0"/>
              <a:t> can be generated by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		S </a:t>
            </a:r>
            <a:r>
              <a:rPr lang="en-US" altLang="en-GB" sz="2200" smtClean="0">
                <a:sym typeface="Wingdings" panose="05000000000000000000" pitchFamily="2" charset="2"/>
              </a:rPr>
              <a:t></a:t>
            </a:r>
            <a:r>
              <a:rPr lang="en-US" altLang="en-GB" sz="2200" smtClean="0"/>
              <a:t> XaaX </a:t>
            </a:r>
            <a:r>
              <a:rPr lang="en-US" altLang="en-GB" sz="2200" smtClean="0">
                <a:sym typeface="Wingdings" panose="05000000000000000000" pitchFamily="2" charset="2"/>
              </a:rPr>
              <a:t></a:t>
            </a:r>
            <a:r>
              <a:rPr lang="en-US" altLang="en-GB" sz="2200" smtClean="0"/>
              <a:t> bXaaX </a:t>
            </a:r>
            <a:r>
              <a:rPr lang="en-US" altLang="en-GB" sz="2200" smtClean="0">
                <a:sym typeface="Wingdings" panose="05000000000000000000" pitchFamily="2" charset="2"/>
              </a:rPr>
              <a:t></a:t>
            </a:r>
            <a:r>
              <a:rPr lang="en-US" altLang="en-GB" sz="2200" smtClean="0"/>
              <a:t> baaX </a:t>
            </a:r>
            <a:r>
              <a:rPr lang="en-US" altLang="en-GB" sz="2200" smtClean="0">
                <a:sym typeface="Wingdings" panose="05000000000000000000" pitchFamily="2" charset="2"/>
              </a:rPr>
              <a:t></a:t>
            </a:r>
            <a:r>
              <a:rPr lang="en-US" altLang="en-GB" sz="2200" smtClean="0"/>
              <a:t> baaX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		 </a:t>
            </a:r>
            <a:r>
              <a:rPr lang="en-US" altLang="en-GB" sz="2200" smtClean="0">
                <a:sym typeface="Wingdings" panose="05000000000000000000" pitchFamily="2" charset="2"/>
              </a:rPr>
              <a:t></a:t>
            </a:r>
            <a:r>
              <a:rPr lang="en-US" altLang="en-GB" sz="2200" smtClean="0"/>
              <a:t> baabX </a:t>
            </a:r>
            <a:r>
              <a:rPr lang="en-US" altLang="en-GB" sz="2200" smtClean="0">
                <a:sym typeface="Wingdings" panose="05000000000000000000" pitchFamily="2" charset="2"/>
              </a:rPr>
              <a:t></a:t>
            </a:r>
            <a:r>
              <a:rPr lang="en-US" altLang="en-GB" sz="2200" smtClean="0"/>
              <a:t> baabbX </a:t>
            </a:r>
            <a:r>
              <a:rPr lang="en-US" altLang="en-GB" sz="2200" smtClean="0">
                <a:sym typeface="Wingdings" panose="05000000000000000000" pitchFamily="2" charset="2"/>
              </a:rPr>
              <a:t></a:t>
            </a:r>
            <a:r>
              <a:rPr lang="en-US" altLang="en-GB" sz="2200" smtClean="0"/>
              <a:t> baabb</a:t>
            </a:r>
            <a:r>
              <a:rPr lang="el-GR" altLang="en-GB" sz="2200" smtClean="0"/>
              <a:t>Λ</a:t>
            </a:r>
            <a:r>
              <a:rPr lang="en-US" altLang="en-GB" sz="2200" smtClean="0"/>
              <a:t> = baabb</a:t>
            </a:r>
          </a:p>
          <a:p>
            <a:pPr algn="just" eaLnBrk="1" hangingPunct="1"/>
            <a:endParaRPr lang="en-US" altLang="en-GB" sz="220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E5DABA4-DACF-460F-8F7D-8CFBAAFC36DA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32771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Example</a:t>
            </a:r>
          </a:p>
        </p:txBody>
      </p:sp>
      <p:sp>
        <p:nvSpPr>
          <p:cNvPr id="32772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sz="2200" smtClean="0"/>
              <a:t>Consider the CFG: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		S → aSb	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		S → </a:t>
            </a:r>
            <a:r>
              <a:rPr lang="el-GR" altLang="en-GB" sz="2200" smtClean="0"/>
              <a:t>Λ</a:t>
            </a:r>
            <a:r>
              <a:rPr lang="en-US" altLang="en-GB" sz="2200" smtClean="0"/>
              <a:t> </a:t>
            </a:r>
          </a:p>
          <a:p>
            <a:pPr algn="just" eaLnBrk="1" hangingPunct="1"/>
            <a:r>
              <a:rPr lang="en-US" altLang="en-GB" sz="2200" smtClean="0"/>
              <a:t>It is easy to verify that the language generated by this CFG is the </a:t>
            </a:r>
            <a:r>
              <a:rPr lang="en-US" altLang="en-GB" sz="2200" b="1" smtClean="0"/>
              <a:t>non-regular </a:t>
            </a:r>
            <a:r>
              <a:rPr lang="en-US" altLang="en-GB" sz="2200" smtClean="0"/>
              <a:t>language {a</a:t>
            </a:r>
            <a:r>
              <a:rPr lang="en-US" altLang="en-GB" sz="2200" baseline="30000" smtClean="0"/>
              <a:t>n</a:t>
            </a:r>
            <a:r>
              <a:rPr lang="en-US" altLang="en-GB" sz="2200" smtClean="0"/>
              <a:t>b</a:t>
            </a:r>
            <a:r>
              <a:rPr lang="en-US" altLang="en-GB" sz="2200" baseline="30000" smtClean="0"/>
              <a:t>n}</a:t>
            </a:r>
            <a:r>
              <a:rPr lang="en-US" altLang="en-GB" sz="2200" smtClean="0"/>
              <a:t>.</a:t>
            </a:r>
          </a:p>
          <a:p>
            <a:pPr algn="just" eaLnBrk="1" hangingPunct="1"/>
            <a:r>
              <a:rPr lang="en-US" altLang="en-GB" sz="2200" smtClean="0"/>
              <a:t>For example, the word a</a:t>
            </a:r>
            <a:r>
              <a:rPr lang="en-US" altLang="en-GB" sz="2200" baseline="30000" smtClean="0"/>
              <a:t>4</a:t>
            </a:r>
            <a:r>
              <a:rPr lang="en-US" altLang="en-GB" sz="2200" smtClean="0"/>
              <a:t>b</a:t>
            </a:r>
            <a:r>
              <a:rPr lang="en-US" altLang="en-GB" sz="2200" baseline="30000" smtClean="0"/>
              <a:t>4</a:t>
            </a:r>
            <a:r>
              <a:rPr lang="en-US" altLang="en-GB" sz="2200" smtClean="0"/>
              <a:t> is derived by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	S </a:t>
            </a:r>
            <a:r>
              <a:rPr lang="en-US" altLang="en-GB" sz="2200" smtClean="0">
                <a:sym typeface="Wingdings" panose="05000000000000000000" pitchFamily="2" charset="2"/>
              </a:rPr>
              <a:t></a:t>
            </a:r>
            <a:r>
              <a:rPr lang="en-US" altLang="en-GB" sz="2200" smtClean="0"/>
              <a:t> aSb </a:t>
            </a:r>
            <a:r>
              <a:rPr lang="en-US" altLang="en-GB" sz="2200" smtClean="0">
                <a:sym typeface="Wingdings" panose="05000000000000000000" pitchFamily="2" charset="2"/>
              </a:rPr>
              <a:t></a:t>
            </a:r>
            <a:r>
              <a:rPr lang="en-US" altLang="en-GB" sz="2200" smtClean="0"/>
              <a:t> aaSbb </a:t>
            </a:r>
            <a:r>
              <a:rPr lang="en-US" altLang="en-GB" sz="2200" smtClean="0">
                <a:sym typeface="Wingdings" panose="05000000000000000000" pitchFamily="2" charset="2"/>
              </a:rPr>
              <a:t></a:t>
            </a:r>
            <a:r>
              <a:rPr lang="en-US" altLang="en-GB" sz="2200" smtClean="0"/>
              <a:t> aaaSbbb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	   </a:t>
            </a:r>
            <a:r>
              <a:rPr lang="en-US" altLang="en-GB" sz="2200" smtClean="0">
                <a:sym typeface="Wingdings" panose="05000000000000000000" pitchFamily="2" charset="2"/>
              </a:rPr>
              <a:t></a:t>
            </a:r>
            <a:r>
              <a:rPr lang="en-US" altLang="en-GB" sz="2200" smtClean="0"/>
              <a:t> aaaaSbbbb </a:t>
            </a:r>
            <a:r>
              <a:rPr lang="en-US" altLang="en-GB" sz="2200" smtClean="0">
                <a:sym typeface="Wingdings" panose="05000000000000000000" pitchFamily="2" charset="2"/>
              </a:rPr>
              <a:t></a:t>
            </a:r>
            <a:r>
              <a:rPr lang="en-US" altLang="en-GB" sz="2200" smtClean="0"/>
              <a:t> aaaa</a:t>
            </a:r>
            <a:r>
              <a:rPr lang="el-GR" altLang="en-GB" sz="2200" smtClean="0"/>
              <a:t>Λ</a:t>
            </a:r>
            <a:r>
              <a:rPr lang="en-US" altLang="en-GB" sz="2200" smtClean="0"/>
              <a:t>bbbb = aaaabbbb</a:t>
            </a:r>
          </a:p>
          <a:p>
            <a:pPr algn="just" eaLnBrk="1" hangingPunct="1"/>
            <a:endParaRPr lang="en-US" altLang="en-GB" sz="220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8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53C1A3B-CCCF-4CE0-8CF1-F0CBB3B0E727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34819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Derivation and some Symbols</a:t>
            </a:r>
          </a:p>
        </p:txBody>
      </p:sp>
      <p:sp>
        <p:nvSpPr>
          <p:cNvPr id="34820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sz="2600" smtClean="0"/>
              <a:t>If v and w are strings of terminals and non-terminals</a:t>
            </a:r>
          </a:p>
          <a:p>
            <a:pPr lvl="4" algn="just" eaLnBrk="1" hangingPunct="1"/>
            <a:r>
              <a:rPr lang="en-US" altLang="en-GB" sz="2400" smtClean="0"/>
              <a:t>denotes the derivation of w from v of length </a:t>
            </a:r>
            <a:r>
              <a:rPr lang="en-US" altLang="en-GB" sz="2400" i="1" smtClean="0"/>
              <a:t>n</a:t>
            </a:r>
            <a:r>
              <a:rPr lang="en-US" altLang="en-GB" sz="2400" smtClean="0"/>
              <a:t> steps</a:t>
            </a:r>
          </a:p>
          <a:p>
            <a:pPr lvl="3" algn="just" eaLnBrk="1" hangingPunct="1"/>
            <a:endParaRPr lang="en-US" altLang="en-GB" sz="2400" smtClean="0"/>
          </a:p>
          <a:p>
            <a:pPr lvl="3" algn="just" eaLnBrk="1" hangingPunct="1"/>
            <a:endParaRPr lang="en-US" altLang="en-GB" sz="2400" smtClean="0"/>
          </a:p>
          <a:p>
            <a:pPr lvl="4" algn="just" eaLnBrk="1" hangingPunct="1"/>
            <a:r>
              <a:rPr lang="en-US" altLang="en-GB" sz="2400" smtClean="0"/>
              <a:t> derivation of w from v in one or more steps</a:t>
            </a:r>
          </a:p>
          <a:p>
            <a:pPr lvl="4" algn="just" eaLnBrk="1" hangingPunct="1"/>
            <a:endParaRPr lang="en-US" altLang="en-GB" sz="2400" smtClean="0"/>
          </a:p>
          <a:p>
            <a:pPr lvl="4" algn="just" eaLnBrk="1" hangingPunct="1"/>
            <a:endParaRPr lang="en-US" altLang="en-GB" sz="2400" smtClean="0"/>
          </a:p>
          <a:p>
            <a:pPr lvl="4" algn="just" eaLnBrk="1" hangingPunct="1"/>
            <a:r>
              <a:rPr lang="en-US" altLang="en-GB" sz="2400" smtClean="0"/>
              <a:t> derivation of w from v in zero or more steps of application of rules of grammar G.</a:t>
            </a:r>
          </a:p>
        </p:txBody>
      </p:sp>
      <p:graphicFrame>
        <p:nvGraphicFramePr>
          <p:cNvPr id="34821" name="Object 4"/>
          <p:cNvGraphicFramePr>
            <a:graphicFrameLocks noChangeAspect="1"/>
          </p:cNvGraphicFramePr>
          <p:nvPr>
            <p:ph sz="quarter" idx="4294967295"/>
          </p:nvPr>
        </p:nvGraphicFramePr>
        <p:xfrm>
          <a:off x="0" y="3411538"/>
          <a:ext cx="12192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5" name="Equation" r:id="rId4" imgW="507780" imgH="203112" progId="Equation.3">
                  <p:embed/>
                </p:oleObj>
              </mc:Choice>
              <mc:Fallback>
                <p:oleObj name="Equation" r:id="rId4" imgW="507780" imgH="20311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411538"/>
                        <a:ext cx="12192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2" name="Object 8"/>
          <p:cNvGraphicFramePr>
            <a:graphicFrameLocks noChangeAspect="1"/>
          </p:cNvGraphicFramePr>
          <p:nvPr>
            <p:ph sz="quarter" idx="4294967295"/>
          </p:nvPr>
        </p:nvGraphicFramePr>
        <p:xfrm>
          <a:off x="0" y="4608513"/>
          <a:ext cx="12192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6" name="Equation" r:id="rId6" imgW="520474" imgH="241195" progId="Equation.3">
                  <p:embed/>
                </p:oleObj>
              </mc:Choice>
              <mc:Fallback>
                <p:oleObj name="Equation" r:id="rId6" imgW="520474" imgH="24119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608513"/>
                        <a:ext cx="121920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3" name="Object 10"/>
          <p:cNvGraphicFramePr>
            <a:graphicFrameLocks noChangeAspect="1"/>
          </p:cNvGraphicFramePr>
          <p:nvPr/>
        </p:nvGraphicFramePr>
        <p:xfrm>
          <a:off x="685800" y="1906588"/>
          <a:ext cx="114300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7" name="Equation" r:id="rId8" imgW="507780" imgH="203112" progId="Equation.3">
                  <p:embed/>
                </p:oleObj>
              </mc:Choice>
              <mc:Fallback>
                <p:oleObj name="Equation" r:id="rId8" imgW="507780" imgH="203112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906588"/>
                        <a:ext cx="1143000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8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463E62-546C-4185-A7DF-A2FF0590F451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36867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Sentential Form</a:t>
            </a:r>
          </a:p>
        </p:txBody>
      </p:sp>
      <p:sp>
        <p:nvSpPr>
          <p:cNvPr id="36868" name="Rectangle 3"/>
          <p:cNvSpPr>
            <a:spLocks noGrp="1"/>
          </p:cNvSpPr>
          <p:nvPr>
            <p:ph type="body" sz="half" idx="4294967295"/>
          </p:nvPr>
        </p:nvSpPr>
        <p:spPr>
          <a:xfrm>
            <a:off x="762000" y="1219200"/>
            <a:ext cx="8382000" cy="4876800"/>
          </a:xfrm>
        </p:spPr>
        <p:txBody>
          <a:bodyPr/>
          <a:lstStyle/>
          <a:p>
            <a:pPr algn="just" eaLnBrk="1" hangingPunct="1"/>
            <a:r>
              <a:rPr lang="en-US" altLang="en-GB" sz="2200" smtClean="0"/>
              <a:t>A string w </a:t>
            </a:r>
            <a:r>
              <a:rPr lang="el-GR" altLang="en-GB" sz="2200" smtClean="0">
                <a:cs typeface="Arial" panose="020B0604020202020204" pitchFamily="34" charset="0"/>
              </a:rPr>
              <a:t>ε</a:t>
            </a:r>
            <a:r>
              <a:rPr lang="en-US" altLang="en-GB" sz="2200" smtClean="0"/>
              <a:t>(n U </a:t>
            </a:r>
            <a:r>
              <a:rPr lang="en-US" altLang="en-GB" sz="2200" smtClean="0">
                <a:cs typeface="Arial" panose="020B0604020202020204" pitchFamily="34" charset="0"/>
              </a:rPr>
              <a:t>∑</a:t>
            </a:r>
            <a:r>
              <a:rPr lang="en-US" altLang="en-GB" sz="2200" smtClean="0"/>
              <a:t>)* is a sentential form of G if there is a derivation </a:t>
            </a:r>
          </a:p>
          <a:p>
            <a:pPr algn="just" eaLnBrk="1" hangingPunct="1"/>
            <a:endParaRPr lang="en-US" altLang="en-GB" sz="2200" smtClean="0"/>
          </a:p>
          <a:p>
            <a:pPr algn="just" eaLnBrk="1" hangingPunct="1"/>
            <a:endParaRPr lang="en-US" altLang="en-GB" sz="2200" smtClean="0"/>
          </a:p>
          <a:p>
            <a:pPr algn="just" eaLnBrk="1" hangingPunct="1"/>
            <a:r>
              <a:rPr lang="en-US" altLang="en-GB" sz="2200" smtClean="0"/>
              <a:t>A string w is a sentence of G if there is a derivation in G</a:t>
            </a:r>
          </a:p>
          <a:p>
            <a:pPr algn="just" eaLnBrk="1" hangingPunct="1"/>
            <a:endParaRPr lang="en-US" altLang="en-GB" sz="2200" smtClean="0"/>
          </a:p>
          <a:p>
            <a:pPr algn="just" eaLnBrk="1" hangingPunct="1"/>
            <a:endParaRPr lang="en-US" altLang="en-GB" sz="2200" smtClean="0"/>
          </a:p>
          <a:p>
            <a:pPr algn="just" eaLnBrk="1" hangingPunct="1"/>
            <a:r>
              <a:rPr lang="en-US" altLang="en-GB" sz="2200" smtClean="0"/>
              <a:t>The language of G, denoted by L(G) is the set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en-GB" sz="2200" smtClean="0"/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en-GB" sz="2200" smtClean="0"/>
          </a:p>
        </p:txBody>
      </p:sp>
      <p:graphicFrame>
        <p:nvGraphicFramePr>
          <p:cNvPr id="36869" name="Object 4"/>
          <p:cNvGraphicFramePr>
            <a:graphicFrameLocks noChangeAspect="1"/>
          </p:cNvGraphicFramePr>
          <p:nvPr>
            <p:ph sz="quarter" idx="4294967295"/>
          </p:nvPr>
        </p:nvGraphicFramePr>
        <p:xfrm>
          <a:off x="0" y="3171825"/>
          <a:ext cx="1055688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3" name="Equation" r:id="rId4" imgW="494870" imgH="203024" progId="Equation.3">
                  <p:embed/>
                </p:oleObj>
              </mc:Choice>
              <mc:Fallback>
                <p:oleObj name="Equation" r:id="rId4" imgW="494870" imgH="20302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171825"/>
                        <a:ext cx="1055688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0" name="Object 6"/>
          <p:cNvGraphicFramePr>
            <a:graphicFrameLocks noChangeAspect="1"/>
          </p:cNvGraphicFramePr>
          <p:nvPr>
            <p:ph sz="quarter" idx="4294967295"/>
          </p:nvPr>
        </p:nvGraphicFramePr>
        <p:xfrm>
          <a:off x="5105400" y="4495800"/>
          <a:ext cx="4038600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4" name="Equation" r:id="rId6" imgW="1282700" imgH="431800" progId="Equation.3">
                  <p:embed/>
                </p:oleObj>
              </mc:Choice>
              <mc:Fallback>
                <p:oleObj name="Equation" r:id="rId6" imgW="1282700" imgH="431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4495800"/>
                        <a:ext cx="4038600" cy="126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1" name="Object 8"/>
          <p:cNvGraphicFramePr>
            <a:graphicFrameLocks noChangeAspect="1"/>
          </p:cNvGraphicFramePr>
          <p:nvPr/>
        </p:nvGraphicFramePr>
        <p:xfrm>
          <a:off x="3152775" y="1830388"/>
          <a:ext cx="1114425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5" name="Equation" r:id="rId8" imgW="494870" imgH="203024" progId="Equation.3">
                  <p:embed/>
                </p:oleObj>
              </mc:Choice>
              <mc:Fallback>
                <p:oleObj name="Equation" r:id="rId8" imgW="494870" imgH="20302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2775" y="1830388"/>
                        <a:ext cx="1114425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D570EEE-7DEB-40D3-AD45-03258923E662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38915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Example</a:t>
            </a:r>
          </a:p>
        </p:txBody>
      </p:sp>
      <p:sp>
        <p:nvSpPr>
          <p:cNvPr id="38916" name="Rectangle 3"/>
          <p:cNvSpPr>
            <a:spLocks noGrp="1"/>
          </p:cNvSpPr>
          <p:nvPr>
            <p:ph type="body" idx="4294967295"/>
          </p:nvPr>
        </p:nvSpPr>
        <p:spPr>
          <a:xfrm>
            <a:off x="0" y="1412875"/>
            <a:ext cx="8229600" cy="4530725"/>
          </a:xfrm>
        </p:spPr>
        <p:txBody>
          <a:bodyPr/>
          <a:lstStyle/>
          <a:p>
            <a:pPr algn="just" eaLnBrk="1" hangingPunct="1"/>
            <a:r>
              <a:rPr lang="en-US" altLang="en-GB" sz="2200" smtClean="0"/>
              <a:t>It is not difficult to show that the following CFG generates the </a:t>
            </a:r>
            <a:r>
              <a:rPr lang="en-US" altLang="en-GB" sz="2200" b="1" smtClean="0"/>
              <a:t>non-regular </a:t>
            </a:r>
            <a:r>
              <a:rPr lang="en-US" altLang="en-GB" sz="2200" smtClean="0"/>
              <a:t>language {a</a:t>
            </a:r>
            <a:r>
              <a:rPr lang="en-US" altLang="en-GB" sz="2200" baseline="30000" smtClean="0"/>
              <a:t>n</a:t>
            </a:r>
            <a:r>
              <a:rPr lang="en-US" altLang="en-GB" sz="2200" smtClean="0"/>
              <a:t>ba</a:t>
            </a:r>
            <a:r>
              <a:rPr lang="en-US" altLang="en-GB" sz="2200" baseline="30000" smtClean="0"/>
              <a:t>n</a:t>
            </a:r>
            <a:r>
              <a:rPr lang="en-US" altLang="en-GB" sz="2200" smtClean="0"/>
              <a:t>}: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		S → aSa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		S → b</a:t>
            </a:r>
          </a:p>
          <a:p>
            <a:pPr algn="just" eaLnBrk="1" hangingPunct="1"/>
            <a:r>
              <a:rPr lang="en-US" altLang="en-GB" sz="2200" smtClean="0"/>
              <a:t>Can you show that the CFG below generates the language PALINDROME, another </a:t>
            </a:r>
            <a:r>
              <a:rPr lang="en-US" altLang="en-GB" sz="2200" b="1" smtClean="0"/>
              <a:t>non-regular </a:t>
            </a:r>
            <a:r>
              <a:rPr lang="en-US" altLang="en-GB" sz="2200" smtClean="0"/>
              <a:t>language?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en-GB" sz="2000" smtClean="0"/>
              <a:t>	S → aSa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en-GB" sz="2000" smtClean="0"/>
              <a:t>	S → bSb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en-GB" sz="2000" smtClean="0"/>
              <a:t>	S → a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en-GB" sz="2000" smtClean="0"/>
              <a:t>	S → b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en-GB" sz="2000" smtClean="0"/>
              <a:t>	S → </a:t>
            </a:r>
            <a:r>
              <a:rPr lang="el-GR" altLang="en-GB" sz="2000" smtClean="0"/>
              <a:t>Λ</a:t>
            </a:r>
            <a:r>
              <a:rPr lang="en-US" altLang="en-GB" sz="2000" smtClean="0"/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1C175B-43C4-4116-AB5B-41A1CBBA907F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0963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Disjunction Symbol |</a:t>
            </a:r>
          </a:p>
        </p:txBody>
      </p:sp>
      <p:sp>
        <p:nvSpPr>
          <p:cNvPr id="40964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marL="457200" indent="-457200" algn="just" eaLnBrk="1" hangingPunct="1"/>
            <a:r>
              <a:rPr lang="en-US" altLang="en-GB" sz="2200" smtClean="0"/>
              <a:t>Let us introduce the symbol | to mean disjunction (or).</a:t>
            </a:r>
          </a:p>
          <a:p>
            <a:pPr marL="457200" indent="-457200" algn="just" eaLnBrk="1" hangingPunct="1"/>
            <a:r>
              <a:rPr lang="en-US" altLang="en-GB" sz="2200" smtClean="0"/>
              <a:t>We use this symbol to combine all the productions that have the same left side.</a:t>
            </a:r>
          </a:p>
          <a:p>
            <a:pPr marL="457200" indent="-457200" algn="just" eaLnBrk="1" hangingPunct="1"/>
            <a:r>
              <a:rPr lang="en-US" altLang="en-GB" sz="2200" smtClean="0"/>
              <a:t>For example, the CFG</a:t>
            </a:r>
          </a:p>
          <a:p>
            <a:pPr marL="838200" lvl="1" indent="-381000" algn="just" eaLnBrk="1" hangingPunct="1">
              <a:buFont typeface="Wingdings" panose="05000000000000000000" pitchFamily="2" charset="2"/>
              <a:buNone/>
            </a:pPr>
            <a:r>
              <a:rPr lang="en-US" altLang="en-GB" sz="2000" smtClean="0"/>
              <a:t>Prod 1 </a:t>
            </a:r>
            <a:r>
              <a:rPr lang="en-US" altLang="en-GB" sz="2000" i="1" smtClean="0"/>
              <a:t>S → XaaX</a:t>
            </a:r>
          </a:p>
          <a:p>
            <a:pPr marL="838200" lvl="1" indent="-381000" algn="just" eaLnBrk="1" hangingPunct="1">
              <a:buFont typeface="Wingdings" panose="05000000000000000000" pitchFamily="2" charset="2"/>
              <a:buNone/>
            </a:pPr>
            <a:r>
              <a:rPr lang="en-US" altLang="en-GB" sz="2000" smtClean="0"/>
              <a:t>Prod 2 </a:t>
            </a:r>
            <a:r>
              <a:rPr lang="en-US" altLang="en-GB" sz="2000" i="1" smtClean="0"/>
              <a:t>X → aX</a:t>
            </a:r>
          </a:p>
          <a:p>
            <a:pPr marL="838200" lvl="1" indent="-381000" algn="just" eaLnBrk="1" hangingPunct="1">
              <a:buFont typeface="Wingdings" panose="05000000000000000000" pitchFamily="2" charset="2"/>
              <a:buNone/>
            </a:pPr>
            <a:r>
              <a:rPr lang="en-US" altLang="en-GB" sz="2000" smtClean="0"/>
              <a:t>Prod 3 </a:t>
            </a:r>
            <a:r>
              <a:rPr lang="en-US" altLang="en-GB" sz="2000" i="1" smtClean="0"/>
              <a:t>X → bX</a:t>
            </a:r>
          </a:p>
          <a:p>
            <a:pPr marL="838200" lvl="1" indent="-381000" algn="just" eaLnBrk="1" hangingPunct="1">
              <a:buFont typeface="Wingdings" panose="05000000000000000000" pitchFamily="2" charset="2"/>
              <a:buNone/>
            </a:pPr>
            <a:r>
              <a:rPr lang="en-US" altLang="en-GB" sz="2000" smtClean="0"/>
              <a:t>Prod 4 </a:t>
            </a:r>
            <a:r>
              <a:rPr lang="en-US" altLang="en-GB" sz="2000" i="1" smtClean="0"/>
              <a:t>X → </a:t>
            </a:r>
            <a:r>
              <a:rPr lang="el-GR" altLang="en-GB" sz="2000" i="1" smtClean="0"/>
              <a:t>Λ</a:t>
            </a:r>
            <a:r>
              <a:rPr lang="en-US" altLang="en-GB" sz="2000" i="1" smtClean="0"/>
              <a:t> </a:t>
            </a:r>
          </a:p>
          <a:p>
            <a:pPr marL="457200" indent="-457200"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can be written more compactly as</a:t>
            </a:r>
          </a:p>
          <a:p>
            <a:pPr marL="838200" lvl="1" indent="-381000" algn="just" eaLnBrk="1" hangingPunct="1">
              <a:buFont typeface="Wingdings" panose="05000000000000000000" pitchFamily="2" charset="2"/>
              <a:buNone/>
            </a:pPr>
            <a:r>
              <a:rPr lang="en-US" altLang="en-GB" sz="2000" smtClean="0"/>
              <a:t>Prod 1 	</a:t>
            </a:r>
            <a:r>
              <a:rPr lang="en-US" altLang="en-GB" sz="2000" i="1" smtClean="0"/>
              <a:t>S → XaaX</a:t>
            </a:r>
          </a:p>
          <a:p>
            <a:pPr marL="838200" lvl="1" indent="-381000" algn="just" eaLnBrk="1" hangingPunct="1">
              <a:buFont typeface="Wingdings" panose="05000000000000000000" pitchFamily="2" charset="2"/>
              <a:buNone/>
            </a:pPr>
            <a:r>
              <a:rPr lang="en-US" altLang="en-GB" sz="2000" smtClean="0"/>
              <a:t>Prod 2 	</a:t>
            </a:r>
            <a:r>
              <a:rPr lang="en-US" altLang="en-GB" sz="2000" i="1" smtClean="0"/>
              <a:t>X → aX|bX|</a:t>
            </a:r>
            <a:r>
              <a:rPr lang="el-GR" altLang="en-GB" sz="2000" i="1" smtClean="0"/>
              <a:t>Λ</a:t>
            </a:r>
            <a:endParaRPr lang="en-US" altLang="en-GB" sz="2000" i="1" smtClean="0"/>
          </a:p>
          <a:p>
            <a:pPr marL="457200" indent="-457200" algn="just" eaLnBrk="1" hangingPunct="1"/>
            <a:endParaRPr lang="en-US" altLang="en-GB" sz="220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a* terminal – a, b, </a:t>
            </a:r>
            <a:br>
              <a:rPr lang="en-US" altLang="en-US" smtClean="0"/>
            </a:br>
            <a:r>
              <a:rPr lang="en-US" altLang="en-US" smtClean="0"/>
              <a:t>non-terminal for S, X, A</a:t>
            </a:r>
            <a:endParaRPr lang="en-GB" alt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 S -&gt; </a:t>
            </a:r>
            <a:r>
              <a:rPr lang="en-US" dirty="0" err="1"/>
              <a:t>aS</a:t>
            </a:r>
            <a:r>
              <a:rPr lang="en-US" dirty="0"/>
              <a:t> | Δ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 err="1">
                <a:highlight>
                  <a:srgbClr val="00FFFF"/>
                </a:highlight>
              </a:rPr>
              <a:t>a</a:t>
            </a:r>
            <a:r>
              <a:rPr lang="en-US" dirty="0" err="1">
                <a:highlight>
                  <a:srgbClr val="00FF00"/>
                </a:highlight>
              </a:rPr>
              <a:t>a</a:t>
            </a:r>
            <a:r>
              <a:rPr lang="en-US" dirty="0" err="1">
                <a:highlight>
                  <a:srgbClr val="FF00FF"/>
                </a:highlight>
              </a:rPr>
              <a:t>a</a:t>
            </a:r>
            <a:r>
              <a:rPr lang="en-US" dirty="0" err="1">
                <a:highlight>
                  <a:srgbClr val="FF0000"/>
                </a:highlight>
              </a:rPr>
              <a:t>a</a:t>
            </a:r>
            <a:endParaRPr lang="en-US" dirty="0">
              <a:highlight>
                <a:srgbClr val="FF0000"/>
              </a:highlight>
            </a:endParaRPr>
          </a:p>
          <a:p>
            <a:pPr>
              <a:defRPr/>
            </a:pPr>
            <a:r>
              <a:rPr lang="en-US" dirty="0"/>
              <a:t>S -&gt; </a:t>
            </a:r>
            <a:r>
              <a:rPr lang="en-US" dirty="0" err="1">
                <a:highlight>
                  <a:srgbClr val="00FFFF"/>
                </a:highlight>
              </a:rPr>
              <a:t>a</a:t>
            </a:r>
            <a:r>
              <a:rPr lang="en-US" dirty="0" err="1"/>
              <a:t>S</a:t>
            </a:r>
            <a:endParaRPr lang="en-US" dirty="0"/>
          </a:p>
          <a:p>
            <a:pPr>
              <a:defRPr/>
            </a:pPr>
            <a:r>
              <a:rPr lang="en-US" dirty="0"/>
              <a:t>          S-&gt;</a:t>
            </a:r>
            <a:r>
              <a:rPr lang="en-US" dirty="0" err="1">
                <a:highlight>
                  <a:srgbClr val="00FF00"/>
                </a:highlight>
              </a:rPr>
              <a:t>a</a:t>
            </a:r>
            <a:r>
              <a:rPr lang="en-US" dirty="0" err="1"/>
              <a:t>S</a:t>
            </a:r>
            <a:r>
              <a:rPr lang="en-US" dirty="0"/>
              <a:t> </a:t>
            </a:r>
          </a:p>
          <a:p>
            <a:pPr>
              <a:defRPr/>
            </a:pPr>
            <a:r>
              <a:rPr lang="en-US" dirty="0"/>
              <a:t>                  S -&gt; </a:t>
            </a:r>
            <a:r>
              <a:rPr lang="en-US" dirty="0" err="1">
                <a:highlight>
                  <a:srgbClr val="FF00FF"/>
                </a:highlight>
              </a:rPr>
              <a:t>a</a:t>
            </a:r>
            <a:r>
              <a:rPr lang="en-US" dirty="0" err="1"/>
              <a:t>S</a:t>
            </a:r>
            <a:endParaRPr lang="en-US" dirty="0"/>
          </a:p>
          <a:p>
            <a:pPr>
              <a:defRPr/>
            </a:pPr>
            <a:r>
              <a:rPr lang="en-US" dirty="0"/>
              <a:t>                            S -&gt; </a:t>
            </a:r>
            <a:r>
              <a:rPr lang="en-US" dirty="0" err="1">
                <a:highlight>
                  <a:srgbClr val="FF0000"/>
                </a:highlight>
              </a:rPr>
              <a:t>a</a:t>
            </a:r>
            <a:r>
              <a:rPr lang="en-US" dirty="0" err="1"/>
              <a:t>S</a:t>
            </a:r>
            <a:r>
              <a:rPr lang="en-US" dirty="0"/>
              <a:t> </a:t>
            </a:r>
          </a:p>
          <a:p>
            <a:pPr>
              <a:defRPr/>
            </a:pPr>
            <a:r>
              <a:rPr lang="en-US" dirty="0"/>
              <a:t>                                      S -&gt; Δ</a:t>
            </a:r>
          </a:p>
          <a:p>
            <a:pPr>
              <a:defRPr/>
            </a:pPr>
            <a:r>
              <a:rPr lang="en-US" dirty="0"/>
              <a:t>  </a:t>
            </a:r>
            <a:endParaRPr lang="en-PK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 -&gt; Sa | Δ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 </a:t>
            </a:r>
            <a:r>
              <a:rPr lang="en-US" dirty="0" err="1"/>
              <a:t>a</a:t>
            </a:r>
            <a:r>
              <a:rPr lang="en-US" dirty="0" err="1">
                <a:highlight>
                  <a:srgbClr val="FF00FF"/>
                </a:highlight>
              </a:rPr>
              <a:t>a</a:t>
            </a:r>
            <a:r>
              <a:rPr lang="en-US" dirty="0" err="1">
                <a:highlight>
                  <a:srgbClr val="00FF00"/>
                </a:highlight>
              </a:rPr>
              <a:t>a</a:t>
            </a:r>
            <a:r>
              <a:rPr lang="en-US" dirty="0" err="1">
                <a:highlight>
                  <a:srgbClr val="FFFF00"/>
                </a:highlight>
              </a:rPr>
              <a:t>a</a:t>
            </a:r>
            <a:endParaRPr lang="en-US" dirty="0">
              <a:highlight>
                <a:srgbClr val="FFFF00"/>
              </a:highlight>
            </a:endParaRPr>
          </a:p>
          <a:p>
            <a:pPr>
              <a:defRPr/>
            </a:pPr>
            <a:r>
              <a:rPr lang="en-US" dirty="0"/>
              <a:t>S -&gt; S</a:t>
            </a:r>
            <a:r>
              <a:rPr lang="en-US" dirty="0">
                <a:highlight>
                  <a:srgbClr val="FFFF00"/>
                </a:highlight>
              </a:rPr>
              <a:t>a</a:t>
            </a:r>
          </a:p>
          <a:p>
            <a:pPr>
              <a:defRPr/>
            </a:pPr>
            <a:r>
              <a:rPr lang="en-US" dirty="0"/>
              <a:t>        S-&gt;S</a:t>
            </a:r>
            <a:r>
              <a:rPr lang="en-US" dirty="0">
                <a:highlight>
                  <a:srgbClr val="00FF00"/>
                </a:highlight>
              </a:rPr>
              <a:t>a</a:t>
            </a:r>
          </a:p>
          <a:p>
            <a:pPr>
              <a:defRPr/>
            </a:pPr>
            <a:r>
              <a:rPr lang="en-US" dirty="0"/>
              <a:t>              S-&gt;S</a:t>
            </a:r>
            <a:r>
              <a:rPr lang="en-US" dirty="0">
                <a:highlight>
                  <a:srgbClr val="FF00FF"/>
                </a:highlight>
              </a:rPr>
              <a:t>a</a:t>
            </a:r>
          </a:p>
          <a:p>
            <a:pPr>
              <a:defRPr/>
            </a:pPr>
            <a:r>
              <a:rPr lang="en-US" dirty="0"/>
              <a:t>                    S-&gt;S</a:t>
            </a:r>
            <a:r>
              <a:rPr lang="en-US" dirty="0">
                <a:highlight>
                  <a:srgbClr val="008000"/>
                </a:highlight>
              </a:rPr>
              <a:t>a</a:t>
            </a:r>
          </a:p>
          <a:p>
            <a:pPr>
              <a:defRPr/>
            </a:pPr>
            <a:r>
              <a:rPr lang="en-US" dirty="0"/>
              <a:t>                          S -&gt; Δ</a:t>
            </a:r>
          </a:p>
          <a:p>
            <a:pPr>
              <a:defRPr/>
            </a:pPr>
            <a:endParaRPr lang="en-PK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43014" name="Slide Number Placeholder 2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CFCC8F-C0A8-466D-9CDD-E0BB3FA37990}" type="slidenum">
              <a:rPr lang="en-US" altLang="en-US">
                <a:solidFill>
                  <a:srgbClr val="898989"/>
                </a:solidFill>
              </a:rPr>
              <a:pPr/>
              <a:t>22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 Language: ab*</a:t>
            </a:r>
            <a:endParaRPr lang="en-GB" alt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CFG: </a:t>
            </a:r>
          </a:p>
          <a:p>
            <a:pPr marL="457200" lvl="1" indent="0">
              <a:buFont typeface="Arial" panose="020B0604020202020204" pitchFamily="34" charset="0"/>
              <a:buNone/>
              <a:defRPr/>
            </a:pPr>
            <a:r>
              <a:rPr lang="en-US" dirty="0"/>
              <a:t>S -&gt; Sb | a</a:t>
            </a:r>
          </a:p>
          <a:p>
            <a:pPr marL="457200" lvl="1" indent="0">
              <a:buFont typeface="Arial" panose="020B0604020202020204" pitchFamily="34" charset="0"/>
              <a:buNone/>
              <a:defRPr/>
            </a:pPr>
            <a:r>
              <a:rPr lang="en-US" dirty="0" err="1"/>
              <a:t>a</a:t>
            </a:r>
            <a:r>
              <a:rPr lang="en-US" dirty="0" err="1">
                <a:highlight>
                  <a:srgbClr val="FF0000"/>
                </a:highlight>
              </a:rPr>
              <a:t>b</a:t>
            </a:r>
            <a:r>
              <a:rPr lang="en-US" dirty="0" err="1">
                <a:highlight>
                  <a:srgbClr val="00FF00"/>
                </a:highlight>
              </a:rPr>
              <a:t>b</a:t>
            </a:r>
            <a:r>
              <a:rPr lang="en-US" dirty="0" err="1">
                <a:highlight>
                  <a:srgbClr val="FFFF00"/>
                </a:highlight>
              </a:rPr>
              <a:t>b</a:t>
            </a:r>
            <a:endParaRPr lang="en-US" dirty="0">
              <a:highlight>
                <a:srgbClr val="FFFF00"/>
              </a:highlight>
            </a:endParaRPr>
          </a:p>
          <a:p>
            <a:pPr marL="457200" lvl="1" indent="0">
              <a:buFont typeface="Arial" panose="020B0604020202020204" pitchFamily="34" charset="0"/>
              <a:buNone/>
              <a:defRPr/>
            </a:pPr>
            <a:r>
              <a:rPr lang="en-US" dirty="0"/>
              <a:t>S -&gt; S</a:t>
            </a:r>
            <a:r>
              <a:rPr lang="en-US" dirty="0">
                <a:highlight>
                  <a:srgbClr val="FFFF00"/>
                </a:highlight>
              </a:rPr>
              <a:t>b</a:t>
            </a:r>
            <a:r>
              <a:rPr lang="en-US" dirty="0"/>
              <a:t> </a:t>
            </a:r>
          </a:p>
          <a:p>
            <a:pPr marL="457200" lvl="1" indent="0">
              <a:buFont typeface="Arial" panose="020B0604020202020204" pitchFamily="34" charset="0"/>
              <a:buNone/>
              <a:defRPr/>
            </a:pPr>
            <a:r>
              <a:rPr lang="en-US" dirty="0"/>
              <a:t>          S - &gt; S</a:t>
            </a:r>
            <a:r>
              <a:rPr lang="en-US" dirty="0">
                <a:highlight>
                  <a:srgbClr val="00FF00"/>
                </a:highlight>
              </a:rPr>
              <a:t>b</a:t>
            </a:r>
          </a:p>
          <a:p>
            <a:pPr marL="457200" lvl="1" indent="0">
              <a:buFont typeface="Arial" panose="020B0604020202020204" pitchFamily="34" charset="0"/>
              <a:buNone/>
              <a:defRPr/>
            </a:pPr>
            <a:r>
              <a:rPr lang="en-US" dirty="0"/>
              <a:t>		    S -&gt; S</a:t>
            </a:r>
            <a:r>
              <a:rPr lang="en-US" dirty="0">
                <a:highlight>
                  <a:srgbClr val="FF0000"/>
                </a:highlight>
              </a:rPr>
              <a:t>b</a:t>
            </a:r>
          </a:p>
          <a:p>
            <a:pPr marL="457200" lvl="1" indent="0">
              <a:buFont typeface="Arial" panose="020B0604020202020204" pitchFamily="34" charset="0"/>
              <a:buNone/>
              <a:defRPr/>
            </a:pPr>
            <a:r>
              <a:rPr lang="en-US" dirty="0"/>
              <a:t>			   S -&gt; a</a:t>
            </a:r>
          </a:p>
          <a:p>
            <a:pPr marL="457200" lvl="1" indent="0">
              <a:buFont typeface="Arial" panose="020B0604020202020204" pitchFamily="34" charset="0"/>
              <a:buNone/>
              <a:defRPr/>
            </a:pPr>
            <a:endParaRPr lang="en-PK" dirty="0"/>
          </a:p>
        </p:txBody>
      </p:sp>
      <p:sp>
        <p:nvSpPr>
          <p:cNvPr id="44036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en-US" smtClean="0"/>
              <a:t> b*a</a:t>
            </a:r>
          </a:p>
          <a:p>
            <a:r>
              <a:rPr lang="en-US" altLang="en-US" smtClean="0"/>
              <a:t>CFG: 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altLang="en-US" smtClean="0"/>
              <a:t>S -&gt; bS | a</a:t>
            </a:r>
          </a:p>
          <a:p>
            <a:r>
              <a:rPr lang="en-US" altLang="en-US" smtClean="0"/>
              <a:t> abbb</a:t>
            </a:r>
          </a:p>
          <a:p>
            <a:endParaRPr lang="en-US" altLang="en-US" smtClean="0"/>
          </a:p>
          <a:p>
            <a:r>
              <a:rPr lang="en-US" altLang="en-US" smtClean="0"/>
              <a:t> bbba</a:t>
            </a:r>
            <a:endParaRPr lang="en-GB" altLang="en-US" smtClean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44038" name="Slide Number Placeholder 2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1B8B64F-6302-4E3B-BF50-C7565AE3E2AE}" type="slidenum">
              <a:rPr lang="en-US" altLang="en-US">
                <a:solidFill>
                  <a:srgbClr val="898989"/>
                </a:solidFill>
              </a:rPr>
              <a:pPr/>
              <a:t>23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 Language: b*ab*</a:t>
            </a:r>
            <a:endParaRPr lang="en-GB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CFG: S -&gt; </a:t>
            </a:r>
            <a:r>
              <a:rPr lang="en-US" dirty="0" err="1"/>
              <a:t>X</a:t>
            </a:r>
            <a:r>
              <a:rPr lang="en-US" dirty="0" err="1">
                <a:solidFill>
                  <a:srgbClr val="FF0000"/>
                </a:solidFill>
              </a:rPr>
              <a:t>a</a:t>
            </a:r>
            <a:r>
              <a:rPr lang="en-US" dirty="0" err="1"/>
              <a:t>X</a:t>
            </a:r>
            <a:r>
              <a:rPr lang="en-US" dirty="0"/>
              <a:t>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/>
              <a:t>           X -&gt; </a:t>
            </a:r>
            <a:r>
              <a:rPr lang="en-US" dirty="0" err="1"/>
              <a:t>bX</a:t>
            </a:r>
            <a:r>
              <a:rPr lang="en-US" dirty="0"/>
              <a:t> | Δ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/>
              <a:t>              </a:t>
            </a:r>
            <a:r>
              <a:rPr lang="en-US" dirty="0" err="1">
                <a:highlight>
                  <a:srgbClr val="00FFFF"/>
                </a:highlight>
              </a:rPr>
              <a:t>b</a:t>
            </a:r>
            <a:r>
              <a:rPr lang="en-US" dirty="0" err="1">
                <a:highlight>
                  <a:srgbClr val="00FF00"/>
                </a:highlight>
              </a:rPr>
              <a:t>b</a:t>
            </a:r>
            <a:r>
              <a:rPr lang="en-US" dirty="0" err="1">
                <a:highlight>
                  <a:srgbClr val="FF00FF"/>
                </a:highlight>
              </a:rPr>
              <a:t>b</a:t>
            </a:r>
            <a:r>
              <a:rPr lang="en-US" dirty="0" err="1"/>
              <a:t>a</a:t>
            </a:r>
            <a:r>
              <a:rPr lang="en-US" dirty="0" err="1">
                <a:highlight>
                  <a:srgbClr val="800080"/>
                </a:highlight>
              </a:rPr>
              <a:t>b</a:t>
            </a:r>
            <a:endParaRPr lang="en-US" dirty="0">
              <a:highlight>
                <a:srgbClr val="800080"/>
              </a:highlight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/>
              <a:t>S-&gt;</a:t>
            </a:r>
            <a:r>
              <a:rPr lang="en-US" dirty="0" err="1">
                <a:highlight>
                  <a:srgbClr val="C0C0C0"/>
                </a:highlight>
              </a:rPr>
              <a:t>X</a:t>
            </a:r>
            <a:r>
              <a:rPr lang="en-US" dirty="0" err="1">
                <a:solidFill>
                  <a:srgbClr val="FF0000"/>
                </a:solidFill>
              </a:rPr>
              <a:t>a</a:t>
            </a:r>
            <a:r>
              <a:rPr lang="en-US" dirty="0" err="1"/>
              <a:t>X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/>
              <a:t>      X-&gt;</a:t>
            </a:r>
            <a:r>
              <a:rPr lang="en-US" dirty="0" err="1">
                <a:highlight>
                  <a:srgbClr val="00FFFF"/>
                </a:highlight>
              </a:rPr>
              <a:t>b</a:t>
            </a:r>
            <a:r>
              <a:rPr lang="en-US" dirty="0" err="1"/>
              <a:t>X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/>
              <a:t>              X-&gt;</a:t>
            </a:r>
            <a:r>
              <a:rPr lang="en-US" dirty="0" err="1">
                <a:highlight>
                  <a:srgbClr val="00FF00"/>
                </a:highlight>
              </a:rPr>
              <a:t>b</a:t>
            </a:r>
            <a:r>
              <a:rPr lang="en-US" dirty="0" err="1"/>
              <a:t>X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/>
              <a:t>                      X-&gt;</a:t>
            </a:r>
            <a:r>
              <a:rPr lang="en-US" dirty="0" err="1">
                <a:highlight>
                  <a:srgbClr val="FF00FF"/>
                </a:highlight>
              </a:rPr>
              <a:t>b</a:t>
            </a:r>
            <a:r>
              <a:rPr lang="en-US" dirty="0" err="1"/>
              <a:t>X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/>
              <a:t>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/>
              <a:t>      </a:t>
            </a:r>
            <a:endParaRPr lang="en-PK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X-&gt;</a:t>
            </a:r>
            <a:r>
              <a:rPr lang="en-US" dirty="0" err="1">
                <a:highlight>
                  <a:srgbClr val="800080"/>
                </a:highlight>
              </a:rPr>
              <a:t>b</a:t>
            </a:r>
            <a:r>
              <a:rPr lang="en-US" dirty="0" err="1"/>
              <a:t>X</a:t>
            </a:r>
            <a:endParaRPr lang="en-US" dirty="0"/>
          </a:p>
          <a:p>
            <a:pPr>
              <a:defRPr/>
            </a:pPr>
            <a:r>
              <a:rPr lang="en-US" dirty="0"/>
              <a:t>        X-&gt;</a:t>
            </a:r>
            <a:r>
              <a:rPr lang="el-GR" dirty="0"/>
              <a:t>Δ</a:t>
            </a:r>
            <a:endParaRPr lang="en-US" dirty="0"/>
          </a:p>
          <a:p>
            <a:pPr>
              <a:defRPr/>
            </a:pPr>
            <a:r>
              <a:rPr lang="en-US" dirty="0"/>
              <a:t>        </a:t>
            </a:r>
            <a:endParaRPr lang="en-PK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45062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6F417E6-2CFE-432D-8827-569688093845}" type="slidenum">
              <a:rPr lang="en-US" altLang="en-US">
                <a:solidFill>
                  <a:srgbClr val="898989"/>
                </a:solidFill>
              </a:rPr>
              <a:pPr/>
              <a:t>24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Plaindrome; not a regular, No FA, no TG, no RE, </a:t>
            </a:r>
            <a:r>
              <a:rPr lang="en-US" altLang="en-US" i="1" smtClean="0"/>
              <a:t>yes CFG</a:t>
            </a:r>
            <a:endParaRPr lang="en-GB" altLang="en-US" i="1" smtClean="0"/>
          </a:p>
        </p:txBody>
      </p:sp>
      <p:sp>
        <p:nvSpPr>
          <p:cNvPr id="4608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 smtClean="0"/>
              <a:t>Odd Palindrome:</a:t>
            </a:r>
          </a:p>
          <a:p>
            <a:r>
              <a:rPr lang="en-US" altLang="en-US" smtClean="0"/>
              <a:t>{ a, b, aaa, aba, bab, bbb, aaaaa, aabaa, ababa, abbba, baaab, bbabb, babab, bbbbb, </a:t>
            </a:r>
          </a:p>
          <a:p>
            <a:r>
              <a:rPr lang="en-US" altLang="en-US" smtClean="0"/>
              <a:t>aaaaaaa, aaabaaa,…} </a:t>
            </a:r>
            <a:endParaRPr lang="en-GB" altLang="en-US" smtClean="0"/>
          </a:p>
        </p:txBody>
      </p:sp>
      <p:sp>
        <p:nvSpPr>
          <p:cNvPr id="4608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altLang="en-US" smtClean="0"/>
          </a:p>
          <a:p>
            <a:r>
              <a:rPr lang="en-US" altLang="en-US" smtClean="0"/>
              <a:t>S -&gt; aSa | bSb | a |b</a:t>
            </a:r>
          </a:p>
          <a:p>
            <a:endParaRPr lang="en-US" altLang="en-US" smtClean="0"/>
          </a:p>
          <a:p>
            <a:r>
              <a:rPr lang="en-US" altLang="en-US" smtClean="0"/>
              <a:t>aaba a abaa</a:t>
            </a:r>
          </a:p>
          <a:p>
            <a:endParaRPr lang="en-US" altLang="en-US" smtClean="0"/>
          </a:p>
          <a:p>
            <a:r>
              <a:rPr lang="en-US" altLang="en-US" smtClean="0"/>
              <a:t>aabababaa</a:t>
            </a:r>
          </a:p>
          <a:p>
            <a:endParaRPr lang="en-GB" alt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46086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37C3518-4EBD-477C-B6B8-100C88CBEFFC}" type="slidenum">
              <a:rPr lang="en-US" altLang="en-US">
                <a:solidFill>
                  <a:srgbClr val="898989"/>
                </a:solidFill>
              </a:rPr>
              <a:pPr/>
              <a:t>25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Even Palindrom</a:t>
            </a:r>
            <a:endParaRPr lang="en-GB" altLang="en-US" smtClean="0"/>
          </a:p>
        </p:txBody>
      </p:sp>
      <p:sp>
        <p:nvSpPr>
          <p:cNvPr id="47107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 smtClean="0"/>
              <a:t>{</a:t>
            </a:r>
            <a:r>
              <a:rPr lang="el-GR" altLang="en-US" smtClean="0"/>
              <a:t>Δ</a:t>
            </a:r>
            <a:r>
              <a:rPr lang="en-US" altLang="en-US" smtClean="0"/>
              <a:t>, aa, bb, aaaa, abba, baab, bbbb, aaaaaa, aabbaa, abaaba, …}</a:t>
            </a:r>
            <a:endParaRPr lang="en-GB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 -&gt; </a:t>
            </a:r>
            <a:r>
              <a:rPr lang="en-US" dirty="0" err="1"/>
              <a:t>aSa</a:t>
            </a:r>
            <a:r>
              <a:rPr lang="en-US" dirty="0"/>
              <a:t> |</a:t>
            </a:r>
            <a:r>
              <a:rPr lang="en-US" dirty="0" err="1"/>
              <a:t>bSb</a:t>
            </a:r>
            <a:r>
              <a:rPr lang="en-US" dirty="0"/>
              <a:t> |</a:t>
            </a:r>
            <a:r>
              <a:rPr lang="el-GR" dirty="0"/>
              <a:t>Δ</a:t>
            </a: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 err="1"/>
              <a:t>abaaba</a:t>
            </a:r>
            <a:endParaRPr lang="en-US" dirty="0"/>
          </a:p>
          <a:p>
            <a:pPr>
              <a:defRPr/>
            </a:pPr>
            <a:r>
              <a:rPr lang="en-US" dirty="0" err="1"/>
              <a:t>aabbaSabbaa</a:t>
            </a: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 </a:t>
            </a:r>
            <a:r>
              <a:rPr lang="en-US" dirty="0" err="1">
                <a:highlight>
                  <a:srgbClr val="FFFF00"/>
                </a:highlight>
              </a:rPr>
              <a:t>a</a:t>
            </a:r>
            <a:r>
              <a:rPr lang="en-US" dirty="0" err="1"/>
              <a:t>baab</a:t>
            </a:r>
            <a:r>
              <a:rPr lang="en-US" dirty="0" err="1">
                <a:highlight>
                  <a:srgbClr val="FFFF00"/>
                </a:highlight>
              </a:rPr>
              <a:t>a</a:t>
            </a:r>
            <a:endParaRPr lang="en-US" dirty="0">
              <a:highlight>
                <a:srgbClr val="FFFF00"/>
              </a:highlight>
            </a:endParaRPr>
          </a:p>
          <a:p>
            <a:pPr>
              <a:defRPr/>
            </a:pPr>
            <a:r>
              <a:rPr lang="en-US" dirty="0" err="1"/>
              <a:t>abaaba</a:t>
            </a:r>
            <a:endParaRPr lang="en-US" dirty="0"/>
          </a:p>
          <a:p>
            <a:pPr>
              <a:defRPr/>
            </a:pPr>
            <a:endParaRPr lang="en-P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47110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72A352B-C04E-494B-A255-A0ACB74AC8F8}" type="slidenum">
              <a:rPr lang="en-US" altLang="en-US">
                <a:solidFill>
                  <a:srgbClr val="898989"/>
                </a:solidFill>
              </a:rPr>
              <a:pPr/>
              <a:t>26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</a:t>
            </a:r>
            <a:r>
              <a:rPr lang="en-US" altLang="en-US" baseline="30000" smtClean="0"/>
              <a:t>n</a:t>
            </a:r>
            <a:r>
              <a:rPr lang="en-US" altLang="en-US" smtClean="0"/>
              <a:t>b</a:t>
            </a:r>
            <a:r>
              <a:rPr lang="en-US" altLang="en-US" baseline="30000" smtClean="0"/>
              <a:t>n</a:t>
            </a:r>
            <a:endParaRPr lang="en-GB" altLang="en-US" baseline="30000" smtClean="0"/>
          </a:p>
        </p:txBody>
      </p:sp>
      <p:sp>
        <p:nvSpPr>
          <p:cNvPr id="48131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 smtClean="0"/>
              <a:t>{</a:t>
            </a:r>
            <a:r>
              <a:rPr lang="el-GR" altLang="en-US" smtClean="0"/>
              <a:t>Δ</a:t>
            </a:r>
            <a:r>
              <a:rPr lang="en-US" altLang="en-US" smtClean="0"/>
              <a:t>, ab, aabb, aaabbb, aaaabbbb, aaaaabbbbb, aaaaaabbbbbb,….}</a:t>
            </a:r>
          </a:p>
          <a:p>
            <a:r>
              <a:rPr lang="en-US" altLang="en-US" smtClean="0"/>
              <a:t>S -&gt; aSb | Δ</a:t>
            </a:r>
          </a:p>
          <a:p>
            <a:endParaRPr lang="en-US" altLang="en-US" smtClean="0"/>
          </a:p>
          <a:p>
            <a:r>
              <a:rPr lang="en-US" altLang="en-US" smtClean="0"/>
              <a:t> aaaaaabbbbbb</a:t>
            </a:r>
          </a:p>
          <a:p>
            <a:r>
              <a:rPr lang="en-US" altLang="en-US" smtClean="0"/>
              <a:t>aaaaSbbbb</a:t>
            </a:r>
            <a:endParaRPr lang="en-GB" altLang="en-US" smtClean="0"/>
          </a:p>
        </p:txBody>
      </p:sp>
      <p:sp>
        <p:nvSpPr>
          <p:cNvPr id="48132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en-US" smtClean="0"/>
              <a:t>XaX</a:t>
            </a:r>
            <a:endParaRPr lang="en-GB" alt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48134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F2AE6F0-2F0A-4F1D-9AB5-FBD287A8E472}" type="slidenum">
              <a:rPr lang="en-US" altLang="en-US">
                <a:solidFill>
                  <a:srgbClr val="898989"/>
                </a:solidFill>
              </a:rPr>
              <a:pPr/>
              <a:t>27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(a+b)*</a:t>
            </a:r>
            <a:endParaRPr lang="en-GB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 -&gt; </a:t>
            </a:r>
            <a:r>
              <a:rPr lang="en-US" dirty="0" err="1"/>
              <a:t>aS</a:t>
            </a:r>
            <a:r>
              <a:rPr lang="en-US" dirty="0"/>
              <a:t> | </a:t>
            </a:r>
            <a:r>
              <a:rPr lang="en-US" dirty="0" err="1"/>
              <a:t>bS</a:t>
            </a:r>
            <a:r>
              <a:rPr lang="en-US" dirty="0"/>
              <a:t> | </a:t>
            </a:r>
            <a:r>
              <a:rPr lang="el-GR" dirty="0"/>
              <a:t>Δ</a:t>
            </a:r>
            <a:endParaRPr lang="en-US" dirty="0"/>
          </a:p>
          <a:p>
            <a:pPr>
              <a:defRPr/>
            </a:pPr>
            <a:r>
              <a:rPr lang="en-US" dirty="0"/>
              <a:t>S -&gt; Sa | Sb | </a:t>
            </a:r>
            <a:r>
              <a:rPr lang="el-GR" dirty="0"/>
              <a:t>Δ</a:t>
            </a:r>
            <a:endParaRPr lang="en-US" dirty="0"/>
          </a:p>
          <a:p>
            <a:pPr>
              <a:defRPr/>
            </a:pPr>
            <a:r>
              <a:rPr lang="en-US" dirty="0"/>
              <a:t>S -&gt; Sa | </a:t>
            </a:r>
            <a:r>
              <a:rPr lang="en-US" dirty="0" err="1"/>
              <a:t>bS</a:t>
            </a:r>
            <a:r>
              <a:rPr lang="en-US" dirty="0"/>
              <a:t> | </a:t>
            </a:r>
            <a:r>
              <a:rPr lang="el-GR" dirty="0"/>
              <a:t>Δ</a:t>
            </a: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dirty="0"/>
              <a:t>{</a:t>
            </a:r>
            <a:r>
              <a:rPr lang="el-GR" dirty="0"/>
              <a:t>Δ</a:t>
            </a:r>
            <a:r>
              <a:rPr lang="en-US" dirty="0"/>
              <a:t>, a, b, aa, ab, </a:t>
            </a:r>
            <a:r>
              <a:rPr lang="en-US" dirty="0" err="1"/>
              <a:t>ba</a:t>
            </a:r>
            <a:r>
              <a:rPr lang="en-US" dirty="0"/>
              <a:t>, bb, </a:t>
            </a:r>
            <a:r>
              <a:rPr lang="en-US" dirty="0" err="1"/>
              <a:t>aaa</a:t>
            </a:r>
            <a:r>
              <a:rPr lang="en-US" dirty="0"/>
              <a:t>, </a:t>
            </a:r>
            <a:r>
              <a:rPr lang="en-US" dirty="0" err="1"/>
              <a:t>aab</a:t>
            </a:r>
            <a:r>
              <a:rPr lang="en-US" dirty="0"/>
              <a:t>, aba, abb, baa, </a:t>
            </a:r>
            <a:r>
              <a:rPr lang="en-US" dirty="0" err="1"/>
              <a:t>bab</a:t>
            </a:r>
            <a:r>
              <a:rPr lang="en-US" dirty="0"/>
              <a:t>, </a:t>
            </a:r>
            <a:r>
              <a:rPr lang="en-US" dirty="0" err="1"/>
              <a:t>bba</a:t>
            </a:r>
            <a:r>
              <a:rPr lang="en-US" dirty="0"/>
              <a:t>, </a:t>
            </a:r>
            <a:r>
              <a:rPr lang="en-US" dirty="0" err="1"/>
              <a:t>bbb</a:t>
            </a:r>
            <a:r>
              <a:rPr lang="en-US" dirty="0"/>
              <a:t>, </a:t>
            </a:r>
            <a:r>
              <a:rPr lang="en-US" dirty="0" err="1"/>
              <a:t>aaaa</a:t>
            </a:r>
            <a:r>
              <a:rPr lang="en-US" dirty="0"/>
              <a:t>, …}</a:t>
            </a:r>
            <a:endParaRPr lang="en-PK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defRPr/>
            </a:pPr>
            <a:r>
              <a:rPr lang="en-US" dirty="0" err="1">
                <a:highlight>
                  <a:srgbClr val="800080"/>
                </a:highlight>
              </a:rPr>
              <a:t>a</a:t>
            </a:r>
            <a:r>
              <a:rPr lang="en-US" dirty="0" err="1">
                <a:highlight>
                  <a:srgbClr val="00FFFF"/>
                </a:highlight>
              </a:rPr>
              <a:t>b</a:t>
            </a:r>
            <a:r>
              <a:rPr lang="en-US" dirty="0" err="1">
                <a:highlight>
                  <a:srgbClr val="00FF00"/>
                </a:highlight>
              </a:rPr>
              <a:t>b</a:t>
            </a:r>
            <a:r>
              <a:rPr lang="en-US" dirty="0" err="1">
                <a:highlight>
                  <a:srgbClr val="00FFFF"/>
                </a:highlight>
              </a:rPr>
              <a:t>b</a:t>
            </a:r>
            <a:endParaRPr lang="en-US" dirty="0">
              <a:highlight>
                <a:srgbClr val="00FFFF"/>
              </a:highlight>
            </a:endParaRP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S -&gt; </a:t>
            </a:r>
            <a:r>
              <a:rPr lang="en-US" dirty="0" err="1">
                <a:highlight>
                  <a:srgbClr val="800080"/>
                </a:highlight>
              </a:rPr>
              <a:t>a</a:t>
            </a:r>
            <a:r>
              <a:rPr lang="en-US" dirty="0" err="1"/>
              <a:t>S</a:t>
            </a:r>
            <a:endParaRPr lang="en-US" dirty="0"/>
          </a:p>
          <a:p>
            <a:pPr>
              <a:defRPr/>
            </a:pPr>
            <a:r>
              <a:rPr lang="en-US" dirty="0"/>
              <a:t>          S -&gt; </a:t>
            </a:r>
            <a:r>
              <a:rPr lang="en-US" dirty="0" err="1">
                <a:highlight>
                  <a:srgbClr val="00FFFF"/>
                </a:highlight>
              </a:rPr>
              <a:t>b</a:t>
            </a:r>
            <a:r>
              <a:rPr lang="en-US" dirty="0" err="1"/>
              <a:t>S</a:t>
            </a:r>
            <a:endParaRPr lang="en-US" dirty="0"/>
          </a:p>
          <a:p>
            <a:pPr>
              <a:defRPr/>
            </a:pPr>
            <a:r>
              <a:rPr lang="en-US" dirty="0"/>
              <a:t>                    S-&gt;</a:t>
            </a:r>
            <a:r>
              <a:rPr lang="en-US" dirty="0" err="1">
                <a:highlight>
                  <a:srgbClr val="00FF00"/>
                </a:highlight>
              </a:rPr>
              <a:t>b</a:t>
            </a:r>
            <a:r>
              <a:rPr lang="en-US" dirty="0" err="1"/>
              <a:t>S</a:t>
            </a:r>
            <a:endParaRPr lang="en-US" dirty="0"/>
          </a:p>
          <a:p>
            <a:pPr>
              <a:defRPr/>
            </a:pPr>
            <a:r>
              <a:rPr lang="en-US" dirty="0"/>
              <a:t>                            S-&gt;</a:t>
            </a:r>
            <a:r>
              <a:rPr lang="en-US" dirty="0" err="1">
                <a:highlight>
                  <a:srgbClr val="00FFFF"/>
                </a:highlight>
              </a:rPr>
              <a:t>b</a:t>
            </a:r>
            <a:r>
              <a:rPr lang="en-US" dirty="0" err="1"/>
              <a:t>S</a:t>
            </a:r>
            <a:endParaRPr lang="en-US" dirty="0"/>
          </a:p>
          <a:p>
            <a:pPr>
              <a:defRPr/>
            </a:pPr>
            <a:r>
              <a:rPr lang="en-US" dirty="0"/>
              <a:t>                                     S -&gt;</a:t>
            </a:r>
            <a:endParaRPr lang="en-P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49158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75ED917-DED4-4B9A-9567-8AC81566B4CE}" type="slidenum">
              <a:rPr lang="en-US" altLang="en-US">
                <a:solidFill>
                  <a:srgbClr val="898989"/>
                </a:solidFill>
              </a:rPr>
              <a:pPr/>
              <a:t>28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DD27F47-AB9B-42C4-9E6C-48A062DE31FD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50179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Example</a:t>
            </a:r>
          </a:p>
        </p:txBody>
      </p:sp>
      <p:sp>
        <p:nvSpPr>
          <p:cNvPr id="76803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US" altLang="en-GB" sz="2000" smtClean="0"/>
              <a:t>S</a:t>
            </a:r>
            <a:r>
              <a:rPr lang="en-US" altLang="en-GB" sz="2000" smtClean="0">
                <a:sym typeface="Wingdings" panose="05000000000000000000" pitchFamily="2" charset="2"/>
              </a:rPr>
              <a:t>aSa | aBa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US" altLang="en-GB" sz="2000" smtClean="0">
                <a:sym typeface="Wingdings" panose="05000000000000000000" pitchFamily="2" charset="2"/>
              </a:rPr>
              <a:t>BbB | b</a:t>
            </a:r>
          </a:p>
          <a:p>
            <a:pPr algn="just" eaLnBrk="1" hangingPunct="1"/>
            <a:r>
              <a:rPr lang="en-US" altLang="en-GB" sz="2200" smtClean="0">
                <a:sym typeface="Wingdings" panose="05000000000000000000" pitchFamily="2" charset="2"/>
              </a:rPr>
              <a:t>First production builds  equal number of a’s on both sides and recursion is terminated by SaBa</a:t>
            </a:r>
          </a:p>
          <a:p>
            <a:pPr algn="just" eaLnBrk="1" hangingPunct="1"/>
            <a:r>
              <a:rPr lang="en-US" altLang="en-GB" sz="2200" smtClean="0">
                <a:sym typeface="Wingdings" panose="05000000000000000000" pitchFamily="2" charset="2"/>
              </a:rPr>
              <a:t>Recursion of BbB may add any number of b’s and terminates with Bb</a:t>
            </a:r>
          </a:p>
          <a:p>
            <a:pPr algn="just" eaLnBrk="1" hangingPunct="1"/>
            <a:endParaRPr lang="en-US" altLang="en-GB" sz="2200" smtClean="0">
              <a:sym typeface="Wingdings" panose="05000000000000000000" pitchFamily="2" charset="2"/>
            </a:endParaRPr>
          </a:p>
          <a:p>
            <a:pPr algn="just" eaLnBrk="1" hangingPunct="1"/>
            <a:r>
              <a:rPr lang="en-US" altLang="en-GB" sz="2200" smtClean="0">
                <a:sym typeface="Wingdings" panose="05000000000000000000" pitchFamily="2" charset="2"/>
              </a:rPr>
              <a:t>L(G) = {a</a:t>
            </a:r>
            <a:r>
              <a:rPr lang="en-US" altLang="en-GB" sz="2200" baseline="30000" smtClean="0">
                <a:sym typeface="Wingdings" panose="05000000000000000000" pitchFamily="2" charset="2"/>
              </a:rPr>
              <a:t>n</a:t>
            </a:r>
            <a:r>
              <a:rPr lang="en-US" altLang="en-GB" sz="2200" smtClean="0">
                <a:sym typeface="Wingdings" panose="05000000000000000000" pitchFamily="2" charset="2"/>
              </a:rPr>
              <a:t>b</a:t>
            </a:r>
            <a:r>
              <a:rPr lang="en-US" altLang="en-GB" sz="2200" baseline="30000" smtClean="0">
                <a:sym typeface="Wingdings" panose="05000000000000000000" pitchFamily="2" charset="2"/>
              </a:rPr>
              <a:t>m</a:t>
            </a:r>
            <a:r>
              <a:rPr lang="en-US" altLang="en-GB" sz="2200" smtClean="0">
                <a:sym typeface="Wingdings" panose="05000000000000000000" pitchFamily="2" charset="2"/>
              </a:rPr>
              <a:t>a</a:t>
            </a:r>
            <a:r>
              <a:rPr lang="en-US" altLang="en-GB" sz="2200" baseline="30000" smtClean="0">
                <a:sym typeface="Wingdings" panose="05000000000000000000" pitchFamily="2" charset="2"/>
              </a:rPr>
              <a:t>n</a:t>
            </a:r>
            <a:r>
              <a:rPr lang="en-US" altLang="en-GB" sz="2200" baseline="-25000" smtClean="0">
                <a:sym typeface="Wingdings" panose="05000000000000000000" pitchFamily="2" charset="2"/>
              </a:rPr>
              <a:t> </a:t>
            </a:r>
            <a:r>
              <a:rPr lang="en-US" altLang="en-GB" sz="2200" smtClean="0">
                <a:sym typeface="Wingdings" panose="05000000000000000000" pitchFamily="2" charset="2"/>
              </a:rPr>
              <a:t>n&gt;0, m&gt;0}</a:t>
            </a:r>
            <a:endParaRPr lang="en-US" altLang="en-GB" sz="220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6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DE1918C-F7A1-482E-93EF-3D51A85A9170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52227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example</a:t>
            </a:r>
          </a:p>
        </p:txBody>
      </p:sp>
      <p:sp>
        <p:nvSpPr>
          <p:cNvPr id="52228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600200"/>
            <a:ext cx="4038600" cy="4530725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smtClean="0"/>
              <a:t> L(G) = {a</a:t>
            </a:r>
            <a:r>
              <a:rPr lang="en-US" altLang="en-GB" sz="2200" baseline="30000" smtClean="0"/>
              <a:t>n</a:t>
            </a:r>
            <a:r>
              <a:rPr lang="en-US" altLang="en-GB" sz="2200" smtClean="0"/>
              <a:t>b</a:t>
            </a:r>
            <a:r>
              <a:rPr lang="en-US" altLang="en-GB" sz="2200" baseline="30000" smtClean="0"/>
              <a:t>m</a:t>
            </a:r>
            <a:r>
              <a:rPr lang="en-US" altLang="en-GB" sz="2200" smtClean="0"/>
              <a:t>c</a:t>
            </a:r>
            <a:r>
              <a:rPr lang="en-US" altLang="en-GB" sz="2200" baseline="30000" smtClean="0"/>
              <a:t>m</a:t>
            </a:r>
            <a:r>
              <a:rPr lang="en-US" altLang="en-GB" sz="2200" smtClean="0"/>
              <a:t>d</a:t>
            </a:r>
            <a:r>
              <a:rPr lang="en-US" altLang="en-GB" sz="2200" baseline="30000" smtClean="0"/>
              <a:t>2n</a:t>
            </a:r>
            <a:r>
              <a:rPr lang="en-US" altLang="en-GB" sz="2200" smtClean="0"/>
              <a:t> | n&gt;0, m&gt;0}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Consider relationship between leading a’s and trailing d’s.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smtClean="0"/>
              <a:t>			S</a:t>
            </a:r>
            <a:r>
              <a:rPr lang="en-US" altLang="en-GB" sz="2200" smtClean="0">
                <a:sym typeface="Wingdings" panose="05000000000000000000" pitchFamily="2" charset="2"/>
              </a:rPr>
              <a:t>aSdd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smtClean="0">
                <a:sym typeface="Wingdings" panose="05000000000000000000" pitchFamily="2" charset="2"/>
              </a:rPr>
              <a:t>In the middle equal number of b’s and c’s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GB" sz="2200" smtClean="0">
                <a:sym typeface="Wingdings" panose="05000000000000000000" pitchFamily="2" charset="2"/>
              </a:rPr>
              <a:t>SA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GB" sz="2200" smtClean="0">
                <a:sym typeface="Wingdings" panose="05000000000000000000" pitchFamily="2" charset="2"/>
              </a:rPr>
              <a:t>AbAc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GB" sz="2200" smtClean="0">
                <a:sym typeface="Wingdings" panose="05000000000000000000" pitchFamily="2" charset="2"/>
              </a:rPr>
              <a:t>This middle recursion terminates by Abc.</a:t>
            </a:r>
            <a:endParaRPr lang="en-US" altLang="en-GB" sz="2200" smtClean="0"/>
          </a:p>
        </p:txBody>
      </p:sp>
      <p:sp>
        <p:nvSpPr>
          <p:cNvPr id="77828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105400" y="1600200"/>
            <a:ext cx="4038600" cy="4530725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Grammar will be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2200" smtClean="0"/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smtClean="0"/>
              <a:t>S</a:t>
            </a:r>
            <a:r>
              <a:rPr lang="en-US" altLang="en-GB" sz="2200" smtClean="0">
                <a:sym typeface="Wingdings" panose="05000000000000000000" pitchFamily="2" charset="2"/>
              </a:rPr>
              <a:t>aSdd | aAdd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GB" sz="2200" smtClean="0">
              <a:sym typeface="Wingdings" panose="05000000000000000000" pitchFamily="2" charset="2"/>
            </a:endParaRP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smtClean="0">
                <a:sym typeface="Wingdings" panose="05000000000000000000" pitchFamily="2" charset="2"/>
              </a:rPr>
              <a:t>AbAc | bc</a:t>
            </a:r>
            <a:endParaRPr lang="en-US" altLang="en-GB" sz="220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8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8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78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78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8" grpId="0" build="p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GB" smtClean="0"/>
          </a:p>
        </p:txBody>
      </p:sp>
      <p:sp>
        <p:nvSpPr>
          <p:cNvPr id="5427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 smtClean="0"/>
              <a:t>a</a:t>
            </a:r>
            <a:r>
              <a:rPr lang="en-US" altLang="en-GB" baseline="30000" smtClean="0"/>
              <a:t>n</a:t>
            </a:r>
            <a:r>
              <a:rPr lang="en-US" altLang="en-GB" smtClean="0"/>
              <a:t>b</a:t>
            </a:r>
            <a:r>
              <a:rPr lang="en-US" altLang="en-GB" baseline="30000" smtClean="0"/>
              <a:t>n </a:t>
            </a:r>
            <a:r>
              <a:rPr lang="en-US" altLang="en-GB" smtClean="0"/>
              <a:t>c</a:t>
            </a:r>
            <a:r>
              <a:rPr lang="en-US" altLang="en-GB" baseline="30000" smtClean="0"/>
              <a:t>m</a:t>
            </a:r>
            <a:r>
              <a:rPr lang="en-US" altLang="en-GB" smtClean="0"/>
              <a:t>d</a:t>
            </a:r>
            <a:r>
              <a:rPr lang="en-US" altLang="en-GB" baseline="30000" smtClean="0"/>
              <a:t>m </a:t>
            </a:r>
            <a:r>
              <a:rPr lang="en-US" altLang="en-GB" smtClean="0"/>
              <a:t>e</a:t>
            </a:r>
            <a:r>
              <a:rPr lang="en-US" altLang="en-GB" baseline="30000" smtClean="0"/>
              <a:t>p</a:t>
            </a:r>
            <a:r>
              <a:rPr lang="en-US" altLang="en-GB" smtClean="0"/>
              <a:t>f</a:t>
            </a:r>
            <a:r>
              <a:rPr lang="en-US" altLang="en-GB" baseline="30000" smtClean="0"/>
              <a:t>p</a:t>
            </a:r>
            <a:r>
              <a:rPr lang="en-US" altLang="en-GB" smtClean="0"/>
              <a:t> g</a:t>
            </a:r>
            <a:r>
              <a:rPr lang="en-US" altLang="en-GB" baseline="30000" smtClean="0"/>
              <a:t>q</a:t>
            </a:r>
            <a:r>
              <a:rPr lang="en-US" altLang="en-GB" smtClean="0"/>
              <a:t>h</a:t>
            </a:r>
            <a:r>
              <a:rPr lang="en-US" altLang="en-GB" baseline="30000" smtClean="0"/>
              <a:t>q</a:t>
            </a:r>
            <a:r>
              <a:rPr lang="en-US" altLang="en-GB" smtClean="0"/>
              <a:t>| n&gt;0, m&gt;0</a:t>
            </a:r>
          </a:p>
          <a:p>
            <a:r>
              <a:rPr lang="en-US" altLang="en-GB" smtClean="0"/>
              <a:t>S -&gt; XYZW</a:t>
            </a:r>
          </a:p>
          <a:p>
            <a:r>
              <a:rPr lang="en-US" altLang="en-GB" smtClean="0"/>
              <a:t>X -&gt; aXb |ab</a:t>
            </a:r>
          </a:p>
          <a:p>
            <a:r>
              <a:rPr lang="en-US" altLang="en-GB" smtClean="0"/>
              <a:t>Y -&gt; cYd | cd</a:t>
            </a:r>
          </a:p>
          <a:p>
            <a:r>
              <a:rPr lang="en-US" altLang="en-GB" smtClean="0"/>
              <a:t>Z -&gt; eZf |ef</a:t>
            </a:r>
          </a:p>
          <a:p>
            <a:r>
              <a:rPr lang="en-US" altLang="en-GB" smtClean="0"/>
              <a:t>W -&gt; gWh |gh</a:t>
            </a:r>
          </a:p>
          <a:p>
            <a:endParaRPr lang="en-GB" altLang="en-GB" smtClean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54277" name="Slide Number Placeholder 2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4B09AE-B606-4EEA-9BCF-5A55A1838237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GB" smtClean="0"/>
          </a:p>
        </p:txBody>
      </p:sp>
      <p:sp>
        <p:nvSpPr>
          <p:cNvPr id="552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 smtClean="0"/>
              <a:t>a</a:t>
            </a:r>
            <a:r>
              <a:rPr lang="en-US" altLang="en-GB" baseline="30000" smtClean="0"/>
              <a:t>n</a:t>
            </a:r>
            <a:r>
              <a:rPr lang="en-US" altLang="en-GB" smtClean="0"/>
              <a:t>b</a:t>
            </a:r>
            <a:r>
              <a:rPr lang="en-US" altLang="en-GB" baseline="30000" smtClean="0"/>
              <a:t>m</a:t>
            </a:r>
            <a:r>
              <a:rPr lang="en-US" altLang="en-GB" smtClean="0"/>
              <a:t>e</a:t>
            </a:r>
            <a:r>
              <a:rPr lang="en-US" altLang="en-GB" baseline="30000" smtClean="0"/>
              <a:t>p</a:t>
            </a:r>
            <a:r>
              <a:rPr lang="en-US" altLang="en-GB" smtClean="0"/>
              <a:t>g</a:t>
            </a:r>
            <a:r>
              <a:rPr lang="en-US" altLang="en-GB" baseline="30000" smtClean="0"/>
              <a:t>q </a:t>
            </a:r>
            <a:r>
              <a:rPr lang="en-US" altLang="en-GB" smtClean="0"/>
              <a:t>h</a:t>
            </a:r>
            <a:r>
              <a:rPr lang="en-US" altLang="en-GB" baseline="30000" smtClean="0"/>
              <a:t>q</a:t>
            </a:r>
            <a:r>
              <a:rPr lang="en-US" altLang="en-GB" smtClean="0"/>
              <a:t>f</a:t>
            </a:r>
            <a:r>
              <a:rPr lang="en-US" altLang="en-GB" baseline="30000" smtClean="0"/>
              <a:t>p</a:t>
            </a:r>
            <a:r>
              <a:rPr lang="en-US" altLang="en-GB" smtClean="0"/>
              <a:t>c</a:t>
            </a:r>
            <a:r>
              <a:rPr lang="en-US" altLang="en-GB" baseline="30000" smtClean="0"/>
              <a:t>m</a:t>
            </a:r>
            <a:r>
              <a:rPr lang="en-US" altLang="en-GB" smtClean="0"/>
              <a:t>d</a:t>
            </a:r>
            <a:r>
              <a:rPr lang="en-US" altLang="en-GB" baseline="30000" smtClean="0"/>
              <a:t>n</a:t>
            </a:r>
            <a:r>
              <a:rPr lang="en-US" altLang="en-GB" smtClean="0"/>
              <a:t> | n&gt;0, m&gt;0</a:t>
            </a:r>
          </a:p>
          <a:p>
            <a:r>
              <a:rPr lang="en-US" altLang="en-GB" smtClean="0"/>
              <a:t>S -&gt; /aSd | aXd</a:t>
            </a:r>
          </a:p>
          <a:p>
            <a:r>
              <a:rPr lang="en-US" altLang="en-GB" smtClean="0"/>
              <a:t>X -&gt; bXc |bYc</a:t>
            </a:r>
          </a:p>
          <a:p>
            <a:r>
              <a:rPr lang="en-US" altLang="en-GB" smtClean="0"/>
              <a:t>Y -&gt; eYf |ef</a:t>
            </a:r>
            <a:endParaRPr lang="en-GB" altLang="en-GB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55301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5A31CB6-3209-40C1-BD32-E105F925B9F1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BD6A2A3-F85F-4DAD-80C6-47A0F290C955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56323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Example</a:t>
            </a:r>
          </a:p>
        </p:txBody>
      </p:sp>
      <p:sp>
        <p:nvSpPr>
          <p:cNvPr id="56324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600200"/>
            <a:ext cx="4038600" cy="4530725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GB" sz="2600" smtClean="0"/>
              <a:t>Consider another CFG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GB" sz="260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GB" sz="2600" smtClean="0"/>
              <a:t>S</a:t>
            </a:r>
            <a:r>
              <a:rPr lang="en-US" altLang="en-GB" sz="2600" smtClean="0">
                <a:sym typeface="Wingdings" panose="05000000000000000000" pitchFamily="2" charset="2"/>
              </a:rPr>
              <a:t>aSb | aSbb | </a:t>
            </a:r>
            <a:r>
              <a:rPr lang="el-GR" altLang="en-GB" sz="2600" smtClean="0">
                <a:cs typeface="Arial" panose="020B0604020202020204" pitchFamily="34" charset="0"/>
                <a:sym typeface="Wingdings" panose="05000000000000000000" pitchFamily="2" charset="2"/>
              </a:rPr>
              <a:t>Λ</a:t>
            </a:r>
            <a:endParaRPr lang="el-GR" altLang="en-GB" sz="2600" smtClean="0">
              <a:cs typeface="Arial" panose="020B0604020202020204" pitchFamily="34" charset="0"/>
            </a:endParaRPr>
          </a:p>
        </p:txBody>
      </p:sp>
      <p:sp>
        <p:nvSpPr>
          <p:cNvPr id="79877" name="Rectangle 5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105400" y="1600200"/>
            <a:ext cx="4038600" cy="4530725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GB" sz="2600" smtClean="0"/>
              <a:t>Language defined is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GB" sz="2600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GB" sz="260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GB" sz="2600" smtClean="0"/>
              <a:t>L(G) = {a</a:t>
            </a:r>
            <a:r>
              <a:rPr lang="en-US" altLang="en-GB" sz="2600" baseline="30000" smtClean="0"/>
              <a:t>n</a:t>
            </a:r>
            <a:r>
              <a:rPr lang="en-US" altLang="en-GB" sz="2600" smtClean="0"/>
              <a:t>b</a:t>
            </a:r>
            <a:r>
              <a:rPr lang="en-US" altLang="en-GB" sz="2600" baseline="30000" smtClean="0"/>
              <a:t>m</a:t>
            </a:r>
            <a:r>
              <a:rPr lang="en-US" altLang="en-GB" sz="2600" smtClean="0"/>
              <a:t> | 0 </a:t>
            </a:r>
            <a:r>
              <a:rPr lang="en-US" altLang="en-GB" sz="2600" smtClean="0">
                <a:cs typeface="Arial" panose="020B0604020202020204" pitchFamily="34" charset="0"/>
              </a:rPr>
              <a:t>≤ n≤ m≤ 2n}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987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98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98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7" grpId="0" build="p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19D0EED-C39D-499D-B643-CDEB1D525BF5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58371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Example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066800"/>
            <a:ext cx="8229600" cy="5029200"/>
          </a:xfrm>
        </p:spPr>
        <p:txBody>
          <a:bodyPr rtlCol="0">
            <a:normAutofit lnSpcReduction="10000"/>
          </a:bodyPr>
          <a:lstStyle/>
          <a:p>
            <a:pPr algn="just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100"/>
              <a:t>A grammar that generates the language consisting of even-length string over {a, b}</a:t>
            </a:r>
          </a:p>
          <a:p>
            <a:pPr algn="just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100"/>
              <a:t>	S </a:t>
            </a:r>
            <a:r>
              <a:rPr lang="en-US" sz="2100">
                <a:sym typeface="Wingdings" pitchFamily="2" charset="2"/>
              </a:rPr>
              <a:t> aO | bO | </a:t>
            </a:r>
            <a:r>
              <a:rPr lang="el-GR" sz="2100">
                <a:cs typeface="Arial" charset="0"/>
                <a:sym typeface="Wingdings" pitchFamily="2" charset="2"/>
              </a:rPr>
              <a:t>Λ</a:t>
            </a:r>
            <a:endParaRPr lang="en-US" sz="2100">
              <a:cs typeface="Arial" charset="0"/>
              <a:sym typeface="Wingdings" pitchFamily="2" charset="2"/>
            </a:endParaRPr>
          </a:p>
          <a:p>
            <a:pPr algn="just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100">
                <a:cs typeface="Arial" charset="0"/>
                <a:sym typeface="Wingdings" pitchFamily="2" charset="2"/>
              </a:rPr>
              <a:t>	O  aS | bS</a:t>
            </a:r>
          </a:p>
          <a:p>
            <a:pPr algn="just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endParaRPr lang="en-US" sz="2100">
              <a:cs typeface="Arial" charset="0"/>
              <a:sym typeface="Wingdings" pitchFamily="2" charset="2"/>
            </a:endParaRPr>
          </a:p>
          <a:p>
            <a:pPr algn="just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100">
                <a:cs typeface="Arial" charset="0"/>
                <a:sym typeface="Wingdings" pitchFamily="2" charset="2"/>
              </a:rPr>
              <a:t>S and O work as counters i.e. when an S is in a sentential form that marks even number of terminals have been generated</a:t>
            </a:r>
          </a:p>
          <a:p>
            <a:pPr algn="just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endParaRPr lang="en-US" sz="2100">
              <a:cs typeface="Arial" charset="0"/>
              <a:sym typeface="Wingdings" pitchFamily="2" charset="2"/>
            </a:endParaRPr>
          </a:p>
          <a:p>
            <a:pPr algn="just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100">
                <a:cs typeface="Arial" charset="0"/>
                <a:sym typeface="Wingdings" pitchFamily="2" charset="2"/>
              </a:rPr>
              <a:t>Presence of O in a sentential form indicates that an odd number of terminals have been generated.</a:t>
            </a:r>
          </a:p>
          <a:p>
            <a:pPr algn="just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endParaRPr lang="en-US" sz="2100">
              <a:cs typeface="Arial" charset="0"/>
              <a:sym typeface="Wingdings" pitchFamily="2" charset="2"/>
            </a:endParaRPr>
          </a:p>
          <a:p>
            <a:pPr algn="just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100">
                <a:cs typeface="Arial" charset="0"/>
                <a:sym typeface="Wingdings" pitchFamily="2" charset="2"/>
              </a:rPr>
              <a:t>The strategy can be generalized, say for string of length exactly divisible by 3 we need three counters to mark 0, 1, 2</a:t>
            </a:r>
          </a:p>
          <a:p>
            <a:pPr lvl="2" algn="just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000">
              <a:cs typeface="Arial" charset="0"/>
              <a:sym typeface="Wingdings" pitchFamily="2" charset="2"/>
            </a:endParaRPr>
          </a:p>
          <a:p>
            <a:pPr lvl="2" algn="just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>
                <a:cs typeface="Arial" charset="0"/>
                <a:sym typeface="Wingdings" pitchFamily="2" charset="2"/>
              </a:rPr>
              <a:t>S  aP | bP | </a:t>
            </a:r>
            <a:r>
              <a:rPr lang="el-GR" sz="2000">
                <a:cs typeface="Arial" charset="0"/>
                <a:sym typeface="Wingdings" pitchFamily="2" charset="2"/>
              </a:rPr>
              <a:t>Λ</a:t>
            </a:r>
            <a:endParaRPr lang="en-US" sz="2000">
              <a:cs typeface="Arial" charset="0"/>
              <a:sym typeface="Wingdings" pitchFamily="2" charset="2"/>
            </a:endParaRPr>
          </a:p>
          <a:p>
            <a:pPr lvl="2" algn="just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>
                <a:cs typeface="Arial" charset="0"/>
                <a:sym typeface="Wingdings" pitchFamily="2" charset="2"/>
              </a:rPr>
              <a:t>P  aQ | bQ</a:t>
            </a:r>
          </a:p>
          <a:p>
            <a:pPr lvl="2" algn="just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>
                <a:cs typeface="Arial" charset="0"/>
                <a:sym typeface="Wingdings" pitchFamily="2" charset="2"/>
              </a:rPr>
              <a:t>Q  aS | bS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3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839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839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839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839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1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7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7BFA1B3-1B09-47D1-9E46-61D23B1EB3C7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60419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Even-Even</a:t>
            </a:r>
          </a:p>
        </p:txBody>
      </p:sp>
      <p:sp>
        <p:nvSpPr>
          <p:cNvPr id="60420" name="Rectangle 3"/>
          <p:cNvSpPr>
            <a:spLocks noGrp="1"/>
          </p:cNvSpPr>
          <p:nvPr>
            <p:ph type="body" idx="4294967295"/>
          </p:nvPr>
        </p:nvSpPr>
        <p:spPr>
          <a:xfrm>
            <a:off x="914400" y="1219200"/>
            <a:ext cx="8229600" cy="5105400"/>
          </a:xfrm>
        </p:spPr>
        <p:txBody>
          <a:bodyPr/>
          <a:lstStyle/>
          <a:p>
            <a:pPr marL="0" eaLnBrk="1" hangingPunct="1"/>
            <a:r>
              <a:rPr lang="el-GR" altLang="en-GB" sz="2600" smtClean="0"/>
              <a:t>Σ = {</a:t>
            </a:r>
            <a:r>
              <a:rPr lang="en-US" altLang="en-GB" sz="2600" smtClean="0"/>
              <a:t>a,b}</a:t>
            </a:r>
          </a:p>
          <a:p>
            <a:pPr marL="0" eaLnBrk="1" hangingPunct="1">
              <a:buFont typeface="Wingdings" panose="05000000000000000000" pitchFamily="2" charset="2"/>
              <a:buNone/>
            </a:pPr>
            <a:r>
              <a:rPr lang="en-US" altLang="en-GB" sz="2600" smtClean="0"/>
              <a:t>Productions:</a:t>
            </a:r>
          </a:p>
          <a:p>
            <a:pPr marL="0" eaLnBrk="1" hangingPunct="1"/>
            <a:r>
              <a:rPr lang="en-US" altLang="en-GB" sz="2600" smtClean="0"/>
              <a:t>S → SS</a:t>
            </a:r>
          </a:p>
          <a:p>
            <a:pPr marL="0" eaLnBrk="1" hangingPunct="1"/>
            <a:r>
              <a:rPr lang="en-US" altLang="en-GB" sz="2600" smtClean="0"/>
              <a:t>S → XS</a:t>
            </a:r>
          </a:p>
          <a:p>
            <a:pPr marL="0" eaLnBrk="1" hangingPunct="1"/>
            <a:r>
              <a:rPr lang="en-US" altLang="en-GB" sz="2600" smtClean="0"/>
              <a:t>S → </a:t>
            </a:r>
            <a:r>
              <a:rPr lang="el-GR" altLang="en-GB" sz="2600" smtClean="0"/>
              <a:t>Λ</a:t>
            </a:r>
          </a:p>
          <a:p>
            <a:pPr marL="0" eaLnBrk="1" hangingPunct="1"/>
            <a:r>
              <a:rPr lang="en-US" altLang="en-GB" sz="2600" smtClean="0"/>
              <a:t>S → YSY</a:t>
            </a:r>
          </a:p>
          <a:p>
            <a:pPr marL="0" eaLnBrk="1" hangingPunct="1"/>
            <a:r>
              <a:rPr lang="en-US" altLang="en-GB" sz="2600" smtClean="0"/>
              <a:t>X → aa</a:t>
            </a:r>
          </a:p>
          <a:p>
            <a:pPr marL="0" eaLnBrk="1" hangingPunct="1"/>
            <a:r>
              <a:rPr lang="en-US" altLang="en-GB" sz="2600" smtClean="0"/>
              <a:t>X → bb</a:t>
            </a:r>
          </a:p>
          <a:p>
            <a:pPr marL="0" eaLnBrk="1" hangingPunct="1"/>
            <a:r>
              <a:rPr lang="en-US" altLang="en-GB" sz="2600" smtClean="0"/>
              <a:t>Y → ab</a:t>
            </a:r>
          </a:p>
          <a:p>
            <a:pPr marL="0" eaLnBrk="1" hangingPunct="1"/>
            <a:r>
              <a:rPr lang="en-US" altLang="en-GB" sz="2600" smtClean="0"/>
              <a:t>Y → ba</a:t>
            </a:r>
            <a:endParaRPr lang="en-US" altLang="en-GB" sz="2600" smtClean="0"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eaLnBrk="1" hangingPunct="1">
              <a:lnSpc>
                <a:spcPct val="90000"/>
              </a:lnSpc>
            </a:pPr>
            <a:endParaRPr lang="el-GR" altLang="en-GB" sz="2600" i="1" smtClean="0"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60421" name="Rectangle 3"/>
          <p:cNvSpPr txBox="1">
            <a:spLocks noChangeArrowheads="1"/>
          </p:cNvSpPr>
          <p:nvPr/>
        </p:nvSpPr>
        <p:spPr bwMode="auto">
          <a:xfrm>
            <a:off x="3657600" y="1219200"/>
            <a:ext cx="50292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en-GB" sz="2000">
                <a:latin typeface="Arial" panose="020B0604020202020204" pitchFamily="34" charset="0"/>
              </a:rPr>
              <a:t>Devise a grammar that generates strings with even number of a’s and even number of b’s</a:t>
            </a:r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74AC6D-46E6-4169-9C98-3EC18EB17C94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62467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Remarks</a:t>
            </a:r>
          </a:p>
        </p:txBody>
      </p:sp>
      <p:sp>
        <p:nvSpPr>
          <p:cNvPr id="62468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We have seen that some regular languages can be generated by CFGs, and some non-regular languages can also be generated by CFGs.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2200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In Chapter 13, we will show that ALL regular languages can be generated by CFGs.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2200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In Chapter 16, we will see that there is some non-regular language that cannot be generated by any CFG.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2200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Thus, the set of languages generated by CFGs is properly </a:t>
            </a:r>
            <a:r>
              <a:rPr lang="en-US" altLang="en-GB" sz="2200" b="1" smtClean="0"/>
              <a:t>larger </a:t>
            </a:r>
            <a:r>
              <a:rPr lang="en-US" altLang="en-GB" sz="2200" smtClean="0"/>
              <a:t>than the set of regular languages, but properly </a:t>
            </a:r>
            <a:r>
              <a:rPr lang="en-US" altLang="en-GB" sz="2200" b="1" smtClean="0"/>
              <a:t>smaller </a:t>
            </a:r>
            <a:r>
              <a:rPr lang="en-US" altLang="en-GB" sz="2200" smtClean="0"/>
              <a:t>than the set of all possible languages.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393F048-D6CF-4AB9-AE93-C10D489CC8F7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64515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Trees</a:t>
            </a:r>
          </a:p>
        </p:txBody>
      </p:sp>
      <p:sp>
        <p:nvSpPr>
          <p:cNvPr id="64516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sz="2200" smtClean="0"/>
              <a:t>Consider the following CFG: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		</a:t>
            </a:r>
            <a:r>
              <a:rPr lang="en-US" altLang="en-GB" sz="2200" i="1" smtClean="0"/>
              <a:t>S → AA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i="1" smtClean="0"/>
              <a:t>		A → AAA|bA|Ab|a</a:t>
            </a:r>
          </a:p>
          <a:p>
            <a:pPr algn="just" eaLnBrk="1" hangingPunct="1"/>
            <a:r>
              <a:rPr lang="en-US" altLang="en-GB" sz="2200" smtClean="0"/>
              <a:t>The derivation of the word </a:t>
            </a:r>
            <a:r>
              <a:rPr lang="en-US" altLang="en-GB" sz="2200" i="1" smtClean="0"/>
              <a:t>bbaaaab</a:t>
            </a:r>
            <a:r>
              <a:rPr lang="en-US" altLang="en-GB" sz="2200" smtClean="0"/>
              <a:t> is as follows:</a:t>
            </a:r>
          </a:p>
          <a:p>
            <a:pPr algn="just" eaLnBrk="1" hangingPunct="1"/>
            <a:endParaRPr lang="en-US" altLang="en-GB" sz="2200" smtClean="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		S </a:t>
            </a:r>
            <a:r>
              <a:rPr lang="en-US" altLang="en-GB" sz="2200" smtClean="0">
                <a:sym typeface="Wingdings" panose="05000000000000000000" pitchFamily="2" charset="2"/>
              </a:rPr>
              <a:t></a:t>
            </a:r>
            <a:r>
              <a:rPr lang="en-US" altLang="en-GB" sz="2200" smtClean="0"/>
              <a:t> AA </a:t>
            </a:r>
            <a:r>
              <a:rPr lang="en-US" altLang="en-GB" sz="2200" smtClean="0">
                <a:sym typeface="Wingdings" panose="05000000000000000000" pitchFamily="2" charset="2"/>
              </a:rPr>
              <a:t></a:t>
            </a:r>
            <a:r>
              <a:rPr lang="en-US" altLang="en-GB" sz="2200" smtClean="0"/>
              <a:t> bAAAA </a:t>
            </a:r>
            <a:r>
              <a:rPr lang="en-US" altLang="en-GB" sz="2200" smtClean="0">
                <a:sym typeface="Wingdings" panose="05000000000000000000" pitchFamily="2" charset="2"/>
              </a:rPr>
              <a:t></a:t>
            </a:r>
            <a:r>
              <a:rPr lang="en-US" altLang="en-GB" sz="2200" smtClean="0"/>
              <a:t> bbAaaAb </a:t>
            </a:r>
            <a:r>
              <a:rPr lang="en-US" altLang="en-GB" sz="2200" smtClean="0">
                <a:sym typeface="Wingdings" panose="05000000000000000000" pitchFamily="2" charset="2"/>
              </a:rPr>
              <a:t></a:t>
            </a:r>
            <a:r>
              <a:rPr lang="en-US" altLang="en-GB" sz="2200" smtClean="0"/>
              <a:t> bbaaaab</a:t>
            </a:r>
          </a:p>
          <a:p>
            <a:pPr algn="just" eaLnBrk="1" hangingPunct="1"/>
            <a:endParaRPr lang="en-US" altLang="en-GB" sz="220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191C864-A3C6-40F5-84A7-600BF2AA277C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66563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GB" sz="1900" smtClean="0"/>
              <a:t>We can use a tree diagram to show that derivation process: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1900" b="1" smtClean="0"/>
              <a:t>   We start with the symbol </a:t>
            </a:r>
            <a:r>
              <a:rPr lang="en-US" altLang="en-GB" sz="1900" smtClean="0"/>
              <a:t>S</a:t>
            </a:r>
            <a:r>
              <a:rPr lang="en-US" altLang="en-GB" sz="1900" b="1" smtClean="0"/>
              <a:t>. Every time we use a production to replace a non-terminal by a string, we draw downward lines from the non-terminal to EACH character in the string.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GB" sz="1900" b="1" smtClean="0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GB" sz="1900" b="1" smtClean="0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GB" sz="1900" b="1" smtClean="0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GB" sz="1900" b="1" smtClean="0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GB" sz="1900" b="1" smtClean="0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GB" sz="1900" b="1" smtClean="0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GB" sz="1900" b="1" smtClean="0"/>
          </a:p>
          <a:p>
            <a:pPr algn="just" eaLnBrk="1" hangingPunct="1">
              <a:lnSpc>
                <a:spcPct val="90000"/>
              </a:lnSpc>
            </a:pPr>
            <a:endParaRPr lang="en-US" altLang="en-GB" sz="1900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1900" smtClean="0"/>
              <a:t>Reading from left to right produces the word bbaaaab.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GB" sz="1900" smtClean="0"/>
              <a:t>Tree diagrams are also called </a:t>
            </a:r>
            <a:r>
              <a:rPr lang="en-US" altLang="en-GB" sz="1900" b="1" smtClean="0"/>
              <a:t>syntax trees</a:t>
            </a:r>
            <a:r>
              <a:rPr lang="en-US" altLang="en-GB" sz="1900" smtClean="0"/>
              <a:t>, </a:t>
            </a:r>
            <a:r>
              <a:rPr lang="en-US" altLang="en-GB" sz="1900" b="1" smtClean="0"/>
              <a:t>parse trees</a:t>
            </a:r>
            <a:r>
              <a:rPr lang="en-US" altLang="en-GB" sz="1900" smtClean="0"/>
              <a:t>, </a:t>
            </a:r>
            <a:r>
              <a:rPr lang="en-US" altLang="en-GB" sz="1900" b="1" smtClean="0"/>
              <a:t>generation trees</a:t>
            </a:r>
            <a:r>
              <a:rPr lang="en-US" altLang="en-GB" sz="1900" smtClean="0"/>
              <a:t>, </a:t>
            </a:r>
            <a:r>
              <a:rPr lang="en-US" altLang="en-GB" sz="1900" b="1" smtClean="0"/>
              <a:t>production trees</a:t>
            </a:r>
            <a:r>
              <a:rPr lang="en-US" altLang="en-GB" sz="1900" smtClean="0"/>
              <a:t>, or </a:t>
            </a:r>
            <a:r>
              <a:rPr lang="en-US" altLang="en-GB" sz="1900" b="1" smtClean="0"/>
              <a:t>derivation trees.</a:t>
            </a:r>
            <a:endParaRPr lang="en-US" altLang="en-GB" sz="1900" smtClean="0"/>
          </a:p>
        </p:txBody>
      </p:sp>
      <p:pic>
        <p:nvPicPr>
          <p:cNvPr id="6656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667000"/>
            <a:ext cx="2819400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A53BA9-4589-45BF-B104-95ECB01E34D8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68611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Lukasiewicz Notation - Example</a:t>
            </a:r>
          </a:p>
        </p:txBody>
      </p:sp>
      <p:sp>
        <p:nvSpPr>
          <p:cNvPr id="68612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en-US" altLang="en-GB" sz="2000" smtClean="0"/>
              <a:t>Also called the polish prefix notation.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GB" sz="2000" smtClean="0"/>
              <a:t>A parenthesis free notation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GB" sz="2000" smtClean="0"/>
              <a:t>Consider the following CFG for a simplified version of arithmetic expressions:</a:t>
            </a:r>
          </a:p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GB" sz="2000" smtClean="0"/>
              <a:t>		S </a:t>
            </a:r>
            <a:r>
              <a:rPr lang="en-US" altLang="en-GB" sz="2000" smtClean="0">
                <a:sym typeface="Wingdings" panose="05000000000000000000" pitchFamily="2" charset="2"/>
              </a:rPr>
              <a:t></a:t>
            </a:r>
            <a:r>
              <a:rPr lang="en-US" altLang="en-GB" sz="2000" smtClean="0"/>
              <a:t> S + S | S * S | number</a:t>
            </a:r>
          </a:p>
          <a:p>
            <a:pPr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GB" sz="2000" smtClean="0"/>
              <a:t>    where the only non-terminal is S, and the terminals are number together with the symbols +,* .</a:t>
            </a:r>
          </a:p>
          <a:p>
            <a:pPr algn="just" eaLnBrk="1" hangingPunct="1">
              <a:lnSpc>
                <a:spcPct val="80000"/>
              </a:lnSpc>
            </a:pPr>
            <a:endParaRPr lang="en-US" altLang="en-GB" sz="2000" smtClean="0"/>
          </a:p>
          <a:p>
            <a:pPr algn="just" eaLnBrk="1" hangingPunct="1">
              <a:lnSpc>
                <a:spcPct val="80000"/>
              </a:lnSpc>
            </a:pPr>
            <a:r>
              <a:rPr lang="en-US" altLang="en-GB" sz="2000" smtClean="0"/>
              <a:t>Obviously, the expression 3 + 4 * 5 is a word in the language defined by this CFG; however, it is ambiguous since it is not clear whether it means (3 + 4) * 5 (which is 35), or 3 + (4 * 5) (which is 23).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GB" sz="2000" smtClean="0"/>
              <a:t>To avoid ambiguity, we often need to use parentheses, or adopt the convention of “hierarchy of operators” (i.e., * is to be executed before +).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GB" sz="2000" smtClean="0"/>
              <a:t>We now present a new notation that is unambiguous but does not rely on operator hierarchy or on the use of parentheses.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57175"/>
            <a:ext cx="8077200" cy="583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59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00C09B6-397E-4645-9FBC-134A2B7B4647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BE703A2-57E7-4644-8EA7-88B3E39BB397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New Notation: Lukasiewicz notation</a:t>
            </a:r>
          </a:p>
        </p:txBody>
      </p:sp>
      <p:sp>
        <p:nvSpPr>
          <p:cNvPr id="72708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sz="2600" smtClean="0"/>
              <a:t>We can now construct a </a:t>
            </a:r>
            <a:r>
              <a:rPr lang="en-US" altLang="en-GB" sz="2600" b="1" smtClean="0"/>
              <a:t>new notation </a:t>
            </a:r>
            <a:r>
              <a:rPr lang="en-US" altLang="en-GB" sz="2600" smtClean="0"/>
              <a:t>for arithmetic expressions:</a:t>
            </a:r>
          </a:p>
          <a:p>
            <a:pPr algn="just" eaLnBrk="1" hangingPunct="1"/>
            <a:endParaRPr lang="en-US" altLang="en-GB" sz="2600" smtClean="0"/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en-GB" sz="2200" b="1" smtClean="0"/>
              <a:t>– </a:t>
            </a:r>
            <a:r>
              <a:rPr lang="en-US" altLang="en-GB" sz="2200" smtClean="0"/>
              <a:t>We walk around the tree and write down symbols, </a:t>
            </a:r>
            <a:r>
              <a:rPr lang="en-US" altLang="en-GB" sz="2200" b="1" smtClean="0"/>
              <a:t>once each</a:t>
            </a:r>
            <a:r>
              <a:rPr lang="en-US" altLang="en-GB" sz="2200" smtClean="0"/>
              <a:t>, as we encounter them.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endParaRPr lang="en-US" altLang="en-GB" sz="2200" smtClean="0"/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en-GB" sz="2200" b="1" smtClean="0"/>
              <a:t>– </a:t>
            </a:r>
            <a:r>
              <a:rPr lang="en-US" altLang="en-GB" sz="2200" smtClean="0"/>
              <a:t>We begin on the left side of the start symbol S and head south.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endParaRPr lang="en-US" altLang="en-GB" sz="2200" smtClean="0"/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en-GB" sz="2200" b="1" smtClean="0"/>
              <a:t>– </a:t>
            </a:r>
            <a:r>
              <a:rPr lang="en-US" altLang="en-GB" sz="2200" smtClean="0"/>
              <a:t>As we walk around the tree, we always keep our left hand on the tree.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4D084EA-D6CE-4B32-956E-CEC22AB8AFDD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74755" name="Rectangle 3"/>
          <p:cNvSpPr>
            <a:spLocks noGrp="1"/>
          </p:cNvSpPr>
          <p:nvPr>
            <p:ph type="body" idx="4294967295"/>
          </p:nvPr>
        </p:nvSpPr>
        <p:spPr>
          <a:xfrm>
            <a:off x="0" y="1143000"/>
            <a:ext cx="8229600" cy="4530725"/>
          </a:xfrm>
        </p:spPr>
        <p:txBody>
          <a:bodyPr/>
          <a:lstStyle/>
          <a:p>
            <a:pPr algn="just" eaLnBrk="1" hangingPunct="1"/>
            <a:endParaRPr lang="en-US" altLang="en-GB" sz="2200" smtClean="0"/>
          </a:p>
          <a:p>
            <a:pPr algn="just" eaLnBrk="1" hangingPunct="1"/>
            <a:endParaRPr lang="en-US" altLang="en-GB" sz="2200" smtClean="0"/>
          </a:p>
          <a:p>
            <a:pPr algn="just" eaLnBrk="1" hangingPunct="1"/>
            <a:endParaRPr lang="en-US" altLang="en-GB" sz="2200" smtClean="0"/>
          </a:p>
          <a:p>
            <a:pPr algn="just" eaLnBrk="1" hangingPunct="1"/>
            <a:endParaRPr lang="en-US" altLang="en-GB" sz="2200" smtClean="0"/>
          </a:p>
          <a:p>
            <a:pPr algn="just" eaLnBrk="1" hangingPunct="1"/>
            <a:endParaRPr lang="en-US" altLang="en-GB" sz="2200" smtClean="0"/>
          </a:p>
          <a:p>
            <a:pPr algn="just" eaLnBrk="1" hangingPunct="1"/>
            <a:endParaRPr lang="en-US" altLang="en-GB" sz="2200" smtClean="0"/>
          </a:p>
          <a:p>
            <a:pPr algn="just" eaLnBrk="1" hangingPunct="1"/>
            <a:endParaRPr lang="en-US" altLang="en-GB" sz="2200" smtClean="0"/>
          </a:p>
          <a:p>
            <a:pPr algn="just" eaLnBrk="1" hangingPunct="1"/>
            <a:endParaRPr lang="en-US" altLang="en-GB" sz="2200" smtClean="0"/>
          </a:p>
          <a:p>
            <a:pPr algn="just" eaLnBrk="1" hangingPunct="1"/>
            <a:r>
              <a:rPr lang="en-US" altLang="en-GB" sz="2200" smtClean="0"/>
              <a:t>Using the algorithm above, the first derivation tree is converted into the notation: + 3 * 4 5.</a:t>
            </a:r>
          </a:p>
          <a:p>
            <a:pPr algn="just" eaLnBrk="1" hangingPunct="1"/>
            <a:r>
              <a:rPr lang="en-US" altLang="en-GB" sz="2200" smtClean="0"/>
              <a:t>The second derivation tree is converted into * + 3 4 5.</a:t>
            </a:r>
          </a:p>
        </p:txBody>
      </p:sp>
      <p:pic>
        <p:nvPicPr>
          <p:cNvPr id="7475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838200"/>
            <a:ext cx="305435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75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609600"/>
            <a:ext cx="2936875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90766D6-63D4-4DBE-A27B-2FE29B717BFF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76803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Example</a:t>
            </a:r>
          </a:p>
        </p:txBody>
      </p:sp>
      <p:sp>
        <p:nvSpPr>
          <p:cNvPr id="76804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GB" smtClean="0"/>
              <a:t>Consider the expression: + 3 * 4 5:</a:t>
            </a:r>
          </a:p>
          <a:p>
            <a:pPr eaLnBrk="1" hangingPunct="1"/>
            <a:endParaRPr lang="en-US" altLang="en-GB" smtClean="0"/>
          </a:p>
        </p:txBody>
      </p:sp>
      <p:pic>
        <p:nvPicPr>
          <p:cNvPr id="7680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133600"/>
            <a:ext cx="36576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1027198-CF88-4D4B-896A-FB410327D9CE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78851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GB" smtClean="0"/>
              <a:t>Consider the second expression:  * + 3 4 5:</a:t>
            </a:r>
          </a:p>
          <a:p>
            <a:pPr eaLnBrk="1" hangingPunct="1"/>
            <a:endParaRPr lang="en-US" altLang="en-GB" smtClean="0"/>
          </a:p>
        </p:txBody>
      </p:sp>
      <p:pic>
        <p:nvPicPr>
          <p:cNvPr id="788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259013"/>
            <a:ext cx="3810000" cy="330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88A9743-CEBF-4D05-BD59-97553F22862C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80899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Example</a:t>
            </a:r>
          </a:p>
        </p:txBody>
      </p:sp>
      <p:sp>
        <p:nvSpPr>
          <p:cNvPr id="80900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sz="2200" smtClean="0"/>
              <a:t>Convert the following arithmetic expression into operator prefix notation: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	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	((1 + 2) * (3 + 4) + 5) * 6.</a:t>
            </a:r>
          </a:p>
          <a:p>
            <a:pPr algn="just" eaLnBrk="1" hangingPunct="1"/>
            <a:endParaRPr lang="en-US" altLang="en-GB" sz="2200" smtClean="0"/>
          </a:p>
          <a:p>
            <a:pPr algn="just" eaLnBrk="1" hangingPunct="1"/>
            <a:r>
              <a:rPr lang="en-US" altLang="en-GB" sz="2200" smtClean="0"/>
              <a:t>This normal notation is called </a:t>
            </a:r>
            <a:r>
              <a:rPr lang="en-US" altLang="en-GB" sz="2200" b="1" smtClean="0"/>
              <a:t>operator infix notation</a:t>
            </a:r>
            <a:r>
              <a:rPr lang="en-US" altLang="en-GB" sz="2200" smtClean="0"/>
              <a:t>, with which we need parentheses to avoid ambiguity.</a:t>
            </a:r>
          </a:p>
          <a:p>
            <a:pPr algn="just" eaLnBrk="1" hangingPunct="1"/>
            <a:endParaRPr lang="en-US" altLang="en-GB" sz="2200" smtClean="0"/>
          </a:p>
          <a:p>
            <a:pPr algn="just" eaLnBrk="1" hangingPunct="1"/>
            <a:r>
              <a:rPr lang="en-US" altLang="en-GB" sz="2200" smtClean="0"/>
              <a:t>Let’s us draw the derivation tree: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F293737-8323-466B-9C24-D6891A3879B0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82947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en-GB" smtClean="0"/>
          </a:p>
          <a:p>
            <a:pPr eaLnBrk="1" hangingPunct="1">
              <a:lnSpc>
                <a:spcPct val="90000"/>
              </a:lnSpc>
            </a:pPr>
            <a:endParaRPr lang="en-US" altLang="en-GB" smtClean="0"/>
          </a:p>
          <a:p>
            <a:pPr eaLnBrk="1" hangingPunct="1">
              <a:lnSpc>
                <a:spcPct val="90000"/>
              </a:lnSpc>
            </a:pPr>
            <a:endParaRPr lang="en-US" altLang="en-GB" smtClean="0"/>
          </a:p>
          <a:p>
            <a:pPr eaLnBrk="1" hangingPunct="1">
              <a:lnSpc>
                <a:spcPct val="90000"/>
              </a:lnSpc>
            </a:pPr>
            <a:endParaRPr lang="en-US" altLang="en-GB" smtClean="0"/>
          </a:p>
          <a:p>
            <a:pPr eaLnBrk="1" hangingPunct="1">
              <a:lnSpc>
                <a:spcPct val="90000"/>
              </a:lnSpc>
            </a:pPr>
            <a:endParaRPr lang="en-US" altLang="en-GB" smtClean="0"/>
          </a:p>
          <a:p>
            <a:pPr eaLnBrk="1" hangingPunct="1">
              <a:lnSpc>
                <a:spcPct val="90000"/>
              </a:lnSpc>
            </a:pPr>
            <a:endParaRPr lang="en-US" altLang="en-GB" smtClean="0"/>
          </a:p>
          <a:p>
            <a:pPr eaLnBrk="1" hangingPunct="1">
              <a:lnSpc>
                <a:spcPct val="90000"/>
              </a:lnSpc>
            </a:pPr>
            <a:r>
              <a:rPr lang="en-US" altLang="en-GB" sz="2600" smtClean="0"/>
              <a:t>Reading around the tree gives the equivalent prefix notation expression: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GB" sz="2600" smtClean="0"/>
              <a:t>* + * + 1 2 + 3 4 5 6.</a:t>
            </a:r>
          </a:p>
        </p:txBody>
      </p:sp>
      <p:pic>
        <p:nvPicPr>
          <p:cNvPr id="829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447675"/>
            <a:ext cx="5105400" cy="390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0137EE3-16B0-4A76-BAA6-EB1184AFD823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84995" name="Rectangle 3"/>
          <p:cNvSpPr>
            <a:spLocks noGrp="1"/>
          </p:cNvSpPr>
          <p:nvPr>
            <p:ph type="body" idx="4294967295"/>
          </p:nvPr>
        </p:nvSpPr>
        <p:spPr>
          <a:xfrm>
            <a:off x="0" y="457200"/>
            <a:ext cx="8229600" cy="4876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GB" smtClean="0"/>
              <a:t>Evaluate the String</a:t>
            </a:r>
          </a:p>
        </p:txBody>
      </p:sp>
      <p:pic>
        <p:nvPicPr>
          <p:cNvPr id="849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0025" y="1066800"/>
            <a:ext cx="4535488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C15FFA7-E282-4FE5-925F-D1FB844E52E5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87043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This operator prefix notation was invented by Lukasiewicz (1878 - 1956) and is often called Polish notation.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2200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There is a similar </a:t>
            </a:r>
            <a:r>
              <a:rPr lang="en-US" altLang="en-GB" sz="2200" b="1" smtClean="0"/>
              <a:t>operator postfix notation </a:t>
            </a:r>
            <a:r>
              <a:rPr lang="en-US" altLang="en-GB" sz="2200" smtClean="0"/>
              <a:t>(also called Polish notation), in which the operation symbols (+, -, ...) come after the operands. This can be derived by tracing around the tree of the other side, keeping our </a:t>
            </a:r>
            <a:r>
              <a:rPr lang="en-US" altLang="en-GB" sz="2200" b="1" smtClean="0"/>
              <a:t>right </a:t>
            </a:r>
            <a:r>
              <a:rPr lang="en-US" altLang="en-GB" sz="2200" smtClean="0"/>
              <a:t>hand on the tree and then reversing the resultant string.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2200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Both these methods of notation are useful for computer science: Compilers often convert infix to prefix and then to assembler code.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A828B3E-90A7-4DB6-8138-FBF2D233EF0D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89091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Ambiguity- example</a:t>
            </a:r>
          </a:p>
        </p:txBody>
      </p:sp>
      <p:sp>
        <p:nvSpPr>
          <p:cNvPr id="89092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GB" sz="2200" smtClean="0"/>
              <a:t>Consider the language generated by the following CFG: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smtClean="0"/>
              <a:t>			S </a:t>
            </a:r>
            <a:r>
              <a:rPr lang="en-US" altLang="en-GB" sz="2200" smtClean="0">
                <a:cs typeface="Arial" panose="020B0604020202020204" pitchFamily="34" charset="0"/>
              </a:rPr>
              <a:t>→</a:t>
            </a:r>
            <a:r>
              <a:rPr lang="en-US" altLang="en-GB" sz="2200" smtClean="0"/>
              <a:t> AB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smtClean="0"/>
              <a:t>			A </a:t>
            </a:r>
            <a:r>
              <a:rPr lang="en-US" altLang="en-GB" sz="2200" smtClean="0">
                <a:cs typeface="Arial" panose="020B0604020202020204" pitchFamily="34" charset="0"/>
              </a:rPr>
              <a:t>→</a:t>
            </a:r>
            <a:r>
              <a:rPr lang="en-US" altLang="en-GB" sz="2200" smtClean="0"/>
              <a:t> a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smtClean="0"/>
              <a:t>			B </a:t>
            </a:r>
            <a:r>
              <a:rPr lang="en-US" altLang="en-GB" sz="2200" smtClean="0">
                <a:cs typeface="Arial" panose="020B0604020202020204" pitchFamily="34" charset="0"/>
              </a:rPr>
              <a:t>→</a:t>
            </a:r>
            <a:r>
              <a:rPr lang="en-US" altLang="en-GB" sz="2200" smtClean="0"/>
              <a:t> b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GB" sz="2200" smtClean="0"/>
              <a:t>There are two derivations of the word ab: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smtClean="0"/>
              <a:t>		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smtClean="0"/>
              <a:t>		S </a:t>
            </a:r>
            <a:r>
              <a:rPr lang="en-US" altLang="en-GB" sz="2200" smtClean="0">
                <a:sym typeface="Wingdings" panose="05000000000000000000" pitchFamily="2" charset="2"/>
              </a:rPr>
              <a:t></a:t>
            </a:r>
            <a:r>
              <a:rPr lang="en-US" altLang="en-GB" sz="2200" smtClean="0"/>
              <a:t> AB </a:t>
            </a:r>
            <a:r>
              <a:rPr lang="en-US" altLang="en-GB" sz="2200" smtClean="0">
                <a:sym typeface="Wingdings" panose="05000000000000000000" pitchFamily="2" charset="2"/>
              </a:rPr>
              <a:t></a:t>
            </a:r>
            <a:r>
              <a:rPr lang="en-US" altLang="en-GB" sz="2200" smtClean="0"/>
              <a:t> aB </a:t>
            </a:r>
            <a:r>
              <a:rPr lang="en-US" altLang="en-GB" sz="2200" smtClean="0">
                <a:sym typeface="Wingdings" panose="05000000000000000000" pitchFamily="2" charset="2"/>
              </a:rPr>
              <a:t></a:t>
            </a:r>
            <a:r>
              <a:rPr lang="en-US" altLang="en-GB" sz="2200" smtClean="0"/>
              <a:t> ab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200" smtClean="0"/>
              <a:t>			      or			 				S </a:t>
            </a:r>
            <a:r>
              <a:rPr lang="en-US" altLang="en-GB" sz="2200" smtClean="0">
                <a:sym typeface="Wingdings" panose="05000000000000000000" pitchFamily="2" charset="2"/>
              </a:rPr>
              <a:t></a:t>
            </a:r>
            <a:r>
              <a:rPr lang="en-US" altLang="en-GB" sz="2200" smtClean="0"/>
              <a:t> AB </a:t>
            </a:r>
            <a:r>
              <a:rPr lang="en-US" altLang="en-GB" sz="2200" smtClean="0">
                <a:sym typeface="Wingdings" panose="05000000000000000000" pitchFamily="2" charset="2"/>
              </a:rPr>
              <a:t></a:t>
            </a:r>
            <a:r>
              <a:rPr lang="en-US" altLang="en-GB" sz="2200" smtClean="0"/>
              <a:t> Ab </a:t>
            </a:r>
            <a:r>
              <a:rPr lang="en-US" altLang="en-GB" sz="2200" smtClean="0">
                <a:sym typeface="Wingdings" panose="05000000000000000000" pitchFamily="2" charset="2"/>
              </a:rPr>
              <a:t></a:t>
            </a:r>
            <a:r>
              <a:rPr lang="en-US" altLang="en-GB" sz="2200" smtClean="0"/>
              <a:t> ab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F3A1BF-7BD1-4055-A75B-DF124D6CDC83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91139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However, These two derivations correspond to the same syntax tree: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2200" smtClean="0"/>
          </a:p>
          <a:p>
            <a:pPr algn="just" eaLnBrk="1" hangingPunct="1">
              <a:lnSpc>
                <a:spcPct val="90000"/>
              </a:lnSpc>
            </a:pPr>
            <a:endParaRPr lang="en-US" altLang="en-GB" sz="2200" smtClean="0"/>
          </a:p>
          <a:p>
            <a:pPr algn="just" eaLnBrk="1" hangingPunct="1">
              <a:lnSpc>
                <a:spcPct val="90000"/>
              </a:lnSpc>
            </a:pPr>
            <a:endParaRPr lang="en-US" altLang="en-GB" sz="2200" smtClean="0"/>
          </a:p>
          <a:p>
            <a:pPr algn="just" eaLnBrk="1" hangingPunct="1">
              <a:lnSpc>
                <a:spcPct val="90000"/>
              </a:lnSpc>
            </a:pPr>
            <a:endParaRPr lang="en-US" altLang="en-GB" sz="2200" smtClean="0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GB" sz="2200" smtClean="0"/>
          </a:p>
          <a:p>
            <a:pPr algn="just" eaLnBrk="1" hangingPunct="1">
              <a:lnSpc>
                <a:spcPct val="90000"/>
              </a:lnSpc>
            </a:pPr>
            <a:endParaRPr lang="en-US" altLang="en-GB" sz="2200" smtClean="0"/>
          </a:p>
          <a:p>
            <a:pPr algn="just" eaLnBrk="1" hangingPunct="1">
              <a:lnSpc>
                <a:spcPct val="90000"/>
              </a:lnSpc>
            </a:pPr>
            <a:endParaRPr lang="en-US" altLang="en-GB" sz="2200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2200" smtClean="0"/>
              <a:t>The word ab is therefore not ambiguous. In general, when all the possible derivation trees are the same for a given word, then the word is unambiguous.</a:t>
            </a:r>
          </a:p>
        </p:txBody>
      </p:sp>
      <p:pic>
        <p:nvPicPr>
          <p:cNvPr id="9114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5675" y="1958975"/>
            <a:ext cx="2524125" cy="246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EBB8AFB-E29D-4292-B60B-C3E1FD4F6A8C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51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93187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Ambiguity - Definition</a:t>
            </a:r>
          </a:p>
        </p:txBody>
      </p:sp>
      <p:sp>
        <p:nvSpPr>
          <p:cNvPr id="93188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  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en-GB" sz="2200" smtClean="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   A CFG is called </a:t>
            </a:r>
            <a:r>
              <a:rPr lang="en-US" altLang="en-GB" sz="2200" b="1" smtClean="0"/>
              <a:t>ambiguous </a:t>
            </a:r>
            <a:r>
              <a:rPr lang="en-US" altLang="en-GB" sz="2200" smtClean="0"/>
              <a:t>if for at least one word in the language that it generates, there are two possible derivations of the word that correspond to different syntax trees. If a CFG is not ambiguous, it is called </a:t>
            </a:r>
            <a:r>
              <a:rPr lang="en-US" altLang="en-GB" sz="2200" b="1" smtClean="0"/>
              <a:t>unambiguous</a:t>
            </a:r>
            <a:r>
              <a:rPr lang="en-US" altLang="en-GB" sz="2200" smtClean="0"/>
              <a:t>.</a:t>
            </a:r>
          </a:p>
          <a:p>
            <a:pPr eaLnBrk="1" hangingPunct="1"/>
            <a:endParaRPr lang="en-US" altLang="en-GB" sz="220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FAE488A-C071-4C80-BB30-C74A3555712E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95235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Example</a:t>
            </a:r>
          </a:p>
        </p:txBody>
      </p:sp>
      <p:sp>
        <p:nvSpPr>
          <p:cNvPr id="95236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GB" sz="2200" smtClean="0"/>
              <a:t>The following CFG defines the language of all non-null strings of a’s: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			S → aS| Sa |a</a:t>
            </a:r>
          </a:p>
          <a:p>
            <a:pPr eaLnBrk="1" hangingPunct="1"/>
            <a:r>
              <a:rPr lang="en-US" altLang="en-GB" sz="2200" smtClean="0"/>
              <a:t>The word a</a:t>
            </a:r>
            <a:r>
              <a:rPr lang="en-US" altLang="en-GB" sz="2200" baseline="30000" smtClean="0"/>
              <a:t>3</a:t>
            </a:r>
            <a:r>
              <a:rPr lang="en-US" altLang="en-GB" sz="2200" smtClean="0"/>
              <a:t> can be generated by 4 different trees:</a:t>
            </a:r>
          </a:p>
          <a:p>
            <a:pPr eaLnBrk="1" hangingPunct="1"/>
            <a:endParaRPr lang="en-US" altLang="en-GB" sz="2200" smtClean="0"/>
          </a:p>
        </p:txBody>
      </p:sp>
      <p:pic>
        <p:nvPicPr>
          <p:cNvPr id="9523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173413"/>
            <a:ext cx="6762750" cy="292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FEE5BBE-8544-4A6B-805F-976D324B3177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97283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Example</a:t>
            </a:r>
          </a:p>
        </p:txBody>
      </p:sp>
      <p:sp>
        <p:nvSpPr>
          <p:cNvPr id="97284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sz="2200" smtClean="0"/>
              <a:t>the CFG, S→aS|a is not ambiguous as neither the word aaa nor any other word can be derived from more than one production trees. The derivation tree for aaa is as follows:</a:t>
            </a:r>
          </a:p>
        </p:txBody>
      </p:sp>
      <p:pic>
        <p:nvPicPr>
          <p:cNvPr id="9728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276600"/>
            <a:ext cx="2562225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733FF9D-6E1A-4BCE-901A-CDB6D7EFFA30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54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The Total Language Tree</a:t>
            </a:r>
          </a:p>
        </p:txBody>
      </p:sp>
      <p:sp>
        <p:nvSpPr>
          <p:cNvPr id="99332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sz="2200" smtClean="0"/>
              <a:t>It is possible to depict the generation of all the words in the language of a CFG simultaneously in one big (possibly infinite) tree.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b="1" smtClean="0"/>
              <a:t>Definition:</a:t>
            </a:r>
          </a:p>
          <a:p>
            <a:pPr algn="just" eaLnBrk="1" hangingPunct="1"/>
            <a:r>
              <a:rPr lang="en-US" altLang="en-GB" sz="2200" smtClean="0"/>
              <a:t>For a given CFG, we define a tree with the start symbol S as its root and whose nodes are working strings of terminals and non-terminals. The descendants of each node are all the possible results of applying every applicable production to the working string, one at a time. A string of all terminals is a terminal node in the tree. The resultant tree is called the </a:t>
            </a:r>
            <a:r>
              <a:rPr lang="en-US" altLang="en-GB" sz="2200" b="1" smtClean="0"/>
              <a:t>total language tree </a:t>
            </a:r>
            <a:r>
              <a:rPr lang="en-US" altLang="en-GB" sz="2200" smtClean="0"/>
              <a:t>of the CFG.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43BBCE4-D117-4C13-90B3-AF7CAC893D41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55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01379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Example</a:t>
            </a:r>
          </a:p>
        </p:txBody>
      </p:sp>
      <p:sp>
        <p:nvSpPr>
          <p:cNvPr id="101380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GB" sz="2600" smtClean="0"/>
              <a:t>Consider the CFG: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GB" sz="2600" smtClean="0"/>
              <a:t>		S → aa | bX |aXX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GB" sz="2600" smtClean="0"/>
              <a:t>		X → ab |b</a:t>
            </a:r>
          </a:p>
          <a:p>
            <a:pPr eaLnBrk="1" hangingPunct="1"/>
            <a:r>
              <a:rPr lang="en-US" altLang="en-GB" sz="2600" smtClean="0"/>
              <a:t>The total language tree is</a:t>
            </a:r>
          </a:p>
          <a:p>
            <a:pPr eaLnBrk="1" hangingPunct="1"/>
            <a:endParaRPr lang="en-US" altLang="en-GB" sz="2600" smtClean="0"/>
          </a:p>
        </p:txBody>
      </p:sp>
      <p:pic>
        <p:nvPicPr>
          <p:cNvPr id="10138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494088"/>
            <a:ext cx="6781800" cy="290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DF8E5C-89D8-4252-B42F-7714A031D6F4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56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03427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sz="2100" smtClean="0"/>
              <a:t>The above total language has only 7 different words.</a:t>
            </a:r>
          </a:p>
          <a:p>
            <a:pPr algn="just" eaLnBrk="1" hangingPunct="1"/>
            <a:r>
              <a:rPr lang="en-US" altLang="en-GB" sz="2100" smtClean="0"/>
              <a:t>Four of its words (abb, aabb, abab, aabab) have two different derivations because they appear as terminal nodes in two different places.</a:t>
            </a:r>
          </a:p>
          <a:p>
            <a:pPr algn="just" eaLnBrk="1" hangingPunct="1"/>
            <a:r>
              <a:rPr lang="en-US" altLang="en-GB" sz="2100" smtClean="0"/>
              <a:t>However, these words are NOT generated by two different derivation trees. Hence, the CFG is unambiguous. For example,</a:t>
            </a:r>
          </a:p>
        </p:txBody>
      </p:sp>
      <p:pic>
        <p:nvPicPr>
          <p:cNvPr id="1034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3851275"/>
            <a:ext cx="3124200" cy="224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993992A-80C0-495C-853B-BA094627D095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57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05475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Example</a:t>
            </a:r>
          </a:p>
        </p:txBody>
      </p:sp>
      <p:sp>
        <p:nvSpPr>
          <p:cNvPr id="105476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sz="2200" smtClean="0"/>
              <a:t>Consider the CFG: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			S → aSb | bS | a</a:t>
            </a:r>
          </a:p>
          <a:p>
            <a:pPr algn="just" eaLnBrk="1" hangingPunct="1"/>
            <a:r>
              <a:rPr lang="en-US" altLang="en-GB" sz="2200" smtClean="0"/>
              <a:t>The language of this CFG is infinite, so is the total language tree: The tree may get arbitrary wide as well as infinitely long.</a:t>
            </a:r>
          </a:p>
          <a:p>
            <a:pPr algn="just" eaLnBrk="1" hangingPunct="1"/>
            <a:r>
              <a:rPr lang="en-US" altLang="en-GB" sz="2200" smtClean="0"/>
              <a:t>Can you draw the beginning part of this total language tree?</a:t>
            </a:r>
          </a:p>
          <a:p>
            <a:pPr algn="just" eaLnBrk="1" hangingPunct="1"/>
            <a:endParaRPr lang="en-US" altLang="en-GB" sz="220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2D136F-F884-4A1C-BF7D-5E74D0C7990D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58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07523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Semi Word</a:t>
            </a:r>
          </a:p>
        </p:txBody>
      </p:sp>
      <p:sp>
        <p:nvSpPr>
          <p:cNvPr id="107524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sz="2200" smtClean="0"/>
              <a:t>For a given CFG, semi-word is a string of terminals (may be none) concatenated with exactly one non-terminal (on the right).</a:t>
            </a:r>
          </a:p>
          <a:p>
            <a:pPr algn="just" eaLnBrk="1" hangingPunct="1"/>
            <a:endParaRPr lang="en-US" altLang="en-GB" sz="2200" smtClean="0"/>
          </a:p>
          <a:p>
            <a:pPr algn="just" eaLnBrk="1" hangingPunct="1"/>
            <a:r>
              <a:rPr lang="en-US" altLang="en-GB" sz="2200" smtClean="0"/>
              <a:t>In general semi-word has the shape</a:t>
            </a:r>
          </a:p>
          <a:p>
            <a:pPr algn="just" eaLnBrk="1" hangingPunct="1"/>
            <a:endParaRPr lang="en-US" altLang="en-GB" sz="2200" smtClean="0"/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en-GB" sz="2000" smtClean="0"/>
              <a:t>(terminal) (terminal)….(terminal) (Non-Terminal)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endParaRPr lang="en-US" altLang="en-GB" sz="2000" smtClean="0"/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en-GB" sz="2000" smtClean="0"/>
              <a:t>e.g. aaaX    abcY    bbY</a:t>
            </a:r>
          </a:p>
        </p:txBody>
      </p:sp>
      <p:sp>
        <p:nvSpPr>
          <p:cNvPr id="110596" name="Text Box 4"/>
          <p:cNvSpPr txBox="1">
            <a:spLocks noChangeArrowheads="1"/>
          </p:cNvSpPr>
          <p:nvPr/>
        </p:nvSpPr>
        <p:spPr bwMode="auto">
          <a:xfrm>
            <a:off x="838200" y="5649913"/>
            <a:ext cx="7381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word is a string of terminals only (zero or more terminals)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0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Number Placeholder 9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C001358-DEB2-4A5A-8BEE-1F28C1FB741D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59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09571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Regular Grammar</a:t>
            </a:r>
          </a:p>
        </p:txBody>
      </p:sp>
      <p:sp>
        <p:nvSpPr>
          <p:cNvPr id="109572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Given an FA, there is a CFG that generates exactly the language accepted by the FA.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en-GB" sz="2200" smtClean="0"/>
          </a:p>
          <a:p>
            <a:pPr lvl="1" algn="just" eaLnBrk="1" hangingPunct="1"/>
            <a:r>
              <a:rPr lang="en-US" altLang="en-GB" sz="2000" smtClean="0"/>
              <a:t>In other words, all regular languages are CFLs</a:t>
            </a:r>
          </a:p>
        </p:txBody>
      </p:sp>
      <p:sp>
        <p:nvSpPr>
          <p:cNvPr id="109573" name="Oval 14"/>
          <p:cNvSpPr>
            <a:spLocks noChangeArrowheads="1"/>
          </p:cNvSpPr>
          <p:nvPr/>
        </p:nvSpPr>
        <p:spPr bwMode="auto">
          <a:xfrm>
            <a:off x="3429000" y="3429000"/>
            <a:ext cx="2971800" cy="1905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GB" altLang="en-GB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574" name="Oval 15"/>
          <p:cNvSpPr>
            <a:spLocks noChangeArrowheads="1"/>
          </p:cNvSpPr>
          <p:nvPr/>
        </p:nvSpPr>
        <p:spPr bwMode="auto">
          <a:xfrm>
            <a:off x="4038600" y="4267200"/>
            <a:ext cx="1828800" cy="762000"/>
          </a:xfrm>
          <a:prstGeom prst="ellipse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GB" altLang="en-GB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575" name="Text Box 16"/>
          <p:cNvSpPr txBox="1">
            <a:spLocks noChangeArrowheads="1"/>
          </p:cNvSpPr>
          <p:nvPr/>
        </p:nvSpPr>
        <p:spPr bwMode="auto">
          <a:xfrm>
            <a:off x="4327525" y="3694113"/>
            <a:ext cx="869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  <a:cs typeface="Arial" panose="020B0604020202020204" pitchFamily="34" charset="0"/>
              </a:rPr>
              <a:t>    CFL</a:t>
            </a:r>
          </a:p>
        </p:txBody>
      </p:sp>
      <p:sp>
        <p:nvSpPr>
          <p:cNvPr id="109576" name="Text Box 17"/>
          <p:cNvSpPr txBox="1">
            <a:spLocks noChangeArrowheads="1"/>
          </p:cNvSpPr>
          <p:nvPr/>
        </p:nvSpPr>
        <p:spPr bwMode="auto">
          <a:xfrm>
            <a:off x="4556125" y="4456113"/>
            <a:ext cx="984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  <a:cs typeface="Arial" panose="020B0604020202020204" pitchFamily="34" charset="0"/>
              </a:rPr>
              <a:t>Regular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Number Placeholder 14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6EF6CE-5E7B-4B41-8BAB-94248C85829F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60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11619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Creating a CFG from an FA</a:t>
            </a:r>
          </a:p>
        </p:txBody>
      </p:sp>
      <p:sp>
        <p:nvSpPr>
          <p:cNvPr id="111620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600" u="sng" smtClean="0"/>
              <a:t>Step-1  </a:t>
            </a:r>
            <a:r>
              <a:rPr lang="en-US" altLang="en-GB" sz="2200" smtClean="0"/>
              <a:t>The Non-terminals in CFG will be all names of the states in the FA with the start state renamed S.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600" u="sng" smtClean="0"/>
              <a:t>Step-2</a:t>
            </a:r>
            <a:r>
              <a:rPr lang="en-US" altLang="en-GB" sz="2200" smtClean="0"/>
              <a:t> For every edge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en-GB" sz="2200" smtClean="0"/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en-GB" sz="2200" smtClean="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Create productions X</a:t>
            </a:r>
            <a:r>
              <a:rPr lang="en-US" altLang="en-GB" sz="2200" smtClean="0">
                <a:sym typeface="Wingdings" panose="05000000000000000000" pitchFamily="2" charset="2"/>
              </a:rPr>
              <a:t>aY   or XaX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>
                <a:sym typeface="Wingdings" panose="05000000000000000000" pitchFamily="2" charset="2"/>
              </a:rPr>
              <a:t>Do the same for b-edges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600" u="sng" smtClean="0">
                <a:sym typeface="Wingdings" panose="05000000000000000000" pitchFamily="2" charset="2"/>
              </a:rPr>
              <a:t>Step-3</a:t>
            </a:r>
            <a:r>
              <a:rPr lang="en-US" altLang="en-GB" sz="2200" smtClean="0">
                <a:sym typeface="Wingdings" panose="05000000000000000000" pitchFamily="2" charset="2"/>
              </a:rPr>
              <a:t> For every final-state X, create the production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en-GB" sz="2200" smtClean="0">
              <a:sym typeface="Wingdings" panose="05000000000000000000" pitchFamily="2" charset="2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>
                <a:sym typeface="Wingdings" panose="05000000000000000000" pitchFamily="2" charset="2"/>
              </a:rPr>
              <a:t>			X</a:t>
            </a:r>
            <a:r>
              <a:rPr lang="el-GR" altLang="en-GB" sz="2200" smtClean="0">
                <a:cs typeface="Arial" panose="020B0604020202020204" pitchFamily="34" charset="0"/>
                <a:sym typeface="Wingdings" panose="05000000000000000000" pitchFamily="2" charset="2"/>
              </a:rPr>
              <a:t>Λ</a:t>
            </a:r>
            <a:endParaRPr lang="en-US" altLang="en-GB" sz="2600" smtClean="0"/>
          </a:p>
        </p:txBody>
      </p:sp>
      <p:grpSp>
        <p:nvGrpSpPr>
          <p:cNvPr id="111621" name="Group 4"/>
          <p:cNvGrpSpPr>
            <a:grpSpLocks/>
          </p:cNvGrpSpPr>
          <p:nvPr/>
        </p:nvGrpSpPr>
        <p:grpSpPr bwMode="auto">
          <a:xfrm>
            <a:off x="2057400" y="2932113"/>
            <a:ext cx="2971800" cy="725487"/>
            <a:chOff x="528" y="3287"/>
            <a:chExt cx="1872" cy="457"/>
          </a:xfrm>
        </p:grpSpPr>
        <p:sp>
          <p:nvSpPr>
            <p:cNvPr id="111627" name="Oval 5"/>
            <p:cNvSpPr>
              <a:spLocks noChangeArrowheads="1"/>
            </p:cNvSpPr>
            <p:nvPr/>
          </p:nvSpPr>
          <p:spPr bwMode="auto">
            <a:xfrm>
              <a:off x="528" y="3312"/>
              <a:ext cx="432" cy="432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GB" sz="180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</a:p>
          </p:txBody>
        </p:sp>
        <p:sp>
          <p:nvSpPr>
            <p:cNvPr id="111628" name="Oval 6"/>
            <p:cNvSpPr>
              <a:spLocks noChangeArrowheads="1"/>
            </p:cNvSpPr>
            <p:nvPr/>
          </p:nvSpPr>
          <p:spPr bwMode="auto">
            <a:xfrm>
              <a:off x="1968" y="3312"/>
              <a:ext cx="432" cy="432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GB" sz="1800"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111629" name="Line 7"/>
            <p:cNvSpPr>
              <a:spLocks noChangeShapeType="1"/>
            </p:cNvSpPr>
            <p:nvPr/>
          </p:nvSpPr>
          <p:spPr bwMode="auto">
            <a:xfrm>
              <a:off x="960" y="3552"/>
              <a:ext cx="10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1630" name="Text Box 8"/>
            <p:cNvSpPr txBox="1">
              <a:spLocks noChangeArrowheads="1"/>
            </p:cNvSpPr>
            <p:nvPr/>
          </p:nvSpPr>
          <p:spPr bwMode="auto">
            <a:xfrm>
              <a:off x="1238" y="328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GB" sz="180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</p:grpSp>
      <p:grpSp>
        <p:nvGrpSpPr>
          <p:cNvPr id="111622" name="Group 9"/>
          <p:cNvGrpSpPr>
            <a:grpSpLocks/>
          </p:cNvGrpSpPr>
          <p:nvPr/>
        </p:nvGrpSpPr>
        <p:grpSpPr bwMode="auto">
          <a:xfrm>
            <a:off x="6286500" y="2300288"/>
            <a:ext cx="723900" cy="1281112"/>
            <a:chOff x="4008" y="2937"/>
            <a:chExt cx="456" cy="807"/>
          </a:xfrm>
        </p:grpSpPr>
        <p:sp>
          <p:nvSpPr>
            <p:cNvPr id="111624" name="Oval 10"/>
            <p:cNvSpPr>
              <a:spLocks noChangeArrowheads="1"/>
            </p:cNvSpPr>
            <p:nvPr/>
          </p:nvSpPr>
          <p:spPr bwMode="auto">
            <a:xfrm>
              <a:off x="4032" y="3312"/>
              <a:ext cx="432" cy="432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GB" sz="180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</a:p>
          </p:txBody>
        </p:sp>
        <p:sp>
          <p:nvSpPr>
            <p:cNvPr id="111625" name="Freeform 11"/>
            <p:cNvSpPr>
              <a:spLocks/>
            </p:cNvSpPr>
            <p:nvPr/>
          </p:nvSpPr>
          <p:spPr bwMode="auto">
            <a:xfrm>
              <a:off x="4008" y="3040"/>
              <a:ext cx="312" cy="320"/>
            </a:xfrm>
            <a:custGeom>
              <a:avLst/>
              <a:gdLst>
                <a:gd name="T0" fmla="*/ 72 w 312"/>
                <a:gd name="T1" fmla="*/ 320 h 320"/>
                <a:gd name="T2" fmla="*/ 24 w 312"/>
                <a:gd name="T3" fmla="*/ 80 h 320"/>
                <a:gd name="T4" fmla="*/ 216 w 312"/>
                <a:gd name="T5" fmla="*/ 32 h 320"/>
                <a:gd name="T6" fmla="*/ 312 w 312"/>
                <a:gd name="T7" fmla="*/ 272 h 3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2"/>
                <a:gd name="T13" fmla="*/ 0 h 320"/>
                <a:gd name="T14" fmla="*/ 312 w 312"/>
                <a:gd name="T15" fmla="*/ 320 h 3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2" h="320">
                  <a:moveTo>
                    <a:pt x="72" y="320"/>
                  </a:moveTo>
                  <a:cubicBezTo>
                    <a:pt x="36" y="224"/>
                    <a:pt x="0" y="128"/>
                    <a:pt x="24" y="80"/>
                  </a:cubicBezTo>
                  <a:cubicBezTo>
                    <a:pt x="48" y="32"/>
                    <a:pt x="168" y="0"/>
                    <a:pt x="216" y="32"/>
                  </a:cubicBezTo>
                  <a:cubicBezTo>
                    <a:pt x="264" y="64"/>
                    <a:pt x="296" y="232"/>
                    <a:pt x="312" y="27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1626" name="Text Box 12"/>
            <p:cNvSpPr txBox="1">
              <a:spLocks noChangeArrowheads="1"/>
            </p:cNvSpPr>
            <p:nvPr/>
          </p:nvSpPr>
          <p:spPr bwMode="auto">
            <a:xfrm>
              <a:off x="4268" y="293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GB" sz="1800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</p:grp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Number Placeholder 20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C894BAA-2FA0-4778-BFC9-659779CEE1CC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61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13667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Example</a:t>
            </a:r>
          </a:p>
        </p:txBody>
      </p:sp>
      <p:sp>
        <p:nvSpPr>
          <p:cNvPr id="113668" name="Rectangle 3"/>
          <p:cNvSpPr>
            <a:spLocks noGrp="1"/>
          </p:cNvSpPr>
          <p:nvPr>
            <p:ph type="body" idx="4294967295"/>
          </p:nvPr>
        </p:nvSpPr>
        <p:spPr>
          <a:xfrm>
            <a:off x="0" y="1371600"/>
            <a:ext cx="2895600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en-GB" sz="2600" smtClean="0"/>
          </a:p>
          <a:p>
            <a:pPr eaLnBrk="1" hangingPunct="1">
              <a:lnSpc>
                <a:spcPct val="90000"/>
              </a:lnSpc>
            </a:pPr>
            <a:endParaRPr lang="en-US" altLang="en-GB" sz="2600" smtClean="0"/>
          </a:p>
          <a:p>
            <a:pPr eaLnBrk="1" hangingPunct="1">
              <a:lnSpc>
                <a:spcPct val="90000"/>
              </a:lnSpc>
            </a:pPr>
            <a:endParaRPr lang="en-US" altLang="en-GB" sz="260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GB" sz="260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600" smtClean="0"/>
              <a:t>S </a:t>
            </a:r>
            <a:r>
              <a:rPr lang="en-US" altLang="en-GB" sz="2600" smtClean="0">
                <a:sym typeface="Wingdings" panose="05000000000000000000" pitchFamily="2" charset="2"/>
              </a:rPr>
              <a:t> aM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600" smtClean="0">
                <a:sym typeface="Wingdings" panose="05000000000000000000" pitchFamily="2" charset="2"/>
              </a:rPr>
              <a:t>S  bS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600" smtClean="0">
                <a:sym typeface="Wingdings" panose="05000000000000000000" pitchFamily="2" charset="2"/>
              </a:rPr>
              <a:t>M  aF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600" smtClean="0">
                <a:sym typeface="Wingdings" panose="05000000000000000000" pitchFamily="2" charset="2"/>
              </a:rPr>
              <a:t>M  bS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600" smtClean="0">
                <a:sym typeface="Wingdings" panose="05000000000000000000" pitchFamily="2" charset="2"/>
              </a:rPr>
              <a:t>F  aF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600" smtClean="0">
                <a:sym typeface="Wingdings" panose="05000000000000000000" pitchFamily="2" charset="2"/>
              </a:rPr>
              <a:t>F  bF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600" smtClean="0">
                <a:sym typeface="Wingdings" panose="05000000000000000000" pitchFamily="2" charset="2"/>
              </a:rPr>
              <a:t>F  </a:t>
            </a:r>
            <a:r>
              <a:rPr lang="el-GR" altLang="en-GB" sz="2600" smtClean="0">
                <a:cs typeface="Arial" panose="020B0604020202020204" pitchFamily="34" charset="0"/>
                <a:sym typeface="Wingdings" panose="05000000000000000000" pitchFamily="2" charset="2"/>
              </a:rPr>
              <a:t>Λ</a:t>
            </a:r>
            <a:endParaRPr lang="el-GR" altLang="en-GB" sz="2600" smtClean="0">
              <a:cs typeface="Arial" panose="020B0604020202020204" pitchFamily="34" charset="0"/>
            </a:endParaRPr>
          </a:p>
        </p:txBody>
      </p:sp>
      <p:sp>
        <p:nvSpPr>
          <p:cNvPr id="113669" name="Oval 5"/>
          <p:cNvSpPr>
            <a:spLocks noChangeArrowheads="1"/>
          </p:cNvSpPr>
          <p:nvPr/>
        </p:nvSpPr>
        <p:spPr bwMode="auto">
          <a:xfrm>
            <a:off x="1066800" y="1639888"/>
            <a:ext cx="685800" cy="6858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en-GB" sz="2400" b="1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113670" name="Oval 6"/>
          <p:cNvSpPr>
            <a:spLocks noChangeArrowheads="1"/>
          </p:cNvSpPr>
          <p:nvPr/>
        </p:nvSpPr>
        <p:spPr bwMode="auto">
          <a:xfrm>
            <a:off x="3352800" y="1639888"/>
            <a:ext cx="685800" cy="6858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113671" name="Text Box 8"/>
          <p:cNvSpPr txBox="1">
            <a:spLocks noChangeArrowheads="1"/>
          </p:cNvSpPr>
          <p:nvPr/>
        </p:nvSpPr>
        <p:spPr bwMode="auto">
          <a:xfrm>
            <a:off x="2193925" y="11572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13672" name="Freeform 9"/>
          <p:cNvSpPr>
            <a:spLocks/>
          </p:cNvSpPr>
          <p:nvPr/>
        </p:nvSpPr>
        <p:spPr bwMode="auto">
          <a:xfrm>
            <a:off x="1752600" y="1600200"/>
            <a:ext cx="1600200" cy="228600"/>
          </a:xfrm>
          <a:custGeom>
            <a:avLst/>
            <a:gdLst>
              <a:gd name="T0" fmla="*/ 0 w 1008"/>
              <a:gd name="T1" fmla="*/ 2147483646 h 144"/>
              <a:gd name="T2" fmla="*/ 2147483646 w 1008"/>
              <a:gd name="T3" fmla="*/ 2147483646 h 144"/>
              <a:gd name="T4" fmla="*/ 2147483646 w 1008"/>
              <a:gd name="T5" fmla="*/ 0 h 144"/>
              <a:gd name="T6" fmla="*/ 2147483646 w 1008"/>
              <a:gd name="T7" fmla="*/ 2147483646 h 144"/>
              <a:gd name="T8" fmla="*/ 2147483646 w 1008"/>
              <a:gd name="T9" fmla="*/ 2147483646 h 144"/>
              <a:gd name="T10" fmla="*/ 2147483646 w 1008"/>
              <a:gd name="T11" fmla="*/ 2147483646 h 1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8"/>
              <a:gd name="T19" fmla="*/ 0 h 144"/>
              <a:gd name="T20" fmla="*/ 1008 w 1008"/>
              <a:gd name="T21" fmla="*/ 144 h 1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8" h="144">
                <a:moveTo>
                  <a:pt x="0" y="144"/>
                </a:moveTo>
                <a:cubicBezTo>
                  <a:pt x="40" y="108"/>
                  <a:pt x="80" y="72"/>
                  <a:pt x="144" y="48"/>
                </a:cubicBezTo>
                <a:cubicBezTo>
                  <a:pt x="208" y="24"/>
                  <a:pt x="304" y="0"/>
                  <a:pt x="384" y="0"/>
                </a:cubicBezTo>
                <a:cubicBezTo>
                  <a:pt x="464" y="0"/>
                  <a:pt x="544" y="40"/>
                  <a:pt x="624" y="48"/>
                </a:cubicBezTo>
                <a:cubicBezTo>
                  <a:pt x="704" y="56"/>
                  <a:pt x="800" y="32"/>
                  <a:pt x="864" y="48"/>
                </a:cubicBezTo>
                <a:cubicBezTo>
                  <a:pt x="928" y="64"/>
                  <a:pt x="968" y="104"/>
                  <a:pt x="1008" y="144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673" name="Freeform 10"/>
          <p:cNvSpPr>
            <a:spLocks/>
          </p:cNvSpPr>
          <p:nvPr/>
        </p:nvSpPr>
        <p:spPr bwMode="auto">
          <a:xfrm>
            <a:off x="1676400" y="2209800"/>
            <a:ext cx="1752600" cy="444500"/>
          </a:xfrm>
          <a:custGeom>
            <a:avLst/>
            <a:gdLst>
              <a:gd name="T0" fmla="*/ 2147483646 w 1104"/>
              <a:gd name="T1" fmla="*/ 0 h 280"/>
              <a:gd name="T2" fmla="*/ 2147483646 w 1104"/>
              <a:gd name="T3" fmla="*/ 2147483646 h 280"/>
              <a:gd name="T4" fmla="*/ 2147483646 w 1104"/>
              <a:gd name="T5" fmla="*/ 2147483646 h 280"/>
              <a:gd name="T6" fmla="*/ 2147483646 w 1104"/>
              <a:gd name="T7" fmla="*/ 2147483646 h 280"/>
              <a:gd name="T8" fmla="*/ 0 w 1104"/>
              <a:gd name="T9" fmla="*/ 2147483646 h 2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04"/>
              <a:gd name="T16" fmla="*/ 0 h 280"/>
              <a:gd name="T17" fmla="*/ 1104 w 1104"/>
              <a:gd name="T18" fmla="*/ 280 h 2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04" h="280">
                <a:moveTo>
                  <a:pt x="1104" y="0"/>
                </a:moveTo>
                <a:cubicBezTo>
                  <a:pt x="1032" y="100"/>
                  <a:pt x="960" y="200"/>
                  <a:pt x="864" y="240"/>
                </a:cubicBezTo>
                <a:cubicBezTo>
                  <a:pt x="768" y="280"/>
                  <a:pt x="632" y="248"/>
                  <a:pt x="528" y="240"/>
                </a:cubicBezTo>
                <a:cubicBezTo>
                  <a:pt x="424" y="232"/>
                  <a:pt x="328" y="224"/>
                  <a:pt x="240" y="192"/>
                </a:cubicBezTo>
                <a:cubicBezTo>
                  <a:pt x="152" y="160"/>
                  <a:pt x="48" y="72"/>
                  <a:pt x="0" y="48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674" name="Text Box 11"/>
          <p:cNvSpPr txBox="1">
            <a:spLocks noChangeArrowheads="1"/>
          </p:cNvSpPr>
          <p:nvPr/>
        </p:nvSpPr>
        <p:spPr bwMode="auto">
          <a:xfrm>
            <a:off x="2346325" y="25288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13675" name="Freeform 12"/>
          <p:cNvSpPr>
            <a:spLocks/>
          </p:cNvSpPr>
          <p:nvPr/>
        </p:nvSpPr>
        <p:spPr bwMode="auto">
          <a:xfrm>
            <a:off x="901700" y="1206500"/>
            <a:ext cx="508000" cy="622300"/>
          </a:xfrm>
          <a:custGeom>
            <a:avLst/>
            <a:gdLst>
              <a:gd name="T0" fmla="*/ 2147483646 w 320"/>
              <a:gd name="T1" fmla="*/ 2147483646 h 392"/>
              <a:gd name="T2" fmla="*/ 2147483646 w 320"/>
              <a:gd name="T3" fmla="*/ 2147483646 h 392"/>
              <a:gd name="T4" fmla="*/ 2147483646 w 320"/>
              <a:gd name="T5" fmla="*/ 2147483646 h 392"/>
              <a:gd name="T6" fmla="*/ 2147483646 w 320"/>
              <a:gd name="T7" fmla="*/ 2147483646 h 392"/>
              <a:gd name="T8" fmla="*/ 2147483646 w 320"/>
              <a:gd name="T9" fmla="*/ 2147483646 h 3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0"/>
              <a:gd name="T16" fmla="*/ 0 h 392"/>
              <a:gd name="T17" fmla="*/ 320 w 320"/>
              <a:gd name="T18" fmla="*/ 392 h 3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0" h="392">
                <a:moveTo>
                  <a:pt x="104" y="392"/>
                </a:moveTo>
                <a:cubicBezTo>
                  <a:pt x="52" y="304"/>
                  <a:pt x="0" y="216"/>
                  <a:pt x="8" y="152"/>
                </a:cubicBezTo>
                <a:cubicBezTo>
                  <a:pt x="16" y="88"/>
                  <a:pt x="104" y="16"/>
                  <a:pt x="152" y="8"/>
                </a:cubicBezTo>
                <a:cubicBezTo>
                  <a:pt x="200" y="0"/>
                  <a:pt x="272" y="56"/>
                  <a:pt x="296" y="104"/>
                </a:cubicBezTo>
                <a:cubicBezTo>
                  <a:pt x="320" y="152"/>
                  <a:pt x="296" y="272"/>
                  <a:pt x="296" y="296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676" name="Text Box 13"/>
          <p:cNvSpPr txBox="1">
            <a:spLocks noChangeArrowheads="1"/>
          </p:cNvSpPr>
          <p:nvPr/>
        </p:nvSpPr>
        <p:spPr bwMode="auto">
          <a:xfrm>
            <a:off x="914400" y="8524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grpSp>
        <p:nvGrpSpPr>
          <p:cNvPr id="113677" name="Group 14"/>
          <p:cNvGrpSpPr>
            <a:grpSpLocks/>
          </p:cNvGrpSpPr>
          <p:nvPr/>
        </p:nvGrpSpPr>
        <p:grpSpPr bwMode="auto">
          <a:xfrm>
            <a:off x="5143500" y="1004888"/>
            <a:ext cx="914400" cy="1281112"/>
            <a:chOff x="4008" y="2937"/>
            <a:chExt cx="576" cy="807"/>
          </a:xfrm>
        </p:grpSpPr>
        <p:sp>
          <p:nvSpPr>
            <p:cNvPr id="113682" name="Oval 15"/>
            <p:cNvSpPr>
              <a:spLocks noChangeArrowheads="1"/>
            </p:cNvSpPr>
            <p:nvPr/>
          </p:nvSpPr>
          <p:spPr bwMode="auto">
            <a:xfrm>
              <a:off x="4032" y="3312"/>
              <a:ext cx="432" cy="432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GB" sz="1800">
                  <a:latin typeface="Arial" panose="020B0604020202020204" pitchFamily="34" charset="0"/>
                  <a:cs typeface="Arial" panose="020B0604020202020204" pitchFamily="34" charset="0"/>
                </a:rPr>
                <a:t>F+</a:t>
              </a:r>
            </a:p>
          </p:txBody>
        </p:sp>
        <p:sp>
          <p:nvSpPr>
            <p:cNvPr id="113683" name="Freeform 16"/>
            <p:cNvSpPr>
              <a:spLocks/>
            </p:cNvSpPr>
            <p:nvPr/>
          </p:nvSpPr>
          <p:spPr bwMode="auto">
            <a:xfrm>
              <a:off x="4008" y="3040"/>
              <a:ext cx="312" cy="320"/>
            </a:xfrm>
            <a:custGeom>
              <a:avLst/>
              <a:gdLst>
                <a:gd name="T0" fmla="*/ 72 w 312"/>
                <a:gd name="T1" fmla="*/ 320 h 320"/>
                <a:gd name="T2" fmla="*/ 24 w 312"/>
                <a:gd name="T3" fmla="*/ 80 h 320"/>
                <a:gd name="T4" fmla="*/ 216 w 312"/>
                <a:gd name="T5" fmla="*/ 32 h 320"/>
                <a:gd name="T6" fmla="*/ 312 w 312"/>
                <a:gd name="T7" fmla="*/ 272 h 3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2"/>
                <a:gd name="T13" fmla="*/ 0 h 320"/>
                <a:gd name="T14" fmla="*/ 312 w 312"/>
                <a:gd name="T15" fmla="*/ 320 h 3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2" h="320">
                  <a:moveTo>
                    <a:pt x="72" y="320"/>
                  </a:moveTo>
                  <a:cubicBezTo>
                    <a:pt x="36" y="224"/>
                    <a:pt x="0" y="128"/>
                    <a:pt x="24" y="80"/>
                  </a:cubicBezTo>
                  <a:cubicBezTo>
                    <a:pt x="48" y="32"/>
                    <a:pt x="168" y="0"/>
                    <a:pt x="216" y="32"/>
                  </a:cubicBezTo>
                  <a:cubicBezTo>
                    <a:pt x="264" y="64"/>
                    <a:pt x="296" y="232"/>
                    <a:pt x="312" y="27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" name="Text Box 17"/>
            <p:cNvSpPr txBox="1">
              <a:spLocks noChangeArrowheads="1"/>
            </p:cNvSpPr>
            <p:nvPr/>
          </p:nvSpPr>
          <p:spPr bwMode="auto">
            <a:xfrm>
              <a:off x="4268" y="2937"/>
              <a:ext cx="3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GB" sz="1800">
                  <a:latin typeface="Arial" panose="020B0604020202020204" pitchFamily="34" charset="0"/>
                  <a:cs typeface="Arial" panose="020B0604020202020204" pitchFamily="34" charset="0"/>
                </a:rPr>
                <a:t>a,b</a:t>
              </a:r>
            </a:p>
          </p:txBody>
        </p:sp>
      </p:grpSp>
      <p:sp>
        <p:nvSpPr>
          <p:cNvPr id="113678" name="Line 18"/>
          <p:cNvSpPr>
            <a:spLocks noChangeShapeType="1"/>
          </p:cNvSpPr>
          <p:nvPr/>
        </p:nvSpPr>
        <p:spPr bwMode="auto">
          <a:xfrm>
            <a:off x="4038600" y="1981200"/>
            <a:ext cx="1143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3679" name="Text Box 19"/>
          <p:cNvSpPr txBox="1">
            <a:spLocks noChangeArrowheads="1"/>
          </p:cNvSpPr>
          <p:nvPr/>
        </p:nvSpPr>
        <p:spPr bwMode="auto">
          <a:xfrm>
            <a:off x="4337050" y="15382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180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13684" name="Text Box 20"/>
          <p:cNvSpPr txBox="1">
            <a:spLocks noChangeArrowheads="1"/>
          </p:cNvSpPr>
          <p:nvPr/>
        </p:nvSpPr>
        <p:spPr bwMode="auto">
          <a:xfrm>
            <a:off x="3276600" y="3536950"/>
            <a:ext cx="5602288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 It is not necessary that each CFG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 a corresponding FA. But each FA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 an equivalent CFG.</a:t>
            </a:r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3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8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E3B655-24C3-49A4-A832-C3413659292C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15715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Regular Grammar</a:t>
            </a:r>
          </a:p>
        </p:txBody>
      </p:sp>
      <p:sp>
        <p:nvSpPr>
          <p:cNvPr id="115716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pt-BR" altLang="en-GB" sz="2200" smtClean="0">
                <a:solidFill>
                  <a:srgbClr val="FF3300"/>
                </a:solidFill>
              </a:rPr>
              <a:t>Theorem 22: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pt-BR" altLang="en-GB" sz="2200" smtClean="0">
                <a:solidFill>
                  <a:srgbClr val="FF3300"/>
                </a:solidFill>
              </a:rPr>
              <a:t>If all the productions in a given CFG fit one of the two forms: Non-terminal </a:t>
            </a:r>
            <a:r>
              <a:rPr lang="pt-BR" altLang="en-GB" sz="2200" smtClean="0">
                <a:solidFill>
                  <a:srgbClr val="FF3300"/>
                </a:solidFill>
                <a:sym typeface="Wingdings" panose="05000000000000000000" pitchFamily="2" charset="2"/>
              </a:rPr>
              <a:t> semiword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pt-BR" altLang="en-GB" sz="2200" smtClean="0">
                <a:solidFill>
                  <a:srgbClr val="FF3300"/>
                </a:solidFill>
                <a:sym typeface="Wingdings" panose="05000000000000000000" pitchFamily="2" charset="2"/>
              </a:rPr>
              <a:t>		         or Non-terminal  word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(Where the word may be a </a:t>
            </a:r>
            <a:r>
              <a:rPr lang="el-GR" altLang="en-GB" sz="2200" smtClean="0">
                <a:cs typeface="Arial" panose="020B0604020202020204" pitchFamily="34" charset="0"/>
              </a:rPr>
              <a:t>Λ</a:t>
            </a:r>
            <a:r>
              <a:rPr lang="en-US" altLang="en-GB" sz="2200" smtClean="0">
                <a:cs typeface="Arial" panose="020B0604020202020204" pitchFamily="34" charset="0"/>
              </a:rPr>
              <a:t> or string of terminal), then the language generated by the CFG is Regular.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>
                <a:cs typeface="Arial" panose="020B0604020202020204" pitchFamily="34" charset="0"/>
              </a:rPr>
              <a:t>Proof: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>
                <a:cs typeface="Arial" panose="020B0604020202020204" pitchFamily="34" charset="0"/>
              </a:rPr>
              <a:t>For a CFG to be regular is by constructing a TG from the given CFG.</a:t>
            </a:r>
            <a:endParaRPr lang="el-GR" altLang="en-GB" sz="2200" smtClean="0"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Number Placeholder 1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DBB899B-9A57-403D-BC8F-382C48425302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17763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Proof contd.</a:t>
            </a:r>
          </a:p>
        </p:txBody>
      </p:sp>
      <p:sp>
        <p:nvSpPr>
          <p:cNvPr id="117764" name="Rectangle 3"/>
          <p:cNvSpPr>
            <a:spLocks noGrp="1"/>
          </p:cNvSpPr>
          <p:nvPr>
            <p:ph type="body" idx="4294967295"/>
          </p:nvPr>
        </p:nvSpPr>
        <p:spPr>
          <a:xfrm>
            <a:off x="0" y="990600"/>
            <a:ext cx="8229600" cy="4876800"/>
          </a:xfrm>
        </p:spPr>
        <p:txBody>
          <a:bodyPr/>
          <a:lstStyle/>
          <a:p>
            <a:pPr algn="just" eaLnBrk="1" hangingPunct="1"/>
            <a:r>
              <a:rPr lang="en-US" altLang="en-GB" sz="2200" smtClean="0"/>
              <a:t>Let us consider a general CFG in this form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N</a:t>
            </a:r>
            <a:r>
              <a:rPr lang="en-US" altLang="en-GB" sz="2200" baseline="-25000" smtClean="0"/>
              <a:t>1</a:t>
            </a:r>
            <a:r>
              <a:rPr lang="en-US" altLang="en-GB" sz="2200" smtClean="0"/>
              <a:t> </a:t>
            </a:r>
            <a:r>
              <a:rPr lang="en-US" altLang="en-GB" sz="2200" smtClean="0">
                <a:sym typeface="Wingdings" panose="05000000000000000000" pitchFamily="2" charset="2"/>
              </a:rPr>
              <a:t> w</a:t>
            </a:r>
            <a:r>
              <a:rPr lang="en-US" altLang="en-GB" sz="2200" baseline="-25000" smtClean="0">
                <a:sym typeface="Wingdings" panose="05000000000000000000" pitchFamily="2" charset="2"/>
              </a:rPr>
              <a:t>1</a:t>
            </a:r>
            <a:r>
              <a:rPr lang="en-US" altLang="en-GB" sz="2200" smtClean="0">
                <a:sym typeface="Wingdings" panose="05000000000000000000" pitchFamily="2" charset="2"/>
              </a:rPr>
              <a:t>N</a:t>
            </a:r>
            <a:r>
              <a:rPr lang="en-US" altLang="en-GB" sz="2200" baseline="-25000" smtClean="0">
                <a:sym typeface="Wingdings" panose="05000000000000000000" pitchFamily="2" charset="2"/>
              </a:rPr>
              <a:t>2</a:t>
            </a:r>
            <a:r>
              <a:rPr lang="en-US" altLang="en-GB" sz="2200" smtClean="0">
                <a:sym typeface="Wingdings" panose="05000000000000000000" pitchFamily="2" charset="2"/>
              </a:rPr>
              <a:t>		N</a:t>
            </a:r>
            <a:r>
              <a:rPr lang="en-US" altLang="en-GB" sz="2200" baseline="-25000" smtClean="0">
                <a:sym typeface="Wingdings" panose="05000000000000000000" pitchFamily="2" charset="2"/>
              </a:rPr>
              <a:t>7</a:t>
            </a:r>
            <a:r>
              <a:rPr lang="en-US" altLang="en-GB" sz="2200" smtClean="0">
                <a:sym typeface="Wingdings" panose="05000000000000000000" pitchFamily="2" charset="2"/>
              </a:rPr>
              <a:t>  w</a:t>
            </a:r>
            <a:r>
              <a:rPr lang="en-US" altLang="en-GB" sz="2200" baseline="-25000" smtClean="0">
                <a:sym typeface="Wingdings" panose="05000000000000000000" pitchFamily="2" charset="2"/>
              </a:rPr>
              <a:t>10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>
                <a:sym typeface="Wingdings" panose="05000000000000000000" pitchFamily="2" charset="2"/>
              </a:rPr>
              <a:t>N</a:t>
            </a:r>
            <a:r>
              <a:rPr lang="en-US" altLang="en-GB" sz="2200" baseline="-25000" smtClean="0">
                <a:sym typeface="Wingdings" panose="05000000000000000000" pitchFamily="2" charset="2"/>
              </a:rPr>
              <a:t>1</a:t>
            </a:r>
            <a:r>
              <a:rPr lang="en-US" altLang="en-GB" sz="2200" smtClean="0">
                <a:sym typeface="Wingdings" panose="05000000000000000000" pitchFamily="2" charset="2"/>
              </a:rPr>
              <a:t> w</a:t>
            </a:r>
            <a:r>
              <a:rPr lang="en-US" altLang="en-GB" sz="2200" baseline="-25000" smtClean="0">
                <a:sym typeface="Wingdings" panose="05000000000000000000" pitchFamily="2" charset="2"/>
              </a:rPr>
              <a:t>2</a:t>
            </a:r>
            <a:r>
              <a:rPr lang="en-US" altLang="en-GB" sz="2200" smtClean="0">
                <a:sym typeface="Wingdings" panose="05000000000000000000" pitchFamily="2" charset="2"/>
              </a:rPr>
              <a:t>N</a:t>
            </a:r>
            <a:r>
              <a:rPr lang="en-US" altLang="en-GB" sz="2200" baseline="-25000" smtClean="0">
                <a:sym typeface="Wingdings" panose="05000000000000000000" pitchFamily="2" charset="2"/>
              </a:rPr>
              <a:t>3</a:t>
            </a:r>
            <a:r>
              <a:rPr lang="en-US" altLang="en-GB" sz="2200" smtClean="0">
                <a:sym typeface="Wingdings" panose="05000000000000000000" pitchFamily="2" charset="2"/>
              </a:rPr>
              <a:t>		N</a:t>
            </a:r>
            <a:r>
              <a:rPr lang="en-US" altLang="en-GB" sz="2200" baseline="-25000" smtClean="0">
                <a:sym typeface="Wingdings" panose="05000000000000000000" pitchFamily="2" charset="2"/>
              </a:rPr>
              <a:t>18</a:t>
            </a:r>
            <a:r>
              <a:rPr lang="en-US" altLang="en-GB" sz="2200" smtClean="0">
                <a:sym typeface="Wingdings" panose="05000000000000000000" pitchFamily="2" charset="2"/>
              </a:rPr>
              <a:t>  w</a:t>
            </a:r>
            <a:r>
              <a:rPr lang="en-US" altLang="en-GB" sz="2200" baseline="-25000" smtClean="0">
                <a:sym typeface="Wingdings" panose="05000000000000000000" pitchFamily="2" charset="2"/>
              </a:rPr>
              <a:t>23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>
                <a:sym typeface="Wingdings" panose="05000000000000000000" pitchFamily="2" charset="2"/>
              </a:rPr>
              <a:t>N</a:t>
            </a:r>
            <a:r>
              <a:rPr lang="en-US" altLang="en-GB" sz="2200" baseline="-25000" smtClean="0">
                <a:sym typeface="Wingdings" panose="05000000000000000000" pitchFamily="2" charset="2"/>
              </a:rPr>
              <a:t>2</a:t>
            </a:r>
            <a:r>
              <a:rPr lang="en-US" altLang="en-GB" sz="2200" smtClean="0">
                <a:sym typeface="Wingdings" panose="05000000000000000000" pitchFamily="2" charset="2"/>
              </a:rPr>
              <a:t>  w</a:t>
            </a:r>
            <a:r>
              <a:rPr lang="en-US" altLang="en-GB" sz="2200" baseline="-25000" smtClean="0">
                <a:sym typeface="Wingdings" panose="05000000000000000000" pitchFamily="2" charset="2"/>
              </a:rPr>
              <a:t>3</a:t>
            </a:r>
            <a:r>
              <a:rPr lang="en-US" altLang="en-GB" sz="2200" smtClean="0">
                <a:sym typeface="Wingdings" panose="05000000000000000000" pitchFamily="2" charset="2"/>
              </a:rPr>
              <a:t>N</a:t>
            </a:r>
            <a:r>
              <a:rPr lang="en-US" altLang="en-GB" sz="2200" baseline="-25000" smtClean="0">
                <a:sym typeface="Wingdings" panose="05000000000000000000" pitchFamily="2" charset="2"/>
              </a:rPr>
              <a:t>4</a:t>
            </a:r>
            <a:r>
              <a:rPr lang="en-US" altLang="en-GB" sz="2200" smtClean="0">
                <a:sym typeface="Wingdings" panose="05000000000000000000" pitchFamily="2" charset="2"/>
              </a:rPr>
              <a:t>		---------------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>
                <a:sym typeface="Wingdings" panose="05000000000000000000" pitchFamily="2" charset="2"/>
              </a:rPr>
              <a:t>---------------		---------------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>
                <a:sym typeface="Wingdings" panose="05000000000000000000" pitchFamily="2" charset="2"/>
              </a:rPr>
              <a:t>Where N’s are non-terminal and w’s are the string of terminal and part w</a:t>
            </a:r>
            <a:r>
              <a:rPr lang="en-US" altLang="en-GB" sz="2200" baseline="-25000" smtClean="0">
                <a:sym typeface="Wingdings" panose="05000000000000000000" pitchFamily="2" charset="2"/>
              </a:rPr>
              <a:t>y</a:t>
            </a:r>
            <a:r>
              <a:rPr lang="en-US" altLang="en-GB" sz="2200" smtClean="0">
                <a:sym typeface="Wingdings" panose="05000000000000000000" pitchFamily="2" charset="2"/>
              </a:rPr>
              <a:t>N</a:t>
            </a:r>
            <a:r>
              <a:rPr lang="en-US" altLang="en-GB" sz="2200" baseline="-25000" smtClean="0">
                <a:sym typeface="Wingdings" panose="05000000000000000000" pitchFamily="2" charset="2"/>
              </a:rPr>
              <a:t>z</a:t>
            </a:r>
            <a:r>
              <a:rPr lang="en-US" altLang="en-GB" sz="2200" smtClean="0">
                <a:sym typeface="Wingdings" panose="05000000000000000000" pitchFamily="2" charset="2"/>
              </a:rPr>
              <a:t> are semiwords.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>
                <a:sym typeface="Wingdings" panose="05000000000000000000" pitchFamily="2" charset="2"/>
              </a:rPr>
              <a:t>Let N</a:t>
            </a:r>
            <a:r>
              <a:rPr lang="en-US" altLang="en-GB" sz="2200" baseline="-25000" smtClean="0">
                <a:sym typeface="Wingdings" panose="05000000000000000000" pitchFamily="2" charset="2"/>
              </a:rPr>
              <a:t>1</a:t>
            </a:r>
            <a:r>
              <a:rPr lang="en-US" altLang="en-GB" sz="2200" smtClean="0">
                <a:sym typeface="Wingdings" panose="05000000000000000000" pitchFamily="2" charset="2"/>
              </a:rPr>
              <a:t>=S. Draw a small circle for each N and one extra circle labelled +, the circle for S we label (-)</a:t>
            </a:r>
            <a:endParaRPr lang="en-US" altLang="en-GB" sz="2200" smtClean="0"/>
          </a:p>
        </p:txBody>
      </p:sp>
      <p:sp>
        <p:nvSpPr>
          <p:cNvPr id="117765" name="Oval 5"/>
          <p:cNvSpPr>
            <a:spLocks noChangeArrowheads="1"/>
          </p:cNvSpPr>
          <p:nvPr/>
        </p:nvSpPr>
        <p:spPr bwMode="auto">
          <a:xfrm>
            <a:off x="1752600" y="5289550"/>
            <a:ext cx="474663" cy="465138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GB" sz="2000" b="1">
                <a:latin typeface="Arial" panose="020B0604020202020204" pitchFamily="34" charset="0"/>
                <a:cs typeface="Arial" panose="020B0604020202020204" pitchFamily="34" charset="0"/>
              </a:rPr>
              <a:t>-S</a:t>
            </a:r>
          </a:p>
        </p:txBody>
      </p:sp>
      <p:sp>
        <p:nvSpPr>
          <p:cNvPr id="117766" name="Oval 6"/>
          <p:cNvSpPr>
            <a:spLocks noChangeArrowheads="1"/>
          </p:cNvSpPr>
          <p:nvPr/>
        </p:nvSpPr>
        <p:spPr bwMode="auto">
          <a:xfrm>
            <a:off x="2860675" y="5651500"/>
            <a:ext cx="474663" cy="465138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GB" sz="2000" b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GB" sz="2000" b="1" baseline="-2500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7767" name="Oval 7"/>
          <p:cNvSpPr>
            <a:spLocks noChangeArrowheads="1"/>
          </p:cNvSpPr>
          <p:nvPr/>
        </p:nvSpPr>
        <p:spPr bwMode="auto">
          <a:xfrm>
            <a:off x="2806700" y="4876800"/>
            <a:ext cx="474663" cy="465138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GB" sz="2000" b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GB" sz="2000" b="1" baseline="-250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7768" name="Oval 8"/>
          <p:cNvSpPr>
            <a:spLocks noChangeArrowheads="1"/>
          </p:cNvSpPr>
          <p:nvPr/>
        </p:nvSpPr>
        <p:spPr bwMode="auto">
          <a:xfrm>
            <a:off x="4705350" y="5651500"/>
            <a:ext cx="474663" cy="465138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GB" sz="2000" b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GB" sz="2000" b="1" baseline="-2500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117769" name="Oval 9"/>
          <p:cNvSpPr>
            <a:spLocks noChangeArrowheads="1"/>
          </p:cNvSpPr>
          <p:nvPr/>
        </p:nvSpPr>
        <p:spPr bwMode="auto">
          <a:xfrm>
            <a:off x="4705350" y="4929188"/>
            <a:ext cx="474663" cy="465137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GB" sz="2000" b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GB" sz="2000" b="1" baseline="-25000"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</a:p>
        </p:txBody>
      </p:sp>
      <p:sp>
        <p:nvSpPr>
          <p:cNvPr id="117770" name="Oval 10"/>
          <p:cNvSpPr>
            <a:spLocks noChangeArrowheads="1"/>
          </p:cNvSpPr>
          <p:nvPr/>
        </p:nvSpPr>
        <p:spPr bwMode="auto">
          <a:xfrm>
            <a:off x="6307138" y="5630863"/>
            <a:ext cx="474662" cy="465137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GB" sz="2000" b="1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117771" name="Text Box 11"/>
          <p:cNvSpPr txBox="1">
            <a:spLocks noChangeArrowheads="1"/>
          </p:cNvSpPr>
          <p:nvPr/>
        </p:nvSpPr>
        <p:spPr bwMode="auto">
          <a:xfrm>
            <a:off x="3544888" y="5562600"/>
            <a:ext cx="895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2800" b="1">
                <a:latin typeface="Arial" panose="020B0604020202020204" pitchFamily="34" charset="0"/>
                <a:cs typeface="Arial" panose="020B0604020202020204" pitchFamily="34" charset="0"/>
              </a:rPr>
              <a:t>……</a:t>
            </a:r>
          </a:p>
        </p:txBody>
      </p:sp>
      <p:sp>
        <p:nvSpPr>
          <p:cNvPr id="117772" name="Text Box 12"/>
          <p:cNvSpPr txBox="1">
            <a:spLocks noChangeArrowheads="1"/>
          </p:cNvSpPr>
          <p:nvPr/>
        </p:nvSpPr>
        <p:spPr bwMode="auto">
          <a:xfrm>
            <a:off x="5353050" y="5562600"/>
            <a:ext cx="895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2800" b="1">
                <a:latin typeface="Arial" panose="020B0604020202020204" pitchFamily="34" charset="0"/>
                <a:cs typeface="Arial" panose="020B0604020202020204" pitchFamily="34" charset="0"/>
              </a:rPr>
              <a:t>……</a:t>
            </a: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Number Placeholder 1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3D9386D-02B3-4CF9-A4C0-0723177B1713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64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19811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Proof contd.</a:t>
            </a:r>
          </a:p>
        </p:txBody>
      </p:sp>
      <p:sp>
        <p:nvSpPr>
          <p:cNvPr id="119812" name="Rectangle 3"/>
          <p:cNvSpPr>
            <a:spLocks noGrp="1"/>
          </p:cNvSpPr>
          <p:nvPr>
            <p:ph type="body" idx="4294967295"/>
          </p:nvPr>
        </p:nvSpPr>
        <p:spPr>
          <a:xfrm>
            <a:off x="0" y="1219200"/>
            <a:ext cx="8229600" cy="4530725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GB" sz="2100" smtClean="0"/>
              <a:t>For each production of the form N</a:t>
            </a:r>
            <a:r>
              <a:rPr lang="en-US" altLang="en-GB" sz="2100" baseline="-25000" smtClean="0"/>
              <a:t>x</a:t>
            </a:r>
            <a:r>
              <a:rPr lang="en-US" altLang="en-GB" sz="2100" smtClean="0"/>
              <a:t> </a:t>
            </a:r>
            <a:r>
              <a:rPr lang="en-US" altLang="en-GB" sz="2100" smtClean="0">
                <a:sym typeface="Wingdings" panose="05000000000000000000" pitchFamily="2" charset="2"/>
              </a:rPr>
              <a:t> w</a:t>
            </a:r>
            <a:r>
              <a:rPr lang="en-US" altLang="en-GB" sz="2100" baseline="-25000" smtClean="0">
                <a:sym typeface="Wingdings" panose="05000000000000000000" pitchFamily="2" charset="2"/>
              </a:rPr>
              <a:t>y</a:t>
            </a:r>
            <a:r>
              <a:rPr lang="en-US" altLang="en-GB" sz="2100" smtClean="0">
                <a:sym typeface="Wingdings" panose="05000000000000000000" pitchFamily="2" charset="2"/>
              </a:rPr>
              <a:t>N</a:t>
            </a:r>
            <a:r>
              <a:rPr lang="en-US" altLang="en-GB" sz="2100" baseline="-25000" smtClean="0">
                <a:sym typeface="Wingdings" panose="05000000000000000000" pitchFamily="2" charset="2"/>
              </a:rPr>
              <a:t>z, </a:t>
            </a:r>
            <a:r>
              <a:rPr lang="en-US" altLang="en-GB" sz="2100" smtClean="0">
                <a:sym typeface="Wingdings" panose="05000000000000000000" pitchFamily="2" charset="2"/>
              </a:rPr>
              <a:t>draw a directed edge from state N</a:t>
            </a:r>
            <a:r>
              <a:rPr lang="en-US" altLang="en-GB" sz="2100" baseline="-25000" smtClean="0">
                <a:sym typeface="Wingdings" panose="05000000000000000000" pitchFamily="2" charset="2"/>
              </a:rPr>
              <a:t>x</a:t>
            </a:r>
            <a:r>
              <a:rPr lang="en-US" altLang="en-GB" sz="2100" smtClean="0">
                <a:sym typeface="Wingdings" panose="05000000000000000000" pitchFamily="2" charset="2"/>
              </a:rPr>
              <a:t> to N</a:t>
            </a:r>
            <a:r>
              <a:rPr lang="en-US" altLang="en-GB" sz="2100" baseline="-25000" smtClean="0">
                <a:sym typeface="Wingdings" panose="05000000000000000000" pitchFamily="2" charset="2"/>
              </a:rPr>
              <a:t>z</a:t>
            </a:r>
            <a:r>
              <a:rPr lang="en-US" altLang="en-GB" sz="2100" smtClean="0">
                <a:sym typeface="Wingdings" panose="05000000000000000000" pitchFamily="2" charset="2"/>
              </a:rPr>
              <a:t> with label w</a:t>
            </a:r>
            <a:r>
              <a:rPr lang="en-US" altLang="en-GB" sz="2100" baseline="-25000" smtClean="0">
                <a:sym typeface="Wingdings" panose="05000000000000000000" pitchFamily="2" charset="2"/>
              </a:rPr>
              <a:t>y</a:t>
            </a:r>
            <a:r>
              <a:rPr lang="en-US" altLang="en-GB" sz="2100" smtClean="0">
                <a:sym typeface="Wingdings" panose="05000000000000000000" pitchFamily="2" charset="2"/>
              </a:rPr>
              <a:t>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2100" smtClean="0">
              <a:sym typeface="Wingdings" panose="05000000000000000000" pitchFamily="2" charset="2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altLang="en-GB" sz="2100" smtClean="0">
                <a:sym typeface="Wingdings" panose="05000000000000000000" pitchFamily="2" charset="2"/>
              </a:rPr>
              <a:t>If Nx = Nz, the path is a loop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GB" sz="2100" smtClean="0">
                <a:sym typeface="Wingdings" panose="05000000000000000000" pitchFamily="2" charset="2"/>
              </a:rPr>
              <a:t>For every production of the form N</a:t>
            </a:r>
            <a:r>
              <a:rPr lang="en-US" altLang="en-GB" sz="2100" baseline="-25000" smtClean="0">
                <a:sym typeface="Wingdings" panose="05000000000000000000" pitchFamily="2" charset="2"/>
              </a:rPr>
              <a:t>p</a:t>
            </a:r>
            <a:r>
              <a:rPr lang="en-US" altLang="en-GB" sz="2100" smtClean="0">
                <a:sym typeface="Wingdings" panose="05000000000000000000" pitchFamily="2" charset="2"/>
              </a:rPr>
              <a:t>  w</a:t>
            </a:r>
            <a:r>
              <a:rPr lang="en-US" altLang="en-GB" sz="2100" baseline="-25000" smtClean="0">
                <a:sym typeface="Wingdings" panose="05000000000000000000" pitchFamily="2" charset="2"/>
              </a:rPr>
              <a:t>q</a:t>
            </a:r>
            <a:r>
              <a:rPr lang="en-US" altLang="en-GB" sz="2100" smtClean="0">
                <a:sym typeface="Wingdings" panose="05000000000000000000" pitchFamily="2" charset="2"/>
              </a:rPr>
              <a:t>, draw a directed edge from Np to + and label it with w</a:t>
            </a:r>
            <a:r>
              <a:rPr lang="en-US" altLang="en-GB" sz="2100" baseline="-25000" smtClean="0">
                <a:sym typeface="Wingdings" panose="05000000000000000000" pitchFamily="2" charset="2"/>
              </a:rPr>
              <a:t>q</a:t>
            </a:r>
            <a:r>
              <a:rPr lang="en-US" altLang="en-GB" sz="2100" smtClean="0">
                <a:sym typeface="Wingdings" panose="05000000000000000000" pitchFamily="2" charset="2"/>
              </a:rPr>
              <a:t> even if w</a:t>
            </a:r>
            <a:r>
              <a:rPr lang="en-US" altLang="en-GB" sz="2100" baseline="-25000" smtClean="0">
                <a:sym typeface="Wingdings" panose="05000000000000000000" pitchFamily="2" charset="2"/>
              </a:rPr>
              <a:t>q</a:t>
            </a:r>
            <a:r>
              <a:rPr lang="en-US" altLang="en-GB" sz="2100" smtClean="0">
                <a:sym typeface="Wingdings" panose="05000000000000000000" pitchFamily="2" charset="2"/>
              </a:rPr>
              <a:t> = </a:t>
            </a:r>
            <a:r>
              <a:rPr lang="el-GR" altLang="en-GB" sz="2100" smtClean="0">
                <a:cs typeface="Arial" panose="020B0604020202020204" pitchFamily="34" charset="0"/>
                <a:sym typeface="Wingdings" panose="05000000000000000000" pitchFamily="2" charset="2"/>
              </a:rPr>
              <a:t>Λ</a:t>
            </a:r>
            <a:r>
              <a:rPr lang="en-US" altLang="en-GB" sz="2100" smtClean="0"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2100" smtClean="0"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algn="just" eaLnBrk="1" hangingPunct="1">
              <a:lnSpc>
                <a:spcPct val="90000"/>
              </a:lnSpc>
            </a:pPr>
            <a:endParaRPr lang="en-US" altLang="en-GB" sz="2100" smtClean="0"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altLang="en-GB" sz="2100" smtClean="0">
                <a:cs typeface="Arial" panose="020B0604020202020204" pitchFamily="34" charset="0"/>
                <a:sym typeface="Wingdings" panose="05000000000000000000" pitchFamily="2" charset="2"/>
              </a:rPr>
              <a:t>Any path in TG form – to + corresponds to a word in the language of TG (by concatenating symbols) and simultaneously corresponds to sequence of productions on the CFG generating words.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GB" sz="2100" smtClean="0">
                <a:cs typeface="Arial" panose="020B0604020202020204" pitchFamily="34" charset="0"/>
                <a:sym typeface="Wingdings" panose="05000000000000000000" pitchFamily="2" charset="2"/>
              </a:rPr>
              <a:t>Conversely every production of the word in the CFG: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100" smtClean="0">
                <a:cs typeface="Arial" panose="020B0604020202020204" pitchFamily="34" charset="0"/>
                <a:sym typeface="Wingdings" panose="05000000000000000000" pitchFamily="2" charset="2"/>
              </a:rPr>
              <a:t> S  wN  wwN  wwwN  …..  wwwww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GB" sz="2100" smtClean="0">
                <a:cs typeface="Arial" panose="020B0604020202020204" pitchFamily="34" charset="0"/>
                <a:sym typeface="Wingdings" panose="05000000000000000000" pitchFamily="2" charset="2"/>
              </a:rPr>
              <a:t>Corresponds to a path in this TG.</a:t>
            </a:r>
            <a:endParaRPr lang="el-GR" altLang="en-GB" sz="2100" smtClean="0"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algn="just" eaLnBrk="1" hangingPunct="1">
              <a:lnSpc>
                <a:spcPct val="90000"/>
              </a:lnSpc>
            </a:pPr>
            <a:endParaRPr lang="en-US" altLang="en-GB" sz="2100" baseline="-25000" smtClean="0"/>
          </a:p>
        </p:txBody>
      </p:sp>
      <p:grpSp>
        <p:nvGrpSpPr>
          <p:cNvPr id="119813" name="Group 13"/>
          <p:cNvGrpSpPr>
            <a:grpSpLocks/>
          </p:cNvGrpSpPr>
          <p:nvPr/>
        </p:nvGrpSpPr>
        <p:grpSpPr bwMode="auto">
          <a:xfrm>
            <a:off x="5029200" y="1600200"/>
            <a:ext cx="2667000" cy="609600"/>
            <a:chOff x="528" y="3271"/>
            <a:chExt cx="1872" cy="473"/>
          </a:xfrm>
        </p:grpSpPr>
        <p:sp>
          <p:nvSpPr>
            <p:cNvPr id="119820" name="Oval 14"/>
            <p:cNvSpPr>
              <a:spLocks noChangeArrowheads="1"/>
            </p:cNvSpPr>
            <p:nvPr/>
          </p:nvSpPr>
          <p:spPr bwMode="auto">
            <a:xfrm>
              <a:off x="528" y="3312"/>
              <a:ext cx="432" cy="432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GB" sz="2000" b="1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altLang="en-GB" sz="20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</a:p>
          </p:txBody>
        </p:sp>
        <p:sp>
          <p:nvSpPr>
            <p:cNvPr id="119821" name="Oval 15"/>
            <p:cNvSpPr>
              <a:spLocks noChangeArrowheads="1"/>
            </p:cNvSpPr>
            <p:nvPr/>
          </p:nvSpPr>
          <p:spPr bwMode="auto">
            <a:xfrm>
              <a:off x="1968" y="3312"/>
              <a:ext cx="432" cy="432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GB" sz="2000" b="1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altLang="en-GB" sz="20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</a:p>
          </p:txBody>
        </p:sp>
        <p:sp>
          <p:nvSpPr>
            <p:cNvPr id="119822" name="Line 16"/>
            <p:cNvSpPr>
              <a:spLocks noChangeShapeType="1"/>
            </p:cNvSpPr>
            <p:nvPr/>
          </p:nvSpPr>
          <p:spPr bwMode="auto">
            <a:xfrm>
              <a:off x="960" y="3552"/>
              <a:ext cx="10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9823" name="Text Box 17"/>
            <p:cNvSpPr txBox="1">
              <a:spLocks noChangeArrowheads="1"/>
            </p:cNvSpPr>
            <p:nvPr/>
          </p:nvSpPr>
          <p:spPr bwMode="auto">
            <a:xfrm>
              <a:off x="1238" y="3271"/>
              <a:ext cx="332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GB" sz="2000" b="1">
                  <a:latin typeface="Arial" panose="020B0604020202020204" pitchFamily="34" charset="0"/>
                  <a:cs typeface="Arial" panose="020B0604020202020204" pitchFamily="34" charset="0"/>
                </a:rPr>
                <a:t>w</a:t>
              </a:r>
              <a:r>
                <a:rPr lang="en-US" altLang="en-GB" sz="20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</p:grpSp>
      <p:grpSp>
        <p:nvGrpSpPr>
          <p:cNvPr id="119814" name="Group 18"/>
          <p:cNvGrpSpPr>
            <a:grpSpLocks/>
          </p:cNvGrpSpPr>
          <p:nvPr/>
        </p:nvGrpSpPr>
        <p:grpSpPr bwMode="auto">
          <a:xfrm>
            <a:off x="5105400" y="3124200"/>
            <a:ext cx="2590800" cy="609600"/>
            <a:chOff x="528" y="3271"/>
            <a:chExt cx="1872" cy="473"/>
          </a:xfrm>
        </p:grpSpPr>
        <p:sp>
          <p:nvSpPr>
            <p:cNvPr id="119816" name="Oval 19"/>
            <p:cNvSpPr>
              <a:spLocks noChangeArrowheads="1"/>
            </p:cNvSpPr>
            <p:nvPr/>
          </p:nvSpPr>
          <p:spPr bwMode="auto">
            <a:xfrm>
              <a:off x="528" y="3312"/>
              <a:ext cx="432" cy="432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GB" sz="2000" b="1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altLang="en-GB" sz="20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</a:p>
          </p:txBody>
        </p:sp>
        <p:sp>
          <p:nvSpPr>
            <p:cNvPr id="119817" name="Oval 20"/>
            <p:cNvSpPr>
              <a:spLocks noChangeArrowheads="1"/>
            </p:cNvSpPr>
            <p:nvPr/>
          </p:nvSpPr>
          <p:spPr bwMode="auto">
            <a:xfrm>
              <a:off x="1968" y="3312"/>
              <a:ext cx="432" cy="432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GB" sz="2000" b="1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en-US" altLang="en-GB" sz="20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818" name="Line 21"/>
            <p:cNvSpPr>
              <a:spLocks noChangeShapeType="1"/>
            </p:cNvSpPr>
            <p:nvPr/>
          </p:nvSpPr>
          <p:spPr bwMode="auto">
            <a:xfrm>
              <a:off x="960" y="3552"/>
              <a:ext cx="10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9819" name="Text Box 22"/>
            <p:cNvSpPr txBox="1">
              <a:spLocks noChangeArrowheads="1"/>
            </p:cNvSpPr>
            <p:nvPr/>
          </p:nvSpPr>
          <p:spPr bwMode="auto">
            <a:xfrm>
              <a:off x="1238" y="3271"/>
              <a:ext cx="349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GB" sz="2000" b="1">
                  <a:latin typeface="Arial" panose="020B0604020202020204" pitchFamily="34" charset="0"/>
                  <a:cs typeface="Arial" panose="020B0604020202020204" pitchFamily="34" charset="0"/>
                </a:rPr>
                <a:t>w</a:t>
              </a:r>
              <a:r>
                <a:rPr lang="en-US" altLang="en-GB" sz="20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q</a:t>
              </a:r>
            </a:p>
          </p:txBody>
        </p:sp>
      </p:grp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Slide Number Placeholder 29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5F8EF19-3693-4677-A05B-C73E53F9E85B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65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21859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Example</a:t>
            </a:r>
          </a:p>
        </p:txBody>
      </p:sp>
      <p:sp>
        <p:nvSpPr>
          <p:cNvPr id="121860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GB" sz="2200" smtClean="0"/>
              <a:t>Consider the CFG S </a:t>
            </a:r>
            <a:r>
              <a:rPr lang="en-US" altLang="en-GB" sz="2200" smtClean="0">
                <a:sym typeface="Wingdings" panose="05000000000000000000" pitchFamily="2" charset="2"/>
              </a:rPr>
              <a:t> aaS | bbS | </a:t>
            </a:r>
            <a:r>
              <a:rPr lang="el-GR" altLang="en-GB" sz="2200" smtClean="0">
                <a:cs typeface="Arial" panose="020B0604020202020204" pitchFamily="34" charset="0"/>
                <a:sym typeface="Wingdings" panose="05000000000000000000" pitchFamily="2" charset="2"/>
              </a:rPr>
              <a:t>Λ</a:t>
            </a:r>
            <a:endParaRPr lang="en-US" altLang="en-GB" sz="2200" smtClean="0"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/>
            <a:endParaRPr lang="en-US" altLang="en-GB" sz="2200" smtClean="0"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/>
            <a:endParaRPr lang="en-US" altLang="en-GB" sz="2200" smtClean="0"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/>
            <a:endParaRPr lang="en-US" altLang="en-GB" sz="2200" smtClean="0"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/>
            <a:r>
              <a:rPr lang="en-US" altLang="en-GB" sz="2200" smtClean="0">
                <a:cs typeface="Arial" panose="020B0604020202020204" pitchFamily="34" charset="0"/>
                <a:sym typeface="Wingdings" panose="05000000000000000000" pitchFamily="2" charset="2"/>
              </a:rPr>
              <a:t>The regular expression is given by (aa + bb)*.</a:t>
            </a:r>
          </a:p>
          <a:p>
            <a:pPr eaLnBrk="1" hangingPunct="1"/>
            <a:r>
              <a:rPr lang="en-US" altLang="en-GB" sz="2200" smtClean="0">
                <a:cs typeface="Arial" panose="020B0604020202020204" pitchFamily="34" charset="0"/>
                <a:sym typeface="Wingdings" panose="05000000000000000000" pitchFamily="2" charset="2"/>
              </a:rPr>
              <a:t>Consider the CFG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GB" sz="2200" smtClean="0">
                <a:cs typeface="Arial" panose="020B0604020202020204" pitchFamily="34" charset="0"/>
                <a:sym typeface="Wingdings" panose="05000000000000000000" pitchFamily="2" charset="2"/>
              </a:rPr>
              <a:t>SaaS | bbS | abX | baX | </a:t>
            </a:r>
            <a:r>
              <a:rPr lang="el-GR" altLang="en-GB" sz="2200" smtClean="0">
                <a:cs typeface="Arial" panose="020B0604020202020204" pitchFamily="34" charset="0"/>
                <a:sym typeface="Wingdings" panose="05000000000000000000" pitchFamily="2" charset="2"/>
              </a:rPr>
              <a:t>Λ</a:t>
            </a:r>
            <a:endParaRPr lang="en-US" altLang="en-GB" sz="2200" smtClean="0"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GB" sz="2200" smtClean="0">
                <a:cs typeface="Arial" panose="020B0604020202020204" pitchFamily="34" charset="0"/>
                <a:sym typeface="Wingdings" panose="05000000000000000000" pitchFamily="2" charset="2"/>
              </a:rPr>
              <a:t>X aaX | bbX | abS | baS</a:t>
            </a:r>
          </a:p>
          <a:p>
            <a:pPr eaLnBrk="1" hangingPunct="1"/>
            <a:endParaRPr lang="en-US" altLang="en-GB" sz="2200" smtClean="0"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/>
            <a:endParaRPr lang="el-GR" altLang="en-GB" sz="2200" smtClean="0">
              <a:cs typeface="Arial" panose="020B0604020202020204" pitchFamily="34" charset="0"/>
            </a:endParaRPr>
          </a:p>
        </p:txBody>
      </p:sp>
      <p:grpSp>
        <p:nvGrpSpPr>
          <p:cNvPr id="121861" name="Group 13"/>
          <p:cNvGrpSpPr>
            <a:grpSpLocks/>
          </p:cNvGrpSpPr>
          <p:nvPr/>
        </p:nvGrpSpPr>
        <p:grpSpPr bwMode="auto">
          <a:xfrm>
            <a:off x="2133600" y="1905000"/>
            <a:ext cx="3657600" cy="1219200"/>
            <a:chOff x="924" y="1161"/>
            <a:chExt cx="2436" cy="943"/>
          </a:xfrm>
        </p:grpSpPr>
        <p:sp>
          <p:nvSpPr>
            <p:cNvPr id="121878" name="Oval 5"/>
            <p:cNvSpPr>
              <a:spLocks noChangeArrowheads="1"/>
            </p:cNvSpPr>
            <p:nvPr/>
          </p:nvSpPr>
          <p:spPr bwMode="auto">
            <a:xfrm>
              <a:off x="1488" y="1536"/>
              <a:ext cx="432" cy="432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GB" sz="2000" b="1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121879" name="Freeform 6"/>
            <p:cNvSpPr>
              <a:spLocks/>
            </p:cNvSpPr>
            <p:nvPr/>
          </p:nvSpPr>
          <p:spPr bwMode="auto">
            <a:xfrm>
              <a:off x="1464" y="1264"/>
              <a:ext cx="312" cy="320"/>
            </a:xfrm>
            <a:custGeom>
              <a:avLst/>
              <a:gdLst>
                <a:gd name="T0" fmla="*/ 72 w 312"/>
                <a:gd name="T1" fmla="*/ 320 h 320"/>
                <a:gd name="T2" fmla="*/ 24 w 312"/>
                <a:gd name="T3" fmla="*/ 80 h 320"/>
                <a:gd name="T4" fmla="*/ 216 w 312"/>
                <a:gd name="T5" fmla="*/ 32 h 320"/>
                <a:gd name="T6" fmla="*/ 312 w 312"/>
                <a:gd name="T7" fmla="*/ 272 h 3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2"/>
                <a:gd name="T13" fmla="*/ 0 h 320"/>
                <a:gd name="T14" fmla="*/ 312 w 312"/>
                <a:gd name="T15" fmla="*/ 320 h 3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2" h="320">
                  <a:moveTo>
                    <a:pt x="72" y="320"/>
                  </a:moveTo>
                  <a:cubicBezTo>
                    <a:pt x="36" y="224"/>
                    <a:pt x="0" y="128"/>
                    <a:pt x="24" y="80"/>
                  </a:cubicBezTo>
                  <a:cubicBezTo>
                    <a:pt x="48" y="32"/>
                    <a:pt x="168" y="0"/>
                    <a:pt x="216" y="32"/>
                  </a:cubicBezTo>
                  <a:cubicBezTo>
                    <a:pt x="264" y="64"/>
                    <a:pt x="296" y="232"/>
                    <a:pt x="312" y="27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1880" name="Text Box 7"/>
            <p:cNvSpPr txBox="1">
              <a:spLocks noChangeArrowheads="1"/>
            </p:cNvSpPr>
            <p:nvPr/>
          </p:nvSpPr>
          <p:spPr bwMode="auto">
            <a:xfrm>
              <a:off x="1724" y="1161"/>
              <a:ext cx="292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GB" sz="1800">
                  <a:latin typeface="Arial" panose="020B0604020202020204" pitchFamily="34" charset="0"/>
                  <a:cs typeface="Arial" panose="020B0604020202020204" pitchFamily="34" charset="0"/>
                </a:rPr>
                <a:t>aa</a:t>
              </a:r>
            </a:p>
          </p:txBody>
        </p:sp>
        <p:sp>
          <p:nvSpPr>
            <p:cNvPr id="121881" name="Line 8"/>
            <p:cNvSpPr>
              <a:spLocks noChangeShapeType="1"/>
            </p:cNvSpPr>
            <p:nvPr/>
          </p:nvSpPr>
          <p:spPr bwMode="auto">
            <a:xfrm>
              <a:off x="1920" y="1776"/>
              <a:ext cx="10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1882" name="Oval 9"/>
            <p:cNvSpPr>
              <a:spLocks noChangeArrowheads="1"/>
            </p:cNvSpPr>
            <p:nvPr/>
          </p:nvSpPr>
          <p:spPr bwMode="auto">
            <a:xfrm>
              <a:off x="2928" y="1536"/>
              <a:ext cx="432" cy="432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GB" sz="2000" b="1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121883" name="Freeform 10"/>
            <p:cNvSpPr>
              <a:spLocks/>
            </p:cNvSpPr>
            <p:nvPr/>
          </p:nvSpPr>
          <p:spPr bwMode="auto">
            <a:xfrm>
              <a:off x="1160" y="1720"/>
              <a:ext cx="424" cy="384"/>
            </a:xfrm>
            <a:custGeom>
              <a:avLst/>
              <a:gdLst>
                <a:gd name="T0" fmla="*/ 328 w 424"/>
                <a:gd name="T1" fmla="*/ 8 h 384"/>
                <a:gd name="T2" fmla="*/ 40 w 424"/>
                <a:gd name="T3" fmla="*/ 56 h 384"/>
                <a:gd name="T4" fmla="*/ 88 w 424"/>
                <a:gd name="T5" fmla="*/ 344 h 384"/>
                <a:gd name="T6" fmla="*/ 232 w 424"/>
                <a:gd name="T7" fmla="*/ 296 h 384"/>
                <a:gd name="T8" fmla="*/ 424 w 424"/>
                <a:gd name="T9" fmla="*/ 200 h 3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24"/>
                <a:gd name="T16" fmla="*/ 0 h 384"/>
                <a:gd name="T17" fmla="*/ 424 w 424"/>
                <a:gd name="T18" fmla="*/ 384 h 3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24" h="384">
                  <a:moveTo>
                    <a:pt x="328" y="8"/>
                  </a:moveTo>
                  <a:cubicBezTo>
                    <a:pt x="204" y="4"/>
                    <a:pt x="80" y="0"/>
                    <a:pt x="40" y="56"/>
                  </a:cubicBezTo>
                  <a:cubicBezTo>
                    <a:pt x="0" y="112"/>
                    <a:pt x="56" y="304"/>
                    <a:pt x="88" y="344"/>
                  </a:cubicBezTo>
                  <a:cubicBezTo>
                    <a:pt x="120" y="384"/>
                    <a:pt x="176" y="320"/>
                    <a:pt x="232" y="296"/>
                  </a:cubicBezTo>
                  <a:cubicBezTo>
                    <a:pt x="288" y="272"/>
                    <a:pt x="356" y="236"/>
                    <a:pt x="424" y="20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1884" name="Text Box 11"/>
            <p:cNvSpPr txBox="1">
              <a:spLocks noChangeArrowheads="1"/>
            </p:cNvSpPr>
            <p:nvPr/>
          </p:nvSpPr>
          <p:spPr bwMode="auto">
            <a:xfrm>
              <a:off x="924" y="1545"/>
              <a:ext cx="292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GB" sz="1800">
                  <a:latin typeface="Arial" panose="020B0604020202020204" pitchFamily="34" charset="0"/>
                  <a:cs typeface="Arial" panose="020B0604020202020204" pitchFamily="34" charset="0"/>
                </a:rPr>
                <a:t>bb</a:t>
              </a:r>
            </a:p>
          </p:txBody>
        </p:sp>
        <p:sp>
          <p:nvSpPr>
            <p:cNvPr id="121885" name="Text Box 12"/>
            <p:cNvSpPr txBox="1">
              <a:spLocks noChangeArrowheads="1"/>
            </p:cNvSpPr>
            <p:nvPr/>
          </p:nvSpPr>
          <p:spPr bwMode="auto">
            <a:xfrm>
              <a:off x="2220" y="1497"/>
              <a:ext cx="224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l-GR" altLang="en-GB" sz="1800">
                  <a:latin typeface="Arial" panose="020B0604020202020204" pitchFamily="34" charset="0"/>
                  <a:cs typeface="Arial" panose="020B0604020202020204" pitchFamily="34" charset="0"/>
                </a:rPr>
                <a:t>Λ</a:t>
              </a:r>
            </a:p>
          </p:txBody>
        </p:sp>
      </p:grpSp>
      <p:grpSp>
        <p:nvGrpSpPr>
          <p:cNvPr id="121862" name="Group 28"/>
          <p:cNvGrpSpPr>
            <a:grpSpLocks/>
          </p:cNvGrpSpPr>
          <p:nvPr/>
        </p:nvGrpSpPr>
        <p:grpSpPr bwMode="auto">
          <a:xfrm>
            <a:off x="1600200" y="5029200"/>
            <a:ext cx="5022850" cy="1447800"/>
            <a:chOff x="1008" y="3168"/>
            <a:chExt cx="3164" cy="912"/>
          </a:xfrm>
        </p:grpSpPr>
        <p:sp>
          <p:nvSpPr>
            <p:cNvPr id="121865" name="Oval 15"/>
            <p:cNvSpPr>
              <a:spLocks noChangeArrowheads="1"/>
            </p:cNvSpPr>
            <p:nvPr/>
          </p:nvSpPr>
          <p:spPr bwMode="auto">
            <a:xfrm>
              <a:off x="1781" y="3473"/>
              <a:ext cx="409" cy="352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GB" sz="2000" b="1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121866" name="Freeform 16"/>
            <p:cNvSpPr>
              <a:spLocks/>
            </p:cNvSpPr>
            <p:nvPr/>
          </p:nvSpPr>
          <p:spPr bwMode="auto">
            <a:xfrm>
              <a:off x="1759" y="3252"/>
              <a:ext cx="295" cy="261"/>
            </a:xfrm>
            <a:custGeom>
              <a:avLst/>
              <a:gdLst>
                <a:gd name="T0" fmla="*/ 828465911 w 312"/>
                <a:gd name="T1" fmla="*/ 67184214 h 320"/>
                <a:gd name="T2" fmla="*/ 828465911 w 312"/>
                <a:gd name="T3" fmla="*/ 67184214 h 320"/>
                <a:gd name="T4" fmla="*/ 828465911 w 312"/>
                <a:gd name="T5" fmla="*/ 67184214 h 320"/>
                <a:gd name="T6" fmla="*/ 828465911 w 312"/>
                <a:gd name="T7" fmla="*/ 67184214 h 3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2"/>
                <a:gd name="T13" fmla="*/ 0 h 320"/>
                <a:gd name="T14" fmla="*/ 312 w 312"/>
                <a:gd name="T15" fmla="*/ 320 h 3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2" h="320">
                  <a:moveTo>
                    <a:pt x="72" y="320"/>
                  </a:moveTo>
                  <a:cubicBezTo>
                    <a:pt x="36" y="224"/>
                    <a:pt x="0" y="128"/>
                    <a:pt x="24" y="80"/>
                  </a:cubicBezTo>
                  <a:cubicBezTo>
                    <a:pt x="48" y="32"/>
                    <a:pt x="168" y="0"/>
                    <a:pt x="216" y="32"/>
                  </a:cubicBezTo>
                  <a:cubicBezTo>
                    <a:pt x="264" y="64"/>
                    <a:pt x="296" y="232"/>
                    <a:pt x="312" y="27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1867" name="Text Box 17"/>
            <p:cNvSpPr txBox="1">
              <a:spLocks noChangeArrowheads="1"/>
            </p:cNvSpPr>
            <p:nvPr/>
          </p:nvSpPr>
          <p:spPr bwMode="auto">
            <a:xfrm>
              <a:off x="2005" y="3168"/>
              <a:ext cx="4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GB" sz="1800">
                  <a:latin typeface="Arial" panose="020B0604020202020204" pitchFamily="34" charset="0"/>
                  <a:cs typeface="Arial" panose="020B0604020202020204" pitchFamily="34" charset="0"/>
                </a:rPr>
                <a:t>aa,bb</a:t>
              </a:r>
            </a:p>
          </p:txBody>
        </p:sp>
        <p:sp>
          <p:nvSpPr>
            <p:cNvPr id="121868" name="Oval 19"/>
            <p:cNvSpPr>
              <a:spLocks noChangeArrowheads="1"/>
            </p:cNvSpPr>
            <p:nvPr/>
          </p:nvSpPr>
          <p:spPr bwMode="auto">
            <a:xfrm>
              <a:off x="3143" y="3473"/>
              <a:ext cx="409" cy="352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GB" sz="2000" b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</a:p>
          </p:txBody>
        </p:sp>
        <p:sp>
          <p:nvSpPr>
            <p:cNvPr id="121869" name="Text Box 21"/>
            <p:cNvSpPr txBox="1">
              <a:spLocks noChangeArrowheads="1"/>
            </p:cNvSpPr>
            <p:nvPr/>
          </p:nvSpPr>
          <p:spPr bwMode="auto">
            <a:xfrm>
              <a:off x="1420" y="3561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l-GR" altLang="en-GB" sz="1800">
                  <a:latin typeface="Arial" panose="020B0604020202020204" pitchFamily="34" charset="0"/>
                  <a:cs typeface="Arial" panose="020B0604020202020204" pitchFamily="34" charset="0"/>
                </a:rPr>
                <a:t>Λ</a:t>
              </a:r>
            </a:p>
          </p:txBody>
        </p:sp>
        <p:sp>
          <p:nvSpPr>
            <p:cNvPr id="121870" name="Freeform 23"/>
            <p:cNvSpPr>
              <a:spLocks/>
            </p:cNvSpPr>
            <p:nvPr/>
          </p:nvSpPr>
          <p:spPr bwMode="auto">
            <a:xfrm>
              <a:off x="2208" y="3456"/>
              <a:ext cx="960" cy="144"/>
            </a:xfrm>
            <a:custGeom>
              <a:avLst/>
              <a:gdLst>
                <a:gd name="T0" fmla="*/ 0 w 960"/>
                <a:gd name="T1" fmla="*/ 2147473010 h 144"/>
                <a:gd name="T2" fmla="*/ 2147473374 w 960"/>
                <a:gd name="T3" fmla="*/ 0 h 144"/>
                <a:gd name="T4" fmla="*/ 2147473374 w 960"/>
                <a:gd name="T5" fmla="*/ 2147473010 h 144"/>
                <a:gd name="T6" fmla="*/ 0 60000 65536"/>
                <a:gd name="T7" fmla="*/ 0 60000 65536"/>
                <a:gd name="T8" fmla="*/ 0 60000 65536"/>
                <a:gd name="T9" fmla="*/ 0 w 960"/>
                <a:gd name="T10" fmla="*/ 0 h 144"/>
                <a:gd name="T11" fmla="*/ 960 w 960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0" h="144">
                  <a:moveTo>
                    <a:pt x="0" y="144"/>
                  </a:moveTo>
                  <a:cubicBezTo>
                    <a:pt x="88" y="72"/>
                    <a:pt x="176" y="0"/>
                    <a:pt x="336" y="0"/>
                  </a:cubicBezTo>
                  <a:cubicBezTo>
                    <a:pt x="496" y="0"/>
                    <a:pt x="728" y="72"/>
                    <a:pt x="960" y="144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1871" name="Freeform 24"/>
            <p:cNvSpPr>
              <a:spLocks/>
            </p:cNvSpPr>
            <p:nvPr/>
          </p:nvSpPr>
          <p:spPr bwMode="auto">
            <a:xfrm>
              <a:off x="2160" y="3744"/>
              <a:ext cx="1008" cy="168"/>
            </a:xfrm>
            <a:custGeom>
              <a:avLst/>
              <a:gdLst>
                <a:gd name="T0" fmla="*/ 2147473400 w 1008"/>
                <a:gd name="T1" fmla="*/ 0 h 168"/>
                <a:gd name="T2" fmla="*/ 2147473400 w 1008"/>
                <a:gd name="T3" fmla="*/ 2147473140 h 168"/>
                <a:gd name="T4" fmla="*/ 2147473400 w 1008"/>
                <a:gd name="T5" fmla="*/ 2147473140 h 168"/>
                <a:gd name="T6" fmla="*/ 0 w 1008"/>
                <a:gd name="T7" fmla="*/ 0 h 16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8"/>
                <a:gd name="T13" fmla="*/ 0 h 168"/>
                <a:gd name="T14" fmla="*/ 1008 w 1008"/>
                <a:gd name="T15" fmla="*/ 168 h 16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8" h="168">
                  <a:moveTo>
                    <a:pt x="1008" y="0"/>
                  </a:moveTo>
                  <a:cubicBezTo>
                    <a:pt x="888" y="60"/>
                    <a:pt x="768" y="120"/>
                    <a:pt x="672" y="144"/>
                  </a:cubicBezTo>
                  <a:cubicBezTo>
                    <a:pt x="576" y="168"/>
                    <a:pt x="544" y="168"/>
                    <a:pt x="432" y="144"/>
                  </a:cubicBezTo>
                  <a:cubicBezTo>
                    <a:pt x="320" y="120"/>
                    <a:pt x="160" y="60"/>
                    <a:pt x="0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1872" name="Line 25"/>
            <p:cNvSpPr>
              <a:spLocks noChangeShapeType="1"/>
            </p:cNvSpPr>
            <p:nvPr/>
          </p:nvSpPr>
          <p:spPr bwMode="auto">
            <a:xfrm flipH="1">
              <a:off x="1344" y="3696"/>
              <a:ext cx="432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1873" name="Oval 26"/>
            <p:cNvSpPr>
              <a:spLocks noChangeArrowheads="1"/>
            </p:cNvSpPr>
            <p:nvPr/>
          </p:nvSpPr>
          <p:spPr bwMode="auto">
            <a:xfrm>
              <a:off x="1008" y="3696"/>
              <a:ext cx="336" cy="336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GB" sz="2000" b="1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121874" name="Text Box 27"/>
            <p:cNvSpPr txBox="1">
              <a:spLocks noChangeArrowheads="1"/>
            </p:cNvSpPr>
            <p:nvPr/>
          </p:nvSpPr>
          <p:spPr bwMode="auto">
            <a:xfrm>
              <a:off x="2400" y="3849"/>
              <a:ext cx="5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GB" sz="1800">
                  <a:latin typeface="Arial" panose="020B0604020202020204" pitchFamily="34" charset="0"/>
                  <a:cs typeface="Arial" panose="020B0604020202020204" pitchFamily="34" charset="0"/>
                </a:rPr>
                <a:t>ab, ba</a:t>
              </a:r>
              <a:endParaRPr lang="el-GR" altLang="en-GB" sz="1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875" name="Text Box 28"/>
            <p:cNvSpPr txBox="1">
              <a:spLocks noChangeArrowheads="1"/>
            </p:cNvSpPr>
            <p:nvPr/>
          </p:nvSpPr>
          <p:spPr bwMode="auto">
            <a:xfrm>
              <a:off x="2592" y="3264"/>
              <a:ext cx="5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GB" sz="1800">
                  <a:latin typeface="Arial" panose="020B0604020202020204" pitchFamily="34" charset="0"/>
                  <a:cs typeface="Arial" panose="020B0604020202020204" pitchFamily="34" charset="0"/>
                </a:rPr>
                <a:t>ab, ba</a:t>
              </a:r>
              <a:endParaRPr lang="el-GR" altLang="en-GB" sz="1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876" name="Freeform 29"/>
            <p:cNvSpPr>
              <a:spLocks/>
            </p:cNvSpPr>
            <p:nvPr/>
          </p:nvSpPr>
          <p:spPr bwMode="auto">
            <a:xfrm>
              <a:off x="3408" y="3208"/>
              <a:ext cx="288" cy="344"/>
            </a:xfrm>
            <a:custGeom>
              <a:avLst/>
              <a:gdLst>
                <a:gd name="T0" fmla="*/ 0 w 288"/>
                <a:gd name="T1" fmla="*/ 2147473158 h 344"/>
                <a:gd name="T2" fmla="*/ 2147473010 w 288"/>
                <a:gd name="T3" fmla="*/ 2147473158 h 344"/>
                <a:gd name="T4" fmla="*/ 2147473010 w 288"/>
                <a:gd name="T5" fmla="*/ 2147473158 h 344"/>
                <a:gd name="T6" fmla="*/ 2147473010 w 288"/>
                <a:gd name="T7" fmla="*/ 2147473158 h 3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344"/>
                <a:gd name="T14" fmla="*/ 288 w 288"/>
                <a:gd name="T15" fmla="*/ 344 h 3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344">
                  <a:moveTo>
                    <a:pt x="0" y="248"/>
                  </a:moveTo>
                  <a:cubicBezTo>
                    <a:pt x="48" y="132"/>
                    <a:pt x="96" y="16"/>
                    <a:pt x="144" y="8"/>
                  </a:cubicBezTo>
                  <a:cubicBezTo>
                    <a:pt x="192" y="0"/>
                    <a:pt x="288" y="144"/>
                    <a:pt x="288" y="200"/>
                  </a:cubicBezTo>
                  <a:cubicBezTo>
                    <a:pt x="288" y="256"/>
                    <a:pt x="216" y="300"/>
                    <a:pt x="144" y="344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1877" name="Text Box 30"/>
            <p:cNvSpPr txBox="1">
              <a:spLocks noChangeArrowheads="1"/>
            </p:cNvSpPr>
            <p:nvPr/>
          </p:nvSpPr>
          <p:spPr bwMode="auto">
            <a:xfrm>
              <a:off x="3696" y="3216"/>
              <a:ext cx="4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GB" sz="1800">
                  <a:latin typeface="Arial" panose="020B0604020202020204" pitchFamily="34" charset="0"/>
                  <a:cs typeface="Arial" panose="020B0604020202020204" pitchFamily="34" charset="0"/>
                </a:rPr>
                <a:t>aa,bb</a:t>
              </a:r>
            </a:p>
          </p:txBody>
        </p:sp>
      </p:grpSp>
      <p:sp>
        <p:nvSpPr>
          <p:cNvPr id="117791" name="Text Box 31"/>
          <p:cNvSpPr txBox="1">
            <a:spLocks noChangeArrowheads="1"/>
          </p:cNvSpPr>
          <p:nvPr/>
        </p:nvSpPr>
        <p:spPr bwMode="auto">
          <a:xfrm>
            <a:off x="5842000" y="3552825"/>
            <a:ext cx="32258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Char char="•"/>
            </a:pPr>
            <a:r>
              <a:rPr lang="en-US" altLang="en-GB"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Language accepted?</a:t>
            </a:r>
          </a:p>
          <a:p>
            <a:pPr>
              <a:spcBef>
                <a:spcPct val="0"/>
              </a:spcBef>
              <a:buFontTx/>
              <a:buChar char="•"/>
            </a:pPr>
            <a:endParaRPr lang="en-US" altLang="en-GB" sz="2400">
              <a:solidFill>
                <a:schemeClr val="folHlin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Char char="•"/>
            </a:pPr>
            <a:endParaRPr lang="en-US" altLang="en-GB" sz="2400">
              <a:solidFill>
                <a:schemeClr val="folHlin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GB" sz="2400">
                <a:solidFill>
                  <a:schemeClr val="folHlin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EVEN-EVEN</a:t>
            </a:r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77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77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7840</TotalTime>
  <Words>3040</Words>
  <Application>Microsoft Office PowerPoint</Application>
  <PresentationFormat>On-screen Show (4:3)</PresentationFormat>
  <Paragraphs>795</Paragraphs>
  <Slides>65</Slides>
  <Notes>53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0" baseType="lpstr">
      <vt:lpstr>Arial</vt:lpstr>
      <vt:lpstr>Calibri</vt:lpstr>
      <vt:lpstr>Wingdings</vt:lpstr>
      <vt:lpstr>Office Theme</vt:lpstr>
      <vt:lpstr>Microsoft Equation 3.0</vt:lpstr>
      <vt:lpstr>Theory of Automata  Context Free Grammars</vt:lpstr>
      <vt:lpstr>PowerPoint Presentation</vt:lpstr>
      <vt:lpstr>PowerPoint Presentation</vt:lpstr>
      <vt:lpstr>PowerPoint Presentation</vt:lpstr>
      <vt:lpstr>Contents</vt:lpstr>
      <vt:lpstr>Context Free Grammars</vt:lpstr>
      <vt:lpstr>Syntax as a Method for Defining Languages</vt:lpstr>
      <vt:lpstr>Defining AE by substitution rules</vt:lpstr>
      <vt:lpstr>Example</vt:lpstr>
      <vt:lpstr>Definition of Terms</vt:lpstr>
      <vt:lpstr>Symbolism for Generative Grammars</vt:lpstr>
      <vt:lpstr>PowerPoint Presentation</vt:lpstr>
      <vt:lpstr>Example</vt:lpstr>
      <vt:lpstr>PowerPoint Presentation</vt:lpstr>
      <vt:lpstr>Example</vt:lpstr>
      <vt:lpstr>PowerPoint Presentation</vt:lpstr>
      <vt:lpstr>Example</vt:lpstr>
      <vt:lpstr>Derivation and some Symbols</vt:lpstr>
      <vt:lpstr>Sentential Form</vt:lpstr>
      <vt:lpstr>Example</vt:lpstr>
      <vt:lpstr>Disjunction Symbol |</vt:lpstr>
      <vt:lpstr>a* terminal – a, b,  non-terminal for S, X, A</vt:lpstr>
      <vt:lpstr> Language: ab*</vt:lpstr>
      <vt:lpstr> Language: b*ab*</vt:lpstr>
      <vt:lpstr>Plaindrome; not a regular, No FA, no TG, no RE, yes CFG</vt:lpstr>
      <vt:lpstr>Even Palindrom</vt:lpstr>
      <vt:lpstr>anbn</vt:lpstr>
      <vt:lpstr>(a+b)*</vt:lpstr>
      <vt:lpstr>Example</vt:lpstr>
      <vt:lpstr>example</vt:lpstr>
      <vt:lpstr>PowerPoint Presentation</vt:lpstr>
      <vt:lpstr>PowerPoint Presentation</vt:lpstr>
      <vt:lpstr>Example</vt:lpstr>
      <vt:lpstr>Example</vt:lpstr>
      <vt:lpstr>Even-Even</vt:lpstr>
      <vt:lpstr>Remarks</vt:lpstr>
      <vt:lpstr>Trees</vt:lpstr>
      <vt:lpstr>PowerPoint Presentation</vt:lpstr>
      <vt:lpstr>Lukasiewicz Notation - Example</vt:lpstr>
      <vt:lpstr>PowerPoint Presentation</vt:lpstr>
      <vt:lpstr>New Notation: Lukasiewicz notation</vt:lpstr>
      <vt:lpstr>PowerPoint Presentation</vt:lpstr>
      <vt:lpstr>Example</vt:lpstr>
      <vt:lpstr>PowerPoint Presentation</vt:lpstr>
      <vt:lpstr>Example</vt:lpstr>
      <vt:lpstr>PowerPoint Presentation</vt:lpstr>
      <vt:lpstr>PowerPoint Presentation</vt:lpstr>
      <vt:lpstr>PowerPoint Presentation</vt:lpstr>
      <vt:lpstr>Ambiguity- example</vt:lpstr>
      <vt:lpstr>PowerPoint Presentation</vt:lpstr>
      <vt:lpstr>Ambiguity - Definition</vt:lpstr>
      <vt:lpstr>Example</vt:lpstr>
      <vt:lpstr>Example</vt:lpstr>
      <vt:lpstr>The Total Language Tree</vt:lpstr>
      <vt:lpstr>Example</vt:lpstr>
      <vt:lpstr>PowerPoint Presentation</vt:lpstr>
      <vt:lpstr>Example</vt:lpstr>
      <vt:lpstr>Semi Word</vt:lpstr>
      <vt:lpstr>Regular Grammar</vt:lpstr>
      <vt:lpstr>Creating a CFG from an FA</vt:lpstr>
      <vt:lpstr>Example</vt:lpstr>
      <vt:lpstr>Regular Grammar</vt:lpstr>
      <vt:lpstr>Proof contd.</vt:lpstr>
      <vt:lpstr>Proof contd.</vt:lpstr>
      <vt:lpstr>Example</vt:lpstr>
    </vt:vector>
  </TitlesOfParts>
  <Company>fast-nu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Theory of Automata</dc:title>
  <dc:creator>Majid</dc:creator>
  <cp:lastModifiedBy>user1</cp:lastModifiedBy>
  <cp:revision>181</cp:revision>
  <dcterms:created xsi:type="dcterms:W3CDTF">2011-08-06T09:27:24Z</dcterms:created>
  <dcterms:modified xsi:type="dcterms:W3CDTF">2025-07-28T10:26:50Z</dcterms:modified>
</cp:coreProperties>
</file>