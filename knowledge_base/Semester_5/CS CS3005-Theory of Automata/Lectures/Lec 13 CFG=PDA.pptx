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7" r:id="rId1"/>
  </p:sldMasterIdLst>
  <p:notesMasterIdLst>
    <p:notesMasterId r:id="rId27"/>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5085" autoAdjust="0"/>
  </p:normalViewPr>
  <p:slideViewPr>
    <p:cSldViewPr>
      <p:cViewPr varScale="1">
        <p:scale>
          <a:sx n="106" d="100"/>
          <a:sy n="106" d="100"/>
        </p:scale>
        <p:origin x="245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599BFF3-9DD6-487F-8804-9EE016B5FF2B}"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6FD814-82D9-4E9E-AD2A-EEA82D4F367A}"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4EA788-77B9-42E0-BD5B-57C5EEDAAF95}"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B3DB72-F70B-4D5A-B2A4-5195CC95DB32}" type="slidenum">
              <a:rPr lang="en-US" altLang="en-GB"/>
              <a:pPr/>
              <a:t>3</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DD919A-CBFD-4BA2-B85B-E7838ABD769C}" type="slidenum">
              <a:rPr lang="en-US" altLang="en-GB"/>
              <a:pPr/>
              <a:t>4</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8D8E84F-FEB4-4737-9278-BFA2DC3F1262}" type="slidenum">
              <a:rPr lang="en-US" altLang="en-GB"/>
              <a:pPr/>
              <a:t>5</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DD42ABB-3EFA-4BC6-B9A5-F6BBD30DF91C}" type="slidenum">
              <a:rPr lang="en-US" altLang="en-GB"/>
              <a:pPr/>
              <a:t>6</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CBDBCB-2EC5-4EEE-8C40-9BC1CF391883}" type="slidenum">
              <a:rPr lang="en-US" altLang="en-GB"/>
              <a:pPr/>
              <a:t>7</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3C2A02-9D02-4513-8E1D-5FE1B4EC4031}" type="slidenum">
              <a:rPr lang="en-US" altLang="en-GB"/>
              <a:pPr/>
              <a:t>8</a:t>
            </a:fld>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3A588A-9303-48DF-8787-FAE5C66995C5}" type="slidenum">
              <a:rPr lang="en-US" altLang="en-GB"/>
              <a:pPr/>
              <a:t>9</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5AD8341-8CB9-4182-93C2-15D12AA584B4}" type="slidenum">
              <a:rPr lang="en-US" altLang="en-GB"/>
              <a:pPr/>
              <a:t>10</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F479CE-7BB8-40D1-AD22-60F61308C94A}" type="slidenum">
              <a:rPr lang="en-US" altLang="en-GB"/>
              <a:pPr/>
              <a:t>11</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4018F4-7DA4-432C-AC83-5B376C507AB3}" type="slidenum">
              <a:rPr lang="en-US" altLang="en-GB"/>
              <a:pPr/>
              <a:t>12</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C155820-7E61-43B8-A2F9-FCD2A4636BA2}" type="slidenum">
              <a:rPr lang="en-US" altLang="en-GB"/>
              <a:pPr/>
              <a:t>13</a:t>
            </a:fld>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4DB55A-D39A-40F0-A63A-9A50D1B37441}" type="slidenum">
              <a:rPr lang="en-US" altLang="en-GB"/>
              <a:pPr/>
              <a:t>14</a:t>
            </a:fld>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187EE33-607F-45B8-8C37-A9FD98F8C1AB}" type="slidenum">
              <a:rPr lang="en-US" altLang="en-GB"/>
              <a:pPr/>
              <a:t>15</a:t>
            </a:fld>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50EB3B-C627-41AC-827D-58D0D4D9F237}" type="slidenum">
              <a:rPr lang="en-US" altLang="en-GB"/>
              <a:pPr/>
              <a:t>16</a:t>
            </a:fld>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BF74E45-AD66-4892-BE52-58B52F23F34F}" type="slidenum">
              <a:rPr lang="en-US" altLang="en-GB"/>
              <a:pPr/>
              <a:t>17</a:t>
            </a:fld>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9B8EA4-D446-4E76-86FF-4ACCB87387A7}" type="slidenum">
              <a:rPr lang="en-US" altLang="en-GB"/>
              <a:pPr/>
              <a:t>18</a:t>
            </a:fld>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944F2F-535B-474F-B2DF-46EBA3334F27}" type="slidenum">
              <a:rPr lang="en-US" altLang="en-GB"/>
              <a:pPr/>
              <a:t>19</a:t>
            </a:fld>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0A78EF-D28C-4A4B-AC5B-CC4F6BF0AB2A}" type="slidenum">
              <a:rPr lang="en-US" altLang="en-GB"/>
              <a:pPr/>
              <a:t>20</a:t>
            </a:fld>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1EF044-533A-4D7B-A6FB-6FDABDD2E2C0}" type="slidenum">
              <a:rPr lang="en-US" altLang="en-GB"/>
              <a:pPr/>
              <a:t>21</a:t>
            </a:fld>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C97EAE-F13A-4F11-8BFE-A8EF4265F466}" type="slidenum">
              <a:rPr lang="en-US" altLang="en-GB"/>
              <a:pPr/>
              <a:t>22</a:t>
            </a:fld>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E22DC7-87D7-4ED0-82E9-B265D37CCC7B}" type="slidenum">
              <a:rPr lang="en-US" altLang="en-GB"/>
              <a:pPr/>
              <a:t>23</a:t>
            </a:fld>
            <a:endParaRPr lang="en-US" alt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CF3112-8732-47E3-AAD7-1A473C4266A1}" type="slidenum">
              <a:rPr lang="en-US" altLang="en-GB"/>
              <a:pPr/>
              <a:t>24</a:t>
            </a:fld>
            <a:endParaRPr lang="en-US" alt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0CBDB60-2A33-45FE-A9B4-57908602DFCD}" type="slidenum">
              <a:rPr lang="en-US" altLang="en-GB"/>
              <a:pPr/>
              <a:t>25</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B42E1E68-5241-4C7D-9EA1-878715E09400}" type="slidenum">
              <a:rPr lang="en-US" altLang="en-US"/>
              <a:pPr/>
              <a:t>‹#›</a:t>
            </a:fld>
            <a:endParaRPr lang="en-US" altLang="en-US"/>
          </a:p>
        </p:txBody>
      </p:sp>
    </p:spTree>
    <p:extLst>
      <p:ext uri="{BB962C8B-B14F-4D97-AF65-F5344CB8AC3E}">
        <p14:creationId xmlns:p14="http://schemas.microsoft.com/office/powerpoint/2010/main" val="3250233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1ACB3247-98B8-45FA-A307-BDD3C27C060C}" type="slidenum">
              <a:rPr lang="en-US" altLang="en-US"/>
              <a:pPr/>
              <a:t>‹#›</a:t>
            </a:fld>
            <a:endParaRPr lang="en-US" altLang="en-US"/>
          </a:p>
        </p:txBody>
      </p:sp>
    </p:spTree>
    <p:extLst>
      <p:ext uri="{BB962C8B-B14F-4D97-AF65-F5344CB8AC3E}">
        <p14:creationId xmlns:p14="http://schemas.microsoft.com/office/powerpoint/2010/main" val="3630814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A7CB600A-0B09-4B69-8B68-57866A66A732}" type="slidenum">
              <a:rPr lang="en-US" altLang="en-US"/>
              <a:pPr/>
              <a:t>‹#›</a:t>
            </a:fld>
            <a:endParaRPr lang="en-US" altLang="en-US"/>
          </a:p>
        </p:txBody>
      </p:sp>
    </p:spTree>
    <p:extLst>
      <p:ext uri="{BB962C8B-B14F-4D97-AF65-F5344CB8AC3E}">
        <p14:creationId xmlns:p14="http://schemas.microsoft.com/office/powerpoint/2010/main" val="266416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CBC9D5A3-9D55-4B20-997F-CEE9F0D5BF6C}" type="slidenum">
              <a:rPr lang="en-US" altLang="en-US"/>
              <a:pPr/>
              <a:t>‹#›</a:t>
            </a:fld>
            <a:endParaRPr lang="en-US" altLang="en-US"/>
          </a:p>
        </p:txBody>
      </p:sp>
    </p:spTree>
    <p:extLst>
      <p:ext uri="{BB962C8B-B14F-4D97-AF65-F5344CB8AC3E}">
        <p14:creationId xmlns:p14="http://schemas.microsoft.com/office/powerpoint/2010/main" val="3585635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9C05BEAE-B979-405E-99C6-1E1EA9516DCE}" type="slidenum">
              <a:rPr lang="en-US" altLang="en-US"/>
              <a:pPr/>
              <a:t>‹#›</a:t>
            </a:fld>
            <a:endParaRPr lang="en-US" altLang="en-US"/>
          </a:p>
        </p:txBody>
      </p:sp>
    </p:spTree>
    <p:extLst>
      <p:ext uri="{BB962C8B-B14F-4D97-AF65-F5344CB8AC3E}">
        <p14:creationId xmlns:p14="http://schemas.microsoft.com/office/powerpoint/2010/main" val="402242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376FF8EB-532A-464C-863A-01B5795B5963}" type="slidenum">
              <a:rPr lang="en-US" altLang="en-US"/>
              <a:pPr/>
              <a:t>‹#›</a:t>
            </a:fld>
            <a:endParaRPr lang="en-US" altLang="en-US"/>
          </a:p>
        </p:txBody>
      </p:sp>
    </p:spTree>
    <p:extLst>
      <p:ext uri="{BB962C8B-B14F-4D97-AF65-F5344CB8AC3E}">
        <p14:creationId xmlns:p14="http://schemas.microsoft.com/office/powerpoint/2010/main" val="228063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85298F4A-613F-414F-9641-066AFFDE1BC7}" type="slidenum">
              <a:rPr lang="en-US" altLang="en-US"/>
              <a:pPr/>
              <a:t>‹#›</a:t>
            </a:fld>
            <a:endParaRPr lang="en-US" altLang="en-US"/>
          </a:p>
        </p:txBody>
      </p:sp>
    </p:spTree>
    <p:extLst>
      <p:ext uri="{BB962C8B-B14F-4D97-AF65-F5344CB8AC3E}">
        <p14:creationId xmlns:p14="http://schemas.microsoft.com/office/powerpoint/2010/main" val="137656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1BC6E8FD-A2A2-4DB6-B017-4AA49B527A96}" type="slidenum">
              <a:rPr lang="en-US" altLang="en-US"/>
              <a:pPr/>
              <a:t>‹#›</a:t>
            </a:fld>
            <a:endParaRPr lang="en-US" altLang="en-US"/>
          </a:p>
        </p:txBody>
      </p:sp>
    </p:spTree>
    <p:extLst>
      <p:ext uri="{BB962C8B-B14F-4D97-AF65-F5344CB8AC3E}">
        <p14:creationId xmlns:p14="http://schemas.microsoft.com/office/powerpoint/2010/main" val="2897400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9162A2D0-810A-46C5-8FCC-E1B6F8AFA68D}" type="slidenum">
              <a:rPr lang="en-US" altLang="en-US"/>
              <a:pPr/>
              <a:t>‹#›</a:t>
            </a:fld>
            <a:endParaRPr lang="en-US" altLang="en-US"/>
          </a:p>
        </p:txBody>
      </p:sp>
    </p:spTree>
    <p:extLst>
      <p:ext uri="{BB962C8B-B14F-4D97-AF65-F5344CB8AC3E}">
        <p14:creationId xmlns:p14="http://schemas.microsoft.com/office/powerpoint/2010/main" val="2907886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9C20CF9A-0662-4277-BD34-AD7FAED247A4}" type="slidenum">
              <a:rPr lang="en-US" altLang="en-US"/>
              <a:pPr/>
              <a:t>‹#›</a:t>
            </a:fld>
            <a:endParaRPr lang="en-US" altLang="en-US"/>
          </a:p>
        </p:txBody>
      </p:sp>
    </p:spTree>
    <p:extLst>
      <p:ext uri="{BB962C8B-B14F-4D97-AF65-F5344CB8AC3E}">
        <p14:creationId xmlns:p14="http://schemas.microsoft.com/office/powerpoint/2010/main" val="258450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9D01F1CD-B8E2-4A87-8160-F82E8EEFC706}" type="slidenum">
              <a:rPr lang="en-US" altLang="en-US"/>
              <a:pPr/>
              <a:t>‹#›</a:t>
            </a:fld>
            <a:endParaRPr lang="en-US" altLang="en-US"/>
          </a:p>
        </p:txBody>
      </p:sp>
    </p:spTree>
    <p:extLst>
      <p:ext uri="{BB962C8B-B14F-4D97-AF65-F5344CB8AC3E}">
        <p14:creationId xmlns:p14="http://schemas.microsoft.com/office/powerpoint/2010/main" val="366340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Oct 14,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11CD62D0-5A6A-4172-84FF-FF229F4C649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a:lstStyle/>
          <a:p>
            <a:pPr eaLnBrk="1" hangingPunct="1"/>
            <a:r>
              <a:rPr lang="en-US" altLang="en-GB" smtClean="0"/>
              <a:t>Theory of Automata</a:t>
            </a:r>
            <a:br>
              <a:rPr lang="en-US" altLang="en-GB" smtClean="0"/>
            </a:br>
            <a:r>
              <a:rPr lang="en-US" altLang="en-GB" smtClean="0"/>
              <a:t> CFG = PDA</a:t>
            </a:r>
          </a:p>
        </p:txBody>
      </p:sp>
      <p:sp>
        <p:nvSpPr>
          <p:cNvPr id="9219" name="Rectangle 3"/>
          <p:cNvSpPr>
            <a:spLocks noGrp="1" noChangeArrowheads="1"/>
          </p:cNvSpPr>
          <p:nvPr>
            <p:ph type="subTitle" idx="1"/>
          </p:nvPr>
        </p:nvSpPr>
        <p:spPr/>
        <p:txBody>
          <a:bodyPr rtlCol="0">
            <a:normAutofit/>
          </a:bodyPr>
          <a:lstStyle/>
          <a:p>
            <a:pPr>
              <a:lnSpc>
                <a:spcPct val="90000"/>
              </a:lnSpc>
              <a:spcBef>
                <a:spcPts val="500"/>
              </a:spcBef>
              <a:spcAft>
                <a:spcPts val="0"/>
              </a:spcAft>
              <a:buClr>
                <a:srgbClr val="898989"/>
              </a:buClr>
              <a:buSzPts val="2500"/>
              <a:defRPr/>
            </a:pPr>
            <a:r>
              <a:rPr lang="en-US">
                <a:solidFill>
                  <a:srgbClr val="898989"/>
                </a:solidFill>
                <a:ea typeface="Calibri"/>
                <a:cs typeface="Calibri"/>
                <a:sym typeface="Calibri"/>
              </a:rPr>
              <a:t>Week </a:t>
            </a:r>
            <a:r>
              <a:rPr lang="en-US" dirty="0">
                <a:solidFill>
                  <a:srgbClr val="898989"/>
                </a:solidFill>
                <a:ea typeface="Calibri"/>
                <a:cs typeface="Calibri"/>
                <a:sym typeface="Calibri"/>
              </a:rPr>
              <a:t>11</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26FAF3D-96D3-4DF6-97EE-B406C04E6FAF}"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5124"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5" name="Rectangle 3"/>
          <p:cNvSpPr>
            <a:spLocks noGrp="1"/>
          </p:cNvSpPr>
          <p:nvPr>
            <p:ph type="body" idx="4294967295"/>
          </p:nvPr>
        </p:nvSpPr>
        <p:spPr>
          <a:xfrm>
            <a:off x="0" y="1481138"/>
            <a:ext cx="8229600" cy="4525962"/>
          </a:xfrm>
        </p:spPr>
        <p:txBody>
          <a:bodyPr/>
          <a:lstStyle/>
          <a:p>
            <a:pPr eaLnBrk="1" hangingPunct="1"/>
            <a:r>
              <a:rPr lang="en-US" altLang="en-GB" sz="2600" smtClean="0"/>
              <a:t>Theorem 30</a:t>
            </a:r>
          </a:p>
          <a:p>
            <a:pPr eaLnBrk="1" hangingPunct="1"/>
            <a:r>
              <a:rPr lang="en-US" altLang="en-GB" sz="2600" smtClean="0"/>
              <a:t>Theorem 31</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7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B1E8447-54A7-49B1-995F-E6E13250D1D9}"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7172" name="Rectangle 2"/>
          <p:cNvSpPr>
            <a:spLocks noGrp="1"/>
          </p:cNvSpPr>
          <p:nvPr>
            <p:ph type="title" idx="4294967295"/>
          </p:nvPr>
        </p:nvSpPr>
        <p:spPr>
          <a:xfrm>
            <a:off x="0" y="274638"/>
            <a:ext cx="8229600" cy="1143000"/>
          </a:xfrm>
        </p:spPr>
        <p:txBody>
          <a:bodyPr/>
          <a:lstStyle/>
          <a:p>
            <a:pPr eaLnBrk="1" hangingPunct="1"/>
            <a:r>
              <a:rPr lang="en-US" altLang="en-GB" sz="3800" smtClean="0"/>
              <a:t>CFG = PDA</a:t>
            </a:r>
          </a:p>
        </p:txBody>
      </p:sp>
      <p:sp>
        <p:nvSpPr>
          <p:cNvPr id="7173" name="Rectangle 3"/>
          <p:cNvSpPr>
            <a:spLocks noGrp="1"/>
          </p:cNvSpPr>
          <p:nvPr>
            <p:ph type="body" idx="4294967295"/>
          </p:nvPr>
        </p:nvSpPr>
        <p:spPr>
          <a:xfrm>
            <a:off x="0" y="1481138"/>
            <a:ext cx="8229600" cy="4525962"/>
          </a:xfrm>
        </p:spPr>
        <p:txBody>
          <a:bodyPr/>
          <a:lstStyle/>
          <a:p>
            <a:pPr algn="just" eaLnBrk="1" hangingPunct="1"/>
            <a:endParaRPr lang="en-US" altLang="en-GB" sz="2600" smtClean="0"/>
          </a:p>
          <a:p>
            <a:pPr algn="just" eaLnBrk="1" hangingPunct="1"/>
            <a:r>
              <a:rPr lang="en-US" altLang="en-GB" sz="2600" smtClean="0"/>
              <a:t>We are now able to prove that the set of all languages accepted by PDAs is the same as the set of all languages generated by CFGs.</a:t>
            </a:r>
          </a:p>
          <a:p>
            <a:pPr algn="just" eaLnBrk="1" hangingPunct="1"/>
            <a:endParaRPr lang="en-US" altLang="en-GB" sz="2600" smtClean="0"/>
          </a:p>
          <a:p>
            <a:pPr algn="just" eaLnBrk="1" hangingPunct="1"/>
            <a:endParaRPr lang="en-US" altLang="en-GB" sz="2600" smtClean="0"/>
          </a:p>
          <a:p>
            <a:pPr algn="just" eaLnBrk="1" hangingPunct="1"/>
            <a:r>
              <a:rPr lang="en-US" altLang="en-GB" sz="2600" smtClean="0"/>
              <a:t> We can prove this in two steps.</a:t>
            </a:r>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21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E7505C4-8E7F-4169-818C-62A2E953392B}"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
        <p:nvSpPr>
          <p:cNvPr id="9220" name="Rectangle 2"/>
          <p:cNvSpPr>
            <a:spLocks noGrp="1"/>
          </p:cNvSpPr>
          <p:nvPr>
            <p:ph type="title" idx="4294967295"/>
          </p:nvPr>
        </p:nvSpPr>
        <p:spPr>
          <a:xfrm>
            <a:off x="0" y="274638"/>
            <a:ext cx="8229600" cy="1143000"/>
          </a:xfrm>
        </p:spPr>
        <p:txBody>
          <a:bodyPr/>
          <a:lstStyle/>
          <a:p>
            <a:pPr eaLnBrk="1" hangingPunct="1"/>
            <a:r>
              <a:rPr lang="en-US" altLang="en-GB" sz="3800" smtClean="0"/>
              <a:t>Theorem 30 and 31</a:t>
            </a:r>
          </a:p>
        </p:txBody>
      </p:sp>
      <p:sp>
        <p:nvSpPr>
          <p:cNvPr id="9221"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b="1" smtClean="0"/>
              <a:t>Theorem 30:</a:t>
            </a:r>
          </a:p>
          <a:p>
            <a:pPr algn="just" eaLnBrk="1" hangingPunct="1">
              <a:buFont typeface="Wingdings" panose="05000000000000000000" pitchFamily="2" charset="2"/>
              <a:buNone/>
            </a:pPr>
            <a:r>
              <a:rPr lang="en-US" altLang="en-GB" sz="2600" smtClean="0"/>
              <a:t>Given a CFG that generates the language </a:t>
            </a:r>
            <a:r>
              <a:rPr lang="en-US" altLang="en-GB" sz="2600" i="1" smtClean="0"/>
              <a:t>L</a:t>
            </a:r>
            <a:r>
              <a:rPr lang="en-US" altLang="en-GB" sz="2600" smtClean="0"/>
              <a:t>, there is a PDA that accepts exactly </a:t>
            </a:r>
            <a:r>
              <a:rPr lang="en-US" altLang="en-GB" sz="2600" i="1" smtClean="0"/>
              <a:t>L</a:t>
            </a:r>
            <a:r>
              <a:rPr lang="en-US" altLang="en-GB" sz="2600" smtClean="0"/>
              <a:t>.</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b="1" smtClean="0"/>
              <a:t>Theorem 31:</a:t>
            </a:r>
          </a:p>
          <a:p>
            <a:pPr algn="just" eaLnBrk="1" hangingPunct="1">
              <a:buFont typeface="Wingdings" panose="05000000000000000000" pitchFamily="2" charset="2"/>
              <a:buNone/>
            </a:pPr>
            <a:r>
              <a:rPr lang="en-US" altLang="en-GB" sz="2600" smtClean="0"/>
              <a:t>Given a PDA that accepts the language </a:t>
            </a:r>
            <a:r>
              <a:rPr lang="en-US" altLang="en-GB" sz="2600" i="1" smtClean="0"/>
              <a:t>L</a:t>
            </a:r>
            <a:r>
              <a:rPr lang="en-US" altLang="en-GB" sz="2600" smtClean="0"/>
              <a:t>, there exists a CFG that generates exactly </a:t>
            </a:r>
            <a:r>
              <a:rPr lang="en-US" altLang="en-GB" sz="2600" i="1" smtClean="0"/>
              <a:t>L</a:t>
            </a:r>
            <a:r>
              <a:rPr lang="en-US" altLang="en-GB" sz="2600" smtClean="0"/>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26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31C4A08-EEF1-4909-A7C9-962BF9BA37BB}"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
        <p:nvSpPr>
          <p:cNvPr id="11268" name="Rectangle 2"/>
          <p:cNvSpPr>
            <a:spLocks noGrp="1"/>
          </p:cNvSpPr>
          <p:nvPr>
            <p:ph type="title" idx="4294967295"/>
          </p:nvPr>
        </p:nvSpPr>
        <p:spPr>
          <a:xfrm>
            <a:off x="0" y="274638"/>
            <a:ext cx="8229600" cy="1143000"/>
          </a:xfrm>
        </p:spPr>
        <p:txBody>
          <a:bodyPr/>
          <a:lstStyle/>
          <a:p>
            <a:pPr eaLnBrk="1" hangingPunct="1"/>
            <a:r>
              <a:rPr lang="en-US" altLang="en-GB" sz="3800" smtClean="0"/>
              <a:t>Proof of Theorem 30</a:t>
            </a:r>
          </a:p>
        </p:txBody>
      </p:sp>
      <p:sp>
        <p:nvSpPr>
          <p:cNvPr id="11269" name="Rectangle 3"/>
          <p:cNvSpPr>
            <a:spLocks noGrp="1"/>
          </p:cNvSpPr>
          <p:nvPr>
            <p:ph type="body" idx="4294967295"/>
          </p:nvPr>
        </p:nvSpPr>
        <p:spPr>
          <a:xfrm>
            <a:off x="0" y="1481138"/>
            <a:ext cx="8229600" cy="4525962"/>
          </a:xfrm>
        </p:spPr>
        <p:txBody>
          <a:bodyPr/>
          <a:lstStyle/>
          <a:p>
            <a:pPr algn="just" eaLnBrk="1" hangingPunct="1"/>
            <a:r>
              <a:rPr lang="en-US" altLang="en-GB" sz="2600" smtClean="0"/>
              <a:t>The proof will be by constructive algorithm.</a:t>
            </a:r>
          </a:p>
          <a:p>
            <a:pPr algn="just" eaLnBrk="1" hangingPunct="1"/>
            <a:endParaRPr lang="en-US" altLang="en-GB" sz="2600" smtClean="0"/>
          </a:p>
          <a:p>
            <a:pPr algn="just" eaLnBrk="1" hangingPunct="1"/>
            <a:r>
              <a:rPr lang="en-US" altLang="en-GB" sz="2600" smtClean="0"/>
              <a:t>From Theorem 26 in Chapter 13 (page 278), we can assume that the CFG is in CNF. (We shall handle the problem of </a:t>
            </a:r>
            <a:r>
              <a:rPr lang="el-GR" altLang="en-GB" sz="2600" smtClean="0">
                <a:cs typeface="Arial" panose="020B0604020202020204" pitchFamily="34" charset="0"/>
              </a:rPr>
              <a:t>λ</a:t>
            </a:r>
            <a:r>
              <a:rPr lang="en-US" altLang="en-GB" sz="2600" smtClean="0"/>
              <a:t> later.)</a:t>
            </a:r>
          </a:p>
          <a:p>
            <a:pPr algn="just" eaLnBrk="1" hangingPunct="1"/>
            <a:endParaRPr lang="en-US" altLang="en-GB" sz="2600" smtClean="0"/>
          </a:p>
          <a:p>
            <a:pPr algn="just" eaLnBrk="1" hangingPunct="1"/>
            <a:r>
              <a:rPr lang="en-US" altLang="en-GB" sz="2600" smtClean="0"/>
              <a:t>Before we describe our algorithm, let us illustrate it on a particular example.</a:t>
            </a:r>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31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DA7DCFF-5D63-4D27-B4AF-003A851A4E28}"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
        <p:nvSpPr>
          <p:cNvPr id="13316"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13317"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600" smtClean="0"/>
              <a:t>Consider the following CFG in CNF:</a:t>
            </a:r>
          </a:p>
          <a:p>
            <a:pPr algn="just" eaLnBrk="1" hangingPunct="1">
              <a:lnSpc>
                <a:spcPct val="90000"/>
              </a:lnSpc>
              <a:buFont typeface="Wingdings" panose="05000000000000000000" pitchFamily="2" charset="2"/>
              <a:buNone/>
            </a:pPr>
            <a:r>
              <a:rPr lang="en-US" altLang="en-GB" sz="2600" smtClean="0"/>
              <a:t>		S </a:t>
            </a:r>
            <a:r>
              <a:rPr lang="en-US" altLang="en-GB" sz="2600" smtClean="0">
                <a:sym typeface="Wingdings" panose="05000000000000000000" pitchFamily="2" charset="2"/>
              </a:rPr>
              <a:t></a:t>
            </a:r>
            <a:r>
              <a:rPr lang="en-US" altLang="en-GB" sz="2600" smtClean="0"/>
              <a:t> SB | AB</a:t>
            </a:r>
          </a:p>
          <a:p>
            <a:pPr algn="just" eaLnBrk="1" hangingPunct="1">
              <a:lnSpc>
                <a:spcPct val="90000"/>
              </a:lnSpc>
              <a:buFont typeface="Wingdings" panose="05000000000000000000" pitchFamily="2" charset="2"/>
              <a:buNone/>
            </a:pPr>
            <a:r>
              <a:rPr lang="en-US" altLang="en-GB" sz="2600" smtClean="0"/>
              <a:t>		A </a:t>
            </a:r>
            <a:r>
              <a:rPr lang="en-US" altLang="en-GB" sz="2600" smtClean="0">
                <a:sym typeface="Wingdings" panose="05000000000000000000" pitchFamily="2" charset="2"/>
              </a:rPr>
              <a:t></a:t>
            </a:r>
            <a:r>
              <a:rPr lang="en-US" altLang="en-GB" sz="2600" smtClean="0"/>
              <a:t> CC</a:t>
            </a:r>
          </a:p>
          <a:p>
            <a:pPr algn="just" eaLnBrk="1" hangingPunct="1">
              <a:lnSpc>
                <a:spcPct val="90000"/>
              </a:lnSpc>
              <a:buFont typeface="Wingdings" panose="05000000000000000000" pitchFamily="2" charset="2"/>
              <a:buNone/>
            </a:pPr>
            <a:r>
              <a:rPr lang="en-US" altLang="en-GB" sz="2600" smtClean="0"/>
              <a:t>		B </a:t>
            </a:r>
            <a:r>
              <a:rPr lang="en-US" altLang="en-GB" sz="2600" smtClean="0">
                <a:sym typeface="Wingdings" panose="05000000000000000000" pitchFamily="2" charset="2"/>
              </a:rPr>
              <a:t></a:t>
            </a:r>
            <a:r>
              <a:rPr lang="en-US" altLang="en-GB" sz="2600" smtClean="0"/>
              <a:t> b</a:t>
            </a:r>
          </a:p>
          <a:p>
            <a:pPr algn="just" eaLnBrk="1" hangingPunct="1">
              <a:lnSpc>
                <a:spcPct val="90000"/>
              </a:lnSpc>
              <a:buFont typeface="Wingdings" panose="05000000000000000000" pitchFamily="2" charset="2"/>
              <a:buNone/>
            </a:pPr>
            <a:r>
              <a:rPr lang="en-US" altLang="en-GB" sz="2600" smtClean="0"/>
              <a:t>		C </a:t>
            </a:r>
            <a:r>
              <a:rPr lang="en-US" altLang="en-GB" sz="2600" smtClean="0">
                <a:sym typeface="Wingdings" panose="05000000000000000000" pitchFamily="2" charset="2"/>
              </a:rPr>
              <a:t></a:t>
            </a:r>
            <a:r>
              <a:rPr lang="en-US" altLang="en-GB" sz="2600" smtClean="0"/>
              <a:t> a</a:t>
            </a:r>
          </a:p>
          <a:p>
            <a:pPr algn="just" eaLnBrk="1" hangingPunct="1">
              <a:lnSpc>
                <a:spcPct val="90000"/>
              </a:lnSpc>
            </a:pPr>
            <a:r>
              <a:rPr lang="en-US" altLang="en-GB" sz="2600" smtClean="0"/>
              <a:t>We now propose the following nondeterministic PDA where the STACK alphabet is</a:t>
            </a:r>
          </a:p>
          <a:p>
            <a:pPr algn="just" eaLnBrk="1" hangingPunct="1">
              <a:lnSpc>
                <a:spcPct val="90000"/>
              </a:lnSpc>
              <a:buFont typeface="Wingdings" panose="05000000000000000000" pitchFamily="2" charset="2"/>
              <a:buNone/>
            </a:pPr>
            <a:r>
              <a:rPr lang="en-US" altLang="en-GB" sz="2600" smtClean="0">
                <a:cs typeface="Arial" panose="020B0604020202020204" pitchFamily="34" charset="0"/>
              </a:rPr>
              <a:t>			</a:t>
            </a:r>
            <a:r>
              <a:rPr lang="el-GR" altLang="en-GB" sz="2600" smtClean="0">
                <a:cs typeface="Arial" panose="020B0604020202020204" pitchFamily="34" charset="0"/>
              </a:rPr>
              <a:t>Γ</a:t>
            </a:r>
            <a:r>
              <a:rPr lang="en-US" altLang="en-GB" sz="2600" smtClean="0"/>
              <a:t> = {S, A, B, C}</a:t>
            </a:r>
          </a:p>
          <a:p>
            <a:pPr algn="just" eaLnBrk="1" hangingPunct="1">
              <a:lnSpc>
                <a:spcPct val="90000"/>
              </a:lnSpc>
              <a:buFont typeface="Wingdings" panose="05000000000000000000" pitchFamily="2" charset="2"/>
              <a:buNone/>
            </a:pPr>
            <a:r>
              <a:rPr lang="en-US" altLang="en-GB" sz="2600" smtClean="0"/>
              <a:t>    and the TAPE alphabet is only</a:t>
            </a:r>
          </a:p>
          <a:p>
            <a:pPr algn="just" eaLnBrk="1" hangingPunct="1">
              <a:lnSpc>
                <a:spcPct val="90000"/>
              </a:lnSpc>
              <a:buFont typeface="Wingdings" panose="05000000000000000000" pitchFamily="2" charset="2"/>
              <a:buNone/>
            </a:pPr>
            <a:r>
              <a:rPr lang="en-US" altLang="en-GB" sz="2600" smtClean="0">
                <a:cs typeface="Arial" panose="020B0604020202020204" pitchFamily="34" charset="0"/>
              </a:rPr>
              <a:t>			</a:t>
            </a:r>
            <a:r>
              <a:rPr lang="el-GR" altLang="en-GB" sz="2600" smtClean="0">
                <a:cs typeface="Arial" panose="020B0604020202020204" pitchFamily="34" charset="0"/>
              </a:rPr>
              <a:t>∑</a:t>
            </a:r>
            <a:r>
              <a:rPr lang="en-US" altLang="en-GB" sz="2600" smtClean="0"/>
              <a:t> = {a, b}</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36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8A75E19-9432-48D8-95B2-DAECF8C32594}"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pic>
        <p:nvPicPr>
          <p:cNvPr id="153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71488"/>
            <a:ext cx="7239000"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741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A303929-2FBF-4F56-9ED0-FF211847FA35}"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17412"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We begin by pushing S onto the top of the STACK.</a:t>
            </a:r>
          </a:p>
          <a:p>
            <a:pPr algn="just" eaLnBrk="1" hangingPunct="1">
              <a:lnSpc>
                <a:spcPct val="90000"/>
              </a:lnSpc>
            </a:pPr>
            <a:r>
              <a:rPr lang="en-US" altLang="en-GB" sz="2200" smtClean="0"/>
              <a:t>We then enter the central POP state. Two things are possible when we pop the top of the STACK:</a:t>
            </a:r>
          </a:p>
          <a:p>
            <a:pPr lvl="1" algn="just" eaLnBrk="1" hangingPunct="1">
              <a:lnSpc>
                <a:spcPct val="90000"/>
              </a:lnSpc>
            </a:pPr>
            <a:r>
              <a:rPr lang="en-US" altLang="en-GB" sz="2000" smtClean="0"/>
              <a:t>We either replace the removed non-terminal with two other non-terminals, thereby simulating a production,</a:t>
            </a:r>
          </a:p>
          <a:p>
            <a:pPr lvl="1" algn="just" eaLnBrk="1" hangingPunct="1">
              <a:lnSpc>
                <a:spcPct val="90000"/>
              </a:lnSpc>
            </a:pPr>
            <a:endParaRPr lang="en-US" altLang="en-GB" sz="2000" smtClean="0"/>
          </a:p>
          <a:p>
            <a:pPr lvl="1" algn="just" eaLnBrk="1" hangingPunct="1">
              <a:lnSpc>
                <a:spcPct val="90000"/>
              </a:lnSpc>
            </a:pPr>
            <a:r>
              <a:rPr lang="en-US" altLang="en-GB" sz="2000" smtClean="0"/>
              <a:t>Or we go to a READ state, which insists that we must read a specific terminal from the TAPE, or else it crashes.</a:t>
            </a:r>
          </a:p>
          <a:p>
            <a:pPr algn="just" eaLnBrk="1" hangingPunct="1">
              <a:lnSpc>
                <a:spcPct val="90000"/>
              </a:lnSpc>
            </a:pPr>
            <a:r>
              <a:rPr lang="en-US" altLang="en-GB" sz="2200" smtClean="0"/>
              <a:t>To get to ACCEPT, we must have encountered the READ states that wanted to read exactly the letters on the INPUT TAPE.</a:t>
            </a:r>
          </a:p>
          <a:p>
            <a:pPr algn="just" eaLnBrk="1" hangingPunct="1">
              <a:lnSpc>
                <a:spcPct val="90000"/>
              </a:lnSpc>
            </a:pPr>
            <a:r>
              <a:rPr lang="en-US" altLang="en-GB" sz="2200" smtClean="0"/>
              <a:t>We now show that doing this is equivalent to simulating a leftmost derivation of the input string in the given CFG.</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945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984AD4-13F1-4262-BFC7-763FACED24C1}"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19460"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19461" name="Rectangle 3"/>
          <p:cNvSpPr>
            <a:spLocks noGrp="1"/>
          </p:cNvSpPr>
          <p:nvPr>
            <p:ph type="body" idx="4294967295"/>
          </p:nvPr>
        </p:nvSpPr>
        <p:spPr>
          <a:xfrm>
            <a:off x="0" y="1481138"/>
            <a:ext cx="8229600" cy="4525962"/>
          </a:xfrm>
        </p:spPr>
        <p:txBody>
          <a:bodyPr/>
          <a:lstStyle/>
          <a:p>
            <a:pPr algn="just" eaLnBrk="1" hangingPunct="1"/>
            <a:r>
              <a:rPr lang="en-US" altLang="en-GB" sz="2600" smtClean="0"/>
              <a:t>Let’s consider a specific example. Let’s generate the word </a:t>
            </a:r>
            <a:r>
              <a:rPr lang="en-US" altLang="en-GB" sz="2600" b="1" i="1" smtClean="0"/>
              <a:t>aab</a:t>
            </a:r>
            <a:r>
              <a:rPr lang="en-US" altLang="en-GB" sz="2600" smtClean="0"/>
              <a:t> using leftmost derivation in the given CFG:</a:t>
            </a:r>
          </a:p>
          <a:p>
            <a:pPr algn="just" eaLnBrk="1" hangingPunct="1">
              <a:buFont typeface="Wingdings" panose="05000000000000000000" pitchFamily="2" charset="2"/>
              <a:buNone/>
            </a:pPr>
            <a:r>
              <a:rPr lang="en-US" altLang="en-GB" sz="2600" b="1" smtClean="0"/>
              <a:t>Working string 		Production used</a:t>
            </a:r>
          </a:p>
          <a:p>
            <a:pPr algn="just" eaLnBrk="1" hangingPunct="1">
              <a:buFont typeface="Wingdings" panose="05000000000000000000" pitchFamily="2" charset="2"/>
              <a:buNone/>
            </a:pPr>
            <a:r>
              <a:rPr lang="en-US" altLang="en-GB" sz="2600" smtClean="0"/>
              <a:t>S </a:t>
            </a:r>
            <a:r>
              <a:rPr lang="en-US" altLang="en-GB" sz="2600" smtClean="0">
                <a:sym typeface="Wingdings" panose="05000000000000000000" pitchFamily="2" charset="2"/>
              </a:rPr>
              <a:t></a:t>
            </a:r>
            <a:r>
              <a:rPr lang="en-US" altLang="en-GB" sz="2600" smtClean="0"/>
              <a:t> AB 				S </a:t>
            </a:r>
            <a:r>
              <a:rPr lang="en-US" altLang="en-GB" sz="2600" smtClean="0">
                <a:sym typeface="Wingdings" panose="05000000000000000000" pitchFamily="2" charset="2"/>
              </a:rPr>
              <a:t></a:t>
            </a:r>
            <a:r>
              <a:rPr lang="en-US" altLang="en-GB" sz="2600" smtClean="0"/>
              <a:t> AB</a:t>
            </a:r>
          </a:p>
          <a:p>
            <a:pPr algn="just" eaLnBrk="1" hangingPunct="1">
              <a:buFont typeface="Wingdings" panose="05000000000000000000" pitchFamily="2" charset="2"/>
              <a:buNone/>
            </a:pPr>
            <a:r>
              <a:rPr lang="en-US" altLang="en-GB" sz="2600" smtClean="0">
                <a:sym typeface="Wingdings" panose="05000000000000000000" pitchFamily="2" charset="2"/>
              </a:rPr>
              <a:t>	</a:t>
            </a:r>
            <a:r>
              <a:rPr lang="en-US" altLang="en-GB" sz="2600" smtClean="0"/>
              <a:t> CCB 				A </a:t>
            </a:r>
            <a:r>
              <a:rPr lang="en-US" altLang="en-GB" sz="2600" smtClean="0">
                <a:sym typeface="Wingdings" panose="05000000000000000000" pitchFamily="2" charset="2"/>
              </a:rPr>
              <a:t></a:t>
            </a:r>
            <a:r>
              <a:rPr lang="en-US" altLang="en-GB" sz="2600" smtClean="0"/>
              <a:t> CC</a:t>
            </a:r>
          </a:p>
          <a:p>
            <a:pPr algn="just" eaLnBrk="1" hangingPunct="1">
              <a:buFont typeface="Wingdings" panose="05000000000000000000" pitchFamily="2" charset="2"/>
              <a:buNone/>
            </a:pPr>
            <a:r>
              <a:rPr lang="en-US" altLang="en-GB" sz="2600" smtClean="0">
                <a:sym typeface="Wingdings" panose="05000000000000000000" pitchFamily="2" charset="2"/>
              </a:rPr>
              <a:t>	 </a:t>
            </a:r>
            <a:r>
              <a:rPr lang="en-US" altLang="en-GB" sz="2600" smtClean="0"/>
              <a:t>aCB 				C </a:t>
            </a:r>
            <a:r>
              <a:rPr lang="en-US" altLang="en-GB" sz="2600" smtClean="0">
                <a:sym typeface="Wingdings" panose="05000000000000000000" pitchFamily="2" charset="2"/>
              </a:rPr>
              <a:t></a:t>
            </a:r>
            <a:r>
              <a:rPr lang="en-US" altLang="en-GB" sz="2600" smtClean="0"/>
              <a:t> a</a:t>
            </a:r>
          </a:p>
          <a:p>
            <a:pPr algn="just" eaLnBrk="1" hangingPunct="1">
              <a:buFont typeface="Wingdings" panose="05000000000000000000" pitchFamily="2" charset="2"/>
              <a:buNone/>
            </a:pPr>
            <a:r>
              <a:rPr lang="en-US" altLang="en-GB" sz="2600" smtClean="0"/>
              <a:t>	</a:t>
            </a:r>
            <a:r>
              <a:rPr lang="en-US" altLang="en-GB" sz="2600" smtClean="0">
                <a:sym typeface="Wingdings" panose="05000000000000000000" pitchFamily="2" charset="2"/>
              </a:rPr>
              <a:t> </a:t>
            </a:r>
            <a:r>
              <a:rPr lang="en-US" altLang="en-GB" sz="2600" smtClean="0"/>
              <a:t>aaB 				C </a:t>
            </a:r>
            <a:r>
              <a:rPr lang="en-US" altLang="en-GB" sz="2600" smtClean="0">
                <a:sym typeface="Wingdings" panose="05000000000000000000" pitchFamily="2" charset="2"/>
              </a:rPr>
              <a:t></a:t>
            </a:r>
            <a:r>
              <a:rPr lang="en-US" altLang="en-GB" sz="2600" smtClean="0"/>
              <a:t> a</a:t>
            </a:r>
          </a:p>
          <a:p>
            <a:pPr algn="just" eaLnBrk="1" hangingPunct="1">
              <a:buFont typeface="Wingdings" panose="05000000000000000000" pitchFamily="2" charset="2"/>
              <a:buNone/>
            </a:pPr>
            <a:r>
              <a:rPr lang="en-US" altLang="en-GB" sz="2600" smtClean="0"/>
              <a:t>	</a:t>
            </a:r>
            <a:r>
              <a:rPr lang="en-US" altLang="en-GB" sz="2600" smtClean="0">
                <a:sym typeface="Wingdings" panose="05000000000000000000" pitchFamily="2" charset="2"/>
              </a:rPr>
              <a:t></a:t>
            </a:r>
            <a:r>
              <a:rPr lang="en-US" altLang="en-GB" sz="2600" smtClean="0"/>
              <a:t>aab 				B </a:t>
            </a:r>
            <a:r>
              <a:rPr lang="en-US" altLang="en-GB" sz="2600" smtClean="0">
                <a:sym typeface="Wingdings" panose="05000000000000000000" pitchFamily="2" charset="2"/>
              </a:rPr>
              <a:t></a:t>
            </a:r>
            <a:r>
              <a:rPr lang="en-US" altLang="en-GB" sz="2600" smtClean="0"/>
              <a:t> b</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150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D17E77C-335D-4487-B89E-539B31ABDDEB}"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
        <p:nvSpPr>
          <p:cNvPr id="21508" name="Rectangle 3"/>
          <p:cNvSpPr>
            <a:spLocks noGrp="1"/>
          </p:cNvSpPr>
          <p:nvPr>
            <p:ph type="body" idx="4294967295"/>
          </p:nvPr>
        </p:nvSpPr>
        <p:spPr>
          <a:xfrm>
            <a:off x="0" y="533400"/>
            <a:ext cx="8229600" cy="4876800"/>
          </a:xfrm>
        </p:spPr>
        <p:txBody>
          <a:bodyPr/>
          <a:lstStyle/>
          <a:p>
            <a:pPr algn="just" eaLnBrk="1" hangingPunct="1"/>
            <a:r>
              <a:rPr lang="en-US" altLang="en-GB" sz="2600" smtClean="0"/>
              <a:t>Let us run this word (</a:t>
            </a:r>
            <a:r>
              <a:rPr lang="en-US" altLang="en-GB" sz="2600" b="1" i="1" smtClean="0"/>
              <a:t>aab</a:t>
            </a:r>
            <a:r>
              <a:rPr lang="en-US" altLang="en-GB" sz="2600" smtClean="0"/>
              <a:t>) on the proposed PDA, following the same sequence of productions in the leftmost derivation above.</a:t>
            </a:r>
          </a:p>
          <a:p>
            <a:pPr algn="just" eaLnBrk="1" hangingPunct="1"/>
            <a:endParaRPr lang="en-US" altLang="en-GB" sz="2600" smtClean="0"/>
          </a:p>
        </p:txBody>
      </p:sp>
      <p:pic>
        <p:nvPicPr>
          <p:cNvPr id="215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057400"/>
            <a:ext cx="5867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355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85FE846-39C5-430C-83EE-CA02E2DF8103}"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23556" name="Rectangle 3"/>
          <p:cNvSpPr>
            <a:spLocks noGrp="1"/>
          </p:cNvSpPr>
          <p:nvPr>
            <p:ph type="body" idx="4294967295"/>
          </p:nvPr>
        </p:nvSpPr>
        <p:spPr>
          <a:xfrm>
            <a:off x="0" y="1481138"/>
            <a:ext cx="8229600" cy="4525962"/>
          </a:xfrm>
        </p:spPr>
        <p:txBody>
          <a:bodyPr/>
          <a:lstStyle/>
          <a:p>
            <a:pPr algn="just" eaLnBrk="1" hangingPunct="1"/>
            <a:r>
              <a:rPr lang="en-US" altLang="en-GB" sz="2600" smtClean="0"/>
              <a:t>We begin at START</a:t>
            </a:r>
          </a:p>
          <a:p>
            <a:pPr algn="just" eaLnBrk="1" hangingPunct="1"/>
            <a:r>
              <a:rPr lang="en-US" altLang="en-GB" sz="2600" smtClean="0"/>
              <a:t>We push the symbol S on the STACK</a:t>
            </a:r>
          </a:p>
          <a:p>
            <a:pPr algn="just" eaLnBrk="1" hangingPunct="1"/>
            <a:endParaRPr lang="en-US" altLang="en-GB" sz="2600" smtClean="0"/>
          </a:p>
          <a:p>
            <a:pPr algn="just" eaLnBrk="1" hangingPunct="1"/>
            <a:r>
              <a:rPr lang="en-US" altLang="en-GB" sz="2600" smtClean="0"/>
              <a:t>We then go to POP state. The first production we must simulate is S </a:t>
            </a:r>
            <a:r>
              <a:rPr lang="en-US" altLang="en-GB" sz="2600" smtClean="0">
                <a:sym typeface="Wingdings" panose="05000000000000000000" pitchFamily="2" charset="2"/>
              </a:rPr>
              <a:t></a:t>
            </a:r>
            <a:r>
              <a:rPr lang="en-US" altLang="en-GB" sz="2600" smtClean="0"/>
              <a:t> AB. So, we POP S and then PUSH B and PUSH A:</a:t>
            </a:r>
          </a:p>
        </p:txBody>
      </p:sp>
      <p:pic>
        <p:nvPicPr>
          <p:cNvPr id="2355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700" y="1247775"/>
            <a:ext cx="19431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8450" y="2209800"/>
            <a:ext cx="18097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4038600"/>
            <a:ext cx="17240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5603"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DB0155-E388-4806-8422-032BC87AD787}"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25604" name="Rectangle 3"/>
          <p:cNvSpPr>
            <a:spLocks noGrp="1"/>
          </p:cNvSpPr>
          <p:nvPr>
            <p:ph type="body" idx="4294967295"/>
          </p:nvPr>
        </p:nvSpPr>
        <p:spPr>
          <a:xfrm>
            <a:off x="0" y="533400"/>
            <a:ext cx="8229600" cy="5715000"/>
          </a:xfrm>
        </p:spPr>
        <p:txBody>
          <a:bodyPr/>
          <a:lstStyle/>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r>
              <a:rPr lang="en-US" altLang="en-GB" sz="2200" smtClean="0"/>
              <a:t>We go back to POP. We now simulate A </a:t>
            </a:r>
            <a:r>
              <a:rPr lang="en-US" altLang="en-GB" sz="2200" smtClean="0">
                <a:sym typeface="Wingdings" panose="05000000000000000000" pitchFamily="2" charset="2"/>
              </a:rPr>
              <a:t></a:t>
            </a:r>
            <a:r>
              <a:rPr lang="en-US" altLang="en-GB" sz="2200" smtClean="0"/>
              <a:t> CC by popping A and do PUSH C and PUSH C:</a:t>
            </a:r>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r>
              <a:rPr lang="en-US" altLang="en-GB" sz="2200" smtClean="0"/>
              <a:t>Again, we go back to POP. This time, we must simulate C </a:t>
            </a:r>
            <a:r>
              <a:rPr lang="en-US" altLang="en-GB" sz="2200" smtClean="0">
                <a:sym typeface="Wingdings" panose="05000000000000000000" pitchFamily="2" charset="2"/>
              </a:rPr>
              <a:t></a:t>
            </a:r>
            <a:r>
              <a:rPr lang="en-US" altLang="en-GB" sz="2200" smtClean="0"/>
              <a:t> a by popping C and reading a from the TAPE:</a:t>
            </a:r>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r>
              <a:rPr lang="en-US" altLang="en-GB" sz="2200" smtClean="0"/>
              <a:t>We simulate another C </a:t>
            </a:r>
            <a:r>
              <a:rPr lang="en-US" altLang="en-GB" sz="2200" smtClean="0">
                <a:sym typeface="Wingdings" panose="05000000000000000000" pitchFamily="2" charset="2"/>
              </a:rPr>
              <a:t></a:t>
            </a:r>
            <a:r>
              <a:rPr lang="en-US" altLang="en-GB" sz="2200" smtClean="0"/>
              <a:t> a:</a:t>
            </a:r>
          </a:p>
          <a:p>
            <a:pPr algn="just" eaLnBrk="1" hangingPunct="1">
              <a:lnSpc>
                <a:spcPct val="90000"/>
              </a:lnSpc>
            </a:pPr>
            <a:endParaRPr lang="en-US" altLang="en-GB" sz="2200" smtClean="0"/>
          </a:p>
          <a:p>
            <a:pPr algn="just" eaLnBrk="1" hangingPunct="1">
              <a:lnSpc>
                <a:spcPct val="90000"/>
              </a:lnSpc>
            </a:pPr>
            <a:endParaRPr lang="en-US" altLang="en-GB" sz="2200" smtClean="0"/>
          </a:p>
        </p:txBody>
      </p:sp>
      <p:pic>
        <p:nvPicPr>
          <p:cNvPr id="2560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420938"/>
            <a:ext cx="2076450"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4051300"/>
            <a:ext cx="23622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5475" y="5334000"/>
            <a:ext cx="1990725"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765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8A38315-667C-4B56-9DBF-758BD5864A9D}"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7652" name="Rectangle 3"/>
          <p:cNvSpPr>
            <a:spLocks noGrp="1"/>
          </p:cNvSpPr>
          <p:nvPr>
            <p:ph type="body" idx="4294967295"/>
          </p:nvPr>
        </p:nvSpPr>
        <p:spPr>
          <a:xfrm>
            <a:off x="0" y="1481138"/>
            <a:ext cx="8229600" cy="4525962"/>
          </a:xfrm>
        </p:spPr>
        <p:txBody>
          <a:bodyPr/>
          <a:lstStyle/>
          <a:p>
            <a:pPr algn="just" eaLnBrk="1" hangingPunct="1"/>
            <a:r>
              <a:rPr lang="en-US" altLang="en-GB" sz="2200" smtClean="0"/>
              <a:t>We now re-enter the POP state and simulate the last production, B </a:t>
            </a:r>
            <a:r>
              <a:rPr lang="en-US" altLang="en-GB" sz="2200" smtClean="0">
                <a:sym typeface="Wingdings" panose="05000000000000000000" pitchFamily="2" charset="2"/>
              </a:rPr>
              <a:t></a:t>
            </a:r>
            <a:r>
              <a:rPr lang="en-US" altLang="en-GB" sz="2200" smtClean="0"/>
              <a:t> b. We POP B and READ b from the TAPE</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r>
              <a:rPr lang="en-US" altLang="en-GB" sz="2200" smtClean="0"/>
              <a:t>At this point the STACK is empty, and the blank </a:t>
            </a:r>
            <a:r>
              <a:rPr lang="en-US" altLang="en-GB" sz="2200" smtClean="0">
                <a:cs typeface="Arial" panose="020B0604020202020204" pitchFamily="34" charset="0"/>
              </a:rPr>
              <a:t>∆</a:t>
            </a:r>
            <a:r>
              <a:rPr lang="en-US" altLang="en-GB" sz="2200" smtClean="0"/>
              <a:t> is the only thing we can read next from the TAPE.</a:t>
            </a:r>
          </a:p>
          <a:p>
            <a:pPr algn="just" eaLnBrk="1" hangingPunct="1"/>
            <a:r>
              <a:rPr lang="en-US" altLang="en-GB" sz="2200" smtClean="0"/>
              <a:t>Hence, we follow the path</a:t>
            </a:r>
          </a:p>
          <a:p>
            <a:pPr algn="just" eaLnBrk="1" hangingPunct="1">
              <a:buFont typeface="Wingdings" panose="05000000000000000000" pitchFamily="2" charset="2"/>
              <a:buNone/>
            </a:pPr>
            <a:r>
              <a:rPr lang="en-US" altLang="en-GB" sz="2200" smtClean="0"/>
              <a:t>		POP </a:t>
            </a:r>
            <a:r>
              <a:rPr lang="en-US" altLang="en-GB" sz="2200" smtClean="0">
                <a:cs typeface="Arial" panose="020B0604020202020204" pitchFamily="34" charset="0"/>
              </a:rPr>
              <a:t>∆</a:t>
            </a:r>
            <a:r>
              <a:rPr lang="en-US" altLang="en-GB" sz="2200" smtClean="0">
                <a:sym typeface="Wingdings" panose="05000000000000000000" pitchFamily="2" charset="2"/>
              </a:rPr>
              <a:t> READ3 </a:t>
            </a:r>
            <a:r>
              <a:rPr lang="en-US" altLang="en-GB" sz="2200" smtClean="0">
                <a:cs typeface="Arial" panose="020B0604020202020204" pitchFamily="34" charset="0"/>
              </a:rPr>
              <a:t>∆</a:t>
            </a:r>
            <a:r>
              <a:rPr lang="en-US" altLang="en-GB" sz="2200" smtClean="0">
                <a:sym typeface="Wingdings" panose="05000000000000000000" pitchFamily="2" charset="2"/>
              </a:rPr>
              <a:t> ACCEPT</a:t>
            </a:r>
            <a:endParaRPr lang="en-US" altLang="en-GB" sz="2200" smtClean="0"/>
          </a:p>
          <a:p>
            <a:pPr algn="just" eaLnBrk="1" hangingPunct="1"/>
            <a:r>
              <a:rPr lang="en-US" altLang="en-GB" sz="2200" smtClean="0"/>
              <a:t>So, the word </a:t>
            </a:r>
            <a:r>
              <a:rPr lang="en-US" altLang="en-GB" sz="2200" b="1" i="1" smtClean="0"/>
              <a:t>aab</a:t>
            </a:r>
            <a:r>
              <a:rPr lang="en-US" altLang="en-GB" sz="2200" smtClean="0"/>
              <a:t> is accepted by the PDA.</a:t>
            </a:r>
          </a:p>
        </p:txBody>
      </p:sp>
      <p:pic>
        <p:nvPicPr>
          <p:cNvPr id="276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2514600"/>
            <a:ext cx="2057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969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E3AE37F-077C-4CA9-B9B6-AC8C34F3861C}" type="slidenum">
              <a:rPr lang="en-US" altLang="en-US" sz="120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9700"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It should also be clear that if any input string reaches the ACCEPT state in the PDA, that string must have got there by having each of its letters read via simulating the Chomsky production of the form</a:t>
            </a:r>
          </a:p>
          <a:p>
            <a:pPr algn="just" eaLnBrk="1" hangingPunct="1">
              <a:lnSpc>
                <a:spcPct val="80000"/>
              </a:lnSpc>
              <a:buFont typeface="Wingdings" panose="05000000000000000000" pitchFamily="2" charset="2"/>
              <a:buNone/>
            </a:pPr>
            <a:r>
              <a:rPr lang="en-US" altLang="en-GB" sz="2200" smtClean="0"/>
              <a:t>		Nonterminal  </a:t>
            </a:r>
            <a:r>
              <a:rPr lang="en-US" altLang="en-GB" sz="2200" smtClean="0">
                <a:sym typeface="Wingdings" panose="05000000000000000000" pitchFamily="2" charset="2"/>
              </a:rPr>
              <a:t>   </a:t>
            </a:r>
            <a:r>
              <a:rPr lang="en-US" altLang="en-GB" sz="2200" smtClean="0"/>
              <a:t>terminal</a:t>
            </a:r>
          </a:p>
          <a:p>
            <a:pPr algn="just" eaLnBrk="1" hangingPunct="1">
              <a:lnSpc>
                <a:spcPct val="80000"/>
              </a:lnSpc>
            </a:pPr>
            <a:endParaRPr lang="en-US" altLang="en-GB" sz="2200" smtClean="0"/>
          </a:p>
          <a:p>
            <a:pPr algn="just" eaLnBrk="1" hangingPunct="1">
              <a:lnSpc>
                <a:spcPct val="80000"/>
              </a:lnSpc>
            </a:pPr>
            <a:r>
              <a:rPr lang="en-US" altLang="en-GB" sz="2200" smtClean="0"/>
              <a:t>This means that we have necessarily formed a complete leftmost derivation of this word through CFG productions with no nonterminals left over in the STACK. Therefore, every word accepted by this PDA is in the language generated by the CFG.</a:t>
            </a:r>
          </a:p>
          <a:p>
            <a:pPr algn="just" eaLnBrk="1" hangingPunct="1">
              <a:lnSpc>
                <a:spcPct val="80000"/>
              </a:lnSpc>
            </a:pPr>
            <a:endParaRPr lang="en-US" altLang="en-GB" sz="2200" smtClean="0"/>
          </a:p>
          <a:p>
            <a:pPr algn="just" eaLnBrk="1" hangingPunct="1">
              <a:lnSpc>
                <a:spcPct val="80000"/>
              </a:lnSpc>
            </a:pPr>
            <a:r>
              <a:rPr lang="en-US" altLang="en-GB" sz="2200" smtClean="0"/>
              <a:t>We are now ready to present the algorithm to construct a PDA from a given CFG.</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174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89B049-13F4-4517-9F63-7FBE1AA1A18F}" type="slidenum">
              <a:rPr lang="en-US" altLang="en-US" sz="120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31748" name="Rectangle 2"/>
          <p:cNvSpPr>
            <a:spLocks noGrp="1"/>
          </p:cNvSpPr>
          <p:nvPr>
            <p:ph type="title" idx="4294967295"/>
          </p:nvPr>
        </p:nvSpPr>
        <p:spPr>
          <a:xfrm>
            <a:off x="0" y="274638"/>
            <a:ext cx="8229600" cy="1143000"/>
          </a:xfrm>
        </p:spPr>
        <p:txBody>
          <a:bodyPr/>
          <a:lstStyle/>
          <a:p>
            <a:pPr eaLnBrk="1" hangingPunct="1"/>
            <a:r>
              <a:rPr lang="en-US" altLang="en-GB" smtClean="0"/>
              <a:t>Algorithm</a:t>
            </a:r>
          </a:p>
        </p:txBody>
      </p:sp>
      <p:sp>
        <p:nvSpPr>
          <p:cNvPr id="31749" name="Rectangle 3"/>
          <p:cNvSpPr>
            <a:spLocks noGrp="1"/>
          </p:cNvSpPr>
          <p:nvPr>
            <p:ph type="body" idx="4294967295"/>
          </p:nvPr>
        </p:nvSpPr>
        <p:spPr>
          <a:xfrm>
            <a:off x="0" y="1481138"/>
            <a:ext cx="8229600" cy="4525962"/>
          </a:xfrm>
        </p:spPr>
        <p:txBody>
          <a:bodyPr/>
          <a:lstStyle/>
          <a:p>
            <a:pPr eaLnBrk="1" hangingPunct="1">
              <a:buFont typeface="Wingdings" panose="05000000000000000000" pitchFamily="2" charset="2"/>
              <a:buNone/>
            </a:pPr>
            <a:r>
              <a:rPr lang="en-US" altLang="en-GB" sz="2200" smtClean="0"/>
              <a:t>Given a CFG in CNF as follows:</a:t>
            </a:r>
          </a:p>
          <a:p>
            <a:pPr eaLnBrk="1" hangingPunct="1">
              <a:buFont typeface="Wingdings" panose="05000000000000000000" pitchFamily="2" charset="2"/>
              <a:buNone/>
            </a:pPr>
            <a:r>
              <a:rPr lang="en-US" altLang="en-GB" sz="2200" smtClean="0"/>
              <a:t>		X</a:t>
            </a:r>
            <a:r>
              <a:rPr lang="en-US" altLang="en-GB" sz="2200" baseline="-25000" smtClean="0"/>
              <a:t>1</a:t>
            </a:r>
            <a:r>
              <a:rPr lang="en-US" altLang="en-GB" sz="2200" smtClean="0"/>
              <a:t> </a:t>
            </a:r>
            <a:r>
              <a:rPr lang="en-US" altLang="en-GB" sz="2200" smtClean="0">
                <a:sym typeface="Wingdings" panose="05000000000000000000" pitchFamily="2" charset="2"/>
              </a:rPr>
              <a:t></a:t>
            </a:r>
            <a:r>
              <a:rPr lang="en-US" altLang="en-GB" sz="2200" smtClean="0"/>
              <a:t> X</a:t>
            </a:r>
            <a:r>
              <a:rPr lang="en-US" altLang="en-GB" sz="2200" baseline="-25000" smtClean="0"/>
              <a:t>2</a:t>
            </a:r>
            <a:r>
              <a:rPr lang="en-US" altLang="en-GB" sz="2200" smtClean="0"/>
              <a:t>X</a:t>
            </a:r>
            <a:r>
              <a:rPr lang="en-US" altLang="en-GB" sz="2200" baseline="-25000" smtClean="0"/>
              <a:t>3</a:t>
            </a:r>
          </a:p>
          <a:p>
            <a:pPr eaLnBrk="1" hangingPunct="1">
              <a:buFont typeface="Wingdings" panose="05000000000000000000" pitchFamily="2" charset="2"/>
              <a:buNone/>
            </a:pPr>
            <a:r>
              <a:rPr lang="en-US" altLang="en-GB" sz="2200" smtClean="0"/>
              <a:t>		X</a:t>
            </a:r>
            <a:r>
              <a:rPr lang="en-US" altLang="en-GB" sz="2200" baseline="-25000" smtClean="0"/>
              <a:t>1</a:t>
            </a:r>
            <a:r>
              <a:rPr lang="en-US" altLang="en-GB" sz="2200" smtClean="0"/>
              <a:t> </a:t>
            </a:r>
            <a:r>
              <a:rPr lang="en-US" altLang="en-GB" sz="2200" smtClean="0">
                <a:sym typeface="Wingdings" panose="05000000000000000000" pitchFamily="2" charset="2"/>
              </a:rPr>
              <a:t></a:t>
            </a:r>
            <a:r>
              <a:rPr lang="en-US" altLang="en-GB" sz="2200" smtClean="0"/>
              <a:t> X</a:t>
            </a:r>
            <a:r>
              <a:rPr lang="en-US" altLang="en-GB" sz="2200" baseline="-25000" smtClean="0"/>
              <a:t>3</a:t>
            </a:r>
            <a:r>
              <a:rPr lang="en-US" altLang="en-GB" sz="2200" smtClean="0"/>
              <a:t>X</a:t>
            </a:r>
            <a:r>
              <a:rPr lang="en-US" altLang="en-GB" sz="2200" baseline="-25000" smtClean="0"/>
              <a:t>4</a:t>
            </a:r>
          </a:p>
          <a:p>
            <a:pPr eaLnBrk="1" hangingPunct="1">
              <a:buFont typeface="Wingdings" panose="05000000000000000000" pitchFamily="2" charset="2"/>
              <a:buNone/>
            </a:pPr>
            <a:r>
              <a:rPr lang="en-US" altLang="en-GB" sz="2200" smtClean="0"/>
              <a:t>		X</a:t>
            </a:r>
            <a:r>
              <a:rPr lang="en-US" altLang="en-GB" sz="2200" baseline="-25000" smtClean="0"/>
              <a:t>2</a:t>
            </a:r>
            <a:r>
              <a:rPr lang="en-US" altLang="en-GB" sz="2200" smtClean="0"/>
              <a:t> </a:t>
            </a:r>
            <a:r>
              <a:rPr lang="en-US" altLang="en-GB" sz="2200" smtClean="0">
                <a:sym typeface="Wingdings" panose="05000000000000000000" pitchFamily="2" charset="2"/>
              </a:rPr>
              <a:t></a:t>
            </a:r>
            <a:r>
              <a:rPr lang="en-US" altLang="en-GB" sz="2200" smtClean="0"/>
              <a:t> X</a:t>
            </a:r>
            <a:r>
              <a:rPr lang="en-US" altLang="en-GB" sz="2200" baseline="-25000" smtClean="0"/>
              <a:t>2</a:t>
            </a:r>
            <a:r>
              <a:rPr lang="en-US" altLang="en-GB" sz="2200" smtClean="0"/>
              <a:t>X</a:t>
            </a:r>
            <a:r>
              <a:rPr lang="en-US" altLang="en-GB" sz="2200" baseline="-25000" smtClean="0"/>
              <a:t>2</a:t>
            </a:r>
          </a:p>
          <a:p>
            <a:pPr eaLnBrk="1" hangingPunct="1">
              <a:buFont typeface="Wingdings" panose="05000000000000000000" pitchFamily="2" charset="2"/>
              <a:buNone/>
            </a:pPr>
            <a:r>
              <a:rPr lang="en-US" altLang="en-GB" sz="2200" smtClean="0"/>
              <a:t>		…</a:t>
            </a:r>
          </a:p>
          <a:p>
            <a:pPr eaLnBrk="1" hangingPunct="1">
              <a:buFont typeface="Wingdings" panose="05000000000000000000" pitchFamily="2" charset="2"/>
              <a:buNone/>
            </a:pPr>
            <a:r>
              <a:rPr lang="en-US" altLang="en-GB" sz="2200" smtClean="0"/>
              <a:t>		X</a:t>
            </a:r>
            <a:r>
              <a:rPr lang="en-US" altLang="en-GB" sz="2200" baseline="-25000" smtClean="0"/>
              <a:t>3</a:t>
            </a:r>
            <a:r>
              <a:rPr lang="en-US" altLang="en-GB" sz="2200" smtClean="0"/>
              <a:t> </a:t>
            </a:r>
            <a:r>
              <a:rPr lang="en-US" altLang="en-GB" sz="2200" smtClean="0">
                <a:sym typeface="Wingdings" panose="05000000000000000000" pitchFamily="2" charset="2"/>
              </a:rPr>
              <a:t></a:t>
            </a:r>
            <a:r>
              <a:rPr lang="en-US" altLang="en-GB" sz="2200" smtClean="0"/>
              <a:t> a</a:t>
            </a:r>
          </a:p>
          <a:p>
            <a:pPr eaLnBrk="1" hangingPunct="1">
              <a:buFont typeface="Wingdings" panose="05000000000000000000" pitchFamily="2" charset="2"/>
              <a:buNone/>
            </a:pPr>
            <a:r>
              <a:rPr lang="en-US" altLang="en-GB" sz="2200" smtClean="0"/>
              <a:t>		X</a:t>
            </a:r>
            <a:r>
              <a:rPr lang="en-US" altLang="en-GB" sz="2200" baseline="-25000" smtClean="0"/>
              <a:t>4</a:t>
            </a:r>
            <a:r>
              <a:rPr lang="en-US" altLang="en-GB" sz="2200" smtClean="0"/>
              <a:t> </a:t>
            </a:r>
            <a:r>
              <a:rPr lang="en-US" altLang="en-GB" sz="2200" smtClean="0">
                <a:sym typeface="Wingdings" panose="05000000000000000000" pitchFamily="2" charset="2"/>
              </a:rPr>
              <a:t></a:t>
            </a:r>
            <a:r>
              <a:rPr lang="en-US" altLang="en-GB" sz="2200" smtClean="0"/>
              <a:t> a</a:t>
            </a:r>
          </a:p>
          <a:p>
            <a:pPr eaLnBrk="1" hangingPunct="1">
              <a:buFont typeface="Wingdings" panose="05000000000000000000" pitchFamily="2" charset="2"/>
              <a:buNone/>
            </a:pPr>
            <a:r>
              <a:rPr lang="en-US" altLang="en-GB" sz="2200" smtClean="0"/>
              <a:t>		X</a:t>
            </a:r>
            <a:r>
              <a:rPr lang="en-US" altLang="en-GB" sz="2200" baseline="-25000" smtClean="0"/>
              <a:t>5</a:t>
            </a:r>
            <a:r>
              <a:rPr lang="en-US" altLang="en-GB" sz="2200" smtClean="0"/>
              <a:t> </a:t>
            </a:r>
            <a:r>
              <a:rPr lang="en-US" altLang="en-GB" sz="2200" smtClean="0">
                <a:sym typeface="Wingdings" panose="05000000000000000000" pitchFamily="2" charset="2"/>
              </a:rPr>
              <a:t></a:t>
            </a:r>
            <a:r>
              <a:rPr lang="en-US" altLang="en-GB" sz="2200" smtClean="0"/>
              <a:t> b</a:t>
            </a:r>
          </a:p>
          <a:p>
            <a:pPr eaLnBrk="1" hangingPunct="1">
              <a:buFont typeface="Wingdings" panose="05000000000000000000" pitchFamily="2" charset="2"/>
              <a:buNone/>
            </a:pPr>
            <a:r>
              <a:rPr lang="en-US" altLang="en-GB" sz="2200" smtClean="0"/>
              <a:t>		…</a:t>
            </a:r>
          </a:p>
          <a:p>
            <a:pPr eaLnBrk="1" hangingPunct="1">
              <a:buFont typeface="Wingdings" panose="05000000000000000000" pitchFamily="2" charset="2"/>
              <a:buNone/>
            </a:pPr>
            <a:r>
              <a:rPr lang="en-US" altLang="en-GB" sz="2200" smtClean="0"/>
              <a:t>where the start symbol S = X</a:t>
            </a:r>
            <a:r>
              <a:rPr lang="en-US" altLang="en-GB" sz="2200" baseline="-25000" smtClean="0"/>
              <a:t>1</a:t>
            </a:r>
            <a:r>
              <a:rPr lang="en-US" altLang="en-GB" sz="2200" smtClean="0"/>
              <a:t> and the other non-terminals are X</a:t>
            </a:r>
            <a:r>
              <a:rPr lang="en-US" altLang="en-GB" sz="2200" baseline="-25000" smtClean="0"/>
              <a:t>2</a:t>
            </a:r>
            <a:r>
              <a:rPr lang="en-US" altLang="en-GB" sz="2200" smtClean="0"/>
              <a:t>, X</a:t>
            </a:r>
            <a:r>
              <a:rPr lang="en-US" altLang="en-GB" sz="2200" baseline="-25000" smtClean="0"/>
              <a:t>3</a:t>
            </a:r>
            <a:r>
              <a:rPr lang="en-US" altLang="en-GB" sz="2200" smtClean="0"/>
              <a:t>,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379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D5CA4A-EFBA-4498-9E0A-E24FDAD32EE7}" type="slidenum">
              <a:rPr lang="en-US" altLang="en-US" sz="120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33796"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33797" name="Rectangle 3"/>
          <p:cNvSpPr>
            <a:spLocks noGrp="1"/>
          </p:cNvSpPr>
          <p:nvPr>
            <p:ph type="body" idx="4294967295"/>
          </p:nvPr>
        </p:nvSpPr>
        <p:spPr>
          <a:xfrm>
            <a:off x="0" y="1481138"/>
            <a:ext cx="8229600" cy="4525962"/>
          </a:xfrm>
        </p:spPr>
        <p:txBody>
          <a:bodyPr/>
          <a:lstStyle/>
          <a:p>
            <a:pPr algn="just" eaLnBrk="1" hangingPunct="1"/>
            <a:r>
              <a:rPr lang="en-US" altLang="en-GB" sz="2600" smtClean="0"/>
              <a:t>We build the corresponding PDA as follows:</a:t>
            </a:r>
          </a:p>
          <a:p>
            <a:pPr algn="just" eaLnBrk="1" hangingPunct="1">
              <a:buFont typeface="Wingdings" panose="05000000000000000000" pitchFamily="2" charset="2"/>
              <a:buNone/>
            </a:pPr>
            <a:r>
              <a:rPr lang="en-US" altLang="en-GB" sz="2600" smtClean="0"/>
              <a:t>	We begin with</a:t>
            </a:r>
          </a:p>
          <a:p>
            <a:pPr algn="just" eaLnBrk="1" hangingPunct="1"/>
            <a:endParaRPr lang="en-US" altLang="en-GB" sz="2600" smtClean="0"/>
          </a:p>
        </p:txBody>
      </p:sp>
      <p:pic>
        <p:nvPicPr>
          <p:cNvPr id="3379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048000"/>
            <a:ext cx="35814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584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6218B5F-BBC8-4261-A06C-601B483BC01C}" type="slidenum">
              <a:rPr lang="en-US" altLang="en-US" sz="120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35844"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35845" name="Rectangle 3"/>
          <p:cNvSpPr>
            <a:spLocks noGrp="1"/>
          </p:cNvSpPr>
          <p:nvPr>
            <p:ph type="body" idx="4294967295"/>
          </p:nvPr>
        </p:nvSpPr>
        <p:spPr>
          <a:xfrm>
            <a:off x="0" y="1481138"/>
            <a:ext cx="8229600" cy="4525962"/>
          </a:xfrm>
        </p:spPr>
        <p:txBody>
          <a:bodyPr/>
          <a:lstStyle/>
          <a:p>
            <a:pPr algn="just" eaLnBrk="1" hangingPunct="1"/>
            <a:r>
              <a:rPr lang="en-US" altLang="en-GB" sz="2600" smtClean="0"/>
              <a:t>For each production of the form</a:t>
            </a:r>
          </a:p>
          <a:p>
            <a:pPr algn="just" eaLnBrk="1" hangingPunct="1">
              <a:buFont typeface="Wingdings" panose="05000000000000000000" pitchFamily="2" charset="2"/>
              <a:buNone/>
            </a:pPr>
            <a:r>
              <a:rPr lang="en-US" altLang="en-GB" sz="2600" smtClean="0"/>
              <a:t>		X</a:t>
            </a:r>
            <a:r>
              <a:rPr lang="en-US" altLang="en-GB" sz="2600" baseline="-25000" smtClean="0"/>
              <a:t>i</a:t>
            </a:r>
            <a:r>
              <a:rPr lang="en-US" altLang="en-GB" sz="2600" smtClean="0"/>
              <a:t> </a:t>
            </a:r>
            <a:r>
              <a:rPr lang="en-US" altLang="en-GB" sz="2600" smtClean="0">
                <a:sym typeface="Wingdings" panose="05000000000000000000" pitchFamily="2" charset="2"/>
              </a:rPr>
              <a:t></a:t>
            </a:r>
            <a:r>
              <a:rPr lang="en-US" altLang="en-GB" sz="2600" smtClean="0"/>
              <a:t> X</a:t>
            </a:r>
            <a:r>
              <a:rPr lang="en-US" altLang="en-GB" sz="2600" baseline="-25000" smtClean="0"/>
              <a:t>j</a:t>
            </a:r>
            <a:r>
              <a:rPr lang="en-US" altLang="en-GB" sz="2600" smtClean="0"/>
              <a:t>X</a:t>
            </a:r>
            <a:r>
              <a:rPr lang="en-US" altLang="en-GB" sz="2600" baseline="-25000" smtClean="0"/>
              <a:t>k</a:t>
            </a:r>
          </a:p>
          <a:p>
            <a:pPr algn="just" eaLnBrk="1" hangingPunct="1"/>
            <a:r>
              <a:rPr lang="en-US" altLang="en-GB" sz="2600" smtClean="0"/>
              <a:t> We include this circuit from the POP state back to itself:</a:t>
            </a:r>
          </a:p>
          <a:p>
            <a:pPr algn="just" eaLnBrk="1" hangingPunct="1"/>
            <a:endParaRPr lang="en-US" altLang="en-GB" sz="2600" smtClean="0"/>
          </a:p>
        </p:txBody>
      </p:sp>
      <p:pic>
        <p:nvPicPr>
          <p:cNvPr id="358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352800"/>
            <a:ext cx="170338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789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6EBBF50-0E19-42DD-9389-D647583C23F5}" type="slidenum">
              <a:rPr lang="en-US" altLang="en-US" sz="120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37892"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37893" name="Rectangle 3"/>
          <p:cNvSpPr>
            <a:spLocks noGrp="1"/>
          </p:cNvSpPr>
          <p:nvPr>
            <p:ph type="body" idx="4294967295"/>
          </p:nvPr>
        </p:nvSpPr>
        <p:spPr>
          <a:xfrm>
            <a:off x="0" y="1481138"/>
            <a:ext cx="8229600" cy="4525962"/>
          </a:xfrm>
        </p:spPr>
        <p:txBody>
          <a:bodyPr/>
          <a:lstStyle/>
          <a:p>
            <a:pPr algn="just" eaLnBrk="1" hangingPunct="1"/>
            <a:r>
              <a:rPr lang="en-US" altLang="en-GB" sz="2600" smtClean="0"/>
              <a:t>For each production of the form</a:t>
            </a:r>
          </a:p>
          <a:p>
            <a:pPr algn="just" eaLnBrk="1" hangingPunct="1">
              <a:buFont typeface="Wingdings" panose="05000000000000000000" pitchFamily="2" charset="2"/>
              <a:buNone/>
            </a:pPr>
            <a:r>
              <a:rPr lang="en-US" altLang="en-GB" sz="2600" smtClean="0"/>
              <a:t>		X</a:t>
            </a:r>
            <a:r>
              <a:rPr lang="en-US" altLang="en-GB" sz="2600" baseline="-25000" smtClean="0"/>
              <a:t>i</a:t>
            </a:r>
            <a:r>
              <a:rPr lang="en-US" altLang="en-GB" sz="2600" smtClean="0"/>
              <a:t> </a:t>
            </a:r>
            <a:r>
              <a:rPr lang="en-US" altLang="en-GB" sz="2600" smtClean="0">
                <a:sym typeface="Wingdings" panose="05000000000000000000" pitchFamily="2" charset="2"/>
              </a:rPr>
              <a:t></a:t>
            </a:r>
            <a:r>
              <a:rPr lang="en-US" altLang="en-GB" sz="2600" smtClean="0"/>
              <a:t> b</a:t>
            </a:r>
          </a:p>
          <a:p>
            <a:pPr algn="just" eaLnBrk="1" hangingPunct="1"/>
            <a:r>
              <a:rPr lang="en-US" altLang="en-GB" sz="2600" smtClean="0"/>
              <a:t>We include this circuit:</a:t>
            </a:r>
          </a:p>
          <a:p>
            <a:pPr algn="just" eaLnBrk="1" hangingPunct="1"/>
            <a:endParaRPr lang="en-US" altLang="en-GB" sz="2600" smtClean="0"/>
          </a:p>
        </p:txBody>
      </p:sp>
      <p:pic>
        <p:nvPicPr>
          <p:cNvPr id="378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357563"/>
            <a:ext cx="4267200"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993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FE339F0-7937-4C2D-88CA-5BB6A64FC398}" type="slidenum">
              <a:rPr lang="en-US" altLang="en-US" sz="120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39940"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39941" name="Rectangle 3"/>
          <p:cNvSpPr>
            <a:spLocks noGrp="1"/>
          </p:cNvSpPr>
          <p:nvPr>
            <p:ph type="body" idx="4294967295"/>
          </p:nvPr>
        </p:nvSpPr>
        <p:spPr>
          <a:xfrm>
            <a:off x="0" y="1481138"/>
            <a:ext cx="8229600" cy="4525962"/>
          </a:xfrm>
        </p:spPr>
        <p:txBody>
          <a:bodyPr/>
          <a:lstStyle/>
          <a:p>
            <a:pPr algn="just" eaLnBrk="1" hangingPunct="1"/>
            <a:r>
              <a:rPr lang="en-US" altLang="en-GB" sz="2600" smtClean="0"/>
              <a:t>When the STACK is empty, which means that we have converted our last non-terminal to a terminal and the terminals have matched the INPUT TAPE, we add this path:</a:t>
            </a:r>
          </a:p>
          <a:p>
            <a:pPr algn="just" eaLnBrk="1" hangingPunct="1"/>
            <a:endParaRPr lang="en-US" altLang="en-GB" sz="2600" smtClean="0"/>
          </a:p>
        </p:txBody>
      </p:sp>
      <p:pic>
        <p:nvPicPr>
          <p:cNvPr id="399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505200"/>
            <a:ext cx="6096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198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7DDFB2-CB20-4F12-A4FF-9AF058486136}" type="slidenum">
              <a:rPr lang="en-US" altLang="en-US" sz="120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sp>
        <p:nvSpPr>
          <p:cNvPr id="41988"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41989" name="Rectangle 3"/>
          <p:cNvSpPr>
            <a:spLocks noGrp="1"/>
          </p:cNvSpPr>
          <p:nvPr>
            <p:ph type="body" idx="4294967295"/>
          </p:nvPr>
        </p:nvSpPr>
        <p:spPr>
          <a:xfrm>
            <a:off x="0" y="1481138"/>
            <a:ext cx="8229600" cy="4525962"/>
          </a:xfrm>
        </p:spPr>
        <p:txBody>
          <a:bodyPr/>
          <a:lstStyle/>
          <a:p>
            <a:pPr algn="just" eaLnBrk="1" hangingPunct="1"/>
            <a:r>
              <a:rPr lang="en-US" altLang="en-GB" sz="2600" smtClean="0"/>
              <a:t>From the reasons and example above, we know that all words generated by the given CFG will be accepted by the PDA, and all words accepted by this PDA will have leftmost derivations in the given CFG.</a:t>
            </a:r>
          </a:p>
          <a:p>
            <a:pPr algn="just" eaLnBrk="1" hangingPunct="1"/>
            <a:endParaRPr lang="en-US" altLang="en-GB" sz="2600" smtClean="0"/>
          </a:p>
          <a:p>
            <a:pPr algn="just" eaLnBrk="1" hangingPunct="1"/>
            <a:r>
              <a:rPr lang="en-US" altLang="en-GB" sz="2600" smtClean="0"/>
              <a:t>At the beginning we assumed that the CFG was in CNF. But there are some CFLs that cannot be put into CNF. These are the languages that include the word </a:t>
            </a:r>
            <a:r>
              <a:rPr lang="el-GR" altLang="en-GB" sz="2600" smtClean="0">
                <a:cs typeface="Arial" panose="020B0604020202020204" pitchFamily="34" charset="0"/>
              </a:rPr>
              <a:t>λ</a:t>
            </a:r>
            <a:r>
              <a:rPr lang="en-US" altLang="en-GB" sz="2600" smtClean="0"/>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403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1421920-2536-4A47-91B2-017BDF0EE521}"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44036" name="Rectangle 2"/>
          <p:cNvSpPr>
            <a:spLocks noGrp="1"/>
          </p:cNvSpPr>
          <p:nvPr>
            <p:ph type="title" idx="4294967295"/>
          </p:nvPr>
        </p:nvSpPr>
        <p:spPr>
          <a:xfrm>
            <a:off x="0" y="274638"/>
            <a:ext cx="8229600" cy="1143000"/>
          </a:xfrm>
        </p:spPr>
        <p:txBody>
          <a:bodyPr/>
          <a:lstStyle/>
          <a:p>
            <a:pPr eaLnBrk="1" hangingPunct="1"/>
            <a:r>
              <a:rPr lang="en-US" altLang="en-GB" smtClean="0"/>
              <a:t>Algorithm contd.</a:t>
            </a:r>
          </a:p>
        </p:txBody>
      </p:sp>
      <p:sp>
        <p:nvSpPr>
          <p:cNvPr id="44037" name="Rectangle 3"/>
          <p:cNvSpPr>
            <a:spLocks noGrp="1"/>
          </p:cNvSpPr>
          <p:nvPr>
            <p:ph type="body" idx="4294967295"/>
          </p:nvPr>
        </p:nvSpPr>
        <p:spPr>
          <a:xfrm>
            <a:off x="0" y="1481138"/>
            <a:ext cx="8229600" cy="4525962"/>
          </a:xfrm>
        </p:spPr>
        <p:txBody>
          <a:bodyPr/>
          <a:lstStyle/>
          <a:p>
            <a:pPr algn="just" eaLnBrk="1" hangingPunct="1"/>
            <a:r>
              <a:rPr lang="en-US" altLang="en-GB" sz="2200" smtClean="0"/>
              <a:t>In this case, we can convert all productions into CNF and construct the PDA as described above. In addition, we must also include </a:t>
            </a:r>
            <a:r>
              <a:rPr lang="el-GR" altLang="en-GB" sz="2200" smtClean="0">
                <a:cs typeface="Arial" panose="020B0604020202020204" pitchFamily="34" charset="0"/>
              </a:rPr>
              <a:t>λ</a:t>
            </a:r>
            <a:r>
              <a:rPr lang="en-US" altLang="en-GB" sz="2200" smtClean="0"/>
              <a:t>. This can be done by adding a simple circuit at the POP:</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r>
              <a:rPr lang="en-US" altLang="en-GB" sz="2200" smtClean="0"/>
              <a:t>This kills the non-terminal S without replacing it with anything. So, the next time we enter the POP, we get a blank and can proceed to accept the word.</a:t>
            </a:r>
          </a:p>
        </p:txBody>
      </p:sp>
      <p:pic>
        <p:nvPicPr>
          <p:cNvPr id="440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917825"/>
            <a:ext cx="2819400"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608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8A80842-D24D-44FA-8B4D-630D12A95CC5}"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46084"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sp>
        <p:nvSpPr>
          <p:cNvPr id="46085"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600" smtClean="0"/>
              <a:t>The language PALINDROME (including </a:t>
            </a:r>
            <a:r>
              <a:rPr lang="el-GR" altLang="en-GB" sz="2600" smtClean="0">
                <a:cs typeface="Arial" panose="020B0604020202020204" pitchFamily="34" charset="0"/>
              </a:rPr>
              <a:t>λ</a:t>
            </a:r>
            <a:r>
              <a:rPr lang="en-US" altLang="en-GB" sz="2600" smtClean="0"/>
              <a:t>) can be generated by the following CFG in CNF (plus one </a:t>
            </a:r>
            <a:r>
              <a:rPr lang="el-GR" altLang="en-GB" sz="2600" smtClean="0">
                <a:cs typeface="Arial" panose="020B0604020202020204" pitchFamily="34" charset="0"/>
              </a:rPr>
              <a:t>λ</a:t>
            </a:r>
            <a:r>
              <a:rPr lang="en-US" altLang="en-GB" sz="2600" smtClean="0"/>
              <a:t>-production):</a:t>
            </a:r>
          </a:p>
          <a:p>
            <a:pPr algn="just" eaLnBrk="1" hangingPunct="1">
              <a:lnSpc>
                <a:spcPct val="90000"/>
              </a:lnSpc>
              <a:buFont typeface="Wingdings" panose="05000000000000000000" pitchFamily="2" charset="2"/>
              <a:buNone/>
            </a:pPr>
            <a:r>
              <a:rPr lang="en-US" altLang="en-GB" sz="2600" smtClean="0"/>
              <a:t>		S </a:t>
            </a:r>
            <a:r>
              <a:rPr lang="en-US" altLang="en-GB" sz="2600" smtClean="0">
                <a:sym typeface="Wingdings" panose="05000000000000000000" pitchFamily="2" charset="2"/>
              </a:rPr>
              <a:t></a:t>
            </a:r>
            <a:r>
              <a:rPr lang="en-US" altLang="en-GB" sz="2600" smtClean="0"/>
              <a:t> AR</a:t>
            </a:r>
            <a:r>
              <a:rPr lang="en-US" altLang="en-GB" sz="2600" baseline="-25000" smtClean="0"/>
              <a:t>1</a:t>
            </a:r>
            <a:r>
              <a:rPr lang="en-US" altLang="en-GB" sz="2600" smtClean="0"/>
              <a:t> | BR</a:t>
            </a:r>
            <a:r>
              <a:rPr lang="en-US" altLang="en-GB" sz="2600" baseline="-25000" smtClean="0"/>
              <a:t>2</a:t>
            </a:r>
            <a:r>
              <a:rPr lang="en-US" altLang="en-GB" sz="2600" smtClean="0"/>
              <a:t> | AA | BB | a | b| </a:t>
            </a:r>
            <a:r>
              <a:rPr lang="el-GR" altLang="en-GB" sz="2600" smtClean="0">
                <a:cs typeface="Arial" panose="020B0604020202020204" pitchFamily="34" charset="0"/>
              </a:rPr>
              <a:t>λ</a:t>
            </a:r>
            <a:endParaRPr lang="en-US" altLang="en-GB" sz="2600" smtClean="0"/>
          </a:p>
          <a:p>
            <a:pPr algn="just" eaLnBrk="1" hangingPunct="1">
              <a:lnSpc>
                <a:spcPct val="90000"/>
              </a:lnSpc>
              <a:buFont typeface="Wingdings" panose="05000000000000000000" pitchFamily="2" charset="2"/>
              <a:buNone/>
            </a:pPr>
            <a:r>
              <a:rPr lang="en-US" altLang="en-GB" sz="2600" smtClean="0"/>
              <a:t>		R</a:t>
            </a:r>
            <a:r>
              <a:rPr lang="en-US" altLang="en-GB" sz="2600" baseline="-25000" smtClean="0"/>
              <a:t>1</a:t>
            </a:r>
            <a:r>
              <a:rPr lang="en-US" altLang="en-GB" sz="2600" smtClean="0"/>
              <a:t> </a:t>
            </a:r>
            <a:r>
              <a:rPr lang="en-US" altLang="en-GB" sz="2600" smtClean="0">
                <a:sym typeface="Wingdings" panose="05000000000000000000" pitchFamily="2" charset="2"/>
              </a:rPr>
              <a:t></a:t>
            </a:r>
            <a:r>
              <a:rPr lang="en-US" altLang="en-GB" sz="2600" smtClean="0"/>
              <a:t> SA</a:t>
            </a:r>
          </a:p>
          <a:p>
            <a:pPr algn="just" eaLnBrk="1" hangingPunct="1">
              <a:lnSpc>
                <a:spcPct val="90000"/>
              </a:lnSpc>
              <a:buFont typeface="Wingdings" panose="05000000000000000000" pitchFamily="2" charset="2"/>
              <a:buNone/>
            </a:pPr>
            <a:r>
              <a:rPr lang="en-US" altLang="en-GB" sz="2600" smtClean="0"/>
              <a:t>		R</a:t>
            </a:r>
            <a:r>
              <a:rPr lang="en-US" altLang="en-GB" sz="2600" baseline="-25000" smtClean="0"/>
              <a:t>2</a:t>
            </a:r>
            <a:r>
              <a:rPr lang="en-US" altLang="en-GB" sz="2600" smtClean="0"/>
              <a:t> </a:t>
            </a:r>
            <a:r>
              <a:rPr lang="en-US" altLang="en-GB" sz="2600" smtClean="0">
                <a:sym typeface="Wingdings" panose="05000000000000000000" pitchFamily="2" charset="2"/>
              </a:rPr>
              <a:t></a:t>
            </a:r>
            <a:r>
              <a:rPr lang="en-US" altLang="en-GB" sz="2600" smtClean="0"/>
              <a:t> SB</a:t>
            </a:r>
          </a:p>
          <a:p>
            <a:pPr algn="just" eaLnBrk="1" hangingPunct="1">
              <a:lnSpc>
                <a:spcPct val="90000"/>
              </a:lnSpc>
              <a:buFont typeface="Wingdings" panose="05000000000000000000" pitchFamily="2" charset="2"/>
              <a:buNone/>
            </a:pPr>
            <a:r>
              <a:rPr lang="en-US" altLang="en-GB" sz="2600" smtClean="0"/>
              <a:t>		A </a:t>
            </a:r>
            <a:r>
              <a:rPr lang="en-US" altLang="en-GB" sz="2600" smtClean="0">
                <a:sym typeface="Wingdings" panose="05000000000000000000" pitchFamily="2" charset="2"/>
              </a:rPr>
              <a:t></a:t>
            </a:r>
            <a:r>
              <a:rPr lang="en-US" altLang="en-GB" sz="2600" smtClean="0"/>
              <a:t> a</a:t>
            </a:r>
          </a:p>
          <a:p>
            <a:pPr algn="just" eaLnBrk="1" hangingPunct="1">
              <a:lnSpc>
                <a:spcPct val="90000"/>
              </a:lnSpc>
              <a:buFont typeface="Wingdings" panose="05000000000000000000" pitchFamily="2" charset="2"/>
              <a:buNone/>
            </a:pPr>
            <a:r>
              <a:rPr lang="en-US" altLang="en-GB" sz="2600" smtClean="0"/>
              <a:t>		B </a:t>
            </a:r>
            <a:r>
              <a:rPr lang="en-US" altLang="en-GB" sz="2600" smtClean="0">
                <a:sym typeface="Wingdings" panose="05000000000000000000" pitchFamily="2" charset="2"/>
              </a:rPr>
              <a:t></a:t>
            </a:r>
            <a:r>
              <a:rPr lang="en-US" altLang="en-GB" sz="2600" smtClean="0"/>
              <a:t> b</a:t>
            </a:r>
          </a:p>
          <a:p>
            <a:pPr algn="just" eaLnBrk="1" hangingPunct="1">
              <a:lnSpc>
                <a:spcPct val="90000"/>
              </a:lnSpc>
            </a:pPr>
            <a:r>
              <a:rPr lang="en-US" altLang="en-GB" sz="2600" smtClean="0"/>
              <a:t>Using the algorithm above, we build the following PDA that accepts exactly the same language: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813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6989A91-352F-40B9-8830-7021781F7C5C}"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pic>
        <p:nvPicPr>
          <p:cNvPr id="481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763"/>
            <a:ext cx="8229600" cy="624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017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801DA3E-FA48-4608-A969-CC55F523806F}"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50180" name="Rectangle 3"/>
          <p:cNvSpPr>
            <a:spLocks noGrp="1"/>
          </p:cNvSpPr>
          <p:nvPr>
            <p:ph type="body" idx="4294967295"/>
          </p:nvPr>
        </p:nvSpPr>
        <p:spPr>
          <a:xfrm>
            <a:off x="0" y="1481138"/>
            <a:ext cx="8229600" cy="4525962"/>
          </a:xfrm>
        </p:spPr>
        <p:txBody>
          <a:bodyPr/>
          <a:lstStyle/>
          <a:p>
            <a:pPr algn="just" eaLnBrk="1" hangingPunct="1"/>
            <a:endParaRPr lang="en-US" altLang="en-GB" sz="2600" smtClean="0"/>
          </a:p>
          <a:p>
            <a:pPr algn="just" eaLnBrk="1" hangingPunct="1"/>
            <a:r>
              <a:rPr lang="en-US" altLang="en-GB" sz="2600" smtClean="0"/>
              <a:t>Theorems 30 and 31 together prove that </a:t>
            </a:r>
            <a:r>
              <a:rPr lang="en-US" altLang="en-GB" sz="2600" b="1" smtClean="0"/>
              <a:t>the set of all languages accepted by PDAs is the same as the set of all languages generated by CFGs.</a:t>
            </a:r>
            <a:endParaRPr lang="en-US" altLang="en-GB" sz="2600" smtClean="0"/>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222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081098-FFB8-4D15-AA48-DEBC6B0C4859}"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2228" name="TextBox 3"/>
          <p:cNvSpPr txBox="1">
            <a:spLocks noChangeArrowheads="1"/>
          </p:cNvSpPr>
          <p:nvPr/>
        </p:nvSpPr>
        <p:spPr bwMode="auto">
          <a:xfrm>
            <a:off x="609600" y="2590800"/>
            <a:ext cx="7620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rPr>
              <a:t>CFL are closed under union and closure</a:t>
            </a:r>
          </a:p>
          <a:p>
            <a:pPr>
              <a:spcBef>
                <a:spcPct val="0"/>
              </a:spcBef>
              <a:buFontTx/>
              <a:buNone/>
            </a:pPr>
            <a:r>
              <a:rPr lang="en-US" altLang="en-GB" sz="1800">
                <a:latin typeface="Arial" panose="020B0604020202020204" pitchFamily="34" charset="0"/>
              </a:rPr>
              <a:t>CFL are not closed under intersection and complement</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7669</TotalTime>
  <Words>941</Words>
  <Application>Microsoft Office PowerPoint</Application>
  <PresentationFormat>On-screen Show (4:3)</PresentationFormat>
  <Paragraphs>200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Wingdings</vt:lpstr>
      <vt:lpstr>Office Theme</vt:lpstr>
      <vt:lpstr>Theory of Automata  CFG = PDA</vt:lpstr>
      <vt:lpstr>Contents</vt:lpstr>
      <vt:lpstr>CFG = PDA</vt:lpstr>
      <vt:lpstr>Theorem 30 and 31</vt:lpstr>
      <vt:lpstr>Proof of Theorem 30</vt:lpstr>
      <vt:lpstr>Example</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Algorithm</vt:lpstr>
      <vt:lpstr>Algorithm (contd.)</vt:lpstr>
      <vt:lpstr>Algorithm (contd.)</vt:lpstr>
      <vt:lpstr>Algorithm (contd.)</vt:lpstr>
      <vt:lpstr>Algorithm (contd.)</vt:lpstr>
      <vt:lpstr>Algorithm contd.</vt:lpstr>
      <vt:lpstr>Algorithm contd.</vt:lpstr>
      <vt:lpstr>Example</vt:lpstr>
      <vt:lpstr>PowerPoint Presentation</vt:lpstr>
      <vt:lpstr>PowerPoint Presentation</vt:lpstr>
      <vt:lpstr>PowerPoint Presentation</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173</cp:revision>
  <dcterms:created xsi:type="dcterms:W3CDTF">2011-08-06T09:27:24Z</dcterms:created>
  <dcterms:modified xsi:type="dcterms:W3CDTF">2025-07-28T10:26:57Z</dcterms:modified>
</cp:coreProperties>
</file>