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9" r:id="rId1"/>
  </p:sldMasterIdLst>
  <p:notesMasterIdLst>
    <p:notesMasterId r:id="rId15"/>
  </p:notesMasterIdLst>
  <p:sldIdLst>
    <p:sldId id="258" r:id="rId2"/>
    <p:sldId id="260" r:id="rId3"/>
    <p:sldId id="261" r:id="rId4"/>
    <p:sldId id="262" r:id="rId5"/>
    <p:sldId id="263" r:id="rId6"/>
    <p:sldId id="264" r:id="rId7"/>
    <p:sldId id="265" r:id="rId8"/>
    <p:sldId id="266" r:id="rId9"/>
    <p:sldId id="267" r:id="rId10"/>
    <p:sldId id="268" r:id="rId11"/>
    <p:sldId id="269" r:id="rId12"/>
    <p:sldId id="270" r:id="rId13"/>
    <p:sldId id="271" r:id="rId1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4576" autoAdjust="0"/>
  </p:normalViewPr>
  <p:slideViewPr>
    <p:cSldViewPr>
      <p:cViewPr varScale="1">
        <p:scale>
          <a:sx n="106" d="100"/>
          <a:sy n="106" d="100"/>
        </p:scale>
        <p:origin x="245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99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33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33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62E42DBD-5E83-4143-A414-311EF20DAFE1}" type="slidenum">
              <a:rPr lang="en-US" altLang="en-GB"/>
              <a:pPr/>
              <a:t>‹#›</a:t>
            </a:fld>
            <a:endParaRPr lang="en-US" altLang="en-GB"/>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ChangeArrowheads="1" noTextEdit="1"/>
          </p:cNvSpPr>
          <p:nvPr>
            <p:ph type="sldImg"/>
          </p:nvPr>
        </p:nvSpPr>
        <p:spPr>
          <a:ln/>
        </p:spPr>
      </p:sp>
      <p:sp>
        <p:nvSpPr>
          <p:cNvPr id="40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1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30C2EBE-E96B-413D-85C7-B1D6E93961EE}" type="slidenum">
              <a:rPr lang="en-US" altLang="en-GB"/>
              <a:pPr/>
              <a:t>1</a:t>
            </a:fld>
            <a:endParaRPr lang="en-US" alt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ChangeArrowheads="1" noTextEdit="1"/>
          </p:cNvSpPr>
          <p:nvPr>
            <p:ph type="sldImg"/>
          </p:nvPr>
        </p:nvSpPr>
        <p:spPr>
          <a:ln/>
        </p:spPr>
      </p:sp>
      <p:sp>
        <p:nvSpPr>
          <p:cNvPr id="61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1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727772E-C55D-4CA7-BDA7-15EDFADDAACD}" type="slidenum">
              <a:rPr lang="en-US" altLang="en-GB"/>
              <a:pPr/>
              <a:t>2</a:t>
            </a:fld>
            <a:endParaRPr lang="en-US" alt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ChangeArrowheads="1" noTextEdit="1"/>
          </p:cNvSpPr>
          <p:nvPr>
            <p:ph type="sldImg"/>
          </p:nvPr>
        </p:nvSpPr>
        <p:spPr>
          <a:ln/>
        </p:spPr>
      </p:sp>
      <p:sp>
        <p:nvSpPr>
          <p:cNvPr id="8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8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6049621-6327-4548-B5F2-C5024AEF714E}" type="slidenum">
              <a:rPr lang="en-US" altLang="en-GB"/>
              <a:pPr/>
              <a:t>3</a:t>
            </a:fld>
            <a:endParaRPr lang="en-US" alt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ChangeArrowheads="1" noTextEdit="1"/>
          </p:cNvSpPr>
          <p:nvPr>
            <p:ph type="sldImg"/>
          </p:nvPr>
        </p:nvSpPr>
        <p:spPr>
          <a:ln/>
        </p:spPr>
      </p:sp>
      <p:sp>
        <p:nvSpPr>
          <p:cNvPr id="10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37A460-B97E-4421-A478-155748091BCD}" type="slidenum">
              <a:rPr lang="en-US" altLang="en-GB"/>
              <a:pPr/>
              <a:t>4</a:t>
            </a:fld>
            <a:endParaRPr lang="en-US" alt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ChangeArrowheads="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CFFEF9A-8842-454F-BA15-0209B3714C12}" type="slidenum">
              <a:rPr lang="en-US" altLang="en-GB"/>
              <a:pPr/>
              <a:t>5</a:t>
            </a:fld>
            <a:endParaRPr lang="en-US" alt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ChangeArrowheads="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C6B8DD7-902A-4556-A1F8-3EC13AC5156E}" type="slidenum">
              <a:rPr lang="en-US" altLang="en-GB"/>
              <a:pPr/>
              <a:t>6</a:t>
            </a:fld>
            <a:endParaRPr lang="en-US" alt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ChangeArrowheads="1" noTextEdit="1"/>
          </p:cNvSpPr>
          <p:nvPr>
            <p:ph type="sldImg"/>
          </p:nvPr>
        </p:nvSpPr>
        <p:spPr>
          <a:ln/>
        </p:spPr>
      </p:sp>
      <p:sp>
        <p:nvSpPr>
          <p:cNvPr id="163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63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4101776-D1A6-4564-B189-E742826569A9}" type="slidenum">
              <a:rPr lang="en-US" altLang="en-GB"/>
              <a:pPr/>
              <a:t>7</a:t>
            </a:fld>
            <a:endParaRPr lang="en-US" alt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ChangeArrowheads="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8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45D40F6-7A6C-4ADF-BABD-4285593F5CAC}" type="slidenum">
              <a:rPr lang="en-US" altLang="en-GB"/>
              <a:pPr/>
              <a:t>8</a:t>
            </a:fld>
            <a:endParaRPr lang="en-US" alt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a:ln/>
        </p:spPr>
      </p:sp>
      <p:sp>
        <p:nvSpPr>
          <p:cNvPr id="20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0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089AEB9-3B23-42DF-9B02-10FEE5CC5BC1}" type="slidenum">
              <a:rPr lang="en-US" altLang="en-GB"/>
              <a:pPr/>
              <a:t>9</a:t>
            </a:fld>
            <a:endParaRPr lang="en-US" alt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ChangeArrowheads="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329C139-26F1-47B2-B1D3-E13862CC1D21}" type="slidenum">
              <a:rPr lang="en-US" altLang="en-GB"/>
              <a:pPr/>
              <a:t>10</a:t>
            </a:fld>
            <a:endParaRPr lang="en-US" alt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ChangeArrowheads="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93E8285-7DF9-4005-B6B0-1BFB8781549C}" type="slidenum">
              <a:rPr lang="en-US" altLang="en-GB"/>
              <a:pPr/>
              <a:t>11</a:t>
            </a:fld>
            <a:endParaRPr lang="en-US" alt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BB6E786-A882-4536-BEBC-5D56DA8B7937}" type="slidenum">
              <a:rPr lang="en-US" altLang="en-GB"/>
              <a:pPr/>
              <a:t>12</a:t>
            </a:fld>
            <a:endParaRPr lang="en-US" alt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ChangeArrowheads="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87059D6-FF0C-4044-98DE-B7F5A4587C03}" type="slidenum">
              <a:rPr lang="en-US" altLang="en-GB"/>
              <a:pPr/>
              <a:t>13</a:t>
            </a:fld>
            <a:endParaRPr lang="en-US" alt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58366E5C-12C3-4AAA-BEDD-B9C15CBF509E}" type="slidenum">
              <a:rPr lang="en-US" altLang="en-US"/>
              <a:pPr/>
              <a:t>‹#›</a:t>
            </a:fld>
            <a:endParaRPr lang="en-US" altLang="en-US"/>
          </a:p>
        </p:txBody>
      </p:sp>
    </p:spTree>
    <p:extLst>
      <p:ext uri="{BB962C8B-B14F-4D97-AF65-F5344CB8AC3E}">
        <p14:creationId xmlns:p14="http://schemas.microsoft.com/office/powerpoint/2010/main" val="1473573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3045443D-B24F-45BB-93D1-89C68E176158}" type="slidenum">
              <a:rPr lang="en-US" altLang="en-US"/>
              <a:pPr/>
              <a:t>‹#›</a:t>
            </a:fld>
            <a:endParaRPr lang="en-US" altLang="en-US"/>
          </a:p>
        </p:txBody>
      </p:sp>
    </p:spTree>
    <p:extLst>
      <p:ext uri="{BB962C8B-B14F-4D97-AF65-F5344CB8AC3E}">
        <p14:creationId xmlns:p14="http://schemas.microsoft.com/office/powerpoint/2010/main" val="1307912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2E5BE0D4-5A97-4A64-A6F9-A94F375754AE}" type="slidenum">
              <a:rPr lang="en-US" altLang="en-US"/>
              <a:pPr/>
              <a:t>‹#›</a:t>
            </a:fld>
            <a:endParaRPr lang="en-US" altLang="en-US"/>
          </a:p>
        </p:txBody>
      </p:sp>
    </p:spTree>
    <p:extLst>
      <p:ext uri="{BB962C8B-B14F-4D97-AF65-F5344CB8AC3E}">
        <p14:creationId xmlns:p14="http://schemas.microsoft.com/office/powerpoint/2010/main" val="88500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2C41A413-5E4A-4695-8491-FF7A9597F7D9}" type="slidenum">
              <a:rPr lang="en-US" altLang="en-US"/>
              <a:pPr/>
              <a:t>‹#›</a:t>
            </a:fld>
            <a:endParaRPr lang="en-US" altLang="en-US"/>
          </a:p>
        </p:txBody>
      </p:sp>
    </p:spTree>
    <p:extLst>
      <p:ext uri="{BB962C8B-B14F-4D97-AF65-F5344CB8AC3E}">
        <p14:creationId xmlns:p14="http://schemas.microsoft.com/office/powerpoint/2010/main" val="882597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8"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9" name="Slide Number Placeholder 5"/>
          <p:cNvSpPr>
            <a:spLocks noGrp="1"/>
          </p:cNvSpPr>
          <p:nvPr>
            <p:ph type="sldNum" sz="quarter" idx="12"/>
          </p:nvPr>
        </p:nvSpPr>
        <p:spPr/>
        <p:txBody>
          <a:bodyPr/>
          <a:lstStyle>
            <a:lvl1pPr>
              <a:defRPr/>
            </a:lvl1pPr>
          </a:lstStyle>
          <a:p>
            <a:fld id="{48D24692-AB53-4E1F-A4D1-2CC850ADD78D}" type="slidenum">
              <a:rPr lang="en-US" altLang="en-US"/>
              <a:pPr/>
              <a:t>‹#›</a:t>
            </a:fld>
            <a:endParaRPr lang="en-US" altLang="en-US"/>
          </a:p>
        </p:txBody>
      </p:sp>
    </p:spTree>
    <p:extLst>
      <p:ext uri="{BB962C8B-B14F-4D97-AF65-F5344CB8AC3E}">
        <p14:creationId xmlns:p14="http://schemas.microsoft.com/office/powerpoint/2010/main" val="2831758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4"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5" name="Slide Number Placeholder 5"/>
          <p:cNvSpPr>
            <a:spLocks noGrp="1"/>
          </p:cNvSpPr>
          <p:nvPr>
            <p:ph type="sldNum" sz="quarter" idx="12"/>
          </p:nvPr>
        </p:nvSpPr>
        <p:spPr/>
        <p:txBody>
          <a:bodyPr/>
          <a:lstStyle>
            <a:lvl1pPr>
              <a:defRPr/>
            </a:lvl1pPr>
          </a:lstStyle>
          <a:p>
            <a:fld id="{03DF346D-09E7-4C25-AC99-7A5DCDB766EC}" type="slidenum">
              <a:rPr lang="en-US" altLang="en-US"/>
              <a:pPr/>
              <a:t>‹#›</a:t>
            </a:fld>
            <a:endParaRPr lang="en-US" altLang="en-US"/>
          </a:p>
        </p:txBody>
      </p:sp>
    </p:spTree>
    <p:extLst>
      <p:ext uri="{BB962C8B-B14F-4D97-AF65-F5344CB8AC3E}">
        <p14:creationId xmlns:p14="http://schemas.microsoft.com/office/powerpoint/2010/main" val="2057213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3"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4" name="Slide Number Placeholder 5"/>
          <p:cNvSpPr>
            <a:spLocks noGrp="1"/>
          </p:cNvSpPr>
          <p:nvPr>
            <p:ph type="sldNum" sz="quarter" idx="12"/>
          </p:nvPr>
        </p:nvSpPr>
        <p:spPr/>
        <p:txBody>
          <a:bodyPr/>
          <a:lstStyle>
            <a:lvl1pPr>
              <a:defRPr/>
            </a:lvl1pPr>
          </a:lstStyle>
          <a:p>
            <a:fld id="{050BCF34-B92D-48A0-B14C-AC12540EA410}" type="slidenum">
              <a:rPr lang="en-US" altLang="en-US"/>
              <a:pPr/>
              <a:t>‹#›</a:t>
            </a:fld>
            <a:endParaRPr lang="en-US" altLang="en-US"/>
          </a:p>
        </p:txBody>
      </p:sp>
    </p:spTree>
    <p:extLst>
      <p:ext uri="{BB962C8B-B14F-4D97-AF65-F5344CB8AC3E}">
        <p14:creationId xmlns:p14="http://schemas.microsoft.com/office/powerpoint/2010/main" val="2004188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C21C67CD-AB44-4843-A3CC-8AD67348FA53}" type="slidenum">
              <a:rPr lang="en-US" altLang="en-US"/>
              <a:pPr/>
              <a:t>‹#›</a:t>
            </a:fld>
            <a:endParaRPr lang="en-US" altLang="en-US"/>
          </a:p>
        </p:txBody>
      </p:sp>
    </p:spTree>
    <p:extLst>
      <p:ext uri="{BB962C8B-B14F-4D97-AF65-F5344CB8AC3E}">
        <p14:creationId xmlns:p14="http://schemas.microsoft.com/office/powerpoint/2010/main" val="1498225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BE2541E0-C3D3-48AA-8888-E11B97DE0B5A}" type="slidenum">
              <a:rPr lang="en-US" altLang="en-US"/>
              <a:pPr/>
              <a:t>‹#›</a:t>
            </a:fld>
            <a:endParaRPr lang="en-US" altLang="en-US"/>
          </a:p>
        </p:txBody>
      </p:sp>
    </p:spTree>
    <p:extLst>
      <p:ext uri="{BB962C8B-B14F-4D97-AF65-F5344CB8AC3E}">
        <p14:creationId xmlns:p14="http://schemas.microsoft.com/office/powerpoint/2010/main" val="285161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3A7E480D-6150-4905-9C1A-37FF00C8A037}" type="slidenum">
              <a:rPr lang="en-US" altLang="en-US"/>
              <a:pPr/>
              <a:t>‹#›</a:t>
            </a:fld>
            <a:endParaRPr lang="en-US" altLang="en-US"/>
          </a:p>
        </p:txBody>
      </p:sp>
    </p:spTree>
    <p:extLst>
      <p:ext uri="{BB962C8B-B14F-4D97-AF65-F5344CB8AC3E}">
        <p14:creationId xmlns:p14="http://schemas.microsoft.com/office/powerpoint/2010/main" val="1620820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08228BA2-7DA4-483B-9586-7104828D01DF}" type="slidenum">
              <a:rPr lang="en-US" altLang="en-US"/>
              <a:pPr/>
              <a:t>‹#›</a:t>
            </a:fld>
            <a:endParaRPr lang="en-US" altLang="en-US"/>
          </a:p>
        </p:txBody>
      </p:sp>
    </p:spTree>
    <p:extLst>
      <p:ext uri="{BB962C8B-B14F-4D97-AF65-F5344CB8AC3E}">
        <p14:creationId xmlns:p14="http://schemas.microsoft.com/office/powerpoint/2010/main" val="1073018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GB"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GB" smtClean="0"/>
              <a:t>Click to edit Master text styles</a:t>
            </a:r>
          </a:p>
          <a:p>
            <a:pPr lvl="1"/>
            <a:r>
              <a:rPr lang="en-US" altLang="en-GB" smtClean="0"/>
              <a:t>Second level</a:t>
            </a:r>
          </a:p>
          <a:p>
            <a:pPr lvl="2"/>
            <a:r>
              <a:rPr lang="en-US" altLang="en-GB" smtClean="0"/>
              <a:t>Third level</a:t>
            </a:r>
          </a:p>
          <a:p>
            <a:pPr lvl="3"/>
            <a:r>
              <a:rPr lang="en-US" altLang="en-GB" smtClean="0"/>
              <a:t>Fourth level</a:t>
            </a:r>
          </a:p>
          <a:p>
            <a:pPr lvl="4"/>
            <a:r>
              <a:rPr lang="en-US" altLang="en-GB"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r>
              <a:rPr lang="en-US"/>
              <a:t>Sept 7, 2016</a:t>
            </a:r>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r>
              <a:rPr lang="en-US" altLang="en-US"/>
              <a:t>Theory of Automata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344AC465-C103-407A-BEC9-530050A6596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p:txBody>
          <a:bodyPr/>
          <a:lstStyle/>
          <a:p>
            <a:pPr eaLnBrk="1" hangingPunct="1"/>
            <a:r>
              <a:rPr lang="en-US" altLang="en-GB" smtClean="0"/>
              <a:t>Theory of Automata</a:t>
            </a:r>
            <a:br>
              <a:rPr lang="en-US" altLang="en-GB" smtClean="0"/>
            </a:br>
            <a:r>
              <a:rPr lang="en-US" altLang="en-GB" smtClean="0"/>
              <a:t> Properties of Regular Languages</a:t>
            </a:r>
          </a:p>
        </p:txBody>
      </p:sp>
      <p:sp>
        <p:nvSpPr>
          <p:cNvPr id="9219" name="Rectangle 3"/>
          <p:cNvSpPr>
            <a:spLocks noGrp="1" noChangeArrowheads="1"/>
          </p:cNvSpPr>
          <p:nvPr>
            <p:ph type="subTitle" idx="1"/>
          </p:nvPr>
        </p:nvSpPr>
        <p:spPr/>
        <p:txBody>
          <a:bodyPr rtlCol="0">
            <a:normAutofit/>
          </a:bodyPr>
          <a:lstStyle/>
          <a:p>
            <a:pPr>
              <a:lnSpc>
                <a:spcPct val="90000"/>
              </a:lnSpc>
              <a:spcBef>
                <a:spcPts val="500"/>
              </a:spcBef>
              <a:spcAft>
                <a:spcPts val="0"/>
              </a:spcAft>
              <a:buClr>
                <a:srgbClr val="898989"/>
              </a:buClr>
              <a:buSzPts val="2500"/>
              <a:defRPr/>
            </a:pPr>
            <a:r>
              <a:rPr lang="en-US" sz="2400">
                <a:solidFill>
                  <a:srgbClr val="898989"/>
                </a:solidFill>
                <a:ea typeface="Calibri"/>
                <a:cs typeface="Calibri"/>
                <a:sym typeface="Calibri"/>
              </a:rPr>
              <a:t>Week </a:t>
            </a:r>
            <a:r>
              <a:rPr lang="en-US" sz="2400" dirty="0">
                <a:solidFill>
                  <a:srgbClr val="898989"/>
                </a:solidFill>
                <a:ea typeface="Calibri"/>
                <a:cs typeface="Calibri"/>
                <a:sym typeface="Calibri"/>
              </a:rPr>
              <a:t>5</a:t>
            </a:r>
            <a:endParaRPr lang="en-US" sz="2400"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123" name="Rectangle 2"/>
          <p:cNvSpPr>
            <a:spLocks noGrp="1"/>
          </p:cNvSpPr>
          <p:nvPr>
            <p:ph type="title" idx="4294967295"/>
          </p:nvPr>
        </p:nvSpPr>
        <p:spPr>
          <a:xfrm>
            <a:off x="0" y="274638"/>
            <a:ext cx="8229600" cy="1143000"/>
          </a:xfrm>
        </p:spPr>
        <p:txBody>
          <a:bodyPr/>
          <a:lstStyle/>
          <a:p>
            <a:pPr eaLnBrk="1" hangingPunct="1"/>
            <a:r>
              <a:rPr lang="en-US" altLang="en-GB" sz="3800" smtClean="0"/>
              <a:t>Contents</a:t>
            </a:r>
          </a:p>
        </p:txBody>
      </p:sp>
      <p:sp>
        <p:nvSpPr>
          <p:cNvPr id="5124" name="Rectangle 3"/>
          <p:cNvSpPr>
            <a:spLocks noGrp="1"/>
          </p:cNvSpPr>
          <p:nvPr>
            <p:ph type="body" idx="4294967295"/>
          </p:nvPr>
        </p:nvSpPr>
        <p:spPr>
          <a:xfrm>
            <a:off x="0" y="1481138"/>
            <a:ext cx="8229600" cy="4525962"/>
          </a:xfrm>
        </p:spPr>
        <p:txBody>
          <a:bodyPr/>
          <a:lstStyle/>
          <a:p>
            <a:pPr eaLnBrk="1" hangingPunct="1"/>
            <a:r>
              <a:rPr lang="en-US" altLang="en-GB" smtClean="0"/>
              <a:t>Closure Properties</a:t>
            </a:r>
          </a:p>
          <a:p>
            <a:pPr eaLnBrk="1" hangingPunct="1"/>
            <a:r>
              <a:rPr lang="en-US" altLang="en-GB" smtClean="0"/>
              <a:t>Complementation</a:t>
            </a:r>
          </a:p>
          <a:p>
            <a:pPr eaLnBrk="1" hangingPunct="1"/>
            <a:r>
              <a:rPr lang="en-US" altLang="en-GB" smtClean="0"/>
              <a:t>Intersection</a:t>
            </a:r>
          </a:p>
        </p:txBody>
      </p:sp>
      <p:sp>
        <p:nvSpPr>
          <p:cNvPr id="5125" name="Slide Number Placeholder 5"/>
          <p:cNvSpPr txBox="1">
            <a:spLocks noGrp="1"/>
          </p:cNvSpPr>
          <p:nvPr/>
        </p:nvSpPr>
        <p:spPr bwMode="auto">
          <a:xfrm>
            <a:off x="6553200" y="6324600"/>
            <a:ext cx="2286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8723B560-2542-4A92-AE57-0E3BC01AFB8B}" type="slidenum">
              <a:rPr lang="en-US" altLang="en-GB" sz="1400">
                <a:latin typeface="Arial" panose="020B0604020202020204" pitchFamily="34" charset="0"/>
                <a:cs typeface="Arial" panose="020B0604020202020204" pitchFamily="34" charset="0"/>
              </a:rPr>
              <a:pPr algn="r">
                <a:spcBef>
                  <a:spcPct val="0"/>
                </a:spcBef>
                <a:buFontTx/>
                <a:buNone/>
              </a:pPr>
              <a:t>2</a:t>
            </a:fld>
            <a:endParaRPr lang="en-US" altLang="en-GB" sz="1400">
              <a:latin typeface="Arial" panose="020B0604020202020204" pitchFamily="34" charset="0"/>
              <a:cs typeface="Arial" panose="020B0604020202020204" pitchFamily="34" charset="0"/>
            </a:endParaRPr>
          </a:p>
        </p:txBody>
      </p:sp>
      <p:sp>
        <p:nvSpPr>
          <p:cNvPr id="512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4049154-BEEE-4CF8-8418-C553E991A9BD}" type="slidenum">
              <a:rPr lang="en-US" altLang="en-US" sz="1200">
                <a:solidFill>
                  <a:srgbClr val="898989"/>
                </a:solidFill>
                <a:latin typeface="Arial" panose="020B0604020202020204" pitchFamily="34" charset="0"/>
              </a:rPr>
              <a:pPr>
                <a:spcBef>
                  <a:spcPct val="0"/>
                </a:spcBef>
                <a:buFontTx/>
                <a:buNone/>
              </a:pPr>
              <a:t>2</a:t>
            </a:fld>
            <a:endParaRPr lang="en-US" altLang="en-US" sz="1200">
              <a:solidFill>
                <a:srgbClr val="898989"/>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7171" name="Rectangle 2"/>
          <p:cNvSpPr>
            <a:spLocks noGrp="1"/>
          </p:cNvSpPr>
          <p:nvPr>
            <p:ph type="title" idx="4294967295"/>
          </p:nvPr>
        </p:nvSpPr>
        <p:spPr>
          <a:xfrm>
            <a:off x="0" y="274638"/>
            <a:ext cx="8229600" cy="1143000"/>
          </a:xfrm>
        </p:spPr>
        <p:txBody>
          <a:bodyPr/>
          <a:lstStyle/>
          <a:p>
            <a:pPr eaLnBrk="1" hangingPunct="1"/>
            <a:r>
              <a:rPr lang="en-US" altLang="en-GB" sz="3800" smtClean="0"/>
              <a:t>Closure Properties</a:t>
            </a:r>
          </a:p>
        </p:txBody>
      </p:sp>
      <p:sp>
        <p:nvSpPr>
          <p:cNvPr id="7172" name="Rectangle 3"/>
          <p:cNvSpPr>
            <a:spLocks noGrp="1"/>
          </p:cNvSpPr>
          <p:nvPr>
            <p:ph type="body" idx="4294967295"/>
          </p:nvPr>
        </p:nvSpPr>
        <p:spPr>
          <a:xfrm>
            <a:off x="0" y="1481138"/>
            <a:ext cx="8229600" cy="4525962"/>
          </a:xfrm>
        </p:spPr>
        <p:txBody>
          <a:bodyPr/>
          <a:lstStyle/>
          <a:p>
            <a:pPr algn="just" eaLnBrk="1" hangingPunct="1"/>
            <a:r>
              <a:rPr lang="en-US" altLang="en-GB" sz="2600" smtClean="0"/>
              <a:t>A language that can be defined by a regular expression is called a regular language.</a:t>
            </a:r>
          </a:p>
          <a:p>
            <a:pPr algn="just" eaLnBrk="1" hangingPunct="1"/>
            <a:endParaRPr lang="en-US" altLang="en-GB" sz="2600" smtClean="0"/>
          </a:p>
          <a:p>
            <a:pPr algn="just" eaLnBrk="1" hangingPunct="1"/>
            <a:r>
              <a:rPr lang="en-US" altLang="en-GB" sz="2600" smtClean="0"/>
              <a:t>Not all languages are regular, as we shall see in the next lecture.</a:t>
            </a:r>
          </a:p>
          <a:p>
            <a:pPr algn="just" eaLnBrk="1" hangingPunct="1"/>
            <a:endParaRPr lang="en-US" altLang="en-GB" sz="2600" smtClean="0"/>
          </a:p>
          <a:p>
            <a:pPr algn="just" eaLnBrk="1" hangingPunct="1"/>
            <a:r>
              <a:rPr lang="en-US" altLang="en-GB" sz="2600" smtClean="0"/>
              <a:t>In this lecture we will focus on the class of all regular languages and discuss some of their properties.</a:t>
            </a:r>
          </a:p>
          <a:p>
            <a:pPr algn="just" eaLnBrk="1" hangingPunct="1"/>
            <a:endParaRPr lang="en-US" altLang="en-GB" sz="2600" smtClean="0"/>
          </a:p>
        </p:txBody>
      </p:sp>
      <p:sp>
        <p:nvSpPr>
          <p:cNvPr id="7173" name="Slide Number Placeholder 5"/>
          <p:cNvSpPr txBox="1">
            <a:spLocks noGrp="1"/>
          </p:cNvSpPr>
          <p:nvPr/>
        </p:nvSpPr>
        <p:spPr bwMode="auto">
          <a:xfrm>
            <a:off x="6553200" y="6324600"/>
            <a:ext cx="2286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7EE88939-2411-4D67-BE18-611A982B0001}" type="slidenum">
              <a:rPr lang="en-US" altLang="en-GB" sz="1400">
                <a:latin typeface="Arial" panose="020B0604020202020204" pitchFamily="34" charset="0"/>
                <a:cs typeface="Arial" panose="020B0604020202020204" pitchFamily="34" charset="0"/>
              </a:rPr>
              <a:pPr algn="r">
                <a:spcBef>
                  <a:spcPct val="0"/>
                </a:spcBef>
                <a:buFontTx/>
                <a:buNone/>
              </a:pPr>
              <a:t>3</a:t>
            </a:fld>
            <a:endParaRPr lang="en-US" altLang="en-GB" sz="1400">
              <a:latin typeface="Arial" panose="020B0604020202020204" pitchFamily="34" charset="0"/>
              <a:cs typeface="Arial" panose="020B0604020202020204" pitchFamily="34" charset="0"/>
            </a:endParaRPr>
          </a:p>
        </p:txBody>
      </p:sp>
      <p:sp>
        <p:nvSpPr>
          <p:cNvPr id="717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0141FA6-984E-4D47-9754-297BB8D6D9F4}" type="slidenum">
              <a:rPr lang="en-US" altLang="en-US" sz="1200">
                <a:solidFill>
                  <a:srgbClr val="898989"/>
                </a:solidFill>
                <a:latin typeface="Arial" panose="020B0604020202020204" pitchFamily="34" charset="0"/>
              </a:rPr>
              <a:pPr>
                <a:spcBef>
                  <a:spcPct val="0"/>
                </a:spcBef>
                <a:buFontTx/>
                <a:buNone/>
              </a:pPr>
              <a:t>3</a:t>
            </a:fld>
            <a:endParaRPr lang="en-US" altLang="en-US" sz="1200">
              <a:solidFill>
                <a:srgbClr val="898989"/>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9219" name="Rectangle 2"/>
          <p:cNvSpPr>
            <a:spLocks noGrp="1"/>
          </p:cNvSpPr>
          <p:nvPr>
            <p:ph type="title" idx="4294967295"/>
          </p:nvPr>
        </p:nvSpPr>
        <p:spPr>
          <a:xfrm>
            <a:off x="0" y="274638"/>
            <a:ext cx="8229600" cy="1143000"/>
          </a:xfrm>
        </p:spPr>
        <p:txBody>
          <a:bodyPr/>
          <a:lstStyle/>
          <a:p>
            <a:pPr eaLnBrk="1" hangingPunct="1"/>
            <a:r>
              <a:rPr lang="en-US" altLang="en-GB" sz="3800" smtClean="0"/>
              <a:t>Theorem 10</a:t>
            </a:r>
          </a:p>
        </p:txBody>
      </p:sp>
      <p:sp>
        <p:nvSpPr>
          <p:cNvPr id="9220" name="Rectangle 3"/>
          <p:cNvSpPr>
            <a:spLocks noGrp="1"/>
          </p:cNvSpPr>
          <p:nvPr>
            <p:ph type="body" idx="4294967295"/>
          </p:nvPr>
        </p:nvSpPr>
        <p:spPr>
          <a:xfrm>
            <a:off x="0" y="1481138"/>
            <a:ext cx="8229600" cy="4525962"/>
          </a:xfrm>
        </p:spPr>
        <p:txBody>
          <a:bodyPr/>
          <a:lstStyle/>
          <a:p>
            <a:pPr algn="just" eaLnBrk="1" hangingPunct="1">
              <a:lnSpc>
                <a:spcPct val="80000"/>
              </a:lnSpc>
              <a:buFont typeface="Wingdings" panose="05000000000000000000" pitchFamily="2" charset="2"/>
              <a:buNone/>
            </a:pPr>
            <a:r>
              <a:rPr lang="en-US" altLang="en-GB" sz="2200" b="1" smtClean="0"/>
              <a:t>If </a:t>
            </a:r>
            <a:r>
              <a:rPr lang="en-US" altLang="en-GB" sz="2200" smtClean="0"/>
              <a:t>L</a:t>
            </a:r>
            <a:r>
              <a:rPr lang="en-US" altLang="en-GB" sz="2200" baseline="-25000" smtClean="0"/>
              <a:t>1</a:t>
            </a:r>
            <a:r>
              <a:rPr lang="en-US" altLang="en-GB" sz="2200" smtClean="0"/>
              <a:t> </a:t>
            </a:r>
            <a:r>
              <a:rPr lang="en-US" altLang="en-GB" sz="2200" b="1" smtClean="0"/>
              <a:t>and </a:t>
            </a:r>
            <a:r>
              <a:rPr lang="en-US" altLang="en-GB" sz="2200" smtClean="0"/>
              <a:t>L</a:t>
            </a:r>
            <a:r>
              <a:rPr lang="en-US" altLang="en-GB" sz="2200" baseline="-25000" smtClean="0"/>
              <a:t>2</a:t>
            </a:r>
            <a:r>
              <a:rPr lang="en-US" altLang="en-GB" sz="2200" smtClean="0"/>
              <a:t> </a:t>
            </a:r>
            <a:r>
              <a:rPr lang="en-US" altLang="en-GB" sz="2200" b="1" smtClean="0"/>
              <a:t>are regular languages, then </a:t>
            </a:r>
            <a:r>
              <a:rPr lang="en-US" altLang="en-GB" sz="2200" smtClean="0"/>
              <a:t>L</a:t>
            </a:r>
            <a:r>
              <a:rPr lang="en-US" altLang="en-GB" sz="2200" baseline="-25000" smtClean="0"/>
              <a:t>1</a:t>
            </a:r>
            <a:r>
              <a:rPr lang="en-US" altLang="en-GB" sz="2200" smtClean="0"/>
              <a:t> + L</a:t>
            </a:r>
            <a:r>
              <a:rPr lang="en-US" altLang="en-GB" sz="2200" baseline="-25000" smtClean="0"/>
              <a:t>2</a:t>
            </a:r>
            <a:r>
              <a:rPr lang="en-US" altLang="en-GB" sz="2200" b="1" smtClean="0"/>
              <a:t>, </a:t>
            </a:r>
            <a:r>
              <a:rPr lang="en-US" altLang="en-GB" sz="2200" smtClean="0"/>
              <a:t>L</a:t>
            </a:r>
            <a:r>
              <a:rPr lang="en-US" altLang="en-GB" sz="2200" baseline="-25000" smtClean="0"/>
              <a:t>1</a:t>
            </a:r>
            <a:r>
              <a:rPr lang="en-US" altLang="en-GB" sz="2200" smtClean="0"/>
              <a:t>L</a:t>
            </a:r>
            <a:r>
              <a:rPr lang="en-US" altLang="en-GB" sz="2200" baseline="-25000" smtClean="0"/>
              <a:t>2</a:t>
            </a:r>
            <a:r>
              <a:rPr lang="en-US" altLang="en-GB" sz="2200" b="1" smtClean="0"/>
              <a:t>, and </a:t>
            </a:r>
            <a:r>
              <a:rPr lang="en-US" altLang="en-GB" sz="2200" smtClean="0"/>
              <a:t>L*</a:t>
            </a:r>
            <a:r>
              <a:rPr lang="en-US" altLang="en-GB" sz="2200" baseline="-25000" smtClean="0"/>
              <a:t>1</a:t>
            </a:r>
            <a:r>
              <a:rPr lang="en-US" altLang="en-GB" sz="2200" smtClean="0"/>
              <a:t> </a:t>
            </a:r>
            <a:r>
              <a:rPr lang="en-US" altLang="en-GB" sz="2200" b="1" smtClean="0"/>
              <a:t>are also regular languages.</a:t>
            </a:r>
          </a:p>
          <a:p>
            <a:pPr algn="just" eaLnBrk="1" hangingPunct="1">
              <a:lnSpc>
                <a:spcPct val="80000"/>
              </a:lnSpc>
              <a:buFont typeface="Wingdings" panose="05000000000000000000" pitchFamily="2" charset="2"/>
              <a:buNone/>
            </a:pPr>
            <a:r>
              <a:rPr lang="en-US" altLang="en-GB" sz="2200" smtClean="0"/>
              <a:t>Notes:</a:t>
            </a:r>
          </a:p>
          <a:p>
            <a:pPr algn="just" eaLnBrk="1" hangingPunct="1">
              <a:lnSpc>
                <a:spcPct val="80000"/>
              </a:lnSpc>
            </a:pPr>
            <a:r>
              <a:rPr lang="en-US" altLang="en-GB" sz="2200" smtClean="0"/>
              <a:t>L</a:t>
            </a:r>
            <a:r>
              <a:rPr lang="en-US" altLang="en-GB" sz="2200" baseline="-25000" smtClean="0"/>
              <a:t>1</a:t>
            </a:r>
            <a:r>
              <a:rPr lang="en-US" altLang="en-GB" sz="2200" smtClean="0"/>
              <a:t> + L</a:t>
            </a:r>
            <a:r>
              <a:rPr lang="en-US" altLang="en-GB" sz="2200" baseline="-25000" smtClean="0"/>
              <a:t>2</a:t>
            </a:r>
            <a:r>
              <a:rPr lang="en-US" altLang="en-GB" sz="2200" smtClean="0"/>
              <a:t> is the language of all words in either L</a:t>
            </a:r>
            <a:r>
              <a:rPr lang="en-US" altLang="en-GB" sz="2200" baseline="-25000" smtClean="0"/>
              <a:t>1</a:t>
            </a:r>
            <a:r>
              <a:rPr lang="en-US" altLang="en-GB" sz="2200" smtClean="0"/>
              <a:t> or L</a:t>
            </a:r>
            <a:r>
              <a:rPr lang="en-US" altLang="en-GB" sz="2200" baseline="-25000" smtClean="0"/>
              <a:t>2</a:t>
            </a:r>
            <a:r>
              <a:rPr lang="en-US" altLang="en-GB" sz="2200" smtClean="0"/>
              <a:t>.</a:t>
            </a:r>
          </a:p>
          <a:p>
            <a:pPr algn="just" eaLnBrk="1" hangingPunct="1">
              <a:lnSpc>
                <a:spcPct val="80000"/>
              </a:lnSpc>
            </a:pPr>
            <a:endParaRPr lang="en-US" altLang="en-GB" sz="2200" smtClean="0"/>
          </a:p>
          <a:p>
            <a:pPr algn="just" eaLnBrk="1" hangingPunct="1">
              <a:lnSpc>
                <a:spcPct val="80000"/>
              </a:lnSpc>
            </a:pPr>
            <a:r>
              <a:rPr lang="en-US" altLang="en-GB" sz="2200" smtClean="0"/>
              <a:t>L</a:t>
            </a:r>
            <a:r>
              <a:rPr lang="en-US" altLang="en-GB" sz="2200" baseline="-25000" smtClean="0"/>
              <a:t>1</a:t>
            </a:r>
            <a:r>
              <a:rPr lang="en-US" altLang="en-GB" sz="2200" smtClean="0"/>
              <a:t>L</a:t>
            </a:r>
            <a:r>
              <a:rPr lang="en-US" altLang="en-GB" sz="2200" baseline="-25000" smtClean="0"/>
              <a:t>2</a:t>
            </a:r>
            <a:r>
              <a:rPr lang="en-US" altLang="en-GB" sz="2200" smtClean="0"/>
              <a:t> is the product language of all words formed by concatenating a word form L</a:t>
            </a:r>
            <a:r>
              <a:rPr lang="en-US" altLang="en-GB" sz="2200" baseline="-25000" smtClean="0"/>
              <a:t>1</a:t>
            </a:r>
            <a:r>
              <a:rPr lang="en-US" altLang="en-GB" sz="2200" smtClean="0"/>
              <a:t> with a word from L</a:t>
            </a:r>
            <a:r>
              <a:rPr lang="en-US" altLang="en-GB" sz="2200" baseline="-25000" smtClean="0"/>
              <a:t>2</a:t>
            </a:r>
            <a:r>
              <a:rPr lang="en-US" altLang="en-GB" sz="2200" smtClean="0"/>
              <a:t>.</a:t>
            </a:r>
          </a:p>
          <a:p>
            <a:pPr algn="just" eaLnBrk="1" hangingPunct="1">
              <a:lnSpc>
                <a:spcPct val="80000"/>
              </a:lnSpc>
            </a:pPr>
            <a:endParaRPr lang="en-US" altLang="en-GB" sz="2200" smtClean="0"/>
          </a:p>
          <a:p>
            <a:pPr algn="just" eaLnBrk="1" hangingPunct="1">
              <a:lnSpc>
                <a:spcPct val="80000"/>
              </a:lnSpc>
            </a:pPr>
            <a:r>
              <a:rPr lang="en-US" altLang="en-GB" sz="2200" smtClean="0"/>
              <a:t>L</a:t>
            </a:r>
            <a:r>
              <a:rPr lang="en-US" altLang="en-GB" sz="2200" baseline="-25000" smtClean="0"/>
              <a:t>1</a:t>
            </a:r>
            <a:r>
              <a:rPr lang="en-US" altLang="en-GB" sz="2200" smtClean="0"/>
              <a:t> is the language of all words that are the concatenation of arbitrarily many factors from L</a:t>
            </a:r>
            <a:r>
              <a:rPr lang="en-US" altLang="en-GB" sz="2200" baseline="-25000" smtClean="0"/>
              <a:t>1</a:t>
            </a:r>
            <a:r>
              <a:rPr lang="en-US" altLang="en-GB" sz="2200" smtClean="0"/>
              <a:t>*.</a:t>
            </a:r>
          </a:p>
          <a:p>
            <a:pPr algn="just" eaLnBrk="1" hangingPunct="1">
              <a:lnSpc>
                <a:spcPct val="80000"/>
              </a:lnSpc>
            </a:pPr>
            <a:endParaRPr lang="en-US" altLang="en-GB" sz="2200" smtClean="0"/>
          </a:p>
          <a:p>
            <a:pPr algn="just" eaLnBrk="1" hangingPunct="1">
              <a:lnSpc>
                <a:spcPct val="80000"/>
              </a:lnSpc>
            </a:pPr>
            <a:r>
              <a:rPr lang="en-US" altLang="en-GB" sz="2200" smtClean="0"/>
              <a:t>The result stated in Theorem 10 is often expressed as </a:t>
            </a:r>
            <a:r>
              <a:rPr lang="en-US" altLang="en-GB" sz="2200" b="1" smtClean="0"/>
              <a:t>“The set of regular languages is </a:t>
            </a:r>
            <a:r>
              <a:rPr lang="en-US" altLang="en-GB" sz="2200" b="1" i="1" smtClean="0"/>
              <a:t>closed </a:t>
            </a:r>
            <a:r>
              <a:rPr lang="en-US" altLang="en-GB" sz="2200" b="1" smtClean="0"/>
              <a:t>under union, concatenation, and Kleene closure”.</a:t>
            </a:r>
            <a:endParaRPr lang="en-US" altLang="en-GB" sz="2200" smtClean="0"/>
          </a:p>
        </p:txBody>
      </p:sp>
      <p:sp>
        <p:nvSpPr>
          <p:cNvPr id="9221" name="Slide Number Placeholder 5"/>
          <p:cNvSpPr txBox="1">
            <a:spLocks noGrp="1"/>
          </p:cNvSpPr>
          <p:nvPr/>
        </p:nvSpPr>
        <p:spPr bwMode="auto">
          <a:xfrm>
            <a:off x="6553200" y="6324600"/>
            <a:ext cx="2286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3D279D75-1912-49F0-B18F-777BE0100A0E}" type="slidenum">
              <a:rPr lang="en-US" altLang="en-GB" sz="1400">
                <a:latin typeface="Arial" panose="020B0604020202020204" pitchFamily="34" charset="0"/>
                <a:cs typeface="Arial" panose="020B0604020202020204" pitchFamily="34" charset="0"/>
              </a:rPr>
              <a:pPr algn="r">
                <a:spcBef>
                  <a:spcPct val="0"/>
                </a:spcBef>
                <a:buFontTx/>
                <a:buNone/>
              </a:pPr>
              <a:t>4</a:t>
            </a:fld>
            <a:endParaRPr lang="en-US" altLang="en-GB" sz="1400">
              <a:latin typeface="Arial" panose="020B0604020202020204" pitchFamily="34" charset="0"/>
              <a:cs typeface="Arial" panose="020B0604020202020204" pitchFamily="34" charset="0"/>
            </a:endParaRPr>
          </a:p>
        </p:txBody>
      </p:sp>
      <p:sp>
        <p:nvSpPr>
          <p:cNvPr id="922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ADDCAE4-1651-42E0-BAF7-84EFC5210D63}" type="slidenum">
              <a:rPr lang="en-US" altLang="en-US" sz="1200">
                <a:solidFill>
                  <a:srgbClr val="898989"/>
                </a:solidFill>
                <a:latin typeface="Arial" panose="020B0604020202020204" pitchFamily="34" charset="0"/>
              </a:rPr>
              <a:pPr>
                <a:spcBef>
                  <a:spcPct val="0"/>
                </a:spcBef>
                <a:buFontTx/>
                <a:buNone/>
              </a:pPr>
              <a:t>4</a:t>
            </a:fld>
            <a:endParaRPr lang="en-US" altLang="en-US" sz="1200">
              <a:solidFill>
                <a:srgbClr val="898989"/>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1267" name="Rectangle 2"/>
          <p:cNvSpPr>
            <a:spLocks noGrp="1"/>
          </p:cNvSpPr>
          <p:nvPr>
            <p:ph type="title" idx="4294967295"/>
          </p:nvPr>
        </p:nvSpPr>
        <p:spPr>
          <a:xfrm>
            <a:off x="0" y="274638"/>
            <a:ext cx="8229600" cy="1143000"/>
          </a:xfrm>
        </p:spPr>
        <p:txBody>
          <a:bodyPr/>
          <a:lstStyle/>
          <a:p>
            <a:pPr eaLnBrk="1" hangingPunct="1"/>
            <a:r>
              <a:rPr lang="en-US" altLang="en-GB" sz="3800" smtClean="0"/>
              <a:t>Proof by Machines</a:t>
            </a:r>
          </a:p>
        </p:txBody>
      </p:sp>
      <p:sp>
        <p:nvSpPr>
          <p:cNvPr id="11268" name="Rectangle 3"/>
          <p:cNvSpPr>
            <a:spLocks noGrp="1"/>
          </p:cNvSpPr>
          <p:nvPr>
            <p:ph type="body" idx="4294967295"/>
          </p:nvPr>
        </p:nvSpPr>
        <p:spPr>
          <a:xfrm>
            <a:off x="0" y="1481138"/>
            <a:ext cx="8229600" cy="4525962"/>
          </a:xfrm>
        </p:spPr>
        <p:txBody>
          <a:bodyPr/>
          <a:lstStyle/>
          <a:p>
            <a:pPr algn="just" eaLnBrk="1" hangingPunct="1"/>
            <a:r>
              <a:rPr lang="en-US" altLang="en-GB" sz="2200" smtClean="0"/>
              <a:t>Because L</a:t>
            </a:r>
            <a:r>
              <a:rPr lang="en-US" altLang="en-GB" sz="2200" baseline="-25000" smtClean="0"/>
              <a:t>1</a:t>
            </a:r>
            <a:r>
              <a:rPr lang="en-US" altLang="en-GB" sz="2200" smtClean="0"/>
              <a:t> and L</a:t>
            </a:r>
            <a:r>
              <a:rPr lang="en-US" altLang="en-GB" sz="2200" baseline="-25000" smtClean="0"/>
              <a:t>2</a:t>
            </a:r>
            <a:r>
              <a:rPr lang="en-US" altLang="en-GB" sz="2200" smtClean="0"/>
              <a:t> are regular languages, there must be TGs that accept them (by Kleene’s theorem).</a:t>
            </a:r>
          </a:p>
          <a:p>
            <a:pPr algn="just" eaLnBrk="1" hangingPunct="1"/>
            <a:r>
              <a:rPr lang="en-US" altLang="en-GB" sz="2200" smtClean="0"/>
              <a:t>Let TG</a:t>
            </a:r>
            <a:r>
              <a:rPr lang="en-US" altLang="en-GB" sz="2200" baseline="-25000" smtClean="0"/>
              <a:t>1</a:t>
            </a:r>
            <a:r>
              <a:rPr lang="en-US" altLang="en-GB" sz="2200" smtClean="0"/>
              <a:t> accepts L</a:t>
            </a:r>
            <a:r>
              <a:rPr lang="en-US" altLang="en-GB" sz="2200" baseline="-25000" smtClean="0"/>
              <a:t>1</a:t>
            </a:r>
            <a:r>
              <a:rPr lang="en-US" altLang="en-GB" sz="2200" smtClean="0"/>
              <a:t> and TG</a:t>
            </a:r>
            <a:r>
              <a:rPr lang="en-US" altLang="en-GB" sz="2200" baseline="-25000" smtClean="0"/>
              <a:t>2</a:t>
            </a:r>
            <a:r>
              <a:rPr lang="en-US" altLang="en-GB" sz="2200" smtClean="0"/>
              <a:t> accepts L</a:t>
            </a:r>
            <a:r>
              <a:rPr lang="en-US" altLang="en-GB" sz="2200" baseline="-25000" smtClean="0"/>
              <a:t>2</a:t>
            </a:r>
            <a:r>
              <a:rPr lang="en-US" altLang="en-GB" sz="2200" smtClean="0"/>
              <a:t>.</a:t>
            </a:r>
          </a:p>
          <a:p>
            <a:pPr algn="just" eaLnBrk="1" hangingPunct="1"/>
            <a:endParaRPr lang="en-US" altLang="en-GB" sz="2200" smtClean="0"/>
          </a:p>
          <a:p>
            <a:pPr algn="just" eaLnBrk="1" hangingPunct="1"/>
            <a:r>
              <a:rPr lang="en-US" altLang="en-GB" sz="2200" smtClean="0"/>
              <a:t>Assume that TG</a:t>
            </a:r>
            <a:r>
              <a:rPr lang="en-US" altLang="en-GB" sz="2200" baseline="-25000" smtClean="0"/>
              <a:t>1</a:t>
            </a:r>
            <a:r>
              <a:rPr lang="en-US" altLang="en-GB" sz="2200" smtClean="0"/>
              <a:t> and TG</a:t>
            </a:r>
            <a:r>
              <a:rPr lang="en-US" altLang="en-GB" sz="2200" baseline="-25000" smtClean="0"/>
              <a:t>2</a:t>
            </a:r>
            <a:r>
              <a:rPr lang="en-US" altLang="en-GB" sz="2200" smtClean="0"/>
              <a:t> each have a </a:t>
            </a:r>
            <a:r>
              <a:rPr lang="en-US" altLang="en-GB" sz="2200" b="1" smtClean="0"/>
              <a:t>unique start state </a:t>
            </a:r>
            <a:r>
              <a:rPr lang="en-US" altLang="en-GB" sz="2200" smtClean="0"/>
              <a:t>and a </a:t>
            </a:r>
            <a:r>
              <a:rPr lang="en-US" altLang="en-GB" sz="2200" b="1" smtClean="0"/>
              <a:t>unique separate final state</a:t>
            </a:r>
            <a:r>
              <a:rPr lang="en-US" altLang="en-GB" sz="2200" smtClean="0"/>
              <a:t>. If this is not the case originally, then we can modify the TGs so that this becomes true as in Kleene’s theorem,Part 2 of the proof (page 93).</a:t>
            </a:r>
          </a:p>
        </p:txBody>
      </p:sp>
      <p:sp>
        <p:nvSpPr>
          <p:cNvPr id="11269" name="Slide Number Placeholder 5"/>
          <p:cNvSpPr txBox="1">
            <a:spLocks noGrp="1"/>
          </p:cNvSpPr>
          <p:nvPr/>
        </p:nvSpPr>
        <p:spPr bwMode="auto">
          <a:xfrm>
            <a:off x="6553200" y="6324600"/>
            <a:ext cx="2286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90F59AD4-D7F2-4A62-B402-7548D0D0E83F}" type="slidenum">
              <a:rPr lang="en-US" altLang="en-GB" sz="1400">
                <a:latin typeface="Arial" panose="020B0604020202020204" pitchFamily="34" charset="0"/>
                <a:cs typeface="Arial" panose="020B0604020202020204" pitchFamily="34" charset="0"/>
              </a:rPr>
              <a:pPr algn="r">
                <a:spcBef>
                  <a:spcPct val="0"/>
                </a:spcBef>
                <a:buFontTx/>
                <a:buNone/>
              </a:pPr>
              <a:t>5</a:t>
            </a:fld>
            <a:endParaRPr lang="en-US" altLang="en-GB" sz="1400">
              <a:latin typeface="Arial" panose="020B0604020202020204" pitchFamily="34" charset="0"/>
              <a:cs typeface="Arial" panose="020B0604020202020204" pitchFamily="34" charset="0"/>
            </a:endParaRPr>
          </a:p>
        </p:txBody>
      </p:sp>
      <p:sp>
        <p:nvSpPr>
          <p:cNvPr id="1127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5A44A93-BED6-4C91-A64C-1173E4011BA1}" type="slidenum">
              <a:rPr lang="en-US" altLang="en-US" sz="1200">
                <a:solidFill>
                  <a:srgbClr val="898989"/>
                </a:solidFill>
                <a:latin typeface="Arial" panose="020B0604020202020204" pitchFamily="34" charset="0"/>
              </a:rPr>
              <a:pPr>
                <a:spcBef>
                  <a:spcPct val="0"/>
                </a:spcBef>
                <a:buFontTx/>
                <a:buNone/>
              </a:pPr>
              <a:t>5</a:t>
            </a:fld>
            <a:endParaRPr lang="en-US" altLang="en-US" sz="1200">
              <a:solidFill>
                <a:srgbClr val="898989"/>
              </a:solidFill>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3315" name="Rectangle 2"/>
          <p:cNvSpPr>
            <a:spLocks noGrp="1"/>
          </p:cNvSpPr>
          <p:nvPr>
            <p:ph type="title" idx="4294967295"/>
          </p:nvPr>
        </p:nvSpPr>
        <p:spPr>
          <a:xfrm>
            <a:off x="0" y="274638"/>
            <a:ext cx="8229600" cy="1143000"/>
          </a:xfrm>
        </p:spPr>
        <p:txBody>
          <a:bodyPr/>
          <a:lstStyle/>
          <a:p>
            <a:pPr eaLnBrk="1" hangingPunct="1"/>
            <a:r>
              <a:rPr lang="en-US" altLang="en-GB" sz="3800" smtClean="0"/>
              <a:t>Proof contd.</a:t>
            </a:r>
          </a:p>
        </p:txBody>
      </p:sp>
      <p:sp>
        <p:nvSpPr>
          <p:cNvPr id="13316" name="Rectangle 3"/>
          <p:cNvSpPr>
            <a:spLocks noGrp="1"/>
          </p:cNvSpPr>
          <p:nvPr>
            <p:ph type="body" idx="4294967295"/>
          </p:nvPr>
        </p:nvSpPr>
        <p:spPr>
          <a:xfrm>
            <a:off x="0" y="1481138"/>
            <a:ext cx="8229600" cy="4525962"/>
          </a:xfrm>
        </p:spPr>
        <p:txBody>
          <a:bodyPr/>
          <a:lstStyle/>
          <a:p>
            <a:pPr eaLnBrk="1" hangingPunct="1">
              <a:lnSpc>
                <a:spcPct val="90000"/>
              </a:lnSpc>
            </a:pPr>
            <a:r>
              <a:rPr lang="en-US" altLang="en-GB" sz="2200" smtClean="0"/>
              <a:t>Then the TG described below accepts the language L</a:t>
            </a:r>
            <a:r>
              <a:rPr lang="en-US" altLang="en-GB" sz="2200" baseline="-25000" smtClean="0"/>
              <a:t>1</a:t>
            </a:r>
            <a:r>
              <a:rPr lang="en-US" altLang="en-GB" sz="2200" smtClean="0"/>
              <a:t> + L</a:t>
            </a:r>
            <a:r>
              <a:rPr lang="en-US" altLang="en-GB" sz="2200" baseline="-25000" smtClean="0"/>
              <a:t>2</a:t>
            </a:r>
            <a:r>
              <a:rPr lang="en-US" altLang="en-GB" sz="2200" smtClean="0"/>
              <a:t>.</a:t>
            </a:r>
          </a:p>
          <a:p>
            <a:pPr eaLnBrk="1" hangingPunct="1">
              <a:lnSpc>
                <a:spcPct val="90000"/>
              </a:lnSpc>
            </a:pPr>
            <a:endParaRPr lang="en-US" altLang="en-GB" sz="2200" smtClean="0"/>
          </a:p>
          <a:p>
            <a:pPr eaLnBrk="1" hangingPunct="1">
              <a:lnSpc>
                <a:spcPct val="90000"/>
              </a:lnSpc>
            </a:pPr>
            <a:endParaRPr lang="en-US" altLang="en-GB" sz="2200" smtClean="0"/>
          </a:p>
          <a:p>
            <a:pPr eaLnBrk="1" hangingPunct="1">
              <a:lnSpc>
                <a:spcPct val="90000"/>
              </a:lnSpc>
            </a:pPr>
            <a:endParaRPr lang="en-US" altLang="en-GB" sz="2200" smtClean="0"/>
          </a:p>
          <a:p>
            <a:pPr eaLnBrk="1" hangingPunct="1">
              <a:lnSpc>
                <a:spcPct val="90000"/>
              </a:lnSpc>
            </a:pPr>
            <a:endParaRPr lang="en-US" altLang="en-GB" sz="2200" smtClean="0"/>
          </a:p>
          <a:p>
            <a:pPr eaLnBrk="1" hangingPunct="1">
              <a:lnSpc>
                <a:spcPct val="90000"/>
              </a:lnSpc>
            </a:pPr>
            <a:endParaRPr lang="en-US" altLang="en-GB" sz="2200" smtClean="0"/>
          </a:p>
          <a:p>
            <a:pPr eaLnBrk="1" hangingPunct="1">
              <a:lnSpc>
                <a:spcPct val="90000"/>
              </a:lnSpc>
            </a:pPr>
            <a:endParaRPr lang="en-US" altLang="en-GB" sz="2200" smtClean="0"/>
          </a:p>
          <a:p>
            <a:pPr eaLnBrk="1" hangingPunct="1">
              <a:lnSpc>
                <a:spcPct val="90000"/>
              </a:lnSpc>
            </a:pPr>
            <a:endParaRPr lang="en-US" altLang="en-GB" sz="2200" smtClean="0"/>
          </a:p>
          <a:p>
            <a:pPr eaLnBrk="1" hangingPunct="1">
              <a:lnSpc>
                <a:spcPct val="90000"/>
              </a:lnSpc>
            </a:pPr>
            <a:endParaRPr lang="en-US" altLang="en-GB" sz="2200" smtClean="0"/>
          </a:p>
          <a:p>
            <a:pPr eaLnBrk="1" hangingPunct="1">
              <a:lnSpc>
                <a:spcPct val="90000"/>
              </a:lnSpc>
            </a:pPr>
            <a:r>
              <a:rPr lang="en-US" altLang="en-GB" sz="2200" smtClean="0"/>
              <a:t>By Kleene’s theorem, since L</a:t>
            </a:r>
            <a:r>
              <a:rPr lang="en-US" altLang="en-GB" sz="2200" baseline="-25000" smtClean="0"/>
              <a:t>1</a:t>
            </a:r>
            <a:r>
              <a:rPr lang="en-US" altLang="en-GB" sz="2200" smtClean="0"/>
              <a:t> + L</a:t>
            </a:r>
            <a:r>
              <a:rPr lang="en-US" altLang="en-GB" sz="2200" baseline="-25000" smtClean="0"/>
              <a:t>2</a:t>
            </a:r>
            <a:r>
              <a:rPr lang="en-US" altLang="en-GB" sz="2200" smtClean="0"/>
              <a:t> is defined by this TG, it is also defined by a regular expression and hence is a regular language.</a:t>
            </a:r>
          </a:p>
        </p:txBody>
      </p:sp>
      <p:sp>
        <p:nvSpPr>
          <p:cNvPr id="13317" name="Slide Number Placeholder 5"/>
          <p:cNvSpPr txBox="1">
            <a:spLocks noGrp="1"/>
          </p:cNvSpPr>
          <p:nvPr/>
        </p:nvSpPr>
        <p:spPr bwMode="auto">
          <a:xfrm>
            <a:off x="6553200" y="6324600"/>
            <a:ext cx="2286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FAD9363C-1AF8-45D4-BB20-9BB7B39A0E57}" type="slidenum">
              <a:rPr lang="en-US" altLang="en-GB" sz="1400">
                <a:latin typeface="Arial" panose="020B0604020202020204" pitchFamily="34" charset="0"/>
                <a:cs typeface="Arial" panose="020B0604020202020204" pitchFamily="34" charset="0"/>
              </a:rPr>
              <a:pPr algn="r">
                <a:spcBef>
                  <a:spcPct val="0"/>
                </a:spcBef>
                <a:buFontTx/>
                <a:buNone/>
              </a:pPr>
              <a:t>6</a:t>
            </a:fld>
            <a:endParaRPr lang="en-US" altLang="en-GB" sz="1400">
              <a:latin typeface="Arial" panose="020B0604020202020204" pitchFamily="34" charset="0"/>
              <a:cs typeface="Arial" panose="020B0604020202020204" pitchFamily="34" charset="0"/>
            </a:endParaRPr>
          </a:p>
        </p:txBody>
      </p:sp>
      <p:pic>
        <p:nvPicPr>
          <p:cNvPr id="1331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019300"/>
            <a:ext cx="3048000"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285E42C-5A3B-4CDA-B791-A2A541308266}" type="slidenum">
              <a:rPr lang="en-US" altLang="en-US" sz="1200">
                <a:solidFill>
                  <a:srgbClr val="898989"/>
                </a:solidFill>
                <a:latin typeface="Arial" panose="020B0604020202020204" pitchFamily="34" charset="0"/>
              </a:rPr>
              <a:pPr>
                <a:spcBef>
                  <a:spcPct val="0"/>
                </a:spcBef>
                <a:buFontTx/>
                <a:buNone/>
              </a:pPr>
              <a:t>6</a:t>
            </a:fld>
            <a:endParaRPr lang="en-US" altLang="en-US" sz="1200">
              <a:solidFill>
                <a:srgbClr val="898989"/>
              </a:solidFill>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5363" name="Rectangle 3"/>
          <p:cNvSpPr>
            <a:spLocks noGrp="1"/>
          </p:cNvSpPr>
          <p:nvPr>
            <p:ph type="body" idx="4294967295"/>
          </p:nvPr>
        </p:nvSpPr>
        <p:spPr>
          <a:xfrm>
            <a:off x="0" y="1481138"/>
            <a:ext cx="8229600" cy="4525962"/>
          </a:xfrm>
        </p:spPr>
        <p:txBody>
          <a:bodyPr/>
          <a:lstStyle/>
          <a:p>
            <a:pPr algn="just" eaLnBrk="1" hangingPunct="1"/>
            <a:r>
              <a:rPr lang="en-US" altLang="en-GB" sz="2200" smtClean="0"/>
              <a:t>The TG described below accepts the language L</a:t>
            </a:r>
            <a:r>
              <a:rPr lang="en-US" altLang="en-GB" sz="2200" baseline="-25000" smtClean="0"/>
              <a:t>1</a:t>
            </a:r>
            <a:r>
              <a:rPr lang="en-US" altLang="en-GB" sz="2200" smtClean="0"/>
              <a:t>L</a:t>
            </a:r>
            <a:r>
              <a:rPr lang="en-US" altLang="en-GB" sz="2200" baseline="-25000" smtClean="0"/>
              <a:t>2</a:t>
            </a:r>
            <a:r>
              <a:rPr lang="en-US" altLang="en-GB" sz="2200" smtClean="0"/>
              <a:t> where state 1 is the former + of TG</a:t>
            </a:r>
            <a:r>
              <a:rPr lang="en-US" altLang="en-GB" sz="2200" baseline="-25000" smtClean="0"/>
              <a:t>1</a:t>
            </a:r>
            <a:r>
              <a:rPr lang="en-US" altLang="en-GB" sz="2200" smtClean="0"/>
              <a:t> and state 2 is the former - of TG</a:t>
            </a:r>
            <a:r>
              <a:rPr lang="en-US" altLang="en-GB" sz="2200" baseline="-25000" smtClean="0"/>
              <a:t>2</a:t>
            </a:r>
            <a:r>
              <a:rPr lang="en-US" altLang="en-GB" sz="2200" smtClean="0"/>
              <a:t>.</a:t>
            </a:r>
          </a:p>
          <a:p>
            <a:pPr algn="just" eaLnBrk="1" hangingPunct="1"/>
            <a:endParaRPr lang="en-US" altLang="en-GB" sz="2200" smtClean="0"/>
          </a:p>
          <a:p>
            <a:pPr algn="just" eaLnBrk="1" hangingPunct="1"/>
            <a:endParaRPr lang="en-US" altLang="en-GB" sz="2200" smtClean="0"/>
          </a:p>
          <a:p>
            <a:pPr algn="just" eaLnBrk="1" hangingPunct="1"/>
            <a:endParaRPr lang="en-US" altLang="en-GB" sz="2200" smtClean="0"/>
          </a:p>
          <a:p>
            <a:pPr algn="just" eaLnBrk="1" hangingPunct="1"/>
            <a:endParaRPr lang="en-US" altLang="en-GB" sz="2200" smtClean="0"/>
          </a:p>
          <a:p>
            <a:pPr algn="just" eaLnBrk="1" hangingPunct="1"/>
            <a:endParaRPr lang="en-US" altLang="en-GB" sz="2200" smtClean="0"/>
          </a:p>
          <a:p>
            <a:pPr algn="just" eaLnBrk="1" hangingPunct="1"/>
            <a:r>
              <a:rPr lang="en-US" altLang="en-GB" sz="2200" smtClean="0"/>
              <a:t>Since L</a:t>
            </a:r>
            <a:r>
              <a:rPr lang="en-US" altLang="en-GB" sz="2200" baseline="-25000" smtClean="0"/>
              <a:t>1</a:t>
            </a:r>
            <a:r>
              <a:rPr lang="en-US" altLang="en-GB" sz="2200" smtClean="0"/>
              <a:t>L</a:t>
            </a:r>
            <a:r>
              <a:rPr lang="en-US" altLang="en-GB" sz="2200" baseline="-25000" smtClean="0"/>
              <a:t>2</a:t>
            </a:r>
            <a:r>
              <a:rPr lang="en-US" altLang="en-GB" sz="2200" smtClean="0"/>
              <a:t> is defined by this TG, it is also defined by a regular expression by Kleene’s theorem, and therefore it is a regular language.</a:t>
            </a:r>
          </a:p>
        </p:txBody>
      </p:sp>
      <p:sp>
        <p:nvSpPr>
          <p:cNvPr id="15364" name="Slide Number Placeholder 5"/>
          <p:cNvSpPr txBox="1">
            <a:spLocks noGrp="1"/>
          </p:cNvSpPr>
          <p:nvPr/>
        </p:nvSpPr>
        <p:spPr bwMode="auto">
          <a:xfrm>
            <a:off x="6553200" y="6324600"/>
            <a:ext cx="2286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494A48DB-F3A5-4339-A3B2-FD679D43380F}" type="slidenum">
              <a:rPr lang="en-US" altLang="en-GB" sz="1400">
                <a:latin typeface="Arial" panose="020B0604020202020204" pitchFamily="34" charset="0"/>
                <a:cs typeface="Arial" panose="020B0604020202020204" pitchFamily="34" charset="0"/>
              </a:rPr>
              <a:pPr algn="r">
                <a:spcBef>
                  <a:spcPct val="0"/>
                </a:spcBef>
                <a:buFontTx/>
                <a:buNone/>
              </a:pPr>
              <a:t>7</a:t>
            </a:fld>
            <a:endParaRPr lang="en-US" altLang="en-GB" sz="1400">
              <a:latin typeface="Arial" panose="020B0604020202020204" pitchFamily="34" charset="0"/>
              <a:cs typeface="Arial" panose="020B0604020202020204" pitchFamily="34" charset="0"/>
            </a:endParaRPr>
          </a:p>
        </p:txBody>
      </p:sp>
      <p:pic>
        <p:nvPicPr>
          <p:cNvPr id="153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297238"/>
            <a:ext cx="58674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6975B4A-A3AD-4F5D-AAE8-4427D01603E4}" type="slidenum">
              <a:rPr lang="en-US" altLang="en-US" sz="1200">
                <a:solidFill>
                  <a:srgbClr val="898989"/>
                </a:solidFill>
                <a:latin typeface="Arial" panose="020B0604020202020204" pitchFamily="34" charset="0"/>
              </a:rPr>
              <a:pPr>
                <a:spcBef>
                  <a:spcPct val="0"/>
                </a:spcBef>
                <a:buFontTx/>
                <a:buNone/>
              </a:pPr>
              <a:t>7</a:t>
            </a:fld>
            <a:endParaRPr lang="en-US" altLang="en-US" sz="1200">
              <a:solidFill>
                <a:srgbClr val="898989"/>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7411" name="Rectangle 3"/>
          <p:cNvSpPr>
            <a:spLocks noGrp="1"/>
          </p:cNvSpPr>
          <p:nvPr>
            <p:ph type="body" idx="4294967295"/>
          </p:nvPr>
        </p:nvSpPr>
        <p:spPr>
          <a:xfrm>
            <a:off x="0" y="1481138"/>
            <a:ext cx="8229600" cy="4525962"/>
          </a:xfrm>
        </p:spPr>
        <p:txBody>
          <a:bodyPr/>
          <a:lstStyle/>
          <a:p>
            <a:pPr algn="just" eaLnBrk="1" hangingPunct="1">
              <a:lnSpc>
                <a:spcPct val="80000"/>
              </a:lnSpc>
            </a:pPr>
            <a:r>
              <a:rPr lang="en-US" altLang="en-GB" sz="2200" smtClean="0"/>
              <a:t>The TG described below accepts the language L</a:t>
            </a:r>
            <a:r>
              <a:rPr lang="en-US" altLang="en-GB" sz="2200" baseline="-25000" smtClean="0"/>
              <a:t>1</a:t>
            </a:r>
            <a:r>
              <a:rPr lang="en-US" altLang="en-GB" sz="2200" smtClean="0"/>
              <a:t>*.</a:t>
            </a:r>
          </a:p>
          <a:p>
            <a:pPr algn="just" eaLnBrk="1" hangingPunct="1">
              <a:lnSpc>
                <a:spcPct val="80000"/>
              </a:lnSpc>
            </a:pPr>
            <a:endParaRPr lang="en-US" altLang="en-GB" sz="2200" smtClean="0"/>
          </a:p>
          <a:p>
            <a:pPr algn="just" eaLnBrk="1" hangingPunct="1">
              <a:lnSpc>
                <a:spcPct val="80000"/>
              </a:lnSpc>
            </a:pPr>
            <a:endParaRPr lang="en-US" altLang="en-GB" sz="2200" smtClean="0"/>
          </a:p>
          <a:p>
            <a:pPr algn="just" eaLnBrk="1" hangingPunct="1">
              <a:lnSpc>
                <a:spcPct val="80000"/>
              </a:lnSpc>
            </a:pPr>
            <a:endParaRPr lang="en-US" altLang="en-GB" sz="2200" smtClean="0"/>
          </a:p>
          <a:p>
            <a:pPr algn="just" eaLnBrk="1" hangingPunct="1">
              <a:lnSpc>
                <a:spcPct val="80000"/>
              </a:lnSpc>
            </a:pPr>
            <a:endParaRPr lang="en-US" altLang="en-GB" sz="2200" smtClean="0"/>
          </a:p>
          <a:p>
            <a:pPr algn="just" eaLnBrk="1" hangingPunct="1">
              <a:lnSpc>
                <a:spcPct val="80000"/>
              </a:lnSpc>
            </a:pPr>
            <a:endParaRPr lang="en-US" altLang="en-GB" sz="2200" smtClean="0"/>
          </a:p>
          <a:p>
            <a:pPr algn="just" eaLnBrk="1" hangingPunct="1">
              <a:lnSpc>
                <a:spcPct val="80000"/>
              </a:lnSpc>
            </a:pPr>
            <a:endParaRPr lang="en-US" altLang="en-GB" sz="2200" smtClean="0"/>
          </a:p>
          <a:p>
            <a:pPr algn="just" eaLnBrk="1" hangingPunct="1">
              <a:lnSpc>
                <a:spcPct val="80000"/>
              </a:lnSpc>
            </a:pPr>
            <a:endParaRPr lang="en-US" altLang="en-GB" sz="2200" smtClean="0"/>
          </a:p>
          <a:p>
            <a:pPr algn="just" eaLnBrk="1" hangingPunct="1">
              <a:lnSpc>
                <a:spcPct val="80000"/>
              </a:lnSpc>
            </a:pPr>
            <a:endParaRPr lang="en-US" altLang="en-GB" sz="2200" smtClean="0"/>
          </a:p>
          <a:p>
            <a:pPr algn="just" eaLnBrk="1" hangingPunct="1">
              <a:lnSpc>
                <a:spcPct val="80000"/>
              </a:lnSpc>
            </a:pPr>
            <a:endParaRPr lang="en-US" altLang="en-GB" sz="2200" smtClean="0"/>
          </a:p>
          <a:p>
            <a:pPr algn="just" eaLnBrk="1" hangingPunct="1">
              <a:lnSpc>
                <a:spcPct val="80000"/>
              </a:lnSpc>
            </a:pPr>
            <a:r>
              <a:rPr lang="en-US" altLang="en-GB" sz="2200" smtClean="0"/>
              <a:t>We begin at the - state and trace a path to the + state of TG1. At this point, we could stop and accept the string or jump back, at no cost, to the - state and run another segment of the input string.</a:t>
            </a:r>
          </a:p>
        </p:txBody>
      </p:sp>
      <p:sp>
        <p:nvSpPr>
          <p:cNvPr id="17412" name="Slide Number Placeholder 5"/>
          <p:cNvSpPr txBox="1">
            <a:spLocks noGrp="1"/>
          </p:cNvSpPr>
          <p:nvPr/>
        </p:nvSpPr>
        <p:spPr bwMode="auto">
          <a:xfrm>
            <a:off x="6553200" y="6324600"/>
            <a:ext cx="2286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8AE9FF46-8C3F-4D05-A9EB-E8FA14294E83}" type="slidenum">
              <a:rPr lang="en-US" altLang="en-GB" sz="1400">
                <a:latin typeface="Arial" panose="020B0604020202020204" pitchFamily="34" charset="0"/>
                <a:cs typeface="Arial" panose="020B0604020202020204" pitchFamily="34" charset="0"/>
              </a:rPr>
              <a:pPr algn="r">
                <a:spcBef>
                  <a:spcPct val="0"/>
                </a:spcBef>
                <a:buFontTx/>
                <a:buNone/>
              </a:pPr>
              <a:t>8</a:t>
            </a:fld>
            <a:endParaRPr lang="en-US" altLang="en-GB" sz="1400">
              <a:latin typeface="Arial" panose="020B0604020202020204" pitchFamily="34" charset="0"/>
              <a:cs typeface="Arial" panose="020B0604020202020204" pitchFamily="34" charset="0"/>
            </a:endParaRPr>
          </a:p>
        </p:txBody>
      </p:sp>
      <p:pic>
        <p:nvPicPr>
          <p:cNvPr id="1741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2133600"/>
            <a:ext cx="149542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3EE7E98-A142-4928-BC5C-4C615AC0D7A2}" type="slidenum">
              <a:rPr lang="en-US" altLang="en-US" sz="1200">
                <a:solidFill>
                  <a:srgbClr val="898989"/>
                </a:solidFill>
                <a:latin typeface="Arial" panose="020B0604020202020204" pitchFamily="34" charset="0"/>
              </a:rPr>
              <a:pPr>
                <a:spcBef>
                  <a:spcPct val="0"/>
                </a:spcBef>
                <a:buFontTx/>
                <a:buNone/>
              </a:pPr>
              <a:t>8</a:t>
            </a:fld>
            <a:endParaRPr lang="en-US" altLang="en-US" sz="1200">
              <a:solidFill>
                <a:srgbClr val="898989"/>
              </a:solidFill>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9459" name="Rectangle 2"/>
          <p:cNvSpPr>
            <a:spLocks noGrp="1"/>
          </p:cNvSpPr>
          <p:nvPr>
            <p:ph type="title" idx="4294967295"/>
          </p:nvPr>
        </p:nvSpPr>
        <p:spPr>
          <a:xfrm>
            <a:off x="0" y="274638"/>
            <a:ext cx="8229600" cy="1143000"/>
          </a:xfrm>
        </p:spPr>
        <p:txBody>
          <a:bodyPr/>
          <a:lstStyle/>
          <a:p>
            <a:pPr eaLnBrk="1" hangingPunct="1"/>
            <a:r>
              <a:rPr lang="en-US" altLang="en-GB" sz="3800" smtClean="0"/>
              <a:t>Complements</a:t>
            </a:r>
          </a:p>
        </p:txBody>
      </p:sp>
      <p:sp>
        <p:nvSpPr>
          <p:cNvPr id="19460" name="Rectangle 3"/>
          <p:cNvSpPr>
            <a:spLocks noGrp="1"/>
          </p:cNvSpPr>
          <p:nvPr>
            <p:ph type="body" idx="4294967295"/>
          </p:nvPr>
        </p:nvSpPr>
        <p:spPr>
          <a:xfrm>
            <a:off x="0" y="1481138"/>
            <a:ext cx="8229600" cy="4525962"/>
          </a:xfrm>
        </p:spPr>
        <p:txBody>
          <a:bodyPr/>
          <a:lstStyle/>
          <a:p>
            <a:pPr algn="just" eaLnBrk="1" hangingPunct="1">
              <a:lnSpc>
                <a:spcPct val="90000"/>
              </a:lnSpc>
              <a:buFont typeface="Wingdings" panose="05000000000000000000" pitchFamily="2" charset="2"/>
              <a:buNone/>
            </a:pPr>
            <a:r>
              <a:rPr lang="en-US" altLang="en-GB" sz="2600" b="1" smtClean="0"/>
              <a:t>Definition:</a:t>
            </a:r>
          </a:p>
          <a:p>
            <a:pPr algn="just" eaLnBrk="1" hangingPunct="1">
              <a:lnSpc>
                <a:spcPct val="90000"/>
              </a:lnSpc>
            </a:pPr>
            <a:r>
              <a:rPr lang="en-US" altLang="en-GB" sz="2600" smtClean="0"/>
              <a:t>If L is a language over the alphabet , we define its </a:t>
            </a:r>
            <a:r>
              <a:rPr lang="en-US" altLang="en-GB" sz="2600" b="1" smtClean="0"/>
              <a:t>complement </a:t>
            </a:r>
            <a:r>
              <a:rPr lang="en-US" altLang="en-GB" sz="2600" smtClean="0"/>
              <a:t>L</a:t>
            </a:r>
            <a:r>
              <a:rPr lang="en-US" altLang="en-GB" sz="2600" b="1" smtClean="0"/>
              <a:t>`</a:t>
            </a:r>
            <a:r>
              <a:rPr lang="en-US" altLang="en-GB" sz="2600" smtClean="0"/>
              <a:t> to be the language of all strings of letters from  that are not words in L.</a:t>
            </a:r>
          </a:p>
          <a:p>
            <a:pPr algn="just" eaLnBrk="1" hangingPunct="1">
              <a:lnSpc>
                <a:spcPct val="90000"/>
              </a:lnSpc>
              <a:buFont typeface="Wingdings" panose="05000000000000000000" pitchFamily="2" charset="2"/>
              <a:buNone/>
            </a:pPr>
            <a:r>
              <a:rPr lang="en-US" altLang="en-GB" sz="2600" smtClean="0"/>
              <a:t>Example:</a:t>
            </a:r>
          </a:p>
          <a:p>
            <a:pPr algn="just" eaLnBrk="1" hangingPunct="1">
              <a:lnSpc>
                <a:spcPct val="90000"/>
              </a:lnSpc>
              <a:buFont typeface="Wingdings" panose="05000000000000000000" pitchFamily="2" charset="2"/>
              <a:buNone/>
            </a:pPr>
            <a:r>
              <a:rPr lang="en-US" altLang="en-GB" sz="2600" b="1" smtClean="0"/>
              <a:t>– </a:t>
            </a:r>
            <a:r>
              <a:rPr lang="en-US" altLang="en-GB" sz="2600" smtClean="0"/>
              <a:t>Let L be the language over the alphabet </a:t>
            </a:r>
            <a:r>
              <a:rPr lang="en-US" altLang="en-GB" sz="2600" smtClean="0">
                <a:cs typeface="Arial" panose="020B0604020202020204" pitchFamily="34" charset="0"/>
              </a:rPr>
              <a:t>∑</a:t>
            </a:r>
            <a:r>
              <a:rPr lang="en-US" altLang="en-GB" sz="2600" smtClean="0"/>
              <a:t> = {a; b} of all words that have a </a:t>
            </a:r>
            <a:r>
              <a:rPr lang="en-US" altLang="en-GB" sz="2600" b="1" smtClean="0"/>
              <a:t>double </a:t>
            </a:r>
            <a:r>
              <a:rPr lang="en-US" altLang="en-GB" sz="2600" smtClean="0"/>
              <a:t>a in them.</a:t>
            </a:r>
          </a:p>
          <a:p>
            <a:pPr algn="just" eaLnBrk="1" hangingPunct="1">
              <a:lnSpc>
                <a:spcPct val="90000"/>
              </a:lnSpc>
              <a:buFont typeface="Wingdings" panose="05000000000000000000" pitchFamily="2" charset="2"/>
              <a:buNone/>
            </a:pPr>
            <a:r>
              <a:rPr lang="en-US" altLang="en-GB" sz="2600" b="1" smtClean="0"/>
              <a:t>– </a:t>
            </a:r>
            <a:r>
              <a:rPr lang="en-US" altLang="en-GB" sz="2600" smtClean="0"/>
              <a:t>Then, L</a:t>
            </a:r>
            <a:r>
              <a:rPr lang="en-US" altLang="en-GB" sz="2600" b="1" smtClean="0"/>
              <a:t>`</a:t>
            </a:r>
            <a:r>
              <a:rPr lang="en-US" altLang="en-GB" sz="2600" smtClean="0"/>
              <a:t> is the language of all words that do </a:t>
            </a:r>
            <a:r>
              <a:rPr lang="en-US" altLang="en-GB" sz="2600" b="1" smtClean="0"/>
              <a:t>not </a:t>
            </a:r>
            <a:r>
              <a:rPr lang="en-US" altLang="en-GB" sz="2600" smtClean="0"/>
              <a:t>have a double a in them.</a:t>
            </a:r>
          </a:p>
          <a:p>
            <a:pPr algn="just" eaLnBrk="1" hangingPunct="1">
              <a:lnSpc>
                <a:spcPct val="90000"/>
              </a:lnSpc>
            </a:pPr>
            <a:r>
              <a:rPr lang="en-US" altLang="en-GB" sz="2600" smtClean="0"/>
              <a:t>Note that the complement of L</a:t>
            </a:r>
            <a:r>
              <a:rPr lang="en-US" altLang="en-GB" sz="2600" b="1" smtClean="0"/>
              <a:t>`</a:t>
            </a:r>
            <a:r>
              <a:rPr lang="en-US" altLang="en-GB" sz="2600" smtClean="0"/>
              <a:t> is L. That is </a:t>
            </a:r>
          </a:p>
          <a:p>
            <a:pPr algn="just" eaLnBrk="1" hangingPunct="1">
              <a:lnSpc>
                <a:spcPct val="90000"/>
              </a:lnSpc>
              <a:buFont typeface="Wingdings" panose="05000000000000000000" pitchFamily="2" charset="2"/>
              <a:buNone/>
            </a:pPr>
            <a:r>
              <a:rPr lang="en-US" altLang="en-GB" sz="2600" smtClean="0"/>
              <a:t>		(L`)` = L</a:t>
            </a:r>
          </a:p>
        </p:txBody>
      </p:sp>
      <p:sp>
        <p:nvSpPr>
          <p:cNvPr id="19461" name="Slide Number Placeholder 5"/>
          <p:cNvSpPr txBox="1">
            <a:spLocks noGrp="1"/>
          </p:cNvSpPr>
          <p:nvPr/>
        </p:nvSpPr>
        <p:spPr bwMode="auto">
          <a:xfrm>
            <a:off x="6553200" y="6324600"/>
            <a:ext cx="2286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BCD16C28-1248-443A-AD22-0D7BAA9EEFAD}" type="slidenum">
              <a:rPr lang="en-US" altLang="en-GB" sz="1400">
                <a:latin typeface="Arial" panose="020B0604020202020204" pitchFamily="34" charset="0"/>
                <a:cs typeface="Arial" panose="020B0604020202020204" pitchFamily="34" charset="0"/>
              </a:rPr>
              <a:pPr algn="r">
                <a:spcBef>
                  <a:spcPct val="0"/>
                </a:spcBef>
                <a:buFontTx/>
                <a:buNone/>
              </a:pPr>
              <a:t>9</a:t>
            </a:fld>
            <a:endParaRPr lang="en-US" altLang="en-GB" sz="1400">
              <a:latin typeface="Arial" panose="020B0604020202020204" pitchFamily="34" charset="0"/>
              <a:cs typeface="Arial" panose="020B0604020202020204" pitchFamily="34" charset="0"/>
            </a:endParaRPr>
          </a:p>
        </p:txBody>
      </p:sp>
      <p:sp>
        <p:nvSpPr>
          <p:cNvPr id="1946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A682A5D-ADA2-4FEB-AB32-66602D9C1DA1}" type="slidenum">
              <a:rPr lang="en-US" altLang="en-US" sz="1200">
                <a:solidFill>
                  <a:srgbClr val="898989"/>
                </a:solidFill>
                <a:latin typeface="Arial" panose="020B0604020202020204" pitchFamily="34" charset="0"/>
              </a:rPr>
              <a:pPr>
                <a:spcBef>
                  <a:spcPct val="0"/>
                </a:spcBef>
                <a:buFontTx/>
                <a:buNone/>
              </a:pPr>
              <a:t>9</a:t>
            </a:fld>
            <a:endParaRPr lang="en-US" altLang="en-US" sz="1200">
              <a:solidFill>
                <a:srgbClr val="898989"/>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1507" name="Rectangle 2"/>
          <p:cNvSpPr>
            <a:spLocks noGrp="1"/>
          </p:cNvSpPr>
          <p:nvPr>
            <p:ph type="title" idx="4294967295"/>
          </p:nvPr>
        </p:nvSpPr>
        <p:spPr>
          <a:xfrm>
            <a:off x="0" y="274638"/>
            <a:ext cx="8229600" cy="1143000"/>
          </a:xfrm>
        </p:spPr>
        <p:txBody>
          <a:bodyPr/>
          <a:lstStyle/>
          <a:p>
            <a:pPr eaLnBrk="1" hangingPunct="1"/>
            <a:r>
              <a:rPr lang="en-US" altLang="en-GB" sz="3800" smtClean="0"/>
              <a:t>Theorem 11</a:t>
            </a:r>
          </a:p>
        </p:txBody>
      </p:sp>
      <p:sp>
        <p:nvSpPr>
          <p:cNvPr id="21508" name="Rectangle 3"/>
          <p:cNvSpPr>
            <a:spLocks noGrp="1"/>
          </p:cNvSpPr>
          <p:nvPr>
            <p:ph type="body" idx="4294967295"/>
          </p:nvPr>
        </p:nvSpPr>
        <p:spPr>
          <a:xfrm>
            <a:off x="0" y="1481138"/>
            <a:ext cx="8229600" cy="4525962"/>
          </a:xfrm>
        </p:spPr>
        <p:txBody>
          <a:bodyPr/>
          <a:lstStyle/>
          <a:p>
            <a:pPr algn="just" eaLnBrk="1" hangingPunct="1"/>
            <a:endParaRPr lang="en-US" altLang="en-GB" b="1" smtClean="0"/>
          </a:p>
          <a:p>
            <a:pPr algn="just" eaLnBrk="1" hangingPunct="1"/>
            <a:endParaRPr lang="en-US" altLang="en-GB" b="1" smtClean="0"/>
          </a:p>
          <a:p>
            <a:pPr algn="just" eaLnBrk="1" hangingPunct="1">
              <a:buFont typeface="Wingdings" panose="05000000000000000000" pitchFamily="2" charset="2"/>
              <a:buNone/>
            </a:pPr>
            <a:r>
              <a:rPr lang="en-US" altLang="en-GB" b="1" smtClean="0"/>
              <a:t>   If </a:t>
            </a:r>
            <a:r>
              <a:rPr lang="en-US" altLang="en-GB" smtClean="0"/>
              <a:t>L </a:t>
            </a:r>
            <a:r>
              <a:rPr lang="en-US" altLang="en-GB" b="1" smtClean="0"/>
              <a:t>is a regular language, then </a:t>
            </a:r>
            <a:r>
              <a:rPr lang="en-US" altLang="en-GB" smtClean="0"/>
              <a:t>L` </a:t>
            </a:r>
            <a:r>
              <a:rPr lang="en-US" altLang="en-GB" b="1" smtClean="0"/>
              <a:t>is also a regular language. In other words, the set of regular languages is closed under complementation.</a:t>
            </a:r>
            <a:endParaRPr lang="en-US" altLang="en-GB" smtClean="0"/>
          </a:p>
          <a:p>
            <a:pPr algn="just" eaLnBrk="1" hangingPunct="1"/>
            <a:endParaRPr lang="en-US" altLang="en-GB" smtClean="0"/>
          </a:p>
        </p:txBody>
      </p:sp>
      <p:sp>
        <p:nvSpPr>
          <p:cNvPr id="21509" name="Slide Number Placeholder 5"/>
          <p:cNvSpPr txBox="1">
            <a:spLocks noGrp="1"/>
          </p:cNvSpPr>
          <p:nvPr/>
        </p:nvSpPr>
        <p:spPr bwMode="auto">
          <a:xfrm>
            <a:off x="6553200" y="6324600"/>
            <a:ext cx="2286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0A847212-6644-4E03-9D4F-DAA6760AAF7F}" type="slidenum">
              <a:rPr lang="en-US" altLang="en-GB" sz="1400">
                <a:latin typeface="Arial" panose="020B0604020202020204" pitchFamily="34" charset="0"/>
                <a:cs typeface="Arial" panose="020B0604020202020204" pitchFamily="34" charset="0"/>
              </a:rPr>
              <a:pPr algn="r">
                <a:spcBef>
                  <a:spcPct val="0"/>
                </a:spcBef>
                <a:buFontTx/>
                <a:buNone/>
              </a:pPr>
              <a:t>10</a:t>
            </a:fld>
            <a:endParaRPr lang="en-US" altLang="en-GB" sz="1400">
              <a:latin typeface="Arial" panose="020B0604020202020204" pitchFamily="34" charset="0"/>
              <a:cs typeface="Arial" panose="020B0604020202020204" pitchFamily="34" charset="0"/>
            </a:endParaRPr>
          </a:p>
        </p:txBody>
      </p:sp>
      <p:sp>
        <p:nvSpPr>
          <p:cNvPr id="2151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06AED77-10C1-4E1C-AA9E-544BBF688F7D}" type="slidenum">
              <a:rPr lang="en-US" altLang="en-US" sz="1200">
                <a:solidFill>
                  <a:srgbClr val="898989"/>
                </a:solidFill>
                <a:latin typeface="Arial" panose="020B0604020202020204" pitchFamily="34" charset="0"/>
              </a:rPr>
              <a:pPr>
                <a:spcBef>
                  <a:spcPct val="0"/>
                </a:spcBef>
                <a:buFontTx/>
                <a:buNone/>
              </a:pPr>
              <a:t>10</a:t>
            </a:fld>
            <a:endParaRPr lang="en-US" altLang="en-US" sz="1200">
              <a:solidFill>
                <a:srgbClr val="898989"/>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3555" name="Rectangle 2"/>
          <p:cNvSpPr>
            <a:spLocks noGrp="1"/>
          </p:cNvSpPr>
          <p:nvPr>
            <p:ph type="title" idx="4294967295"/>
          </p:nvPr>
        </p:nvSpPr>
        <p:spPr>
          <a:xfrm>
            <a:off x="0" y="274638"/>
            <a:ext cx="8229600" cy="1143000"/>
          </a:xfrm>
        </p:spPr>
        <p:txBody>
          <a:bodyPr/>
          <a:lstStyle/>
          <a:p>
            <a:pPr eaLnBrk="1" hangingPunct="1"/>
            <a:r>
              <a:rPr lang="en-US" altLang="en-GB" sz="3800" smtClean="0"/>
              <a:t>Proof of theorem 11</a:t>
            </a:r>
          </a:p>
        </p:txBody>
      </p:sp>
      <p:sp>
        <p:nvSpPr>
          <p:cNvPr id="23556" name="Rectangle 3"/>
          <p:cNvSpPr>
            <a:spLocks noGrp="1"/>
          </p:cNvSpPr>
          <p:nvPr>
            <p:ph type="body" idx="4294967295"/>
          </p:nvPr>
        </p:nvSpPr>
        <p:spPr>
          <a:xfrm>
            <a:off x="0" y="1481138"/>
            <a:ext cx="8229600" cy="4525962"/>
          </a:xfrm>
        </p:spPr>
        <p:txBody>
          <a:bodyPr/>
          <a:lstStyle/>
          <a:p>
            <a:pPr algn="just" eaLnBrk="1" hangingPunct="1">
              <a:lnSpc>
                <a:spcPct val="80000"/>
              </a:lnSpc>
            </a:pPr>
            <a:r>
              <a:rPr lang="en-US" altLang="en-GB" sz="2200" smtClean="0"/>
              <a:t>If L is a regular language, then by Kleene’s theorem, there is some FA that accepts the language L.</a:t>
            </a:r>
          </a:p>
          <a:p>
            <a:pPr algn="just" eaLnBrk="1" hangingPunct="1">
              <a:lnSpc>
                <a:spcPct val="80000"/>
              </a:lnSpc>
            </a:pPr>
            <a:r>
              <a:rPr lang="en-US" altLang="en-GB" sz="2200" smtClean="0"/>
              <a:t>Some states of this FA are final states and some are not. Let us reverse the status of each state: If it was a final state, make it a non-final state. If it was a non-final state, make it a final state. The start state gets reversed as follows: - </a:t>
            </a:r>
            <a:r>
              <a:rPr lang="en-US" altLang="en-GB" sz="2200" smtClean="0">
                <a:cs typeface="Arial" panose="020B0604020202020204" pitchFamily="34" charset="0"/>
              </a:rPr>
              <a:t>↔</a:t>
            </a:r>
            <a:r>
              <a:rPr lang="en-US" altLang="en-GB" sz="2200" smtClean="0"/>
              <a:t> </a:t>
            </a:r>
            <a:r>
              <a:rPr lang="en-US" altLang="en-GB" sz="2200" smtClean="0">
                <a:cs typeface="Arial" panose="020B0604020202020204" pitchFamily="34" charset="0"/>
              </a:rPr>
              <a:t>±</a:t>
            </a:r>
            <a:endParaRPr lang="en-US" altLang="en-GB" sz="2200" smtClean="0"/>
          </a:p>
          <a:p>
            <a:pPr algn="just" eaLnBrk="1" hangingPunct="1">
              <a:lnSpc>
                <a:spcPct val="80000"/>
              </a:lnSpc>
            </a:pPr>
            <a:r>
              <a:rPr lang="en-US" altLang="en-GB" sz="2200" smtClean="0"/>
              <a:t>If an input string formerly ended in a non-final state, it now ends in a final state, and vice versa.</a:t>
            </a:r>
          </a:p>
          <a:p>
            <a:pPr algn="just" eaLnBrk="1" hangingPunct="1">
              <a:lnSpc>
                <a:spcPct val="80000"/>
              </a:lnSpc>
            </a:pPr>
            <a:r>
              <a:rPr lang="en-US" altLang="en-GB" sz="2200" smtClean="0"/>
              <a:t>The new machine we have just built accepts all input strings that were not accepted by the original FA, and it rejects all the input strings that used to be accepted by FA.</a:t>
            </a:r>
          </a:p>
          <a:p>
            <a:pPr algn="just" eaLnBrk="1" hangingPunct="1">
              <a:lnSpc>
                <a:spcPct val="80000"/>
              </a:lnSpc>
            </a:pPr>
            <a:r>
              <a:rPr lang="en-US" altLang="en-GB" sz="2200" smtClean="0"/>
              <a:t>Therefore, this machine accepts exactly the language L`. So, by Kleene’s theorem, L` is regular.</a:t>
            </a:r>
          </a:p>
        </p:txBody>
      </p:sp>
      <p:sp>
        <p:nvSpPr>
          <p:cNvPr id="23557" name="Slide Number Placeholder 5"/>
          <p:cNvSpPr txBox="1">
            <a:spLocks noGrp="1"/>
          </p:cNvSpPr>
          <p:nvPr/>
        </p:nvSpPr>
        <p:spPr bwMode="auto">
          <a:xfrm>
            <a:off x="6553200" y="6324600"/>
            <a:ext cx="2286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75717824-C391-4C14-8B65-3A3EA85F6BE3}" type="slidenum">
              <a:rPr lang="en-US" altLang="en-GB" sz="1400">
                <a:latin typeface="Arial" panose="020B0604020202020204" pitchFamily="34" charset="0"/>
                <a:cs typeface="Arial" panose="020B0604020202020204" pitchFamily="34" charset="0"/>
              </a:rPr>
              <a:pPr algn="r">
                <a:spcBef>
                  <a:spcPct val="0"/>
                </a:spcBef>
                <a:buFontTx/>
                <a:buNone/>
              </a:pPr>
              <a:t>11</a:t>
            </a:fld>
            <a:endParaRPr lang="en-US" altLang="en-GB" sz="1400">
              <a:latin typeface="Arial" panose="020B0604020202020204" pitchFamily="34" charset="0"/>
              <a:cs typeface="Arial" panose="020B0604020202020204" pitchFamily="34" charset="0"/>
            </a:endParaRPr>
          </a:p>
        </p:txBody>
      </p:sp>
      <p:sp>
        <p:nvSpPr>
          <p:cNvPr id="2355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DBC8329-3981-41B1-9862-CB317096890C}" type="slidenum">
              <a:rPr lang="en-US" altLang="en-US" sz="1200">
                <a:solidFill>
                  <a:srgbClr val="898989"/>
                </a:solidFill>
                <a:latin typeface="Arial" panose="020B0604020202020204" pitchFamily="34" charset="0"/>
              </a:rPr>
              <a:pPr>
                <a:spcBef>
                  <a:spcPct val="0"/>
                </a:spcBef>
                <a:buFontTx/>
                <a:buNone/>
              </a:pPr>
              <a:t>11</a:t>
            </a:fld>
            <a:endParaRPr lang="en-US" altLang="en-US" sz="1200">
              <a:solidFill>
                <a:srgbClr val="898989"/>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5603" name="Rectangle 2"/>
          <p:cNvSpPr>
            <a:spLocks noGrp="1"/>
          </p:cNvSpPr>
          <p:nvPr>
            <p:ph type="title" idx="4294967295"/>
          </p:nvPr>
        </p:nvSpPr>
        <p:spPr>
          <a:xfrm>
            <a:off x="0" y="274638"/>
            <a:ext cx="8229600" cy="1143000"/>
          </a:xfrm>
        </p:spPr>
        <p:txBody>
          <a:bodyPr/>
          <a:lstStyle/>
          <a:p>
            <a:pPr eaLnBrk="1" hangingPunct="1"/>
            <a:r>
              <a:rPr lang="en-US" altLang="en-GB" sz="3800" smtClean="0"/>
              <a:t>Intersection: Theorem 12</a:t>
            </a:r>
          </a:p>
        </p:txBody>
      </p:sp>
      <p:sp>
        <p:nvSpPr>
          <p:cNvPr id="25604"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endParaRPr lang="en-US" altLang="en-GB" smtClean="0"/>
          </a:p>
          <a:p>
            <a:pPr algn="just" eaLnBrk="1" hangingPunct="1">
              <a:buFont typeface="Wingdings" panose="05000000000000000000" pitchFamily="2" charset="2"/>
              <a:buNone/>
            </a:pPr>
            <a:r>
              <a:rPr lang="en-US" altLang="en-GB" b="1" smtClean="0"/>
              <a:t>  If </a:t>
            </a:r>
            <a:r>
              <a:rPr lang="en-US" altLang="en-GB" smtClean="0"/>
              <a:t>L</a:t>
            </a:r>
            <a:r>
              <a:rPr lang="en-US" altLang="en-GB" baseline="-25000" smtClean="0"/>
              <a:t>1</a:t>
            </a:r>
            <a:r>
              <a:rPr lang="en-US" altLang="en-GB" smtClean="0"/>
              <a:t> </a:t>
            </a:r>
            <a:r>
              <a:rPr lang="en-US" altLang="en-GB" b="1" smtClean="0"/>
              <a:t>and </a:t>
            </a:r>
            <a:r>
              <a:rPr lang="en-US" altLang="en-GB" smtClean="0"/>
              <a:t>L</a:t>
            </a:r>
            <a:r>
              <a:rPr lang="en-US" altLang="en-GB" baseline="-25000" smtClean="0"/>
              <a:t>2</a:t>
            </a:r>
            <a:r>
              <a:rPr lang="en-US" altLang="en-GB" smtClean="0"/>
              <a:t> </a:t>
            </a:r>
            <a:r>
              <a:rPr lang="en-US" altLang="en-GB" b="1" smtClean="0"/>
              <a:t>are regular languages, then </a:t>
            </a:r>
            <a:r>
              <a:rPr lang="en-US" altLang="en-GB" smtClean="0"/>
              <a:t>L</a:t>
            </a:r>
            <a:r>
              <a:rPr lang="en-US" altLang="en-GB" baseline="-25000" smtClean="0"/>
              <a:t>1</a:t>
            </a:r>
            <a:r>
              <a:rPr lang="en-US" altLang="en-GB" smtClean="0"/>
              <a:t> </a:t>
            </a:r>
            <a:r>
              <a:rPr lang="en-US" altLang="en-GB" smtClean="0">
                <a:cs typeface="Arial" panose="020B0604020202020204" pitchFamily="34" charset="0"/>
              </a:rPr>
              <a:t>∩</a:t>
            </a:r>
            <a:r>
              <a:rPr lang="en-US" altLang="en-GB" smtClean="0"/>
              <a:t> L</a:t>
            </a:r>
            <a:r>
              <a:rPr lang="en-US" altLang="en-GB" baseline="-25000" smtClean="0"/>
              <a:t>2</a:t>
            </a:r>
            <a:r>
              <a:rPr lang="en-US" altLang="en-GB" smtClean="0"/>
              <a:t> </a:t>
            </a:r>
            <a:r>
              <a:rPr lang="en-US" altLang="en-GB" b="1" smtClean="0"/>
              <a:t>is also a regular language. In other words, the set of regular languages is closed under intersection.</a:t>
            </a:r>
            <a:endParaRPr lang="en-US" altLang="en-GB" smtClean="0"/>
          </a:p>
          <a:p>
            <a:pPr algn="just" eaLnBrk="1" hangingPunct="1">
              <a:buFont typeface="Wingdings" panose="05000000000000000000" pitchFamily="2" charset="2"/>
              <a:buNone/>
            </a:pPr>
            <a:endParaRPr lang="en-US" altLang="en-GB" smtClean="0"/>
          </a:p>
        </p:txBody>
      </p:sp>
      <p:sp>
        <p:nvSpPr>
          <p:cNvPr id="25605" name="Slide Number Placeholder 5"/>
          <p:cNvSpPr txBox="1">
            <a:spLocks noGrp="1"/>
          </p:cNvSpPr>
          <p:nvPr/>
        </p:nvSpPr>
        <p:spPr bwMode="auto">
          <a:xfrm>
            <a:off x="6553200" y="6324600"/>
            <a:ext cx="2286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10215444-F149-44D1-9036-590B7B51C2B7}" type="slidenum">
              <a:rPr lang="en-US" altLang="en-GB" sz="1400">
                <a:latin typeface="Arial" panose="020B0604020202020204" pitchFamily="34" charset="0"/>
                <a:cs typeface="Arial" panose="020B0604020202020204" pitchFamily="34" charset="0"/>
              </a:rPr>
              <a:pPr algn="r">
                <a:spcBef>
                  <a:spcPct val="0"/>
                </a:spcBef>
                <a:buFontTx/>
                <a:buNone/>
              </a:pPr>
              <a:t>12</a:t>
            </a:fld>
            <a:endParaRPr lang="en-US" altLang="en-GB" sz="1400">
              <a:latin typeface="Arial" panose="020B0604020202020204" pitchFamily="34" charset="0"/>
              <a:cs typeface="Arial" panose="020B0604020202020204" pitchFamily="34" charset="0"/>
            </a:endParaRPr>
          </a:p>
        </p:txBody>
      </p:sp>
      <p:sp>
        <p:nvSpPr>
          <p:cNvPr id="2560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4678C3B-1596-4D55-959F-8F592B5DACC8}" type="slidenum">
              <a:rPr lang="en-US" altLang="en-US" sz="1200">
                <a:solidFill>
                  <a:srgbClr val="898989"/>
                </a:solidFill>
                <a:latin typeface="Arial" panose="020B0604020202020204" pitchFamily="34" charset="0"/>
              </a:rPr>
              <a:pPr>
                <a:spcBef>
                  <a:spcPct val="0"/>
                </a:spcBef>
                <a:buFontTx/>
                <a:buNone/>
              </a:pPr>
              <a:t>12</a:t>
            </a:fld>
            <a:endParaRPr lang="en-US" altLang="en-US" sz="1200">
              <a:solidFill>
                <a:srgbClr val="898989"/>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7651" name="Rectangle 2"/>
          <p:cNvSpPr>
            <a:spLocks noGrp="1"/>
          </p:cNvSpPr>
          <p:nvPr>
            <p:ph type="title" idx="4294967295"/>
          </p:nvPr>
        </p:nvSpPr>
        <p:spPr>
          <a:xfrm>
            <a:off x="0" y="274638"/>
            <a:ext cx="8229600" cy="1143000"/>
          </a:xfrm>
        </p:spPr>
        <p:txBody>
          <a:bodyPr/>
          <a:lstStyle/>
          <a:p>
            <a:pPr eaLnBrk="1" hangingPunct="1"/>
            <a:r>
              <a:rPr lang="en-US" altLang="en-GB" sz="3800" smtClean="0"/>
              <a:t>Proof of Theorem 12</a:t>
            </a:r>
          </a:p>
        </p:txBody>
      </p:sp>
      <p:sp>
        <p:nvSpPr>
          <p:cNvPr id="27652"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200" smtClean="0"/>
              <a:t>By DeMorgan’s law (for sets of any kind): </a:t>
            </a:r>
          </a:p>
          <a:p>
            <a:pPr algn="just" eaLnBrk="1" hangingPunct="1">
              <a:lnSpc>
                <a:spcPct val="90000"/>
              </a:lnSpc>
              <a:buFont typeface="Wingdings" panose="05000000000000000000" pitchFamily="2" charset="2"/>
              <a:buNone/>
            </a:pPr>
            <a:r>
              <a:rPr lang="en-US" altLang="en-GB" sz="2200" smtClean="0"/>
              <a:t>			L</a:t>
            </a:r>
            <a:r>
              <a:rPr lang="en-US" altLang="en-GB" sz="2200" baseline="-25000" smtClean="0"/>
              <a:t>1</a:t>
            </a:r>
            <a:r>
              <a:rPr lang="en-US" altLang="en-GB" sz="2200" smtClean="0"/>
              <a:t> </a:t>
            </a:r>
            <a:r>
              <a:rPr lang="en-US" altLang="en-GB" sz="2200" smtClean="0">
                <a:cs typeface="Arial" panose="020B0604020202020204" pitchFamily="34" charset="0"/>
              </a:rPr>
              <a:t>∩</a:t>
            </a:r>
            <a:r>
              <a:rPr lang="en-US" altLang="en-GB" sz="2200" smtClean="0"/>
              <a:t> L</a:t>
            </a:r>
            <a:r>
              <a:rPr lang="en-US" altLang="en-GB" sz="2200" baseline="-25000" smtClean="0"/>
              <a:t>2</a:t>
            </a:r>
            <a:r>
              <a:rPr lang="en-US" altLang="en-GB" sz="2200" smtClean="0"/>
              <a:t> = (L`</a:t>
            </a:r>
            <a:r>
              <a:rPr lang="en-US" altLang="en-GB" sz="2200" baseline="-25000" smtClean="0"/>
              <a:t>1</a:t>
            </a:r>
            <a:r>
              <a:rPr lang="en-US" altLang="en-GB" sz="2200" smtClean="0"/>
              <a:t> + L`</a:t>
            </a:r>
            <a:r>
              <a:rPr lang="en-US" altLang="en-GB" sz="2200" baseline="-25000" smtClean="0"/>
              <a:t>2</a:t>
            </a:r>
            <a:r>
              <a:rPr lang="en-US" altLang="en-GB" sz="2200" smtClean="0"/>
              <a:t>)`</a:t>
            </a:r>
          </a:p>
          <a:p>
            <a:pPr algn="just" eaLnBrk="1" hangingPunct="1">
              <a:lnSpc>
                <a:spcPct val="90000"/>
              </a:lnSpc>
            </a:pPr>
            <a:r>
              <a:rPr lang="en-US" altLang="en-GB" sz="2200" smtClean="0"/>
              <a:t>This means that the language L</a:t>
            </a:r>
            <a:r>
              <a:rPr lang="en-US" altLang="en-GB" sz="2200" baseline="-25000" smtClean="0"/>
              <a:t>1</a:t>
            </a:r>
            <a:r>
              <a:rPr lang="en-US" altLang="en-GB" sz="2200" smtClean="0"/>
              <a:t> </a:t>
            </a:r>
            <a:r>
              <a:rPr lang="en-US" altLang="en-GB" sz="2200" smtClean="0">
                <a:cs typeface="Arial" panose="020B0604020202020204" pitchFamily="34" charset="0"/>
              </a:rPr>
              <a:t>∩</a:t>
            </a:r>
            <a:r>
              <a:rPr lang="en-US" altLang="en-GB" sz="2200" smtClean="0"/>
              <a:t> L</a:t>
            </a:r>
            <a:r>
              <a:rPr lang="en-US" altLang="en-GB" sz="2200" baseline="-25000" smtClean="0"/>
              <a:t>2</a:t>
            </a:r>
            <a:r>
              <a:rPr lang="en-US" altLang="en-GB" sz="2200" smtClean="0"/>
              <a:t> consists of all words that are </a:t>
            </a:r>
            <a:r>
              <a:rPr lang="en-US" altLang="en-GB" sz="2200" b="1" smtClean="0"/>
              <a:t>not </a:t>
            </a:r>
            <a:r>
              <a:rPr lang="en-US" altLang="en-GB" sz="2200" smtClean="0"/>
              <a:t>in either L`</a:t>
            </a:r>
            <a:r>
              <a:rPr lang="en-US" altLang="en-GB" sz="2200" baseline="-25000" smtClean="0"/>
              <a:t>1</a:t>
            </a:r>
            <a:r>
              <a:rPr lang="en-US" altLang="en-GB" sz="2200" smtClean="0"/>
              <a:t> or L`</a:t>
            </a:r>
            <a:r>
              <a:rPr lang="en-US" altLang="en-GB" sz="2200" baseline="-25000" smtClean="0"/>
              <a:t>2</a:t>
            </a:r>
            <a:r>
              <a:rPr lang="en-US" altLang="en-GB" sz="2200" smtClean="0"/>
              <a:t>.</a:t>
            </a:r>
          </a:p>
          <a:p>
            <a:pPr algn="just" eaLnBrk="1" hangingPunct="1">
              <a:lnSpc>
                <a:spcPct val="90000"/>
              </a:lnSpc>
            </a:pPr>
            <a:r>
              <a:rPr lang="en-US" altLang="en-GB" sz="2200" smtClean="0"/>
              <a:t>Because L</a:t>
            </a:r>
            <a:r>
              <a:rPr lang="en-US" altLang="en-GB" sz="2200" baseline="-25000" smtClean="0"/>
              <a:t>1</a:t>
            </a:r>
            <a:r>
              <a:rPr lang="en-US" altLang="en-GB" sz="2200" smtClean="0"/>
              <a:t> and L</a:t>
            </a:r>
            <a:r>
              <a:rPr lang="en-US" altLang="en-GB" sz="2200" baseline="-25000" smtClean="0"/>
              <a:t>2</a:t>
            </a:r>
            <a:r>
              <a:rPr lang="en-US" altLang="en-GB" sz="2200" smtClean="0"/>
              <a:t> are regular, then so are L`</a:t>
            </a:r>
            <a:r>
              <a:rPr lang="en-US" altLang="en-GB" sz="2200" baseline="-25000" smtClean="0"/>
              <a:t>1</a:t>
            </a:r>
            <a:r>
              <a:rPr lang="en-US" altLang="en-GB" sz="2200" smtClean="0"/>
              <a:t> and L`</a:t>
            </a:r>
            <a:r>
              <a:rPr lang="en-US" altLang="en-GB" sz="2200" baseline="-25000" smtClean="0"/>
              <a:t>2</a:t>
            </a:r>
            <a:r>
              <a:rPr lang="en-US" altLang="en-GB" sz="2200" smtClean="0"/>
              <a:t> by Theorem 11.</a:t>
            </a:r>
          </a:p>
          <a:p>
            <a:pPr algn="just" eaLnBrk="1" hangingPunct="1">
              <a:lnSpc>
                <a:spcPct val="90000"/>
              </a:lnSpc>
            </a:pPr>
            <a:r>
              <a:rPr lang="en-US" altLang="en-GB" sz="2200" smtClean="0"/>
              <a:t>Since L`</a:t>
            </a:r>
            <a:r>
              <a:rPr lang="en-US" altLang="en-GB" sz="2200" baseline="-25000" smtClean="0"/>
              <a:t>1</a:t>
            </a:r>
            <a:r>
              <a:rPr lang="en-US" altLang="en-GB" sz="2200" smtClean="0"/>
              <a:t> and L`</a:t>
            </a:r>
            <a:r>
              <a:rPr lang="en-US" altLang="en-GB" sz="2200" baseline="-25000" smtClean="0"/>
              <a:t>2</a:t>
            </a:r>
            <a:r>
              <a:rPr lang="en-US" altLang="en-GB" sz="2200" smtClean="0"/>
              <a:t> are regular, so is L`</a:t>
            </a:r>
            <a:r>
              <a:rPr lang="en-US" altLang="en-GB" sz="2200" baseline="-25000" smtClean="0"/>
              <a:t>1</a:t>
            </a:r>
            <a:r>
              <a:rPr lang="en-US" altLang="en-GB" sz="2200" smtClean="0"/>
              <a:t> + L`</a:t>
            </a:r>
            <a:r>
              <a:rPr lang="en-US" altLang="en-GB" sz="2200" baseline="-25000" smtClean="0"/>
              <a:t>2</a:t>
            </a:r>
            <a:r>
              <a:rPr lang="en-US" altLang="en-GB" sz="2200" smtClean="0"/>
              <a:t> by Theorem 10.</a:t>
            </a:r>
          </a:p>
          <a:p>
            <a:pPr algn="just" eaLnBrk="1" hangingPunct="1">
              <a:lnSpc>
                <a:spcPct val="90000"/>
              </a:lnSpc>
            </a:pPr>
            <a:r>
              <a:rPr lang="en-US" altLang="en-GB" sz="2200" smtClean="0"/>
              <a:t>Now, since L`</a:t>
            </a:r>
            <a:r>
              <a:rPr lang="en-US" altLang="en-GB" sz="2200" baseline="-25000" smtClean="0"/>
              <a:t>1</a:t>
            </a:r>
            <a:r>
              <a:rPr lang="en-US" altLang="en-GB" sz="2200" smtClean="0"/>
              <a:t> + L`</a:t>
            </a:r>
            <a:r>
              <a:rPr lang="en-US" altLang="en-GB" sz="2200" baseline="-25000" smtClean="0"/>
              <a:t>2</a:t>
            </a:r>
            <a:r>
              <a:rPr lang="en-US" altLang="en-GB" sz="2200" smtClean="0"/>
              <a:t> is regular, so is (L`</a:t>
            </a:r>
            <a:r>
              <a:rPr lang="en-US" altLang="en-GB" sz="2200" baseline="-25000" smtClean="0"/>
              <a:t>1</a:t>
            </a:r>
            <a:r>
              <a:rPr lang="en-US" altLang="en-GB" sz="2200" smtClean="0"/>
              <a:t> + L`</a:t>
            </a:r>
            <a:r>
              <a:rPr lang="en-US" altLang="en-GB" sz="2200" baseline="-25000" smtClean="0"/>
              <a:t>2</a:t>
            </a:r>
            <a:r>
              <a:rPr lang="en-US" altLang="en-GB" sz="2200" smtClean="0"/>
              <a:t>)` by Theorem 11.</a:t>
            </a:r>
          </a:p>
          <a:p>
            <a:pPr algn="just" eaLnBrk="1" hangingPunct="1">
              <a:lnSpc>
                <a:spcPct val="90000"/>
              </a:lnSpc>
            </a:pPr>
            <a:r>
              <a:rPr lang="en-US" altLang="en-GB" sz="2200" smtClean="0"/>
              <a:t>This means L1 </a:t>
            </a:r>
            <a:r>
              <a:rPr lang="en-US" altLang="en-GB" sz="2200" smtClean="0">
                <a:cs typeface="Arial" panose="020B0604020202020204" pitchFamily="34" charset="0"/>
              </a:rPr>
              <a:t>∩</a:t>
            </a:r>
            <a:r>
              <a:rPr lang="en-US" altLang="en-GB" sz="2200" smtClean="0"/>
              <a:t> L2 is regular, because </a:t>
            </a:r>
          </a:p>
          <a:p>
            <a:pPr algn="just" eaLnBrk="1" hangingPunct="1">
              <a:lnSpc>
                <a:spcPct val="90000"/>
              </a:lnSpc>
              <a:buFont typeface="Wingdings" panose="05000000000000000000" pitchFamily="2" charset="2"/>
              <a:buNone/>
            </a:pPr>
            <a:r>
              <a:rPr lang="en-US" altLang="en-GB" sz="2200" smtClean="0"/>
              <a:t>		L1 </a:t>
            </a:r>
            <a:r>
              <a:rPr lang="en-US" altLang="en-GB" sz="2200" smtClean="0">
                <a:cs typeface="Arial" panose="020B0604020202020204" pitchFamily="34" charset="0"/>
              </a:rPr>
              <a:t>∩</a:t>
            </a:r>
            <a:r>
              <a:rPr lang="en-US" altLang="en-GB" sz="2200" smtClean="0"/>
              <a:t> L2 = (L`</a:t>
            </a:r>
            <a:r>
              <a:rPr lang="en-US" altLang="en-GB" sz="2200" baseline="-25000" smtClean="0"/>
              <a:t>1</a:t>
            </a:r>
            <a:r>
              <a:rPr lang="en-US" altLang="en-GB" sz="2200" smtClean="0"/>
              <a:t> + L`</a:t>
            </a:r>
            <a:r>
              <a:rPr lang="en-US" altLang="en-GB" sz="2200" baseline="-25000" smtClean="0"/>
              <a:t>2</a:t>
            </a:r>
            <a:r>
              <a:rPr lang="en-US" altLang="en-GB" sz="2200" smtClean="0"/>
              <a:t>)` by DeMorgan’s law.</a:t>
            </a:r>
          </a:p>
        </p:txBody>
      </p:sp>
      <p:sp>
        <p:nvSpPr>
          <p:cNvPr id="27653" name="Slide Number Placeholder 5"/>
          <p:cNvSpPr txBox="1">
            <a:spLocks noGrp="1"/>
          </p:cNvSpPr>
          <p:nvPr/>
        </p:nvSpPr>
        <p:spPr bwMode="auto">
          <a:xfrm>
            <a:off x="6553200" y="6324600"/>
            <a:ext cx="2286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A87BA697-84BB-42A2-81B6-D6312BED7904}" type="slidenum">
              <a:rPr lang="en-US" altLang="en-GB" sz="1400">
                <a:latin typeface="Arial" panose="020B0604020202020204" pitchFamily="34" charset="0"/>
                <a:cs typeface="Arial" panose="020B0604020202020204" pitchFamily="34" charset="0"/>
              </a:rPr>
              <a:pPr algn="r">
                <a:spcBef>
                  <a:spcPct val="0"/>
                </a:spcBef>
                <a:buFontTx/>
                <a:buNone/>
              </a:pPr>
              <a:t>13</a:t>
            </a:fld>
            <a:endParaRPr lang="en-US" altLang="en-GB" sz="1400">
              <a:latin typeface="Arial" panose="020B0604020202020204" pitchFamily="34" charset="0"/>
              <a:cs typeface="Arial" panose="020B0604020202020204" pitchFamily="34" charset="0"/>
            </a:endParaRPr>
          </a:p>
        </p:txBody>
      </p:sp>
      <p:sp>
        <p:nvSpPr>
          <p:cNvPr id="2765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3901ED5-4C82-43A4-9A3D-54BB4B1C5E2E}" type="slidenum">
              <a:rPr lang="en-US" altLang="en-US" sz="1200">
                <a:solidFill>
                  <a:srgbClr val="898989"/>
                </a:solidFill>
                <a:latin typeface="Arial" panose="020B0604020202020204" pitchFamily="34" charset="0"/>
              </a:rPr>
              <a:pPr>
                <a:spcBef>
                  <a:spcPct val="0"/>
                </a:spcBef>
                <a:buFontTx/>
                <a:buNone/>
              </a:pPr>
              <a:t>13</a:t>
            </a:fld>
            <a:endParaRPr lang="en-US" altLang="en-US" sz="1200">
              <a:solidFill>
                <a:srgbClr val="898989"/>
              </a:solidFill>
              <a:latin typeface="Arial" panose="020B06040202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7616</TotalTime>
  <Words>826</Words>
  <Application>Microsoft Office PowerPoint</Application>
  <PresentationFormat>On-screen Show (4:3)</PresentationFormat>
  <Paragraphs>135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Wingdings</vt:lpstr>
      <vt:lpstr>Office Theme</vt:lpstr>
      <vt:lpstr>Theory of Automata  Properties of Regular Languages</vt:lpstr>
      <vt:lpstr>Contents</vt:lpstr>
      <vt:lpstr>Closure Properties</vt:lpstr>
      <vt:lpstr>Theorem 10</vt:lpstr>
      <vt:lpstr>Proof by Machines</vt:lpstr>
      <vt:lpstr>Proof contd.</vt:lpstr>
      <vt:lpstr>PowerPoint Presentation</vt:lpstr>
      <vt:lpstr>PowerPoint Presentation</vt:lpstr>
      <vt:lpstr>Complements</vt:lpstr>
      <vt:lpstr>Theorem 11</vt:lpstr>
      <vt:lpstr>Proof of theorem 11</vt:lpstr>
      <vt:lpstr>Intersection: Theorem 12</vt:lpstr>
      <vt:lpstr>Proof of Theorem 12</vt:lpstr>
    </vt:vector>
  </TitlesOfParts>
  <Company>fast-nu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Automata</dc:title>
  <dc:creator>Majid</dc:creator>
  <cp:lastModifiedBy>user1</cp:lastModifiedBy>
  <cp:revision>159</cp:revision>
  <dcterms:created xsi:type="dcterms:W3CDTF">2011-08-06T09:27:24Z</dcterms:created>
  <dcterms:modified xsi:type="dcterms:W3CDTF">2025-07-28T10:26:47Z</dcterms:modified>
</cp:coreProperties>
</file>