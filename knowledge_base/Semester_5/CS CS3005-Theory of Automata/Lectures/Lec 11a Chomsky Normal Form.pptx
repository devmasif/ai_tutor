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9" r:id="rId1"/>
  </p:sldMasterIdLst>
  <p:notesMasterIdLst>
    <p:notesMasterId r:id="rId26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5085" autoAdjust="0"/>
  </p:normalViewPr>
  <p:slideViewPr>
    <p:cSldViewPr>
      <p:cViewPr varScale="1">
        <p:scale>
          <a:sx n="106" d="100"/>
          <a:sy n="106" d="100"/>
        </p:scale>
        <p:origin x="24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0452C53-4ED8-4174-A4C8-3554CC04DA42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52C5C0-1813-4845-A268-9F49F6EE89D3}" type="slidenum">
              <a:rPr lang="en-US" altLang="en-GB"/>
              <a:pPr/>
              <a:t>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9C3B6F-3350-41EA-A9CA-7FCA28805589}" type="slidenum">
              <a:rPr lang="en-US" altLang="en-GB"/>
              <a:pPr/>
              <a:t>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078BC1-979F-45FF-A3CF-CEC77A682F10}" type="slidenum">
              <a:rPr lang="en-US" altLang="en-GB"/>
              <a:pPr/>
              <a:t>3</a:t>
            </a:fld>
            <a:endParaRPr lang="en-US" altLang="en-GB"/>
          </a:p>
        </p:txBody>
      </p:sp>
      <p:sp>
        <p:nvSpPr>
          <p:cNvPr id="819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1C4E926-51E7-48BF-9EDB-B7CCDF844C89}" type="slidenum">
              <a:rPr lang="en-US" altLang="en-GB" sz="1200">
                <a:cs typeface="Arial" panose="020B0604020202020204" pitchFamily="34" charset="0"/>
              </a:rPr>
              <a:pPr algn="r"/>
              <a:t>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D8A42F-0E5A-43CD-8B7A-9F153A0735CF}" type="slidenum">
              <a:rPr lang="en-US" altLang="en-GB"/>
              <a:pPr/>
              <a:t>4</a:t>
            </a:fld>
            <a:endParaRPr lang="en-US" altLang="en-GB"/>
          </a:p>
        </p:txBody>
      </p:sp>
      <p:sp>
        <p:nvSpPr>
          <p:cNvPr id="1024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24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1C472DE-876A-458F-9DEF-0E0D64201D5A}" type="slidenum">
              <a:rPr lang="en-US" altLang="en-GB" sz="1200">
                <a:cs typeface="Arial" panose="020B0604020202020204" pitchFamily="34" charset="0"/>
              </a:rPr>
              <a:pPr algn="r"/>
              <a:t>4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AED3E5-3B27-4D18-BEEF-9AFEBC5B32AF}" type="slidenum">
              <a:rPr lang="en-US" altLang="en-GB"/>
              <a:pPr/>
              <a:t>5</a:t>
            </a:fld>
            <a:endParaRPr lang="en-US" altLang="en-GB"/>
          </a:p>
        </p:txBody>
      </p:sp>
      <p:sp>
        <p:nvSpPr>
          <p:cNvPr id="1229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229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A61508E-22E8-43A5-BDA1-0CA3996B2927}" type="slidenum">
              <a:rPr lang="en-US" altLang="en-GB" sz="1200">
                <a:cs typeface="Arial" panose="020B0604020202020204" pitchFamily="34" charset="0"/>
              </a:rPr>
              <a:pPr algn="r"/>
              <a:t>5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EC0FAB-DBD5-4292-BBEC-EDADBD131CDE}" type="slidenum">
              <a:rPr lang="en-US" altLang="en-GB"/>
              <a:pPr/>
              <a:t>6</a:t>
            </a:fld>
            <a:endParaRPr lang="en-US" altLang="en-GB"/>
          </a:p>
        </p:txBody>
      </p:sp>
      <p:sp>
        <p:nvSpPr>
          <p:cNvPr id="1433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434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2FB3A1D-9774-4EEB-BF2E-78E4D100BBF7}" type="slidenum">
              <a:rPr lang="en-US" altLang="en-GB" sz="1200">
                <a:cs typeface="Arial" panose="020B0604020202020204" pitchFamily="34" charset="0"/>
              </a:rPr>
              <a:pPr algn="r"/>
              <a:t>6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852FC5-5DB9-4079-8BA9-3DD1D951BDC9}" type="slidenum">
              <a:rPr lang="en-US" altLang="en-GB"/>
              <a:pPr/>
              <a:t>7</a:t>
            </a:fld>
            <a:endParaRPr lang="en-US" altLang="en-GB"/>
          </a:p>
        </p:txBody>
      </p:sp>
      <p:sp>
        <p:nvSpPr>
          <p:cNvPr id="1638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638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9355B66-9C74-4FD7-A5BD-31A7438E8628}" type="slidenum">
              <a:rPr lang="en-US" altLang="en-GB" sz="1200">
                <a:cs typeface="Arial" panose="020B0604020202020204" pitchFamily="34" charset="0"/>
              </a:rPr>
              <a:pPr algn="r"/>
              <a:t>7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9A8055-8EE0-4112-B767-77EA1F89D903}" type="slidenum">
              <a:rPr lang="en-US" altLang="en-GB"/>
              <a:pPr/>
              <a:t>8</a:t>
            </a:fld>
            <a:endParaRPr lang="en-US" altLang="en-GB"/>
          </a:p>
        </p:txBody>
      </p:sp>
      <p:sp>
        <p:nvSpPr>
          <p:cNvPr id="1843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843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F289C1E-13AE-4139-8836-E3206736621F}" type="slidenum">
              <a:rPr lang="en-US" altLang="en-GB" sz="1200">
                <a:cs typeface="Arial" panose="020B0604020202020204" pitchFamily="34" charset="0"/>
              </a:rPr>
              <a:pPr algn="r"/>
              <a:t>8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949F87-532B-4372-9799-6E2C952D8569}" type="slidenum">
              <a:rPr lang="en-US" altLang="en-GB"/>
              <a:pPr/>
              <a:t>9</a:t>
            </a:fld>
            <a:endParaRPr lang="en-US" altLang="en-GB"/>
          </a:p>
        </p:txBody>
      </p:sp>
      <p:sp>
        <p:nvSpPr>
          <p:cNvPr id="2048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048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C6DF008-7BB5-4C68-9212-6D7F2949A756}" type="slidenum">
              <a:rPr lang="en-US" altLang="en-GB" sz="1200">
                <a:cs typeface="Arial" panose="020B0604020202020204" pitchFamily="34" charset="0"/>
              </a:rPr>
              <a:pPr algn="r"/>
              <a:t>9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E3E2EF-719B-4C75-9F44-06B8ADA424A1}" type="slidenum">
              <a:rPr lang="en-US" altLang="en-GB"/>
              <a:pPr/>
              <a:t>10</a:t>
            </a:fld>
            <a:endParaRPr lang="en-US" altLang="en-GB"/>
          </a:p>
        </p:txBody>
      </p:sp>
      <p:sp>
        <p:nvSpPr>
          <p:cNvPr id="2253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253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04060C9-63A6-474F-B694-166446FB7837}" type="slidenum">
              <a:rPr lang="en-US" altLang="en-GB" sz="1200">
                <a:cs typeface="Arial" panose="020B0604020202020204" pitchFamily="34" charset="0"/>
              </a:rPr>
              <a:pPr algn="r"/>
              <a:t>10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57B6D1-C305-4565-B724-BB5AA10C8E00}" type="slidenum">
              <a:rPr lang="en-US" altLang="en-GB"/>
              <a:pPr/>
              <a:t>11</a:t>
            </a:fld>
            <a:endParaRPr lang="en-US" altLang="en-GB"/>
          </a:p>
        </p:txBody>
      </p:sp>
      <p:sp>
        <p:nvSpPr>
          <p:cNvPr id="2457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458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C4B62DE-FBEA-4EC9-9433-80163170A30A}" type="slidenum">
              <a:rPr lang="en-US" altLang="en-GB" sz="1200">
                <a:cs typeface="Arial" panose="020B0604020202020204" pitchFamily="34" charset="0"/>
              </a:rPr>
              <a:pPr algn="r"/>
              <a:t>11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8337C6-2868-4303-B03C-C9845252D131}" type="slidenum">
              <a:rPr lang="en-US" altLang="en-GB"/>
              <a:pPr/>
              <a:t>12</a:t>
            </a:fld>
            <a:endParaRPr lang="en-US" altLang="en-GB"/>
          </a:p>
        </p:txBody>
      </p:sp>
      <p:sp>
        <p:nvSpPr>
          <p:cNvPr id="2662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662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1BCDEE0-885F-4CFD-8F10-91DEB2FD3BCE}" type="slidenum">
              <a:rPr lang="en-US" altLang="en-GB" sz="1200">
                <a:cs typeface="Arial" panose="020B0604020202020204" pitchFamily="34" charset="0"/>
              </a:rPr>
              <a:pPr algn="r"/>
              <a:t>12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E370B6-BE98-4A75-AE70-D0174C8371B6}" type="slidenum">
              <a:rPr lang="en-US" altLang="en-GB"/>
              <a:pPr/>
              <a:t>13</a:t>
            </a:fld>
            <a:endParaRPr lang="en-US" altLang="en-GB"/>
          </a:p>
        </p:txBody>
      </p:sp>
      <p:sp>
        <p:nvSpPr>
          <p:cNvPr id="2867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867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8DA7345-F01B-40EB-ABF6-9F1FFF767500}" type="slidenum">
              <a:rPr lang="en-US" altLang="en-GB" sz="1200">
                <a:cs typeface="Arial" panose="020B0604020202020204" pitchFamily="34" charset="0"/>
              </a:rPr>
              <a:pPr algn="r"/>
              <a:t>13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9BE275-381A-4F8C-8973-8C8B1EF75CF1}" type="slidenum">
              <a:rPr lang="en-US" altLang="en-GB"/>
              <a:pPr/>
              <a:t>14</a:t>
            </a:fld>
            <a:endParaRPr lang="en-US" altLang="en-GB"/>
          </a:p>
        </p:txBody>
      </p:sp>
      <p:sp>
        <p:nvSpPr>
          <p:cNvPr id="3072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072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8793427-1993-4D9A-897B-32F749326F6E}" type="slidenum">
              <a:rPr lang="en-US" altLang="en-GB" sz="1200">
                <a:cs typeface="Arial" panose="020B0604020202020204" pitchFamily="34" charset="0"/>
              </a:rPr>
              <a:pPr algn="r"/>
              <a:t>14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4080DD-82BD-4240-AA0E-B6F9D1E7A304}" type="slidenum">
              <a:rPr lang="en-US" altLang="en-GB"/>
              <a:pPr/>
              <a:t>15</a:t>
            </a:fld>
            <a:endParaRPr lang="en-US" altLang="en-GB"/>
          </a:p>
        </p:txBody>
      </p:sp>
      <p:sp>
        <p:nvSpPr>
          <p:cNvPr id="3277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277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938D51F-3B4E-4FC2-9A63-0C55BAA3D750}" type="slidenum">
              <a:rPr lang="en-US" altLang="en-GB" sz="1200">
                <a:cs typeface="Arial" panose="020B0604020202020204" pitchFamily="34" charset="0"/>
              </a:rPr>
              <a:pPr algn="r"/>
              <a:t>15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E4551F-4BAD-4CE6-8250-1286C67FEFCF}" type="slidenum">
              <a:rPr lang="en-US" altLang="en-GB"/>
              <a:pPr/>
              <a:t>16</a:t>
            </a:fld>
            <a:endParaRPr lang="en-US" altLang="en-GB"/>
          </a:p>
        </p:txBody>
      </p:sp>
      <p:sp>
        <p:nvSpPr>
          <p:cNvPr id="3481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482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0220F8F-1065-40A0-9FA6-6BD6EBA635BE}" type="slidenum">
              <a:rPr lang="en-US" altLang="en-GB" sz="1200">
                <a:cs typeface="Arial" panose="020B0604020202020204" pitchFamily="34" charset="0"/>
              </a:rPr>
              <a:pPr algn="r"/>
              <a:t>16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DB47F7-8D0D-422B-A94A-C5B0765A1374}" type="slidenum">
              <a:rPr lang="en-US" altLang="en-GB"/>
              <a:pPr/>
              <a:t>17</a:t>
            </a:fld>
            <a:endParaRPr lang="en-US" altLang="en-GB"/>
          </a:p>
        </p:txBody>
      </p:sp>
      <p:sp>
        <p:nvSpPr>
          <p:cNvPr id="3686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686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A44E508-4245-4792-9E72-F73E3B126CC3}" type="slidenum">
              <a:rPr lang="en-US" altLang="en-GB" sz="1200">
                <a:cs typeface="Arial" panose="020B0604020202020204" pitchFamily="34" charset="0"/>
              </a:rPr>
              <a:pPr algn="r"/>
              <a:t>17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487225-4433-4B34-9626-B6B9A2FDFC03}" type="slidenum">
              <a:rPr lang="en-US" altLang="en-GB"/>
              <a:pPr/>
              <a:t>18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AB8A7E-22C0-4A70-BB1F-62B1EE816163}" type="slidenum">
              <a:rPr lang="en-US" altLang="en-GB"/>
              <a:pPr/>
              <a:t>19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D76818-CC91-4DB1-8262-C24FD41C57A3}" type="slidenum">
              <a:rPr lang="en-US" altLang="en-GB"/>
              <a:pPr/>
              <a:t>20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DE0319-F1FF-4010-AC12-A69BC22DC3F5}" type="slidenum">
              <a:rPr lang="en-US" altLang="en-GB"/>
              <a:pPr/>
              <a:t>21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40B48C-A96F-417A-8D72-AD7DB61761C3}" type="slidenum">
              <a:rPr lang="en-US" altLang="en-GB"/>
              <a:pPr/>
              <a:t>22</a:t>
            </a:fld>
            <a:endParaRPr lang="en-US" altLang="en-GB"/>
          </a:p>
        </p:txBody>
      </p:sp>
      <p:sp>
        <p:nvSpPr>
          <p:cNvPr id="4710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710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4638F1F-E5BC-471C-ABA6-9B828DB9646D}" type="slidenum">
              <a:rPr lang="en-US" altLang="en-GB" sz="1200">
                <a:cs typeface="Arial" panose="020B0604020202020204" pitchFamily="34" charset="0"/>
              </a:rPr>
              <a:pPr algn="r"/>
              <a:t>22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3C4D4B-82BC-44E8-866E-164B310D83CC}" type="slidenum">
              <a:rPr lang="en-US" altLang="en-GB"/>
              <a:pPr/>
              <a:t>23</a:t>
            </a:fld>
            <a:endParaRPr lang="en-US" altLang="en-GB"/>
          </a:p>
        </p:txBody>
      </p:sp>
      <p:sp>
        <p:nvSpPr>
          <p:cNvPr id="4915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915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F6CB06D-5474-4F15-B048-2302F0B96871}" type="slidenum">
              <a:rPr lang="en-US" altLang="en-GB" sz="1200">
                <a:cs typeface="Arial" panose="020B0604020202020204" pitchFamily="34" charset="0"/>
              </a:rPr>
              <a:pPr algn="r"/>
              <a:t>23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5FB757-A385-4C1B-BB22-B5E75DEB1F2C}" type="slidenum">
              <a:rPr lang="en-US" altLang="en-GB"/>
              <a:pPr/>
              <a:t>24</a:t>
            </a:fld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1A1AD4-C228-44A9-A381-03A3759AD2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377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3A2312-5BCC-43BF-BB28-ED0E118B8C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21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E630C7-5476-4734-A949-89C8172553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51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2F101-3243-4ECF-A2BC-966C69B0E3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08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6B8B2-B567-45C4-8C64-E12204AA07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295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12762-C3E6-467B-A09A-FCBDC0C1DC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13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5B8675-80F6-437E-8E8C-50DD0CC09F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55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5D055-6D1A-4301-81A1-9969830196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3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E1EB9-6012-4456-BFB0-410409B0F0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1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A50D55-3D17-47C2-880B-285DE38658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05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16394-7044-4FD6-93B5-A46609CAE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917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text styles</a:t>
            </a:r>
          </a:p>
          <a:p>
            <a:pPr lvl="1"/>
            <a:r>
              <a:rPr lang="en-US" altLang="en-GB" smtClean="0"/>
              <a:t>Second level</a:t>
            </a:r>
          </a:p>
          <a:p>
            <a:pPr lvl="2"/>
            <a:r>
              <a:rPr lang="en-US" altLang="en-GB" smtClean="0"/>
              <a:t>Third level</a:t>
            </a:r>
          </a:p>
          <a:p>
            <a:pPr lvl="3"/>
            <a:r>
              <a:rPr lang="en-US" altLang="en-GB" smtClean="0"/>
              <a:t>Fourth level</a:t>
            </a:r>
          </a:p>
          <a:p>
            <a:pPr lvl="4"/>
            <a:r>
              <a:rPr lang="en-US" altLang="en-GB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Oct 14,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28E672C-8C2E-47ED-9337-FF87DF69CE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Theory of Automata</a:t>
            </a:r>
            <a:br>
              <a:rPr lang="en-US" altLang="en-GB" smtClean="0"/>
            </a:br>
            <a:r>
              <a:rPr lang="en-US" altLang="en-GB" smtClean="0"/>
              <a:t> Chomsky Normal Form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500"/>
              <a:defRPr/>
            </a:pPr>
            <a:r>
              <a:rPr lang="en-US" sz="280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Week </a:t>
            </a:r>
            <a:r>
              <a:rPr lang="en-US" sz="2800" dirty="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8</a:t>
            </a:r>
            <a:endParaRPr 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12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A3F711-80A0-43C2-8261-69AD1D1AD1E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Contents</a:t>
            </a:r>
          </a:p>
        </p:txBody>
      </p:sp>
      <p:sp>
        <p:nvSpPr>
          <p:cNvPr id="512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Definition – CNF</a:t>
            </a:r>
          </a:p>
          <a:p>
            <a:pPr eaLnBrk="1" hangingPunct="1"/>
            <a:r>
              <a:rPr lang="en-US" altLang="en-GB" sz="2600" smtClean="0"/>
              <a:t>Theorem</a:t>
            </a:r>
          </a:p>
          <a:p>
            <a:pPr eaLnBrk="1" hangingPunct="1"/>
            <a:r>
              <a:rPr lang="en-US" altLang="en-GB" sz="2600" smtClean="0"/>
              <a:t>Left most derivation</a:t>
            </a:r>
          </a:p>
          <a:p>
            <a:pPr eaLnBrk="1" hangingPunct="1"/>
            <a:r>
              <a:rPr lang="en-US" altLang="en-GB" sz="2600" smtClean="0"/>
              <a:t>Parsing</a:t>
            </a:r>
          </a:p>
          <a:p>
            <a:pPr eaLnBrk="1" hangingPunct="1"/>
            <a:endParaRPr lang="en-US" altLang="en-GB" sz="2600" smtClean="0"/>
          </a:p>
          <a:p>
            <a:pPr eaLnBrk="1" hangingPunct="1"/>
            <a:endParaRPr lang="en-US" altLang="en-GB" sz="2600" smtClean="0"/>
          </a:p>
          <a:p>
            <a:pPr eaLnBrk="1" hangingPunct="1"/>
            <a:endParaRPr lang="en-US" altLang="en-GB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17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4FDB15-CD84-467B-B34C-A5D2E52C340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Chomsky Normal Form (CNF)</a:t>
            </a:r>
          </a:p>
        </p:txBody>
      </p:sp>
      <p:sp>
        <p:nvSpPr>
          <p:cNvPr id="7173" name="Rectangle 3"/>
          <p:cNvSpPr>
            <a:spLocks noGrp="1"/>
          </p:cNvSpPr>
          <p:nvPr>
            <p:ph type="body" idx="4294967295"/>
          </p:nvPr>
        </p:nvSpPr>
        <p:spPr>
          <a:xfrm>
            <a:off x="0" y="1219200"/>
            <a:ext cx="8534400" cy="4876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3500" b="1" smtClean="0"/>
              <a:t>Definition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If a CFG has only productions of the form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olidFill>
                  <a:srgbClr val="7030A0"/>
                </a:solidFill>
              </a:rPr>
              <a:t>Non-Terminal </a:t>
            </a:r>
            <a:r>
              <a:rPr lang="en-US" altLang="en-GB" sz="2600" smtClean="0">
                <a:solidFill>
                  <a:srgbClr val="7030A0"/>
                </a:solidFill>
                <a:sym typeface="Wingdings" panose="05000000000000000000" pitchFamily="2" charset="2"/>
              </a:rPr>
              <a:t> string of exactly two non-terminals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				OR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olidFill>
                  <a:srgbClr val="00B0F0"/>
                </a:solidFill>
                <a:sym typeface="Wingdings" panose="05000000000000000000" pitchFamily="2" charset="2"/>
              </a:rPr>
              <a:t>Non-Terminal  one terminal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>
              <a:sym typeface="Wingdings" panose="05000000000000000000" pitchFamily="2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It is said to be in </a:t>
            </a:r>
            <a:r>
              <a:rPr lang="en-US" altLang="en-GB" sz="2600" smtClean="0">
                <a:solidFill>
                  <a:srgbClr val="FF3300"/>
                </a:solidFill>
                <a:sym typeface="Wingdings" panose="05000000000000000000" pitchFamily="2" charset="2"/>
              </a:rPr>
              <a:t>Chomsky Normal Form (CNF).</a:t>
            </a:r>
            <a:endParaRPr lang="en-US" altLang="en-GB" sz="2600" smtClean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219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FDB0B8-F74A-483A-A47C-663E86CCE7A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Theorem 25</a:t>
            </a:r>
          </a:p>
        </p:txBody>
      </p:sp>
      <p:sp>
        <p:nvSpPr>
          <p:cNvPr id="9221" name="Rectangle 3"/>
          <p:cNvSpPr>
            <a:spLocks noGrp="1"/>
          </p:cNvSpPr>
          <p:nvPr>
            <p:ph type="body" idx="4294967295"/>
          </p:nvPr>
        </p:nvSpPr>
        <p:spPr>
          <a:xfrm>
            <a:off x="914400" y="1219200"/>
            <a:ext cx="8229600" cy="4876800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If L is a language generated by some CFG, then there exist another CFG that generate all the non-null words of L, all of whose productions are of one of the two basic forms:</a:t>
            </a:r>
          </a:p>
          <a:p>
            <a:pPr algn="just" eaLnBrk="1" hangingPunct="1"/>
            <a:endParaRPr lang="en-US" altLang="en-GB" sz="260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Non-Terminal </a:t>
            </a:r>
            <a:r>
              <a:rPr lang="en-US" altLang="en-GB" sz="2200" smtClean="0">
                <a:sym typeface="Wingdings" panose="05000000000000000000" pitchFamily="2" charset="2"/>
              </a:rPr>
              <a:t> string of only Non-terminals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				Or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Non-Terminal </a:t>
            </a:r>
            <a:r>
              <a:rPr lang="en-US" altLang="en-GB" sz="2200" smtClean="0">
                <a:sym typeface="Wingdings" panose="05000000000000000000" pitchFamily="2" charset="2"/>
              </a:rPr>
              <a:t> one Terminal</a:t>
            </a:r>
            <a:endParaRPr lang="en-US" altLang="en-GB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126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7F9236-6110-4BED-A4F2-0E500D440B8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</a:t>
            </a:r>
          </a:p>
        </p:txBody>
      </p:sp>
      <p:sp>
        <p:nvSpPr>
          <p:cNvPr id="1126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The proof is a constructive algorithm by converting a given CFG in a CFG of the production of designed format.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Let us suppose in given CFG the non-terminal are S, X</a:t>
            </a:r>
            <a:r>
              <a:rPr lang="en-US" altLang="en-GB" sz="2200" baseline="-25000" smtClean="0"/>
              <a:t>1</a:t>
            </a:r>
            <a:r>
              <a:rPr lang="en-US" altLang="en-GB" sz="2200" smtClean="0"/>
              <a:t>, X</a:t>
            </a:r>
            <a:r>
              <a:rPr lang="en-US" altLang="en-GB" sz="2200" baseline="-25000" smtClean="0"/>
              <a:t>2</a:t>
            </a:r>
            <a:r>
              <a:rPr lang="en-US" altLang="en-GB" sz="2200" smtClean="0"/>
              <a:t>, X</a:t>
            </a:r>
            <a:r>
              <a:rPr lang="en-US" altLang="en-GB" sz="2200" baseline="-25000" smtClean="0"/>
              <a:t>3</a:t>
            </a:r>
            <a:r>
              <a:rPr lang="en-US" altLang="en-GB" sz="2200" smtClean="0"/>
              <a:t>, … . Let us also assume {a,b} are two terminals.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b="1" smtClean="0"/>
              <a:t>STEP-1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We now add two new non-terminals A and B and the productions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A </a:t>
            </a:r>
            <a:r>
              <a:rPr lang="en-US" altLang="en-GB" sz="2200" smtClean="0">
                <a:sym typeface="Wingdings" panose="05000000000000000000" pitchFamily="2" charset="2"/>
              </a:rPr>
              <a:t> a       B  b</a:t>
            </a:r>
            <a:endParaRPr lang="en-US" altLang="en-GB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3315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05625B-1B9B-4EBA-A3D6-F71F5343AD9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Theorem 25 contd…</a:t>
            </a:r>
          </a:p>
        </p:txBody>
      </p:sp>
      <p:sp>
        <p:nvSpPr>
          <p:cNvPr id="1331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b="1" smtClean="0"/>
              <a:t>STEP-2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 now for every previous production involving terminals, we replace each ‘a’ with the non-terminal A and each ‘b’ with B.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e.g. 		X</a:t>
            </a:r>
            <a:r>
              <a:rPr lang="en-US" altLang="en-GB" sz="2200" baseline="-25000" smtClean="0"/>
              <a:t>3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Wingdings" panose="05000000000000000000" pitchFamily="2" charset="2"/>
              </a:rPr>
              <a:t> 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4</a:t>
            </a:r>
            <a:r>
              <a:rPr lang="en-US" altLang="en-GB" sz="2200" smtClean="0">
                <a:sym typeface="Wingdings" panose="05000000000000000000" pitchFamily="2" charset="2"/>
              </a:rPr>
              <a:t>aX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200" smtClean="0">
                <a:sym typeface="Wingdings" panose="05000000000000000000" pitchFamily="2" charset="2"/>
              </a:rPr>
              <a:t>SbbX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7</a:t>
            </a:r>
            <a:r>
              <a:rPr lang="en-US" altLang="en-GB" sz="2200" smtClean="0">
                <a:sym typeface="Wingdings" panose="05000000000000000000" pitchFamily="2" charset="2"/>
              </a:rPr>
              <a:t>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Becomes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		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200" smtClean="0">
                <a:sym typeface="Wingdings" panose="05000000000000000000" pitchFamily="2" charset="2"/>
              </a:rPr>
              <a:t>  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4</a:t>
            </a:r>
            <a:r>
              <a:rPr lang="en-US" altLang="en-GB" sz="2200" smtClean="0">
                <a:sym typeface="Wingdings" panose="05000000000000000000" pitchFamily="2" charset="2"/>
              </a:rPr>
              <a:t>AX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200" smtClean="0">
                <a:sym typeface="Wingdings" panose="05000000000000000000" pitchFamily="2" charset="2"/>
              </a:rPr>
              <a:t>SBBX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7</a:t>
            </a:r>
            <a:r>
              <a:rPr lang="en-US" altLang="en-GB" sz="2200" smtClean="0">
                <a:sym typeface="Wingdings" panose="05000000000000000000" pitchFamily="2" charset="2"/>
              </a:rPr>
              <a:t>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Which is a string of solid non-terminals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		X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6</a:t>
            </a:r>
            <a:r>
              <a:rPr lang="en-US" altLang="en-GB" sz="2200" smtClean="0">
                <a:sym typeface="Wingdings" panose="05000000000000000000" pitchFamily="2" charset="2"/>
              </a:rPr>
              <a:t>  abaab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Becomes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	X</a:t>
            </a:r>
            <a:r>
              <a:rPr lang="en-US" altLang="en-GB" sz="2200" baseline="-25000" smtClean="0"/>
              <a:t>6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Wingdings" panose="05000000000000000000" pitchFamily="2" charset="2"/>
              </a:rPr>
              <a:t> ABAAB</a:t>
            </a:r>
            <a:endParaRPr lang="en-US" altLang="en-GB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536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D9D82D-AD53-4CEF-9CE2-C2B6F34DB35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180228" name="Rectangle 4"/>
          <p:cNvSpPr>
            <a:spLocks noGrp="1"/>
          </p:cNvSpPr>
          <p:nvPr>
            <p:ph type="body" sz="half" idx="4294967295"/>
          </p:nvPr>
        </p:nvSpPr>
        <p:spPr>
          <a:xfrm>
            <a:off x="0" y="1812925"/>
            <a:ext cx="4038600" cy="3822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S </a:t>
            </a:r>
            <a:r>
              <a:rPr lang="en-US" altLang="en-GB" sz="2600" smtClean="0">
                <a:sym typeface="Wingdings" panose="05000000000000000000" pitchFamily="2" charset="2"/>
              </a:rPr>
              <a:t> 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600" smtClean="0">
                <a:sym typeface="Wingdings" panose="05000000000000000000" pitchFamily="2" charset="2"/>
              </a:rPr>
              <a:t> | 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aX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| aSb |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600" smtClean="0">
                <a:sym typeface="Wingdings" panose="05000000000000000000" pitchFamily="2" charset="2"/>
              </a:rPr>
              <a:t>  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|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 aX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| aaX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endParaRPr lang="en-US" altLang="en-GB" sz="2600" baseline="-25000" smtClean="0"/>
          </a:p>
        </p:txBody>
      </p:sp>
      <p:sp>
        <p:nvSpPr>
          <p:cNvPr id="180229" name="Rectangle 5"/>
          <p:cNvSpPr>
            <a:spLocks noGrp="1"/>
          </p:cNvSpPr>
          <p:nvPr>
            <p:ph type="body" sz="half" idx="4294967295"/>
          </p:nvPr>
        </p:nvSpPr>
        <p:spPr>
          <a:xfrm>
            <a:off x="5105400" y="1812925"/>
            <a:ext cx="4038600" cy="3822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S </a:t>
            </a:r>
            <a:r>
              <a:rPr lang="en-US" altLang="en-GB" sz="2600" smtClean="0">
                <a:sym typeface="Wingdings" panose="05000000000000000000" pitchFamily="2" charset="2"/>
              </a:rPr>
              <a:t> 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600" smtClean="0">
                <a:sym typeface="Wingdings" panose="05000000000000000000" pitchFamily="2" charset="2"/>
              </a:rPr>
              <a:t> | 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AX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| ASB |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600" smtClean="0">
                <a:sym typeface="Wingdings" panose="05000000000000000000" pitchFamily="2" charset="2"/>
              </a:rPr>
              <a:t>  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|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 AX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| AAX</a:t>
            </a:r>
            <a:r>
              <a:rPr lang="en-US" altLang="en-GB" sz="2600" baseline="-25000" smtClean="0">
                <a:sym typeface="Wingdings" panose="05000000000000000000" pitchFamily="2" charset="2"/>
              </a:rPr>
              <a:t>2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GB" sz="2600" baseline="-25000" smtClean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A 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B  b</a:t>
            </a:r>
          </a:p>
          <a:p>
            <a:pPr eaLnBrk="1" hangingPunct="1"/>
            <a:endParaRPr lang="en-US" altLang="en-GB" sz="26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0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0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80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80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8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80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80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 build="p"/>
      <p:bldP spid="18022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741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5FBB6E-51E9-40A0-85DB-F7AC9FA4ECF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Theorem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 rtlCol="0">
            <a:normAutofit lnSpcReduction="10000"/>
          </a:bodyPr>
          <a:lstStyle/>
          <a:p>
            <a:pPr marL="577850" indent="-577850" algn="just" eaLnBrk="1" fontAlgn="auto" hangingPunct="1">
              <a:spcAft>
                <a:spcPts val="0"/>
              </a:spcAft>
              <a:defRPr/>
            </a:pPr>
            <a:r>
              <a:rPr lang="en-US" sz="2600"/>
              <a:t>If CFG G = (V, </a:t>
            </a:r>
            <a:r>
              <a:rPr lang="en-US" sz="2600">
                <a:cs typeface="Arial" charset="0"/>
              </a:rPr>
              <a:t>∑</a:t>
            </a:r>
            <a:r>
              <a:rPr lang="en-US" sz="2600"/>
              <a:t>, P, S) is in CNF form if each rule has one of the following form</a:t>
            </a:r>
          </a:p>
          <a:p>
            <a:pPr marL="952500" lvl="1" indent="-495300" algn="just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en-US" sz="2200"/>
              <a:t>A </a:t>
            </a:r>
            <a:r>
              <a:rPr lang="en-US" sz="2200">
                <a:sym typeface="Wingdings" pitchFamily="2" charset="2"/>
              </a:rPr>
              <a:t> BC</a:t>
            </a:r>
          </a:p>
          <a:p>
            <a:pPr marL="952500" lvl="1" indent="-495300" algn="just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en-US" sz="2200">
                <a:sym typeface="Wingdings" pitchFamily="2" charset="2"/>
              </a:rPr>
              <a:t>A  a</a:t>
            </a:r>
          </a:p>
          <a:p>
            <a:pPr marL="952500" lvl="1" indent="-495300" algn="just" eaLnBrk="1" fontAlgn="auto" hangingPunct="1">
              <a:spcAft>
                <a:spcPts val="0"/>
              </a:spcAft>
              <a:buFontTx/>
              <a:buAutoNum type="arabicPeriod"/>
              <a:defRPr/>
            </a:pPr>
            <a:r>
              <a:rPr lang="en-US" sz="2200">
                <a:sym typeface="Wingdings" pitchFamily="2" charset="2"/>
              </a:rPr>
              <a:t>S  </a:t>
            </a:r>
            <a:r>
              <a:rPr lang="el-GR" sz="2200">
                <a:cs typeface="Arial" charset="0"/>
                <a:sym typeface="Wingdings" pitchFamily="2" charset="2"/>
              </a:rPr>
              <a:t>Λ</a:t>
            </a:r>
            <a:endParaRPr lang="en-US" sz="2200">
              <a:cs typeface="Arial" charset="0"/>
              <a:sym typeface="Wingdings" pitchFamily="2" charset="2"/>
            </a:endParaRPr>
          </a:p>
          <a:p>
            <a:pPr marL="952500" lvl="1" indent="-495300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200">
                <a:cs typeface="Arial" charset="0"/>
              </a:rPr>
              <a:t>Where B, C    </a:t>
            </a:r>
            <a:r>
              <a:rPr lang="en-US" sz="3500">
                <a:cs typeface="Arial" charset="0"/>
                <a:sym typeface="Symbol" pitchFamily="18" charset="2"/>
              </a:rPr>
              <a:t></a:t>
            </a:r>
            <a:r>
              <a:rPr lang="en-US" sz="2200">
                <a:cs typeface="Arial" charset="0"/>
                <a:sym typeface="Symbol" pitchFamily="18" charset="2"/>
              </a:rPr>
              <a:t>     </a:t>
            </a:r>
            <a:r>
              <a:rPr lang="en-US" sz="2200">
                <a:cs typeface="Arial" charset="0"/>
              </a:rPr>
              <a:t>V – {S}</a:t>
            </a:r>
          </a:p>
          <a:p>
            <a:pPr marL="577850" indent="-577850" algn="just" eaLnBrk="1" fontAlgn="auto" hangingPunct="1">
              <a:spcAft>
                <a:spcPts val="0"/>
              </a:spcAft>
              <a:defRPr/>
            </a:pPr>
            <a:r>
              <a:rPr lang="en-US" sz="2600">
                <a:cs typeface="Arial" charset="0"/>
              </a:rPr>
              <a:t>Pre-Conditions</a:t>
            </a:r>
          </a:p>
          <a:p>
            <a:pPr marL="1368425" lvl="2" indent="-454025" algn="just" eaLnBrk="1" fontAlgn="auto" hangingPunct="1">
              <a:spcAft>
                <a:spcPts val="0"/>
              </a:spcAft>
              <a:buFontTx/>
              <a:buAutoNum type="romanLcPeriod"/>
              <a:defRPr/>
            </a:pPr>
            <a:r>
              <a:rPr lang="en-US" sz="2000">
                <a:cs typeface="Arial" charset="0"/>
              </a:rPr>
              <a:t>The start symbol is non-recursive</a:t>
            </a:r>
          </a:p>
          <a:p>
            <a:pPr marL="1368425" lvl="2" indent="-454025" algn="just" eaLnBrk="1" fontAlgn="auto" hangingPunct="1">
              <a:spcAft>
                <a:spcPts val="0"/>
              </a:spcAft>
              <a:buFontTx/>
              <a:buAutoNum type="romanLcPeriod"/>
              <a:defRPr/>
            </a:pPr>
            <a:r>
              <a:rPr lang="en-US" sz="2000">
                <a:cs typeface="Arial" charset="0"/>
              </a:rPr>
              <a:t>G does not have lambda rules other than S </a:t>
            </a:r>
            <a:r>
              <a:rPr lang="en-US" sz="2000">
                <a:cs typeface="Arial" charset="0"/>
                <a:sym typeface="Wingdings" pitchFamily="2" charset="2"/>
              </a:rPr>
              <a:t> </a:t>
            </a:r>
            <a:r>
              <a:rPr lang="el-GR" sz="2000">
                <a:cs typeface="Arial" charset="0"/>
                <a:sym typeface="Wingdings" pitchFamily="2" charset="2"/>
              </a:rPr>
              <a:t>Λ</a:t>
            </a:r>
            <a:endParaRPr lang="en-US" sz="2000">
              <a:cs typeface="Arial" charset="0"/>
              <a:sym typeface="Wingdings" pitchFamily="2" charset="2"/>
            </a:endParaRPr>
          </a:p>
          <a:p>
            <a:pPr marL="1368425" lvl="2" indent="-454025" algn="just" eaLnBrk="1" fontAlgn="auto" hangingPunct="1">
              <a:spcAft>
                <a:spcPts val="0"/>
              </a:spcAft>
              <a:buFontTx/>
              <a:buAutoNum type="romanLcPeriod"/>
              <a:defRPr/>
            </a:pPr>
            <a:r>
              <a:rPr lang="en-US" sz="2000">
                <a:cs typeface="Arial" charset="0"/>
                <a:sym typeface="Wingdings" pitchFamily="2" charset="2"/>
              </a:rPr>
              <a:t>G does not contain unit/chain rules</a:t>
            </a:r>
          </a:p>
          <a:p>
            <a:pPr marL="1368425" lvl="2" indent="-454025" algn="just" eaLnBrk="1" fontAlgn="auto" hangingPunct="1">
              <a:spcAft>
                <a:spcPts val="0"/>
              </a:spcAft>
              <a:buFontTx/>
              <a:buAutoNum type="romanLcPeriod"/>
              <a:defRPr/>
            </a:pPr>
            <a:r>
              <a:rPr lang="en-US" sz="2000">
                <a:cs typeface="Arial" charset="0"/>
                <a:sym typeface="Wingdings" pitchFamily="2" charset="2"/>
              </a:rPr>
              <a:t>G does not contain useless symbols</a:t>
            </a:r>
            <a:endParaRPr lang="el-GR" sz="2000">
              <a:cs typeface="Arial" charset="0"/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9459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93D52D-6854-4F16-840A-FC64AE9B7A4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of theorem</a:t>
            </a:r>
          </a:p>
        </p:txBody>
      </p:sp>
      <p:sp>
        <p:nvSpPr>
          <p:cNvPr id="1946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The rules of type ii, and iii already fulfill CNF condition so that become part of CNF directly</a:t>
            </a:r>
          </a:p>
          <a:p>
            <a:pPr algn="just" eaLnBrk="1" hangingPunct="1"/>
            <a:r>
              <a:rPr lang="en-US" altLang="en-GB" sz="2600" smtClean="0"/>
              <a:t>Right sides of other production may contain terminals and non-terminals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    e.g. N </a:t>
            </a:r>
            <a:r>
              <a:rPr lang="en-US" altLang="en-GB" sz="2600" smtClean="0">
                <a:sym typeface="Wingdings" panose="05000000000000000000" pitchFamily="2" charset="2"/>
              </a:rPr>
              <a:t> aM | NaMb</a:t>
            </a:r>
          </a:p>
          <a:p>
            <a:pPr algn="just" eaLnBrk="1" hangingPunct="1"/>
            <a:r>
              <a:rPr lang="en-US" altLang="en-GB" sz="2600" smtClean="0"/>
              <a:t>We need to have string of solid non-terminal on right side we introduce new products as X</a:t>
            </a:r>
            <a:r>
              <a:rPr lang="en-US" altLang="en-GB" sz="2600" smtClean="0">
                <a:sym typeface="Wingdings" panose="05000000000000000000" pitchFamily="2" charset="2"/>
              </a:rPr>
              <a:t> a        Y  b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And apply them to all rules getting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			N  XM | NXMY</a:t>
            </a:r>
            <a:endParaRPr lang="en-US" altLang="en-GB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150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00091B-C56B-4529-A2C3-CC4002F1850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contd.</a:t>
            </a:r>
          </a:p>
        </p:txBody>
      </p:sp>
      <p:sp>
        <p:nvSpPr>
          <p:cNvPr id="2150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Introduce new non-terminals to restrict the length to 2</a:t>
            </a:r>
          </a:p>
          <a:p>
            <a:pPr algn="just" eaLnBrk="1" hangingPunct="1"/>
            <a:r>
              <a:rPr lang="en-US" altLang="en-GB" sz="2600" smtClean="0">
                <a:solidFill>
                  <a:srgbClr val="FF0000"/>
                </a:solidFill>
                <a:sym typeface="Wingdings" panose="05000000000000000000" pitchFamily="2" charset="2"/>
              </a:rPr>
              <a:t>N  XM | NXMY</a:t>
            </a:r>
            <a:endParaRPr lang="en-US" altLang="en-GB" sz="2600" smtClean="0">
              <a:solidFill>
                <a:srgbClr val="FF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 	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	N </a:t>
            </a:r>
            <a:r>
              <a:rPr lang="en-US" altLang="en-GB" sz="2600" smtClean="0">
                <a:sym typeface="Wingdings" panose="05000000000000000000" pitchFamily="2" charset="2"/>
              </a:rPr>
              <a:t> XM		X  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 		N  N</a:t>
            </a:r>
            <a:r>
              <a:rPr lang="en-US" altLang="en-GB" sz="2600" smtClean="0">
                <a:solidFill>
                  <a:srgbClr val="7030A0"/>
                </a:solidFill>
                <a:sym typeface="Wingdings" panose="05000000000000000000" pitchFamily="2" charset="2"/>
              </a:rPr>
              <a:t>R</a:t>
            </a:r>
            <a:r>
              <a:rPr lang="en-US" altLang="en-GB" sz="2600" baseline="-25000" smtClean="0">
                <a:solidFill>
                  <a:srgbClr val="7030A0"/>
                </a:solidFill>
                <a:sym typeface="Wingdings" panose="05000000000000000000" pitchFamily="2" charset="2"/>
              </a:rPr>
              <a:t>1</a:t>
            </a:r>
            <a:r>
              <a:rPr lang="en-US" altLang="en-GB" sz="2600" smtClean="0">
                <a:sym typeface="Wingdings" panose="05000000000000000000" pitchFamily="2" charset="2"/>
              </a:rPr>
              <a:t>		Y  b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 		</a:t>
            </a:r>
            <a:r>
              <a:rPr lang="en-US" altLang="en-GB" sz="2600" smtClean="0">
                <a:solidFill>
                  <a:srgbClr val="7030A0"/>
                </a:solidFill>
              </a:rPr>
              <a:t>R</a:t>
            </a:r>
            <a:r>
              <a:rPr lang="en-US" altLang="en-GB" sz="2600" baseline="-25000" smtClean="0">
                <a:solidFill>
                  <a:srgbClr val="7030A0"/>
                </a:solidFill>
              </a:rPr>
              <a:t>1</a:t>
            </a:r>
            <a:r>
              <a:rPr lang="en-US" altLang="en-GB" sz="2600" smtClean="0"/>
              <a:t> </a:t>
            </a:r>
            <a:r>
              <a:rPr lang="en-US" altLang="en-GB" sz="2600" smtClean="0">
                <a:sym typeface="Wingdings" panose="05000000000000000000" pitchFamily="2" charset="2"/>
              </a:rPr>
              <a:t> X</a:t>
            </a:r>
            <a:r>
              <a:rPr lang="en-US" altLang="en-GB" sz="2600" smtClean="0">
                <a:solidFill>
                  <a:srgbClr val="00B0F0"/>
                </a:solidFill>
                <a:sym typeface="Wingdings" panose="05000000000000000000" pitchFamily="2" charset="2"/>
              </a:rPr>
              <a:t>R</a:t>
            </a:r>
            <a:r>
              <a:rPr lang="en-US" altLang="en-GB" sz="2600" baseline="-25000" smtClean="0">
                <a:solidFill>
                  <a:srgbClr val="00B0F0"/>
                </a:solidFill>
                <a:sym typeface="Wingdings" panose="05000000000000000000" pitchFamily="2" charset="2"/>
              </a:rPr>
              <a:t>2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 		</a:t>
            </a:r>
            <a:r>
              <a:rPr lang="en-US" altLang="en-GB" sz="2600" smtClean="0">
                <a:solidFill>
                  <a:srgbClr val="00B0F0"/>
                </a:solidFill>
                <a:sym typeface="Wingdings" panose="05000000000000000000" pitchFamily="2" charset="2"/>
              </a:rPr>
              <a:t>R</a:t>
            </a:r>
            <a:r>
              <a:rPr lang="en-US" altLang="en-GB" sz="2600" baseline="-25000" smtClean="0">
                <a:solidFill>
                  <a:srgbClr val="00B0F0"/>
                </a:solidFill>
                <a:sym typeface="Wingdings" panose="05000000000000000000" pitchFamily="2" charset="2"/>
              </a:rPr>
              <a:t>2</a:t>
            </a:r>
            <a:r>
              <a:rPr lang="en-US" altLang="en-GB" sz="2600" smtClean="0">
                <a:sym typeface="Wingdings" panose="05000000000000000000" pitchFamily="2" charset="2"/>
              </a:rPr>
              <a:t>  MY</a:t>
            </a:r>
            <a:endParaRPr lang="en-US" altLang="en-GB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3555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EFF3EE-846D-4860-A5B5-B4BA7E74AE5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Theorem 26</a:t>
            </a:r>
          </a:p>
        </p:txBody>
      </p:sp>
      <p:sp>
        <p:nvSpPr>
          <p:cNvPr id="2355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b="1" smtClean="0"/>
              <a:t>Theorem 26: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For any context-free language </a:t>
            </a:r>
            <a:r>
              <a:rPr lang="en-US" altLang="en-GB" sz="2600" i="1" smtClean="0"/>
              <a:t>L</a:t>
            </a:r>
            <a:r>
              <a:rPr lang="en-US" altLang="en-GB" sz="2600" smtClean="0"/>
              <a:t>, the non-</a:t>
            </a:r>
            <a:r>
              <a:rPr lang="el-GR" altLang="en-GB" sz="2600" smtClean="0">
                <a:cs typeface="Arial" panose="020B0604020202020204" pitchFamily="34" charset="0"/>
              </a:rPr>
              <a:t>Λ</a:t>
            </a:r>
            <a:r>
              <a:rPr lang="en-US" altLang="en-GB" sz="2600" smtClean="0"/>
              <a:t>  words of </a:t>
            </a:r>
            <a:r>
              <a:rPr lang="en-US" altLang="en-GB" sz="2600" i="1" smtClean="0"/>
              <a:t>L</a:t>
            </a:r>
            <a:r>
              <a:rPr lang="en-US" altLang="en-GB" sz="2600" smtClean="0"/>
              <a:t> can be generated by a grammar in which all productions are in CNF.</a:t>
            </a:r>
          </a:p>
          <a:p>
            <a:pPr algn="just" eaLnBrk="1" hangingPunct="1"/>
            <a:endParaRPr lang="en-US" altLang="en-GB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560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DD661E-67C1-4F97-AC18-D3840DC6560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of Theorem 26</a:t>
            </a:r>
          </a:p>
        </p:txBody>
      </p:sp>
      <p:sp>
        <p:nvSpPr>
          <p:cNvPr id="19763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The proof will be by constructive algorithm.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From Theorems 23 and 24, we know that there is a CFG for L (or for all L except </a:t>
            </a:r>
            <a:r>
              <a:rPr lang="el-GR" altLang="en-GB" sz="2200" smtClean="0">
                <a:cs typeface="Arial" panose="020B0604020202020204" pitchFamily="34" charset="0"/>
              </a:rPr>
              <a:t>Λ</a:t>
            </a:r>
            <a:r>
              <a:rPr lang="en-US" altLang="en-GB" sz="2200" smtClean="0"/>
              <a:t>) that has no </a:t>
            </a:r>
            <a:r>
              <a:rPr lang="el-GR" altLang="en-GB" sz="2200" smtClean="0">
                <a:cs typeface="Arial" panose="020B0604020202020204" pitchFamily="34" charset="0"/>
              </a:rPr>
              <a:t>Λ</a:t>
            </a:r>
            <a:r>
              <a:rPr lang="en-US" altLang="en-GB" sz="2200" smtClean="0"/>
              <a:t>-productions and no unit productions.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Suppose further that we have made the CFG fit the form specified in Theorem 25.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For productions of the form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non-terminal </a:t>
            </a:r>
            <a:r>
              <a:rPr lang="en-US" altLang="en-GB" sz="2200" smtClean="0">
                <a:sym typeface="Wingdings" panose="05000000000000000000" pitchFamily="2" charset="2"/>
              </a:rPr>
              <a:t></a:t>
            </a:r>
            <a:r>
              <a:rPr lang="en-US" altLang="en-GB" sz="2200" smtClean="0"/>
              <a:t> one terminal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 we leave them alone.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For each production of the form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non-terminal </a:t>
            </a:r>
            <a:r>
              <a:rPr lang="en-US" altLang="en-GB" sz="2200" smtClean="0">
                <a:sym typeface="Wingdings" panose="05000000000000000000" pitchFamily="2" charset="2"/>
              </a:rPr>
              <a:t> </a:t>
            </a:r>
            <a:r>
              <a:rPr lang="en-US" altLang="en-GB" sz="2200" smtClean="0"/>
              <a:t>string of non-terminals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 we use the following expansion that involves new non-terminals R</a:t>
            </a:r>
            <a:r>
              <a:rPr lang="en-US" altLang="en-GB" sz="2200" baseline="-25000" smtClean="0"/>
              <a:t>1</a:t>
            </a:r>
            <a:r>
              <a:rPr lang="en-US" altLang="en-GB" sz="2200" smtClean="0"/>
              <a:t>, R</a:t>
            </a:r>
            <a:r>
              <a:rPr lang="en-US" altLang="en-GB" sz="2200" baseline="-25000" smtClean="0"/>
              <a:t>2</a:t>
            </a:r>
            <a:r>
              <a:rPr lang="en-US" altLang="en-GB" sz="2200" smtClean="0"/>
              <a:t>,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765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D7FF21-81DC-4D4D-9DD5-7DD5A4FBC9E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of Theorem 26 contd.</a:t>
            </a:r>
          </a:p>
        </p:txBody>
      </p:sp>
      <p:sp>
        <p:nvSpPr>
          <p:cNvPr id="19865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For instance, the production S </a:t>
            </a:r>
            <a:r>
              <a:rPr lang="en-US" altLang="en-GB" sz="2200" smtClean="0">
                <a:sym typeface="Wingdings" panose="05000000000000000000" pitchFamily="2" charset="2"/>
              </a:rPr>
              <a:t></a:t>
            </a:r>
            <a:r>
              <a:rPr lang="en-US" altLang="en-GB" sz="2200" smtClean="0"/>
              <a:t> X</a:t>
            </a:r>
            <a:r>
              <a:rPr lang="en-US" altLang="en-GB" sz="2200" baseline="-25000" smtClean="0"/>
              <a:t>1</a:t>
            </a:r>
            <a:r>
              <a:rPr lang="en-US" altLang="en-GB" sz="2200" smtClean="0"/>
              <a:t>X</a:t>
            </a:r>
            <a:r>
              <a:rPr lang="en-US" altLang="en-GB" sz="2200" baseline="-25000" smtClean="0"/>
              <a:t>2</a:t>
            </a:r>
            <a:r>
              <a:rPr lang="en-US" altLang="en-GB" sz="2200" smtClean="0"/>
              <a:t>X</a:t>
            </a:r>
            <a:r>
              <a:rPr lang="en-US" altLang="en-GB" sz="2200" baseline="-25000" smtClean="0"/>
              <a:t>3</a:t>
            </a:r>
            <a:r>
              <a:rPr lang="en-US" altLang="en-GB" sz="2200" smtClean="0"/>
              <a:t>X</a:t>
            </a:r>
            <a:r>
              <a:rPr lang="en-US" altLang="en-GB" sz="2200" baseline="-25000" smtClean="0"/>
              <a:t>8 </a:t>
            </a:r>
            <a:r>
              <a:rPr lang="en-US" altLang="en-GB" sz="2200" smtClean="0"/>
              <a:t>should be replaced by S </a:t>
            </a:r>
            <a:r>
              <a:rPr lang="en-US" altLang="en-GB" sz="2200" smtClean="0">
                <a:sym typeface="Wingdings" panose="05000000000000000000" pitchFamily="2" charset="2"/>
              </a:rPr>
              <a:t></a:t>
            </a:r>
            <a:r>
              <a:rPr lang="en-US" altLang="en-GB" sz="2200" smtClean="0"/>
              <a:t> X</a:t>
            </a:r>
            <a:r>
              <a:rPr lang="en-US" altLang="en-GB" sz="2200" baseline="-25000" smtClean="0"/>
              <a:t>1</a:t>
            </a:r>
            <a:r>
              <a:rPr lang="en-US" altLang="en-GB" sz="2200" smtClean="0"/>
              <a:t>R</a:t>
            </a:r>
            <a:r>
              <a:rPr lang="en-US" altLang="en-GB" sz="2200" baseline="-25000" smtClean="0"/>
              <a:t>1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 	where R</a:t>
            </a:r>
            <a:r>
              <a:rPr lang="en-US" altLang="en-GB" sz="2200" baseline="-25000" smtClean="0"/>
              <a:t>1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Wingdings" panose="05000000000000000000" pitchFamily="2" charset="2"/>
              </a:rPr>
              <a:t></a:t>
            </a:r>
            <a:r>
              <a:rPr lang="en-US" altLang="en-GB" sz="2200" smtClean="0"/>
              <a:t> X</a:t>
            </a:r>
            <a:r>
              <a:rPr lang="en-US" altLang="en-GB" sz="2200" baseline="-25000" smtClean="0"/>
              <a:t>2</a:t>
            </a:r>
            <a:r>
              <a:rPr lang="en-US" altLang="en-GB" sz="2200" smtClean="0"/>
              <a:t>R</a:t>
            </a:r>
            <a:r>
              <a:rPr lang="en-US" altLang="en-GB" sz="2200" baseline="-25000" smtClean="0"/>
              <a:t>2 </a:t>
            </a:r>
            <a:r>
              <a:rPr lang="en-US" altLang="en-GB" sz="2200" smtClean="0"/>
              <a:t>and where R</a:t>
            </a:r>
            <a:r>
              <a:rPr lang="en-US" altLang="en-GB" sz="2200" baseline="-25000" smtClean="0"/>
              <a:t>2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Wingdings" panose="05000000000000000000" pitchFamily="2" charset="2"/>
              </a:rPr>
              <a:t></a:t>
            </a:r>
            <a:r>
              <a:rPr lang="en-US" altLang="en-GB" sz="2200" smtClean="0"/>
              <a:t> X</a:t>
            </a:r>
            <a:r>
              <a:rPr lang="en-US" altLang="en-GB" sz="2200" baseline="-25000" smtClean="0"/>
              <a:t>3</a:t>
            </a:r>
            <a:r>
              <a:rPr lang="en-US" altLang="en-GB" sz="2200" smtClean="0"/>
              <a:t>X</a:t>
            </a:r>
            <a:r>
              <a:rPr lang="en-US" altLang="en-GB" sz="2200" baseline="-25000" smtClean="0"/>
              <a:t>8</a:t>
            </a:r>
            <a:r>
              <a:rPr lang="en-US" altLang="en-GB" sz="22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Thus, we convert a production with long string of non-terminals into a sequence of productions with exactly two non-terminals.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If we need to convert another production, we introduce new R’s with different subscripts.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The new grammar generates the same language as the old grammar with the possible exception of the word </a:t>
            </a:r>
            <a:r>
              <a:rPr lang="el-GR" altLang="en-GB" sz="2200" smtClean="0">
                <a:cs typeface="Arial" panose="020B0604020202020204" pitchFamily="34" charset="0"/>
              </a:rPr>
              <a:t>Λ</a:t>
            </a:r>
            <a:r>
              <a:rPr lang="en-US" altLang="en-GB" sz="22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9699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979C95-BFFA-4228-A074-42AAD216CDA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Remarks</a:t>
            </a:r>
          </a:p>
        </p:txBody>
      </p:sp>
      <p:sp>
        <p:nvSpPr>
          <p:cNvPr id="2970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Theorem  26 has enabled a form of algebra of productions by introducing non-terminals R</a:t>
            </a:r>
            <a:r>
              <a:rPr lang="en-US" altLang="en-GB" sz="2600" baseline="-25000" smtClean="0"/>
              <a:t>1</a:t>
            </a:r>
            <a:r>
              <a:rPr lang="en-US" altLang="en-GB" sz="2600" smtClean="0"/>
              <a:t>, R</a:t>
            </a:r>
            <a:r>
              <a:rPr lang="en-US" altLang="en-GB" sz="2600" baseline="-25000" smtClean="0"/>
              <a:t>2</a:t>
            </a:r>
            <a:r>
              <a:rPr lang="en-US" altLang="en-GB" sz="2600" smtClean="0"/>
              <a:t>, R</a:t>
            </a:r>
            <a:r>
              <a:rPr lang="en-US" altLang="en-GB" sz="2600" baseline="-25000" smtClean="0"/>
              <a:t>3</a:t>
            </a:r>
            <a:r>
              <a:rPr lang="en-US" altLang="en-GB" sz="2600" smtClean="0"/>
              <a:t> …</a:t>
            </a:r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r>
              <a:rPr lang="en-US" altLang="en-GB" sz="2600" smtClean="0"/>
              <a:t>The derivation tree associated with a derivation in Chomsky Normal Form grammar is a binary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174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665630-7231-4323-9411-FDB9692EB24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 (Non-Palindrome)</a:t>
            </a:r>
          </a:p>
        </p:txBody>
      </p:sp>
      <p:sp>
        <p:nvSpPr>
          <p:cNvPr id="31749" name="Rectangle 3"/>
          <p:cNvSpPr>
            <a:spLocks noGrp="1"/>
          </p:cNvSpPr>
          <p:nvPr>
            <p:ph type="body" idx="4294967295"/>
          </p:nvPr>
        </p:nvSpPr>
        <p:spPr>
          <a:xfrm>
            <a:off x="0" y="1143000"/>
            <a:ext cx="8229600" cy="1066800"/>
          </a:xfrm>
        </p:spPr>
        <p:txBody>
          <a:bodyPr anchor="ctr" anchorCtr="1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mtClean="0"/>
              <a:t>S </a:t>
            </a:r>
            <a:r>
              <a:rPr lang="en-US" altLang="en-GB" smtClean="0">
                <a:sym typeface="Wingdings" panose="05000000000000000000" pitchFamily="2" charset="2"/>
              </a:rPr>
              <a:t> aSa | bSb | a | b | aa | bb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mtClean="0">
                <a:sym typeface="Wingdings" panose="05000000000000000000" pitchFamily="2" charset="2"/>
              </a:rPr>
              <a:t> </a:t>
            </a:r>
            <a:endParaRPr lang="en-US" altLang="en-GB" smtClean="0"/>
          </a:p>
        </p:txBody>
      </p:sp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441325" y="1868488"/>
            <a:ext cx="3841750" cy="429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ASA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  BSB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  BB</a:t>
            </a: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685" name="Line 5"/>
          <p:cNvSpPr>
            <a:spLocks noChangeShapeType="1"/>
          </p:cNvSpPr>
          <p:nvPr/>
        </p:nvSpPr>
        <p:spPr bwMode="auto">
          <a:xfrm>
            <a:off x="2057400" y="2133600"/>
            <a:ext cx="2514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9686" name="Text Box 6"/>
          <p:cNvSpPr txBox="1">
            <a:spLocks noChangeArrowheads="1"/>
          </p:cNvSpPr>
          <p:nvPr/>
        </p:nvSpPr>
        <p:spPr bwMode="auto">
          <a:xfrm>
            <a:off x="4781550" y="1851025"/>
            <a:ext cx="139065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AR</a:t>
            </a:r>
            <a:r>
              <a:rPr lang="en-US" altLang="en-GB" sz="2400" baseline="-250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</a:t>
            </a:r>
            <a:r>
              <a:rPr lang="en-US" altLang="en-GB" sz="2400" baseline="-250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 SA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GB" sz="24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  BR</a:t>
            </a:r>
            <a:r>
              <a:rPr lang="en-US" altLang="en-GB" sz="2400" baseline="-250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GB" sz="24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SB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GB" sz="240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  AA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  BB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 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 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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  b</a:t>
            </a:r>
            <a:endParaRPr lang="en-US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687" name="Line 7"/>
          <p:cNvSpPr>
            <a:spLocks noChangeShapeType="1"/>
          </p:cNvSpPr>
          <p:nvPr/>
        </p:nvSpPr>
        <p:spPr bwMode="auto">
          <a:xfrm>
            <a:off x="1905000" y="2514600"/>
            <a:ext cx="27432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9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99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99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99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96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9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9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96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96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96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996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96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996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3795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C544DC-D720-44D8-A76E-5F0FEFC12E1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Leftmost Derivation</a:t>
            </a:r>
          </a:p>
        </p:txBody>
      </p:sp>
      <p:sp>
        <p:nvSpPr>
          <p:cNvPr id="3379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b="1" smtClean="0"/>
              <a:t>Definition: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The </a:t>
            </a:r>
            <a:r>
              <a:rPr lang="en-US" altLang="en-GB" sz="2200" b="1" smtClean="0"/>
              <a:t>leftmost non-terminal </a:t>
            </a:r>
            <a:r>
              <a:rPr lang="en-US" altLang="en-GB" sz="2200" smtClean="0"/>
              <a:t>in a working string is the first </a:t>
            </a:r>
            <a:r>
              <a:rPr lang="en-US" altLang="en-GB" sz="2200" i="1" smtClean="0"/>
              <a:t>non-terminal</a:t>
            </a:r>
            <a:r>
              <a:rPr lang="en-US" altLang="en-GB" sz="2200" smtClean="0"/>
              <a:t> that we encounter when we scan the string from left to right.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b="1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b="1" smtClean="0"/>
              <a:t>Example: </a:t>
            </a:r>
            <a:r>
              <a:rPr lang="en-US" altLang="en-GB" sz="2200" smtClean="0"/>
              <a:t>In the string abNbaXYa, the leftmost non-terminal is N.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b="1" smtClean="0"/>
              <a:t>Definition: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b="1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If a word </a:t>
            </a:r>
            <a:r>
              <a:rPr lang="en-US" altLang="en-GB" sz="2200" i="1" smtClean="0"/>
              <a:t>w</a:t>
            </a:r>
            <a:r>
              <a:rPr lang="en-US" altLang="en-GB" sz="2200" smtClean="0"/>
              <a:t> is generated by a CFG such that at each step in the derivation, a production is applied to the leftmost non-terminal in the working string, then this derivation is called a </a:t>
            </a:r>
            <a:r>
              <a:rPr lang="en-US" altLang="en-GB" sz="2200" b="1" smtClean="0"/>
              <a:t>leftmost derivation</a:t>
            </a:r>
            <a:r>
              <a:rPr lang="en-US" altLang="en-GB" sz="22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584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4133BF-7E30-4549-8BCC-E826F9637DB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Example: Left derivation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9200"/>
            <a:ext cx="8229600" cy="4530725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/>
              <a:t>S </a:t>
            </a:r>
            <a:r>
              <a:rPr lang="en-US" sz="2600">
                <a:sym typeface="Wingdings" pitchFamily="2" charset="2"/>
              </a:rPr>
              <a:t> aSX | b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ym typeface="Wingdings" pitchFamily="2" charset="2"/>
              </a:rPr>
              <a:t>X  Xb | a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600">
              <a:sym typeface="Wingdings" pitchFamily="2" charset="2"/>
            </a:endParaRP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ym typeface="Wingdings" pitchFamily="2" charset="2"/>
              </a:rPr>
              <a:t>aababa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600"/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/>
              <a:t>S </a:t>
            </a:r>
            <a:r>
              <a:rPr lang="en-US" sz="2600">
                <a:sym typeface="Wingdings" pitchFamily="2" charset="2"/>
              </a:rPr>
              <a:t> a</a:t>
            </a:r>
            <a:r>
              <a:rPr lang="en-US" sz="2600">
                <a:solidFill>
                  <a:srgbClr val="FF3300"/>
                </a:solidFill>
                <a:sym typeface="Wingdings" pitchFamily="2" charset="2"/>
              </a:rPr>
              <a:t>S</a:t>
            </a:r>
            <a:r>
              <a:rPr lang="en-US" sz="2600">
                <a:sym typeface="Wingdings" pitchFamily="2" charset="2"/>
              </a:rPr>
              <a:t>X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ym typeface="Wingdings" pitchFamily="2" charset="2"/>
              </a:rPr>
              <a:t>	 aa</a:t>
            </a:r>
            <a:r>
              <a:rPr lang="en-US" sz="2600">
                <a:solidFill>
                  <a:srgbClr val="FF3300"/>
                </a:solidFill>
                <a:sym typeface="Wingdings" pitchFamily="2" charset="2"/>
              </a:rPr>
              <a:t>S</a:t>
            </a:r>
            <a:r>
              <a:rPr lang="en-US" sz="2600">
                <a:sym typeface="Wingdings" pitchFamily="2" charset="2"/>
              </a:rPr>
              <a:t>XX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ym typeface="Wingdings" pitchFamily="2" charset="2"/>
              </a:rPr>
              <a:t>	 aab</a:t>
            </a:r>
            <a:r>
              <a:rPr lang="en-US" sz="2600">
                <a:solidFill>
                  <a:srgbClr val="FF3300"/>
                </a:solidFill>
                <a:sym typeface="Wingdings" pitchFamily="2" charset="2"/>
              </a:rPr>
              <a:t>X</a:t>
            </a:r>
            <a:r>
              <a:rPr lang="en-US" sz="2600">
                <a:sym typeface="Wingdings" pitchFamily="2" charset="2"/>
              </a:rPr>
              <a:t>X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ym typeface="Wingdings" pitchFamily="2" charset="2"/>
              </a:rPr>
              <a:t>	 aab</a:t>
            </a:r>
            <a:r>
              <a:rPr lang="en-US" sz="2600">
                <a:solidFill>
                  <a:srgbClr val="FF3300"/>
                </a:solidFill>
                <a:sym typeface="Wingdings" pitchFamily="2" charset="2"/>
              </a:rPr>
              <a:t>X</a:t>
            </a:r>
            <a:r>
              <a:rPr lang="en-US" sz="2600">
                <a:sym typeface="Wingdings" pitchFamily="2" charset="2"/>
              </a:rPr>
              <a:t>bX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ym typeface="Wingdings" pitchFamily="2" charset="2"/>
              </a:rPr>
              <a:t>	 aabab</a:t>
            </a:r>
            <a:r>
              <a:rPr lang="en-US" sz="2600">
                <a:solidFill>
                  <a:srgbClr val="FF3300"/>
                </a:solidFill>
                <a:sym typeface="Wingdings" pitchFamily="2" charset="2"/>
              </a:rPr>
              <a:t>X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600">
                <a:sym typeface="Wingdings" pitchFamily="2" charset="2"/>
              </a:rPr>
              <a:t>	 aababa</a:t>
            </a:r>
            <a:endParaRPr lang="en-US" sz="2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Left derivation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26631" name="Footer Placeholder 7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7893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8707A4-BA35-4B21-A507-2937F44B51A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3789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13811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971800"/>
            <a:ext cx="6886575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Left derivation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27654" name="Footer Placeholder 6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9941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062E91-B7C8-466F-9FA4-1B5A8ABF2E9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399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52625"/>
            <a:ext cx="7505700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Left derivation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28678" name="Footer Placeholder 6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1989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A31FAF-83EF-4DE7-AFA9-E70025EC214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419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31888"/>
            <a:ext cx="5562600" cy="512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29705" name="Footer Placeholder 9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4037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BEC745-4657-4241-B941-840FF384C3C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440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41036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4000"/>
            <a:ext cx="23622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316038"/>
            <a:ext cx="3581400" cy="554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778125"/>
            <a:ext cx="2971800" cy="407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608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DA89C7-088F-487D-9237-1B6F929A401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Parsing</a:t>
            </a:r>
          </a:p>
        </p:txBody>
      </p:sp>
      <p:sp>
        <p:nvSpPr>
          <p:cNvPr id="4608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400" b="1" u="sng" smtClean="0"/>
              <a:t>Definition</a:t>
            </a:r>
            <a:r>
              <a:rPr lang="en-US" altLang="en-GB" sz="2400" smtClean="0"/>
              <a:t>: the process of finding the derivation of word generated by particular grammar is called </a:t>
            </a:r>
            <a:r>
              <a:rPr lang="en-US" altLang="en-GB" sz="2400" b="1" smtClean="0"/>
              <a:t>parsing</a:t>
            </a:r>
            <a:r>
              <a:rPr lang="en-US" altLang="en-GB" sz="2400" smtClean="0"/>
              <a:t>.</a:t>
            </a:r>
          </a:p>
          <a:p>
            <a:pPr marL="609600" indent="-60960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400" smtClean="0"/>
              <a:t>There are different parsing techniques, containing the following three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GB" sz="2400" smtClean="0"/>
              <a:t>Top down parsing.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GB" sz="2400" smtClean="0"/>
              <a:t>Bottom up parsing.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GB" sz="2400" smtClean="0"/>
              <a:t>Parsing technique for particular grammar of arithmetic expression.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8131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0656BB-FD40-42C4-B380-4B7B0E50EA2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Top down parsing</a:t>
            </a:r>
          </a:p>
        </p:txBody>
      </p:sp>
      <p:sp>
        <p:nvSpPr>
          <p:cNvPr id="4813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400" smtClean="0"/>
              <a:t>Following is an example showing top down parsing technique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4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400" smtClean="0"/>
              <a:t>As can be observed from the name of top down parsing, the parsing starts from the non-terminal S and the structure similar to that of total language tree is developed. The branches of the tree are extended till the required word is found as a branch.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0179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D6CDDB-AD91-4475-B4EB-40EEFA04432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42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Convert to CNF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</a:rPr>
              <a:t>E -&gt; E+E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Arial" charset="0"/>
              </a:rPr>
              <a:t>E -&gt; E*E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Arial" charset="0"/>
              </a:rPr>
              <a:t>E -&gt; (E)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Arial" charset="0"/>
              </a:rPr>
              <a:t>E -&gt; 7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endParaRPr lang="en-US" sz="2400" kern="0" dirty="0">
              <a:latin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</a:rPr>
              <a:t>S-&gt;ABABAB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</a:rPr>
              <a:t>A-&gt;a|∆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</a:rPr>
              <a:t>B-&gt;b|</a:t>
            </a:r>
            <a:r>
              <a:rPr lang="en-US" sz="2400" kern="0" dirty="0">
                <a:latin typeface="Arial" charset="0"/>
              </a:rPr>
              <a:t> ∆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endParaRPr lang="en-US" sz="2400" kern="0" dirty="0">
              <a:latin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Arial" pitchFamily="34" charset="0"/>
              <a:buChar char="•"/>
              <a:defRPr/>
            </a:pPr>
            <a:r>
              <a:rPr lang="en-US" sz="2400" kern="0" dirty="0">
                <a:latin typeface="+mn-lt"/>
              </a:rPr>
              <a:t>S-&gt;</a:t>
            </a:r>
            <a:r>
              <a:rPr lang="en-US" sz="2400" kern="0" dirty="0" err="1">
                <a:latin typeface="+mn-lt"/>
              </a:rPr>
              <a:t>SaS</a:t>
            </a:r>
            <a:r>
              <a:rPr lang="en-US" sz="2400" kern="0" dirty="0">
                <a:latin typeface="+mn-lt"/>
              </a:rPr>
              <a:t> |</a:t>
            </a:r>
            <a:r>
              <a:rPr lang="en-US" sz="2400" kern="0" dirty="0" err="1">
                <a:latin typeface="+mn-lt"/>
              </a:rPr>
              <a:t>SaSbS</a:t>
            </a:r>
            <a:r>
              <a:rPr lang="en-US" sz="2400" kern="0" dirty="0">
                <a:latin typeface="+mn-lt"/>
              </a:rPr>
              <a:t> |</a:t>
            </a:r>
            <a:r>
              <a:rPr lang="en-US" sz="2400" kern="0" dirty="0" err="1">
                <a:latin typeface="+mn-lt"/>
              </a:rPr>
              <a:t>SbSaS</a:t>
            </a:r>
            <a:r>
              <a:rPr lang="en-US" sz="2400" kern="0">
                <a:latin typeface="+mn-lt"/>
              </a:rPr>
              <a:t> | </a:t>
            </a:r>
            <a:r>
              <a:rPr lang="en-US" sz="2400" kern="0">
                <a:latin typeface="Arial" charset="0"/>
              </a:rPr>
              <a:t>∆</a:t>
            </a:r>
            <a:endParaRPr lang="en-US" sz="2400" kern="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7673</TotalTime>
  <Words>991</Words>
  <Application>Microsoft Office PowerPoint</Application>
  <PresentationFormat>On-screen Show (4:3)</PresentationFormat>
  <Paragraphs>259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Wingdings</vt:lpstr>
      <vt:lpstr>Symbol</vt:lpstr>
      <vt:lpstr>Office Theme</vt:lpstr>
      <vt:lpstr>Theory of Automata  Chomsky Normal Form </vt:lpstr>
      <vt:lpstr>Contents</vt:lpstr>
      <vt:lpstr>Chomsky Normal Form (CNF)</vt:lpstr>
      <vt:lpstr>Theorem 25</vt:lpstr>
      <vt:lpstr>Proof</vt:lpstr>
      <vt:lpstr>Proof Theorem 25 contd…</vt:lpstr>
      <vt:lpstr>Example</vt:lpstr>
      <vt:lpstr>Theorem</vt:lpstr>
      <vt:lpstr>Proof of theorem</vt:lpstr>
      <vt:lpstr>Proof contd.</vt:lpstr>
      <vt:lpstr>Theorem 26</vt:lpstr>
      <vt:lpstr>Proof of Theorem 26</vt:lpstr>
      <vt:lpstr>Proof of Theorem 26 contd.</vt:lpstr>
      <vt:lpstr>Remarks</vt:lpstr>
      <vt:lpstr>Example (Non-Palindrome)</vt:lpstr>
      <vt:lpstr>Leftmost Derivation</vt:lpstr>
      <vt:lpstr>Example: Left derivation</vt:lpstr>
      <vt:lpstr>Left derivation</vt:lpstr>
      <vt:lpstr>Left derivation</vt:lpstr>
      <vt:lpstr>Left derivation</vt:lpstr>
      <vt:lpstr>PowerPoint Presentation</vt:lpstr>
      <vt:lpstr>Parsing</vt:lpstr>
      <vt:lpstr>Top down parsing</vt:lpstr>
      <vt:lpstr>PowerPoint Presentation</vt:lpstr>
    </vt:vector>
  </TitlesOfParts>
  <Company>fast-nu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</dc:title>
  <dc:creator>Majid</dc:creator>
  <cp:lastModifiedBy>user1</cp:lastModifiedBy>
  <cp:revision>173</cp:revision>
  <dcterms:created xsi:type="dcterms:W3CDTF">2011-08-06T09:27:24Z</dcterms:created>
  <dcterms:modified xsi:type="dcterms:W3CDTF">2025-07-28T10:26:53Z</dcterms:modified>
</cp:coreProperties>
</file>