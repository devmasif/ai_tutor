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05" r:id="rId1"/>
  </p:sldMasterIdLst>
  <p:notesMasterIdLst>
    <p:notesMasterId r:id="rId32"/>
  </p:notes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5085" autoAdjust="0"/>
  </p:normalViewPr>
  <p:slideViewPr>
    <p:cSldViewPr>
      <p:cViewPr varScale="1">
        <p:scale>
          <a:sx n="106" d="100"/>
          <a:sy n="106" d="100"/>
        </p:scale>
        <p:origin x="240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B6DB266-9258-4DCC-95E2-21443147EBEE}" type="slidenum">
              <a:rPr lang="en-US" altLang="en-GB"/>
              <a:pPr/>
              <a:t>‹#›</a:t>
            </a:fld>
            <a:endParaRPr lang="en-US" alt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1784FA8-2102-4A7D-B247-6FDB641A111A}" type="slidenum">
              <a:rPr lang="en-US" altLang="en-GB"/>
              <a:pPr/>
              <a:t>1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6AB579A-6CDC-4903-8999-E11298BE7676}" type="slidenum">
              <a:rPr lang="en-US" altLang="en-GB"/>
              <a:pPr/>
              <a:t>2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1E8DF6-AC0F-4119-9E25-44930D0ED0A8}" type="slidenum">
              <a:rPr lang="en-US" altLang="en-GB"/>
              <a:pPr/>
              <a:t>3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683F5AD-B6D8-4FDA-B5A8-7E2921311200}" type="slidenum">
              <a:rPr lang="en-US" altLang="en-GB"/>
              <a:pPr/>
              <a:t>4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6784348-B2D6-4BD0-9706-AE2F0B2BD193}" type="slidenum">
              <a:rPr lang="en-US" altLang="en-GB"/>
              <a:pPr/>
              <a:t>5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5289D9-344B-4B43-BF96-B7B2E4B42F71}" type="slidenum">
              <a:rPr lang="en-US" altLang="en-GB"/>
              <a:pPr/>
              <a:t>6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2434F58-DFC9-48B8-8E6C-F2AB542D03DA}" type="slidenum">
              <a:rPr lang="en-US" altLang="en-GB"/>
              <a:pPr/>
              <a:t>7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DBF48F-7102-4F85-A70C-3FA70597A0DB}" type="slidenum">
              <a:rPr lang="en-US" altLang="en-GB"/>
              <a:pPr/>
              <a:t>8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0323D7-3DD3-4821-8CDA-E5B1E2B189C2}" type="slidenum">
              <a:rPr lang="en-US" altLang="en-GB"/>
              <a:pPr/>
              <a:t>9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9EFC49-75EF-418E-BC18-3AEC59266071}" type="slidenum">
              <a:rPr lang="en-US" altLang="en-GB"/>
              <a:pPr/>
              <a:t>10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2C0E47-2541-48ED-A81E-3F9A454FA9A6}" type="slidenum">
              <a:rPr lang="en-US" altLang="en-GB"/>
              <a:pPr/>
              <a:t>11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8BAB85-E79F-4E67-A20F-327738C3CEFE}" type="slidenum">
              <a:rPr lang="en-US" altLang="en-GB"/>
              <a:pPr/>
              <a:t>12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CA551EA-C8A2-45BB-840E-DDBD7C682302}" type="slidenum">
              <a:rPr lang="en-US" altLang="en-GB"/>
              <a:pPr/>
              <a:t>13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9DEBD60-DF42-4B26-B39B-B7CC8CF1FAF6}" type="slidenum">
              <a:rPr lang="en-US" altLang="en-GB"/>
              <a:pPr/>
              <a:t>14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7C8F16-3DF3-44A1-A61C-5EF340E3E570}" type="slidenum">
              <a:rPr lang="en-US" altLang="en-GB"/>
              <a:pPr/>
              <a:t>15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710FDE3-46A9-4F60-8E51-A7187D88E138}" type="slidenum">
              <a:rPr lang="en-US" altLang="en-GB"/>
              <a:pPr/>
              <a:t>16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81D9383-21EC-4534-8F28-579300CBFCA6}" type="slidenum">
              <a:rPr lang="en-US" altLang="en-GB"/>
              <a:pPr/>
              <a:t>17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4DDC546-6A7B-42F6-A92C-CBE6E29DA4BD}" type="slidenum">
              <a:rPr lang="en-US" altLang="en-GB"/>
              <a:pPr/>
              <a:t>18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67D9A5C-16CE-470E-988A-9F1D6AE68159}" type="slidenum">
              <a:rPr lang="en-US" altLang="en-GB"/>
              <a:pPr/>
              <a:t>19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78A8DC0-7E96-4989-9D94-26715DC77B30}" type="slidenum">
              <a:rPr lang="en-US" altLang="en-GB"/>
              <a:pPr/>
              <a:t>20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9A2259-6B5F-4B6A-B9EC-70FFF9C675A7}" type="slidenum">
              <a:rPr lang="en-US" altLang="en-GB"/>
              <a:pPr/>
              <a:t>21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8FE56D0-51E0-475B-9BF7-80B6E4A63591}" type="slidenum">
              <a:rPr lang="en-US" altLang="en-GB"/>
              <a:pPr/>
              <a:t>22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B3BBFF-95CA-49FA-9839-12196472A821}" type="slidenum">
              <a:rPr lang="en-US" altLang="en-GB"/>
              <a:pPr/>
              <a:t>23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10DF04D-9E67-4117-A3C7-C7C9B53FE754}" type="slidenum">
              <a:rPr lang="en-US" altLang="en-GB"/>
              <a:pPr/>
              <a:t>24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C04F8FC-7003-4A78-A29E-AD60E993A926}" type="slidenum">
              <a:rPr lang="en-US" altLang="en-GB"/>
              <a:pPr/>
              <a:t>25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806C464-59B2-43D6-BD3A-F2773C897B4C}" type="slidenum">
              <a:rPr lang="en-US" altLang="en-GB"/>
              <a:pPr/>
              <a:t>26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488F65-86F8-4BF8-94C4-3852BE2879DA}" type="slidenum">
              <a:rPr lang="en-US" altLang="en-GB"/>
              <a:pPr/>
              <a:t>27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0AE2C4A-AC0C-488E-9ECE-33A8980A10CC}" type="slidenum">
              <a:rPr lang="en-US" altLang="en-GB"/>
              <a:pPr/>
              <a:t>28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ED25B9A-6444-49F4-90EB-03CCF7BECA9B}" type="slidenum">
              <a:rPr lang="en-US" altLang="en-GB"/>
              <a:pPr/>
              <a:t>29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4871D12-62F8-4548-BEB7-9AAD04BAF083}" type="slidenum">
              <a:rPr lang="en-US" altLang="en-GB"/>
              <a:pPr/>
              <a:t>30</a:t>
            </a:fld>
            <a:endParaRPr lang="en-US" alt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 9,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25BEAE-EBD2-42C4-A9DA-D78DA8EC49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7342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 9,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113159-25DE-42C9-8F4B-AE16CC1F8C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9829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 9,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643395-F3B0-471C-B926-218FD369BB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8566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 9, 2016</a:t>
            </a: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D63EB3-37C6-4939-93F2-F8A0D500FD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2327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 9, 2016</a:t>
            </a:r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2C0188-52DD-4E32-97CA-59301BCE21A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3377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 9, 2016</a:t>
            </a:r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70BD0E-CE36-44BB-84BB-9947D37EF4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3176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 9, 2016</a:t>
            </a:r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58E70F-49DB-40C3-BA4A-43B3B9D43A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5299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 9, 2016</a:t>
            </a: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0FDAED-30EC-4811-8FA9-BF164E7FA8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4954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 9, 2016</a:t>
            </a: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92922D-1CA2-4B17-86A9-826FF4BABB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956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 9,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B12AD1-9432-4332-AC4E-768A6D1AFA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719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 9,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BAD02E-D170-47FF-B7CC-999B7BDFA39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7084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GB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GB" smtClean="0"/>
              <a:t>Click to edit Master text styles</a:t>
            </a:r>
          </a:p>
          <a:p>
            <a:pPr lvl="1"/>
            <a:r>
              <a:rPr lang="en-US" altLang="en-GB" smtClean="0"/>
              <a:t>Second level</a:t>
            </a:r>
          </a:p>
          <a:p>
            <a:pPr lvl="2"/>
            <a:r>
              <a:rPr lang="en-US" altLang="en-GB" smtClean="0"/>
              <a:t>Third level</a:t>
            </a:r>
          </a:p>
          <a:p>
            <a:pPr lvl="3"/>
            <a:r>
              <a:rPr lang="en-US" altLang="en-GB" smtClean="0"/>
              <a:t>Fourth level</a:t>
            </a:r>
          </a:p>
          <a:p>
            <a:pPr lvl="4"/>
            <a:r>
              <a:rPr lang="en-US" altLang="en-GB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Nov 9,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66187D68-9DB5-424E-9B45-735EA69A533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6" r:id="rId1"/>
    <p:sldLayoutId id="2147484107" r:id="rId2"/>
    <p:sldLayoutId id="2147484108" r:id="rId3"/>
    <p:sldLayoutId id="2147484109" r:id="rId4"/>
    <p:sldLayoutId id="2147484110" r:id="rId5"/>
    <p:sldLayoutId id="2147484111" r:id="rId6"/>
    <p:sldLayoutId id="2147484112" r:id="rId7"/>
    <p:sldLayoutId id="2147484113" r:id="rId8"/>
    <p:sldLayoutId id="2147484114" r:id="rId9"/>
    <p:sldLayoutId id="2147484115" r:id="rId10"/>
    <p:sldLayoutId id="2147484116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GB" smtClean="0"/>
              <a:t>Theory of Automata</a:t>
            </a:r>
            <a:br>
              <a:rPr lang="en-US" altLang="en-GB" smtClean="0"/>
            </a:br>
            <a:r>
              <a:rPr lang="en-US" altLang="en-GB" smtClean="0"/>
              <a:t>2PDA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sz="2800"/>
              <a:t>Week </a:t>
            </a:r>
            <a:r>
              <a:rPr lang="en-US" sz="2800" dirty="0"/>
              <a:t>13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3C7004F-FBDB-46E2-99F0-FC1611A816A4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Contents</a:t>
            </a:r>
          </a:p>
        </p:txBody>
      </p:sp>
      <p:sp>
        <p:nvSpPr>
          <p:cNvPr id="5124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GB" sz="2600" smtClean="0"/>
              <a:t>Two Stack PDA</a:t>
            </a:r>
          </a:p>
          <a:p>
            <a:pPr eaLnBrk="1" hangingPunct="1"/>
            <a:r>
              <a:rPr lang="en-US" altLang="en-GB" sz="2800" smtClean="0"/>
              <a:t>Just another TM  “2PDA = TM”</a:t>
            </a:r>
          </a:p>
          <a:p>
            <a:pPr eaLnBrk="1" hangingPunct="1"/>
            <a:r>
              <a:rPr lang="en-US" altLang="en-GB" sz="2800" smtClean="0"/>
              <a:t>Simulate a TM over PM</a:t>
            </a:r>
          </a:p>
          <a:p>
            <a:pPr eaLnBrk="1" hangingPunct="1"/>
            <a:r>
              <a:rPr lang="en-US" altLang="en-GB" sz="2800" smtClean="0"/>
              <a:t>nPDA = TM</a:t>
            </a:r>
            <a:endParaRPr lang="en-US" altLang="en-GB" sz="260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0D8F223-FFD8-414B-AC83-FFEC8AF45F70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2PDA or Two Stack PDA</a:t>
            </a:r>
          </a:p>
        </p:txBody>
      </p:sp>
      <p:sp>
        <p:nvSpPr>
          <p:cNvPr id="7172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GB" sz="2600" smtClean="0"/>
              <a:t>Let us define a two-stack pushdown automaton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600" smtClean="0"/>
              <a:t> as follows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600" smtClean="0"/>
              <a:t>M = (</a:t>
            </a:r>
            <a:r>
              <a:rPr lang="en-US" altLang="en-GB" sz="2600" i="1" smtClean="0"/>
              <a:t>K</a:t>
            </a:r>
            <a:r>
              <a:rPr lang="en-US" altLang="en-GB" sz="2600" smtClean="0"/>
              <a:t>, </a:t>
            </a:r>
            <a:r>
              <a:rPr lang="en-US" altLang="en-GB" sz="2600" smtClean="0">
                <a:sym typeface="Symbol" panose="05050102010706020507" pitchFamily="18" charset="2"/>
              </a:rPr>
              <a:t></a:t>
            </a:r>
            <a:r>
              <a:rPr lang="en-US" altLang="en-GB" sz="2600" smtClean="0"/>
              <a:t>, </a:t>
            </a:r>
            <a:r>
              <a:rPr lang="en-US" altLang="en-GB" sz="2600" smtClean="0">
                <a:sym typeface="Symbol" panose="05050102010706020507" pitchFamily="18" charset="2"/>
              </a:rPr>
              <a:t></a:t>
            </a:r>
            <a:r>
              <a:rPr lang="en-US" altLang="en-GB" sz="2600" smtClean="0"/>
              <a:t>, </a:t>
            </a:r>
            <a:r>
              <a:rPr lang="en-US" altLang="en-GB" sz="2600" smtClean="0">
                <a:sym typeface="Symbol" panose="05050102010706020507" pitchFamily="18" charset="2"/>
              </a:rPr>
              <a:t></a:t>
            </a:r>
            <a:r>
              <a:rPr lang="en-US" altLang="en-GB" sz="2600" smtClean="0"/>
              <a:t>, </a:t>
            </a:r>
            <a:r>
              <a:rPr lang="en-US" altLang="en-GB" sz="2600" i="1" smtClean="0"/>
              <a:t>s</a:t>
            </a:r>
            <a:r>
              <a:rPr lang="en-US" altLang="en-GB" sz="2600" smtClean="0"/>
              <a:t>, </a:t>
            </a:r>
            <a:r>
              <a:rPr lang="en-US" altLang="en-GB" sz="2600" i="1" smtClean="0"/>
              <a:t>F</a:t>
            </a:r>
            <a:r>
              <a:rPr lang="en-US" altLang="en-GB" sz="2600" smtClean="0"/>
              <a:t>)</a:t>
            </a:r>
            <a:endParaRPr lang="en-US" altLang="en-GB" sz="2600" i="1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600" i="1" smtClean="0"/>
              <a:t>K </a:t>
            </a:r>
            <a:r>
              <a:rPr lang="en-US" altLang="en-GB" sz="2600" smtClean="0"/>
              <a:t>is a finite set of states,</a:t>
            </a:r>
            <a:endParaRPr lang="en-US" altLang="en-GB" sz="2600" smtClean="0"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600" smtClean="0">
                <a:sym typeface="Symbol" panose="05050102010706020507" pitchFamily="18" charset="2"/>
              </a:rPr>
              <a:t></a:t>
            </a:r>
            <a:r>
              <a:rPr lang="en-US" altLang="en-GB" sz="2600" smtClean="0"/>
              <a:t> is an alphabet (the input symbols),</a:t>
            </a:r>
            <a:endParaRPr lang="en-US" altLang="en-GB" sz="2600" smtClean="0"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600" smtClean="0">
                <a:sym typeface="Symbol" panose="05050102010706020507" pitchFamily="18" charset="2"/>
              </a:rPr>
              <a:t></a:t>
            </a:r>
            <a:r>
              <a:rPr lang="en-US" altLang="en-GB" sz="2600" smtClean="0"/>
              <a:t> is an alphabet (the stack symbols),</a:t>
            </a:r>
            <a:endParaRPr lang="en-US" altLang="en-GB" sz="2600" i="1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600" i="1" smtClean="0"/>
              <a:t>s </a:t>
            </a:r>
            <a:r>
              <a:rPr lang="en-US" altLang="en-GB" sz="2600" smtClean="0">
                <a:sym typeface="Symbol" panose="05050102010706020507" pitchFamily="18" charset="2"/>
              </a:rPr>
              <a:t></a:t>
            </a:r>
            <a:r>
              <a:rPr lang="en-US" altLang="en-GB" sz="2600" smtClean="0"/>
              <a:t> </a:t>
            </a:r>
            <a:r>
              <a:rPr lang="en-US" altLang="en-GB" sz="2600" i="1" smtClean="0"/>
              <a:t>K</a:t>
            </a:r>
            <a:r>
              <a:rPr lang="en-US" altLang="en-GB" sz="2600" smtClean="0"/>
              <a:t> is the start state,</a:t>
            </a:r>
            <a:endParaRPr lang="en-US" altLang="en-GB" sz="2600" i="1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600" i="1" smtClean="0"/>
              <a:t>F </a:t>
            </a:r>
            <a:r>
              <a:rPr lang="en-US" altLang="en-GB" sz="2600" smtClean="0">
                <a:sym typeface="Symbol" panose="05050102010706020507" pitchFamily="18" charset="2"/>
              </a:rPr>
              <a:t></a:t>
            </a:r>
            <a:r>
              <a:rPr lang="en-US" altLang="en-GB" sz="2600" smtClean="0"/>
              <a:t> </a:t>
            </a:r>
            <a:r>
              <a:rPr lang="en-US" altLang="en-GB" sz="2600" i="1" smtClean="0"/>
              <a:t>K </a:t>
            </a:r>
            <a:r>
              <a:rPr lang="en-US" altLang="en-GB" sz="2600" smtClean="0"/>
              <a:t>is the set of final states, and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600" smtClean="0"/>
              <a:t>Finite set of transition from one state to another state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C12723-A2F9-4B83-9FF0-DBB873E43875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2PDA</a:t>
            </a:r>
          </a:p>
        </p:txBody>
      </p:sp>
      <p:sp>
        <p:nvSpPr>
          <p:cNvPr id="9220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600" smtClean="0"/>
              <a:t>As we have two stacks for storage purpose, so change the name of POP and PUSH stack accordingly.</a:t>
            </a:r>
          </a:p>
          <a:p>
            <a:pPr algn="just" eaLnBrk="1" hangingPunct="1"/>
            <a:endParaRPr lang="en-US" altLang="en-GB" sz="2600" smtClean="0"/>
          </a:p>
          <a:p>
            <a:pPr algn="just" eaLnBrk="1" hangingPunct="1"/>
            <a:r>
              <a:rPr lang="en-US" altLang="en-GB" sz="2600" smtClean="0"/>
              <a:t>POP</a:t>
            </a:r>
            <a:r>
              <a:rPr lang="en-US" altLang="en-GB" sz="2600" baseline="-25000" smtClean="0"/>
              <a:t>1</a:t>
            </a:r>
            <a:r>
              <a:rPr lang="en-US" altLang="en-GB" sz="2600" smtClean="0"/>
              <a:t> will pop from the first stack</a:t>
            </a:r>
          </a:p>
          <a:p>
            <a:pPr algn="just" eaLnBrk="1" hangingPunct="1"/>
            <a:r>
              <a:rPr lang="en-US" altLang="en-GB" sz="2600" smtClean="0"/>
              <a:t>POP</a:t>
            </a:r>
            <a:r>
              <a:rPr lang="en-US" altLang="en-GB" sz="2600" baseline="-25000" smtClean="0"/>
              <a:t>2</a:t>
            </a:r>
            <a:r>
              <a:rPr lang="en-US" altLang="en-GB" sz="2600" smtClean="0"/>
              <a:t> will pop from the second stack</a:t>
            </a:r>
          </a:p>
          <a:p>
            <a:pPr algn="just" eaLnBrk="1" hangingPunct="1"/>
            <a:r>
              <a:rPr lang="en-US" altLang="en-GB" sz="2600" smtClean="0"/>
              <a:t>PUSH</a:t>
            </a:r>
            <a:r>
              <a:rPr lang="en-US" altLang="en-GB" sz="2600" baseline="-25000" smtClean="0"/>
              <a:t>1</a:t>
            </a:r>
            <a:r>
              <a:rPr lang="en-US" altLang="en-GB" sz="2600" smtClean="0"/>
              <a:t> will push into first stack</a:t>
            </a:r>
          </a:p>
          <a:p>
            <a:pPr algn="just" eaLnBrk="1" hangingPunct="1"/>
            <a:r>
              <a:rPr lang="en-US" altLang="en-GB" sz="2600" smtClean="0"/>
              <a:t>PUSH</a:t>
            </a:r>
            <a:r>
              <a:rPr lang="en-US" altLang="en-GB" sz="2600" baseline="-25000" smtClean="0"/>
              <a:t>2</a:t>
            </a:r>
            <a:r>
              <a:rPr lang="en-US" altLang="en-GB" sz="2600" smtClean="0"/>
              <a:t> will push into second stack</a:t>
            </a:r>
          </a:p>
          <a:p>
            <a:pPr algn="just" eaLnBrk="1" hangingPunct="1"/>
            <a:endParaRPr lang="en-US" altLang="en-GB" sz="260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9B8CD6E-C98A-4784-AEA4-7FBABE716A3C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1267" name="Rectangle 3"/>
          <p:cNvSpPr>
            <a:spLocks noGrp="1"/>
          </p:cNvSpPr>
          <p:nvPr>
            <p:ph type="body" idx="4294967295"/>
          </p:nvPr>
        </p:nvSpPr>
        <p:spPr>
          <a:xfrm>
            <a:off x="6172200" y="1600200"/>
            <a:ext cx="2971800" cy="4530725"/>
          </a:xfrm>
        </p:spPr>
        <p:txBody>
          <a:bodyPr/>
          <a:lstStyle/>
          <a:p>
            <a:pPr algn="just" eaLnBrk="1" hangingPunct="1"/>
            <a:r>
              <a:rPr lang="en-US" altLang="en-GB" sz="2600" smtClean="0"/>
              <a:t>Guess the Language</a:t>
            </a:r>
          </a:p>
          <a:p>
            <a:pPr algn="just" eaLnBrk="1" hangingPunct="1"/>
            <a:r>
              <a:rPr lang="en-US" altLang="en-GB" sz="2600" smtClean="0"/>
              <a:t>a</a:t>
            </a:r>
            <a:r>
              <a:rPr lang="en-US" altLang="en-GB" sz="2600" baseline="30000" smtClean="0"/>
              <a:t>n</a:t>
            </a:r>
            <a:r>
              <a:rPr lang="en-US" altLang="en-GB" sz="2600" smtClean="0"/>
              <a:t>b</a:t>
            </a:r>
            <a:r>
              <a:rPr lang="en-US" altLang="en-GB" sz="2600" baseline="30000" smtClean="0"/>
              <a:t>n</a:t>
            </a:r>
            <a:r>
              <a:rPr lang="en-US" altLang="en-GB" sz="2600" smtClean="0"/>
              <a:t>a</a:t>
            </a:r>
            <a:r>
              <a:rPr lang="en-US" altLang="en-GB" sz="2600" baseline="30000" smtClean="0"/>
              <a:t>n</a:t>
            </a:r>
          </a:p>
          <a:p>
            <a:pPr algn="just" eaLnBrk="1" hangingPunct="1"/>
            <a:endParaRPr lang="en-US" altLang="en-GB" sz="2600" smtClean="0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"/>
            <a:ext cx="57150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97881BB-29C1-4D3A-BC20-528E06D4DB93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3315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\</a:t>
            </a:r>
          </a:p>
        </p:txBody>
      </p:sp>
      <p:sp>
        <p:nvSpPr>
          <p:cNvPr id="13316" name="Rectangle 3"/>
          <p:cNvSpPr>
            <a:spLocks noGrp="1"/>
          </p:cNvSpPr>
          <p:nvPr>
            <p:ph type="body" idx="4294967295"/>
          </p:nvPr>
        </p:nvSpPr>
        <p:spPr>
          <a:xfrm>
            <a:off x="7315200" y="1600200"/>
            <a:ext cx="1828800" cy="4530725"/>
          </a:xfrm>
        </p:spPr>
        <p:txBody>
          <a:bodyPr/>
          <a:lstStyle/>
          <a:p>
            <a:pPr algn="just" eaLnBrk="1" hangingPunct="1"/>
            <a:r>
              <a:rPr lang="en-US" altLang="en-GB" sz="2600" smtClean="0"/>
              <a:t>Run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3500" i="1" smtClean="0"/>
              <a:t>aabbaa</a:t>
            </a:r>
          </a:p>
        </p:txBody>
      </p:sp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057400"/>
            <a:ext cx="6486525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81000"/>
            <a:ext cx="64008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604B12-362F-4045-8D17-063FE967A350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5363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Just another TM  “2PDA = TM”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 rtlCol="0">
            <a:normAutofit lnSpcReduction="10000"/>
          </a:bodyPr>
          <a:lstStyle/>
          <a:p>
            <a:pPr marL="533400" indent="-533400" algn="just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600"/>
              <a:t>Minsky’s Theorem</a:t>
            </a:r>
          </a:p>
          <a:p>
            <a:pPr marL="533400" indent="-533400" algn="just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600"/>
              <a:t>Theorem:</a:t>
            </a:r>
          </a:p>
          <a:p>
            <a:pPr marL="533400" indent="-533400" algn="just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600"/>
              <a:t>Any language accepted by a 2PDA can be accepted by some TM and any language accepted by a TM can also accepted by 2PDA.</a:t>
            </a:r>
          </a:p>
          <a:p>
            <a:pPr marL="533400" indent="-533400" algn="just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600"/>
          </a:p>
          <a:p>
            <a:pPr marL="533400" indent="-533400" algn="just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600"/>
              <a:t>Proof :</a:t>
            </a:r>
          </a:p>
          <a:p>
            <a:pPr marL="533400" indent="-533400" algn="just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600"/>
              <a:t>2PDA has 3 locations for storage</a:t>
            </a:r>
          </a:p>
          <a:p>
            <a:pPr marL="914400" lvl="1" indent="-457200" algn="just" eaLnBrk="1" fontAlgn="auto" hangingPunct="1">
              <a:spcAft>
                <a:spcPts val="0"/>
              </a:spcAft>
              <a:buFontTx/>
              <a:buAutoNum type="arabicPeriod"/>
              <a:defRPr/>
            </a:pPr>
            <a:r>
              <a:rPr lang="en-US" sz="2200"/>
              <a:t>Stack1</a:t>
            </a:r>
          </a:p>
          <a:p>
            <a:pPr marL="914400" lvl="1" indent="-457200" algn="just" eaLnBrk="1" fontAlgn="auto" hangingPunct="1">
              <a:spcAft>
                <a:spcPts val="0"/>
              </a:spcAft>
              <a:buFontTx/>
              <a:buAutoNum type="arabicPeriod"/>
              <a:defRPr/>
            </a:pPr>
            <a:r>
              <a:rPr lang="en-US" sz="2200"/>
              <a:t>Stack2</a:t>
            </a:r>
          </a:p>
          <a:p>
            <a:pPr marL="914400" lvl="1" indent="-457200" algn="just" eaLnBrk="1" fontAlgn="auto" hangingPunct="1">
              <a:spcAft>
                <a:spcPts val="0"/>
              </a:spcAft>
              <a:buFontTx/>
              <a:buAutoNum type="arabicPeriod"/>
              <a:defRPr/>
            </a:pPr>
            <a:r>
              <a:rPr lang="en-US" sz="2200"/>
              <a:t>Input Tape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F2F539F-C01E-4914-B2AB-C1ED5803D7D4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7411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2PDA = TM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 rtlCol="0">
            <a:normAutofit lnSpcReduction="10000"/>
          </a:bodyPr>
          <a:lstStyle/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100"/>
              <a:t>Step-1 assume # and $ are not used by 2PDA</a:t>
            </a:r>
          </a:p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100"/>
              <a:t>Step-2 Divide TM into three parts</a:t>
            </a:r>
          </a:p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100"/>
              <a:t>		Insert ∆ in cell i.</a:t>
            </a:r>
          </a:p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100">
                <a:solidFill>
                  <a:srgbClr val="FF3300"/>
                </a:solidFill>
              </a:rPr>
              <a:t>First Part</a:t>
            </a:r>
            <a:r>
              <a:rPr lang="en-US" sz="2100"/>
              <a:t> </a:t>
            </a:r>
          </a:p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100"/>
              <a:t>    contains input string</a:t>
            </a:r>
          </a:p>
          <a:p>
            <a:pPr lvl="1" algn="just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000"/>
              <a:t>We change each letter into ∆ as the letters are read by the 2PDA.</a:t>
            </a:r>
          </a:p>
          <a:p>
            <a:pPr lvl="1" algn="just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000"/>
              <a:t>Put # at the end of input strings as end marker</a:t>
            </a:r>
          </a:p>
          <a:p>
            <a:pPr lvl="1" algn="just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sz="2000"/>
          </a:p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100">
                <a:solidFill>
                  <a:srgbClr val="FF3300"/>
                </a:solidFill>
              </a:rPr>
              <a:t>Second Part</a:t>
            </a:r>
          </a:p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900"/>
              <a:t>Contains the Stack1 of the 2PDA</a:t>
            </a:r>
          </a:p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900"/>
              <a:t>$ is placed as the end of stack1 contents over the input tape</a:t>
            </a:r>
          </a:p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1900"/>
          </a:p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100">
                <a:solidFill>
                  <a:srgbClr val="FF3300"/>
                </a:solidFill>
              </a:rPr>
              <a:t>Third Part</a:t>
            </a:r>
          </a:p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900"/>
              <a:t>Contains the Stack2 of the 2PDA</a:t>
            </a:r>
          </a:p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900"/>
              <a:t> will indicating the end of stack2 contents</a:t>
            </a:r>
          </a:p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90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BE26A2-CC00-4EAC-8DC1-FCDAEE71FA0C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9459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Read simulation</a:t>
            </a:r>
          </a:p>
        </p:txBody>
      </p:sp>
      <p:sp>
        <p:nvSpPr>
          <p:cNvPr id="19460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1600200"/>
            <a:ext cx="7848600" cy="4530725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s-ES" altLang="en-GB" sz="2200" smtClean="0"/>
              <a:t>TAPE 		x</a:t>
            </a:r>
            <a:r>
              <a:rPr lang="es-ES" altLang="en-GB" sz="2200" baseline="-25000" smtClean="0"/>
              <a:t>1</a:t>
            </a:r>
            <a:r>
              <a:rPr lang="es-ES" altLang="en-GB" sz="2200" smtClean="0"/>
              <a:t>, x</a:t>
            </a:r>
            <a:r>
              <a:rPr lang="es-ES" altLang="en-GB" sz="2200" baseline="-25000" smtClean="0"/>
              <a:t>2</a:t>
            </a:r>
            <a:r>
              <a:rPr lang="es-ES" altLang="en-GB" sz="2200" smtClean="0"/>
              <a:t> x</a:t>
            </a:r>
            <a:r>
              <a:rPr lang="es-ES" altLang="en-GB" sz="2200" baseline="-25000" smtClean="0"/>
              <a:t>3</a:t>
            </a:r>
            <a:r>
              <a:rPr lang="es-ES" altLang="en-GB" sz="2200" smtClean="0"/>
              <a:t> x</a:t>
            </a:r>
            <a:r>
              <a:rPr lang="es-ES" altLang="en-GB" sz="2200" baseline="-25000" smtClean="0"/>
              <a:t>4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s-ES" altLang="en-GB" sz="2200" smtClean="0"/>
              <a:t>STACK</a:t>
            </a:r>
            <a:r>
              <a:rPr lang="es-ES" altLang="en-GB" sz="2200" baseline="-25000" smtClean="0"/>
              <a:t>1</a:t>
            </a:r>
            <a:r>
              <a:rPr lang="es-ES" altLang="en-GB" sz="2200" smtClean="0"/>
              <a:t> 	Y</a:t>
            </a:r>
            <a:r>
              <a:rPr lang="es-ES" altLang="en-GB" sz="2200" baseline="-25000" smtClean="0"/>
              <a:t>1</a:t>
            </a:r>
            <a:r>
              <a:rPr lang="es-ES" altLang="en-GB" sz="2200" smtClean="0"/>
              <a:t> Y</a:t>
            </a:r>
            <a:r>
              <a:rPr lang="es-ES" altLang="en-GB" sz="2200" baseline="-25000" smtClean="0"/>
              <a:t>2</a:t>
            </a:r>
            <a:r>
              <a:rPr lang="es-ES" altLang="en-GB" sz="2200" smtClean="0"/>
              <a:t> Y</a:t>
            </a:r>
            <a:r>
              <a:rPr lang="es-ES" altLang="en-GB" sz="2200" baseline="-25000" smtClean="0"/>
              <a:t>3</a:t>
            </a:r>
            <a:r>
              <a:rPr lang="es-ES" altLang="en-GB" sz="2200" smtClean="0"/>
              <a:t> Y</a:t>
            </a:r>
            <a:r>
              <a:rPr lang="es-ES" altLang="en-GB" sz="2200" baseline="-25000" smtClean="0"/>
              <a:t>4</a:t>
            </a:r>
            <a:r>
              <a:rPr lang="es-ES" altLang="en-GB" sz="2200" smtClean="0"/>
              <a:t> Y</a:t>
            </a:r>
            <a:r>
              <a:rPr lang="es-ES" altLang="en-GB" sz="2200" baseline="-25000" smtClean="0"/>
              <a:t>5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s-ES" altLang="en-GB" sz="2200" smtClean="0"/>
              <a:t>STACK</a:t>
            </a:r>
            <a:r>
              <a:rPr lang="es-ES" altLang="en-GB" sz="2200" baseline="-25000" smtClean="0"/>
              <a:t>2  	</a:t>
            </a:r>
            <a:r>
              <a:rPr lang="es-ES" altLang="en-GB" sz="2200" smtClean="0"/>
              <a:t>Z</a:t>
            </a:r>
            <a:r>
              <a:rPr lang="es-ES" altLang="en-GB" sz="2200" baseline="-25000" smtClean="0"/>
              <a:t>1</a:t>
            </a:r>
            <a:r>
              <a:rPr lang="es-ES" altLang="en-GB" sz="2200" smtClean="0"/>
              <a:t>, Z</a:t>
            </a:r>
            <a:r>
              <a:rPr lang="es-ES" altLang="en-GB" sz="2200" baseline="-25000" smtClean="0"/>
              <a:t>2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The input tape will be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GB" sz="2200" smtClean="0"/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GB" sz="2200" smtClean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cs typeface="Arial" panose="020B0604020202020204" pitchFamily="34" charset="0"/>
              </a:rPr>
              <a:t>					</a:t>
            </a:r>
            <a:r>
              <a:rPr lang="en-US" altLang="en-GB" sz="3100" smtClean="0">
                <a:cs typeface="Arial" panose="020B0604020202020204" pitchFamily="34" charset="0"/>
              </a:rPr>
              <a:t>⁭</a:t>
            </a:r>
            <a:endParaRPr lang="en-US" altLang="en-GB" sz="3100" b="1" smtClean="0">
              <a:cs typeface="Arial" panose="020B0604020202020204" pitchFamily="34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After simulating any action of 2PDA TAPE HEAD will return to # before beginning its next operation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GB" sz="2200" smtClean="0"/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GB" sz="2200" smtClean="0"/>
          </a:p>
        </p:txBody>
      </p:sp>
      <p:graphicFrame>
        <p:nvGraphicFramePr>
          <p:cNvPr id="196651" name="Group 43"/>
          <p:cNvGraphicFramePr>
            <a:graphicFrameLocks noGrp="1"/>
          </p:cNvGraphicFramePr>
          <p:nvPr>
            <p:ph sz="half" idx="4294967295"/>
          </p:nvPr>
        </p:nvGraphicFramePr>
        <p:xfrm>
          <a:off x="0" y="3511550"/>
          <a:ext cx="4038600" cy="884238"/>
        </p:xfrm>
        <a:graphic>
          <a:graphicData uri="http://schemas.openxmlformats.org/drawingml/2006/table">
            <a:tbl>
              <a:tblPr/>
              <a:tblGrid>
                <a:gridCol w="57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84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∆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∆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∆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</a:t>
                      </a:r>
                      <a:r>
                        <a:rPr kumimoji="0" lang="en-US" sz="2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</a:t>
                      </a:r>
                      <a:r>
                        <a:rPr kumimoji="0" lang="en-US" sz="2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#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….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FF4445-A290-466A-BAF9-4F8791316068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1507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600" smtClean="0"/>
              <a:t>After putting input string and two stack over the input TAPE of Turing machine, the Input TAPE will be as under</a:t>
            </a:r>
          </a:p>
          <a:p>
            <a:pPr algn="just" eaLnBrk="1" hangingPunct="1"/>
            <a:endParaRPr lang="en-US" altLang="en-GB" sz="2600" smtClean="0"/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3581400"/>
            <a:ext cx="66675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862134-F49F-4007-9CF3-FC6014400454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97635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(a,b,#;=,L)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Above statement equals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(a,a,L)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(b,b,L)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(#,#,L)</a:t>
            </a:r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455613"/>
            <a:ext cx="4114800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763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514350"/>
            <a:ext cx="5267325" cy="582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7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7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7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7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76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82DEF9-AF16-41D5-BDF8-E32C90FF4193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5603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Simulate POP</a:t>
            </a:r>
            <a:r>
              <a:rPr lang="en-US" altLang="en-GB" sz="3800" baseline="-25000" smtClean="0"/>
              <a:t>1</a:t>
            </a:r>
            <a:r>
              <a:rPr lang="en-US" altLang="en-GB" sz="3800" smtClean="0"/>
              <a:t> instruction</a:t>
            </a:r>
          </a:p>
        </p:txBody>
      </p:sp>
      <p:sp>
        <p:nvSpPr>
          <p:cNvPr id="25604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endParaRPr lang="en-US" altLang="en-GB" sz="2600" smtClean="0"/>
          </a:p>
          <a:p>
            <a:pPr algn="just" eaLnBrk="1" hangingPunct="1"/>
            <a:endParaRPr lang="en-US" altLang="en-GB" sz="2600" smtClean="0"/>
          </a:p>
          <a:p>
            <a:pPr algn="just" eaLnBrk="1" hangingPunct="1"/>
            <a:endParaRPr lang="en-US" altLang="en-GB" sz="2600" smtClean="0"/>
          </a:p>
          <a:p>
            <a:pPr algn="just" eaLnBrk="1" hangingPunct="1"/>
            <a:r>
              <a:rPr lang="en-US" altLang="en-GB" sz="2600" smtClean="0"/>
              <a:t>Becomes</a:t>
            </a:r>
          </a:p>
          <a:p>
            <a:pPr algn="just" eaLnBrk="1" hangingPunct="1"/>
            <a:endParaRPr lang="en-US" altLang="en-GB" sz="2600" smtClean="0"/>
          </a:p>
        </p:txBody>
      </p:sp>
      <p:pic>
        <p:nvPicPr>
          <p:cNvPr id="2560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143000"/>
            <a:ext cx="3076575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886200"/>
            <a:ext cx="6553200" cy="219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01F878-13BC-4CDA-BD4E-F827374A7DD4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Simulating Push</a:t>
            </a:r>
            <a:r>
              <a:rPr lang="en-US" altLang="en-GB" sz="3800" baseline="-25000" smtClean="0"/>
              <a:t>1</a:t>
            </a:r>
          </a:p>
        </p:txBody>
      </p:sp>
      <p:sp>
        <p:nvSpPr>
          <p:cNvPr id="27652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endParaRPr lang="en-US" altLang="en-GB" sz="2600" smtClean="0"/>
          </a:p>
          <a:p>
            <a:pPr algn="just" eaLnBrk="1" hangingPunct="1"/>
            <a:endParaRPr lang="en-US" altLang="en-GB" sz="2600" smtClean="0"/>
          </a:p>
          <a:p>
            <a:pPr algn="just" eaLnBrk="1" hangingPunct="1"/>
            <a:endParaRPr lang="en-US" altLang="en-GB" sz="2600" smtClean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Becomes</a:t>
            </a:r>
          </a:p>
          <a:p>
            <a:pPr algn="just" eaLnBrk="1" hangingPunct="1"/>
            <a:endParaRPr lang="en-US" altLang="en-GB" sz="2600" smtClean="0"/>
          </a:p>
        </p:txBody>
      </p:sp>
      <p:pic>
        <p:nvPicPr>
          <p:cNvPr id="2765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143000"/>
            <a:ext cx="167640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733800"/>
            <a:ext cx="72390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 txBox="1">
            <a:spLocks noGrp="1"/>
          </p:cNvSpPr>
          <p:nvPr/>
        </p:nvSpPr>
        <p:spPr bwMode="auto">
          <a:xfrm>
            <a:off x="6553200" y="6324600"/>
            <a:ext cx="2286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016C3A18-EF8E-44EE-BCC0-5C76321F521C}" type="slidenum">
              <a:rPr lang="en-US" altLang="en-GB" sz="1400">
                <a:latin typeface="Arial" panose="020B0604020202020204" pitchFamily="34" charset="0"/>
                <a:cs typeface="Arial" panose="020B0604020202020204" pitchFamily="34" charset="0"/>
              </a:rPr>
              <a:pPr algn="r">
                <a:spcBef>
                  <a:spcPct val="0"/>
                </a:spcBef>
                <a:buFontTx/>
                <a:buNone/>
              </a:pPr>
              <a:t>14</a:t>
            </a:fld>
            <a:endParaRPr lang="en-US" altLang="en-GB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699" name="Slide Number Placeholder 8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36E03A3-66D4-4D84-8BC9-4BA8D4E23A3D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9700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Simulating POP</a:t>
            </a:r>
            <a:r>
              <a:rPr lang="en-US" altLang="en-GB" sz="3800" baseline="-25000" smtClean="0"/>
              <a:t>2</a:t>
            </a:r>
          </a:p>
        </p:txBody>
      </p:sp>
      <p:sp>
        <p:nvSpPr>
          <p:cNvPr id="29701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eaLnBrk="1" hangingPunct="1"/>
            <a:endParaRPr lang="en-US" altLang="en-GB" smtClean="0"/>
          </a:p>
          <a:p>
            <a:pPr eaLnBrk="1" hangingPunct="1"/>
            <a:endParaRPr lang="en-US" altLang="en-GB" smtClean="0"/>
          </a:p>
          <a:p>
            <a:pPr eaLnBrk="1" hangingPunct="1"/>
            <a:endParaRPr lang="en-US" altLang="en-GB" smtClean="0"/>
          </a:p>
          <a:p>
            <a:pPr eaLnBrk="1" hangingPunct="1"/>
            <a:endParaRPr lang="en-US" altLang="en-GB" smtClean="0"/>
          </a:p>
          <a:p>
            <a:pPr eaLnBrk="1" hangingPunct="1"/>
            <a:r>
              <a:rPr lang="en-US" altLang="en-GB" smtClean="0"/>
              <a:t>Becomes</a:t>
            </a:r>
          </a:p>
          <a:p>
            <a:pPr eaLnBrk="1" hangingPunct="1"/>
            <a:endParaRPr lang="en-US" altLang="en-GB" smtClean="0"/>
          </a:p>
        </p:txBody>
      </p:sp>
      <p:pic>
        <p:nvPicPr>
          <p:cNvPr id="2970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17588"/>
            <a:ext cx="2362200" cy="103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98588"/>
            <a:ext cx="8729663" cy="545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8459FE-2677-4161-9BA6-279313B20F52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1747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Simulating Push</a:t>
            </a:r>
            <a:r>
              <a:rPr lang="en-US" altLang="en-GB" sz="3800" baseline="-25000" smtClean="0"/>
              <a:t>2</a:t>
            </a:r>
          </a:p>
        </p:txBody>
      </p:sp>
      <p:sp>
        <p:nvSpPr>
          <p:cNvPr id="31748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endParaRPr lang="en-US" altLang="en-GB" sz="2600" smtClean="0"/>
          </a:p>
          <a:p>
            <a:pPr algn="just" eaLnBrk="1" hangingPunct="1"/>
            <a:endParaRPr lang="en-US" altLang="en-GB" sz="2600" smtClean="0"/>
          </a:p>
          <a:p>
            <a:pPr algn="just" eaLnBrk="1" hangingPunct="1"/>
            <a:endParaRPr lang="en-US" altLang="en-GB" sz="2600" smtClean="0"/>
          </a:p>
          <a:p>
            <a:pPr algn="just" eaLnBrk="1" hangingPunct="1"/>
            <a:r>
              <a:rPr lang="en-US" altLang="en-GB" sz="2600" smtClean="0"/>
              <a:t>Becomes</a:t>
            </a:r>
          </a:p>
          <a:p>
            <a:pPr algn="just" eaLnBrk="1" hangingPunct="1"/>
            <a:endParaRPr lang="en-US" altLang="en-GB" sz="2600" smtClean="0"/>
          </a:p>
        </p:txBody>
      </p:sp>
      <p:pic>
        <p:nvPicPr>
          <p:cNvPr id="3174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295400"/>
            <a:ext cx="2133600" cy="96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0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505200"/>
            <a:ext cx="7620000" cy="166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6983A1-94D7-48B3-90A1-5A52A269F897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3795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Simulate a TM over PM</a:t>
            </a:r>
          </a:p>
        </p:txBody>
      </p:sp>
      <p:sp>
        <p:nvSpPr>
          <p:cNvPr id="33796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600" smtClean="0"/>
              <a:t>This part will not be proved directly</a:t>
            </a:r>
          </a:p>
          <a:p>
            <a:pPr algn="just" eaLnBrk="1" hangingPunct="1"/>
            <a:r>
              <a:rPr lang="en-US" altLang="en-GB" sz="2600" smtClean="0"/>
              <a:t>We will make a 2PDA for PM and as we have already proved that PM=TM,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So indirectly it is proven that 2PDA = TM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We will do the above step for convenience as constructing 2PDA for PM is easier as compared to constructing 2PDA for TM.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608488-0E15-4E99-8E1F-FDD0EE07A807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5843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2PDA = PM</a:t>
            </a:r>
          </a:p>
        </p:txBody>
      </p:sp>
      <p:sp>
        <p:nvSpPr>
          <p:cNvPr id="35844" name="Rectangle 3"/>
          <p:cNvSpPr>
            <a:spLocks noGrp="1"/>
          </p:cNvSpPr>
          <p:nvPr>
            <p:ph type="body" idx="4294967295"/>
          </p:nvPr>
        </p:nvSpPr>
        <p:spPr>
          <a:xfrm>
            <a:off x="0" y="1184275"/>
            <a:ext cx="8229600" cy="4530725"/>
          </a:xfrm>
        </p:spPr>
        <p:txBody>
          <a:bodyPr/>
          <a:lstStyle/>
          <a:p>
            <a:pPr algn="just" eaLnBrk="1" hangingPunct="1"/>
            <a:r>
              <a:rPr lang="en-US" altLang="en-GB" sz="2600" smtClean="0"/>
              <a:t>PM starts with input string already in the STORE, so we will store the input strings over the stack1 as follows</a:t>
            </a:r>
          </a:p>
          <a:p>
            <a:pPr algn="just" eaLnBrk="1" hangingPunct="1"/>
            <a:endParaRPr lang="en-US" altLang="en-GB" sz="2600" smtClean="0"/>
          </a:p>
        </p:txBody>
      </p:sp>
      <p:pic>
        <p:nvPicPr>
          <p:cNvPr id="3584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2514600"/>
            <a:ext cx="8448675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9D1F30-8BEE-4C94-B3AF-F2DA346AA380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7891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Simulating a ADD of PM</a:t>
            </a:r>
          </a:p>
        </p:txBody>
      </p:sp>
      <p:sp>
        <p:nvSpPr>
          <p:cNvPr id="37892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600" smtClean="0"/>
              <a:t>ADD of PM will add to right of string while push of 2PDA adds to left of the string.</a:t>
            </a:r>
          </a:p>
        </p:txBody>
      </p:sp>
      <p:pic>
        <p:nvPicPr>
          <p:cNvPr id="3789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43200"/>
            <a:ext cx="91440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9D74F8-5008-498A-8628-02C0D3A13A0E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9939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Construct a PM for following</a:t>
            </a:r>
          </a:p>
        </p:txBody>
      </p:sp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20788"/>
            <a:ext cx="7848600" cy="464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1C260B6-7753-4ACC-8166-41F1F2088664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1987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nPDA = TM</a:t>
            </a:r>
          </a:p>
        </p:txBody>
      </p:sp>
      <p:sp>
        <p:nvSpPr>
          <p:cNvPr id="41988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Theorem 51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Any language accepted by a PDA with n STACKS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(where n is 2 or more), called an </a:t>
            </a:r>
            <a:r>
              <a:rPr lang="en-US" altLang="en-GB" sz="2600" b="1" smtClean="0"/>
              <a:t>nPDA</a:t>
            </a:r>
            <a:r>
              <a:rPr lang="en-US" altLang="en-GB" sz="2600" smtClean="0"/>
              <a:t>, can also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be accepted by some TM.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In power </a:t>
            </a:r>
            <a:r>
              <a:rPr lang="en-US" altLang="en-GB" sz="2600" b="1" smtClean="0"/>
              <a:t>nPDA = TM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GB" sz="2600" smtClean="0"/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GB" sz="260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8E7AB75-E544-4B6A-B631-48064F4EA3EE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4035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Theorem 51: PROOF</a:t>
            </a:r>
          </a:p>
        </p:txBody>
      </p:sp>
      <p:sp>
        <p:nvSpPr>
          <p:cNvPr id="44036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1600200"/>
            <a:ext cx="7315200" cy="4530725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Suppose we have 3PDA (i.e. PDA with 3 stacks)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And the status is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n-GB" sz="2200" smtClean="0"/>
              <a:t>TAPE 		 </a:t>
            </a:r>
            <a:r>
              <a:rPr lang="en-US" altLang="en-GB" sz="2000" smtClean="0"/>
              <a:t>w</a:t>
            </a:r>
            <a:r>
              <a:rPr lang="en-US" altLang="en-GB" sz="2000" baseline="-25000" smtClean="0"/>
              <a:t>1</a:t>
            </a:r>
            <a:r>
              <a:rPr lang="en-US" altLang="en-GB" sz="2000" smtClean="0"/>
              <a:t>w</a:t>
            </a:r>
            <a:r>
              <a:rPr lang="en-US" altLang="en-GB" sz="2000" baseline="-25000" smtClean="0"/>
              <a:t>2</a:t>
            </a:r>
            <a:r>
              <a:rPr lang="en-US" altLang="en-GB" sz="2000" smtClean="0"/>
              <a:t>w</a:t>
            </a:r>
            <a:r>
              <a:rPr lang="en-US" altLang="en-GB" sz="2000" baseline="-25000" smtClean="0"/>
              <a:t>3</a:t>
            </a:r>
            <a:r>
              <a:rPr lang="en-US" altLang="en-GB" sz="2000" smtClean="0"/>
              <a:t>w</a:t>
            </a:r>
            <a:r>
              <a:rPr lang="en-US" altLang="en-GB" sz="2000" baseline="-25000" smtClean="0"/>
              <a:t>4</a:t>
            </a:r>
            <a:r>
              <a:rPr lang="es-ES" altLang="en-GB" sz="2200" smtClean="0"/>
              <a:t>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n-GB" sz="2200" smtClean="0"/>
              <a:t>STACK</a:t>
            </a:r>
            <a:r>
              <a:rPr lang="es-ES" altLang="en-GB" sz="2200" baseline="-25000" smtClean="0"/>
              <a:t>1</a:t>
            </a:r>
            <a:r>
              <a:rPr lang="es-ES" altLang="en-GB" sz="2200" smtClean="0"/>
              <a:t>	X</a:t>
            </a:r>
            <a:r>
              <a:rPr lang="es-ES" altLang="en-GB" sz="2200" baseline="-25000" smtClean="0"/>
              <a:t>1</a:t>
            </a:r>
            <a:r>
              <a:rPr lang="es-ES" altLang="en-GB" sz="2200" smtClean="0"/>
              <a:t>X</a:t>
            </a:r>
            <a:r>
              <a:rPr lang="es-ES" altLang="en-GB" sz="2200" baseline="-25000" smtClean="0"/>
              <a:t>2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n-GB" sz="2200" smtClean="0"/>
              <a:t>STACK</a:t>
            </a:r>
            <a:r>
              <a:rPr lang="es-ES" altLang="en-GB" sz="2200" baseline="-25000" smtClean="0"/>
              <a:t>2</a:t>
            </a:r>
            <a:r>
              <a:rPr lang="es-ES" altLang="en-GB" sz="2200" smtClean="0"/>
              <a:t> 	Y</a:t>
            </a:r>
            <a:r>
              <a:rPr lang="es-ES" altLang="en-GB" sz="2200" baseline="-25000" smtClean="0"/>
              <a:t>1</a:t>
            </a:r>
            <a:r>
              <a:rPr lang="es-ES" altLang="en-GB" sz="2200" smtClean="0"/>
              <a:t> Y</a:t>
            </a:r>
            <a:r>
              <a:rPr lang="es-ES" altLang="en-GB" sz="2200" baseline="-25000" smtClean="0"/>
              <a:t>2</a:t>
            </a:r>
            <a:r>
              <a:rPr lang="es-ES" altLang="en-GB" sz="2200" smtClean="0"/>
              <a:t> Y</a:t>
            </a:r>
            <a:r>
              <a:rPr lang="es-ES" altLang="en-GB" sz="2200" baseline="-25000" smtClean="0"/>
              <a:t>3</a:t>
            </a:r>
            <a:r>
              <a:rPr lang="es-ES" altLang="en-GB" sz="2200" smtClean="0"/>
              <a:t> Y</a:t>
            </a:r>
            <a:r>
              <a:rPr lang="es-ES" altLang="en-GB" sz="2200" baseline="-25000" smtClean="0"/>
              <a:t>4</a:t>
            </a:r>
            <a:r>
              <a:rPr lang="es-ES" altLang="en-GB" sz="2200" smtClean="0"/>
              <a:t> Y</a:t>
            </a:r>
            <a:r>
              <a:rPr lang="es-ES" altLang="en-GB" sz="2200" baseline="-25000" smtClean="0"/>
              <a:t>5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n-GB" sz="2200" smtClean="0"/>
              <a:t>STACK</a:t>
            </a:r>
            <a:r>
              <a:rPr lang="es-ES" altLang="en-GB" sz="2200" baseline="-25000" smtClean="0"/>
              <a:t>3  	</a:t>
            </a:r>
            <a:r>
              <a:rPr lang="es-ES" altLang="en-GB" sz="2200" smtClean="0"/>
              <a:t>Z</a:t>
            </a:r>
            <a:r>
              <a:rPr lang="es-ES" altLang="en-GB" sz="2200" baseline="-25000" smtClean="0"/>
              <a:t>1</a:t>
            </a:r>
            <a:r>
              <a:rPr lang="es-ES" altLang="en-GB" sz="2200" smtClean="0"/>
              <a:t>, Z</a:t>
            </a:r>
            <a:r>
              <a:rPr lang="es-ES" altLang="en-GB" sz="2200" baseline="-25000" smtClean="0"/>
              <a:t>2</a:t>
            </a:r>
            <a:r>
              <a:rPr lang="es-ES" altLang="en-GB" sz="2200" smtClean="0"/>
              <a:t>Z</a:t>
            </a:r>
            <a:r>
              <a:rPr lang="es-ES" altLang="en-GB" sz="2200" baseline="-25000" smtClean="0"/>
              <a:t>3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The input tape will be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>
                <a:cs typeface="Arial" panose="020B0604020202020204" pitchFamily="34" charset="0"/>
              </a:rPr>
              <a:t>				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>
                <a:cs typeface="Arial" panose="020B0604020202020204" pitchFamily="34" charset="0"/>
              </a:rPr>
              <a:t>				</a:t>
            </a:r>
            <a:r>
              <a:rPr lang="en-US" altLang="en-GB" sz="3100" smtClean="0">
                <a:cs typeface="Arial" panose="020B0604020202020204" pitchFamily="34" charset="0"/>
              </a:rPr>
              <a:t>⁭</a:t>
            </a:r>
            <a:endParaRPr lang="en-US" altLang="en-GB" sz="3100" b="1" smtClean="0">
              <a:cs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GB" sz="2200" smtClean="0"/>
          </a:p>
        </p:txBody>
      </p:sp>
      <p:graphicFrame>
        <p:nvGraphicFramePr>
          <p:cNvPr id="210026" name="Group 106"/>
          <p:cNvGraphicFramePr>
            <a:graphicFrameLocks noGrp="1"/>
          </p:cNvGraphicFramePr>
          <p:nvPr>
            <p:ph sz="half" idx="4294967295"/>
          </p:nvPr>
        </p:nvGraphicFramePr>
        <p:xfrm>
          <a:off x="0" y="4648200"/>
          <a:ext cx="8229600" cy="650875"/>
        </p:xfrm>
        <a:graphic>
          <a:graphicData uri="http://schemas.openxmlformats.org/drawingml/2006/table">
            <a:tbl>
              <a:tblPr/>
              <a:tblGrid>
                <a:gridCol w="506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9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13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64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50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∆</a:t>
                      </a:r>
                    </a:p>
                  </a:txBody>
                  <a:tcPr marT="45765" marB="4576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∆</a:t>
                      </a:r>
                    </a:p>
                  </a:txBody>
                  <a:tcPr marT="45765" marB="457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∆</a:t>
                      </a:r>
                    </a:p>
                  </a:txBody>
                  <a:tcPr marT="45765" marB="457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w</a:t>
                      </a:r>
                      <a:r>
                        <a:rPr kumimoji="0" lang="en-US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w</a:t>
                      </a:r>
                      <a:r>
                        <a:rPr kumimoji="0" lang="en-US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w</a:t>
                      </a:r>
                      <a:r>
                        <a:rPr kumimoji="0" lang="en-US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w</a:t>
                      </a:r>
                      <a:r>
                        <a:rPr kumimoji="0" lang="en-US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T="45765" marB="457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#</a:t>
                      </a:r>
                      <a:r>
                        <a:rPr kumimoji="0" lang="en-US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65" marB="457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</a:t>
                      </a:r>
                      <a:r>
                        <a:rPr kumimoji="0" lang="en-US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</a:t>
                      </a:r>
                      <a:r>
                        <a:rPr kumimoji="0" lang="en-US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T="45765" marB="457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#</a:t>
                      </a:r>
                      <a:r>
                        <a:rPr kumimoji="0" lang="en-US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T="45765" marB="457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</a:t>
                      </a:r>
                      <a:r>
                        <a:rPr kumimoji="0" lang="en-US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</a:t>
                      </a:r>
                      <a:r>
                        <a:rPr kumimoji="0" lang="en-US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</a:t>
                      </a:r>
                      <a:r>
                        <a:rPr kumimoji="0" lang="en-US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</a:t>
                      </a:r>
                      <a:r>
                        <a:rPr kumimoji="0" lang="en-US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</a:t>
                      </a:r>
                      <a:r>
                        <a:rPr kumimoji="0" lang="en-US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T="45765" marB="457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#</a:t>
                      </a:r>
                      <a:r>
                        <a:rPr kumimoji="0" lang="en-US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T="45765" marB="457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z</a:t>
                      </a:r>
                      <a:r>
                        <a:rPr kumimoji="0" lang="en-US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z</a:t>
                      </a:r>
                      <a:r>
                        <a:rPr kumimoji="0" lang="en-US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T="45765" marB="457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∆</a:t>
                      </a:r>
                    </a:p>
                  </a:txBody>
                  <a:tcPr marT="45765" marB="457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…</a:t>
                      </a:r>
                    </a:p>
                  </a:txBody>
                  <a:tcPr marT="45765" marB="457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F5A68E-1D7C-4880-BAB8-CD2A81D8641F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6083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nPDA = TM</a:t>
            </a:r>
          </a:p>
        </p:txBody>
      </p:sp>
      <p:sp>
        <p:nvSpPr>
          <p:cNvPr id="46084" name="Rectangle 3"/>
          <p:cNvSpPr>
            <a:spLocks noGrp="1"/>
          </p:cNvSpPr>
          <p:nvPr>
            <p:ph type="body" idx="4294967295"/>
          </p:nvPr>
        </p:nvSpPr>
        <p:spPr>
          <a:xfrm>
            <a:off x="0" y="1219200"/>
            <a:ext cx="8686800" cy="48768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Remaining proof is the same as for 2PDA. So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		nPDA = TM for n </a:t>
            </a:r>
            <a:r>
              <a:rPr lang="en-US" altLang="en-GB" sz="2600" smtClean="0">
                <a:cs typeface="Arial" panose="020B0604020202020204" pitchFamily="34" charset="0"/>
              </a:rPr>
              <a:t>≤ </a:t>
            </a:r>
            <a:r>
              <a:rPr lang="en-US" altLang="en-GB" sz="2600" smtClean="0"/>
              <a:t>2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GB" sz="2600" smtClean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Symbolically we can represent the power comparison of our various mathematical models of machines as follows.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GB" sz="2600" smtClean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FA = TG = NFA &lt; DPDA &lt; NPDA &lt; 2PDA = nPDA = PM = TM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0FF24A-05F7-4999-80FC-B88408290A15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sz="38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Problems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28600" y="1219200"/>
            <a:ext cx="86868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sz="2600" kern="0" dirty="0">
                <a:latin typeface="+mn-lt"/>
              </a:rPr>
              <a:t>2 EQUAL</a:t>
            </a:r>
          </a:p>
          <a:p>
            <a:pPr marL="342900" indent="-342900" algn="just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sz="2600" kern="0" dirty="0">
                <a:latin typeface="+mn-lt"/>
              </a:rPr>
              <a:t>3 EQUAL</a:t>
            </a:r>
          </a:p>
          <a:p>
            <a:pPr marL="342900" indent="-342900" algn="just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sz="2600" kern="0" dirty="0" err="1">
                <a:latin typeface="+mn-lt"/>
              </a:rPr>
              <a:t>MOREa</a:t>
            </a:r>
            <a:endParaRPr lang="en-US" sz="2600" kern="0" dirty="0">
              <a:latin typeface="+mn-lt"/>
            </a:endParaRPr>
          </a:p>
          <a:p>
            <a:pPr marL="342900" indent="-342900" algn="just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sz="2600" kern="0" dirty="0" err="1">
                <a:latin typeface="+mn-lt"/>
              </a:rPr>
              <a:t>DoubleWord</a:t>
            </a:r>
            <a:endParaRPr lang="en-US" sz="2600" kern="0" dirty="0">
              <a:latin typeface="+mn-lt"/>
            </a:endParaRPr>
          </a:p>
          <a:p>
            <a:pPr marL="342900" indent="-342900" algn="just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sz="2600" kern="0" dirty="0">
                <a:latin typeface="+mn-lt"/>
              </a:rPr>
              <a:t>a</a:t>
            </a:r>
            <a:r>
              <a:rPr lang="en-US" sz="2600" kern="0" baseline="30000" dirty="0">
                <a:latin typeface="+mn-lt"/>
              </a:rPr>
              <a:t>n!</a:t>
            </a:r>
          </a:p>
          <a:p>
            <a:pPr marL="342900" indent="-342900" algn="just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endParaRPr lang="en-US" sz="2600" kern="0" baseline="30000" dirty="0">
              <a:latin typeface="+mn-lt"/>
            </a:endParaRPr>
          </a:p>
          <a:p>
            <a:pPr marL="342900" indent="-342900" algn="just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en-US" sz="2600" kern="0" dirty="0">
                <a:latin typeface="Arial" charset="0"/>
              </a:rPr>
              <a:t>a</a:t>
            </a:r>
            <a:r>
              <a:rPr lang="en-US" sz="2600" kern="0" baseline="30000" dirty="0">
                <a:latin typeface="Arial" charset="0"/>
              </a:rPr>
              <a:t>2^n </a:t>
            </a:r>
            <a:r>
              <a:rPr lang="en-US" sz="2600" kern="0" dirty="0">
                <a:latin typeface="+mn-lt"/>
              </a:rPr>
              <a:t> hint (chop the input into half at every iteration)</a:t>
            </a:r>
          </a:p>
          <a:p>
            <a:pPr marL="342900" indent="-342900" algn="just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endParaRPr lang="en-US" sz="2600" kern="0" dirty="0">
              <a:latin typeface="+mn-lt"/>
            </a:endParaRPr>
          </a:p>
          <a:p>
            <a:pPr marL="342900" indent="-342900" algn="just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sz="2600" kern="0" dirty="0">
                <a:latin typeface="+mn-lt"/>
              </a:rPr>
              <a:t>Delete </a:t>
            </a:r>
            <a:r>
              <a:rPr lang="en-US" sz="2600" kern="0" dirty="0" err="1">
                <a:latin typeface="+mn-lt"/>
              </a:rPr>
              <a:t>SubProgram</a:t>
            </a:r>
            <a:endParaRPr lang="en-US" sz="2600" kern="0" dirty="0">
              <a:latin typeface="+mn-lt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194AAAB-93E2-443A-A58F-040207FA6E2B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0179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EQUAL EQUAL</a:t>
            </a:r>
          </a:p>
        </p:txBody>
      </p:sp>
      <p:pic>
        <p:nvPicPr>
          <p:cNvPr id="50180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700" y="914400"/>
            <a:ext cx="81661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FDD796-796F-4CD2-995A-8ABDC77747DD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PM-EQUAL EQUAL</a:t>
            </a:r>
          </a:p>
        </p:txBody>
      </p:sp>
      <p:pic>
        <p:nvPicPr>
          <p:cNvPr id="5222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713" y="990600"/>
            <a:ext cx="7431087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0AD0FF-F68F-43C6-A121-42FE5C06EE10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4275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TM-EQUAL EQUAL</a:t>
            </a:r>
          </a:p>
        </p:txBody>
      </p:sp>
      <p:pic>
        <p:nvPicPr>
          <p:cNvPr id="54276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90713"/>
            <a:ext cx="9144000" cy="363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48450A-B8A6-4034-A2AE-15705687CCCC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6323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Build a TM</a:t>
            </a:r>
          </a:p>
        </p:txBody>
      </p:sp>
      <p:sp>
        <p:nvSpPr>
          <p:cNvPr id="56324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GB" sz="2000" smtClean="0"/>
              <a:t>Language: DOUBLEWORD, the set of all words of the form ww where w is a nonnull string in </a:t>
            </a:r>
            <a:r>
              <a:rPr lang="en-US" altLang="en-GB" sz="2000" i="1" smtClean="0"/>
              <a:t>{a,b}*. </a:t>
            </a:r>
            <a:r>
              <a:rPr lang="en-US" altLang="en-GB" sz="2000" smtClean="0"/>
              <a:t>DOUBLEWORD </a:t>
            </a:r>
            <a:r>
              <a:rPr lang="en-US" altLang="en-GB" sz="2000" b="1" smtClean="0"/>
              <a:t>= {aa </a:t>
            </a:r>
            <a:r>
              <a:rPr lang="en-US" altLang="en-GB" sz="2000" b="1" i="1" smtClean="0"/>
              <a:t>bb aaaa abab baba bbbb </a:t>
            </a:r>
            <a:r>
              <a:rPr lang="en-US" altLang="en-GB" sz="2000" i="1" smtClean="0"/>
              <a:t>aaaaaa aabaab . . }</a:t>
            </a:r>
            <a:endParaRPr lang="en-US" altLang="en-GB" sz="180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609600"/>
            <a:ext cx="5826125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1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AD451D-7038-497A-9878-16E1B41D91FF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8372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TM-DoubleWord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04800" y="2060575"/>
            <a:ext cx="38862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sz="38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Build a PM-2PDA-3PDA for </a:t>
            </a:r>
            <a:r>
              <a:rPr lang="en-US" sz="3800" kern="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DoubleWord</a:t>
            </a:r>
            <a:endParaRPr lang="en-US" sz="3800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/>
          <p:cNvSpPr txBox="1">
            <a:spLocks/>
          </p:cNvSpPr>
          <p:nvPr/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en-US" sz="1200">
                <a:latin typeface="+mj-lt"/>
              </a:rPr>
              <a:t>Dec 3, 2012</a:t>
            </a:r>
            <a:endParaRPr lang="en-US" altLang="en-US" sz="1200">
              <a:latin typeface="+mj-lt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sz="38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Language: </a:t>
            </a:r>
            <a:r>
              <a:rPr lang="en-US" sz="3800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</a:t>
            </a:r>
            <a:r>
              <a:rPr lang="en-US" sz="3800" kern="0" baseline="30000">
                <a:solidFill>
                  <a:schemeClr val="tx2"/>
                </a:solidFill>
                <a:latin typeface="Arial" charset="0"/>
              </a:rPr>
              <a:t>n</a:t>
            </a:r>
            <a:r>
              <a:rPr lang="en-US" sz="3800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</a:t>
            </a:r>
            <a:r>
              <a:rPr lang="en-US" sz="3800" kern="0" baseline="30000">
                <a:solidFill>
                  <a:schemeClr val="tx2"/>
                </a:solidFill>
                <a:latin typeface="Arial" charset="0"/>
              </a:rPr>
              <a:t>n</a:t>
            </a:r>
            <a:r>
              <a:rPr lang="en-US" sz="3800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</a:t>
            </a:r>
            <a:r>
              <a:rPr lang="en-US" sz="3800" kern="0" baseline="30000">
                <a:solidFill>
                  <a:schemeClr val="tx2"/>
                </a:solidFill>
                <a:latin typeface="Arial" charset="0"/>
              </a:rPr>
              <a:t>n</a:t>
            </a:r>
            <a:r>
              <a:rPr lang="en-US" sz="3800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</a:t>
            </a:r>
            <a:r>
              <a:rPr lang="en-US" sz="3800" kern="0" baseline="30000">
                <a:solidFill>
                  <a:schemeClr val="tx2"/>
                </a:solidFill>
                <a:latin typeface="Arial" charset="0"/>
              </a:rPr>
              <a:t>n</a:t>
            </a:r>
            <a:endParaRPr lang="en-US" sz="3800" kern="0" baseline="30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sz="2600" kern="0" dirty="0">
                <a:latin typeface="+mn-lt"/>
              </a:rPr>
              <a:t>Design a PM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sz="2600" kern="0" dirty="0">
                <a:latin typeface="+mn-lt"/>
              </a:rPr>
              <a:t>D</a:t>
            </a:r>
            <a:r>
              <a:rPr lang="en-US" sz="2600" kern="0" dirty="0">
                <a:latin typeface="Arial" charset="0"/>
              </a:rPr>
              <a:t>esign</a:t>
            </a:r>
            <a:r>
              <a:rPr lang="en-US" sz="2600" kern="0" dirty="0">
                <a:latin typeface="+mn-lt"/>
              </a:rPr>
              <a:t> a 2PDA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sz="2600" kern="0" dirty="0">
                <a:latin typeface="+mn-lt"/>
              </a:rPr>
              <a:t>D</a:t>
            </a:r>
            <a:r>
              <a:rPr lang="en-US" sz="2600" kern="0" dirty="0">
                <a:latin typeface="Arial" charset="0"/>
              </a:rPr>
              <a:t>esign</a:t>
            </a:r>
            <a:r>
              <a:rPr lang="en-US" sz="2600" kern="0" dirty="0">
                <a:latin typeface="+mn-lt"/>
              </a:rPr>
              <a:t> a 3PDA</a:t>
            </a:r>
          </a:p>
        </p:txBody>
      </p:sp>
      <p:sp>
        <p:nvSpPr>
          <p:cNvPr id="60421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C49133-6004-4D1D-A567-8C703A284CB4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/>
          <p:cNvSpPr txBox="1">
            <a:spLocks/>
          </p:cNvSpPr>
          <p:nvPr/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en-US" sz="1200">
                <a:latin typeface="+mj-lt"/>
              </a:rPr>
              <a:t>Dec 3, 2012</a:t>
            </a:r>
            <a:endParaRPr lang="en-US" altLang="en-US" sz="1200">
              <a:latin typeface="+mj-lt"/>
            </a:endParaRPr>
          </a:p>
        </p:txBody>
      </p:sp>
      <p:sp>
        <p:nvSpPr>
          <p:cNvPr id="4" name="Date Placeholder 1"/>
          <p:cNvSpPr txBox="1">
            <a:spLocks/>
          </p:cNvSpPr>
          <p:nvPr/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en-US" sz="1200">
                <a:latin typeface="+mj-lt"/>
              </a:rPr>
              <a:t>Dec 3, 2012</a:t>
            </a:r>
            <a:endParaRPr lang="en-US" altLang="en-US" sz="1200">
              <a:latin typeface="+mj-lt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sz="38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Language: 3EQUAL</a:t>
            </a:r>
            <a:endParaRPr lang="en-US" sz="3800" kern="0" baseline="30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sz="2800" dirty="0">
                <a:latin typeface="Arial" charset="0"/>
              </a:rPr>
              <a:t>Let us define the language 3EQUAL over the alphabet {</a:t>
            </a:r>
            <a:r>
              <a:rPr lang="en-US" sz="2800" dirty="0" err="1">
                <a:latin typeface="Arial" charset="0"/>
              </a:rPr>
              <a:t>a,b,c</a:t>
            </a:r>
            <a:r>
              <a:rPr lang="en-US" sz="2800" dirty="0">
                <a:latin typeface="Arial" charset="0"/>
              </a:rPr>
              <a:t>} as all strings that have as many total </a:t>
            </a:r>
            <a:r>
              <a:rPr lang="en-US" sz="2800" dirty="0" err="1">
                <a:latin typeface="Arial" charset="0"/>
              </a:rPr>
              <a:t>a's</a:t>
            </a:r>
            <a:r>
              <a:rPr lang="en-US" sz="2800" dirty="0">
                <a:latin typeface="Arial" charset="0"/>
              </a:rPr>
              <a:t> as total </a:t>
            </a:r>
            <a:r>
              <a:rPr lang="en-US" sz="2800" dirty="0" err="1">
                <a:latin typeface="Arial" charset="0"/>
              </a:rPr>
              <a:t>b's</a:t>
            </a:r>
            <a:r>
              <a:rPr lang="en-US" sz="2800" dirty="0">
                <a:latin typeface="Arial" charset="0"/>
              </a:rPr>
              <a:t> as total </a:t>
            </a:r>
            <a:r>
              <a:rPr lang="en-US" sz="2800" dirty="0" err="1">
                <a:latin typeface="Arial" charset="0"/>
              </a:rPr>
              <a:t>c's</a:t>
            </a:r>
            <a:r>
              <a:rPr lang="en-US" sz="2800" dirty="0">
                <a:latin typeface="Arial" charset="0"/>
              </a:rPr>
              <a:t>.</a:t>
            </a:r>
          </a:p>
          <a:p>
            <a:pPr>
              <a:defRPr/>
            </a:pPr>
            <a:r>
              <a:rPr lang="en-US" sz="2800" dirty="0">
                <a:latin typeface="Arial" charset="0"/>
              </a:rPr>
              <a:t>3EQUAL = </a:t>
            </a:r>
            <a:r>
              <a:rPr lang="en-US" sz="2800" i="1" dirty="0">
                <a:latin typeface="Arial" charset="0"/>
              </a:rPr>
              <a:t>{</a:t>
            </a:r>
            <a:r>
              <a:rPr lang="en-US" sz="2800" i="1" dirty="0" err="1">
                <a:latin typeface="Arial" charset="0"/>
              </a:rPr>
              <a:t>abc</a:t>
            </a:r>
            <a:r>
              <a:rPr lang="en-US" sz="2800" i="1" dirty="0">
                <a:latin typeface="Arial" charset="0"/>
              </a:rPr>
              <a:t> </a:t>
            </a:r>
            <a:r>
              <a:rPr lang="en-US" sz="2800" i="1" dirty="0" err="1">
                <a:latin typeface="Arial" charset="0"/>
              </a:rPr>
              <a:t>acb</a:t>
            </a:r>
            <a:r>
              <a:rPr lang="en-US" sz="2800" i="1" dirty="0">
                <a:latin typeface="Arial" charset="0"/>
              </a:rPr>
              <a:t> </a:t>
            </a:r>
            <a:r>
              <a:rPr lang="en-US" sz="2800" i="1" dirty="0" err="1">
                <a:latin typeface="Arial" charset="0"/>
              </a:rPr>
              <a:t>bac</a:t>
            </a:r>
            <a:r>
              <a:rPr lang="en-US" sz="2800" i="1" dirty="0">
                <a:latin typeface="Arial" charset="0"/>
              </a:rPr>
              <a:t> </a:t>
            </a:r>
            <a:r>
              <a:rPr lang="en-US" sz="2800" i="1" dirty="0" err="1">
                <a:latin typeface="Arial" charset="0"/>
              </a:rPr>
              <a:t>bca</a:t>
            </a:r>
            <a:r>
              <a:rPr lang="en-US" sz="2800" i="1" dirty="0">
                <a:latin typeface="Arial" charset="0"/>
              </a:rPr>
              <a:t> cab </a:t>
            </a:r>
            <a:r>
              <a:rPr lang="en-US" sz="2800" i="1" dirty="0" err="1">
                <a:latin typeface="Arial" charset="0"/>
              </a:rPr>
              <a:t>cba</a:t>
            </a:r>
            <a:r>
              <a:rPr lang="en-US" sz="2800" i="1" dirty="0">
                <a:latin typeface="Arial" charset="0"/>
              </a:rPr>
              <a:t> </a:t>
            </a:r>
            <a:r>
              <a:rPr lang="en-US" sz="2800" i="1" dirty="0" err="1">
                <a:latin typeface="Arial" charset="0"/>
              </a:rPr>
              <a:t>aabbcc</a:t>
            </a:r>
            <a:endParaRPr lang="en-US" sz="2800" i="1" dirty="0">
              <a:latin typeface="Arial" charset="0"/>
            </a:endParaRPr>
          </a:p>
          <a:p>
            <a:pPr>
              <a:defRPr/>
            </a:pPr>
            <a:r>
              <a:rPr lang="en-US" sz="2800" i="1" dirty="0" err="1">
                <a:latin typeface="Arial" charset="0"/>
              </a:rPr>
              <a:t>aabcbc</a:t>
            </a:r>
            <a:r>
              <a:rPr lang="en-US" sz="2800" i="1" dirty="0">
                <a:latin typeface="Arial" charset="0"/>
              </a:rPr>
              <a:t> </a:t>
            </a:r>
            <a:r>
              <a:rPr lang="en-US" sz="2800" b="1" i="1" dirty="0">
                <a:latin typeface="Arial" charset="0"/>
              </a:rPr>
              <a:t>. . . }</a:t>
            </a:r>
            <a:endParaRPr lang="en-US" sz="2600" kern="0" dirty="0">
              <a:latin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sz="2600" kern="0" dirty="0">
                <a:latin typeface="+mn-lt"/>
              </a:rPr>
              <a:t>D</a:t>
            </a:r>
            <a:r>
              <a:rPr lang="en-US" sz="2600" kern="0" dirty="0">
                <a:latin typeface="Arial" charset="0"/>
              </a:rPr>
              <a:t>esign </a:t>
            </a:r>
            <a:r>
              <a:rPr lang="en-US" sz="2600" kern="0" dirty="0">
                <a:latin typeface="+mn-lt"/>
              </a:rPr>
              <a:t>a TM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sz="2600" kern="0" dirty="0">
                <a:latin typeface="+mn-lt"/>
              </a:rPr>
              <a:t>D</a:t>
            </a:r>
            <a:r>
              <a:rPr lang="en-US" sz="2600" kern="0" dirty="0">
                <a:latin typeface="Arial" charset="0"/>
              </a:rPr>
              <a:t>esign</a:t>
            </a:r>
            <a:r>
              <a:rPr lang="en-US" sz="2600" kern="0" dirty="0">
                <a:latin typeface="+mn-lt"/>
              </a:rPr>
              <a:t> a PM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sz="2600" kern="0" dirty="0">
                <a:latin typeface="+mn-lt"/>
              </a:rPr>
              <a:t>D</a:t>
            </a:r>
            <a:r>
              <a:rPr lang="en-US" sz="2600" kern="0" dirty="0">
                <a:latin typeface="Arial" charset="0"/>
              </a:rPr>
              <a:t>esign</a:t>
            </a:r>
            <a:r>
              <a:rPr lang="en-US" sz="2600" kern="0" dirty="0">
                <a:latin typeface="+mn-lt"/>
              </a:rPr>
              <a:t> a 2PDA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sz="2600" kern="0" dirty="0">
                <a:latin typeface="+mn-lt"/>
              </a:rPr>
              <a:t>D</a:t>
            </a:r>
            <a:r>
              <a:rPr lang="en-US" sz="2600" kern="0" dirty="0">
                <a:latin typeface="Arial" charset="0"/>
              </a:rPr>
              <a:t>esign</a:t>
            </a:r>
            <a:r>
              <a:rPr lang="en-US" sz="2600" kern="0" dirty="0">
                <a:latin typeface="+mn-lt"/>
              </a:rPr>
              <a:t> a 3PDA</a:t>
            </a:r>
          </a:p>
        </p:txBody>
      </p:sp>
      <p:sp>
        <p:nvSpPr>
          <p:cNvPr id="62470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EE0C5AE-08A7-4F72-A8CD-A569F80E2A34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7680</TotalTime>
  <Words>801</Words>
  <Application>Microsoft Office PowerPoint</Application>
  <PresentationFormat>On-screen Show (4:3)</PresentationFormat>
  <Paragraphs>274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Symbol</vt:lpstr>
      <vt:lpstr>Wingdings</vt:lpstr>
      <vt:lpstr>Office Theme</vt:lpstr>
      <vt:lpstr>Theory of Automata 2PDA</vt:lpstr>
      <vt:lpstr>Contents</vt:lpstr>
      <vt:lpstr>2PDA or Two Stack PDA</vt:lpstr>
      <vt:lpstr>2PDA</vt:lpstr>
      <vt:lpstr>PowerPoint Presentation</vt:lpstr>
      <vt:lpstr>\</vt:lpstr>
      <vt:lpstr>Just another TM  “2PDA = TM”</vt:lpstr>
      <vt:lpstr>2PDA = TM</vt:lpstr>
      <vt:lpstr>Read simulation</vt:lpstr>
      <vt:lpstr>PowerPoint Presentation</vt:lpstr>
      <vt:lpstr>PowerPoint Presentation</vt:lpstr>
      <vt:lpstr>Simulate POP1 instruction</vt:lpstr>
      <vt:lpstr>Simulating Push1</vt:lpstr>
      <vt:lpstr>Simulating POP2</vt:lpstr>
      <vt:lpstr>Simulating Push2</vt:lpstr>
      <vt:lpstr>Simulate a TM over PM</vt:lpstr>
      <vt:lpstr>2PDA = PM</vt:lpstr>
      <vt:lpstr>Simulating a ADD of PM</vt:lpstr>
      <vt:lpstr>Construct a PM for following</vt:lpstr>
      <vt:lpstr>nPDA = TM</vt:lpstr>
      <vt:lpstr>Theorem 51: PROOF</vt:lpstr>
      <vt:lpstr>nPDA = TM</vt:lpstr>
      <vt:lpstr>PowerPoint Presentation</vt:lpstr>
      <vt:lpstr>EQUAL EQUAL</vt:lpstr>
      <vt:lpstr>PM-EQUAL EQUAL</vt:lpstr>
      <vt:lpstr>TM-EQUAL EQUAL</vt:lpstr>
      <vt:lpstr>Build a TM</vt:lpstr>
      <vt:lpstr>TM-DoubleWord</vt:lpstr>
      <vt:lpstr>PowerPoint Presentation</vt:lpstr>
      <vt:lpstr>PowerPoint Presentation</vt:lpstr>
    </vt:vector>
  </TitlesOfParts>
  <Company>fast-nu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Automata</dc:title>
  <dc:creator>Majid</dc:creator>
  <cp:lastModifiedBy>user1</cp:lastModifiedBy>
  <cp:revision>180</cp:revision>
  <dcterms:created xsi:type="dcterms:W3CDTF">2011-08-06T09:27:24Z</dcterms:created>
  <dcterms:modified xsi:type="dcterms:W3CDTF">2025-07-28T10:27:00Z</dcterms:modified>
</cp:coreProperties>
</file>