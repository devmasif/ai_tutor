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97" r:id="rId1"/>
  </p:sldMasterIdLst>
  <p:notesMasterIdLst>
    <p:notesMasterId r:id="rId32"/>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5085" autoAdjust="0"/>
  </p:normalViewPr>
  <p:slideViewPr>
    <p:cSldViewPr>
      <p:cViewPr varScale="1">
        <p:scale>
          <a:sx n="106" d="100"/>
          <a:sy n="106" d="100"/>
        </p:scale>
        <p:origin x="2406"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A7BE95A8-15AA-43A8-A14C-9A8445FBAB01}" type="slidenum">
              <a:rPr lang="en-US" altLang="en-GB"/>
              <a:pPr/>
              <a:t>‹#›</a:t>
            </a:fld>
            <a:endParaRPr lang="en-US" alt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ChangeArrowheads="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2A7923-B48D-45FE-9DC7-28A127E65940}" type="slidenum">
              <a:rPr lang="en-US" altLang="en-GB"/>
              <a:pPr/>
              <a:t>1</a:t>
            </a:fld>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CA8E1C-C6B4-41AF-8D8A-50F292B07B63}" type="slidenum">
              <a:rPr lang="en-US" altLang="en-GB"/>
              <a:pPr/>
              <a:t>2</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182504-CB5F-4490-B67D-66DBFBE82C29}" type="slidenum">
              <a:rPr lang="en-US" altLang="en-GB"/>
              <a:pPr/>
              <a:t>3</a:t>
            </a:fld>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793C67-62AB-4B3F-850E-04B25AA1F3E3}" type="slidenum">
              <a:rPr lang="en-US" altLang="en-GB"/>
              <a:pPr/>
              <a:t>4</a:t>
            </a:fld>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539E71-8687-4607-8C39-94F5272CC2DD}" type="slidenum">
              <a:rPr lang="en-US" altLang="en-GB"/>
              <a:pPr/>
              <a:t>5</a:t>
            </a:fld>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2C8529-3746-450D-B38C-B00F8CBC5FEE}" type="slidenum">
              <a:rPr lang="en-US" altLang="en-GB"/>
              <a:pPr/>
              <a:t>6</a:t>
            </a:fld>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09FC79-490B-467F-9C60-EEED9C829947}" type="slidenum">
              <a:rPr lang="en-US" altLang="en-GB"/>
              <a:pPr/>
              <a:t>7</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8A27B9C-F631-433C-826B-8621872AA0C3}" type="slidenum">
              <a:rPr lang="en-US" altLang="en-GB"/>
              <a:pPr/>
              <a:t>8</a:t>
            </a:fld>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6C4912-E760-4A1C-8B43-FFADC8123CF3}" type="slidenum">
              <a:rPr lang="en-US" altLang="en-GB"/>
              <a:pPr/>
              <a:t>9</a:t>
            </a:fld>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950789-6EA8-4E05-AC48-ED65641052E3}" type="slidenum">
              <a:rPr lang="en-US" altLang="en-GB"/>
              <a:pPr/>
              <a:t>10</a:t>
            </a:fld>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A91937-C75B-413D-982F-9CDAF7992564}" type="slidenum">
              <a:rPr lang="en-US" altLang="en-GB"/>
              <a:pPr/>
              <a:t>11</a:t>
            </a:fld>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9B494E-B05E-4118-8533-D73C6FE6AE19}" type="slidenum">
              <a:rPr lang="en-US" altLang="en-GB"/>
              <a:pPr/>
              <a:t>12</a:t>
            </a:fld>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E0A1B66-A729-498E-ADCC-76ED411CB183}" type="slidenum">
              <a:rPr lang="en-US" altLang="en-GB"/>
              <a:pPr/>
              <a:t>13</a:t>
            </a:fld>
            <a:endParaRPr lang="en-US" alt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29A3C7F-11E5-4FE7-9DFC-28ABE5B621D4}" type="slidenum">
              <a:rPr lang="en-US" altLang="en-GB"/>
              <a:pPr/>
              <a:t>14</a:t>
            </a:fld>
            <a:endParaRPr lang="en-US" alt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18B3AC-F83C-42B9-8F69-2E38B8986807}" type="slidenum">
              <a:rPr lang="en-US" altLang="en-GB"/>
              <a:pPr/>
              <a:t>15</a:t>
            </a:fld>
            <a:endParaRPr lang="en-US" alt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C9FD43-CEA6-48CA-8529-D5B15FE30525}" type="slidenum">
              <a:rPr lang="en-US" altLang="en-GB"/>
              <a:pPr/>
              <a:t>16</a:t>
            </a:fld>
            <a:endParaRPr lang="en-US" alt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1464B41-9668-475D-A406-CE1501C35688}" type="slidenum">
              <a:rPr lang="en-US" altLang="en-GB"/>
              <a:pPr/>
              <a:t>17</a:t>
            </a:fld>
            <a:endParaRPr lang="en-US" alt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003BA6-ED0E-4021-BAD1-F8611894B18E}" type="slidenum">
              <a:rPr lang="en-US" altLang="en-GB"/>
              <a:pPr/>
              <a:t>18</a:t>
            </a:fld>
            <a:endParaRPr lang="en-US" alt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ChangeArrowheads="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CB71608-EB77-4599-A047-94E208986D0E}" type="slidenum">
              <a:rPr lang="en-US" altLang="en-GB"/>
              <a:pPr/>
              <a:t>19</a:t>
            </a:fld>
            <a:endParaRPr lang="en-US" alt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4AEBD1-A0C3-4896-95DA-CE3760F68883}" type="slidenum">
              <a:rPr lang="en-US" altLang="en-GB"/>
              <a:pPr/>
              <a:t>20</a:t>
            </a:fld>
            <a:endParaRPr lang="en-US" alt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68E900-8D58-432F-BF16-5ADD68B2F1FA}" type="slidenum">
              <a:rPr lang="en-US" altLang="en-GB"/>
              <a:pPr/>
              <a:t>21</a:t>
            </a:fld>
            <a:endParaRPr lang="en-US" alt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98D214-06B7-48C4-BCD2-BC7526E69CA2}" type="slidenum">
              <a:rPr lang="en-US" altLang="en-GB"/>
              <a:pPr/>
              <a:t>22</a:t>
            </a:fld>
            <a:endParaRPr lang="en-US" alt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3F46E3E-FA94-4714-9E5F-9C55C7FECCB9}" type="slidenum">
              <a:rPr lang="en-US" altLang="en-GB"/>
              <a:pPr/>
              <a:t>23</a:t>
            </a:fld>
            <a:endParaRPr lang="en-US" alt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2D484E-4AB4-42F3-B856-CFA6F71045B9}" type="slidenum">
              <a:rPr lang="en-US" altLang="en-GB"/>
              <a:pPr/>
              <a:t>24</a:t>
            </a:fld>
            <a:endParaRPr lang="en-US" alt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6C3F69-DF05-45BD-9B07-E5855E169D2C}" type="slidenum">
              <a:rPr lang="en-US" altLang="en-GB"/>
              <a:pPr/>
              <a:t>25</a:t>
            </a:fld>
            <a:endParaRPr lang="en-US" alt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919328-4973-4346-B4CC-DB7D596EB1E6}" type="slidenum">
              <a:rPr lang="en-US" altLang="en-GB"/>
              <a:pPr/>
              <a:t>26</a:t>
            </a:fld>
            <a:endParaRPr lang="en-US" alt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C9B775B-CFAF-46A2-BA68-2221118EE0C4}" type="slidenum">
              <a:rPr lang="en-US" altLang="en-GB"/>
              <a:pPr/>
              <a:t>27</a:t>
            </a:fld>
            <a:endParaRPr lang="en-US" alt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ChangeArrowheads="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20CF69-4DDB-4284-A35C-2C7EDC64A733}" type="slidenum">
              <a:rPr lang="en-US" altLang="en-GB"/>
              <a:pPr/>
              <a:t>28</a:t>
            </a:fld>
            <a:endParaRPr lang="en-US" alt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1F48B07-0F67-4E58-AC4E-EBCDF2BCC376}" type="slidenum">
              <a:rPr lang="en-US" altLang="en-GB"/>
              <a:pPr/>
              <a:t>29</a:t>
            </a:fld>
            <a:endParaRPr lang="en-US" alt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ChangeArrowheads="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56FB5A-3EB1-4F41-AEBA-7D61656B8F0A}" type="slidenum">
              <a:rPr lang="en-US" altLang="en-GB"/>
              <a:pPr/>
              <a:t>30</a:t>
            </a:fld>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11451780-F1FE-44B0-92A9-B59077846F60}" type="slidenum">
              <a:rPr lang="en-US" altLang="en-US"/>
              <a:pPr/>
              <a:t>‹#›</a:t>
            </a:fld>
            <a:endParaRPr lang="en-US" altLang="en-US"/>
          </a:p>
        </p:txBody>
      </p:sp>
    </p:spTree>
    <p:extLst>
      <p:ext uri="{BB962C8B-B14F-4D97-AF65-F5344CB8AC3E}">
        <p14:creationId xmlns:p14="http://schemas.microsoft.com/office/powerpoint/2010/main" val="3822592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50668DB1-3CE9-4934-BC3A-6A55A47CAD76}" type="slidenum">
              <a:rPr lang="en-US" altLang="en-US"/>
              <a:pPr/>
              <a:t>‹#›</a:t>
            </a:fld>
            <a:endParaRPr lang="en-US" altLang="en-US"/>
          </a:p>
        </p:txBody>
      </p:sp>
    </p:spTree>
    <p:extLst>
      <p:ext uri="{BB962C8B-B14F-4D97-AF65-F5344CB8AC3E}">
        <p14:creationId xmlns:p14="http://schemas.microsoft.com/office/powerpoint/2010/main" val="1192782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545E24B7-4606-4A29-82A5-C4077574779C}" type="slidenum">
              <a:rPr lang="en-US" altLang="en-US"/>
              <a:pPr/>
              <a:t>‹#›</a:t>
            </a:fld>
            <a:endParaRPr lang="en-US" altLang="en-US"/>
          </a:p>
        </p:txBody>
      </p:sp>
    </p:spTree>
    <p:extLst>
      <p:ext uri="{BB962C8B-B14F-4D97-AF65-F5344CB8AC3E}">
        <p14:creationId xmlns:p14="http://schemas.microsoft.com/office/powerpoint/2010/main" val="39624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C2C5DB7F-8236-48C5-86AC-B27E3E43C36E}" type="slidenum">
              <a:rPr lang="en-US" altLang="en-US"/>
              <a:pPr/>
              <a:t>‹#›</a:t>
            </a:fld>
            <a:endParaRPr lang="en-US" altLang="en-US"/>
          </a:p>
        </p:txBody>
      </p:sp>
    </p:spTree>
    <p:extLst>
      <p:ext uri="{BB962C8B-B14F-4D97-AF65-F5344CB8AC3E}">
        <p14:creationId xmlns:p14="http://schemas.microsoft.com/office/powerpoint/2010/main" val="53528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9" name="Slide Number Placeholder 5"/>
          <p:cNvSpPr>
            <a:spLocks noGrp="1"/>
          </p:cNvSpPr>
          <p:nvPr>
            <p:ph type="sldNum" sz="quarter" idx="12"/>
          </p:nvPr>
        </p:nvSpPr>
        <p:spPr/>
        <p:txBody>
          <a:bodyPr/>
          <a:lstStyle>
            <a:lvl1pPr>
              <a:defRPr/>
            </a:lvl1pPr>
          </a:lstStyle>
          <a:p>
            <a:fld id="{FAC2A88D-411F-45DA-AF2C-997A6B5685C7}" type="slidenum">
              <a:rPr lang="en-US" altLang="en-US"/>
              <a:pPr/>
              <a:t>‹#›</a:t>
            </a:fld>
            <a:endParaRPr lang="en-US" altLang="en-US"/>
          </a:p>
        </p:txBody>
      </p:sp>
    </p:spTree>
    <p:extLst>
      <p:ext uri="{BB962C8B-B14F-4D97-AF65-F5344CB8AC3E}">
        <p14:creationId xmlns:p14="http://schemas.microsoft.com/office/powerpoint/2010/main" val="3611477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5" name="Slide Number Placeholder 5"/>
          <p:cNvSpPr>
            <a:spLocks noGrp="1"/>
          </p:cNvSpPr>
          <p:nvPr>
            <p:ph type="sldNum" sz="quarter" idx="12"/>
          </p:nvPr>
        </p:nvSpPr>
        <p:spPr/>
        <p:txBody>
          <a:bodyPr/>
          <a:lstStyle>
            <a:lvl1pPr>
              <a:defRPr/>
            </a:lvl1pPr>
          </a:lstStyle>
          <a:p>
            <a:fld id="{F2298F5F-D8A9-47C4-92E8-756BC982713A}" type="slidenum">
              <a:rPr lang="en-US" altLang="en-US"/>
              <a:pPr/>
              <a:t>‹#›</a:t>
            </a:fld>
            <a:endParaRPr lang="en-US" altLang="en-US"/>
          </a:p>
        </p:txBody>
      </p:sp>
    </p:spTree>
    <p:extLst>
      <p:ext uri="{BB962C8B-B14F-4D97-AF65-F5344CB8AC3E}">
        <p14:creationId xmlns:p14="http://schemas.microsoft.com/office/powerpoint/2010/main" val="1118335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4" name="Slide Number Placeholder 5"/>
          <p:cNvSpPr>
            <a:spLocks noGrp="1"/>
          </p:cNvSpPr>
          <p:nvPr>
            <p:ph type="sldNum" sz="quarter" idx="12"/>
          </p:nvPr>
        </p:nvSpPr>
        <p:spPr/>
        <p:txBody>
          <a:bodyPr/>
          <a:lstStyle>
            <a:lvl1pPr>
              <a:defRPr/>
            </a:lvl1pPr>
          </a:lstStyle>
          <a:p>
            <a:fld id="{C7202506-050C-4866-83C2-74A60F3EC9E6}" type="slidenum">
              <a:rPr lang="en-US" altLang="en-US"/>
              <a:pPr/>
              <a:t>‹#›</a:t>
            </a:fld>
            <a:endParaRPr lang="en-US" altLang="en-US"/>
          </a:p>
        </p:txBody>
      </p:sp>
    </p:spTree>
    <p:extLst>
      <p:ext uri="{BB962C8B-B14F-4D97-AF65-F5344CB8AC3E}">
        <p14:creationId xmlns:p14="http://schemas.microsoft.com/office/powerpoint/2010/main" val="2481745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7D078207-CD5B-4401-83BB-BA0DF1611B13}" type="slidenum">
              <a:rPr lang="en-US" altLang="en-US"/>
              <a:pPr/>
              <a:t>‹#›</a:t>
            </a:fld>
            <a:endParaRPr lang="en-US" altLang="en-US"/>
          </a:p>
        </p:txBody>
      </p:sp>
    </p:spTree>
    <p:extLst>
      <p:ext uri="{BB962C8B-B14F-4D97-AF65-F5344CB8AC3E}">
        <p14:creationId xmlns:p14="http://schemas.microsoft.com/office/powerpoint/2010/main" val="636537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3634A9B1-7D7F-48A6-8829-9222A9F91B28}" type="slidenum">
              <a:rPr lang="en-US" altLang="en-US"/>
              <a:pPr/>
              <a:t>‹#›</a:t>
            </a:fld>
            <a:endParaRPr lang="en-US" altLang="en-US"/>
          </a:p>
        </p:txBody>
      </p:sp>
    </p:spTree>
    <p:extLst>
      <p:ext uri="{BB962C8B-B14F-4D97-AF65-F5344CB8AC3E}">
        <p14:creationId xmlns:p14="http://schemas.microsoft.com/office/powerpoint/2010/main" val="2639485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49D43CC1-146F-4285-B416-5BC696100CB7}" type="slidenum">
              <a:rPr lang="en-US" altLang="en-US"/>
              <a:pPr/>
              <a:t>‹#›</a:t>
            </a:fld>
            <a:endParaRPr lang="en-US" altLang="en-US"/>
          </a:p>
        </p:txBody>
      </p:sp>
    </p:spTree>
    <p:extLst>
      <p:ext uri="{BB962C8B-B14F-4D97-AF65-F5344CB8AC3E}">
        <p14:creationId xmlns:p14="http://schemas.microsoft.com/office/powerpoint/2010/main" val="2538152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Oct 14,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53049640-1358-45E3-98E3-FBF1B19BD798}" type="slidenum">
              <a:rPr lang="en-US" altLang="en-US"/>
              <a:pPr/>
              <a:t>‹#›</a:t>
            </a:fld>
            <a:endParaRPr lang="en-US" altLang="en-US"/>
          </a:p>
        </p:txBody>
      </p:sp>
    </p:spTree>
    <p:extLst>
      <p:ext uri="{BB962C8B-B14F-4D97-AF65-F5344CB8AC3E}">
        <p14:creationId xmlns:p14="http://schemas.microsoft.com/office/powerpoint/2010/main" val="2489922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GB"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smtClean="0"/>
              <a:t>Click to edit Master text styles</a:t>
            </a:r>
          </a:p>
          <a:p>
            <a:pPr lvl="1"/>
            <a:r>
              <a:rPr lang="en-US" altLang="en-GB" smtClean="0"/>
              <a:t>Second level</a:t>
            </a:r>
          </a:p>
          <a:p>
            <a:pPr lvl="2"/>
            <a:r>
              <a:rPr lang="en-US" altLang="en-GB" smtClean="0"/>
              <a:t>Third level</a:t>
            </a:r>
          </a:p>
          <a:p>
            <a:pPr lvl="3"/>
            <a:r>
              <a:rPr lang="en-US" altLang="en-GB" smtClean="0"/>
              <a:t>Fourth level</a:t>
            </a:r>
          </a:p>
          <a:p>
            <a:pPr lvl="4"/>
            <a:r>
              <a:rPr lang="en-US" altLang="en-GB"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Oct 14, 2016</a:t>
            </a: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ltLang="en-US"/>
              <a:t>Theory of Automata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01AAF4FA-88EC-494F-81A5-748C8C93767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a:lstStyle/>
          <a:p>
            <a:pPr eaLnBrk="1" hangingPunct="1"/>
            <a:r>
              <a:rPr lang="en-US" altLang="en-GB" smtClean="0"/>
              <a:t>Theory of Automata</a:t>
            </a:r>
            <a:br>
              <a:rPr lang="en-US" altLang="en-GB" smtClean="0"/>
            </a:br>
            <a:r>
              <a:rPr lang="en-US" altLang="en-GB" smtClean="0"/>
              <a:t> Pushdown Automata</a:t>
            </a:r>
          </a:p>
        </p:txBody>
      </p:sp>
      <p:sp>
        <p:nvSpPr>
          <p:cNvPr id="9219" name="Rectangle 3"/>
          <p:cNvSpPr>
            <a:spLocks noGrp="1" noChangeArrowheads="1"/>
          </p:cNvSpPr>
          <p:nvPr>
            <p:ph type="subTitle" idx="1"/>
          </p:nvPr>
        </p:nvSpPr>
        <p:spPr/>
        <p:txBody>
          <a:bodyPr rtlCol="0">
            <a:normAutofit/>
          </a:bodyPr>
          <a:lstStyle/>
          <a:p>
            <a:pPr>
              <a:lnSpc>
                <a:spcPct val="90000"/>
              </a:lnSpc>
              <a:spcBef>
                <a:spcPts val="500"/>
              </a:spcBef>
              <a:spcAft>
                <a:spcPts val="0"/>
              </a:spcAft>
              <a:buClr>
                <a:srgbClr val="898989"/>
              </a:buClr>
              <a:buSzPts val="2500"/>
              <a:defRPr/>
            </a:pPr>
            <a:r>
              <a:rPr lang="en-US" sz="2400">
                <a:solidFill>
                  <a:srgbClr val="898989"/>
                </a:solidFill>
                <a:ea typeface="Calibri"/>
                <a:cs typeface="Calibri"/>
                <a:sym typeface="Calibri"/>
              </a:rPr>
              <a:t>Week </a:t>
            </a:r>
            <a:r>
              <a:rPr lang="en-US" sz="2400" dirty="0">
                <a:solidFill>
                  <a:srgbClr val="898989"/>
                </a:solidFill>
                <a:ea typeface="Calibri"/>
                <a:cs typeface="Calibri"/>
                <a:sym typeface="Calibri"/>
              </a:rPr>
              <a:t>10</a:t>
            </a:r>
            <a:endParaRPr lang="en-US" sz="24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12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0FE586-1D04-4CCE-A5E7-283854561903}" type="slidenum">
              <a:rPr lang="en-US" altLang="en-US" sz="120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
        <p:nvSpPr>
          <p:cNvPr id="5124" name="Rectangle 2"/>
          <p:cNvSpPr>
            <a:spLocks noGrp="1"/>
          </p:cNvSpPr>
          <p:nvPr>
            <p:ph type="title" idx="4294967295"/>
          </p:nvPr>
        </p:nvSpPr>
        <p:spPr>
          <a:xfrm>
            <a:off x="0" y="274638"/>
            <a:ext cx="8229600" cy="1143000"/>
          </a:xfrm>
        </p:spPr>
        <p:txBody>
          <a:bodyPr/>
          <a:lstStyle/>
          <a:p>
            <a:pPr eaLnBrk="1" hangingPunct="1"/>
            <a:r>
              <a:rPr lang="en-US" altLang="en-GB" sz="3800" smtClean="0"/>
              <a:t>Contents</a:t>
            </a:r>
          </a:p>
        </p:txBody>
      </p:sp>
      <p:sp>
        <p:nvSpPr>
          <p:cNvPr id="5125" name="Rectangle 3"/>
          <p:cNvSpPr>
            <a:spLocks noGrp="1"/>
          </p:cNvSpPr>
          <p:nvPr>
            <p:ph type="body" idx="4294967295"/>
          </p:nvPr>
        </p:nvSpPr>
        <p:spPr>
          <a:xfrm>
            <a:off x="0" y="1481138"/>
            <a:ext cx="8229600" cy="4525962"/>
          </a:xfrm>
        </p:spPr>
        <p:txBody>
          <a:bodyPr/>
          <a:lstStyle/>
          <a:p>
            <a:pPr eaLnBrk="1" hangingPunct="1"/>
            <a:r>
              <a:rPr lang="en-US" altLang="en-GB" smtClean="0"/>
              <a:t>A New Format for FAs</a:t>
            </a:r>
          </a:p>
          <a:p>
            <a:pPr eaLnBrk="1" hangingPunct="1"/>
            <a:endParaRPr lang="en-US" altLang="en-GB" smtClean="0"/>
          </a:p>
          <a:p>
            <a:pPr eaLnBrk="1" hangingPunct="1"/>
            <a:r>
              <a:rPr lang="en-US" altLang="en-GB" smtClean="0"/>
              <a:t>Adding a Pushdown Stack</a:t>
            </a:r>
          </a:p>
          <a:p>
            <a:pPr eaLnBrk="1" hangingPunct="1"/>
            <a:endParaRPr lang="en-US" altLang="en-GB" smtClean="0"/>
          </a:p>
          <a:p>
            <a:pPr eaLnBrk="1" hangingPunct="1"/>
            <a:r>
              <a:rPr lang="en-US" altLang="en-GB" smtClean="0"/>
              <a:t>Defining the PDA</a:t>
            </a:r>
          </a:p>
          <a:p>
            <a:pPr eaLnBrk="1" hangingPunct="1"/>
            <a:endParaRPr lang="en-US" altLang="en-GB" sz="26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17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D437D29-95D6-4A04-A6D7-52F0896D8877}" type="slidenum">
              <a:rPr lang="en-US" altLang="en-US" sz="120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
        <p:nvSpPr>
          <p:cNvPr id="7172" name="Rectangle 2"/>
          <p:cNvSpPr>
            <a:spLocks noGrp="1"/>
          </p:cNvSpPr>
          <p:nvPr>
            <p:ph type="title" idx="4294967295"/>
          </p:nvPr>
        </p:nvSpPr>
        <p:spPr>
          <a:xfrm>
            <a:off x="0" y="274638"/>
            <a:ext cx="8229600" cy="1143000"/>
          </a:xfrm>
        </p:spPr>
        <p:txBody>
          <a:bodyPr/>
          <a:lstStyle/>
          <a:p>
            <a:pPr eaLnBrk="1" hangingPunct="1"/>
            <a:r>
              <a:rPr lang="en-US" altLang="en-GB" sz="3800" smtClean="0"/>
              <a:t>A new format for FA</a:t>
            </a:r>
          </a:p>
        </p:txBody>
      </p:sp>
      <p:sp>
        <p:nvSpPr>
          <p:cNvPr id="7173"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1900" smtClean="0"/>
              <a:t>We have learned that all regular languages can be generated by CFGs, and so can some non-regular languages. In other words, the set of CFLs is larger than the set of regular languages.</a:t>
            </a:r>
          </a:p>
          <a:p>
            <a:pPr algn="just" eaLnBrk="1" hangingPunct="1">
              <a:lnSpc>
                <a:spcPct val="90000"/>
              </a:lnSpc>
            </a:pPr>
            <a:endParaRPr lang="en-US" altLang="en-GB" sz="1900" smtClean="0"/>
          </a:p>
          <a:p>
            <a:pPr algn="just" eaLnBrk="1" hangingPunct="1">
              <a:lnSpc>
                <a:spcPct val="90000"/>
              </a:lnSpc>
            </a:pPr>
            <a:r>
              <a:rPr lang="en-US" altLang="en-GB" sz="1900" smtClean="0"/>
              <a:t>Since for each regular language, there is an FA that accepts exactly the language, we expect that for each CFL, there should also be at least one machine that accepts exactly the CFL.</a:t>
            </a:r>
          </a:p>
          <a:p>
            <a:pPr algn="just" eaLnBrk="1" hangingPunct="1">
              <a:lnSpc>
                <a:spcPct val="90000"/>
              </a:lnSpc>
            </a:pPr>
            <a:endParaRPr lang="en-US" altLang="en-GB" sz="1900" smtClean="0"/>
          </a:p>
          <a:p>
            <a:pPr algn="just" eaLnBrk="1" hangingPunct="1">
              <a:lnSpc>
                <a:spcPct val="90000"/>
              </a:lnSpc>
            </a:pPr>
            <a:r>
              <a:rPr lang="en-US" altLang="en-GB" sz="1900" smtClean="0"/>
              <a:t>In other words, we would like to have CFL-acceptors (or CFG recognizers) in the same manner as FAs are regular language-acceptors (or recognizers).</a:t>
            </a:r>
          </a:p>
          <a:p>
            <a:pPr algn="just" eaLnBrk="1" hangingPunct="1">
              <a:lnSpc>
                <a:spcPct val="90000"/>
              </a:lnSpc>
            </a:pPr>
            <a:endParaRPr lang="en-US" altLang="en-GB" sz="1900" smtClean="0"/>
          </a:p>
          <a:p>
            <a:pPr algn="just" eaLnBrk="1" hangingPunct="1">
              <a:lnSpc>
                <a:spcPct val="90000"/>
              </a:lnSpc>
            </a:pPr>
            <a:r>
              <a:rPr lang="en-US" altLang="en-GB" sz="1900" smtClean="0"/>
              <a:t>In this lecture, we shall develop such a new type of machine. In the next lectures, we shall prove that these new machines do indeed correspond to CFLs in the way we desire.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9219"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725B1D4-C7A4-43A1-AD12-86AD7A6F8FD0}" type="slidenum">
              <a:rPr lang="en-US" altLang="en-US" sz="120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sp>
        <p:nvSpPr>
          <p:cNvPr id="9220" name="Rectangle 2"/>
          <p:cNvSpPr>
            <a:spLocks noGrp="1"/>
          </p:cNvSpPr>
          <p:nvPr>
            <p:ph type="title" idx="4294967295"/>
          </p:nvPr>
        </p:nvSpPr>
        <p:spPr>
          <a:xfrm>
            <a:off x="0" y="274638"/>
            <a:ext cx="8229600" cy="1143000"/>
          </a:xfrm>
        </p:spPr>
        <p:txBody>
          <a:bodyPr/>
          <a:lstStyle/>
          <a:p>
            <a:pPr eaLnBrk="1" hangingPunct="1"/>
            <a:r>
              <a:rPr lang="en-US" altLang="en-GB" sz="3800" smtClean="0"/>
              <a:t>INPUT TAPE</a:t>
            </a:r>
          </a:p>
        </p:txBody>
      </p:sp>
      <p:sp>
        <p:nvSpPr>
          <p:cNvPr id="9221" name="Rectangle 3"/>
          <p:cNvSpPr>
            <a:spLocks noGrp="1"/>
          </p:cNvSpPr>
          <p:nvPr>
            <p:ph type="body" idx="4294967295"/>
          </p:nvPr>
        </p:nvSpPr>
        <p:spPr>
          <a:xfrm>
            <a:off x="0" y="1600200"/>
            <a:ext cx="8229600" cy="4035425"/>
          </a:xfrm>
        </p:spPr>
        <p:txBody>
          <a:bodyPr/>
          <a:lstStyle/>
          <a:p>
            <a:pPr algn="just" eaLnBrk="1" hangingPunct="1">
              <a:lnSpc>
                <a:spcPct val="80000"/>
              </a:lnSpc>
            </a:pPr>
            <a:r>
              <a:rPr lang="en-US" altLang="en-GB" sz="2200" smtClean="0"/>
              <a:t>The INPUT TAPE is part of the machine where the input string is placed. It is infinitely long to accommodate any possible input.</a:t>
            </a:r>
          </a:p>
          <a:p>
            <a:pPr algn="just" eaLnBrk="1" hangingPunct="1">
              <a:lnSpc>
                <a:spcPct val="80000"/>
              </a:lnSpc>
            </a:pPr>
            <a:r>
              <a:rPr lang="en-US" altLang="en-GB" sz="2200" smtClean="0"/>
              <a:t>The locations into which we put the input letters are called </a:t>
            </a:r>
            <a:r>
              <a:rPr lang="en-US" altLang="en-GB" sz="2200" b="1" smtClean="0"/>
              <a:t>cells</a:t>
            </a:r>
            <a:r>
              <a:rPr lang="en-US" altLang="en-GB" sz="2200" smtClean="0"/>
              <a:t>. We name cells with lowercase Roman numerals.</a:t>
            </a:r>
          </a:p>
          <a:p>
            <a:pPr algn="just" eaLnBrk="1" hangingPunct="1">
              <a:lnSpc>
                <a:spcPct val="80000"/>
              </a:lnSpc>
            </a:pPr>
            <a:r>
              <a:rPr lang="en-US" altLang="en-GB" sz="2200" smtClean="0"/>
              <a:t>The character </a:t>
            </a:r>
            <a:r>
              <a:rPr lang="en-US" altLang="en-GB" sz="2200" smtClean="0">
                <a:cs typeface="Arial" panose="020B0604020202020204" pitchFamily="34" charset="0"/>
              </a:rPr>
              <a:t>∆</a:t>
            </a:r>
            <a:r>
              <a:rPr lang="en-US" altLang="en-GB" sz="2200" smtClean="0"/>
              <a:t> is used to indicate a blank in a TAPE cell.</a:t>
            </a:r>
          </a:p>
          <a:p>
            <a:pPr algn="just" eaLnBrk="1" hangingPunct="1">
              <a:lnSpc>
                <a:spcPct val="80000"/>
              </a:lnSpc>
            </a:pPr>
            <a:r>
              <a:rPr lang="en-US" altLang="en-GB" sz="2200" smtClean="0"/>
              <a:t>We read one letter at a time, from left to right, and never go back to a cell that was read before. When we reach the first blank cell, we stop. We always presume that once the first blank is encountered, the rest of the TAPE is also blank.</a:t>
            </a:r>
          </a:p>
        </p:txBody>
      </p:sp>
      <p:pic>
        <p:nvPicPr>
          <p:cNvPr id="922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5416550"/>
            <a:ext cx="5410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1267"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911CB1D-276C-4486-95F4-CF330A9FC40B}" type="slidenum">
              <a:rPr lang="en-US" altLang="en-US" sz="120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
        <p:nvSpPr>
          <p:cNvPr id="11268" name="Rectangle 2"/>
          <p:cNvSpPr>
            <a:spLocks noGrp="1"/>
          </p:cNvSpPr>
          <p:nvPr>
            <p:ph type="title" idx="4294967295"/>
          </p:nvPr>
        </p:nvSpPr>
        <p:spPr>
          <a:xfrm>
            <a:off x="0" y="274638"/>
            <a:ext cx="8229600" cy="1143000"/>
          </a:xfrm>
        </p:spPr>
        <p:txBody>
          <a:bodyPr/>
          <a:lstStyle/>
          <a:p>
            <a:pPr eaLnBrk="1" hangingPunct="1"/>
            <a:r>
              <a:rPr lang="en-US" altLang="en-GB" sz="3800" smtClean="0"/>
              <a:t>Other Symbols</a:t>
            </a:r>
          </a:p>
        </p:txBody>
      </p:sp>
      <p:sp>
        <p:nvSpPr>
          <p:cNvPr id="11269" name="Rectangle 3"/>
          <p:cNvSpPr>
            <a:spLocks noGrp="1"/>
          </p:cNvSpPr>
          <p:nvPr>
            <p:ph type="body" idx="4294967295"/>
          </p:nvPr>
        </p:nvSpPr>
        <p:spPr>
          <a:xfrm>
            <a:off x="0" y="1481138"/>
            <a:ext cx="8229600" cy="4525962"/>
          </a:xfrm>
        </p:spPr>
        <p:txBody>
          <a:bodyPr/>
          <a:lstStyle/>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r>
              <a:rPr lang="en-US" altLang="en-GB" sz="2600" smtClean="0"/>
              <a:t>The START state is like a - state in an FA. We begin the process here, but we read no input letter and go immediately to the next state.</a:t>
            </a:r>
          </a:p>
          <a:p>
            <a:pPr algn="just" eaLnBrk="1" hangingPunct="1"/>
            <a:r>
              <a:rPr lang="en-US" altLang="en-GB" sz="2600" smtClean="0"/>
              <a:t>The ACCEPT state is a dead-end final state + once entered, it cannot be left, such as</a:t>
            </a:r>
          </a:p>
          <a:p>
            <a:pPr algn="just" eaLnBrk="1" hangingPunct="1"/>
            <a:endParaRPr lang="en-US" altLang="en-GB" sz="2600" smtClean="0"/>
          </a:p>
        </p:txBody>
      </p:sp>
      <p:pic>
        <p:nvPicPr>
          <p:cNvPr id="112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219200"/>
            <a:ext cx="14478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838" y="1371600"/>
            <a:ext cx="1325562"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362075"/>
            <a:ext cx="137160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5181600"/>
            <a:ext cx="29718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331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0E11504-71D9-41C1-849D-B89A66B94F2B}"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
        <p:nvSpPr>
          <p:cNvPr id="13316" name="Rectangle 3"/>
          <p:cNvSpPr>
            <a:spLocks noGrp="1"/>
          </p:cNvSpPr>
          <p:nvPr>
            <p:ph type="body" idx="4294967295"/>
          </p:nvPr>
        </p:nvSpPr>
        <p:spPr>
          <a:xfrm>
            <a:off x="0" y="1481138"/>
            <a:ext cx="8229600" cy="4525962"/>
          </a:xfrm>
        </p:spPr>
        <p:txBody>
          <a:bodyPr/>
          <a:lstStyle/>
          <a:p>
            <a:pPr algn="just" eaLnBrk="1" hangingPunct="1"/>
            <a:r>
              <a:rPr lang="en-US" altLang="en-GB" sz="2600" smtClean="0"/>
              <a:t>The REJECT state is a dead-end state that is not final, such as</a:t>
            </a:r>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r>
              <a:rPr lang="en-US" altLang="en-GB" sz="2600" smtClean="0"/>
              <a:t>The ACCEPT and REJECT states are called </a:t>
            </a:r>
            <a:r>
              <a:rPr lang="en-US" altLang="en-GB" sz="2600" b="1" smtClean="0"/>
              <a:t>halt </a:t>
            </a:r>
            <a:r>
              <a:rPr lang="en-US" altLang="en-GB" sz="2600" smtClean="0"/>
              <a:t>states. Halt states cannot be traversed (i.e., cannot be passed through like a final state in an FA).</a:t>
            </a:r>
          </a:p>
        </p:txBody>
      </p:sp>
      <p:pic>
        <p:nvPicPr>
          <p:cNvPr id="133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1913" y="2687638"/>
            <a:ext cx="3722687"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9CC1404-1D2A-4D5C-A974-032236564A76}"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
        <p:nvSpPr>
          <p:cNvPr id="15364" name="Rectangle 2"/>
          <p:cNvSpPr>
            <a:spLocks noGrp="1"/>
          </p:cNvSpPr>
          <p:nvPr>
            <p:ph type="title" idx="4294967295"/>
          </p:nvPr>
        </p:nvSpPr>
        <p:spPr>
          <a:xfrm>
            <a:off x="0" y="274638"/>
            <a:ext cx="8229600" cy="1143000"/>
          </a:xfrm>
        </p:spPr>
        <p:txBody>
          <a:bodyPr/>
          <a:lstStyle/>
          <a:p>
            <a:pPr eaLnBrk="1" hangingPunct="1"/>
            <a:r>
              <a:rPr lang="en-US" altLang="en-GB" sz="3800" smtClean="0"/>
              <a:t>READ states</a:t>
            </a:r>
          </a:p>
        </p:txBody>
      </p:sp>
      <p:sp>
        <p:nvSpPr>
          <p:cNvPr id="15365"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600" smtClean="0"/>
              <a:t>READ states are depicted as diamond-shaped boxes as shown below:</a:t>
            </a:r>
          </a:p>
          <a:p>
            <a:pPr algn="just" eaLnBrk="1" hangingPunct="1">
              <a:lnSpc>
                <a:spcPct val="90000"/>
              </a:lnSpc>
            </a:pPr>
            <a:endParaRPr lang="en-US" altLang="en-GB" sz="2600" smtClean="0"/>
          </a:p>
          <a:p>
            <a:pPr algn="just" eaLnBrk="1" hangingPunct="1">
              <a:lnSpc>
                <a:spcPct val="90000"/>
              </a:lnSpc>
            </a:pPr>
            <a:endParaRPr lang="en-US" altLang="en-GB" sz="2600" smtClean="0"/>
          </a:p>
          <a:p>
            <a:pPr algn="just" eaLnBrk="1" hangingPunct="1">
              <a:lnSpc>
                <a:spcPct val="90000"/>
              </a:lnSpc>
            </a:pPr>
            <a:endParaRPr lang="en-US" altLang="en-GB" sz="2600" smtClean="0"/>
          </a:p>
          <a:p>
            <a:pPr algn="just" eaLnBrk="1" hangingPunct="1">
              <a:lnSpc>
                <a:spcPct val="90000"/>
              </a:lnSpc>
            </a:pPr>
            <a:endParaRPr lang="en-US" altLang="en-GB" sz="2600" smtClean="0"/>
          </a:p>
          <a:p>
            <a:pPr algn="just" eaLnBrk="1" hangingPunct="1">
              <a:lnSpc>
                <a:spcPct val="90000"/>
              </a:lnSpc>
            </a:pPr>
            <a:endParaRPr lang="en-US" altLang="en-GB" sz="2600" smtClean="0"/>
          </a:p>
          <a:p>
            <a:pPr algn="just" eaLnBrk="1" hangingPunct="1">
              <a:lnSpc>
                <a:spcPct val="90000"/>
              </a:lnSpc>
            </a:pPr>
            <a:r>
              <a:rPr lang="en-US" altLang="en-GB" sz="2600" smtClean="0"/>
              <a:t>When </a:t>
            </a:r>
            <a:r>
              <a:rPr lang="en-US" altLang="en-GB" sz="2600" smtClean="0">
                <a:cs typeface="Arial" panose="020B0604020202020204" pitchFamily="34" charset="0"/>
              </a:rPr>
              <a:t>∆</a:t>
            </a:r>
            <a:r>
              <a:rPr lang="en-US" altLang="en-GB" sz="2600" smtClean="0"/>
              <a:t> is read from the TAPE, it means that we are out of input letters. We are then finished processing the input string. Hence, the </a:t>
            </a:r>
            <a:r>
              <a:rPr lang="en-US" altLang="en-GB" sz="2600" smtClean="0">
                <a:cs typeface="Arial" panose="020B0604020202020204" pitchFamily="34" charset="0"/>
              </a:rPr>
              <a:t>∆</a:t>
            </a:r>
            <a:r>
              <a:rPr lang="en-US" altLang="en-GB" sz="2600" smtClean="0"/>
              <a:t>-edge will lead to ACCEPT or REJECT.</a:t>
            </a:r>
          </a:p>
        </p:txBody>
      </p:sp>
      <p:pic>
        <p:nvPicPr>
          <p:cNvPr id="1536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452688"/>
            <a:ext cx="3886200" cy="21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7411"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924F3E3-DFC5-4092-A8E0-6CC65A70E52E}"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
        <p:nvSpPr>
          <p:cNvPr id="17412"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17413" name="Rectangle 3"/>
          <p:cNvSpPr>
            <a:spLocks noGrp="1"/>
          </p:cNvSpPr>
          <p:nvPr>
            <p:ph type="body" idx="4294967295"/>
          </p:nvPr>
        </p:nvSpPr>
        <p:spPr>
          <a:xfrm>
            <a:off x="0" y="1481138"/>
            <a:ext cx="8229600" cy="4525962"/>
          </a:xfrm>
        </p:spPr>
        <p:txBody>
          <a:bodyPr/>
          <a:lstStyle/>
          <a:p>
            <a:pPr algn="just" eaLnBrk="1" hangingPunct="1"/>
            <a:r>
              <a:rPr lang="en-US" altLang="en-GB" sz="2600" smtClean="0"/>
              <a:t>Below is an FA that accepts all words ending with letter a, and its equivalent new picture.</a:t>
            </a:r>
          </a:p>
          <a:p>
            <a:pPr algn="just" eaLnBrk="1" hangingPunct="1"/>
            <a:endParaRPr lang="en-US" altLang="en-GB" sz="2600" smtClean="0"/>
          </a:p>
        </p:txBody>
      </p:sp>
      <p:pic>
        <p:nvPicPr>
          <p:cNvPr id="174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600325"/>
            <a:ext cx="32004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3429000"/>
            <a:ext cx="3581400"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945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2E83016-1392-45DF-868B-8690EA66BDAD}" type="slidenum">
              <a:rPr lang="en-US" altLang="en-US" sz="120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19460" name="Rectangle 2"/>
          <p:cNvSpPr>
            <a:spLocks noGrp="1"/>
          </p:cNvSpPr>
          <p:nvPr>
            <p:ph type="title" idx="4294967295"/>
          </p:nvPr>
        </p:nvSpPr>
        <p:spPr>
          <a:xfrm>
            <a:off x="0" y="274638"/>
            <a:ext cx="8229600" cy="1143000"/>
          </a:xfrm>
        </p:spPr>
        <p:txBody>
          <a:bodyPr/>
          <a:lstStyle/>
          <a:p>
            <a:pPr eaLnBrk="1" hangingPunct="1"/>
            <a:r>
              <a:rPr lang="en-US" altLang="en-GB" sz="3800" smtClean="0"/>
              <a:t>Adding a Pushdown Stack</a:t>
            </a:r>
          </a:p>
        </p:txBody>
      </p:sp>
      <p:sp>
        <p:nvSpPr>
          <p:cNvPr id="19461"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We bothered to construct new pictures for FAs so that it is now easier to make an addition to the machine.</a:t>
            </a:r>
          </a:p>
          <a:p>
            <a:pPr algn="just" eaLnBrk="1" hangingPunct="1">
              <a:lnSpc>
                <a:spcPct val="90000"/>
              </a:lnSpc>
            </a:pPr>
            <a:r>
              <a:rPr lang="en-US" altLang="en-GB" sz="2200" smtClean="0"/>
              <a:t>We would like to add a </a:t>
            </a:r>
            <a:r>
              <a:rPr lang="en-US" altLang="en-GB" sz="2200" b="1" smtClean="0"/>
              <a:t>PUSHDOWN STACK </a:t>
            </a:r>
            <a:r>
              <a:rPr lang="en-US" altLang="en-GB" sz="2200" smtClean="0"/>
              <a:t>to our machine. A PUSHDOWN STACK is a place where input letters can be stored until we want to refer to them again.</a:t>
            </a:r>
          </a:p>
          <a:p>
            <a:pPr algn="just" eaLnBrk="1" hangingPunct="1">
              <a:lnSpc>
                <a:spcPct val="90000"/>
              </a:lnSpc>
            </a:pPr>
            <a:r>
              <a:rPr lang="en-US" altLang="en-GB" sz="2200" smtClean="0"/>
              <a:t>Before the machine begins to process an input string, the STACK is presumed to be empty.</a:t>
            </a:r>
          </a:p>
          <a:p>
            <a:pPr algn="just" eaLnBrk="1" hangingPunct="1">
              <a:lnSpc>
                <a:spcPct val="90000"/>
              </a:lnSpc>
            </a:pPr>
            <a:r>
              <a:rPr lang="en-US" altLang="en-GB" sz="2200" smtClean="0"/>
              <a:t>The operation PUSH adds a new letter to the top of the STACK. All the other letters are pushed down accordingly.</a:t>
            </a:r>
          </a:p>
          <a:p>
            <a:pPr algn="just" eaLnBrk="1" hangingPunct="1">
              <a:lnSpc>
                <a:spcPct val="90000"/>
              </a:lnSpc>
            </a:pPr>
            <a:r>
              <a:rPr lang="en-US" altLang="en-GB" sz="2200" smtClean="0"/>
              <a:t>The operation POP takes a letter out of the STACK. The rest of the letters are moved up one location each accordingly.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150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4AF9F86-14AE-4FBE-B1D8-9C643F71318D}" type="slidenum">
              <a:rPr lang="en-US" altLang="en-US" sz="120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sp>
        <p:nvSpPr>
          <p:cNvPr id="21508" name="Rectangle 3"/>
          <p:cNvSpPr>
            <a:spLocks noGrp="1"/>
          </p:cNvSpPr>
          <p:nvPr>
            <p:ph type="body" idx="4294967295"/>
          </p:nvPr>
        </p:nvSpPr>
        <p:spPr>
          <a:xfrm>
            <a:off x="0" y="1481138"/>
            <a:ext cx="8229600" cy="4525962"/>
          </a:xfrm>
        </p:spPr>
        <p:txBody>
          <a:bodyPr/>
          <a:lstStyle/>
          <a:p>
            <a:pPr algn="just" eaLnBrk="1" hangingPunct="1"/>
            <a:r>
              <a:rPr lang="en-US" altLang="en-GB" sz="2600" smtClean="0"/>
              <a:t>For example, if we perform operations PUSH a, PUSH b, and PUSH c, then the stack will look like the following:</a:t>
            </a:r>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r>
              <a:rPr lang="en-US" altLang="en-GB" sz="2600" smtClean="0"/>
              <a:t>Popping an empty STACK, like reading an empty TAPE, gives us the blank character </a:t>
            </a:r>
            <a:r>
              <a:rPr lang="en-US" altLang="en-GB" sz="2600" smtClean="0">
                <a:cs typeface="Arial" panose="020B0604020202020204" pitchFamily="34" charset="0"/>
              </a:rPr>
              <a:t>∆</a:t>
            </a:r>
            <a:r>
              <a:rPr lang="en-US" altLang="en-GB" sz="2600" smtClean="0"/>
              <a:t>.</a:t>
            </a:r>
          </a:p>
        </p:txBody>
      </p:sp>
      <p:pic>
        <p:nvPicPr>
          <p:cNvPr id="2150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938463"/>
            <a:ext cx="2286000" cy="224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355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BA63C7F-4DE2-4171-A244-3F64907566A2}" type="slidenum">
              <a:rPr lang="en-US" altLang="en-US" sz="120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
        <p:nvSpPr>
          <p:cNvPr id="19461" name="Rectangle 3"/>
          <p:cNvSpPr>
            <a:spLocks noGrp="1" noChangeArrowheads="1"/>
          </p:cNvSpPr>
          <p:nvPr>
            <p:ph type="body" idx="4294967295"/>
          </p:nvPr>
        </p:nvSpPr>
        <p:spPr>
          <a:xfrm>
            <a:off x="0" y="1481138"/>
            <a:ext cx="8229600" cy="4525962"/>
          </a:xfrm>
        </p:spPr>
        <p:txBody>
          <a:bodyPr rtlCol="0">
            <a:normAutofit lnSpcReduction="10000"/>
          </a:bodyPr>
          <a:lstStyle/>
          <a:p>
            <a:pPr algn="just" eaLnBrk="1" fontAlgn="auto" hangingPunct="1">
              <a:lnSpc>
                <a:spcPct val="90000"/>
              </a:lnSpc>
              <a:spcAft>
                <a:spcPts val="0"/>
              </a:spcAft>
              <a:defRPr/>
            </a:pPr>
            <a:r>
              <a:rPr lang="en-US" sz="2100"/>
              <a:t>We can add a PUSHDOWN STACK and the operations PUSH and POP to our machine by including the following symbols:</a:t>
            </a:r>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endParaRPr lang="en-US" sz="2100"/>
          </a:p>
          <a:p>
            <a:pPr algn="just" eaLnBrk="1" fontAlgn="auto" hangingPunct="1">
              <a:lnSpc>
                <a:spcPct val="90000"/>
              </a:lnSpc>
              <a:spcAft>
                <a:spcPts val="0"/>
              </a:spcAft>
              <a:defRPr/>
            </a:pPr>
            <a:r>
              <a:rPr lang="en-US" sz="2100"/>
              <a:t>The edges coming out of a POP state are labeled in the same way as the edges coming out of a READ state.</a:t>
            </a:r>
          </a:p>
          <a:p>
            <a:pPr algn="just" eaLnBrk="1" fontAlgn="auto" hangingPunct="1">
              <a:lnSpc>
                <a:spcPct val="90000"/>
              </a:lnSpc>
              <a:spcAft>
                <a:spcPts val="0"/>
              </a:spcAft>
              <a:defRPr/>
            </a:pPr>
            <a:r>
              <a:rPr lang="en-US" sz="2100"/>
              <a:t>Branching can occur at POP states but not at PUSH states: We can leave PUSH states only by the one indicated route, although we can enter a PUSH state from any direction.</a:t>
            </a:r>
          </a:p>
        </p:txBody>
      </p:sp>
      <p:pic>
        <p:nvPicPr>
          <p:cNvPr id="2355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335213"/>
            <a:ext cx="4598988"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560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BF9C246-AF65-4400-8EEB-345FD8C37D37}" type="slidenum">
              <a:rPr lang="en-US" altLang="en-US" sz="120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25604" name="Rectangle 3"/>
          <p:cNvSpPr>
            <a:spLocks noGrp="1"/>
          </p:cNvSpPr>
          <p:nvPr>
            <p:ph type="body" idx="4294967295"/>
          </p:nvPr>
        </p:nvSpPr>
        <p:spPr>
          <a:xfrm>
            <a:off x="0" y="1481138"/>
            <a:ext cx="8229600" cy="4525962"/>
          </a:xfrm>
        </p:spPr>
        <p:txBody>
          <a:bodyPr/>
          <a:lstStyle/>
          <a:p>
            <a:pPr algn="just" eaLnBrk="1" hangingPunct="1"/>
            <a:r>
              <a:rPr lang="en-US" altLang="en-GB" sz="2200" smtClean="0"/>
              <a:t>When FAs are equipped with a STACK and POP and PUSH states, we call them </a:t>
            </a:r>
            <a:r>
              <a:rPr lang="en-US" altLang="en-GB" sz="2200" b="1" smtClean="0"/>
              <a:t>pushdown automata </a:t>
            </a:r>
            <a:r>
              <a:rPr lang="en-US" altLang="en-GB" sz="2200" smtClean="0"/>
              <a:t>or </a:t>
            </a:r>
            <a:r>
              <a:rPr lang="en-US" altLang="en-GB" sz="2200" b="1" smtClean="0"/>
              <a:t>PDAs</a:t>
            </a:r>
            <a:r>
              <a:rPr lang="en-US" altLang="en-GB" sz="2200" smtClean="0"/>
              <a:t>.</a:t>
            </a:r>
          </a:p>
          <a:p>
            <a:pPr algn="just" eaLnBrk="1" hangingPunct="1"/>
            <a:endParaRPr lang="en-US" altLang="en-GB" sz="2200" smtClean="0"/>
          </a:p>
          <a:p>
            <a:pPr algn="just" eaLnBrk="1" hangingPunct="1"/>
            <a:endParaRPr lang="en-US" altLang="en-GB" sz="2200" smtClean="0"/>
          </a:p>
          <a:p>
            <a:pPr algn="just" eaLnBrk="1" hangingPunct="1"/>
            <a:r>
              <a:rPr lang="en-US" altLang="en-GB" sz="2200" smtClean="0"/>
              <a:t>The notion of a PUSHDOWN STACK as a data structure has been around for a long time. However, when we incorporate this memory structure into an FA, its language-recognizing capabilities are increased considerably.</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765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555717-ED28-48F9-AF4E-BEF3906E61E7}"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
        <p:nvSpPr>
          <p:cNvPr id="27652" name="Rectangle 3"/>
          <p:cNvSpPr>
            <a:spLocks noGrp="1"/>
          </p:cNvSpPr>
          <p:nvPr>
            <p:ph type="body" idx="4294967295"/>
          </p:nvPr>
        </p:nvSpPr>
        <p:spPr>
          <a:xfrm>
            <a:off x="0" y="1481138"/>
            <a:ext cx="8229600" cy="4525962"/>
          </a:xfrm>
        </p:spPr>
        <p:txBody>
          <a:bodyPr/>
          <a:lstStyle/>
          <a:p>
            <a:pPr algn="just" eaLnBrk="1" hangingPunct="1"/>
            <a:r>
              <a:rPr lang="en-US" altLang="en-GB" sz="2600" smtClean="0"/>
              <a:t>Consider this PDA:</a:t>
            </a:r>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r>
              <a:rPr lang="en-US" altLang="en-GB" sz="2600" smtClean="0"/>
              <a:t>What language is accepted by this machine?</a:t>
            </a:r>
          </a:p>
        </p:txBody>
      </p:sp>
      <p:pic>
        <p:nvPicPr>
          <p:cNvPr id="276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4213" y="1998663"/>
            <a:ext cx="5462587" cy="341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969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02AE4E1-4F5B-4851-AEF0-BB3E68364163}" type="slidenum">
              <a:rPr lang="en-US" altLang="en-US" sz="1200">
                <a:solidFill>
                  <a:srgbClr val="898989"/>
                </a:solidFill>
                <a:latin typeface="Arial" panose="020B0604020202020204" pitchFamily="34" charset="0"/>
              </a:rPr>
              <a:pPr>
                <a:spcBef>
                  <a:spcPct val="0"/>
                </a:spcBef>
                <a:buFontTx/>
                <a:buNone/>
              </a:pPr>
              <a:t>14</a:t>
            </a:fld>
            <a:endParaRPr lang="en-US" altLang="en-US" sz="1200">
              <a:solidFill>
                <a:srgbClr val="898989"/>
              </a:solidFill>
              <a:latin typeface="Arial" panose="020B0604020202020204" pitchFamily="34" charset="0"/>
            </a:endParaRPr>
          </a:p>
        </p:txBody>
      </p:sp>
      <p:sp>
        <p:nvSpPr>
          <p:cNvPr id="29700"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Let’s see the machine in operation on the input string </a:t>
            </a:r>
            <a:r>
              <a:rPr lang="en-US" altLang="en-GB" sz="2200" b="1" i="1" smtClean="0"/>
              <a:t>aaabbb.</a:t>
            </a:r>
          </a:p>
          <a:p>
            <a:pPr algn="just" eaLnBrk="1" hangingPunct="1">
              <a:lnSpc>
                <a:spcPct val="90000"/>
              </a:lnSpc>
            </a:pPr>
            <a:r>
              <a:rPr lang="en-US" altLang="en-GB" sz="2200" smtClean="0"/>
              <a:t>At the beginning the INPUT TAPE contains (from left to right) the letters a, a, a, b, b, b, </a:t>
            </a:r>
            <a:r>
              <a:rPr lang="en-US" altLang="en-GB" sz="2200" smtClean="0">
                <a:cs typeface="Arial" panose="020B0604020202020204" pitchFamily="34" charset="0"/>
              </a:rPr>
              <a:t>∆, ∆, ∆…</a:t>
            </a:r>
            <a:r>
              <a:rPr lang="en-US" altLang="en-GB" sz="2200" smtClean="0"/>
              <a:t>; while the STACK is empty, that is, it contains (from top down) only the blank characters </a:t>
            </a:r>
            <a:r>
              <a:rPr lang="en-US" altLang="en-GB" sz="2200" smtClean="0">
                <a:cs typeface="Arial" panose="020B0604020202020204" pitchFamily="34" charset="0"/>
              </a:rPr>
              <a:t>∆, ∆,</a:t>
            </a:r>
            <a:r>
              <a:rPr lang="en-US" altLang="en-GB" sz="2200" smtClean="0"/>
              <a:t> …</a:t>
            </a:r>
          </a:p>
          <a:p>
            <a:pPr algn="just" eaLnBrk="1" hangingPunct="1">
              <a:lnSpc>
                <a:spcPct val="90000"/>
              </a:lnSpc>
            </a:pPr>
            <a:r>
              <a:rPr lang="en-US" altLang="en-GB" sz="2200" smtClean="0"/>
              <a:t>After reading the first a, the remaining input letters to be read in the TAPE are a, a, b, b, b, </a:t>
            </a:r>
            <a:r>
              <a:rPr lang="en-US" altLang="en-GB" sz="2200" smtClean="0">
                <a:cs typeface="Arial" panose="020B0604020202020204" pitchFamily="34" charset="0"/>
              </a:rPr>
              <a:t>∆, …</a:t>
            </a:r>
            <a:r>
              <a:rPr lang="en-US" altLang="en-GB" sz="2200" smtClean="0"/>
              <a:t> and the STACK looks like (from top down) a, </a:t>
            </a:r>
            <a:r>
              <a:rPr lang="en-US" altLang="en-GB" sz="2200" smtClean="0">
                <a:cs typeface="Arial" panose="020B0604020202020204" pitchFamily="34" charset="0"/>
              </a:rPr>
              <a:t>∆, …</a:t>
            </a:r>
            <a:endParaRPr lang="en-US" altLang="en-GB" sz="2200" smtClean="0"/>
          </a:p>
          <a:p>
            <a:pPr algn="just" eaLnBrk="1" hangingPunct="1">
              <a:lnSpc>
                <a:spcPct val="90000"/>
              </a:lnSpc>
            </a:pPr>
            <a:r>
              <a:rPr lang="en-US" altLang="en-GB" sz="2200" smtClean="0"/>
              <a:t>Similarly, after reading 3 letters a, we have </a:t>
            </a:r>
          </a:p>
          <a:p>
            <a:pPr algn="just" eaLnBrk="1" hangingPunct="1">
              <a:lnSpc>
                <a:spcPct val="90000"/>
              </a:lnSpc>
              <a:buFont typeface="Wingdings" panose="05000000000000000000" pitchFamily="2" charset="2"/>
              <a:buNone/>
            </a:pPr>
            <a:r>
              <a:rPr lang="en-US" altLang="en-GB" sz="2200" smtClean="0"/>
              <a:t>	     TAPE = b, b, b, </a:t>
            </a:r>
            <a:r>
              <a:rPr lang="en-US" altLang="en-GB" sz="2200" smtClean="0">
                <a:cs typeface="Arial" panose="020B0604020202020204" pitchFamily="34" charset="0"/>
              </a:rPr>
              <a:t>∆, …</a:t>
            </a:r>
            <a:r>
              <a:rPr lang="en-US" altLang="en-GB" sz="2200" smtClean="0"/>
              <a:t> 	STACK = a, a, a, </a:t>
            </a:r>
            <a:r>
              <a:rPr lang="en-US" altLang="en-GB" sz="2200" smtClean="0">
                <a:cs typeface="Arial" panose="020B0604020202020204" pitchFamily="34" charset="0"/>
              </a:rPr>
              <a:t>∆, …</a:t>
            </a:r>
            <a:endParaRPr lang="en-US" altLang="en-GB" sz="2200" smtClean="0"/>
          </a:p>
          <a:p>
            <a:pPr algn="just" eaLnBrk="1" hangingPunct="1">
              <a:lnSpc>
                <a:spcPct val="90000"/>
              </a:lnSpc>
            </a:pPr>
            <a:r>
              <a:rPr lang="en-US" altLang="en-GB" sz="2200" smtClean="0"/>
              <a:t>After reading the first b, STACK pops an a, so </a:t>
            </a:r>
          </a:p>
          <a:p>
            <a:pPr algn="just" eaLnBrk="1" hangingPunct="1">
              <a:lnSpc>
                <a:spcPct val="90000"/>
              </a:lnSpc>
              <a:buFont typeface="Wingdings" panose="05000000000000000000" pitchFamily="2" charset="2"/>
              <a:buNone/>
            </a:pPr>
            <a:r>
              <a:rPr lang="en-US" altLang="en-GB" sz="2200" smtClean="0"/>
              <a:t>	     TAPE = b, b, </a:t>
            </a:r>
            <a:r>
              <a:rPr lang="en-US" altLang="en-GB" sz="2200" smtClean="0">
                <a:cs typeface="Arial" panose="020B0604020202020204" pitchFamily="34" charset="0"/>
              </a:rPr>
              <a:t>∆,…</a:t>
            </a:r>
            <a:r>
              <a:rPr lang="en-US" altLang="en-GB" sz="2200" smtClean="0"/>
              <a:t> 		STACK = a, a, </a:t>
            </a:r>
            <a:r>
              <a:rPr lang="en-US" altLang="en-GB" sz="2200" smtClean="0">
                <a:cs typeface="Arial" panose="020B0604020202020204" pitchFamily="34" charset="0"/>
              </a:rPr>
              <a:t>∆, …</a:t>
            </a:r>
            <a:endParaRPr lang="en-US" altLang="en-GB" sz="22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174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20D7F98-0979-456A-875E-468DE1507511}" type="slidenum">
              <a:rPr lang="en-US" altLang="en-US" sz="120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
        <p:nvSpPr>
          <p:cNvPr id="31748"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1900" smtClean="0"/>
              <a:t>Similarly, after reading the last b, STACK pops the last a, and we have</a:t>
            </a:r>
          </a:p>
          <a:p>
            <a:pPr algn="just" eaLnBrk="1" hangingPunct="1">
              <a:lnSpc>
                <a:spcPct val="80000"/>
              </a:lnSpc>
              <a:buFont typeface="Wingdings" panose="05000000000000000000" pitchFamily="2" charset="2"/>
              <a:buNone/>
            </a:pPr>
            <a:r>
              <a:rPr lang="en-US" altLang="en-GB" sz="1900" smtClean="0"/>
              <a:t>		TAPE = </a:t>
            </a:r>
            <a:r>
              <a:rPr lang="en-US" altLang="en-GB" sz="1900" smtClean="0">
                <a:cs typeface="Arial" panose="020B0604020202020204" pitchFamily="34" charset="0"/>
              </a:rPr>
              <a:t>∆, ∆, …</a:t>
            </a:r>
            <a:r>
              <a:rPr lang="en-US" altLang="en-GB" sz="1900" smtClean="0"/>
              <a:t> STACK = </a:t>
            </a:r>
            <a:r>
              <a:rPr lang="en-US" altLang="en-GB" sz="1900" smtClean="0">
                <a:cs typeface="Arial" panose="020B0604020202020204" pitchFamily="34" charset="0"/>
              </a:rPr>
              <a:t>∆, ∆, …</a:t>
            </a:r>
            <a:endParaRPr lang="en-US" altLang="en-GB" sz="1900" smtClean="0"/>
          </a:p>
          <a:p>
            <a:pPr algn="just" eaLnBrk="1" hangingPunct="1">
              <a:lnSpc>
                <a:spcPct val="80000"/>
              </a:lnSpc>
            </a:pPr>
            <a:r>
              <a:rPr lang="en-US" altLang="en-GB" sz="1900" smtClean="0"/>
              <a:t>When we encounter the blank character </a:t>
            </a:r>
            <a:r>
              <a:rPr lang="en-US" altLang="en-GB" sz="1900" smtClean="0">
                <a:cs typeface="Arial" panose="020B0604020202020204" pitchFamily="34" charset="0"/>
              </a:rPr>
              <a:t>∆</a:t>
            </a:r>
            <a:r>
              <a:rPr lang="en-US" altLang="en-GB" sz="1900" smtClean="0"/>
              <a:t> from the INPUT TAPE, the STACK pops a blank , and we are lead to the ACCEPT state.</a:t>
            </a:r>
          </a:p>
          <a:p>
            <a:pPr algn="just" eaLnBrk="1" hangingPunct="1">
              <a:lnSpc>
                <a:spcPct val="80000"/>
              </a:lnSpc>
            </a:pPr>
            <a:r>
              <a:rPr lang="en-US" altLang="en-GB" sz="1900" smtClean="0"/>
              <a:t>Hence, the string </a:t>
            </a:r>
            <a:r>
              <a:rPr lang="en-US" altLang="en-GB" sz="1900" b="1" i="1" smtClean="0"/>
              <a:t>aaabbb</a:t>
            </a:r>
            <a:r>
              <a:rPr lang="en-US" altLang="en-GB" sz="1900" smtClean="0"/>
              <a:t> is accepted by this machine.</a:t>
            </a:r>
          </a:p>
          <a:p>
            <a:pPr algn="just" eaLnBrk="1" hangingPunct="1">
              <a:lnSpc>
                <a:spcPct val="80000"/>
              </a:lnSpc>
            </a:pPr>
            <a:endParaRPr lang="en-US" altLang="en-GB" sz="1900" smtClean="0"/>
          </a:p>
          <a:p>
            <a:pPr algn="just" eaLnBrk="1" hangingPunct="1">
              <a:lnSpc>
                <a:spcPct val="80000"/>
              </a:lnSpc>
            </a:pPr>
            <a:r>
              <a:rPr lang="en-US" altLang="en-GB" sz="1900" smtClean="0"/>
              <a:t>In fact, the language accepted by this machine is the </a:t>
            </a:r>
            <a:r>
              <a:rPr lang="en-US" altLang="en-GB" sz="1900" b="1" smtClean="0"/>
              <a:t>non-regular </a:t>
            </a:r>
            <a:r>
              <a:rPr lang="en-US" altLang="en-GB" sz="1900" smtClean="0"/>
              <a:t>language</a:t>
            </a:r>
          </a:p>
          <a:p>
            <a:pPr algn="just" eaLnBrk="1" hangingPunct="1">
              <a:lnSpc>
                <a:spcPct val="80000"/>
              </a:lnSpc>
              <a:buFont typeface="Wingdings" panose="05000000000000000000" pitchFamily="2" charset="2"/>
              <a:buNone/>
            </a:pPr>
            <a:r>
              <a:rPr lang="en-US" altLang="en-GB" sz="1900" smtClean="0"/>
              <a:t>		{a</a:t>
            </a:r>
            <a:r>
              <a:rPr lang="en-US" altLang="en-GB" sz="1900" baseline="30000" smtClean="0"/>
              <a:t>n</a:t>
            </a:r>
            <a:r>
              <a:rPr lang="en-US" altLang="en-GB" sz="1900" smtClean="0"/>
              <a:t>b</a:t>
            </a:r>
            <a:r>
              <a:rPr lang="en-US" altLang="en-GB" sz="1900" baseline="30000" smtClean="0"/>
              <a:t>n</a:t>
            </a:r>
            <a:r>
              <a:rPr lang="en-US" altLang="en-GB" sz="1900" smtClean="0"/>
              <a:t> n = 0, 1, 2, 3, …} </a:t>
            </a:r>
          </a:p>
          <a:p>
            <a:pPr algn="just" eaLnBrk="1" hangingPunct="1">
              <a:lnSpc>
                <a:spcPct val="80000"/>
              </a:lnSpc>
              <a:buFont typeface="Wingdings" panose="05000000000000000000" pitchFamily="2" charset="2"/>
              <a:buNone/>
            </a:pPr>
            <a:r>
              <a:rPr lang="en-US" altLang="en-GB" sz="1900" smtClean="0"/>
              <a:t>	(see discussion on page 298 if you are not convinced)</a:t>
            </a:r>
          </a:p>
          <a:p>
            <a:pPr algn="just" eaLnBrk="1" hangingPunct="1">
              <a:lnSpc>
                <a:spcPct val="80000"/>
              </a:lnSpc>
            </a:pPr>
            <a:endParaRPr lang="en-US" altLang="en-GB" sz="1900" smtClean="0"/>
          </a:p>
          <a:p>
            <a:pPr algn="just" eaLnBrk="1" hangingPunct="1">
              <a:lnSpc>
                <a:spcPct val="80000"/>
              </a:lnSpc>
            </a:pPr>
            <a:r>
              <a:rPr lang="en-US" altLang="en-GB" sz="1900" smtClean="0"/>
              <a:t>This machine can accept this non-regular language because it has a memory unit (the STACK) to keep track of how many a’s were read at the beginning. Since FAs do not have such memory, they are not able to accept this language.</a:t>
            </a:r>
          </a:p>
          <a:p>
            <a:pPr algn="just" eaLnBrk="1" hangingPunct="1">
              <a:lnSpc>
                <a:spcPct val="80000"/>
              </a:lnSpc>
            </a:pPr>
            <a:endParaRPr lang="en-US" altLang="en-GB" sz="19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3795"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15E1604-3E69-4075-8381-9E50D41CEE92}" type="slidenum">
              <a:rPr lang="en-US" altLang="en-US" sz="1200">
                <a:solidFill>
                  <a:srgbClr val="898989"/>
                </a:solidFill>
                <a:latin typeface="Arial" panose="020B0604020202020204" pitchFamily="34" charset="0"/>
              </a:rPr>
              <a:pPr>
                <a:spcBef>
                  <a:spcPct val="0"/>
                </a:spcBef>
                <a:buFontTx/>
                <a:buNone/>
              </a:pPr>
              <a:t>16</a:t>
            </a:fld>
            <a:endParaRPr lang="en-US" altLang="en-US" sz="1200">
              <a:solidFill>
                <a:srgbClr val="898989"/>
              </a:solidFill>
              <a:latin typeface="Arial" panose="020B0604020202020204" pitchFamily="34" charset="0"/>
            </a:endParaRPr>
          </a:p>
        </p:txBody>
      </p:sp>
      <p:sp>
        <p:nvSpPr>
          <p:cNvPr id="33796" name="Rectangle 2"/>
          <p:cNvSpPr>
            <a:spLocks noGrp="1"/>
          </p:cNvSpPr>
          <p:nvPr>
            <p:ph type="title" idx="4294967295"/>
          </p:nvPr>
        </p:nvSpPr>
        <p:spPr>
          <a:xfrm>
            <a:off x="0" y="274638"/>
            <a:ext cx="8229600" cy="1143000"/>
          </a:xfrm>
        </p:spPr>
        <p:txBody>
          <a:bodyPr/>
          <a:lstStyle/>
          <a:p>
            <a:pPr eaLnBrk="1" hangingPunct="1"/>
            <a:r>
              <a:rPr lang="en-US" altLang="en-GB" sz="3800" smtClean="0"/>
              <a:t>Remarks</a:t>
            </a:r>
          </a:p>
        </p:txBody>
      </p:sp>
      <p:sp>
        <p:nvSpPr>
          <p:cNvPr id="33797"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We need not restrict ourselves to using the same alphabet for input strings and for the STACK.</a:t>
            </a:r>
          </a:p>
          <a:p>
            <a:pPr algn="just" eaLnBrk="1" hangingPunct="1">
              <a:lnSpc>
                <a:spcPct val="90000"/>
              </a:lnSpc>
            </a:pPr>
            <a:r>
              <a:rPr lang="en-US" altLang="en-GB" sz="2200" smtClean="0"/>
              <a:t>In the example above, we could have read an a form the TAPE and then pushed an X into the STACK; that is, we let the </a:t>
            </a:r>
            <a:r>
              <a:rPr lang="en-US" altLang="en-GB" sz="2200" b="1" i="1" smtClean="0"/>
              <a:t>X</a:t>
            </a:r>
            <a:r>
              <a:rPr lang="en-US" altLang="en-GB" sz="2200" smtClean="0"/>
              <a:t>’s count the number of a’s.</a:t>
            </a:r>
          </a:p>
          <a:p>
            <a:pPr algn="just" eaLnBrk="1" hangingPunct="1">
              <a:lnSpc>
                <a:spcPct val="90000"/>
              </a:lnSpc>
            </a:pPr>
            <a:endParaRPr lang="en-US" altLang="en-GB" sz="2200" smtClean="0"/>
          </a:p>
          <a:p>
            <a:pPr algn="just" eaLnBrk="1" hangingPunct="1">
              <a:lnSpc>
                <a:spcPct val="90000"/>
              </a:lnSpc>
            </a:pPr>
            <a:r>
              <a:rPr lang="en-US" altLang="en-GB" sz="2200" smtClean="0"/>
              <a:t>In this case, the READ state must provide branches for a, b, or </a:t>
            </a:r>
            <a:r>
              <a:rPr lang="en-US" altLang="en-GB" sz="2200" smtClean="0">
                <a:cs typeface="Arial" panose="020B0604020202020204" pitchFamily="34" charset="0"/>
              </a:rPr>
              <a:t>∆</a:t>
            </a:r>
            <a:r>
              <a:rPr lang="en-US" altLang="en-GB" sz="2200" smtClean="0"/>
              <a:t>. The POP state must provide branches for X or </a:t>
            </a:r>
            <a:r>
              <a:rPr lang="en-US" altLang="en-GB" sz="2200" smtClean="0">
                <a:cs typeface="Arial" panose="020B0604020202020204" pitchFamily="34" charset="0"/>
              </a:rPr>
              <a:t>∆</a:t>
            </a:r>
            <a:r>
              <a:rPr lang="en-US" altLang="en-GB" sz="2200" smtClean="0"/>
              <a:t>.</a:t>
            </a:r>
          </a:p>
          <a:p>
            <a:pPr algn="just" eaLnBrk="1" hangingPunct="1">
              <a:lnSpc>
                <a:spcPct val="90000"/>
              </a:lnSpc>
            </a:pPr>
            <a:endParaRPr lang="en-US" altLang="en-GB" sz="2200" smtClean="0"/>
          </a:p>
          <a:p>
            <a:pPr algn="just" eaLnBrk="1" hangingPunct="1">
              <a:lnSpc>
                <a:spcPct val="90000"/>
              </a:lnSpc>
            </a:pPr>
            <a:r>
              <a:rPr lang="en-US" altLang="en-GB" sz="2200" smtClean="0"/>
              <a:t>Therefore, when we define PDAs later on, we shall require the specification of the TAPE alphabet </a:t>
            </a:r>
            <a:r>
              <a:rPr lang="en-US" altLang="en-GB" sz="2200" smtClean="0">
                <a:cs typeface="Arial" panose="020B0604020202020204" pitchFamily="34" charset="0"/>
              </a:rPr>
              <a:t>∑</a:t>
            </a:r>
            <a:r>
              <a:rPr lang="en-US" altLang="en-GB" sz="2200" smtClean="0"/>
              <a:t> and the STACK alphabet </a:t>
            </a:r>
            <a:r>
              <a:rPr lang="el-GR" altLang="en-GB" sz="2200" smtClean="0">
                <a:cs typeface="Arial" panose="020B0604020202020204" pitchFamily="34" charset="0"/>
              </a:rPr>
              <a:t>Γ</a:t>
            </a:r>
            <a:r>
              <a:rPr lang="en-US" altLang="en-GB" sz="2200" smtClean="0"/>
              <a:t>, which may be different.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584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3EDA83-D210-4340-B68B-1DB864C89A4B}" type="slidenum">
              <a:rPr lang="en-US" altLang="en-US" sz="1200">
                <a:solidFill>
                  <a:srgbClr val="898989"/>
                </a:solidFill>
                <a:latin typeface="Arial" panose="020B0604020202020204" pitchFamily="34" charset="0"/>
              </a:rPr>
              <a:pPr>
                <a:spcBef>
                  <a:spcPct val="0"/>
                </a:spcBef>
                <a:buFontTx/>
                <a:buNone/>
              </a:pPr>
              <a:t>17</a:t>
            </a:fld>
            <a:endParaRPr lang="en-US" altLang="en-US" sz="1200">
              <a:solidFill>
                <a:srgbClr val="898989"/>
              </a:solidFill>
              <a:latin typeface="Arial" panose="020B0604020202020204" pitchFamily="34" charset="0"/>
            </a:endParaRPr>
          </a:p>
        </p:txBody>
      </p:sp>
      <p:sp>
        <p:nvSpPr>
          <p:cNvPr id="35844" name="Rectangle 2"/>
          <p:cNvSpPr>
            <a:spLocks noGrp="1"/>
          </p:cNvSpPr>
          <p:nvPr>
            <p:ph type="title" idx="4294967295"/>
          </p:nvPr>
        </p:nvSpPr>
        <p:spPr>
          <a:xfrm>
            <a:off x="0" y="274638"/>
            <a:ext cx="8229600" cy="1143000"/>
          </a:xfrm>
        </p:spPr>
        <p:txBody>
          <a:bodyPr/>
          <a:lstStyle/>
          <a:p>
            <a:pPr eaLnBrk="1" hangingPunct="1"/>
            <a:r>
              <a:rPr lang="en-US" altLang="en-GB" sz="3800" smtClean="0"/>
              <a:t>Deterministic VS Non-Deterministic PDA</a:t>
            </a:r>
          </a:p>
        </p:txBody>
      </p:sp>
      <p:sp>
        <p:nvSpPr>
          <p:cNvPr id="35845"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100" smtClean="0"/>
              <a:t>Since our goal is to produce a new type of machine that can recognize all CFLs (just as FAs can recognize all regular languages), the addition of a simple STACK may not be enough. We shall see that the new PDAs will have to be nondeterministic.</a:t>
            </a:r>
          </a:p>
          <a:p>
            <a:pPr algn="just" eaLnBrk="1" hangingPunct="1">
              <a:lnSpc>
                <a:spcPct val="80000"/>
              </a:lnSpc>
            </a:pPr>
            <a:endParaRPr lang="en-US" altLang="en-GB" sz="2100" smtClean="0"/>
          </a:p>
          <a:p>
            <a:pPr algn="just" eaLnBrk="1" hangingPunct="1">
              <a:lnSpc>
                <a:spcPct val="80000"/>
              </a:lnSpc>
            </a:pPr>
            <a:r>
              <a:rPr lang="en-US" altLang="en-GB" sz="2100" smtClean="0"/>
              <a:t>A </a:t>
            </a:r>
            <a:r>
              <a:rPr lang="en-US" altLang="en-GB" sz="2100" b="1" smtClean="0"/>
              <a:t>deterministic PDA </a:t>
            </a:r>
            <a:r>
              <a:rPr lang="en-US" altLang="en-GB" sz="2100" smtClean="0"/>
              <a:t>is one for which every input string has a unique path through the machine (like the PDA in our example above).</a:t>
            </a:r>
          </a:p>
          <a:p>
            <a:pPr algn="just" eaLnBrk="1" hangingPunct="1">
              <a:lnSpc>
                <a:spcPct val="80000"/>
              </a:lnSpc>
            </a:pPr>
            <a:endParaRPr lang="en-US" altLang="en-GB" sz="2100" smtClean="0"/>
          </a:p>
          <a:p>
            <a:pPr algn="just" eaLnBrk="1" hangingPunct="1">
              <a:lnSpc>
                <a:spcPct val="80000"/>
              </a:lnSpc>
            </a:pPr>
            <a:r>
              <a:rPr lang="en-US" altLang="en-GB" sz="2100" smtClean="0"/>
              <a:t>A </a:t>
            </a:r>
            <a:r>
              <a:rPr lang="en-US" altLang="en-GB" sz="2100" b="1" smtClean="0"/>
              <a:t>nondeterministic PDA </a:t>
            </a:r>
            <a:r>
              <a:rPr lang="en-US" altLang="en-GB" sz="2100" smtClean="0"/>
              <a:t>is one for which at certain times we may have to choose among possible paths through the machine.</a:t>
            </a:r>
          </a:p>
          <a:p>
            <a:pPr lvl="1" algn="just" eaLnBrk="1" hangingPunct="1">
              <a:lnSpc>
                <a:spcPct val="80000"/>
              </a:lnSpc>
            </a:pPr>
            <a:r>
              <a:rPr lang="en-US" altLang="en-GB" sz="1900" smtClean="0"/>
              <a:t>An input string is accepted by a nondeterministic PDA if </a:t>
            </a:r>
            <a:r>
              <a:rPr lang="en-US" altLang="en-GB" sz="1900" b="1" smtClean="0"/>
              <a:t>                 some </a:t>
            </a:r>
            <a:r>
              <a:rPr lang="en-US" altLang="en-GB" sz="1900" smtClean="0"/>
              <a:t>set of choices leads us to an ACCEPT state.</a:t>
            </a:r>
          </a:p>
          <a:p>
            <a:pPr lvl="1" algn="just" eaLnBrk="1" hangingPunct="1">
              <a:lnSpc>
                <a:spcPct val="80000"/>
              </a:lnSpc>
            </a:pPr>
            <a:r>
              <a:rPr lang="en-US" altLang="en-GB" sz="1900" smtClean="0"/>
              <a:t>If for </a:t>
            </a:r>
            <a:r>
              <a:rPr lang="en-US" altLang="en-GB" sz="1900" b="1" smtClean="0"/>
              <a:t>all possible </a:t>
            </a:r>
            <a:r>
              <a:rPr lang="en-US" altLang="en-GB" sz="1900" smtClean="0"/>
              <a:t>paths that a certain input string can follow, it always ends at a REJECT state, then the string must be rejected.</a:t>
            </a:r>
          </a:p>
          <a:p>
            <a:pPr algn="just" eaLnBrk="1" hangingPunct="1">
              <a:lnSpc>
                <a:spcPct val="80000"/>
              </a:lnSpc>
            </a:pPr>
            <a:endParaRPr lang="en-US" altLang="en-GB" sz="210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7891"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370E116-5066-4ECF-B59D-766D4D31EDBA}" type="slidenum">
              <a:rPr lang="en-US" altLang="en-US" sz="1200">
                <a:solidFill>
                  <a:srgbClr val="898989"/>
                </a:solidFill>
                <a:latin typeface="Arial" panose="020B0604020202020204" pitchFamily="34" charset="0"/>
              </a:rPr>
              <a:pPr>
                <a:spcBef>
                  <a:spcPct val="0"/>
                </a:spcBef>
                <a:buFontTx/>
                <a:buNone/>
              </a:pPr>
              <a:t>18</a:t>
            </a:fld>
            <a:endParaRPr lang="en-US" altLang="en-US" sz="1200">
              <a:solidFill>
                <a:srgbClr val="898989"/>
              </a:solidFill>
              <a:latin typeface="Arial" panose="020B0604020202020204" pitchFamily="34" charset="0"/>
            </a:endParaRPr>
          </a:p>
        </p:txBody>
      </p:sp>
      <p:sp>
        <p:nvSpPr>
          <p:cNvPr id="37892" name="Rectangle 3"/>
          <p:cNvSpPr>
            <a:spLocks noGrp="1"/>
          </p:cNvSpPr>
          <p:nvPr>
            <p:ph type="body" idx="4294967295"/>
          </p:nvPr>
        </p:nvSpPr>
        <p:spPr>
          <a:xfrm>
            <a:off x="0" y="3657600"/>
            <a:ext cx="8229600" cy="3276600"/>
          </a:xfrm>
        </p:spPr>
        <p:txBody>
          <a:bodyPr/>
          <a:lstStyle/>
          <a:p>
            <a:pPr algn="just" eaLnBrk="1" hangingPunct="1">
              <a:lnSpc>
                <a:spcPct val="80000"/>
              </a:lnSpc>
            </a:pPr>
            <a:r>
              <a:rPr lang="en-US" altLang="en-GB" sz="1700" smtClean="0"/>
              <a:t>Non-determinism allows for the possibility of too few (even zero) as well as too many edges leading out of a branch state (READ or POP).</a:t>
            </a:r>
          </a:p>
          <a:p>
            <a:pPr algn="just" eaLnBrk="1" hangingPunct="1">
              <a:lnSpc>
                <a:spcPct val="80000"/>
              </a:lnSpc>
            </a:pPr>
            <a:endParaRPr lang="en-US" altLang="en-GB" sz="1700" smtClean="0"/>
          </a:p>
          <a:p>
            <a:pPr algn="just" eaLnBrk="1" hangingPunct="1">
              <a:lnSpc>
                <a:spcPct val="80000"/>
              </a:lnSpc>
            </a:pPr>
            <a:r>
              <a:rPr lang="en-US" altLang="en-GB" sz="1700" smtClean="0"/>
              <a:t>For example, we can have more than one edge with the same label leading out of a branch state. We can also have no edge, say no b-edge, leading out of a particular READ state. If a b is read at that state, processing cannot continue, the machine crashes, and the input is rejected.</a:t>
            </a:r>
          </a:p>
          <a:p>
            <a:pPr algn="just" eaLnBrk="1" hangingPunct="1">
              <a:lnSpc>
                <a:spcPct val="80000"/>
              </a:lnSpc>
            </a:pPr>
            <a:endParaRPr lang="en-US" altLang="en-GB" sz="1700" smtClean="0"/>
          </a:p>
          <a:p>
            <a:pPr algn="just" eaLnBrk="1" hangingPunct="1">
              <a:lnSpc>
                <a:spcPct val="80000"/>
              </a:lnSpc>
            </a:pPr>
            <a:r>
              <a:rPr lang="en-US" altLang="en-GB" sz="1700" i="1" smtClean="0"/>
              <a:t>Recall that for FAs, Non-determinism (e.g., NFAs and TG) does not increase the power of the machine to accept new languages. For PDAs, this is different:</a:t>
            </a:r>
          </a:p>
        </p:txBody>
      </p:sp>
      <p:pic>
        <p:nvPicPr>
          <p:cNvPr id="3789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533400"/>
            <a:ext cx="3048000" cy="300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9939"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9703734-A5B6-4590-BDA1-4EB0D5AD12C5}" type="slidenum">
              <a:rPr lang="en-US" altLang="en-US" sz="1200">
                <a:solidFill>
                  <a:srgbClr val="898989"/>
                </a:solidFill>
                <a:latin typeface="Arial" panose="020B0604020202020204" pitchFamily="34" charset="0"/>
              </a:rPr>
              <a:pPr>
                <a:spcBef>
                  <a:spcPct val="0"/>
                </a:spcBef>
                <a:buFontTx/>
                <a:buNone/>
              </a:pPr>
              <a:t>19</a:t>
            </a:fld>
            <a:endParaRPr lang="en-US" altLang="en-US" sz="1200">
              <a:solidFill>
                <a:srgbClr val="898989"/>
              </a:solidFill>
              <a:latin typeface="Arial" panose="020B0604020202020204" pitchFamily="34" charset="0"/>
            </a:endParaRPr>
          </a:p>
        </p:txBody>
      </p:sp>
      <p:sp>
        <p:nvSpPr>
          <p:cNvPr id="39940"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39941"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1900" smtClean="0"/>
              <a:t>Let’s consider what kind of PDA could accept the language of ODDPALINDROME. This is the language of all strings of a’s and b’s that are palindrome and have an odd number of letters. For instance, a word of this language is w = </a:t>
            </a:r>
            <a:r>
              <a:rPr lang="en-US" altLang="en-GB" sz="1900" b="1" i="1" smtClean="0"/>
              <a:t>abbabba</a:t>
            </a:r>
            <a:r>
              <a:rPr lang="en-US" altLang="en-GB" sz="1900" smtClean="0"/>
              <a:t>.</a:t>
            </a:r>
          </a:p>
          <a:p>
            <a:pPr algn="just" eaLnBrk="1" hangingPunct="1">
              <a:lnSpc>
                <a:spcPct val="90000"/>
              </a:lnSpc>
            </a:pPr>
            <a:endParaRPr lang="en-US" altLang="en-GB" sz="1900" smtClean="0"/>
          </a:p>
          <a:p>
            <a:pPr algn="just" eaLnBrk="1" hangingPunct="1">
              <a:lnSpc>
                <a:spcPct val="90000"/>
              </a:lnSpc>
            </a:pPr>
            <a:r>
              <a:rPr lang="en-US" altLang="en-GB" sz="1900" smtClean="0"/>
              <a:t>Possible solution: When we process the front part of the word (</a:t>
            </a:r>
            <a:r>
              <a:rPr lang="en-US" altLang="en-GB" sz="1900" b="1" i="1" smtClean="0"/>
              <a:t>abb</a:t>
            </a:r>
            <a:r>
              <a:rPr lang="en-US" altLang="en-GB" sz="1900" smtClean="0"/>
              <a:t>), we also PUSH the input letters onto the STACK. When we process the back part of the string (</a:t>
            </a:r>
            <a:r>
              <a:rPr lang="en-US" altLang="en-GB" sz="1900" b="1" i="1" smtClean="0"/>
              <a:t>bba</a:t>
            </a:r>
            <a:r>
              <a:rPr lang="en-US" altLang="en-GB" sz="1900" smtClean="0"/>
              <a:t>), we can POP the STACK in order to compare the letters being read with those from the STACK.</a:t>
            </a:r>
          </a:p>
          <a:p>
            <a:pPr algn="just" eaLnBrk="1" hangingPunct="1">
              <a:lnSpc>
                <a:spcPct val="90000"/>
              </a:lnSpc>
            </a:pPr>
            <a:endParaRPr lang="en-US" altLang="en-GB" sz="1900" smtClean="0"/>
          </a:p>
          <a:p>
            <a:pPr algn="just" eaLnBrk="1" hangingPunct="1">
              <a:lnSpc>
                <a:spcPct val="90000"/>
              </a:lnSpc>
            </a:pPr>
            <a:r>
              <a:rPr lang="en-US" altLang="en-GB" sz="1900" smtClean="0"/>
              <a:t>However, the problem here is that the middle letter does not stand out. It is therefore impossible for the machine to recognize where the front part ends and where the back part begins: A PDA, just like an FA, reads the input string from left to right and has no idea at any stage how many letters remain to be read.</a:t>
            </a:r>
          </a:p>
          <a:p>
            <a:pPr algn="just" eaLnBrk="1" hangingPunct="1">
              <a:lnSpc>
                <a:spcPct val="90000"/>
              </a:lnSpc>
            </a:pPr>
            <a:endParaRPr lang="en-US" altLang="en-GB" sz="190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1987"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F9E540F-82F2-45FA-8882-7D830BE65CB8}" type="slidenum">
              <a:rPr lang="en-US" altLang="en-US" sz="1200">
                <a:solidFill>
                  <a:srgbClr val="898989"/>
                </a:solidFill>
                <a:latin typeface="Arial" panose="020B0604020202020204" pitchFamily="34" charset="0"/>
              </a:rPr>
              <a:pPr>
                <a:spcBef>
                  <a:spcPct val="0"/>
                </a:spcBef>
                <a:buFontTx/>
                <a:buNone/>
              </a:pPr>
              <a:t>20</a:t>
            </a:fld>
            <a:endParaRPr lang="en-US" altLang="en-US" sz="1200">
              <a:solidFill>
                <a:srgbClr val="898989"/>
              </a:solidFill>
              <a:latin typeface="Arial" panose="020B0604020202020204" pitchFamily="34" charset="0"/>
            </a:endParaRPr>
          </a:p>
        </p:txBody>
      </p:sp>
      <p:sp>
        <p:nvSpPr>
          <p:cNvPr id="41988" name="Rectangle 3"/>
          <p:cNvSpPr>
            <a:spLocks noGrp="1"/>
          </p:cNvSpPr>
          <p:nvPr>
            <p:ph type="body" idx="4294967295"/>
          </p:nvPr>
        </p:nvSpPr>
        <p:spPr>
          <a:xfrm>
            <a:off x="0" y="1600200"/>
            <a:ext cx="8382000" cy="4876800"/>
          </a:xfrm>
        </p:spPr>
        <p:txBody>
          <a:bodyPr/>
          <a:lstStyle/>
          <a:p>
            <a:pPr algn="just" eaLnBrk="1" hangingPunct="1">
              <a:lnSpc>
                <a:spcPct val="90000"/>
              </a:lnSpc>
            </a:pPr>
            <a:r>
              <a:rPr lang="en-US" altLang="en-GB" sz="2200" smtClean="0"/>
              <a:t>The PDA therefore should be nondeterministic: We need to make a choice to follow the right edge at the right time (i.e. when reading the middle letter.)</a:t>
            </a:r>
          </a:p>
          <a:p>
            <a:pPr algn="just" eaLnBrk="1" hangingPunct="1">
              <a:lnSpc>
                <a:spcPct val="90000"/>
              </a:lnSpc>
            </a:pPr>
            <a:endParaRPr lang="en-US" altLang="en-GB" sz="2200" smtClean="0"/>
          </a:p>
          <a:p>
            <a:pPr algn="just" eaLnBrk="1" hangingPunct="1">
              <a:lnSpc>
                <a:spcPct val="90000"/>
              </a:lnSpc>
            </a:pPr>
            <a:r>
              <a:rPr lang="en-US" altLang="en-GB" sz="2200" smtClean="0"/>
              <a:t>The nondeterministic PDA that accept ODDPALINDROME is shown in the next slide.</a:t>
            </a:r>
          </a:p>
          <a:p>
            <a:pPr algn="just" eaLnBrk="1" hangingPunct="1">
              <a:lnSpc>
                <a:spcPct val="90000"/>
              </a:lnSpc>
            </a:pPr>
            <a:endParaRPr lang="en-US" altLang="en-GB" sz="2200" smtClean="0"/>
          </a:p>
          <a:p>
            <a:pPr algn="just" eaLnBrk="1" hangingPunct="1">
              <a:lnSpc>
                <a:spcPct val="90000"/>
              </a:lnSpc>
            </a:pPr>
            <a:r>
              <a:rPr lang="en-US" altLang="en-GB" sz="2200" smtClean="0"/>
              <a:t>We shall not show REJECT states in the picture. This means that when an input string has no path to follow, it will </a:t>
            </a:r>
            <a:r>
              <a:rPr lang="en-US" altLang="en-GB" sz="2200" b="1" smtClean="0"/>
              <a:t>crash </a:t>
            </a:r>
            <a:r>
              <a:rPr lang="en-US" altLang="en-GB" sz="2200" smtClean="0"/>
              <a:t>and be rejected.</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4035"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0598982-D043-4464-B788-0BF2A3D788FC}" type="slidenum">
              <a:rPr lang="en-US" altLang="en-US" sz="120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sp>
        <p:nvSpPr>
          <p:cNvPr id="44036" name="Rectangle 3"/>
          <p:cNvSpPr>
            <a:spLocks noGrp="1"/>
          </p:cNvSpPr>
          <p:nvPr>
            <p:ph type="body" idx="4294967295"/>
          </p:nvPr>
        </p:nvSpPr>
        <p:spPr>
          <a:xfrm>
            <a:off x="0" y="1481138"/>
            <a:ext cx="8229600" cy="4525962"/>
          </a:xfrm>
        </p:spPr>
        <p:txBody>
          <a:bodyPr/>
          <a:lstStyle/>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endParaRPr lang="en-US" altLang="en-GB" sz="2600" smtClean="0"/>
          </a:p>
          <a:p>
            <a:pPr algn="just" eaLnBrk="1" hangingPunct="1"/>
            <a:r>
              <a:rPr lang="en-US" altLang="en-GB" sz="2600" smtClean="0"/>
              <a:t>Try the input string </a:t>
            </a:r>
            <a:r>
              <a:rPr lang="en-US" altLang="en-GB" sz="2600" b="1" i="1" smtClean="0"/>
              <a:t>aba</a:t>
            </a:r>
            <a:r>
              <a:rPr lang="en-US" altLang="en-GB" sz="2600" smtClean="0"/>
              <a:t> on this machine.</a:t>
            </a:r>
          </a:p>
        </p:txBody>
      </p:sp>
      <p:pic>
        <p:nvPicPr>
          <p:cNvPr id="440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423988"/>
            <a:ext cx="6477000" cy="368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608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247220-3321-4978-A488-505A08C4A54B}" type="slidenum">
              <a:rPr lang="en-US" altLang="en-US" sz="120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46084" name="Rectangle 2"/>
          <p:cNvSpPr>
            <a:spLocks noGrp="1"/>
          </p:cNvSpPr>
          <p:nvPr>
            <p:ph type="title" idx="4294967295"/>
          </p:nvPr>
        </p:nvSpPr>
        <p:spPr>
          <a:xfrm>
            <a:off x="0" y="274638"/>
            <a:ext cx="8229600" cy="1143000"/>
          </a:xfrm>
        </p:spPr>
        <p:txBody>
          <a:bodyPr/>
          <a:lstStyle/>
          <a:p>
            <a:pPr eaLnBrk="1" hangingPunct="1"/>
            <a:r>
              <a:rPr lang="en-US" altLang="en-GB" sz="3800" smtClean="0"/>
              <a:t>Defining the PDA</a:t>
            </a:r>
          </a:p>
        </p:txBody>
      </p:sp>
      <p:sp>
        <p:nvSpPr>
          <p:cNvPr id="46085" name="Rectangle 3"/>
          <p:cNvSpPr>
            <a:spLocks noGrp="1"/>
          </p:cNvSpPr>
          <p:nvPr>
            <p:ph type="body" idx="4294967295"/>
          </p:nvPr>
        </p:nvSpPr>
        <p:spPr>
          <a:xfrm>
            <a:off x="0" y="1600200"/>
            <a:ext cx="8229600" cy="3468688"/>
          </a:xfrm>
        </p:spPr>
        <p:txBody>
          <a:bodyPr/>
          <a:lstStyle/>
          <a:p>
            <a:pPr algn="just" eaLnBrk="1" hangingPunct="1">
              <a:buFont typeface="Wingdings" panose="05000000000000000000" pitchFamily="2" charset="2"/>
              <a:buNone/>
            </a:pPr>
            <a:r>
              <a:rPr lang="en-US" altLang="en-GB" sz="2200" smtClean="0"/>
              <a:t>A </a:t>
            </a:r>
            <a:r>
              <a:rPr lang="en-US" altLang="en-GB" sz="2200" b="1" smtClean="0"/>
              <a:t>pushdown automaton, PDA</a:t>
            </a:r>
            <a:r>
              <a:rPr lang="en-US" altLang="en-GB" sz="2200" smtClean="0"/>
              <a:t>, is a collection of eight things:</a:t>
            </a:r>
          </a:p>
          <a:p>
            <a:pPr lvl="1" algn="just" eaLnBrk="1" hangingPunct="1">
              <a:buFont typeface="Wingdings" panose="05000000000000000000" pitchFamily="2" charset="2"/>
              <a:buNone/>
            </a:pPr>
            <a:r>
              <a:rPr lang="en-US" altLang="en-GB" sz="2000" smtClean="0"/>
              <a:t>1. An alphabet </a:t>
            </a:r>
            <a:r>
              <a:rPr lang="el-GR" altLang="en-GB" sz="2000" smtClean="0">
                <a:cs typeface="Arial" panose="020B0604020202020204" pitchFamily="34" charset="0"/>
              </a:rPr>
              <a:t>∑</a:t>
            </a:r>
            <a:r>
              <a:rPr lang="en-US" altLang="en-GB" sz="2000" smtClean="0"/>
              <a:t> of input letters.</a:t>
            </a:r>
          </a:p>
          <a:p>
            <a:pPr lvl="1" algn="just" eaLnBrk="1" hangingPunct="1">
              <a:buFont typeface="Wingdings" panose="05000000000000000000" pitchFamily="2" charset="2"/>
              <a:buNone/>
            </a:pPr>
            <a:r>
              <a:rPr lang="en-US" altLang="en-GB" sz="2000" smtClean="0"/>
              <a:t>2. An input TAPE (infinite in one direction). Initially, the string of input letters is placed on the TAPE starting in cell i. The rest of the TAPE is blank.</a:t>
            </a:r>
          </a:p>
          <a:p>
            <a:pPr lvl="1" algn="just" eaLnBrk="1" hangingPunct="1">
              <a:buFont typeface="Wingdings" panose="05000000000000000000" pitchFamily="2" charset="2"/>
              <a:buNone/>
            </a:pPr>
            <a:r>
              <a:rPr lang="en-US" altLang="en-GB" sz="2000" smtClean="0"/>
              <a:t>3. An alphabet </a:t>
            </a:r>
            <a:r>
              <a:rPr lang="el-GR" altLang="en-GB" sz="2000" smtClean="0">
                <a:cs typeface="Arial" panose="020B0604020202020204" pitchFamily="34" charset="0"/>
              </a:rPr>
              <a:t>Γ</a:t>
            </a:r>
            <a:r>
              <a:rPr lang="en-US" altLang="en-GB" sz="2000" smtClean="0"/>
              <a:t> of STACK characters.</a:t>
            </a:r>
          </a:p>
          <a:p>
            <a:pPr lvl="1" algn="just" eaLnBrk="1" hangingPunct="1">
              <a:buFont typeface="Wingdings" panose="05000000000000000000" pitchFamily="2" charset="2"/>
              <a:buNone/>
            </a:pPr>
            <a:r>
              <a:rPr lang="en-US" altLang="en-GB" sz="2000" smtClean="0"/>
              <a:t>4. A pushdown STACK (infinite in one direction). Initially, the STACK is empty (contains all blanks).</a:t>
            </a:r>
          </a:p>
          <a:p>
            <a:pPr lvl="1" algn="just" eaLnBrk="1" hangingPunct="1">
              <a:buFont typeface="Wingdings" panose="05000000000000000000" pitchFamily="2" charset="2"/>
              <a:buNone/>
            </a:pPr>
            <a:r>
              <a:rPr lang="en-US" altLang="en-GB" sz="2000" smtClean="0"/>
              <a:t>5. One START state that has only out-edges, and no in-edges:</a:t>
            </a:r>
          </a:p>
        </p:txBody>
      </p:sp>
      <p:pic>
        <p:nvPicPr>
          <p:cNvPr id="4608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725" y="4953000"/>
            <a:ext cx="11588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8131"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990DA5-4A8B-41E6-970E-0D48C59BD867}" type="slidenum">
              <a:rPr lang="en-US" altLang="en-US" sz="120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sp>
        <p:nvSpPr>
          <p:cNvPr id="48132" name="Rectangle 2"/>
          <p:cNvSpPr>
            <a:spLocks noGrp="1"/>
          </p:cNvSpPr>
          <p:nvPr>
            <p:ph type="title" idx="4294967295"/>
          </p:nvPr>
        </p:nvSpPr>
        <p:spPr>
          <a:xfrm>
            <a:off x="0" y="274638"/>
            <a:ext cx="8229600" cy="1143000"/>
          </a:xfrm>
        </p:spPr>
        <p:txBody>
          <a:bodyPr/>
          <a:lstStyle/>
          <a:p>
            <a:pPr eaLnBrk="1" hangingPunct="1"/>
            <a:r>
              <a:rPr lang="en-US" altLang="en-GB" sz="3800" smtClean="0"/>
              <a:t>Defining the PDA (contd.)</a:t>
            </a:r>
          </a:p>
        </p:txBody>
      </p:sp>
      <p:sp>
        <p:nvSpPr>
          <p:cNvPr id="48133" name="Rectangle 3"/>
          <p:cNvSpPr>
            <a:spLocks noGrp="1"/>
          </p:cNvSpPr>
          <p:nvPr>
            <p:ph type="body" idx="4294967295"/>
          </p:nvPr>
        </p:nvSpPr>
        <p:spPr>
          <a:xfrm>
            <a:off x="0" y="1481138"/>
            <a:ext cx="8229600" cy="4525962"/>
          </a:xfrm>
        </p:spPr>
        <p:txBody>
          <a:bodyPr/>
          <a:lstStyle/>
          <a:p>
            <a:pPr marL="533400" indent="-533400" algn="just" eaLnBrk="1" hangingPunct="1">
              <a:buFontTx/>
              <a:buAutoNum type="arabicPeriod" startAt="6"/>
            </a:pPr>
            <a:r>
              <a:rPr lang="en-US" altLang="en-GB" sz="2200" smtClean="0"/>
              <a:t>Halt states of two kinds: some ACCEPT and some REJECT. They have in-edges and no out-edges:</a:t>
            </a:r>
          </a:p>
          <a:p>
            <a:pPr marL="533400" indent="-533400" algn="just" eaLnBrk="1" hangingPunct="1">
              <a:buFontTx/>
              <a:buAutoNum type="arabicPeriod" startAt="6"/>
            </a:pPr>
            <a:endParaRPr lang="en-US" altLang="en-GB" sz="2200" smtClean="0"/>
          </a:p>
          <a:p>
            <a:pPr marL="533400" indent="-533400" algn="just" eaLnBrk="1" hangingPunct="1">
              <a:buFontTx/>
              <a:buAutoNum type="arabicPeriod" startAt="6"/>
            </a:pPr>
            <a:endParaRPr lang="en-US" altLang="en-GB" sz="2200" smtClean="0"/>
          </a:p>
          <a:p>
            <a:pPr marL="533400" indent="-533400" algn="just" eaLnBrk="1" hangingPunct="1">
              <a:buFont typeface="Wingdings" panose="05000000000000000000" pitchFamily="2" charset="2"/>
              <a:buNone/>
            </a:pPr>
            <a:r>
              <a:rPr lang="en-US" altLang="en-GB" sz="2200" smtClean="0"/>
              <a:t>7. Finitely many non-branching PUSH states that put characters onto the top of the STACK. They are of the form</a:t>
            </a:r>
          </a:p>
          <a:p>
            <a:pPr marL="533400" indent="-533400" algn="just" eaLnBrk="1" hangingPunct="1">
              <a:buFont typeface="Wingdings" panose="05000000000000000000" pitchFamily="2" charset="2"/>
              <a:buNone/>
            </a:pPr>
            <a:endParaRPr lang="en-US" altLang="en-GB" sz="2200" smtClean="0"/>
          </a:p>
          <a:p>
            <a:pPr marL="533400" indent="-533400" algn="just" eaLnBrk="1" hangingPunct="1">
              <a:buFont typeface="Wingdings" panose="05000000000000000000" pitchFamily="2" charset="2"/>
              <a:buNone/>
            </a:pPr>
            <a:r>
              <a:rPr lang="en-US" altLang="en-GB" sz="2200" smtClean="0"/>
              <a:t>     where X is any letter in </a:t>
            </a:r>
            <a:r>
              <a:rPr lang="el-GR" altLang="en-GB" sz="2200" smtClean="0">
                <a:cs typeface="Arial" panose="020B0604020202020204" pitchFamily="34" charset="0"/>
              </a:rPr>
              <a:t>Γ</a:t>
            </a:r>
            <a:r>
              <a:rPr lang="en-US" altLang="en-GB" sz="2200" smtClean="0"/>
              <a:t>.</a:t>
            </a:r>
          </a:p>
        </p:txBody>
      </p:sp>
      <p:pic>
        <p:nvPicPr>
          <p:cNvPr id="4813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514600"/>
            <a:ext cx="461962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495800"/>
            <a:ext cx="23622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0179"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2935A1B-84DD-4BAF-BED0-768768B11E6E}" type="slidenum">
              <a:rPr lang="en-US" altLang="en-US" sz="120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sp>
        <p:nvSpPr>
          <p:cNvPr id="50180" name="Rectangle 3"/>
          <p:cNvSpPr>
            <a:spLocks noGrp="1"/>
          </p:cNvSpPr>
          <p:nvPr>
            <p:ph type="body" idx="4294967295"/>
          </p:nvPr>
        </p:nvSpPr>
        <p:spPr>
          <a:xfrm>
            <a:off x="0" y="1481138"/>
            <a:ext cx="8229600" cy="4525962"/>
          </a:xfrm>
        </p:spPr>
        <p:txBody>
          <a:bodyPr/>
          <a:lstStyle/>
          <a:p>
            <a:pPr marL="533400" indent="-533400" algn="just" eaLnBrk="1" hangingPunct="1">
              <a:lnSpc>
                <a:spcPct val="90000"/>
              </a:lnSpc>
              <a:buFontTx/>
              <a:buAutoNum type="arabicPeriod" startAt="8"/>
            </a:pPr>
            <a:r>
              <a:rPr lang="en-US" altLang="en-GB" sz="2600" smtClean="0"/>
              <a:t>Finitely many branching states of two kinds:</a:t>
            </a:r>
          </a:p>
          <a:p>
            <a:pPr marL="533400" indent="-533400" algn="just" eaLnBrk="1" hangingPunct="1">
              <a:lnSpc>
                <a:spcPct val="90000"/>
              </a:lnSpc>
              <a:buFont typeface="Wingdings" panose="05000000000000000000" pitchFamily="2" charset="2"/>
              <a:buNone/>
            </a:pPr>
            <a:r>
              <a:rPr lang="en-US" altLang="en-GB" sz="2600" smtClean="0"/>
              <a:t>	(i) States that read the next unused letter from    </a:t>
            </a:r>
          </a:p>
          <a:p>
            <a:pPr marL="533400" indent="-533400" algn="just" eaLnBrk="1" hangingPunct="1">
              <a:lnSpc>
                <a:spcPct val="90000"/>
              </a:lnSpc>
              <a:buFont typeface="Wingdings" panose="05000000000000000000" pitchFamily="2" charset="2"/>
              <a:buNone/>
            </a:pPr>
            <a:r>
              <a:rPr lang="en-US" altLang="en-GB" sz="2600" smtClean="0"/>
              <a:t>          the TAPE</a:t>
            </a:r>
          </a:p>
          <a:p>
            <a:pPr marL="533400" indent="-533400" algn="just" eaLnBrk="1" hangingPunct="1">
              <a:lnSpc>
                <a:spcPct val="90000"/>
              </a:lnSpc>
              <a:buFont typeface="Wingdings" panose="05000000000000000000" pitchFamily="2" charset="2"/>
              <a:buNone/>
            </a:pPr>
            <a:endParaRPr lang="en-US" altLang="en-GB" sz="2600" smtClean="0"/>
          </a:p>
          <a:p>
            <a:pPr marL="533400" indent="-533400" algn="just" eaLnBrk="1" hangingPunct="1">
              <a:lnSpc>
                <a:spcPct val="90000"/>
              </a:lnSpc>
              <a:buFont typeface="Wingdings" panose="05000000000000000000" pitchFamily="2" charset="2"/>
              <a:buNone/>
            </a:pPr>
            <a:endParaRPr lang="en-US" altLang="en-GB" sz="2600" smtClean="0"/>
          </a:p>
          <a:p>
            <a:pPr marL="533400" indent="-533400" algn="just" eaLnBrk="1" hangingPunct="1">
              <a:lnSpc>
                <a:spcPct val="90000"/>
              </a:lnSpc>
              <a:buFont typeface="Wingdings" panose="05000000000000000000" pitchFamily="2" charset="2"/>
              <a:buNone/>
            </a:pPr>
            <a:endParaRPr lang="en-US" altLang="en-GB" sz="2600" smtClean="0"/>
          </a:p>
          <a:p>
            <a:pPr marL="533400" indent="-533400" algn="just" eaLnBrk="1" hangingPunct="1">
              <a:lnSpc>
                <a:spcPct val="90000"/>
              </a:lnSpc>
              <a:buFont typeface="Wingdings" panose="05000000000000000000" pitchFamily="2" charset="2"/>
              <a:buNone/>
            </a:pPr>
            <a:r>
              <a:rPr lang="en-US" altLang="en-GB" sz="2600" smtClean="0"/>
              <a:t>      which may have out-edges labeled with letters from </a:t>
            </a:r>
            <a:r>
              <a:rPr lang="en-US" altLang="en-GB" sz="2600" smtClean="0">
                <a:cs typeface="Arial" panose="020B0604020202020204" pitchFamily="34" charset="0"/>
              </a:rPr>
              <a:t>∑</a:t>
            </a:r>
            <a:r>
              <a:rPr lang="en-US" altLang="en-GB" sz="2600" smtClean="0"/>
              <a:t> and the blank character </a:t>
            </a:r>
            <a:r>
              <a:rPr lang="en-US" altLang="en-GB" sz="2600" smtClean="0">
                <a:cs typeface="Arial" panose="020B0604020202020204" pitchFamily="34" charset="0"/>
              </a:rPr>
              <a:t>∆</a:t>
            </a:r>
            <a:r>
              <a:rPr lang="en-US" altLang="en-GB" sz="2600" smtClean="0"/>
              <a:t>, with </a:t>
            </a:r>
            <a:r>
              <a:rPr lang="en-US" altLang="en-GB" sz="2600" b="1" smtClean="0"/>
              <a:t>no restrictions </a:t>
            </a:r>
            <a:r>
              <a:rPr lang="en-US" altLang="en-GB" sz="2600" smtClean="0"/>
              <a:t>on duplication of labels and </a:t>
            </a:r>
            <a:r>
              <a:rPr lang="en-US" altLang="en-GB" sz="2600" b="1" smtClean="0"/>
              <a:t>no requirement </a:t>
            </a:r>
            <a:r>
              <a:rPr lang="en-US" altLang="en-GB" sz="2600" smtClean="0"/>
              <a:t>that there be a label for each letter of </a:t>
            </a:r>
            <a:r>
              <a:rPr lang="en-US" altLang="en-GB" sz="2600" smtClean="0">
                <a:cs typeface="Arial" panose="020B0604020202020204" pitchFamily="34" charset="0"/>
              </a:rPr>
              <a:t>∑</a:t>
            </a:r>
            <a:r>
              <a:rPr lang="en-US" altLang="en-GB" sz="2600" smtClean="0"/>
              <a:t>, or </a:t>
            </a:r>
            <a:r>
              <a:rPr lang="en-US" altLang="en-GB" sz="2600" smtClean="0">
                <a:cs typeface="Arial" panose="020B0604020202020204" pitchFamily="34" charset="0"/>
              </a:rPr>
              <a:t>∆</a:t>
            </a:r>
            <a:r>
              <a:rPr lang="en-US" altLang="en-GB" sz="2600" smtClean="0"/>
              <a:t>.</a:t>
            </a:r>
          </a:p>
        </p:txBody>
      </p:sp>
      <p:pic>
        <p:nvPicPr>
          <p:cNvPr id="5018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667000"/>
            <a:ext cx="22860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222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71CDEEB-AFBC-456C-8D2F-31C9BA608193}" type="slidenum">
              <a:rPr lang="en-US" altLang="en-US" sz="120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sp>
        <p:nvSpPr>
          <p:cNvPr id="52228" name="Rectangle 2"/>
          <p:cNvSpPr>
            <a:spLocks noGrp="1"/>
          </p:cNvSpPr>
          <p:nvPr>
            <p:ph type="title" idx="4294967295"/>
          </p:nvPr>
        </p:nvSpPr>
        <p:spPr>
          <a:xfrm>
            <a:off x="0" y="274638"/>
            <a:ext cx="8229600" cy="1143000"/>
          </a:xfrm>
        </p:spPr>
        <p:txBody>
          <a:bodyPr/>
          <a:lstStyle/>
          <a:p>
            <a:pPr eaLnBrk="1" hangingPunct="1"/>
            <a:r>
              <a:rPr lang="en-US" altLang="en-GB" sz="3800" smtClean="0"/>
              <a:t>Defining PDA (Contd.)</a:t>
            </a:r>
          </a:p>
        </p:txBody>
      </p:sp>
      <p:sp>
        <p:nvSpPr>
          <p:cNvPr id="52229"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(ii) States that read the top character of the STACK</a:t>
            </a:r>
          </a:p>
          <a:p>
            <a:pPr algn="just" eaLnBrk="1" hangingPunct="1">
              <a:lnSpc>
                <a:spcPct val="90000"/>
              </a:lnSpc>
              <a:buFont typeface="Wingdings" panose="05000000000000000000" pitchFamily="2" charset="2"/>
              <a:buNone/>
            </a:pPr>
            <a:endParaRPr lang="en-US" altLang="en-GB" sz="2200" smtClean="0"/>
          </a:p>
          <a:p>
            <a:pPr algn="just" eaLnBrk="1" hangingPunct="1">
              <a:lnSpc>
                <a:spcPct val="90000"/>
              </a:lnSpc>
              <a:buFont typeface="Wingdings" panose="05000000000000000000" pitchFamily="2" charset="2"/>
              <a:buNone/>
            </a:pPr>
            <a:endParaRPr lang="en-US" altLang="en-GB" sz="2200" smtClean="0"/>
          </a:p>
          <a:p>
            <a:pPr algn="just" eaLnBrk="1" hangingPunct="1">
              <a:lnSpc>
                <a:spcPct val="90000"/>
              </a:lnSpc>
              <a:buFont typeface="Wingdings" panose="05000000000000000000" pitchFamily="2" charset="2"/>
              <a:buNone/>
            </a:pPr>
            <a:r>
              <a:rPr lang="en-US" altLang="en-GB" sz="2200" smtClean="0"/>
              <a:t>   </a:t>
            </a:r>
          </a:p>
          <a:p>
            <a:pPr algn="just" eaLnBrk="1" hangingPunct="1">
              <a:lnSpc>
                <a:spcPct val="90000"/>
              </a:lnSpc>
              <a:buFont typeface="Wingdings" panose="05000000000000000000" pitchFamily="2" charset="2"/>
              <a:buNone/>
            </a:pPr>
            <a:endParaRPr lang="en-US" altLang="en-GB" sz="2200" smtClean="0"/>
          </a:p>
          <a:p>
            <a:pPr algn="just" eaLnBrk="1" hangingPunct="1">
              <a:lnSpc>
                <a:spcPct val="90000"/>
              </a:lnSpc>
              <a:buFont typeface="Wingdings" panose="05000000000000000000" pitchFamily="2" charset="2"/>
              <a:buNone/>
            </a:pPr>
            <a:r>
              <a:rPr lang="en-US" altLang="en-GB" sz="2200" smtClean="0"/>
              <a:t>which may have out-edges labeled with the characters of </a:t>
            </a:r>
            <a:r>
              <a:rPr lang="el-GR" altLang="en-GB" sz="2200" smtClean="0">
                <a:cs typeface="Arial" panose="020B0604020202020204" pitchFamily="34" charset="0"/>
              </a:rPr>
              <a:t>Γ</a:t>
            </a:r>
            <a:r>
              <a:rPr lang="en-US" altLang="en-GB" sz="2200" smtClean="0"/>
              <a:t> and the blank character </a:t>
            </a:r>
            <a:r>
              <a:rPr lang="en-US" altLang="en-GB" sz="2200" smtClean="0">
                <a:cs typeface="Arial" panose="020B0604020202020204" pitchFamily="34" charset="0"/>
              </a:rPr>
              <a:t>∆</a:t>
            </a:r>
            <a:r>
              <a:rPr lang="en-US" altLang="en-GB" sz="2200" smtClean="0"/>
              <a:t>, again with </a:t>
            </a:r>
            <a:r>
              <a:rPr lang="en-US" altLang="en-GB" sz="2200" b="1" smtClean="0"/>
              <a:t>no restrictions</a:t>
            </a:r>
            <a:r>
              <a:rPr lang="en-US" altLang="en-GB" sz="2200" smtClean="0"/>
              <a:t>.</a:t>
            </a:r>
          </a:p>
          <a:p>
            <a:pPr algn="just" eaLnBrk="1" hangingPunct="1">
              <a:lnSpc>
                <a:spcPct val="90000"/>
              </a:lnSpc>
            </a:pPr>
            <a:r>
              <a:rPr lang="en-US" altLang="en-GB" sz="2200" smtClean="0"/>
              <a:t>We require that the states be connected to become a connected directed graph.</a:t>
            </a:r>
          </a:p>
          <a:p>
            <a:pPr algn="just" eaLnBrk="1" hangingPunct="1">
              <a:lnSpc>
                <a:spcPct val="90000"/>
              </a:lnSpc>
            </a:pPr>
            <a:r>
              <a:rPr lang="en-US" altLang="en-GB" sz="2200" smtClean="0"/>
              <a:t>To </a:t>
            </a:r>
            <a:r>
              <a:rPr lang="en-US" altLang="en-GB" sz="2200" b="1" smtClean="0"/>
              <a:t>run </a:t>
            </a:r>
            <a:r>
              <a:rPr lang="en-US" altLang="en-GB" sz="2200" smtClean="0"/>
              <a:t>a string of input letters on a PDA means that we begin from START and follow the unlabeled edges and those labeled edges, </a:t>
            </a:r>
            <a:r>
              <a:rPr lang="en-US" altLang="en-GB" sz="2200" b="1" smtClean="0"/>
              <a:t>making choices of edges when necessary</a:t>
            </a:r>
            <a:r>
              <a:rPr lang="en-US" altLang="en-GB" sz="2200" smtClean="0"/>
              <a:t>, to produce a path through the graph.</a:t>
            </a:r>
          </a:p>
        </p:txBody>
      </p:sp>
      <p:pic>
        <p:nvPicPr>
          <p:cNvPr id="5223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033588"/>
            <a:ext cx="2743200" cy="124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4275"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C8C0301-6451-4C2C-8DD1-E537252EB837}" type="slidenum">
              <a:rPr lang="en-US" altLang="en-US" sz="120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sp>
        <p:nvSpPr>
          <p:cNvPr id="54276" name="Rectangle 2"/>
          <p:cNvSpPr>
            <a:spLocks noGrp="1"/>
          </p:cNvSpPr>
          <p:nvPr>
            <p:ph type="title" idx="4294967295"/>
          </p:nvPr>
        </p:nvSpPr>
        <p:spPr>
          <a:xfrm>
            <a:off x="0" y="274638"/>
            <a:ext cx="8229600" cy="1143000"/>
          </a:xfrm>
        </p:spPr>
        <p:txBody>
          <a:bodyPr/>
          <a:lstStyle/>
          <a:p>
            <a:pPr eaLnBrk="1" hangingPunct="1"/>
            <a:r>
              <a:rPr lang="en-US" altLang="en-GB" sz="3800" smtClean="0"/>
              <a:t>Defining the PDA (Contd.)</a:t>
            </a:r>
          </a:p>
        </p:txBody>
      </p:sp>
      <p:sp>
        <p:nvSpPr>
          <p:cNvPr id="54277"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100" smtClean="0"/>
              <a:t>This path will end either at a halt state or will crash in a branching state when there is no edge corresponding to the letter (character) being read (popped).</a:t>
            </a:r>
          </a:p>
          <a:p>
            <a:pPr algn="just" eaLnBrk="1" hangingPunct="1">
              <a:lnSpc>
                <a:spcPct val="80000"/>
              </a:lnSpc>
            </a:pPr>
            <a:endParaRPr lang="en-US" altLang="en-GB" sz="2100" smtClean="0"/>
          </a:p>
          <a:p>
            <a:pPr algn="just" eaLnBrk="1" hangingPunct="1">
              <a:lnSpc>
                <a:spcPct val="80000"/>
              </a:lnSpc>
            </a:pPr>
            <a:r>
              <a:rPr lang="en-US" altLang="en-GB" sz="2100" smtClean="0"/>
              <a:t>When letters (characters) are read (popped) from the TAPE (STACK), they are used up and vanish.</a:t>
            </a:r>
          </a:p>
          <a:p>
            <a:pPr algn="just" eaLnBrk="1" hangingPunct="1">
              <a:lnSpc>
                <a:spcPct val="80000"/>
              </a:lnSpc>
            </a:pPr>
            <a:endParaRPr lang="en-US" altLang="en-GB" sz="2100" smtClean="0"/>
          </a:p>
          <a:p>
            <a:pPr algn="just" eaLnBrk="1" hangingPunct="1">
              <a:lnSpc>
                <a:spcPct val="80000"/>
              </a:lnSpc>
            </a:pPr>
            <a:r>
              <a:rPr lang="en-US" altLang="en-GB" sz="2100" smtClean="0"/>
              <a:t>An input string with a path that ends in ACCEPT is said to be </a:t>
            </a:r>
            <a:r>
              <a:rPr lang="en-US" altLang="en-GB" sz="2100" b="1" smtClean="0"/>
              <a:t>accepted</a:t>
            </a:r>
            <a:r>
              <a:rPr lang="en-US" altLang="en-GB" sz="2100" smtClean="0"/>
              <a:t>.</a:t>
            </a:r>
          </a:p>
          <a:p>
            <a:pPr algn="just" eaLnBrk="1" hangingPunct="1">
              <a:lnSpc>
                <a:spcPct val="80000"/>
              </a:lnSpc>
            </a:pPr>
            <a:endParaRPr lang="en-US" altLang="en-GB" sz="2100" smtClean="0"/>
          </a:p>
          <a:p>
            <a:pPr algn="just" eaLnBrk="1" hangingPunct="1">
              <a:lnSpc>
                <a:spcPct val="80000"/>
              </a:lnSpc>
            </a:pPr>
            <a:r>
              <a:rPr lang="en-US" altLang="en-GB" sz="2100" smtClean="0"/>
              <a:t>An input string that can follow a set of paths is said to be accepted if at least one of these paths leads to ACCEPT.</a:t>
            </a:r>
          </a:p>
          <a:p>
            <a:pPr algn="just" eaLnBrk="1" hangingPunct="1">
              <a:lnSpc>
                <a:spcPct val="80000"/>
              </a:lnSpc>
            </a:pPr>
            <a:endParaRPr lang="en-US" altLang="en-GB" sz="2100" smtClean="0"/>
          </a:p>
          <a:p>
            <a:pPr algn="just" eaLnBrk="1" hangingPunct="1">
              <a:lnSpc>
                <a:spcPct val="80000"/>
              </a:lnSpc>
            </a:pPr>
            <a:r>
              <a:rPr lang="en-US" altLang="en-GB" sz="2100" smtClean="0"/>
              <a:t>The set of all input strings accepted by a PDA is called the </a:t>
            </a:r>
            <a:r>
              <a:rPr lang="en-US" altLang="en-GB" sz="2100" b="1" smtClean="0"/>
              <a:t>language accepted </a:t>
            </a:r>
            <a:r>
              <a:rPr lang="en-US" altLang="en-GB" sz="2100" smtClean="0"/>
              <a:t>by the PDA, or the </a:t>
            </a:r>
            <a:r>
              <a:rPr lang="en-US" altLang="en-GB" sz="2100" b="1" smtClean="0"/>
              <a:t>language recognized </a:t>
            </a:r>
            <a:r>
              <a:rPr lang="en-US" altLang="en-GB" sz="2100" smtClean="0"/>
              <a:t>by the PDA</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632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3F3D59A-6DDC-496C-B124-BB7CFCB07246}" type="slidenum">
              <a:rPr lang="en-US" altLang="en-US" sz="1200">
                <a:solidFill>
                  <a:srgbClr val="898989"/>
                </a:solidFill>
                <a:latin typeface="Arial" panose="020B0604020202020204" pitchFamily="34" charset="0"/>
              </a:rPr>
              <a:pPr>
                <a:spcBef>
                  <a:spcPct val="0"/>
                </a:spcBef>
                <a:buFontTx/>
                <a:buNone/>
              </a:pPr>
              <a:t>27</a:t>
            </a:fld>
            <a:endParaRPr lang="en-US" altLang="en-US" sz="1200">
              <a:solidFill>
                <a:srgbClr val="898989"/>
              </a:solidFill>
              <a:latin typeface="Arial" panose="020B0604020202020204" pitchFamily="34" charset="0"/>
            </a:endParaRPr>
          </a:p>
        </p:txBody>
      </p:sp>
      <p:sp>
        <p:nvSpPr>
          <p:cNvPr id="56324" name="Rectangle 2"/>
          <p:cNvSpPr>
            <a:spLocks noGrp="1"/>
          </p:cNvSpPr>
          <p:nvPr>
            <p:ph type="title" idx="4294967295"/>
          </p:nvPr>
        </p:nvSpPr>
        <p:spPr>
          <a:xfrm>
            <a:off x="0" y="274638"/>
            <a:ext cx="8229600" cy="1143000"/>
          </a:xfrm>
        </p:spPr>
        <p:txBody>
          <a:bodyPr/>
          <a:lstStyle/>
          <a:p>
            <a:pPr eaLnBrk="1" hangingPunct="1"/>
            <a:r>
              <a:rPr lang="en-US" altLang="en-GB" sz="3800" smtClean="0"/>
              <a:t>Theorem 28</a:t>
            </a:r>
          </a:p>
        </p:txBody>
      </p:sp>
      <p:sp>
        <p:nvSpPr>
          <p:cNvPr id="56325"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b="1" smtClean="0"/>
              <a:t>For every regular language </a:t>
            </a:r>
            <a:r>
              <a:rPr lang="en-US" altLang="en-GB" sz="2600" smtClean="0"/>
              <a:t>L</a:t>
            </a:r>
            <a:r>
              <a:rPr lang="en-US" altLang="en-GB" sz="2600" b="1" smtClean="0"/>
              <a:t>, there is some PDA that accepts it.</a:t>
            </a:r>
          </a:p>
          <a:p>
            <a:pPr algn="just" eaLnBrk="1" hangingPunct="1">
              <a:buFont typeface="Wingdings" panose="05000000000000000000" pitchFamily="2" charset="2"/>
              <a:buNone/>
            </a:pPr>
            <a:r>
              <a:rPr lang="en-US" altLang="en-GB" sz="2600" i="1" smtClean="0"/>
              <a:t>Proof:</a:t>
            </a:r>
          </a:p>
          <a:p>
            <a:pPr algn="just" eaLnBrk="1" hangingPunct="1"/>
            <a:endParaRPr lang="en-US" altLang="en-GB" sz="2600" smtClean="0"/>
          </a:p>
          <a:p>
            <a:pPr algn="just" eaLnBrk="1" hangingPunct="1"/>
            <a:r>
              <a:rPr lang="en-US" altLang="en-GB" sz="2600" smtClean="0"/>
              <a:t>Because L is regular, there is an FA that accepts it.</a:t>
            </a:r>
          </a:p>
          <a:p>
            <a:pPr algn="just" eaLnBrk="1" hangingPunct="1"/>
            <a:endParaRPr lang="en-US" altLang="en-GB" sz="2600" smtClean="0"/>
          </a:p>
          <a:p>
            <a:pPr algn="just" eaLnBrk="1" hangingPunct="1"/>
            <a:r>
              <a:rPr lang="en-US" altLang="en-GB" sz="2600" smtClean="0"/>
              <a:t>We have shown how to convert an FA into an equivalent PDA at the beginning of this lecture.</a:t>
            </a:r>
          </a:p>
          <a:p>
            <a:pPr algn="just" eaLnBrk="1" hangingPunct="1"/>
            <a:endParaRPr lang="en-US" altLang="en-GB" sz="260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837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92ED635-70D5-4E95-B6AB-2C3378788A8D}" type="slidenum">
              <a:rPr lang="en-US" altLang="en-US" sz="1200">
                <a:solidFill>
                  <a:srgbClr val="898989"/>
                </a:solidFill>
                <a:latin typeface="Arial" panose="020B0604020202020204" pitchFamily="34" charset="0"/>
              </a:rPr>
              <a:pPr>
                <a:spcBef>
                  <a:spcPct val="0"/>
                </a:spcBef>
                <a:buFontTx/>
                <a:buNone/>
              </a:pPr>
              <a:t>28</a:t>
            </a:fld>
            <a:endParaRPr lang="en-US" altLang="en-US" sz="1200">
              <a:solidFill>
                <a:srgbClr val="898989"/>
              </a:solidFill>
              <a:latin typeface="Arial" panose="020B0604020202020204" pitchFamily="34" charset="0"/>
            </a:endParaRPr>
          </a:p>
        </p:txBody>
      </p:sp>
      <p:sp>
        <p:nvSpPr>
          <p:cNvPr id="58372" name="Rectangle 2"/>
          <p:cNvSpPr>
            <a:spLocks noGrp="1"/>
          </p:cNvSpPr>
          <p:nvPr>
            <p:ph type="title" idx="4294967295"/>
          </p:nvPr>
        </p:nvSpPr>
        <p:spPr>
          <a:xfrm>
            <a:off x="0" y="274638"/>
            <a:ext cx="8229600" cy="1143000"/>
          </a:xfrm>
        </p:spPr>
        <p:txBody>
          <a:bodyPr/>
          <a:lstStyle/>
          <a:p>
            <a:pPr eaLnBrk="1" hangingPunct="1"/>
            <a:r>
              <a:rPr lang="en-US" altLang="en-GB" sz="3800" smtClean="0"/>
              <a:t>Theorem 29</a:t>
            </a:r>
          </a:p>
        </p:txBody>
      </p:sp>
      <p:sp>
        <p:nvSpPr>
          <p:cNvPr id="58373"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b="1" smtClean="0"/>
              <a:t>   </a:t>
            </a:r>
          </a:p>
          <a:p>
            <a:pPr algn="just" eaLnBrk="1" hangingPunct="1">
              <a:buFont typeface="Wingdings" panose="05000000000000000000" pitchFamily="2" charset="2"/>
              <a:buNone/>
            </a:pPr>
            <a:endParaRPr lang="en-US" altLang="en-GB" sz="2600" b="1" smtClean="0"/>
          </a:p>
          <a:p>
            <a:pPr algn="just" eaLnBrk="1" hangingPunct="1">
              <a:buFont typeface="Wingdings" panose="05000000000000000000" pitchFamily="2" charset="2"/>
              <a:buNone/>
            </a:pPr>
            <a:r>
              <a:rPr lang="en-US" altLang="en-GB" sz="2600" b="1" smtClean="0"/>
              <a:t>   Given any PDA, there is another PDA that accepts exactly the same language with the additional property that whenever a path leads to ACCEPT, the STACK and the TAPE contain only blanks.</a:t>
            </a:r>
            <a:endParaRPr lang="en-US" altLang="en-GB" sz="2600" smtClean="0"/>
          </a:p>
          <a:p>
            <a:pPr algn="just" eaLnBrk="1" hangingPunct="1"/>
            <a:endParaRPr lang="en-US" altLang="en-GB" sz="260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0419"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AE2C1D2-4522-4AB0-825A-955BA5E5C346}" type="slidenum">
              <a:rPr lang="en-US" altLang="en-US" sz="1200">
                <a:solidFill>
                  <a:srgbClr val="898989"/>
                </a:solidFill>
                <a:latin typeface="Arial" panose="020B0604020202020204" pitchFamily="34" charset="0"/>
              </a:rPr>
              <a:pPr>
                <a:spcBef>
                  <a:spcPct val="0"/>
                </a:spcBef>
                <a:buFontTx/>
                <a:buNone/>
              </a:pPr>
              <a:t>29</a:t>
            </a:fld>
            <a:endParaRPr lang="en-US" altLang="en-US" sz="1200">
              <a:solidFill>
                <a:srgbClr val="898989"/>
              </a:solidFill>
              <a:latin typeface="Arial" panose="020B0604020202020204" pitchFamily="34" charset="0"/>
            </a:endParaRPr>
          </a:p>
        </p:txBody>
      </p:sp>
      <p:sp>
        <p:nvSpPr>
          <p:cNvPr id="60420" name="Rectangle 2"/>
          <p:cNvSpPr>
            <a:spLocks noGrp="1"/>
          </p:cNvSpPr>
          <p:nvPr>
            <p:ph type="title" idx="4294967295"/>
          </p:nvPr>
        </p:nvSpPr>
        <p:spPr>
          <a:xfrm>
            <a:off x="0" y="274638"/>
            <a:ext cx="8229600" cy="1143000"/>
          </a:xfrm>
        </p:spPr>
        <p:txBody>
          <a:bodyPr/>
          <a:lstStyle/>
          <a:p>
            <a:pPr eaLnBrk="1" hangingPunct="1"/>
            <a:r>
              <a:rPr lang="en-US" altLang="en-GB" sz="3800" smtClean="0"/>
              <a:t>Proof of Theorem 29</a:t>
            </a:r>
          </a:p>
        </p:txBody>
      </p:sp>
      <p:sp>
        <p:nvSpPr>
          <p:cNvPr id="60421" name="Rectangle 3"/>
          <p:cNvSpPr>
            <a:spLocks noGrp="1"/>
          </p:cNvSpPr>
          <p:nvPr>
            <p:ph type="body" idx="4294967295"/>
          </p:nvPr>
        </p:nvSpPr>
        <p:spPr>
          <a:xfrm>
            <a:off x="0" y="1481138"/>
            <a:ext cx="8229600" cy="4525962"/>
          </a:xfrm>
        </p:spPr>
        <p:txBody>
          <a:bodyPr/>
          <a:lstStyle/>
          <a:p>
            <a:pPr algn="just" eaLnBrk="1" hangingPunct="1"/>
            <a:r>
              <a:rPr lang="en-US" altLang="en-GB" sz="2600" smtClean="0"/>
              <a:t>We present a constructive algorithm that will convert any PDA into a PDA with the property mentioned above.</a:t>
            </a:r>
          </a:p>
          <a:p>
            <a:pPr algn="just" eaLnBrk="1" hangingPunct="1"/>
            <a:r>
              <a:rPr lang="en-US" altLang="en-GB" sz="2600" smtClean="0"/>
              <a:t>Whenever we have the machine part</a:t>
            </a:r>
          </a:p>
          <a:p>
            <a:pPr algn="just" eaLnBrk="1" hangingPunct="1"/>
            <a:endParaRPr lang="en-US" altLang="en-GB" sz="2600" smtClean="0"/>
          </a:p>
        </p:txBody>
      </p:sp>
      <p:pic>
        <p:nvPicPr>
          <p:cNvPr id="6042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352800"/>
            <a:ext cx="1795463"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246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C1FFC5-93A6-421D-A2D0-DC670EC575E8}" type="slidenum">
              <a:rPr lang="en-US" altLang="en-US" sz="1200">
                <a:solidFill>
                  <a:srgbClr val="898989"/>
                </a:solidFill>
                <a:latin typeface="Arial" panose="020B0604020202020204" pitchFamily="34" charset="0"/>
              </a:rPr>
              <a:pPr>
                <a:spcBef>
                  <a:spcPct val="0"/>
                </a:spcBef>
                <a:buFontTx/>
                <a:buNone/>
              </a:pPr>
              <a:t>30</a:t>
            </a:fld>
            <a:endParaRPr lang="en-US" altLang="en-US" sz="1200">
              <a:solidFill>
                <a:srgbClr val="898989"/>
              </a:solidFill>
              <a:latin typeface="Arial" panose="020B0604020202020204" pitchFamily="34" charset="0"/>
            </a:endParaRPr>
          </a:p>
        </p:txBody>
      </p:sp>
      <p:sp>
        <p:nvSpPr>
          <p:cNvPr id="62468" name="Rectangle 2"/>
          <p:cNvSpPr>
            <a:spLocks noGrp="1"/>
          </p:cNvSpPr>
          <p:nvPr>
            <p:ph type="title" idx="4294967295"/>
          </p:nvPr>
        </p:nvSpPr>
        <p:spPr>
          <a:xfrm>
            <a:off x="0" y="274638"/>
            <a:ext cx="8229600" cy="1143000"/>
          </a:xfrm>
        </p:spPr>
        <p:txBody>
          <a:bodyPr/>
          <a:lstStyle/>
          <a:p>
            <a:pPr eaLnBrk="1" hangingPunct="1"/>
            <a:r>
              <a:rPr lang="en-US" altLang="en-GB" sz="3800" smtClean="0"/>
              <a:t>Proof of Theorem 29 (Contd.)</a:t>
            </a:r>
          </a:p>
        </p:txBody>
      </p:sp>
      <p:sp>
        <p:nvSpPr>
          <p:cNvPr id="62469"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we replace it with the following diagram:</a:t>
            </a:r>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endParaRPr lang="en-US" altLang="en-GB" sz="2200" smtClean="0"/>
          </a:p>
          <a:p>
            <a:pPr algn="just" eaLnBrk="1" hangingPunct="1">
              <a:lnSpc>
                <a:spcPct val="90000"/>
              </a:lnSpc>
            </a:pPr>
            <a:r>
              <a:rPr lang="en-US" altLang="en-GB" sz="2200" smtClean="0"/>
              <a:t>The new PDA formed accepts exactly the same language and finishes all successful paths with empty TAPE and empty STACK.</a:t>
            </a:r>
          </a:p>
        </p:txBody>
      </p:sp>
      <p:pic>
        <p:nvPicPr>
          <p:cNvPr id="624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1676400"/>
            <a:ext cx="24288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7668</TotalTime>
  <Words>2249</Words>
  <Application>Microsoft Office PowerPoint</Application>
  <PresentationFormat>On-screen Show (4:3)</PresentationFormat>
  <Paragraphs>289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Wingdings</vt:lpstr>
      <vt:lpstr>Office Theme</vt:lpstr>
      <vt:lpstr>Theory of Automata  Pushdown Automata</vt:lpstr>
      <vt:lpstr>Contents</vt:lpstr>
      <vt:lpstr>A new format for FA</vt:lpstr>
      <vt:lpstr>INPUT TAPE</vt:lpstr>
      <vt:lpstr>Other Symbols</vt:lpstr>
      <vt:lpstr>PowerPoint Presentation</vt:lpstr>
      <vt:lpstr>READ states</vt:lpstr>
      <vt:lpstr>Example</vt:lpstr>
      <vt:lpstr>Adding a Pushdown Stack</vt:lpstr>
      <vt:lpstr>PowerPoint Presentation</vt:lpstr>
      <vt:lpstr>PowerPoint Presentation</vt:lpstr>
      <vt:lpstr>PowerPoint Presentation</vt:lpstr>
      <vt:lpstr>PowerPoint Presentation</vt:lpstr>
      <vt:lpstr>PowerPoint Presentation</vt:lpstr>
      <vt:lpstr>PowerPoint Presentation</vt:lpstr>
      <vt:lpstr>Remarks</vt:lpstr>
      <vt:lpstr>Deterministic VS Non-Deterministic PDA</vt:lpstr>
      <vt:lpstr>PowerPoint Presentation</vt:lpstr>
      <vt:lpstr>Example</vt:lpstr>
      <vt:lpstr>PowerPoint Presentation</vt:lpstr>
      <vt:lpstr>PowerPoint Presentation</vt:lpstr>
      <vt:lpstr>Defining the PDA</vt:lpstr>
      <vt:lpstr>Defining the PDA (contd.)</vt:lpstr>
      <vt:lpstr>PowerPoint Presentation</vt:lpstr>
      <vt:lpstr>Defining PDA (Contd.)</vt:lpstr>
      <vt:lpstr>Defining the PDA (Contd.)</vt:lpstr>
      <vt:lpstr>Theorem 28</vt:lpstr>
      <vt:lpstr>Theorem 29</vt:lpstr>
      <vt:lpstr>Proof of Theorem 29</vt:lpstr>
      <vt:lpstr>Proof of Theorem 29 (Contd.)</vt:lpstr>
    </vt:vector>
  </TitlesOfParts>
  <Company>fast-nu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dc:title>
  <dc:creator>Majid</dc:creator>
  <cp:lastModifiedBy>user1</cp:lastModifiedBy>
  <cp:revision>173</cp:revision>
  <dcterms:created xsi:type="dcterms:W3CDTF">2011-08-06T09:27:24Z</dcterms:created>
  <dcterms:modified xsi:type="dcterms:W3CDTF">2025-07-28T10:26:56Z</dcterms:modified>
</cp:coreProperties>
</file>