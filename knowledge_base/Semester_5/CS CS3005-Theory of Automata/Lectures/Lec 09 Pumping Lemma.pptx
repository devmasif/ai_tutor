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7" r:id="rId1"/>
  </p:sldMasterIdLst>
  <p:notesMasterIdLst>
    <p:notesMasterId r:id="rId27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5742" autoAdjust="0"/>
  </p:normalViewPr>
  <p:slideViewPr>
    <p:cSldViewPr>
      <p:cViewPr varScale="1">
        <p:scale>
          <a:sx n="107" d="100"/>
          <a:sy n="107" d="100"/>
        </p:scale>
        <p:origin x="24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7111CAA-964A-409B-80C4-E75150A8EB05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96F8E9-D4AD-4319-A125-8A78C199344B}" type="slidenum">
              <a:rPr lang="en-US" altLang="en-GB"/>
              <a:pPr/>
              <a:t>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B8DAA9-3419-40F7-8278-F07A841753FA}" type="slidenum">
              <a:rPr lang="en-US" altLang="en-GB"/>
              <a:pPr/>
              <a:t>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3E38A3-D901-4D8A-BCF2-A1B2CA044186}" type="slidenum">
              <a:rPr lang="en-US" altLang="en-GB"/>
              <a:pPr/>
              <a:t>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30D6B3-391F-47DA-B979-47177212884F}" type="slidenum">
              <a:rPr lang="en-US" altLang="en-GB"/>
              <a:pPr/>
              <a:t>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600F42-A4ED-470F-9A0E-DD5E3E5A1B4E}" type="slidenum">
              <a:rPr lang="en-US" altLang="en-GB"/>
              <a:pPr/>
              <a:t>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933D1-1619-4CBF-8608-881AA73DEAA4}" type="slidenum">
              <a:rPr lang="en-US" altLang="en-GB"/>
              <a:pPr/>
              <a:t>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B04351-84CF-4CB7-8785-B3DAAFB59BAC}" type="slidenum">
              <a:rPr lang="en-US" altLang="en-GB"/>
              <a:pPr/>
              <a:t>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D8AF1C-A37E-48AC-AC1B-02687514DEE6}" type="slidenum">
              <a:rPr lang="en-US" altLang="en-GB"/>
              <a:pPr/>
              <a:t>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4AF9B3-4852-40B9-A71F-6866DF495461}" type="slidenum">
              <a:rPr lang="en-US" altLang="en-GB"/>
              <a:pPr/>
              <a:t>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E681EA-421D-467F-8BCD-B1AE235E0B1C}" type="slidenum">
              <a:rPr lang="en-US" altLang="en-GB"/>
              <a:pPr/>
              <a:t>10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49C025-A500-4D78-876B-257A52582275}" type="slidenum">
              <a:rPr lang="en-US" altLang="en-GB"/>
              <a:pPr/>
              <a:t>11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84386E-194C-46B2-BCFC-DE3160E1E262}" type="slidenum">
              <a:rPr lang="en-US" altLang="en-GB"/>
              <a:pPr/>
              <a:t>12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B9FF1B-6E1F-48CE-A8AB-8171BC32B925}" type="slidenum">
              <a:rPr lang="en-US" altLang="en-GB"/>
              <a:pPr/>
              <a:t>13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36CAD4-0A8C-4960-AC9A-D511C8FDDC6E}" type="slidenum">
              <a:rPr lang="en-US" altLang="en-GB"/>
              <a:pPr/>
              <a:t>14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D617D9-5779-440B-8FE8-F6A4BAC21825}" type="slidenum">
              <a:rPr lang="en-US" altLang="en-GB"/>
              <a:pPr/>
              <a:t>15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FBB8B7-969B-4889-A62F-3BB2BED21BCA}" type="slidenum">
              <a:rPr lang="en-US" altLang="en-GB"/>
              <a:pPr/>
              <a:t>16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388051-5124-4081-BAC7-30E531E1AE5D}" type="slidenum">
              <a:rPr lang="en-US" altLang="en-GB"/>
              <a:pPr/>
              <a:t>17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3765E5-6EE8-4E17-B2A7-F8B3760090FB}" type="slidenum">
              <a:rPr lang="en-US" altLang="en-GB"/>
              <a:pPr/>
              <a:t>18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403DC2-640F-4923-9CD4-BC5570B6F345}" type="slidenum">
              <a:rPr lang="en-US" altLang="en-GB"/>
              <a:pPr/>
              <a:t>19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428E69-C40D-4CE8-9B68-DEE0C6E42DC4}" type="slidenum">
              <a:rPr lang="en-US" altLang="en-GB"/>
              <a:pPr/>
              <a:t>20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0D24B5-0C90-4E90-BBF5-B11217770CF6}" type="slidenum">
              <a:rPr lang="en-US" altLang="en-GB"/>
              <a:pPr/>
              <a:t>21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74F94E-ECDD-4055-91ED-7F8C6E394959}" type="slidenum">
              <a:rPr lang="en-US" altLang="en-GB"/>
              <a:pPr/>
              <a:t>22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8406C0-6420-4861-A6FF-5F2F4D1CFD0D}" type="slidenum">
              <a:rPr lang="en-US" altLang="en-GB"/>
              <a:pPr/>
              <a:t>23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7CD270-08E3-44F0-9421-E19A4A81FCC8}" type="slidenum">
              <a:rPr lang="en-US" altLang="en-GB"/>
              <a:pPr/>
              <a:t>24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F7C526-AE6F-427F-9364-0A1D81D51BC0}" type="slidenum">
              <a:rPr lang="en-US" altLang="en-GB"/>
              <a:pPr/>
              <a:t>25</a:t>
            </a:fld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097401-5B9E-4420-A46F-E41C308782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11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A51DBD-95AE-4526-B6AD-DB6940842E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526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05E3A-73DC-475A-98C5-E578758A1B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765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6B306E-294C-4257-AC09-46AD6F5F72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37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4B852-98FD-4263-9824-B40AA8EDB6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007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95963-C4E8-4CD7-BD96-A039A1081B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65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4DAF17-B53F-4CBB-A60D-6FFF96477D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32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23C4E-54B3-4F8F-A591-F17E05C6DB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52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5B5D0-7CED-4713-B750-43CED7A12B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19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7D27D-91C5-45B3-A5C5-E318C3778E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736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ED149B-02A9-4B2C-B397-4E2F952706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183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text styles</a:t>
            </a:r>
          </a:p>
          <a:p>
            <a:pPr lvl="1"/>
            <a:r>
              <a:rPr lang="en-US" altLang="en-GB" smtClean="0"/>
              <a:t>Second level</a:t>
            </a:r>
          </a:p>
          <a:p>
            <a:pPr lvl="2"/>
            <a:r>
              <a:rPr lang="en-US" altLang="en-GB" smtClean="0"/>
              <a:t>Third level</a:t>
            </a:r>
          </a:p>
          <a:p>
            <a:pPr lvl="3"/>
            <a:r>
              <a:rPr lang="en-US" altLang="en-GB" smtClean="0"/>
              <a:t>Fourth level</a:t>
            </a:r>
          </a:p>
          <a:p>
            <a:pPr lvl="4"/>
            <a:r>
              <a:rPr lang="en-US" altLang="en-GB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Sept 19,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651DACF-8DC6-4C99-9C16-FACF9B5A955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Theory of Automata</a:t>
            </a:r>
            <a:br>
              <a:rPr lang="en-US" altLang="en-GB" smtClean="0"/>
            </a:br>
            <a:r>
              <a:rPr lang="en-US" altLang="en-GB" smtClean="0"/>
              <a:t> Pumping Lemma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500"/>
              <a:defRPr/>
            </a:pPr>
            <a:r>
              <a:rPr lang="en-US" sz="240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Week </a:t>
            </a:r>
            <a:r>
              <a:rPr lang="en-US" sz="2400" dirty="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6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123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F98142-E918-4FD9-8193-E93AFCEDD62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Contents</a:t>
            </a:r>
          </a:p>
        </p:txBody>
      </p:sp>
      <p:sp>
        <p:nvSpPr>
          <p:cNvPr id="512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mtClean="0"/>
              <a:t>Definition of non-Regular Languages</a:t>
            </a:r>
          </a:p>
          <a:p>
            <a:pPr eaLnBrk="1" hangingPunct="1"/>
            <a:r>
              <a:rPr lang="en-US" altLang="en-GB" smtClean="0"/>
              <a:t>Theorem 13</a:t>
            </a:r>
          </a:p>
          <a:p>
            <a:pPr lvl="1" eaLnBrk="1" hangingPunct="1"/>
            <a:r>
              <a:rPr lang="en-US" altLang="en-GB" smtClean="0"/>
              <a:t>Proof &amp; Example</a:t>
            </a:r>
          </a:p>
          <a:p>
            <a:pPr eaLnBrk="1" hangingPunct="1"/>
            <a:r>
              <a:rPr lang="en-US" altLang="en-GB" smtClean="0"/>
              <a:t>Theorem 14</a:t>
            </a:r>
          </a:p>
          <a:p>
            <a:pPr lvl="1" eaLnBrk="1" hangingPunct="1"/>
            <a:r>
              <a:rPr lang="en-US" altLang="en-GB" smtClean="0"/>
              <a:t>Proof &amp; Example</a:t>
            </a:r>
          </a:p>
          <a:p>
            <a:pPr eaLnBrk="1" hangingPunct="1"/>
            <a:endParaRPr lang="en-US" altLang="en-GB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171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E98313-32EC-42C9-8868-B52A0CA4F0E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Introduction</a:t>
            </a:r>
          </a:p>
        </p:txBody>
      </p:sp>
      <p:sp>
        <p:nvSpPr>
          <p:cNvPr id="717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By using FAs and regular expressions, we have been able to define many languages.  Although these languages have many different structures, they take only a few basic forms: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GB" sz="1600" b="1" smtClean="0"/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600" b="1" smtClean="0"/>
              <a:t>– </a:t>
            </a:r>
            <a:r>
              <a:rPr lang="en-US" altLang="en-GB" sz="1600" smtClean="0"/>
              <a:t>Languages with required substrings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600" b="1" smtClean="0"/>
              <a:t>– </a:t>
            </a:r>
            <a:r>
              <a:rPr lang="en-US" altLang="en-GB" sz="1600" smtClean="0"/>
              <a:t>Languages that forbid some substrings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600" b="1" smtClean="0"/>
              <a:t>– </a:t>
            </a:r>
            <a:r>
              <a:rPr lang="en-US" altLang="en-GB" sz="1600" smtClean="0"/>
              <a:t>Languages that begin or end with certain substrings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600" b="1" smtClean="0"/>
              <a:t>– </a:t>
            </a:r>
            <a:r>
              <a:rPr lang="en-US" altLang="en-GB" sz="1600" smtClean="0"/>
              <a:t>Languages with certain even (or odd) properties, and so on.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We now turn our attention to some new forms, such as the language PALINDROME, or the language PRIME of all words a</a:t>
            </a:r>
            <a:r>
              <a:rPr lang="en-US" altLang="en-GB" sz="1900" baseline="30000" smtClean="0"/>
              <a:t>p</a:t>
            </a:r>
            <a:r>
              <a:rPr lang="en-US" altLang="en-GB" sz="1900" smtClean="0"/>
              <a:t>, where p is a prime number.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We shall see that neither of these is a regular language. We can describe them in English, but they can not be defined by an FA. We need to build more powerful machines to define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219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04A45B-246A-4391-95E2-BBD82F2EA16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Definition of Non-Regular Languages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/>
              <a:t>Definition: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b="1"/>
              <a:t>A language that cannot be defined by a regular expression is called a non-regular language.</a:t>
            </a:r>
          </a:p>
          <a:p>
            <a:pPr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Notes:</a:t>
            </a:r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/>
              <a:t>– </a:t>
            </a:r>
            <a:r>
              <a:rPr lang="en-US"/>
              <a:t>By Kleene’s theorem, a non-regular language can also </a:t>
            </a:r>
            <a:r>
              <a:rPr lang="en-US" b="1"/>
              <a:t>not </a:t>
            </a:r>
            <a:r>
              <a:rPr lang="en-US"/>
              <a:t>be accepted by any FA or TG.</a:t>
            </a:r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/>
          </a:p>
          <a:p>
            <a:pPr lvl="2" algn="just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/>
              <a:t>– </a:t>
            </a:r>
            <a:r>
              <a:rPr lang="en-US"/>
              <a:t>All languages are either regular or non-regular; none are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1267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2A02CB-6B84-419A-8026-C074202692A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Case Study</a:t>
            </a:r>
          </a:p>
        </p:txBody>
      </p:sp>
      <p:sp>
        <p:nvSpPr>
          <p:cNvPr id="1126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Consider the language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/>
              <a:t>	L = {</a:t>
            </a:r>
            <a:r>
              <a:rPr lang="el-GR" altLang="en-GB" sz="2600" smtClean="0">
                <a:cs typeface="Arial" panose="020B0604020202020204" pitchFamily="34" charset="0"/>
              </a:rPr>
              <a:t>Λ</a:t>
            </a:r>
            <a:r>
              <a:rPr lang="en-US" altLang="en-GB" sz="2600" smtClean="0"/>
              <a:t>; ab; aabb; aaabbb; aaaabbbb; aaaaabbbbb; …}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The language L can also be written as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/>
              <a:t>    L = {a</a:t>
            </a:r>
            <a:r>
              <a:rPr lang="en-US" altLang="en-GB" sz="2600" baseline="30000" smtClean="0"/>
              <a:t>n</a:t>
            </a:r>
            <a:r>
              <a:rPr lang="en-US" altLang="en-GB" sz="2600" smtClean="0"/>
              <a:t>b</a:t>
            </a:r>
            <a:r>
              <a:rPr lang="en-US" altLang="en-GB" sz="2600" baseline="30000" smtClean="0"/>
              <a:t>n</a:t>
            </a:r>
            <a:r>
              <a:rPr lang="en-US" altLang="en-GB" sz="2600" smtClean="0"/>
              <a:t> for n = 0; 1; 2; 3; …}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/>
              <a:t>	or for short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/>
              <a:t>		L = {a</a:t>
            </a:r>
            <a:r>
              <a:rPr lang="en-US" altLang="en-GB" sz="2600" baseline="30000" smtClean="0"/>
              <a:t>n</a:t>
            </a:r>
            <a:r>
              <a:rPr lang="en-US" altLang="en-GB" sz="2600" smtClean="0"/>
              <a:t>b</a:t>
            </a:r>
            <a:r>
              <a:rPr lang="en-US" altLang="en-GB" sz="2600" baseline="30000" smtClean="0"/>
              <a:t>n</a:t>
            </a:r>
            <a:r>
              <a:rPr lang="en-US" altLang="en-GB" sz="2600" smtClean="0"/>
              <a:t>}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/>
              <a:t>Note that although L is a subset of many regular languages, such as a*b*; the language defined by ab also includes such strings as aab and bb that are not in 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3315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7BD861-F391-4B41-99D2-5E46DAEA5F5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1331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We shall show that the language L = {a</a:t>
            </a:r>
            <a:r>
              <a:rPr lang="en-US" altLang="en-GB" sz="1900" baseline="30000" smtClean="0"/>
              <a:t>n</a:t>
            </a:r>
            <a:r>
              <a:rPr lang="en-US" altLang="en-GB" sz="1900" smtClean="0"/>
              <a:t>b</a:t>
            </a:r>
            <a:r>
              <a:rPr lang="en-US" altLang="en-GB" sz="1900" baseline="30000" smtClean="0"/>
              <a:t>n</a:t>
            </a:r>
            <a:r>
              <a:rPr lang="en-US" altLang="en-GB" sz="1900" smtClean="0"/>
              <a:t>} is non-regular.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Suppose on the contrary that L were regular. Then there must exist some FA that accepts L.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Just for the sake of argument, let us assume that this FA has 95 states.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We know that this FA must accept the word a</a:t>
            </a:r>
            <a:r>
              <a:rPr lang="en-US" altLang="en-GB" sz="1900" baseline="30000" smtClean="0"/>
              <a:t>96</a:t>
            </a:r>
            <a:r>
              <a:rPr lang="en-US" altLang="en-GB" sz="1900" smtClean="0"/>
              <a:t>b</a:t>
            </a:r>
            <a:r>
              <a:rPr lang="en-US" altLang="en-GB" sz="1900" baseline="30000" smtClean="0"/>
              <a:t>96</a:t>
            </a:r>
            <a:r>
              <a:rPr lang="en-US" altLang="en-GB" sz="1900" smtClean="0"/>
              <a:t>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The first 96 letter a’s of this input string trace a path through this machine.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The path cannot visit a new state when each input letter is read, because there are only 95 states. Therefore, at some point the path returns to a state that it has already visited.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In other words, the path must contain a </a:t>
            </a:r>
            <a:r>
              <a:rPr lang="en-US" altLang="en-GB" sz="1900" b="1" smtClean="0"/>
              <a:t>circuit </a:t>
            </a:r>
            <a:r>
              <a:rPr lang="en-US" altLang="en-GB" sz="1900" smtClean="0"/>
              <a:t>in it. (A circuit is a loop that can be made of several edges).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5363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508A5E-ED74-44A9-80DA-855B90A0F2B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Grp="1"/>
          </p:cNvSpPr>
          <p:nvPr>
            <p:ph type="body" idx="4294967295"/>
          </p:nvPr>
        </p:nvSpPr>
        <p:spPr>
          <a:xfrm>
            <a:off x="0" y="1676400"/>
            <a:ext cx="8229600" cy="44196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2100" smtClean="0"/>
              <a:t>So, the path first wanders up to the circuit and then starts to loop around the circuit (maybe many times) until a b is read from the input.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100" smtClean="0"/>
              <a:t>At this point, the path can take a different turn following the b-edges, and eventually end up at a final state where the word a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b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 is accepted.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100" smtClean="0"/>
              <a:t>Just for the sake of argument again, let us say that the circuit that the a-edge path loops around has 7 states in it.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100" smtClean="0"/>
              <a:t>Then what would happen to the input string a</a:t>
            </a:r>
            <a:r>
              <a:rPr lang="en-US" altLang="en-GB" sz="2100" baseline="30000" smtClean="0"/>
              <a:t>96+7</a:t>
            </a:r>
            <a:r>
              <a:rPr lang="en-US" altLang="en-GB" sz="2100" smtClean="0"/>
              <a:t>b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?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100" smtClean="0"/>
              <a:t>Just as in the case of the input string a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b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, the input string a</a:t>
            </a:r>
            <a:r>
              <a:rPr lang="en-US" altLang="en-GB" sz="2100" baseline="30000" smtClean="0"/>
              <a:t>96+7</a:t>
            </a:r>
            <a:r>
              <a:rPr lang="en-US" altLang="en-GB" sz="2100" smtClean="0"/>
              <a:t>b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 would produce a path through the machine and loop around the circuit exactly in the same way, but </a:t>
            </a:r>
            <a:r>
              <a:rPr lang="en-US" altLang="en-GB" sz="2100" b="1" smtClean="0"/>
              <a:t>one more time </a:t>
            </a:r>
            <a:r>
              <a:rPr lang="en-US" altLang="en-GB" sz="2100" smtClean="0"/>
              <a:t>than the path produced by the input string a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b</a:t>
            </a:r>
            <a:r>
              <a:rPr lang="en-US" altLang="en-GB" sz="2100" baseline="30000" smtClean="0"/>
              <a:t>96</a:t>
            </a:r>
            <a:r>
              <a:rPr lang="en-US" altLang="en-GB" sz="2100" smtClean="0"/>
              <a:t>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100" smtClean="0"/>
              <a:t>Both paths, at exactly the same state in the circuit, begin to branch off on the b-road.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7411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11D481-008C-4689-812B-622861FAFC5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Once on the b-road, they both go the same 96 b-steps to arrive at the same final state.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But this would mean that the input string a</a:t>
            </a:r>
            <a:r>
              <a:rPr lang="en-US" altLang="en-GB" sz="2200" baseline="30000" smtClean="0"/>
              <a:t>103</a:t>
            </a:r>
            <a:r>
              <a:rPr lang="en-US" altLang="en-GB" sz="2200" smtClean="0"/>
              <a:t>b</a:t>
            </a:r>
            <a:r>
              <a:rPr lang="en-US" altLang="en-GB" sz="2200" baseline="30000" smtClean="0"/>
              <a:t>96</a:t>
            </a:r>
            <a:r>
              <a:rPr lang="en-US" altLang="en-GB" sz="2200" smtClean="0"/>
              <a:t> is also accepted by this machine.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This is a </a:t>
            </a:r>
            <a:r>
              <a:rPr lang="en-US" altLang="en-GB" sz="2200" b="1" smtClean="0"/>
              <a:t>contradiction </a:t>
            </a:r>
            <a:r>
              <a:rPr lang="en-US" altLang="en-GB" sz="2200" smtClean="0"/>
              <a:t>since we assume that this FA accepts exactly the words in L = {a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b</a:t>
            </a:r>
            <a:r>
              <a:rPr lang="en-US" altLang="en-GB" sz="2200" baseline="30000" smtClean="0"/>
              <a:t>n}</a:t>
            </a:r>
            <a:r>
              <a:rPr lang="en-US" altLang="en-GB" sz="22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This contradiction means that the FA that accepts exactly the words in L does not exist. In other words, L is non-regular.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19459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EAABCE-C1F3-4A5C-848C-0B18206C581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type="body" idx="4294967295"/>
          </p:nvPr>
        </p:nvSpPr>
        <p:spPr>
          <a:xfrm>
            <a:off x="0" y="1371600"/>
            <a:ext cx="8229600" cy="5334000"/>
          </a:xfrm>
        </p:spPr>
        <p:txBody>
          <a:bodyPr/>
          <a:lstStyle/>
          <a:p>
            <a:pPr algn="just" eaLnBrk="1" hangingPunct="1"/>
            <a:r>
              <a:rPr lang="en-US" altLang="en-GB" sz="2000" smtClean="0"/>
              <a:t>In summary, we can always choose a word in L that is large enough so that its path through the FA has to contain a circuit.</a:t>
            </a:r>
          </a:p>
          <a:p>
            <a:pPr lvl="1" algn="just" eaLnBrk="1" hangingPunct="1"/>
            <a:r>
              <a:rPr lang="en-US" altLang="en-GB" sz="1800" smtClean="0"/>
              <a:t>Once we find that some path with a circuit can reach a final state, we ask ourselves what happens to a path that is just like the first one, but that loops around the circuit one extra time and then proceeds identically through the machine.</a:t>
            </a:r>
          </a:p>
          <a:p>
            <a:pPr lvl="1" algn="just" eaLnBrk="1" hangingPunct="1"/>
            <a:r>
              <a:rPr lang="en-US" altLang="en-GB" sz="1800" smtClean="0"/>
              <a:t>The new path also leads to the same final state, but it is generated by a different input string which is </a:t>
            </a:r>
            <a:r>
              <a:rPr lang="en-US" altLang="en-GB" sz="1800" b="1" smtClean="0"/>
              <a:t>not </a:t>
            </a:r>
            <a:r>
              <a:rPr lang="en-US" altLang="en-GB" sz="1800" smtClean="0"/>
              <a:t>in the language L.</a:t>
            </a:r>
          </a:p>
          <a:p>
            <a:pPr lvl="1" algn="just" eaLnBrk="1" hangingPunct="1"/>
            <a:r>
              <a:rPr lang="en-US" altLang="en-GB" sz="1800" smtClean="0"/>
              <a:t>We then can conclude that there is no FA that can accepts all the words in L and only the words in L. Therefore, L is non-regular.</a:t>
            </a:r>
          </a:p>
          <a:p>
            <a:pPr algn="just" eaLnBrk="1" hangingPunct="1"/>
            <a:r>
              <a:rPr lang="en-US" altLang="en-GB" sz="2000" smtClean="0"/>
              <a:t>This idea is called the </a:t>
            </a:r>
            <a:r>
              <a:rPr lang="en-US" altLang="en-GB" sz="2000" b="1" smtClean="0"/>
              <a:t>pumping lemma </a:t>
            </a:r>
            <a:r>
              <a:rPr lang="en-US" altLang="en-GB" sz="2000" smtClean="0"/>
              <a:t>discovered by Bar-Hillel, Perles, and Shamir in 1961. It is called “pumping” because we pump more letters into the middle of the words. It is called “lemma” because it is used as a tool to prove other results (i.e., certain specific languages are non-regular).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18437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1509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4A243B-D361-471E-BA1E-8FD64DA8395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15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08125"/>
            <a:ext cx="6477000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3555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A0324E-F4F0-4DD8-B1B3-0CA73CD6F83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Theorem 13</a:t>
            </a:r>
          </a:p>
        </p:txBody>
      </p:sp>
      <p:sp>
        <p:nvSpPr>
          <p:cNvPr id="2355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b="1" smtClean="0"/>
              <a:t>Let </a:t>
            </a:r>
            <a:r>
              <a:rPr lang="en-US" altLang="en-GB" i="1" smtClean="0"/>
              <a:t>L</a:t>
            </a:r>
            <a:r>
              <a:rPr lang="en-US" altLang="en-GB" smtClean="0"/>
              <a:t> </a:t>
            </a:r>
            <a:r>
              <a:rPr lang="en-US" altLang="en-GB" b="1" smtClean="0"/>
              <a:t>be any regular language that has infinitely many words. Then there exist some three strings </a:t>
            </a:r>
            <a:r>
              <a:rPr lang="en-US" altLang="en-GB" i="1" smtClean="0"/>
              <a:t>x</a:t>
            </a:r>
            <a:r>
              <a:rPr lang="en-US" altLang="en-GB" b="1" smtClean="0"/>
              <a:t>, </a:t>
            </a:r>
            <a:r>
              <a:rPr lang="en-US" altLang="en-GB" i="1" smtClean="0"/>
              <a:t>y</a:t>
            </a:r>
            <a:r>
              <a:rPr lang="en-US" altLang="en-GB" b="1" smtClean="0"/>
              <a:t>, and </a:t>
            </a:r>
            <a:r>
              <a:rPr lang="en-US" altLang="en-GB" i="1" smtClean="0"/>
              <a:t>z</a:t>
            </a:r>
            <a:r>
              <a:rPr lang="en-US" altLang="en-GB" smtClean="0"/>
              <a:t> </a:t>
            </a:r>
            <a:r>
              <a:rPr lang="en-US" altLang="en-GB" b="1" smtClean="0"/>
              <a:t>(where </a:t>
            </a:r>
            <a:r>
              <a:rPr lang="en-US" altLang="en-GB" i="1" smtClean="0"/>
              <a:t>y</a:t>
            </a:r>
            <a:r>
              <a:rPr lang="en-US" altLang="en-GB" smtClean="0"/>
              <a:t> </a:t>
            </a:r>
            <a:r>
              <a:rPr lang="en-US" altLang="en-GB" b="1" smtClean="0"/>
              <a:t>is not the null string) such that all the strings of the form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mtClean="0"/>
              <a:t>			</a:t>
            </a:r>
            <a:r>
              <a:rPr lang="en-US" altLang="en-GB" i="1" smtClean="0"/>
              <a:t>xy</a:t>
            </a:r>
            <a:r>
              <a:rPr lang="en-US" altLang="en-GB" i="1" baseline="30000" smtClean="0"/>
              <a:t>n</a:t>
            </a:r>
            <a:r>
              <a:rPr lang="en-US" altLang="en-GB" i="1" smtClean="0"/>
              <a:t>z</a:t>
            </a:r>
            <a:r>
              <a:rPr lang="en-US" altLang="en-GB" smtClean="0"/>
              <a:t> </a:t>
            </a:r>
            <a:r>
              <a:rPr lang="en-US" altLang="en-GB" b="1" smtClean="0"/>
              <a:t>for </a:t>
            </a:r>
            <a:r>
              <a:rPr lang="en-US" altLang="en-GB" smtClean="0"/>
              <a:t>n = 1, 2, 3, …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b="1" smtClean="0"/>
              <a:t>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b="1" smtClean="0"/>
              <a:t>   are words in </a:t>
            </a:r>
            <a:r>
              <a:rPr lang="en-US" altLang="en-GB" i="1" smtClean="0"/>
              <a:t>L</a:t>
            </a:r>
            <a:r>
              <a:rPr lang="en-US" altLang="en-GB" b="1" smtClean="0"/>
              <a:t>.</a:t>
            </a:r>
            <a:endParaRPr lang="en-US" altLang="en-GB" smtClean="0"/>
          </a:p>
          <a:p>
            <a:pPr algn="just" eaLnBrk="1" hangingPunct="1"/>
            <a:endParaRPr lang="en-US" altLang="en-GB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5603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4DC49A-DE94-441F-B64A-62CF542C915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of theorem 13</a:t>
            </a:r>
          </a:p>
        </p:txBody>
      </p:sp>
      <p:sp>
        <p:nvSpPr>
          <p:cNvPr id="2560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Since L is regular, there is an FA that accepts exactly the words in L.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Let </a:t>
            </a:r>
            <a:r>
              <a:rPr lang="en-US" altLang="en-GB" sz="2200" i="1" smtClean="0"/>
              <a:t>w</a:t>
            </a:r>
            <a:r>
              <a:rPr lang="en-US" altLang="en-GB" sz="2200" smtClean="0"/>
              <a:t> be some word in L that has more letters than there are states in FA.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When </a:t>
            </a:r>
            <a:r>
              <a:rPr lang="en-US" altLang="en-GB" sz="2200" i="1" smtClean="0"/>
              <a:t>w</a:t>
            </a:r>
            <a:r>
              <a:rPr lang="en-US" altLang="en-GB" sz="2200" smtClean="0"/>
              <a:t> generates a path through the machine, the path cannot visit a new state for each letter read, because there are more letters than states. Therefore, the path must at some point revisit a state that it has already visited. In other words, the path contains a circuit in it.</a:t>
            </a:r>
          </a:p>
          <a:p>
            <a:pPr algn="just" eaLnBrk="1" hangingPunct="1"/>
            <a:endParaRPr lang="en-US" altLang="en-GB" sz="220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7651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0512F6-6896-453B-89EB-49DB4435779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of theorem 13 contd.</a:t>
            </a:r>
          </a:p>
        </p:txBody>
      </p:sp>
      <p:sp>
        <p:nvSpPr>
          <p:cNvPr id="2765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smtClean="0"/>
              <a:t>Let’s break the word </a:t>
            </a:r>
            <a:r>
              <a:rPr lang="en-US" altLang="en-GB" sz="1900" i="1" smtClean="0"/>
              <a:t>w</a:t>
            </a:r>
            <a:r>
              <a:rPr lang="en-US" altLang="en-GB" sz="1900" smtClean="0"/>
              <a:t> up into 3 parts:</a:t>
            </a:r>
          </a:p>
          <a:p>
            <a:pPr marL="762000" lvl="1" indent="-30480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1. Part 1: Starting at the beginning, let </a:t>
            </a:r>
            <a:r>
              <a:rPr lang="en-US" altLang="en-GB" sz="1800" i="1" smtClean="0"/>
              <a:t>x</a:t>
            </a:r>
            <a:r>
              <a:rPr lang="en-US" altLang="en-GB" sz="1800" smtClean="0"/>
              <a:t> denote all the letters of </a:t>
            </a:r>
            <a:r>
              <a:rPr lang="en-US" altLang="en-GB" sz="1800" i="1" smtClean="0"/>
              <a:t>w</a:t>
            </a:r>
            <a:r>
              <a:rPr lang="en-US" altLang="en-GB" sz="1800" smtClean="0"/>
              <a:t> that lead up to the </a:t>
            </a:r>
            <a:r>
              <a:rPr lang="en-US" altLang="en-GB" sz="1800" b="1" smtClean="0"/>
              <a:t>first </a:t>
            </a:r>
            <a:r>
              <a:rPr lang="en-US" altLang="en-GB" sz="1800" smtClean="0"/>
              <a:t>state that is revisited. Note that </a:t>
            </a:r>
            <a:r>
              <a:rPr lang="en-US" altLang="en-GB" sz="1800" i="1" smtClean="0"/>
              <a:t>x</a:t>
            </a:r>
            <a:r>
              <a:rPr lang="en-US" altLang="en-GB" sz="1800" smtClean="0"/>
              <a:t> may be the null string if the path revisits the start state as its first revisit.</a:t>
            </a:r>
          </a:p>
          <a:p>
            <a:pPr marL="762000" lvl="1" indent="-30480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GB" sz="1800" smtClean="0"/>
          </a:p>
          <a:p>
            <a:pPr marL="762000" lvl="1" indent="-30480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2. Part 2: Starting at the letter after the substring </a:t>
            </a:r>
            <a:r>
              <a:rPr lang="en-US" altLang="en-GB" sz="1800" i="1" smtClean="0"/>
              <a:t>x</a:t>
            </a:r>
            <a:r>
              <a:rPr lang="en-US" altLang="en-GB" sz="1800" smtClean="0"/>
              <a:t>, let </a:t>
            </a:r>
            <a:r>
              <a:rPr lang="en-US" altLang="en-GB" sz="1800" i="1" smtClean="0"/>
              <a:t>y</a:t>
            </a:r>
            <a:r>
              <a:rPr lang="en-US" altLang="en-GB" sz="1800" smtClean="0"/>
              <a:t> denote the substring of w that travels around the circuit coming back to the same state the circuit began with. Because there must be a circuit, y cannot be the null string, and y contains the letters of w for exactly one loop around this circuit.</a:t>
            </a:r>
          </a:p>
          <a:p>
            <a:pPr marL="762000" lvl="1" indent="-30480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GB" sz="1800" smtClean="0"/>
          </a:p>
          <a:p>
            <a:pPr marL="762000" lvl="1" indent="-30480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3. Part 3: Let </a:t>
            </a:r>
            <a:r>
              <a:rPr lang="en-US" altLang="en-GB" sz="1800" i="1" smtClean="0"/>
              <a:t>z</a:t>
            </a:r>
            <a:r>
              <a:rPr lang="en-US" altLang="en-GB" sz="1800" smtClean="0"/>
              <a:t> be the rest of </a:t>
            </a:r>
            <a:r>
              <a:rPr lang="en-US" altLang="en-GB" sz="1800" i="1" smtClean="0"/>
              <a:t>w</a:t>
            </a:r>
            <a:r>
              <a:rPr lang="en-US" altLang="en-GB" sz="1800" smtClean="0"/>
              <a:t>, starting at the letter after </a:t>
            </a:r>
            <a:r>
              <a:rPr lang="en-US" altLang="en-GB" sz="1800" i="1" smtClean="0"/>
              <a:t>y</a:t>
            </a:r>
            <a:r>
              <a:rPr lang="en-US" altLang="en-GB" sz="1800" smtClean="0"/>
              <a:t> and going to the end of the string </a:t>
            </a:r>
            <a:r>
              <a:rPr lang="en-US" altLang="en-GB" sz="1800" i="1" smtClean="0"/>
              <a:t>w</a:t>
            </a:r>
            <a:r>
              <a:rPr lang="en-US" altLang="en-GB" sz="1800" smtClean="0"/>
              <a:t>. Note that </a:t>
            </a:r>
            <a:r>
              <a:rPr lang="en-US" altLang="en-GB" sz="1800" i="1" smtClean="0"/>
              <a:t>z</a:t>
            </a:r>
            <a:r>
              <a:rPr lang="en-US" altLang="en-GB" sz="1800" smtClean="0"/>
              <a:t> could be null, or the path for </a:t>
            </a:r>
            <a:r>
              <a:rPr lang="en-US" altLang="en-GB" sz="1800" i="1" smtClean="0"/>
              <a:t>z</a:t>
            </a:r>
            <a:r>
              <a:rPr lang="en-US" altLang="en-GB" sz="1800" smtClean="0"/>
              <a:t> could also loop around the </a:t>
            </a:r>
            <a:r>
              <a:rPr lang="en-US" altLang="en-GB" sz="1800" i="1" smtClean="0"/>
              <a:t>y</a:t>
            </a:r>
            <a:r>
              <a:rPr lang="en-US" altLang="en-GB" sz="1800" smtClean="0"/>
              <a:t>-circuit or any other. That means that what </a:t>
            </a:r>
            <a:r>
              <a:rPr lang="en-US" altLang="en-GB" sz="1800" i="1" smtClean="0"/>
              <a:t>z</a:t>
            </a:r>
            <a:r>
              <a:rPr lang="en-US" altLang="en-GB" sz="1800" smtClean="0"/>
              <a:t> does is arbitrary.</a:t>
            </a:r>
          </a:p>
          <a:p>
            <a:pPr marL="762000" lvl="1" indent="-30480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GB" sz="18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Clearly, from the definitions of these substrings, we have </a:t>
            </a:r>
            <a:r>
              <a:rPr lang="en-US" altLang="en-GB" sz="1900" i="1" smtClean="0"/>
              <a:t>w = xyz</a:t>
            </a:r>
            <a:r>
              <a:rPr lang="en-US" altLang="en-GB" sz="1900" smtClean="0"/>
              <a:t>. Recall that </a:t>
            </a:r>
            <a:r>
              <a:rPr lang="en-US" altLang="en-GB" sz="1900" i="1" smtClean="0"/>
              <a:t>w</a:t>
            </a:r>
            <a:r>
              <a:rPr lang="en-US" altLang="en-GB" sz="1900" smtClean="0"/>
              <a:t> is accepted by the FA.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29699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587372-C15A-497B-A4D0-B9E685AC064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of Theorem 13 contd.</a:t>
            </a:r>
          </a:p>
        </p:txBody>
      </p:sp>
      <p:sp>
        <p:nvSpPr>
          <p:cNvPr id="2970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What is the path for the input string </a:t>
            </a:r>
            <a:r>
              <a:rPr lang="en-US" altLang="en-GB" sz="1900" i="1" smtClean="0"/>
              <a:t>xyyz</a:t>
            </a:r>
            <a:r>
              <a:rPr lang="en-US" altLang="en-GB" sz="1900" smtClean="0"/>
              <a:t>?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This path follows the path for </a:t>
            </a:r>
            <a:r>
              <a:rPr lang="en-US" altLang="en-GB" sz="1900" i="1" smtClean="0"/>
              <a:t>w</a:t>
            </a:r>
            <a:r>
              <a:rPr lang="en-US" altLang="en-GB" sz="1900" smtClean="0"/>
              <a:t> in the first part </a:t>
            </a:r>
            <a:r>
              <a:rPr lang="en-US" altLang="en-GB" sz="1900" i="1" smtClean="0"/>
              <a:t>x</a:t>
            </a:r>
            <a:r>
              <a:rPr lang="en-US" altLang="en-GB" sz="1900" smtClean="0"/>
              <a:t> and leads up to the beginning of the place where w looped around a circuit.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Then like </a:t>
            </a:r>
            <a:r>
              <a:rPr lang="en-US" altLang="en-GB" sz="1900" i="1" smtClean="0"/>
              <a:t>w</a:t>
            </a:r>
            <a:r>
              <a:rPr lang="en-US" altLang="en-GB" sz="1900" smtClean="0"/>
              <a:t>, it inputs the substring </a:t>
            </a:r>
            <a:r>
              <a:rPr lang="en-US" altLang="en-GB" sz="1900" i="1" smtClean="0"/>
              <a:t>y</a:t>
            </a:r>
            <a:r>
              <a:rPr lang="en-US" altLang="en-GB" sz="1900" smtClean="0"/>
              <a:t>, which causes the machine to loop back to this same state again.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Then, again like </a:t>
            </a:r>
            <a:r>
              <a:rPr lang="en-US" altLang="en-GB" sz="1900" i="1" smtClean="0"/>
              <a:t>w</a:t>
            </a:r>
            <a:r>
              <a:rPr lang="en-US" altLang="en-GB" sz="1900" smtClean="0"/>
              <a:t>, it inputs the substring </a:t>
            </a:r>
            <a:r>
              <a:rPr lang="en-US" altLang="en-GB" sz="1900" i="1" smtClean="0"/>
              <a:t>y</a:t>
            </a:r>
            <a:r>
              <a:rPr lang="en-US" altLang="en-GB" sz="1900" smtClean="0"/>
              <a:t>, which causes the machine to loop back to this same state another time.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Finally, just like </a:t>
            </a:r>
            <a:r>
              <a:rPr lang="en-US" altLang="en-GB" sz="1900" i="1" smtClean="0"/>
              <a:t>w</a:t>
            </a:r>
            <a:r>
              <a:rPr lang="en-US" altLang="en-GB" sz="1900" smtClean="0"/>
              <a:t>, it proceeds along the path dictated by the substring </a:t>
            </a:r>
            <a:r>
              <a:rPr lang="en-US" altLang="en-GB" sz="1900" i="1" smtClean="0"/>
              <a:t>z</a:t>
            </a:r>
            <a:r>
              <a:rPr lang="en-US" altLang="en-GB" sz="1900" smtClean="0"/>
              <a:t> and ends at the same final state that </a:t>
            </a:r>
            <a:r>
              <a:rPr lang="en-US" altLang="en-GB" sz="1900" i="1" smtClean="0"/>
              <a:t>w</a:t>
            </a:r>
            <a:r>
              <a:rPr lang="en-US" altLang="en-GB" sz="1900" smtClean="0"/>
              <a:t> did.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Hence, the string </a:t>
            </a:r>
            <a:r>
              <a:rPr lang="en-US" altLang="en-GB" sz="1900" i="1" smtClean="0"/>
              <a:t>xyyz</a:t>
            </a:r>
            <a:r>
              <a:rPr lang="en-US" altLang="en-GB" sz="1900" smtClean="0"/>
              <a:t> is accepted by this machine and therefore must be in the language 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1747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9F8AF1-577A-405D-B5D8-78D8EB8A4D9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of Theorem 13 contd.</a:t>
            </a:r>
          </a:p>
        </p:txBody>
      </p:sp>
      <p:sp>
        <p:nvSpPr>
          <p:cNvPr id="3174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mtClean="0"/>
              <a:t>Similarly, the strings xyyyz, xyyyyz, ... must also be in L.</a:t>
            </a:r>
          </a:p>
          <a:p>
            <a:pPr algn="just" eaLnBrk="1" hangingPunct="1"/>
            <a:endParaRPr lang="en-US" altLang="en-GB" smtClean="0"/>
          </a:p>
          <a:p>
            <a:pPr algn="just" eaLnBrk="1" hangingPunct="1"/>
            <a:r>
              <a:rPr lang="en-US" altLang="en-GB" smtClean="0"/>
              <a:t>In other words, L must contain all strings of the form: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mtClean="0"/>
              <a:t>		xy</a:t>
            </a:r>
            <a:r>
              <a:rPr lang="en-US" altLang="en-GB" baseline="30000" smtClean="0"/>
              <a:t>n</a:t>
            </a:r>
            <a:r>
              <a:rPr lang="en-US" altLang="en-GB" smtClean="0"/>
              <a:t>z for n = 1; 2; 3; 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3795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9FEFB5-C644-497A-97FC-A43FC7A8B72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600"/>
              <a:t> Consider the following FA that accepts an infinite language and has only six states: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60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60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60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60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60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60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60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600"/>
              <a:t>Consider the word </a:t>
            </a:r>
            <a:r>
              <a:rPr lang="en-US" sz="2600" i="1"/>
              <a:t>w = bbbababa</a:t>
            </a:r>
          </a:p>
        </p:txBody>
      </p:sp>
      <p:pic>
        <p:nvPicPr>
          <p:cNvPr id="3379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438400"/>
            <a:ext cx="5181600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5843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485814-03A5-429C-882C-41D3333C961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 contd.</a:t>
            </a:r>
          </a:p>
        </p:txBody>
      </p:sp>
      <p:sp>
        <p:nvSpPr>
          <p:cNvPr id="3584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000" smtClean="0"/>
              <a:t>The </a:t>
            </a:r>
            <a:r>
              <a:rPr lang="en-US" altLang="en-GB" sz="2000" i="1" smtClean="0"/>
              <a:t>x</a:t>
            </a:r>
            <a:r>
              <a:rPr lang="en-US" altLang="en-GB" sz="2000" smtClean="0"/>
              <a:t>-part goes from the - state up to the first circuit: substring </a:t>
            </a:r>
            <a:r>
              <a:rPr lang="en-US" altLang="en-GB" sz="2000" i="1" smtClean="0"/>
              <a:t>b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0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000" smtClean="0"/>
              <a:t>The y-part goes around the circuit consisting of states 2, 3, and 5: substring </a:t>
            </a:r>
            <a:r>
              <a:rPr lang="en-US" altLang="en-GB" sz="2000" i="1" smtClean="0"/>
              <a:t>bba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0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000" smtClean="0"/>
              <a:t>The </a:t>
            </a:r>
            <a:r>
              <a:rPr lang="en-US" altLang="en-GB" sz="2000" i="1" smtClean="0"/>
              <a:t>z</a:t>
            </a:r>
            <a:r>
              <a:rPr lang="en-US" altLang="en-GB" sz="2000" smtClean="0"/>
              <a:t>-part is substring </a:t>
            </a:r>
            <a:r>
              <a:rPr lang="en-US" altLang="en-GB" sz="2000" i="1" smtClean="0"/>
              <a:t>baba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0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000" smtClean="0"/>
              <a:t>What happens to the input string </a:t>
            </a:r>
            <a:r>
              <a:rPr lang="en-US" altLang="en-GB" sz="2000" i="1" smtClean="0"/>
              <a:t>xyyz =</a:t>
            </a:r>
            <a:r>
              <a:rPr lang="en-US" altLang="en-GB" sz="2000" smtClean="0"/>
              <a:t> </a:t>
            </a:r>
            <a:r>
              <a:rPr lang="en-US" altLang="en-GB" sz="2000" i="1" smtClean="0"/>
              <a:t>(b)(bba)(bba)(baba)</a:t>
            </a:r>
            <a:r>
              <a:rPr lang="en-US" altLang="en-GB" sz="2000" smtClean="0"/>
              <a:t>?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0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000" smtClean="0"/>
              <a:t>This string will loop twice around the circuit and is accepted.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0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000" smtClean="0"/>
              <a:t>The same thing happens with </a:t>
            </a:r>
            <a:r>
              <a:rPr lang="en-US" altLang="en-GB" sz="2000" i="1" smtClean="0"/>
              <a:t>xyyyz</a:t>
            </a:r>
            <a:r>
              <a:rPr lang="en-US" altLang="en-GB" sz="2000" smtClean="0"/>
              <a:t>, </a:t>
            </a:r>
            <a:r>
              <a:rPr lang="en-US" altLang="en-GB" sz="2000" i="1" smtClean="0"/>
              <a:t>xyyyyz</a:t>
            </a:r>
            <a:r>
              <a:rPr lang="en-US" altLang="en-GB" sz="2000" smtClean="0"/>
              <a:t>, and in general, for xy</a:t>
            </a:r>
            <a:r>
              <a:rPr lang="en-US" altLang="en-GB" sz="2000" baseline="30000" smtClean="0"/>
              <a:t>n</a:t>
            </a:r>
            <a:r>
              <a:rPr lang="en-US" altLang="en-GB" sz="2000" smtClean="0"/>
              <a:t>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7891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F504BD-8BE9-4468-8AB9-83759D35599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Let us use Theorem 13 to show again that the language L = {a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b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} is not regular.</a:t>
            </a:r>
          </a:p>
          <a:p>
            <a:pPr algn="just" eaLnBrk="1" hangingPunct="1"/>
            <a:r>
              <a:rPr lang="en-US" altLang="en-GB" sz="2200" smtClean="0"/>
              <a:t>If L is regular then Theorem 13 says that there must be strings x, y, and z such that all words of the form xy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z are in L.</a:t>
            </a:r>
          </a:p>
          <a:p>
            <a:pPr algn="just" eaLnBrk="1" hangingPunct="1"/>
            <a:r>
              <a:rPr lang="en-US" altLang="en-GB" sz="2200" smtClean="0"/>
              <a:t>A typical word of L looks like this: aaa…aaaabbbb…bbb. How to break it into x, y, and z?</a:t>
            </a:r>
          </a:p>
          <a:p>
            <a:pPr algn="just" eaLnBrk="1" hangingPunct="1"/>
            <a:r>
              <a:rPr lang="en-US" altLang="en-GB" sz="2200" smtClean="0"/>
              <a:t>If </a:t>
            </a:r>
            <a:r>
              <a:rPr lang="en-US" altLang="en-GB" sz="2200" i="1" smtClean="0"/>
              <a:t>y</a:t>
            </a:r>
            <a:r>
              <a:rPr lang="en-US" altLang="en-GB" sz="2200" smtClean="0"/>
              <a:t> contains entirely a’s, then when we pump it to </a:t>
            </a:r>
            <a:r>
              <a:rPr lang="en-US" altLang="en-GB" sz="2200" i="1" smtClean="0"/>
              <a:t>xyyz</a:t>
            </a:r>
            <a:r>
              <a:rPr lang="en-US" altLang="en-GB" sz="2200" smtClean="0"/>
              <a:t>, this string will have more a’s than b’s, which is not allowed in L.</a:t>
            </a:r>
          </a:p>
          <a:p>
            <a:pPr algn="just" eaLnBrk="1" hangingPunct="1"/>
            <a:r>
              <a:rPr lang="en-US" altLang="en-GB" sz="2200" smtClean="0"/>
              <a:t>Similarly, if y is composed of only b’s then xyyz will have more b’s than a’s, and is not allowed in L either.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39939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047651-D715-46E1-8108-3CEEAF065E2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If y have some a’s followed by some b’s then y must contain the substring </a:t>
            </a:r>
            <a:r>
              <a:rPr lang="en-US" altLang="en-GB" sz="2600" i="1" smtClean="0"/>
              <a:t>ab</a:t>
            </a:r>
            <a:r>
              <a:rPr lang="en-US" altLang="en-GB" sz="2600" smtClean="0"/>
              <a:t>.</a:t>
            </a:r>
          </a:p>
          <a:p>
            <a:pPr algn="just" eaLnBrk="1" hangingPunct="1"/>
            <a:endParaRPr lang="en-US" altLang="en-GB" sz="260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b="1" smtClean="0"/>
              <a:t>– </a:t>
            </a:r>
            <a:r>
              <a:rPr lang="en-US" altLang="en-GB" sz="2200" smtClean="0"/>
              <a:t>So, </a:t>
            </a:r>
            <a:r>
              <a:rPr lang="en-US" altLang="en-GB" sz="2200" i="1" smtClean="0"/>
              <a:t>xyyz</a:t>
            </a:r>
            <a:r>
              <a:rPr lang="en-US" altLang="en-GB" sz="2200" smtClean="0"/>
              <a:t> must have 2 substrings </a:t>
            </a:r>
            <a:r>
              <a:rPr lang="en-US" altLang="en-GB" sz="2200" i="1" smtClean="0"/>
              <a:t>ab</a:t>
            </a:r>
            <a:r>
              <a:rPr lang="en-US" altLang="en-GB" sz="2200" smtClean="0"/>
              <a:t>’s.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b="1" smtClean="0"/>
              <a:t>– </a:t>
            </a:r>
            <a:r>
              <a:rPr lang="en-US" altLang="en-GB" sz="2200" smtClean="0"/>
              <a:t>But every word in L has exactly one substring </a:t>
            </a:r>
            <a:r>
              <a:rPr lang="en-US" altLang="en-GB" sz="2200" i="1" smtClean="0"/>
              <a:t>ab</a:t>
            </a:r>
            <a:r>
              <a:rPr lang="en-US" altLang="en-GB" sz="2200" smtClean="0"/>
              <a:t>.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b="1" smtClean="0"/>
              <a:t>– </a:t>
            </a:r>
            <a:r>
              <a:rPr lang="en-US" altLang="en-GB" sz="2200" smtClean="0"/>
              <a:t>Therefore, </a:t>
            </a:r>
            <a:r>
              <a:rPr lang="en-US" altLang="en-GB" sz="2200" i="1" smtClean="0"/>
              <a:t>xyyz</a:t>
            </a:r>
            <a:r>
              <a:rPr lang="en-US" altLang="en-GB" sz="2200" smtClean="0"/>
              <a:t> can not be a word in </a:t>
            </a:r>
            <a:r>
              <a:rPr lang="en-US" altLang="en-GB" sz="2200" i="1" smtClean="0"/>
              <a:t>L</a:t>
            </a:r>
            <a:r>
              <a:rPr lang="en-US" altLang="en-GB" sz="2200" smtClean="0"/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algn="just" eaLnBrk="1" hangingPunct="1"/>
            <a:r>
              <a:rPr lang="en-US" altLang="en-GB" sz="2600" smtClean="0"/>
              <a:t>The above arguments show that the pumping lemma cannot apply to L and therefore L is not regular.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1987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CB944-8A47-4026-8E8C-2D08117820E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4198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Let EQUAL be the language of all words (over the alphabet </a:t>
            </a:r>
            <a:r>
              <a:rPr lang="en-US" altLang="en-GB" sz="2200" smtClean="0">
                <a:cs typeface="Arial" panose="020B0604020202020204" pitchFamily="34" charset="0"/>
              </a:rPr>
              <a:t>∑</a:t>
            </a:r>
            <a:r>
              <a:rPr lang="en-US" altLang="en-GB" sz="2200" smtClean="0"/>
              <a:t> = {a; b}) that have the same total number of a’s and b’s: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EQUAL = {</a:t>
            </a:r>
            <a:r>
              <a:rPr lang="el-GR" altLang="en-GB" sz="2200" smtClean="0">
                <a:cs typeface="Arial" panose="020B0604020202020204" pitchFamily="34" charset="0"/>
              </a:rPr>
              <a:t>Λ</a:t>
            </a:r>
            <a:r>
              <a:rPr lang="en-US" altLang="en-GB" sz="2200" smtClean="0"/>
              <a:t>; ab; ba; aabb; abab; abba; baab; baba; bbaa; aaabbb; …}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Can you show that EQUAL is not regular?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Let L = {a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ba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} = {b; aba; aabaa; …}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Can you show that L is not regular?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4035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659684-B871-4E5C-8D69-E2CA590DCCC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Theorem 14</a:t>
            </a:r>
          </a:p>
        </p:txBody>
      </p:sp>
      <p:sp>
        <p:nvSpPr>
          <p:cNvPr id="4403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b="1" smtClean="0"/>
              <a:t>Let </a:t>
            </a:r>
            <a:r>
              <a:rPr lang="en-US" altLang="en-GB" sz="2200" smtClean="0"/>
              <a:t>L </a:t>
            </a:r>
            <a:r>
              <a:rPr lang="en-US" altLang="en-GB" sz="2200" b="1" smtClean="0"/>
              <a:t>be an infinite language accepted by a finite automaton with </a:t>
            </a:r>
            <a:r>
              <a:rPr lang="en-US" altLang="en-GB" sz="2200" smtClean="0"/>
              <a:t>N </a:t>
            </a:r>
            <a:r>
              <a:rPr lang="en-US" altLang="en-GB" sz="2200" b="1" smtClean="0"/>
              <a:t>states. Then, for all words </a:t>
            </a:r>
            <a:r>
              <a:rPr lang="en-US" altLang="en-GB" sz="2200" smtClean="0"/>
              <a:t>w </a:t>
            </a:r>
            <a:r>
              <a:rPr lang="en-US" altLang="en-GB" sz="2200" b="1" smtClean="0"/>
              <a:t>in </a:t>
            </a:r>
            <a:r>
              <a:rPr lang="en-US" altLang="en-GB" sz="2200" smtClean="0"/>
              <a:t>L </a:t>
            </a:r>
            <a:r>
              <a:rPr lang="en-US" altLang="en-GB" sz="2200" b="1" smtClean="0"/>
              <a:t>that have more than </a:t>
            </a:r>
            <a:r>
              <a:rPr lang="en-US" altLang="en-GB" sz="2200" smtClean="0"/>
              <a:t>N </a:t>
            </a:r>
            <a:r>
              <a:rPr lang="en-US" altLang="en-GB" sz="2200" b="1" smtClean="0"/>
              <a:t>letters, there are strings </a:t>
            </a:r>
            <a:r>
              <a:rPr lang="en-US" altLang="en-GB" sz="2200" smtClean="0"/>
              <a:t>x</a:t>
            </a:r>
            <a:r>
              <a:rPr lang="en-US" altLang="en-GB" sz="2200" b="1" smtClean="0"/>
              <a:t>, </a:t>
            </a:r>
            <a:r>
              <a:rPr lang="en-US" altLang="en-GB" sz="2200" smtClean="0"/>
              <a:t>y</a:t>
            </a:r>
            <a:r>
              <a:rPr lang="en-US" altLang="en-GB" sz="2200" b="1" smtClean="0"/>
              <a:t>, and </a:t>
            </a:r>
            <a:r>
              <a:rPr lang="en-US" altLang="en-GB" sz="2200" smtClean="0"/>
              <a:t>z</a:t>
            </a:r>
            <a:r>
              <a:rPr lang="en-US" altLang="en-GB" sz="2200" b="1" smtClean="0"/>
              <a:t>, where </a:t>
            </a:r>
            <a:r>
              <a:rPr lang="en-US" altLang="en-GB" sz="2200" smtClean="0"/>
              <a:t>y </a:t>
            </a:r>
            <a:r>
              <a:rPr lang="en-US" altLang="en-GB" sz="2200" b="1" smtClean="0"/>
              <a:t>is not null and </a:t>
            </a:r>
            <a:r>
              <a:rPr lang="en-US" altLang="en-GB" sz="2200" smtClean="0"/>
              <a:t>length(x) + length(y) </a:t>
            </a:r>
            <a:r>
              <a:rPr lang="en-US" altLang="en-GB" sz="2200" b="1" smtClean="0"/>
              <a:t>does not exceed </a:t>
            </a:r>
            <a:r>
              <a:rPr lang="en-US" altLang="en-GB" sz="2200" smtClean="0"/>
              <a:t>N</a:t>
            </a:r>
            <a:r>
              <a:rPr lang="en-US" altLang="en-GB" sz="2200" b="1" smtClean="0"/>
              <a:t>, such that </a:t>
            </a:r>
            <a:r>
              <a:rPr lang="en-US" altLang="en-GB" sz="2200" smtClean="0"/>
              <a:t>w = xyz </a:t>
            </a:r>
            <a:r>
              <a:rPr lang="en-US" altLang="en-GB" sz="2200" b="1" smtClean="0"/>
              <a:t>and all strings of the form </a:t>
            </a:r>
            <a:r>
              <a:rPr lang="en-US" altLang="en-GB" sz="2200" smtClean="0"/>
              <a:t>xy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z </a:t>
            </a:r>
            <a:r>
              <a:rPr lang="en-US" altLang="en-GB" sz="2200" b="1" smtClean="0"/>
              <a:t>for </a:t>
            </a:r>
            <a:r>
              <a:rPr lang="en-US" altLang="en-GB" sz="2200" smtClean="0"/>
              <a:t>n = 1; 2; 3; … </a:t>
            </a:r>
            <a:r>
              <a:rPr lang="en-US" altLang="en-GB" sz="2200" b="1" smtClean="0"/>
              <a:t>are in </a:t>
            </a:r>
            <a:r>
              <a:rPr lang="en-US" altLang="en-GB" sz="2200" smtClean="0"/>
              <a:t>L</a:t>
            </a:r>
            <a:r>
              <a:rPr lang="en-US" altLang="en-GB" sz="2200" b="1" smtClean="0"/>
              <a:t>.</a:t>
            </a:r>
          </a:p>
          <a:p>
            <a:pPr algn="just" eaLnBrk="1" hangingPunct="1"/>
            <a:endParaRPr lang="en-US" altLang="en-GB" sz="2200" b="1" smtClean="0"/>
          </a:p>
          <a:p>
            <a:pPr algn="just" eaLnBrk="1" hangingPunct="1"/>
            <a:r>
              <a:rPr lang="en-US" altLang="en-GB" sz="2200" smtClean="0"/>
              <a:t>This is obviously just another version of Theorem 13 (the pumping lemma), for which we have already provided the proof.</a:t>
            </a:r>
          </a:p>
          <a:p>
            <a:pPr algn="just" eaLnBrk="1" hangingPunct="1"/>
            <a:r>
              <a:rPr lang="en-US" altLang="en-GB" sz="2200" smtClean="0"/>
              <a:t>The purpose of stressing the issue of lengths is illustrated in the following example.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6083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CAA48A-D952-483C-B212-CEA2C2E1D2B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46085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We will show that the language PALINDROME is not regular.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We cannot use the first version of the pumping lemma (Theorem 13) because the strings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	x = a; y = b; z =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satisfy the lemma and do not contradict the language, since all the strings of the form xy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z = ab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a are words in PALINDROME.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So, we will use the second version of the pumping lemma (Theorem 14) to show that PALINDROME is non-regular.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8131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7771B2-BB1B-438B-8A41-019052677DC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 contd.</a:t>
            </a:r>
          </a:p>
        </p:txBody>
      </p:sp>
      <p:sp>
        <p:nvSpPr>
          <p:cNvPr id="4813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100" smtClean="0"/>
              <a:t>Suppose for the contrary that PALINDROME were regular, then there would exist some FA that accepts it.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/>
              <a:t>For the sake of argument, assume that this FA has 77 states.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/>
              <a:t>Then, the palindrome w = a</a:t>
            </a:r>
            <a:r>
              <a:rPr lang="en-US" altLang="en-GB" sz="2100" baseline="30000" smtClean="0"/>
              <a:t>80</a:t>
            </a:r>
            <a:r>
              <a:rPr lang="en-US" altLang="en-GB" sz="2100" smtClean="0"/>
              <a:t>ba</a:t>
            </a:r>
            <a:r>
              <a:rPr lang="en-US" altLang="en-GB" sz="2100" baseline="30000" smtClean="0"/>
              <a:t>80</a:t>
            </a:r>
            <a:r>
              <a:rPr lang="en-US" altLang="en-GB" sz="2100" smtClean="0"/>
              <a:t> must be accepted by this FA.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/>
              <a:t>Because w has more letters than the FA has states, by Theorem 14 we can break w into three parts: x, y, and z.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/>
              <a:t>Since length(x) + length(y) </a:t>
            </a:r>
            <a:r>
              <a:rPr lang="en-US" altLang="en-GB" sz="2100" smtClean="0">
                <a:cs typeface="Arial" panose="020B0604020202020204" pitchFamily="34" charset="0"/>
              </a:rPr>
              <a:t>≤</a:t>
            </a:r>
            <a:r>
              <a:rPr lang="en-US" altLang="en-GB" sz="2100" smtClean="0"/>
              <a:t> 77 (by Theorem 14), the strings x and y must both be made of all a’s, since the first 77 letters of w are all a’s.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0179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367D35-A914-4461-BBD4-EA7E30ADC07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Hence, when we form </a:t>
            </a:r>
            <a:r>
              <a:rPr lang="en-US" altLang="en-GB" sz="2200" i="1" smtClean="0"/>
              <a:t>xyyz</a:t>
            </a:r>
            <a:r>
              <a:rPr lang="en-US" altLang="en-GB" sz="2200" smtClean="0"/>
              <a:t>, we are adding more a’s to the front of w, but we are not adding more a’s to the back of w.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Thus, the string </a:t>
            </a:r>
            <a:r>
              <a:rPr lang="en-US" altLang="en-GB" sz="2200" i="1" smtClean="0"/>
              <a:t>xyyz</a:t>
            </a:r>
            <a:r>
              <a:rPr lang="en-US" altLang="en-GB" sz="2200" smtClean="0"/>
              <a:t> will be of the form 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    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   a</a:t>
            </a:r>
            <a:r>
              <a:rPr lang="en-US" altLang="en-GB" sz="2200" baseline="30000" smtClean="0"/>
              <a:t>(more than 80)</a:t>
            </a:r>
            <a:r>
              <a:rPr lang="en-US" altLang="en-GB" sz="2200" smtClean="0"/>
              <a:t>ba</a:t>
            </a:r>
            <a:r>
              <a:rPr lang="en-US" altLang="en-GB" sz="2200" baseline="30000" smtClean="0"/>
              <a:t>80</a:t>
            </a:r>
            <a:r>
              <a:rPr lang="en-US" altLang="en-GB" sz="2200" smtClean="0"/>
              <a:t> 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    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and obviously is NOT a palindrome.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This is a contradiction, since Theorem 14 says that </a:t>
            </a:r>
            <a:r>
              <a:rPr lang="en-US" altLang="en-GB" sz="2200" i="1" smtClean="0"/>
              <a:t>xyyz</a:t>
            </a:r>
            <a:r>
              <a:rPr lang="en-US" altLang="en-GB" sz="2200" smtClean="0"/>
              <a:t> must be a palindrome. Hence, the language PALINDROME is NOT regular.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Footer Placeholder 1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2227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9C173D-C74F-475C-82BA-33C3FBB957B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5222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Consider the language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PRIME = {a</a:t>
            </a:r>
            <a:r>
              <a:rPr lang="en-US" altLang="en-GB" sz="2200" baseline="30000" smtClean="0"/>
              <a:t>p</a:t>
            </a:r>
            <a:r>
              <a:rPr lang="en-US" altLang="en-GB" sz="2200" smtClean="0"/>
              <a:t> where p is a prime}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Recall that </a:t>
            </a:r>
            <a:r>
              <a:rPr lang="en-US" altLang="en-GB" sz="2200" i="1" smtClean="0"/>
              <a:t>a prime is a positive integer greater than 1 whose only positive divisors are 1 and itself</a:t>
            </a:r>
            <a:r>
              <a:rPr lang="en-US" altLang="en-GB" sz="2200" smtClean="0"/>
              <a:t>, for example 2, 3, 5, 7 ...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Hence,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PRIME = {a</a:t>
            </a:r>
            <a:r>
              <a:rPr lang="en-US" altLang="en-GB" sz="2200" baseline="30000" smtClean="0"/>
              <a:t>p</a:t>
            </a:r>
            <a:r>
              <a:rPr lang="en-US" altLang="en-GB" sz="2200" smtClean="0"/>
              <a:t> where p is a prime}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       = {aa; aaa; aaaaa; aaaaaaa; …}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Can you show that PRIME is non-regular?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7619</TotalTime>
  <Words>2165</Words>
  <Application>Microsoft Office PowerPoint</Application>
  <PresentationFormat>On-screen Show (4:3)</PresentationFormat>
  <Paragraphs>261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Wingdings</vt:lpstr>
      <vt:lpstr>Office Theme</vt:lpstr>
      <vt:lpstr>Theory of Automata  Pumping Lemma</vt:lpstr>
      <vt:lpstr>Contents</vt:lpstr>
      <vt:lpstr>Introduction</vt:lpstr>
      <vt:lpstr>Definition of Non-Regular Languages</vt:lpstr>
      <vt:lpstr>Case Study</vt:lpstr>
      <vt:lpstr>Example</vt:lpstr>
      <vt:lpstr>PowerPoint Presentation</vt:lpstr>
      <vt:lpstr>PowerPoint Presentation</vt:lpstr>
      <vt:lpstr>PowerPoint Presentation</vt:lpstr>
      <vt:lpstr>PowerPoint Presentation</vt:lpstr>
      <vt:lpstr>Theorem 13</vt:lpstr>
      <vt:lpstr>Proof of theorem 13</vt:lpstr>
      <vt:lpstr>Proof of theorem 13 contd.</vt:lpstr>
      <vt:lpstr>Proof of Theorem 13 contd.</vt:lpstr>
      <vt:lpstr>Proof of Theorem 13 contd.</vt:lpstr>
      <vt:lpstr>Example</vt:lpstr>
      <vt:lpstr>Example contd.</vt:lpstr>
      <vt:lpstr>PowerPoint Presentation</vt:lpstr>
      <vt:lpstr>PowerPoint Presentation</vt:lpstr>
      <vt:lpstr>Example</vt:lpstr>
      <vt:lpstr>Theorem 14</vt:lpstr>
      <vt:lpstr>Example</vt:lpstr>
      <vt:lpstr>Example contd.</vt:lpstr>
      <vt:lpstr>PowerPoint Presentation</vt:lpstr>
      <vt:lpstr>Example</vt:lpstr>
    </vt:vector>
  </TitlesOfParts>
  <Company>fast-nu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</dc:title>
  <dc:creator>Majid</dc:creator>
  <cp:lastModifiedBy>user1</cp:lastModifiedBy>
  <cp:revision>162</cp:revision>
  <dcterms:created xsi:type="dcterms:W3CDTF">2011-08-06T09:27:24Z</dcterms:created>
  <dcterms:modified xsi:type="dcterms:W3CDTF">2025-07-28T10:26:48Z</dcterms:modified>
</cp:coreProperties>
</file>