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23" r:id="rId1"/>
  </p:sldMasterIdLst>
  <p:notesMasterIdLst>
    <p:notesMasterId r:id="rId35"/>
  </p:notes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5085" autoAdjust="0"/>
  </p:normalViewPr>
  <p:slideViewPr>
    <p:cSldViewPr>
      <p:cViewPr varScale="1">
        <p:scale>
          <a:sx n="106" d="100"/>
          <a:sy n="106" d="100"/>
        </p:scale>
        <p:origin x="24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6.wmf"/><Relationship Id="rId7" Type="http://schemas.openxmlformats.org/officeDocument/2006/relationships/image" Target="../media/image14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12.wmf"/><Relationship Id="rId7" Type="http://schemas.openxmlformats.org/officeDocument/2006/relationships/image" Target="../media/image26.wmf"/><Relationship Id="rId2" Type="http://schemas.openxmlformats.org/officeDocument/2006/relationships/image" Target="../media/image22.wmf"/><Relationship Id="rId1" Type="http://schemas.openxmlformats.org/officeDocument/2006/relationships/image" Target="../media/image11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12" Type="http://schemas.openxmlformats.org/officeDocument/2006/relationships/image" Target="../media/image18.wmf"/><Relationship Id="rId2" Type="http://schemas.openxmlformats.org/officeDocument/2006/relationships/image" Target="../media/image28.wmf"/><Relationship Id="rId1" Type="http://schemas.openxmlformats.org/officeDocument/2006/relationships/image" Target="../media/image12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11.wmf"/><Relationship Id="rId7" Type="http://schemas.openxmlformats.org/officeDocument/2006/relationships/image" Target="../media/image2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23.wmf"/><Relationship Id="rId11" Type="http://schemas.openxmlformats.org/officeDocument/2006/relationships/image" Target="../media/image42.wmf"/><Relationship Id="rId5" Type="http://schemas.openxmlformats.org/officeDocument/2006/relationships/image" Target="../media/image12.wmf"/><Relationship Id="rId10" Type="http://schemas.openxmlformats.org/officeDocument/2006/relationships/image" Target="../media/image37.wmf"/><Relationship Id="rId4" Type="http://schemas.openxmlformats.org/officeDocument/2006/relationships/image" Target="../media/image22.wmf"/><Relationship Id="rId9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0.wmf"/><Relationship Id="rId1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45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4.wmf"/><Relationship Id="rId5" Type="http://schemas.openxmlformats.org/officeDocument/2006/relationships/image" Target="../media/image27.wmf"/><Relationship Id="rId4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image" Target="../media/image43.wmf"/><Relationship Id="rId2" Type="http://schemas.openxmlformats.org/officeDocument/2006/relationships/image" Target="../media/image28.wmf"/><Relationship Id="rId1" Type="http://schemas.openxmlformats.org/officeDocument/2006/relationships/image" Target="../media/image12.wmf"/><Relationship Id="rId6" Type="http://schemas.openxmlformats.org/officeDocument/2006/relationships/image" Target="../media/image47.wmf"/><Relationship Id="rId11" Type="http://schemas.openxmlformats.org/officeDocument/2006/relationships/image" Target="../media/image34.wmf"/><Relationship Id="rId5" Type="http://schemas.openxmlformats.org/officeDocument/2006/relationships/image" Target="../media/image46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23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image" Target="../media/image11.wmf"/><Relationship Id="rId2" Type="http://schemas.openxmlformats.org/officeDocument/2006/relationships/image" Target="../media/image28.wmf"/><Relationship Id="rId1" Type="http://schemas.openxmlformats.org/officeDocument/2006/relationships/image" Target="../media/image12.wmf"/><Relationship Id="rId6" Type="http://schemas.openxmlformats.org/officeDocument/2006/relationships/image" Target="../media/image47.wmf"/><Relationship Id="rId11" Type="http://schemas.openxmlformats.org/officeDocument/2006/relationships/image" Target="../media/image34.wmf"/><Relationship Id="rId5" Type="http://schemas.openxmlformats.org/officeDocument/2006/relationships/image" Target="../media/image46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3.wmf"/><Relationship Id="rId14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51.wmf"/><Relationship Id="rId1" Type="http://schemas.openxmlformats.org/officeDocument/2006/relationships/image" Target="../media/image19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4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61A03E8-D1A2-4D85-A905-BF67D7014B5F}" type="slidenum">
              <a:rPr lang="en-US" altLang="en-GB"/>
              <a:pPr/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04CA44-7E6E-4BA0-90E0-4EFCBF3D4356}" type="slidenum">
              <a:rPr lang="en-US" altLang="en-GB"/>
              <a:pPr/>
              <a:t>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E23D7D-AD36-4CDC-AB2E-F1A5954A683D}" type="slidenum">
              <a:rPr lang="en-US" altLang="en-GB"/>
              <a:pPr/>
              <a:t>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0E6E64-4162-4ADC-ABF9-674E3A65A1C2}" type="slidenum">
              <a:rPr lang="en-US" altLang="en-GB"/>
              <a:pPr/>
              <a:t>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A455D8-5D67-410E-B7A4-B6CC63739E40}" type="slidenum">
              <a:rPr lang="en-US" altLang="en-GB"/>
              <a:pPr/>
              <a:t>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B2B1FB-9F00-4CA9-8F4C-9D05A042CBB6}" type="slidenum">
              <a:rPr lang="en-US" altLang="en-GB"/>
              <a:pPr/>
              <a:t>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2A5BA7-4275-4F1B-8CB6-7DB2C4E45DAF}" type="slidenum">
              <a:rPr lang="en-US" altLang="en-GB"/>
              <a:pPr/>
              <a:t>7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ADD024-B7E4-4361-8B06-D6A03059F5C5}" type="slidenum">
              <a:rPr lang="en-US" altLang="en-GB"/>
              <a:pPr/>
              <a:t>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26B397-C6BC-4A8C-9B68-EC793574A106}" type="slidenum">
              <a:rPr lang="en-US" altLang="en-GB"/>
              <a:pPr/>
              <a:t>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A4F07C-8223-4A7F-AF1D-9039B9BF2F8F}" type="slidenum">
              <a:rPr lang="en-US" altLang="en-GB"/>
              <a:pPr/>
              <a:t>10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B2F1CB-251F-4CF1-A699-CE9C099D73F6}" type="slidenum">
              <a:rPr lang="en-US" altLang="en-GB"/>
              <a:pPr/>
              <a:t>11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2642A5-CD0E-48F1-ABC0-6C876A8F1DD1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5BC733-2852-48CA-B647-30FBCC9D9EC8}" type="slidenum">
              <a:rPr lang="en-US" altLang="en-GB"/>
              <a:pPr/>
              <a:t>13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207700-433C-457E-AB89-1177CC7D4EF7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96C1C5-01E3-40C2-B27E-24D8A0798AED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EFE832-C28F-4855-9136-8F2A4AAEE732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778244-C0A7-4B2D-A92B-058041BEAE0D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CBC24E-C721-4C79-9B61-55505C7AD880}" type="slidenum">
              <a:rPr lang="en-US" altLang="en-US"/>
              <a:pPr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2C2D79-3DA6-4242-A377-16E720100099}" type="slidenum">
              <a:rPr lang="en-US" altLang="en-US"/>
              <a:pPr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90E183-54C9-4AC3-8A0E-EA418CFFE435}" type="slidenum">
              <a:rPr lang="en-US" altLang="en-US"/>
              <a:pPr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3A06CC-728C-4AC1-BA96-1C97C56F0193}" type="slidenum">
              <a:rPr lang="en-US" altLang="en-GB"/>
              <a:pPr/>
              <a:t>21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EB0217-EA2D-4760-8626-3C82FDB07C5F}" type="slidenum">
              <a:rPr lang="en-US" altLang="en-US"/>
              <a:pPr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9F42D0-EE3B-477D-B7FF-08ADAFEEB069}" type="slidenum">
              <a:rPr lang="en-US" altLang="en-US"/>
              <a:pPr/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3634F3-338F-4847-80FE-D16EA9CF9CE9}" type="slidenum">
              <a:rPr lang="en-US" altLang="en-US"/>
              <a:pPr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E58279-9BBE-4852-A5FD-3212C0D14B8E}" type="slidenum">
              <a:rPr lang="en-US" altLang="en-US"/>
              <a:pPr/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C432CD-4DB0-4686-A358-51767C754C14}" type="slidenum">
              <a:rPr lang="en-US" altLang="en-US"/>
              <a:pPr/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CC0670-74CD-46F0-A2D3-C714378054C2}" type="slidenum">
              <a:rPr lang="en-US" altLang="en-GB"/>
              <a:pPr/>
              <a:t>27</a:t>
            </a:fld>
            <a:endParaRPr lang="en-US" alt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7952E-F4C2-495B-89A1-6170731616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62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9622A-E9A1-4C34-83F9-12EBC44B4D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36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654921-CD82-4ECD-9720-DD968E41D0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9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3F7403-DE70-464A-9D7A-8B146AB50B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165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BF8D9E-795F-4606-A2D8-B343C27797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06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8DE524-A096-4B08-BED5-640540ABFF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4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4F60F6-88AF-464A-93C2-FF49BD18DF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845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D4BAC6-E08A-4144-8148-6F052F028A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82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24D238-14B6-41F0-82ED-116C78C82E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39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6B1F24-8B0F-4956-847C-EDDFE0B45E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74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FF9CB-855C-42B3-98D0-768C6B48F2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33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text styles</a:t>
            </a:r>
          </a:p>
          <a:p>
            <a:pPr lvl="1"/>
            <a:r>
              <a:rPr lang="en-US" altLang="en-GB" smtClean="0"/>
              <a:t>Second level</a:t>
            </a:r>
          </a:p>
          <a:p>
            <a:pPr lvl="2"/>
            <a:r>
              <a:rPr lang="en-US" altLang="en-GB" smtClean="0"/>
              <a:t>Third level</a:t>
            </a:r>
          </a:p>
          <a:p>
            <a:pPr lvl="3"/>
            <a:r>
              <a:rPr lang="en-US" altLang="en-GB" smtClean="0"/>
              <a:t>Fourth level</a:t>
            </a:r>
          </a:p>
          <a:p>
            <a:pPr lvl="4"/>
            <a:r>
              <a:rPr lang="en-US" altLang="en-GB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Nov 23,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9470945-22A2-4263-B68A-537B90285E5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5.bin"/><Relationship Id="rId3" Type="http://schemas.openxmlformats.org/officeDocument/2006/relationships/notesSlide" Target="../notesSlides/notesSlide11.xml"/><Relationship Id="rId21" Type="http://schemas.openxmlformats.org/officeDocument/2006/relationships/oleObject" Target="../embeddings/oleObject17.bin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1.bin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20" Type="http://schemas.openxmlformats.org/officeDocument/2006/relationships/oleObject" Target="../embeddings/oleObject16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wmf"/><Relationship Id="rId5" Type="http://schemas.openxmlformats.org/officeDocument/2006/relationships/image" Target="../media/image9.wmf"/><Relationship Id="rId15" Type="http://schemas.openxmlformats.org/officeDocument/2006/relationships/oleObject" Target="../embeddings/oleObject13.bin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4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12.bin"/><Relationship Id="rId22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4.wmf"/><Relationship Id="rId18" Type="http://schemas.openxmlformats.org/officeDocument/2006/relationships/image" Target="../media/image25.wmf"/><Relationship Id="rId3" Type="http://schemas.openxmlformats.org/officeDocument/2006/relationships/notesSlide" Target="../notesSlides/notesSlide14.xml"/><Relationship Id="rId21" Type="http://schemas.openxmlformats.org/officeDocument/2006/relationships/oleObject" Target="../embeddings/oleObject32.bin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6.bin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.bin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34.bin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28.bin"/><Relationship Id="rId23" Type="http://schemas.openxmlformats.org/officeDocument/2006/relationships/image" Target="../media/image27.wmf"/><Relationship Id="rId10" Type="http://schemas.openxmlformats.org/officeDocument/2006/relationships/oleObject" Target="../embeddings/oleObject25.bin"/><Relationship Id="rId19" Type="http://schemas.openxmlformats.org/officeDocument/2006/relationships/oleObject" Target="../embeddings/oleObject31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31.wmf"/><Relationship Id="rId18" Type="http://schemas.openxmlformats.org/officeDocument/2006/relationships/oleObject" Target="../embeddings/oleObject42.bin"/><Relationship Id="rId26" Type="http://schemas.openxmlformats.org/officeDocument/2006/relationships/oleObject" Target="../embeddings/oleObject46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35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33.wmf"/><Relationship Id="rId25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45.bin"/><Relationship Id="rId5" Type="http://schemas.openxmlformats.org/officeDocument/2006/relationships/image" Target="../media/image12.wmf"/><Relationship Id="rId15" Type="http://schemas.openxmlformats.org/officeDocument/2006/relationships/image" Target="../media/image32.wmf"/><Relationship Id="rId23" Type="http://schemas.openxmlformats.org/officeDocument/2006/relationships/image" Target="../media/image36.wmf"/><Relationship Id="rId28" Type="http://schemas.openxmlformats.org/officeDocument/2006/relationships/image" Target="../media/image18.w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34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Relationship Id="rId27" Type="http://schemas.openxmlformats.org/officeDocument/2006/relationships/oleObject" Target="../embeddings/oleObject4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55.bin"/><Relationship Id="rId26" Type="http://schemas.openxmlformats.org/officeDocument/2006/relationships/oleObject" Target="../embeddings/oleObject61.bin"/><Relationship Id="rId3" Type="http://schemas.openxmlformats.org/officeDocument/2006/relationships/notesSlide" Target="../notesSlides/notesSlide16.xml"/><Relationship Id="rId21" Type="http://schemas.openxmlformats.org/officeDocument/2006/relationships/oleObject" Target="../embeddings/oleObject58.bin"/><Relationship Id="rId34" Type="http://schemas.openxmlformats.org/officeDocument/2006/relationships/oleObject" Target="../embeddings/oleObject68.bin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24.wmf"/><Relationship Id="rId25" Type="http://schemas.openxmlformats.org/officeDocument/2006/relationships/oleObject" Target="../embeddings/oleObject60.bin"/><Relationship Id="rId33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7.bin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22.wmf"/><Relationship Id="rId24" Type="http://schemas.openxmlformats.org/officeDocument/2006/relationships/image" Target="../media/image41.wmf"/><Relationship Id="rId32" Type="http://schemas.openxmlformats.org/officeDocument/2006/relationships/oleObject" Target="../embeddings/oleObject66.bin"/><Relationship Id="rId5" Type="http://schemas.openxmlformats.org/officeDocument/2006/relationships/image" Target="../media/image38.wmf"/><Relationship Id="rId15" Type="http://schemas.openxmlformats.org/officeDocument/2006/relationships/image" Target="../media/image23.wmf"/><Relationship Id="rId23" Type="http://schemas.openxmlformats.org/officeDocument/2006/relationships/oleObject" Target="../embeddings/oleObject59.bin"/><Relationship Id="rId28" Type="http://schemas.openxmlformats.org/officeDocument/2006/relationships/image" Target="../media/image37.wmf"/><Relationship Id="rId10" Type="http://schemas.openxmlformats.org/officeDocument/2006/relationships/oleObject" Target="../embeddings/oleObject51.bin"/><Relationship Id="rId19" Type="http://schemas.openxmlformats.org/officeDocument/2006/relationships/oleObject" Target="../embeddings/oleObject56.bin"/><Relationship Id="rId31" Type="http://schemas.openxmlformats.org/officeDocument/2006/relationships/oleObject" Target="../embeddings/oleObject65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53.bin"/><Relationship Id="rId22" Type="http://schemas.openxmlformats.org/officeDocument/2006/relationships/image" Target="../media/image40.wmf"/><Relationship Id="rId27" Type="http://schemas.openxmlformats.org/officeDocument/2006/relationships/oleObject" Target="../embeddings/oleObject62.bin"/><Relationship Id="rId30" Type="http://schemas.openxmlformats.org/officeDocument/2006/relationships/oleObject" Target="../embeddings/oleObject64.bin"/><Relationship Id="rId35" Type="http://schemas.openxmlformats.org/officeDocument/2006/relationships/image" Target="../media/image4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4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8.bin"/><Relationship Id="rId3" Type="http://schemas.openxmlformats.org/officeDocument/2006/relationships/notesSlide" Target="../notesSlides/notesSlide18.xml"/><Relationship Id="rId21" Type="http://schemas.openxmlformats.org/officeDocument/2006/relationships/oleObject" Target="../embeddings/oleObject84.bin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78.bin"/><Relationship Id="rId17" Type="http://schemas.openxmlformats.org/officeDocument/2006/relationships/oleObject" Target="../embeddings/oleObject81.bin"/><Relationship Id="rId25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14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4.bin"/><Relationship Id="rId11" Type="http://schemas.openxmlformats.org/officeDocument/2006/relationships/oleObject" Target="../embeddings/oleObject77.bin"/><Relationship Id="rId24" Type="http://schemas.openxmlformats.org/officeDocument/2006/relationships/oleObject" Target="../embeddings/oleObject87.bin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6.bin"/><Relationship Id="rId28" Type="http://schemas.openxmlformats.org/officeDocument/2006/relationships/oleObject" Target="../embeddings/oleObject90.bin"/><Relationship Id="rId10" Type="http://schemas.openxmlformats.org/officeDocument/2006/relationships/oleObject" Target="../embeddings/oleObject76.bin"/><Relationship Id="rId19" Type="http://schemas.openxmlformats.org/officeDocument/2006/relationships/oleObject" Target="../embeddings/oleObject83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5.bin"/><Relationship Id="rId27" Type="http://schemas.openxmlformats.org/officeDocument/2006/relationships/oleObject" Target="../embeddings/oleObject8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9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99.bin"/><Relationship Id="rId26" Type="http://schemas.openxmlformats.org/officeDocument/2006/relationships/oleObject" Target="../embeddings/oleObject103.bin"/><Relationship Id="rId3" Type="http://schemas.openxmlformats.org/officeDocument/2006/relationships/notesSlide" Target="../notesSlides/notesSlide21.xml"/><Relationship Id="rId21" Type="http://schemas.openxmlformats.org/officeDocument/2006/relationships/image" Target="../media/image33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96.bin"/><Relationship Id="rId17" Type="http://schemas.openxmlformats.org/officeDocument/2006/relationships/image" Target="../media/image31.wmf"/><Relationship Id="rId25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8.bin"/><Relationship Id="rId20" Type="http://schemas.openxmlformats.org/officeDocument/2006/relationships/oleObject" Target="../embeddings/oleObject100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102.bin"/><Relationship Id="rId5" Type="http://schemas.openxmlformats.org/officeDocument/2006/relationships/image" Target="../media/image12.wmf"/><Relationship Id="rId15" Type="http://schemas.openxmlformats.org/officeDocument/2006/relationships/image" Target="../media/image47.wmf"/><Relationship Id="rId23" Type="http://schemas.openxmlformats.org/officeDocument/2006/relationships/image" Target="../media/image36.wmf"/><Relationship Id="rId10" Type="http://schemas.openxmlformats.org/officeDocument/2006/relationships/oleObject" Target="../embeddings/oleObject95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92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97.bin"/><Relationship Id="rId22" Type="http://schemas.openxmlformats.org/officeDocument/2006/relationships/oleObject" Target="../embeddings/oleObject101.bin"/><Relationship Id="rId27" Type="http://schemas.openxmlformats.org/officeDocument/2006/relationships/image" Target="../media/image4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111.bin"/><Relationship Id="rId26" Type="http://schemas.openxmlformats.org/officeDocument/2006/relationships/oleObject" Target="../embeddings/oleObject115.bin"/><Relationship Id="rId39" Type="http://schemas.openxmlformats.org/officeDocument/2006/relationships/oleObject" Target="../embeddings/oleObject125.bin"/><Relationship Id="rId3" Type="http://schemas.openxmlformats.org/officeDocument/2006/relationships/notesSlide" Target="../notesSlides/notesSlide22.xml"/><Relationship Id="rId21" Type="http://schemas.openxmlformats.org/officeDocument/2006/relationships/image" Target="../media/image33.wmf"/><Relationship Id="rId34" Type="http://schemas.openxmlformats.org/officeDocument/2006/relationships/oleObject" Target="../embeddings/oleObject121.bin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31.wmf"/><Relationship Id="rId25" Type="http://schemas.openxmlformats.org/officeDocument/2006/relationships/image" Target="../media/image34.wmf"/><Relationship Id="rId33" Type="http://schemas.openxmlformats.org/officeDocument/2006/relationships/oleObject" Target="../embeddings/oleObject120.bin"/><Relationship Id="rId38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0.bin"/><Relationship Id="rId20" Type="http://schemas.openxmlformats.org/officeDocument/2006/relationships/oleObject" Target="../embeddings/oleObject112.bin"/><Relationship Id="rId29" Type="http://schemas.openxmlformats.org/officeDocument/2006/relationships/oleObject" Target="../embeddings/oleObject117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114.bin"/><Relationship Id="rId32" Type="http://schemas.openxmlformats.org/officeDocument/2006/relationships/oleObject" Target="../embeddings/oleObject119.bin"/><Relationship Id="rId37" Type="http://schemas.openxmlformats.org/officeDocument/2006/relationships/oleObject" Target="../embeddings/oleObject124.bin"/><Relationship Id="rId40" Type="http://schemas.openxmlformats.org/officeDocument/2006/relationships/oleObject" Target="../embeddings/oleObject126.bin"/><Relationship Id="rId5" Type="http://schemas.openxmlformats.org/officeDocument/2006/relationships/image" Target="../media/image12.wmf"/><Relationship Id="rId15" Type="http://schemas.openxmlformats.org/officeDocument/2006/relationships/image" Target="../media/image47.wmf"/><Relationship Id="rId23" Type="http://schemas.openxmlformats.org/officeDocument/2006/relationships/image" Target="../media/image36.wmf"/><Relationship Id="rId28" Type="http://schemas.openxmlformats.org/officeDocument/2006/relationships/oleObject" Target="../embeddings/oleObject116.bin"/><Relationship Id="rId36" Type="http://schemas.openxmlformats.org/officeDocument/2006/relationships/oleObject" Target="../embeddings/oleObject123.bin"/><Relationship Id="rId10" Type="http://schemas.openxmlformats.org/officeDocument/2006/relationships/oleObject" Target="../embeddings/oleObject107.bin"/><Relationship Id="rId19" Type="http://schemas.openxmlformats.org/officeDocument/2006/relationships/image" Target="../media/image48.wmf"/><Relationship Id="rId31" Type="http://schemas.openxmlformats.org/officeDocument/2006/relationships/oleObject" Target="../embeddings/oleObject118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109.bin"/><Relationship Id="rId22" Type="http://schemas.openxmlformats.org/officeDocument/2006/relationships/oleObject" Target="../embeddings/oleObject113.bin"/><Relationship Id="rId27" Type="http://schemas.openxmlformats.org/officeDocument/2006/relationships/image" Target="../media/image11.wmf"/><Relationship Id="rId30" Type="http://schemas.openxmlformats.org/officeDocument/2006/relationships/image" Target="../media/image23.wmf"/><Relationship Id="rId35" Type="http://schemas.openxmlformats.org/officeDocument/2006/relationships/oleObject" Target="../embeddings/oleObject12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53.wmf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13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5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oleObject" Target="../embeddings/oleObject137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49.wmf"/><Relationship Id="rId5" Type="http://schemas.openxmlformats.org/officeDocument/2006/relationships/image" Target="../media/image19.w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135.bin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13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oleObject" Target="../embeddings/oleObject146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41.wmf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1.bin"/><Relationship Id="rId11" Type="http://schemas.openxmlformats.org/officeDocument/2006/relationships/oleObject" Target="../embeddings/oleObject145.bin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0.bin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55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GB" sz="4600" smtClean="0"/>
              <a:t>Theory of Automata</a:t>
            </a:r>
            <a:br>
              <a:rPr lang="en-US" altLang="en-GB" sz="4600" smtClean="0"/>
            </a:br>
            <a:r>
              <a:rPr lang="en-US" altLang="en-GB" smtClean="0"/>
              <a:t> Computable Functions</a:t>
            </a:r>
            <a:endParaRPr lang="en-US" altLang="en-GB" sz="460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2400"/>
              <a:t>Week </a:t>
            </a:r>
            <a:r>
              <a:rPr lang="en-US" sz="2400" dirty="0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12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DC296F-EDD0-4A66-A150-A53654C0EB6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Contents</a:t>
            </a:r>
          </a:p>
        </p:txBody>
      </p:sp>
      <p:sp>
        <p:nvSpPr>
          <p:cNvPr id="512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Computation</a:t>
            </a:r>
          </a:p>
          <a:p>
            <a:pPr lvl="1" eaLnBrk="1" hangingPunct="1"/>
            <a:r>
              <a:rPr lang="en-US" altLang="en-GB" sz="2200" smtClean="0"/>
              <a:t>Paradigms</a:t>
            </a:r>
          </a:p>
          <a:p>
            <a:pPr lvl="1" eaLnBrk="1" hangingPunct="1"/>
            <a:r>
              <a:rPr lang="en-US" altLang="en-GB" sz="2200" smtClean="0"/>
              <a:t>Functions and their computations</a:t>
            </a:r>
          </a:p>
          <a:p>
            <a:pPr lvl="1" eaLnBrk="1" hangingPunct="1"/>
            <a:r>
              <a:rPr lang="en-US" altLang="en-GB" sz="2200" smtClean="0"/>
              <a:t>Computable and non-computable functions</a:t>
            </a:r>
          </a:p>
          <a:p>
            <a:pPr lvl="1" eaLnBrk="1" hangingPunct="1"/>
            <a:r>
              <a:rPr lang="en-US" altLang="en-GB" sz="2200" smtClean="0"/>
              <a:t>Computable Functions</a:t>
            </a:r>
          </a:p>
          <a:p>
            <a:pPr eaLnBrk="1" hangingPunct="1"/>
            <a:r>
              <a:rPr lang="en-US" altLang="en-GB" smtClean="0"/>
              <a:t>Computer Science Law</a:t>
            </a:r>
          </a:p>
          <a:p>
            <a:pPr eaLnBrk="1" hangingPunct="1"/>
            <a:r>
              <a:rPr lang="en-US" altLang="en-GB" smtClean="0"/>
              <a:t>TM for Computable Functions</a:t>
            </a:r>
          </a:p>
          <a:p>
            <a:pPr eaLnBrk="1" hangingPunct="1"/>
            <a:r>
              <a:rPr lang="en-US" altLang="en-GB" smtClean="0"/>
              <a:t>Alonzo Church’s Thesis (1936)</a:t>
            </a:r>
          </a:p>
          <a:p>
            <a:pPr lvl="1" eaLnBrk="1" hangingPunct="1"/>
            <a:endParaRPr lang="en-US" altLang="en-GB" sz="2200" smtClean="0"/>
          </a:p>
          <a:p>
            <a:pPr eaLnBrk="1" hangingPunct="1"/>
            <a:endParaRPr lang="en-US" altLang="en-GB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28600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2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Computation?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1371600"/>
            <a:ext cx="7391400" cy="35814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3000" b="1" kern="0" dirty="0">
                <a:latin typeface="+mn-lt"/>
              </a:rPr>
              <a:t>  Paradigm instances of computation</a:t>
            </a:r>
            <a:endParaRPr lang="en-US" sz="30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Tx/>
              <a:buChar char="•"/>
              <a:defRPr/>
            </a:pPr>
            <a:r>
              <a:rPr lang="en-US" sz="3000" kern="0" dirty="0">
                <a:latin typeface="+mn-lt"/>
              </a:rPr>
              <a:t> Operations on numeric data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Tx/>
              <a:buChar char="•"/>
              <a:defRPr/>
            </a:pPr>
            <a:r>
              <a:rPr lang="en-US" sz="3000" kern="0" dirty="0">
                <a:latin typeface="+mn-lt"/>
              </a:rPr>
              <a:t> Operations on character data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Tx/>
              <a:buChar char="•"/>
              <a:defRPr/>
            </a:pPr>
            <a:r>
              <a:rPr lang="en-US" sz="3000" kern="0" dirty="0">
                <a:latin typeface="+mn-lt"/>
              </a:rPr>
              <a:t>  Function computation</a:t>
            </a:r>
          </a:p>
        </p:txBody>
      </p:sp>
      <p:sp>
        <p:nvSpPr>
          <p:cNvPr id="7172" name="Text Box 3"/>
          <p:cNvSpPr txBox="1">
            <a:spLocks noChangeArrowheads="1"/>
          </p:cNvSpPr>
          <p:nvPr/>
        </p:nvSpPr>
        <p:spPr bwMode="auto">
          <a:xfrm>
            <a:off x="685800" y="3733800"/>
            <a:ext cx="7772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GB" sz="2800">
                <a:latin typeface="Comic Sans MS" panose="030F0702030302020204" pitchFamily="66" charset="0"/>
              </a:rPr>
              <a:t>Real computers are </a:t>
            </a:r>
            <a:r>
              <a:rPr lang="en-AU" altLang="en-GB" sz="2800">
                <a:solidFill>
                  <a:srgbClr val="FF0000"/>
                </a:solidFill>
                <a:latin typeface="Comic Sans MS" panose="030F0702030302020204" pitchFamily="66" charset="0"/>
              </a:rPr>
              <a:t>finite</a:t>
            </a:r>
            <a:r>
              <a:rPr lang="en-AU" altLang="en-GB" sz="2800">
                <a:latin typeface="Comic Sans MS" panose="030F0702030302020204" pitchFamily="66" charset="0"/>
              </a:rPr>
              <a:t> devices, not infinite, like the Turing machine – they can be understood by a circuit model of computation</a:t>
            </a:r>
            <a:endParaRPr lang="en-US" altLang="en-GB" sz="2800">
              <a:latin typeface="Comic Sans MS" panose="030F0702030302020204" pitchFamily="66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174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74A469-8460-40F4-BD22-B3473A5674B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Three Computational Paradigms</a:t>
            </a: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en-GB" sz="2400" smtClean="0">
                <a:solidFill>
                  <a:schemeClr val="accent2"/>
                </a:solidFill>
              </a:rPr>
              <a:t>Language acceptance</a:t>
            </a:r>
            <a:r>
              <a:rPr lang="en-US" altLang="en-GB" sz="2400" smtClean="0"/>
              <a:t> (recognition)</a:t>
            </a:r>
          </a:p>
          <a:p>
            <a:pPr eaLnBrk="1" hangingPunct="1"/>
            <a:r>
              <a:rPr lang="en-US" altLang="en-GB" sz="2400" smtClean="0">
                <a:solidFill>
                  <a:schemeClr val="accent2"/>
                </a:solidFill>
              </a:rPr>
              <a:t>Transduction</a:t>
            </a:r>
            <a:r>
              <a:rPr lang="en-US" altLang="en-GB" sz="2400" smtClean="0"/>
              <a:t> (transformation of an input into an appropriate output)</a:t>
            </a:r>
          </a:p>
          <a:p>
            <a:pPr lvl="1" eaLnBrk="1" hangingPunct="1"/>
            <a:r>
              <a:rPr lang="en-US" altLang="en-GB" sz="2000" smtClean="0">
                <a:solidFill>
                  <a:schemeClr val="accent2"/>
                </a:solidFill>
              </a:rPr>
              <a:t>Function computation</a:t>
            </a:r>
            <a:r>
              <a:rPr lang="en-US" altLang="en-GB" sz="2000" smtClean="0"/>
              <a:t> (natural numbers only) </a:t>
            </a:r>
          </a:p>
          <a:p>
            <a:pPr eaLnBrk="1" hangingPunct="1"/>
            <a:r>
              <a:rPr lang="en-US" altLang="en-GB" sz="2400" smtClean="0">
                <a:solidFill>
                  <a:schemeClr val="accent2"/>
                </a:solidFill>
              </a:rPr>
              <a:t>Language Generation</a:t>
            </a:r>
            <a:r>
              <a:rPr lang="en-US" altLang="en-GB" sz="2400" smtClean="0"/>
              <a:t> (to list out all the words in the language, also known as enumerating the language)</a:t>
            </a:r>
          </a:p>
          <a:p>
            <a:pPr eaLnBrk="1" hangingPunct="1"/>
            <a:endParaRPr lang="en-US" altLang="en-GB" sz="2400" b="1" smtClean="0">
              <a:solidFill>
                <a:srgbClr val="FF0066"/>
              </a:solidFill>
            </a:endParaRPr>
          </a:p>
          <a:p>
            <a:pPr eaLnBrk="1" hangingPunct="1"/>
            <a:r>
              <a:rPr lang="en-US" altLang="en-GB" sz="2400" b="1" smtClean="0">
                <a:solidFill>
                  <a:srgbClr val="FF0066"/>
                </a:solidFill>
              </a:rPr>
              <a:t>Turing machines</a:t>
            </a:r>
            <a:r>
              <a:rPr lang="en-US" altLang="en-GB" sz="2400" smtClean="0"/>
              <a:t> implement each of these paradigms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221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E8E060-B594-4022-8179-9DA999DB3F7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126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C0FBE3-F133-4F81-9166-554BBBCDB0D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112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505777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43225"/>
            <a:ext cx="44386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25" y="4419600"/>
            <a:ext cx="42195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4000"/>
              <a:t>Functions and Their Computation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539750" y="1557338"/>
            <a:ext cx="8229600" cy="4608512"/>
          </a:xfrm>
        </p:spPr>
        <p:txBody>
          <a:bodyPr/>
          <a:lstStyle/>
          <a:p>
            <a:pPr eaLnBrk="1" hangingPunct="1"/>
            <a:r>
              <a:rPr lang="en-US" altLang="zh-TW" sz="2400" smtClean="0"/>
              <a:t>Function</a:t>
            </a:r>
          </a:p>
          <a:p>
            <a:pPr lvl="1" eaLnBrk="1" hangingPunct="1"/>
            <a:r>
              <a:rPr lang="en-US" altLang="zh-TW" sz="2000" smtClean="0"/>
              <a:t>A correspondence between a collection of possible input values and a collection of output values </a:t>
            </a:r>
          </a:p>
          <a:p>
            <a:pPr lvl="1" eaLnBrk="1" hangingPunct="1"/>
            <a:r>
              <a:rPr lang="en-US" altLang="zh-TW" sz="2000" smtClean="0"/>
              <a:t>Each possible input is assigned a unique output</a:t>
            </a:r>
          </a:p>
          <a:p>
            <a:pPr eaLnBrk="1" hangingPunct="1"/>
            <a:r>
              <a:rPr lang="en-US" altLang="zh-TW" sz="2400" smtClean="0"/>
              <a:t>Computing the function</a:t>
            </a:r>
          </a:p>
          <a:p>
            <a:pPr lvl="1" eaLnBrk="1" hangingPunct="1"/>
            <a:r>
              <a:rPr lang="en-US" altLang="zh-TW" sz="2000" smtClean="0"/>
              <a:t>Process of determining the particular output value that assigns to a given input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2293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AFF514-1034-47A8-BD83-7B39CBEA4E6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468313" y="457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Computable and Non-computable Functions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468313" y="2008188"/>
            <a:ext cx="8229600" cy="401161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zh-TW" sz="2800" smtClean="0"/>
              <a:t>Computable functions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/>
              <a:t>Functions whose output values can be determined algorithmically from their input values</a:t>
            </a:r>
          </a:p>
          <a:p>
            <a:pPr algn="just" eaLnBrk="1" hangingPunct="1">
              <a:lnSpc>
                <a:spcPct val="90000"/>
              </a:lnSpc>
            </a:pPr>
            <a:endParaRPr lang="en-US" altLang="zh-TW" sz="28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zh-TW" sz="2800" smtClean="0"/>
              <a:t>Non-computable functions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/>
              <a:t>Functions that are so complex that there is no well-defined, step-by-step process for determining their output based on their input values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/>
              <a:t>The computation of these functions lies beyond the abilities of any algorithmic system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4341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23896-37DC-4938-8934-D215A087C47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/>
              <a:t>A Turing Machine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419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zh-TW" sz="2400" smtClean="0"/>
              <a:t>Captures the essence of computational process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TW" sz="2400" smtClean="0"/>
              <a:t>Its computational power is as great as any algorithmic system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TW" sz="2400" smtClean="0"/>
              <a:t>If a problem can not be solved by a Turing machine, it can not be solved by any algorithmic system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TW" sz="2400" smtClean="0"/>
              <a:t>Represents a theoretical bound on the capabilities of actual machines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6389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B5EF3A-5DE5-42C7-8479-599204D15B0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88925" y="2540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457200" y="715963"/>
            <a:ext cx="21764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A function</a:t>
            </a:r>
          </a:p>
        </p:txBody>
      </p:sp>
      <p:graphicFrame>
        <p:nvGraphicFramePr>
          <p:cNvPr id="18436" name="Object 2"/>
          <p:cNvGraphicFramePr>
            <a:graphicFrameLocks noChangeAspect="1"/>
          </p:cNvGraphicFramePr>
          <p:nvPr/>
        </p:nvGraphicFramePr>
        <p:xfrm>
          <a:off x="3546475" y="687388"/>
          <a:ext cx="10795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Equation" r:id="rId4" imgW="1079032" imgH="533169" progId="Equation.3">
                  <p:embed/>
                </p:oleObj>
              </mc:Choice>
              <mc:Fallback>
                <p:oleObj name="Equation" r:id="rId4" imgW="1079032" imgH="533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687388"/>
                        <a:ext cx="10795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685800" y="1676400"/>
            <a:ext cx="1665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Domain: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953000" y="1600200"/>
            <a:ext cx="2854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Result Region: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5334000" y="715963"/>
            <a:ext cx="9477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has:</a:t>
            </a:r>
          </a:p>
        </p:txBody>
      </p:sp>
      <p:graphicFrame>
        <p:nvGraphicFramePr>
          <p:cNvPr id="18440" name="Object 3"/>
          <p:cNvGraphicFramePr>
            <a:graphicFrameLocks noChangeAspect="1"/>
          </p:cNvGraphicFramePr>
          <p:nvPr/>
        </p:nvGraphicFramePr>
        <p:xfrm>
          <a:off x="2362200" y="1752600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Equation" r:id="rId6" imgW="418918" imgH="393529" progId="Equation.3">
                  <p:embed/>
                </p:oleObj>
              </mc:Choice>
              <mc:Fallback>
                <p:oleObj name="Equation" r:id="rId6" imgW="418918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52600"/>
                        <a:ext cx="41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4"/>
          <p:cNvGraphicFramePr>
            <a:graphicFrameLocks noChangeAspect="1"/>
          </p:cNvGraphicFramePr>
          <p:nvPr/>
        </p:nvGraphicFramePr>
        <p:xfrm>
          <a:off x="1295400" y="365760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8" imgW="1244060" imgH="406224" progId="Equation.3">
                  <p:embed/>
                </p:oleObj>
              </mc:Choice>
              <mc:Fallback>
                <p:oleObj name="Equation" r:id="rId8" imgW="1244060" imgH="4062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657600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5"/>
          <p:cNvGraphicFramePr>
            <a:graphicFrameLocks noChangeAspect="1"/>
          </p:cNvGraphicFramePr>
          <p:nvPr/>
        </p:nvGraphicFramePr>
        <p:xfrm>
          <a:off x="7848600" y="16764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676400"/>
                        <a:ext cx="328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6"/>
          <p:cNvGraphicFramePr>
            <a:graphicFrameLocks noChangeAspect="1"/>
          </p:cNvGraphicFramePr>
          <p:nvPr/>
        </p:nvGraphicFramePr>
        <p:xfrm>
          <a:off x="5334000" y="3505200"/>
          <a:ext cx="1879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Equation" r:id="rId12" imgW="1879600" imgH="533400" progId="Equation.3">
                  <p:embed/>
                </p:oleObj>
              </mc:Choice>
              <mc:Fallback>
                <p:oleObj name="Equation" r:id="rId12" imgW="1879600" imgH="533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505200"/>
                        <a:ext cx="18796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Oval 12"/>
          <p:cNvSpPr>
            <a:spLocks noChangeArrowheads="1"/>
          </p:cNvSpPr>
          <p:nvPr/>
        </p:nvSpPr>
        <p:spPr bwMode="auto">
          <a:xfrm>
            <a:off x="762000" y="2362200"/>
            <a:ext cx="2362200" cy="3200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18445" name="Oval 13"/>
          <p:cNvSpPr>
            <a:spLocks noChangeArrowheads="1"/>
          </p:cNvSpPr>
          <p:nvPr/>
        </p:nvSpPr>
        <p:spPr bwMode="auto">
          <a:xfrm>
            <a:off x="5029200" y="2362200"/>
            <a:ext cx="2362200" cy="3200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2667000" y="38862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GB"/>
          </a:p>
        </p:txBody>
      </p:sp>
      <p:graphicFrame>
        <p:nvGraphicFramePr>
          <p:cNvPr id="18447" name="Object 7"/>
          <p:cNvGraphicFramePr>
            <a:graphicFrameLocks noChangeAspect="1"/>
          </p:cNvGraphicFramePr>
          <p:nvPr/>
        </p:nvGraphicFramePr>
        <p:xfrm>
          <a:off x="3505200" y="3124200"/>
          <a:ext cx="1079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Equation" r:id="rId14" imgW="1079032" imgH="533169" progId="Equation.3">
                  <p:embed/>
                </p:oleObj>
              </mc:Choice>
              <mc:Fallback>
                <p:oleObj name="Equation" r:id="rId14" imgW="1079032" imgH="53316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124200"/>
                        <a:ext cx="10795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8449" name="Slide Number Placeholder 1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77B0F4-AAD1-478D-9EFC-BA033DEED08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593725" y="487363"/>
            <a:ext cx="31480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Integer Domain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676400" y="3810000"/>
            <a:ext cx="14335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Unary: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676400" y="2590800"/>
            <a:ext cx="1503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Binary: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676400" y="1371600"/>
            <a:ext cx="1781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Decimal: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3886200" y="3810000"/>
            <a:ext cx="10969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11111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3886200" y="2590800"/>
            <a:ext cx="796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101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3962400" y="1371600"/>
            <a:ext cx="431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5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52400" y="3352800"/>
            <a:ext cx="8212138" cy="2941638"/>
            <a:chOff x="96" y="2256"/>
            <a:chExt cx="5173" cy="1853"/>
          </a:xfrm>
        </p:grpSpPr>
        <p:sp>
          <p:nvSpPr>
            <p:cNvPr id="20492" name="Text Box 10"/>
            <p:cNvSpPr txBox="1">
              <a:spLocks noChangeArrowheads="1"/>
            </p:cNvSpPr>
            <p:nvPr/>
          </p:nvSpPr>
          <p:spPr bwMode="auto">
            <a:xfrm>
              <a:off x="96" y="3168"/>
              <a:ext cx="407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</a:rPr>
                <a:t>We prefer </a:t>
              </a:r>
              <a:r>
                <a:rPr lang="en-US" altLang="en-GB" sz="1800" b="1">
                  <a:solidFill>
                    <a:srgbClr val="FF0000"/>
                  </a:solidFill>
                  <a:latin typeface="Arial" panose="020B0604020202020204" pitchFamily="34" charset="0"/>
                </a:rPr>
                <a:t>unary</a:t>
              </a:r>
              <a:r>
                <a:rPr lang="en-US" altLang="en-GB" sz="1800">
                  <a:latin typeface="Arial" panose="020B0604020202020204" pitchFamily="34" charset="0"/>
                </a:rPr>
                <a:t> representation:</a:t>
              </a:r>
            </a:p>
          </p:txBody>
        </p:sp>
        <p:sp>
          <p:nvSpPr>
            <p:cNvPr id="20493" name="Text Box 11"/>
            <p:cNvSpPr txBox="1">
              <a:spLocks noChangeArrowheads="1"/>
            </p:cNvSpPr>
            <p:nvPr/>
          </p:nvSpPr>
          <p:spPr bwMode="auto">
            <a:xfrm>
              <a:off x="144" y="3744"/>
              <a:ext cx="512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</a:rPr>
                <a:t>easier to manipulate with Turing machines</a:t>
              </a:r>
            </a:p>
          </p:txBody>
        </p:sp>
        <p:sp>
          <p:nvSpPr>
            <p:cNvPr id="20494" name="Oval 12"/>
            <p:cNvSpPr>
              <a:spLocks noChangeArrowheads="1"/>
            </p:cNvSpPr>
            <p:nvPr/>
          </p:nvSpPr>
          <p:spPr bwMode="auto">
            <a:xfrm>
              <a:off x="864" y="2256"/>
              <a:ext cx="2496" cy="6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GB" sz="1800">
                <a:latin typeface="Arial" panose="020B0604020202020204" pitchFamily="34" charset="0"/>
              </a:endParaRPr>
            </a:p>
          </p:txBody>
        </p:sp>
      </p:grp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0491" name="Slide Number Placeholder 1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FCDA29-7D3E-49CF-A7AE-2EFD577BF9F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z="3200" smtClean="0"/>
              <a:t>Computable Function</a:t>
            </a: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400" smtClean="0"/>
              <a:t>If TM takes a sequence of numbers as input and leaves only one number as output, we say that the computer has acted like a mathematical </a:t>
            </a:r>
            <a:r>
              <a:rPr lang="en-US" altLang="en-GB" sz="2400" b="1" i="1" smtClean="0"/>
              <a:t>function</a:t>
            </a:r>
            <a:r>
              <a:rPr lang="en-US" altLang="en-GB" sz="2400" smtClean="0"/>
              <a:t>. Any operation that is defined on all sequence of </a:t>
            </a:r>
            <a:r>
              <a:rPr lang="en-US" altLang="en-GB" sz="2400" b="1" i="1" smtClean="0"/>
              <a:t>K</a:t>
            </a:r>
            <a:r>
              <a:rPr lang="en-US" altLang="en-GB" sz="2400" smtClean="0"/>
              <a:t> numbers ( for some </a:t>
            </a:r>
            <a:r>
              <a:rPr lang="en-US" altLang="en-GB" sz="2400" b="1" i="1" smtClean="0"/>
              <a:t>K </a:t>
            </a:r>
            <a:r>
              <a:rPr lang="en-US" altLang="en-GB" sz="2400" b="1" i="1" smtClean="0">
                <a:cs typeface="Arial" panose="020B0604020202020204" pitchFamily="34" charset="0"/>
              </a:rPr>
              <a:t>≥</a:t>
            </a:r>
            <a:r>
              <a:rPr lang="en-US" altLang="en-GB" sz="2400" b="1" i="1" smtClean="0"/>
              <a:t>1</a:t>
            </a:r>
            <a:r>
              <a:rPr lang="en-US" altLang="en-GB" sz="2400" smtClean="0"/>
              <a:t>) and that can be performed by a TM is called </a:t>
            </a:r>
            <a:r>
              <a:rPr lang="en-US" altLang="en-GB" sz="2400" b="1" i="1" smtClean="0"/>
              <a:t>Turing Computable</a:t>
            </a:r>
            <a:r>
              <a:rPr lang="en-US" altLang="en-GB" sz="2400" smtClean="0"/>
              <a:t> or just </a:t>
            </a:r>
            <a:r>
              <a:rPr lang="en-US" altLang="en-GB" sz="2400" b="1" i="1" smtClean="0"/>
              <a:t>computable</a:t>
            </a:r>
            <a:r>
              <a:rPr lang="en-US" altLang="en-GB" sz="2400" smtClean="0"/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400" smtClean="0"/>
              <a:t>Example addition, subtraction, max, min, multiplication are computable function and defined for </a:t>
            </a:r>
            <a:r>
              <a:rPr lang="en-US" altLang="en-GB" sz="2400" b="1" i="1" smtClean="0"/>
              <a:t>K</a:t>
            </a:r>
            <a:r>
              <a:rPr lang="en-US" altLang="en-GB" sz="2400" smtClean="0"/>
              <a:t> = 2.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400" smtClean="0"/>
              <a:t>Identity, successor are computable functions defined for K = 1, so there is only one input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2533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D266D3-EB06-4046-8EF8-50A7A4100EC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/>
          <p:cNvSpPr txBox="1">
            <a:spLocks noChangeArrowheads="1"/>
          </p:cNvSpPr>
          <p:nvPr/>
        </p:nvSpPr>
        <p:spPr bwMode="auto">
          <a:xfrm>
            <a:off x="533400" y="838200"/>
            <a:ext cx="8316913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A function             is computable if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there is a Turing Machine          such that: </a:t>
            </a:r>
          </a:p>
        </p:txBody>
      </p:sp>
      <p:graphicFrame>
        <p:nvGraphicFramePr>
          <p:cNvPr id="24579" name="Object 2"/>
          <p:cNvGraphicFramePr>
            <a:graphicFrameLocks noChangeAspect="1"/>
          </p:cNvGraphicFramePr>
          <p:nvPr/>
        </p:nvGraphicFramePr>
        <p:xfrm>
          <a:off x="1828800" y="609600"/>
          <a:ext cx="3794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Equation" r:id="rId4" imgW="380835" imgH="533169" progId="Equation.3">
                  <p:embed/>
                </p:oleObj>
              </mc:Choice>
              <mc:Fallback>
                <p:oleObj name="Equation" r:id="rId4" imgW="380835" imgH="533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609600"/>
                        <a:ext cx="3794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3"/>
          <p:cNvGraphicFramePr>
            <a:graphicFrameLocks noChangeAspect="1"/>
          </p:cNvGraphicFramePr>
          <p:nvPr/>
        </p:nvGraphicFramePr>
        <p:xfrm>
          <a:off x="3276600" y="11430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3" name="Equation" r:id="rId6" imgW="545863" imgH="393529" progId="Equation.3">
                  <p:embed/>
                </p:oleObj>
              </mc:Choice>
              <mc:Fallback>
                <p:oleObj name="Equation" r:id="rId6" imgW="545863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43000"/>
                        <a:ext cx="5445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6"/>
          <p:cNvSpPr txBox="1">
            <a:spLocks noChangeArrowheads="1"/>
          </p:cNvSpPr>
          <p:nvPr/>
        </p:nvSpPr>
        <p:spPr bwMode="auto">
          <a:xfrm>
            <a:off x="152400" y="2895600"/>
            <a:ext cx="4002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Initial configuration</a:t>
            </a:r>
          </a:p>
        </p:txBody>
      </p:sp>
      <p:sp>
        <p:nvSpPr>
          <p:cNvPr id="24582" name="Text Box 7"/>
          <p:cNvSpPr txBox="1">
            <a:spLocks noChangeArrowheads="1"/>
          </p:cNvSpPr>
          <p:nvPr/>
        </p:nvSpPr>
        <p:spPr bwMode="auto">
          <a:xfrm>
            <a:off x="5029200" y="2895600"/>
            <a:ext cx="37195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Final configuration</a:t>
            </a:r>
          </a:p>
        </p:txBody>
      </p:sp>
      <p:graphicFrame>
        <p:nvGraphicFramePr>
          <p:cNvPr id="24583" name="Object 4"/>
          <p:cNvGraphicFramePr>
            <a:graphicFrameLocks noChangeAspect="1"/>
          </p:cNvGraphicFramePr>
          <p:nvPr/>
        </p:nvGraphicFramePr>
        <p:xfrm>
          <a:off x="3505200" y="546100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4" name="Equation" r:id="rId8" imgW="1244060" imgH="406224" progId="Equation.3">
                  <p:embed/>
                </p:oleObj>
              </mc:Choice>
              <mc:Fallback>
                <p:oleObj name="Equation" r:id="rId8" imgW="1244060" imgH="4062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461000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 Box 9"/>
          <p:cNvSpPr txBox="1">
            <a:spLocks noChangeArrowheads="1"/>
          </p:cNvSpPr>
          <p:nvPr/>
        </p:nvSpPr>
        <p:spPr bwMode="auto">
          <a:xfrm>
            <a:off x="4800600" y="5516563"/>
            <a:ext cx="1543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Domain</a:t>
            </a:r>
          </a:p>
        </p:txBody>
      </p:sp>
      <p:sp>
        <p:nvSpPr>
          <p:cNvPr id="24585" name="Line 10"/>
          <p:cNvSpPr>
            <a:spLocks noChangeShapeType="1"/>
          </p:cNvSpPr>
          <p:nvPr/>
        </p:nvSpPr>
        <p:spPr bwMode="auto">
          <a:xfrm>
            <a:off x="457200" y="35052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86" name="Line 11"/>
          <p:cNvSpPr>
            <a:spLocks noChangeShapeType="1"/>
          </p:cNvSpPr>
          <p:nvPr/>
        </p:nvSpPr>
        <p:spPr bwMode="auto">
          <a:xfrm>
            <a:off x="457200" y="41910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87" name="Line 12"/>
          <p:cNvSpPr>
            <a:spLocks noChangeShapeType="1"/>
          </p:cNvSpPr>
          <p:nvPr/>
        </p:nvSpPr>
        <p:spPr bwMode="auto">
          <a:xfrm>
            <a:off x="838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88" name="Line 13"/>
          <p:cNvSpPr>
            <a:spLocks noChangeShapeType="1"/>
          </p:cNvSpPr>
          <p:nvPr/>
        </p:nvSpPr>
        <p:spPr bwMode="auto">
          <a:xfrm>
            <a:off x="1371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89" name="Line 14"/>
          <p:cNvSpPr>
            <a:spLocks noChangeShapeType="1"/>
          </p:cNvSpPr>
          <p:nvPr/>
        </p:nvSpPr>
        <p:spPr bwMode="auto">
          <a:xfrm>
            <a:off x="2895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90" name="Line 15"/>
          <p:cNvSpPr>
            <a:spLocks noChangeShapeType="1"/>
          </p:cNvSpPr>
          <p:nvPr/>
        </p:nvSpPr>
        <p:spPr bwMode="auto">
          <a:xfrm flipV="1">
            <a:off x="16002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24591" name="Object 5"/>
          <p:cNvGraphicFramePr>
            <a:graphicFrameLocks noChangeAspect="1"/>
          </p:cNvGraphicFramePr>
          <p:nvPr/>
        </p:nvGraphicFramePr>
        <p:xfrm>
          <a:off x="9906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6"/>
          <p:cNvGraphicFramePr>
            <a:graphicFrameLocks noChangeAspect="1"/>
          </p:cNvGraphicFramePr>
          <p:nvPr/>
        </p:nvGraphicFramePr>
        <p:xfrm>
          <a:off x="1371600" y="45720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6" name="Equation" r:id="rId12" imgW="444307" imgH="533169" progId="Equation.3">
                  <p:embed/>
                </p:oleObj>
              </mc:Choice>
              <mc:Fallback>
                <p:oleObj name="Equation" r:id="rId12" imgW="444307" imgH="53316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720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7"/>
          <p:cNvGraphicFramePr>
            <a:graphicFrameLocks noChangeAspect="1"/>
          </p:cNvGraphicFramePr>
          <p:nvPr/>
        </p:nvGraphicFramePr>
        <p:xfrm>
          <a:off x="30480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7"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4" name="Object 8"/>
          <p:cNvGraphicFramePr>
            <a:graphicFrameLocks noChangeAspect="1"/>
          </p:cNvGraphicFramePr>
          <p:nvPr/>
        </p:nvGraphicFramePr>
        <p:xfrm>
          <a:off x="1981200" y="3733800"/>
          <a:ext cx="330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8" name="Equation" r:id="rId15" imgW="330200" imgH="279400" progId="Equation.3">
                  <p:embed/>
                </p:oleObj>
              </mc:Choice>
              <mc:Fallback>
                <p:oleObj name="Equation" r:id="rId15" imgW="330200" imgH="279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733800"/>
                        <a:ext cx="330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5" name="Line 20"/>
          <p:cNvSpPr>
            <a:spLocks noChangeShapeType="1"/>
          </p:cNvSpPr>
          <p:nvPr/>
        </p:nvSpPr>
        <p:spPr bwMode="auto">
          <a:xfrm>
            <a:off x="3429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96" name="Line 21"/>
          <p:cNvSpPr>
            <a:spLocks noChangeShapeType="1"/>
          </p:cNvSpPr>
          <p:nvPr/>
        </p:nvSpPr>
        <p:spPr bwMode="auto">
          <a:xfrm>
            <a:off x="5257800" y="35052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97" name="Line 22"/>
          <p:cNvSpPr>
            <a:spLocks noChangeShapeType="1"/>
          </p:cNvSpPr>
          <p:nvPr/>
        </p:nvSpPr>
        <p:spPr bwMode="auto">
          <a:xfrm>
            <a:off x="5257800" y="41910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98" name="Line 23"/>
          <p:cNvSpPr>
            <a:spLocks noChangeShapeType="1"/>
          </p:cNvSpPr>
          <p:nvPr/>
        </p:nvSpPr>
        <p:spPr bwMode="auto">
          <a:xfrm>
            <a:off x="5638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599" name="Line 24"/>
          <p:cNvSpPr>
            <a:spLocks noChangeShapeType="1"/>
          </p:cNvSpPr>
          <p:nvPr/>
        </p:nvSpPr>
        <p:spPr bwMode="auto">
          <a:xfrm>
            <a:off x="6172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600" name="Line 25"/>
          <p:cNvSpPr>
            <a:spLocks noChangeShapeType="1"/>
          </p:cNvSpPr>
          <p:nvPr/>
        </p:nvSpPr>
        <p:spPr bwMode="auto">
          <a:xfrm>
            <a:off x="7696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601" name="Line 26"/>
          <p:cNvSpPr>
            <a:spLocks noChangeShapeType="1"/>
          </p:cNvSpPr>
          <p:nvPr/>
        </p:nvSpPr>
        <p:spPr bwMode="auto">
          <a:xfrm flipV="1">
            <a:off x="64008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24602" name="Object 9"/>
          <p:cNvGraphicFramePr>
            <a:graphicFrameLocks noChangeAspect="1"/>
          </p:cNvGraphicFramePr>
          <p:nvPr/>
        </p:nvGraphicFramePr>
        <p:xfrm>
          <a:off x="57912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9" name="Equation" r:id="rId17" imgW="253890" imgH="368140" progId="Equation.3">
                  <p:embed/>
                </p:oleObj>
              </mc:Choice>
              <mc:Fallback>
                <p:oleObj name="Equation" r:id="rId17" imgW="253890" imgH="3681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3" name="Object 10"/>
          <p:cNvGraphicFramePr>
            <a:graphicFrameLocks noChangeAspect="1"/>
          </p:cNvGraphicFramePr>
          <p:nvPr/>
        </p:nvGraphicFramePr>
        <p:xfrm>
          <a:off x="6127750" y="4533900"/>
          <a:ext cx="531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0" name="Equation" r:id="rId18" imgW="533169" imgH="609336" progId="Equation.3">
                  <p:embed/>
                </p:oleObj>
              </mc:Choice>
              <mc:Fallback>
                <p:oleObj name="Equation" r:id="rId18" imgW="533169" imgH="60933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4533900"/>
                        <a:ext cx="5318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11"/>
          <p:cNvGraphicFramePr>
            <a:graphicFrameLocks noChangeAspect="1"/>
          </p:cNvGraphicFramePr>
          <p:nvPr/>
        </p:nvGraphicFramePr>
        <p:xfrm>
          <a:off x="78486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1" name="Equation" r:id="rId20" imgW="253890" imgH="368140" progId="Equation.3">
                  <p:embed/>
                </p:oleObj>
              </mc:Choice>
              <mc:Fallback>
                <p:oleObj name="Equation" r:id="rId20" imgW="253890" imgH="3681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5" name="Object 12"/>
          <p:cNvGraphicFramePr>
            <a:graphicFrameLocks noChangeAspect="1"/>
          </p:cNvGraphicFramePr>
          <p:nvPr/>
        </p:nvGraphicFramePr>
        <p:xfrm>
          <a:off x="6477000" y="3581400"/>
          <a:ext cx="977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2" name="Equation" r:id="rId21" imgW="977476" imgH="482391" progId="Equation.3">
                  <p:embed/>
                </p:oleObj>
              </mc:Choice>
              <mc:Fallback>
                <p:oleObj name="Equation" r:id="rId21" imgW="977476" imgH="48239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581400"/>
                        <a:ext cx="977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6" name="Line 31"/>
          <p:cNvSpPr>
            <a:spLocks noChangeShapeType="1"/>
          </p:cNvSpPr>
          <p:nvPr/>
        </p:nvSpPr>
        <p:spPr bwMode="auto">
          <a:xfrm>
            <a:off x="8229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4607" name="Text Box 32"/>
          <p:cNvSpPr txBox="1">
            <a:spLocks noChangeArrowheads="1"/>
          </p:cNvSpPr>
          <p:nvPr/>
        </p:nvSpPr>
        <p:spPr bwMode="auto">
          <a:xfrm>
            <a:off x="6781800" y="4572000"/>
            <a:ext cx="2171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final state</a:t>
            </a:r>
          </a:p>
        </p:txBody>
      </p:sp>
      <p:sp>
        <p:nvSpPr>
          <p:cNvPr id="24608" name="Text Box 33"/>
          <p:cNvSpPr txBox="1">
            <a:spLocks noChangeArrowheads="1"/>
          </p:cNvSpPr>
          <p:nvPr/>
        </p:nvSpPr>
        <p:spPr bwMode="auto">
          <a:xfrm>
            <a:off x="1981200" y="4572000"/>
            <a:ext cx="2386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initial state</a:t>
            </a:r>
          </a:p>
        </p:txBody>
      </p:sp>
      <p:sp>
        <p:nvSpPr>
          <p:cNvPr id="24609" name="Text Box 34"/>
          <p:cNvSpPr txBox="1">
            <a:spLocks noChangeArrowheads="1"/>
          </p:cNvSpPr>
          <p:nvPr/>
        </p:nvSpPr>
        <p:spPr bwMode="auto">
          <a:xfrm>
            <a:off x="2646363" y="5516563"/>
            <a:ext cx="13922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For all</a:t>
            </a:r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4611" name="Slide Number Placeholder 3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492D3D-30EE-4EA6-9AC0-B6B9927820E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2362200" cy="609600"/>
          </a:xfrm>
        </p:spPr>
        <p:txBody>
          <a:bodyPr/>
          <a:lstStyle/>
          <a:p>
            <a:pPr eaLnBrk="1" hangingPunct="1"/>
            <a:r>
              <a:rPr lang="en-US" altLang="en-GB" sz="3200" smtClean="0"/>
              <a:t>Identity TM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6629" name="Slide Number Placeholder 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614C5B-3C57-4D60-B8F3-6B4594A91C3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663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5867400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352800"/>
            <a:ext cx="7239000" cy="235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 Box 6"/>
          <p:cNvSpPr txBox="1">
            <a:spLocks noChangeArrowheads="1"/>
          </p:cNvSpPr>
          <p:nvPr/>
        </p:nvSpPr>
        <p:spPr bwMode="auto">
          <a:xfrm>
            <a:off x="5715000" y="5668963"/>
            <a:ext cx="29352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>
                <a:solidFill>
                  <a:schemeClr val="hlink"/>
                </a:solidFill>
                <a:latin typeface="Arial" panose="020B0604020202020204" pitchFamily="34" charset="0"/>
              </a:rPr>
              <a:t>Successor TM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Example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8676" name="Slide Number Placeholder 1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FEEBED-6AD9-4963-A224-20EA7B69BCE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8677" name="Text Box 3"/>
          <p:cNvSpPr txBox="1">
            <a:spLocks noChangeArrowheads="1"/>
          </p:cNvSpPr>
          <p:nvPr/>
        </p:nvSpPr>
        <p:spPr bwMode="auto">
          <a:xfrm>
            <a:off x="288925" y="1168400"/>
            <a:ext cx="2613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The function</a:t>
            </a:r>
          </a:p>
        </p:txBody>
      </p:sp>
      <p:graphicFrame>
        <p:nvGraphicFramePr>
          <p:cNvPr id="28678" name="Object 2"/>
          <p:cNvGraphicFramePr>
            <a:graphicFrameLocks noChangeAspect="1"/>
          </p:cNvGraphicFramePr>
          <p:nvPr/>
        </p:nvGraphicFramePr>
        <p:xfrm>
          <a:off x="3048000" y="1193800"/>
          <a:ext cx="299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4" imgW="2997200" imgH="533400" progId="Equation.3">
                  <p:embed/>
                </p:oleObj>
              </mc:Choice>
              <mc:Fallback>
                <p:oleObj name="Equation" r:id="rId4" imgW="2997200" imgH="533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193800"/>
                        <a:ext cx="2997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Text Box 5"/>
          <p:cNvSpPr txBox="1">
            <a:spLocks noChangeArrowheads="1"/>
          </p:cNvSpPr>
          <p:nvPr/>
        </p:nvSpPr>
        <p:spPr bwMode="auto">
          <a:xfrm>
            <a:off x="6381750" y="1143000"/>
            <a:ext cx="2762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is computable</a:t>
            </a:r>
          </a:p>
        </p:txBody>
      </p:sp>
      <p:sp>
        <p:nvSpPr>
          <p:cNvPr id="28680" name="Text Box 6"/>
          <p:cNvSpPr txBox="1">
            <a:spLocks noChangeArrowheads="1"/>
          </p:cNvSpPr>
          <p:nvPr/>
        </p:nvSpPr>
        <p:spPr bwMode="auto">
          <a:xfrm>
            <a:off x="228600" y="3352800"/>
            <a:ext cx="3214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CC0099"/>
                </a:solidFill>
                <a:latin typeface="Arial" panose="020B0604020202020204" pitchFamily="34" charset="0"/>
              </a:rPr>
              <a:t>Turing Machine:</a:t>
            </a:r>
          </a:p>
        </p:txBody>
      </p:sp>
      <p:sp>
        <p:nvSpPr>
          <p:cNvPr id="28681" name="Text Box 7"/>
          <p:cNvSpPr txBox="1">
            <a:spLocks noChangeArrowheads="1"/>
          </p:cNvSpPr>
          <p:nvPr/>
        </p:nvSpPr>
        <p:spPr bwMode="auto">
          <a:xfrm>
            <a:off x="1828800" y="4267200"/>
            <a:ext cx="2613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Input string:</a:t>
            </a:r>
          </a:p>
        </p:txBody>
      </p:sp>
      <p:graphicFrame>
        <p:nvGraphicFramePr>
          <p:cNvPr id="28682" name="Object 3"/>
          <p:cNvGraphicFramePr>
            <a:graphicFrameLocks noChangeAspect="1"/>
          </p:cNvGraphicFramePr>
          <p:nvPr/>
        </p:nvGraphicFramePr>
        <p:xfrm>
          <a:off x="4930775" y="429260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6" imgW="838200" imgH="520700" progId="Equation.3">
                  <p:embed/>
                </p:oleObj>
              </mc:Choice>
              <mc:Fallback>
                <p:oleObj name="Equation" r:id="rId6" imgW="838200" imgH="520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4292600"/>
                        <a:ext cx="838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3" name="Text Box 9"/>
          <p:cNvSpPr txBox="1">
            <a:spLocks noChangeArrowheads="1"/>
          </p:cNvSpPr>
          <p:nvPr/>
        </p:nvSpPr>
        <p:spPr bwMode="auto">
          <a:xfrm>
            <a:off x="6569075" y="4318000"/>
            <a:ext cx="1222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unary</a:t>
            </a:r>
          </a:p>
        </p:txBody>
      </p:sp>
      <p:sp>
        <p:nvSpPr>
          <p:cNvPr id="28684" name="Text Box 10"/>
          <p:cNvSpPr txBox="1">
            <a:spLocks noChangeArrowheads="1"/>
          </p:cNvSpPr>
          <p:nvPr/>
        </p:nvSpPr>
        <p:spPr bwMode="auto">
          <a:xfrm>
            <a:off x="1463675" y="5384800"/>
            <a:ext cx="290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Output string:</a:t>
            </a:r>
          </a:p>
        </p:txBody>
      </p:sp>
      <p:graphicFrame>
        <p:nvGraphicFramePr>
          <p:cNvPr id="28685" name="Object 4"/>
          <p:cNvGraphicFramePr>
            <a:graphicFrameLocks noChangeAspect="1"/>
          </p:cNvGraphicFramePr>
          <p:nvPr/>
        </p:nvGraphicFramePr>
        <p:xfrm>
          <a:off x="4886325" y="5435600"/>
          <a:ext cx="774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Equation" r:id="rId8" imgW="774364" imgH="520474" progId="Equation.3">
                  <p:embed/>
                </p:oleObj>
              </mc:Choice>
              <mc:Fallback>
                <p:oleObj name="Equation" r:id="rId8" imgW="774364" imgH="5204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325" y="5435600"/>
                        <a:ext cx="774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Text Box 12"/>
          <p:cNvSpPr txBox="1">
            <a:spLocks noChangeArrowheads="1"/>
          </p:cNvSpPr>
          <p:nvPr/>
        </p:nvSpPr>
        <p:spPr bwMode="auto">
          <a:xfrm>
            <a:off x="6553200" y="5410200"/>
            <a:ext cx="1222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unary</a:t>
            </a:r>
          </a:p>
        </p:txBody>
      </p:sp>
      <p:graphicFrame>
        <p:nvGraphicFramePr>
          <p:cNvPr id="28687" name="Object 5"/>
          <p:cNvGraphicFramePr>
            <a:graphicFrameLocks noChangeAspect="1"/>
          </p:cNvGraphicFramePr>
          <p:nvPr/>
        </p:nvGraphicFramePr>
        <p:xfrm>
          <a:off x="4997450" y="2343150"/>
          <a:ext cx="74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Equation" r:id="rId10" imgW="748975" imgH="406224" progId="Equation.3">
                  <p:embed/>
                </p:oleObj>
              </mc:Choice>
              <mc:Fallback>
                <p:oleObj name="Equation" r:id="rId10" imgW="748975" imgH="4062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2343150"/>
                        <a:ext cx="749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8" name="Text Box 14"/>
          <p:cNvSpPr txBox="1">
            <a:spLocks noChangeArrowheads="1"/>
          </p:cNvSpPr>
          <p:nvPr/>
        </p:nvSpPr>
        <p:spPr bwMode="auto">
          <a:xfrm>
            <a:off x="6248400" y="2209800"/>
            <a:ext cx="2505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are integers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>
            <a:off x="1981200" y="17526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>
            <a:off x="1981200" y="24384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23622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28956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34290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39624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62484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67818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82296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 flipV="1">
            <a:off x="3124200" y="2438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0732" name="Object 2"/>
          <p:cNvGraphicFramePr>
            <a:graphicFrameLocks noChangeAspect="1"/>
          </p:cNvGraphicFramePr>
          <p:nvPr/>
        </p:nvGraphicFramePr>
        <p:xfrm>
          <a:off x="2514600" y="1905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6"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05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3"/>
          <p:cNvGraphicFramePr>
            <a:graphicFrameLocks noChangeAspect="1"/>
          </p:cNvGraphicFramePr>
          <p:nvPr/>
        </p:nvGraphicFramePr>
        <p:xfrm>
          <a:off x="5867400" y="19050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name="Equation" r:id="rId6" imgW="253890" imgH="380835" progId="Equation.3">
                  <p:embed/>
                </p:oleObj>
              </mc:Choice>
              <mc:Fallback>
                <p:oleObj name="Equation" r:id="rId6" imgW="253890" imgH="3808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05000"/>
                        <a:ext cx="2524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4"/>
          <p:cNvGraphicFramePr>
            <a:graphicFrameLocks noChangeAspect="1"/>
          </p:cNvGraphicFramePr>
          <p:nvPr/>
        </p:nvGraphicFramePr>
        <p:xfrm>
          <a:off x="2895600" y="28194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8"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194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5"/>
          <p:cNvGraphicFramePr>
            <a:graphicFrameLocks noChangeAspect="1"/>
          </p:cNvGraphicFramePr>
          <p:nvPr/>
        </p:nvGraphicFramePr>
        <p:xfrm>
          <a:off x="3657600" y="1905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9" name="Equation" r:id="rId10" imgW="165028" imgH="368140" progId="Equation.3">
                  <p:embed/>
                </p:oleObj>
              </mc:Choice>
              <mc:Fallback>
                <p:oleObj name="Equation" r:id="rId10" imgW="165028" imgH="3681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9050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6"/>
          <p:cNvGraphicFramePr>
            <a:graphicFrameLocks noChangeAspect="1"/>
          </p:cNvGraphicFramePr>
          <p:nvPr/>
        </p:nvGraphicFramePr>
        <p:xfrm>
          <a:off x="6400800" y="1905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0" name="Equation" r:id="rId12" imgW="165028" imgH="368140" progId="Equation.3">
                  <p:embed/>
                </p:oleObj>
              </mc:Choice>
              <mc:Fallback>
                <p:oleObj name="Equation" r:id="rId12" imgW="165028" imgH="3681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9050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7" name="Object 7"/>
          <p:cNvGraphicFramePr>
            <a:graphicFrameLocks noChangeAspect="1"/>
          </p:cNvGraphicFramePr>
          <p:nvPr/>
        </p:nvGraphicFramePr>
        <p:xfrm>
          <a:off x="8382000" y="1905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1"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1905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8"/>
          <p:cNvGraphicFramePr>
            <a:graphicFrameLocks noChangeAspect="1"/>
          </p:cNvGraphicFramePr>
          <p:nvPr/>
        </p:nvGraphicFramePr>
        <p:xfrm>
          <a:off x="3092450" y="1916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2" name="Equation" r:id="rId15" imgW="165028" imgH="368140" progId="Equation.3">
                  <p:embed/>
                </p:oleObj>
              </mc:Choice>
              <mc:Fallback>
                <p:oleObj name="Equation" r:id="rId15" imgW="165028" imgH="3681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191611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9" name="Object 9"/>
          <p:cNvGraphicFramePr>
            <a:graphicFrameLocks noChangeAspect="1"/>
          </p:cNvGraphicFramePr>
          <p:nvPr/>
        </p:nvGraphicFramePr>
        <p:xfrm>
          <a:off x="7848600" y="1905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3" name="Equation" r:id="rId16" imgW="165028" imgH="368140" progId="Equation.3">
                  <p:embed/>
                </p:oleObj>
              </mc:Choice>
              <mc:Fallback>
                <p:oleObj name="Equation" r:id="rId16" imgW="165028" imgH="3681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9050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0" name="Object 10"/>
          <p:cNvGraphicFramePr>
            <a:graphicFrameLocks noChangeAspect="1"/>
          </p:cNvGraphicFramePr>
          <p:nvPr/>
        </p:nvGraphicFramePr>
        <p:xfrm>
          <a:off x="4178300" y="6731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4" name="Equation" r:id="rId17" imgW="291973" imgH="304668" progId="Equation.3">
                  <p:embed/>
                </p:oleObj>
              </mc:Choice>
              <mc:Fallback>
                <p:oleObj name="Equation" r:id="rId17" imgW="291973" imgH="30466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6731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11"/>
          <p:cNvGraphicFramePr>
            <a:graphicFrameLocks noChangeAspect="1"/>
          </p:cNvGraphicFramePr>
          <p:nvPr/>
        </p:nvGraphicFramePr>
        <p:xfrm>
          <a:off x="7073900" y="66675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5" name="Equation" r:id="rId19" imgW="317225" imgH="406048" progId="Equation.3">
                  <p:embed/>
                </p:oleObj>
              </mc:Choice>
              <mc:Fallback>
                <p:oleObj name="Equation" r:id="rId19" imgW="317225" imgH="40604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666750"/>
                        <a:ext cx="315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12"/>
          <p:cNvGraphicFramePr>
            <a:graphicFrameLocks noChangeAspect="1"/>
          </p:cNvGraphicFramePr>
          <p:nvPr/>
        </p:nvGraphicFramePr>
        <p:xfrm>
          <a:off x="5410200" y="1905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6" name="Equation" r:id="rId21" imgW="165028" imgH="368140" progId="Equation.3">
                  <p:embed/>
                </p:oleObj>
              </mc:Choice>
              <mc:Fallback>
                <p:oleObj name="Equation" r:id="rId21" imgW="165028" imgH="3681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9050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Line 23"/>
          <p:cNvSpPr>
            <a:spLocks noChangeShapeType="1"/>
          </p:cNvSpPr>
          <p:nvPr/>
        </p:nvSpPr>
        <p:spPr bwMode="auto">
          <a:xfrm>
            <a:off x="57150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744" name="Line 24"/>
          <p:cNvSpPr>
            <a:spLocks noChangeShapeType="1"/>
          </p:cNvSpPr>
          <p:nvPr/>
        </p:nvSpPr>
        <p:spPr bwMode="auto">
          <a:xfrm>
            <a:off x="51816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0745" name="Object 13"/>
          <p:cNvGraphicFramePr>
            <a:graphicFrameLocks noChangeAspect="1"/>
          </p:cNvGraphicFramePr>
          <p:nvPr/>
        </p:nvGraphicFramePr>
        <p:xfrm>
          <a:off x="4419600" y="2057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7" name="Equation" r:id="rId22" imgW="418918" imgH="114250" progId="Equation.3">
                  <p:embed/>
                </p:oleObj>
              </mc:Choice>
              <mc:Fallback>
                <p:oleObj name="Equation" r:id="rId22" imgW="418918" imgH="11425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419100" cy="11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6" name="Line 26"/>
          <p:cNvSpPr>
            <a:spLocks noChangeShapeType="1"/>
          </p:cNvSpPr>
          <p:nvPr/>
        </p:nvSpPr>
        <p:spPr bwMode="auto">
          <a:xfrm>
            <a:off x="76962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0747" name="Object 14"/>
          <p:cNvGraphicFramePr>
            <a:graphicFrameLocks noChangeAspect="1"/>
          </p:cNvGraphicFramePr>
          <p:nvPr/>
        </p:nvGraphicFramePr>
        <p:xfrm>
          <a:off x="7010400" y="2057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8" name="Equation" r:id="rId24" imgW="418918" imgH="114250" progId="Equation.3">
                  <p:embed/>
                </p:oleObj>
              </mc:Choice>
              <mc:Fallback>
                <p:oleObj name="Equation" r:id="rId24" imgW="418918" imgH="11425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057400"/>
                        <a:ext cx="419100" cy="11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8" name="AutoShape 28"/>
          <p:cNvSpPr>
            <a:spLocks/>
          </p:cNvSpPr>
          <p:nvPr/>
        </p:nvSpPr>
        <p:spPr bwMode="auto">
          <a:xfrm rot="-5413608">
            <a:off x="4038600" y="76200"/>
            <a:ext cx="533400" cy="2667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30749" name="AutoShape 29"/>
          <p:cNvSpPr>
            <a:spLocks/>
          </p:cNvSpPr>
          <p:nvPr/>
        </p:nvSpPr>
        <p:spPr bwMode="auto">
          <a:xfrm rot="-5413608">
            <a:off x="6972300" y="419100"/>
            <a:ext cx="533400" cy="1981200"/>
          </a:xfrm>
          <a:prstGeom prst="rightBrace">
            <a:avLst>
              <a:gd name="adj1" fmla="val 309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30750" name="Text Box 30"/>
          <p:cNvSpPr txBox="1">
            <a:spLocks noChangeArrowheads="1"/>
          </p:cNvSpPr>
          <p:nvPr/>
        </p:nvSpPr>
        <p:spPr bwMode="auto">
          <a:xfrm>
            <a:off x="304800" y="1752600"/>
            <a:ext cx="1254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Start</a:t>
            </a:r>
          </a:p>
        </p:txBody>
      </p:sp>
      <p:sp>
        <p:nvSpPr>
          <p:cNvPr id="30751" name="Text Box 31"/>
          <p:cNvSpPr txBox="1">
            <a:spLocks noChangeArrowheads="1"/>
          </p:cNvSpPr>
          <p:nvPr/>
        </p:nvSpPr>
        <p:spPr bwMode="auto">
          <a:xfrm>
            <a:off x="1752600" y="3581400"/>
            <a:ext cx="2386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initial state</a:t>
            </a:r>
          </a:p>
        </p:txBody>
      </p:sp>
      <p:sp>
        <p:nvSpPr>
          <p:cNvPr id="30752" name="Line 32"/>
          <p:cNvSpPr>
            <a:spLocks noChangeShapeType="1"/>
          </p:cNvSpPr>
          <p:nvPr/>
        </p:nvSpPr>
        <p:spPr bwMode="auto">
          <a:xfrm flipH="1" flipV="1">
            <a:off x="6019800" y="2514600"/>
            <a:ext cx="1524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GB"/>
          </a:p>
        </p:txBody>
      </p:sp>
      <p:sp>
        <p:nvSpPr>
          <p:cNvPr id="30753" name="Text Box 33"/>
          <p:cNvSpPr txBox="1">
            <a:spLocks noChangeArrowheads="1"/>
          </p:cNvSpPr>
          <p:nvPr/>
        </p:nvSpPr>
        <p:spPr bwMode="auto">
          <a:xfrm>
            <a:off x="3200400" y="5105400"/>
            <a:ext cx="41703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</a:rPr>
              <a:t>The 0 is the delimiter that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</a:rPr>
              <a:t>separates the two numbers</a:t>
            </a:r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0755" name="Slide Number Placeholder 3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875FBE-EB5C-4362-9B37-97AE210F358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val 2"/>
          <p:cNvSpPr>
            <a:spLocks noChangeArrowheads="1"/>
          </p:cNvSpPr>
          <p:nvPr/>
        </p:nvSpPr>
        <p:spPr bwMode="auto">
          <a:xfrm>
            <a:off x="2743200" y="3959225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32771" name="Object 2"/>
          <p:cNvGraphicFramePr>
            <a:graphicFrameLocks noChangeAspect="1"/>
          </p:cNvGraphicFramePr>
          <p:nvPr/>
        </p:nvGraphicFramePr>
        <p:xfrm>
          <a:off x="609600" y="3959225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0" name="Equation" r:id="rId4" imgW="444307" imgH="533169" progId="Equation.3">
                  <p:embed/>
                </p:oleObj>
              </mc:Choice>
              <mc:Fallback>
                <p:oleObj name="Equation" r:id="rId4" imgW="444307" imgH="533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59225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3429000" y="426402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414338" y="381000"/>
            <a:ext cx="5605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CC0099"/>
                </a:solidFill>
                <a:latin typeface="Arial" panose="020B0604020202020204" pitchFamily="34" charset="0"/>
              </a:rPr>
              <a:t>Turing machine for  function</a:t>
            </a: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5270500" y="3971925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32775" name="Object 3"/>
          <p:cNvGraphicFramePr>
            <a:graphicFrameLocks noChangeAspect="1"/>
          </p:cNvGraphicFramePr>
          <p:nvPr/>
        </p:nvGraphicFramePr>
        <p:xfrm>
          <a:off x="2895600" y="3959225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" name="Equation" r:id="rId6" imgW="380835" imgH="520474" progId="Equation.3">
                  <p:embed/>
                </p:oleObj>
              </mc:Choice>
              <mc:Fallback>
                <p:oleObj name="Equation" r:id="rId6" imgW="380835" imgH="5204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959225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7696200" y="3959225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32777" name="Object 4"/>
          <p:cNvGraphicFramePr>
            <a:graphicFrameLocks noChangeAspect="1"/>
          </p:cNvGraphicFramePr>
          <p:nvPr/>
        </p:nvGraphicFramePr>
        <p:xfrm>
          <a:off x="5410200" y="388302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2"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883025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457200" y="3959225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32779" name="Object 5"/>
          <p:cNvGraphicFramePr>
            <a:graphicFrameLocks noChangeAspect="1"/>
          </p:cNvGraphicFramePr>
          <p:nvPr/>
        </p:nvGraphicFramePr>
        <p:xfrm>
          <a:off x="7848600" y="3959225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3" name="Equation" r:id="rId10" imgW="431613" imgH="533169" progId="Equation.3">
                  <p:embed/>
                </p:oleObj>
              </mc:Choice>
              <mc:Fallback>
                <p:oleObj name="Equation" r:id="rId10" imgW="431613" imgH="53316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3959225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Line 12"/>
          <p:cNvSpPr>
            <a:spLocks noChangeShapeType="1"/>
          </p:cNvSpPr>
          <p:nvPr/>
        </p:nvSpPr>
        <p:spPr bwMode="auto">
          <a:xfrm>
            <a:off x="5943600" y="4264025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2781" name="Freeform 13"/>
          <p:cNvSpPr>
            <a:spLocks/>
          </p:cNvSpPr>
          <p:nvPr/>
        </p:nvSpPr>
        <p:spPr bwMode="auto">
          <a:xfrm>
            <a:off x="2438400" y="2968625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32782" name="Object 6"/>
          <p:cNvGraphicFramePr>
            <a:graphicFrameLocks noChangeAspect="1"/>
          </p:cNvGraphicFramePr>
          <p:nvPr/>
        </p:nvGraphicFramePr>
        <p:xfrm>
          <a:off x="3454400" y="3806825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Equation" r:id="rId12" imgW="1549400" imgH="457200" progId="Equation.3">
                  <p:embed/>
                </p:oleObj>
              </mc:Choice>
              <mc:Fallback>
                <p:oleObj name="Equation" r:id="rId12" imgW="15494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3806825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7"/>
          <p:cNvGraphicFramePr>
            <a:graphicFrameLocks noChangeAspect="1"/>
          </p:cNvGraphicFramePr>
          <p:nvPr/>
        </p:nvGraphicFramePr>
        <p:xfrm>
          <a:off x="6007100" y="3817938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Equation" r:id="rId14" imgW="1460500" imgH="457200" progId="Equation.3">
                  <p:embed/>
                </p:oleObj>
              </mc:Choice>
              <mc:Fallback>
                <p:oleObj name="Equation" r:id="rId14" imgW="14605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3817938"/>
                        <a:ext cx="1460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Freeform 16"/>
          <p:cNvSpPr>
            <a:spLocks/>
          </p:cNvSpPr>
          <p:nvPr/>
        </p:nvSpPr>
        <p:spPr bwMode="auto">
          <a:xfrm>
            <a:off x="7391400" y="2968625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32785" name="Object 8"/>
          <p:cNvGraphicFramePr>
            <a:graphicFrameLocks noChangeAspect="1"/>
          </p:cNvGraphicFramePr>
          <p:nvPr/>
        </p:nvGraphicFramePr>
        <p:xfrm>
          <a:off x="7353300" y="2511425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6" name="Equation" r:id="rId16" imgW="1384300" imgH="457200" progId="Equation.3">
                  <p:embed/>
                </p:oleObj>
              </mc:Choice>
              <mc:Fallback>
                <p:oleObj name="Equation" r:id="rId16" imgW="13843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2511425"/>
                        <a:ext cx="1384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9"/>
          <p:cNvGraphicFramePr>
            <a:graphicFrameLocks noChangeAspect="1"/>
          </p:cNvGraphicFramePr>
          <p:nvPr/>
        </p:nvGraphicFramePr>
        <p:xfrm>
          <a:off x="7321550" y="4949825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7" name="Equation" r:id="rId18" imgW="1587500" imgH="457200" progId="Equation.3">
                  <p:embed/>
                </p:oleObj>
              </mc:Choice>
              <mc:Fallback>
                <p:oleObj name="Equation" r:id="rId18" imgW="15875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4949825"/>
                        <a:ext cx="1587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7" name="Object 10"/>
          <p:cNvGraphicFramePr>
            <a:graphicFrameLocks noChangeAspect="1"/>
          </p:cNvGraphicFramePr>
          <p:nvPr/>
        </p:nvGraphicFramePr>
        <p:xfrm>
          <a:off x="1225550" y="3813175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8" name="Equation" r:id="rId20" imgW="1485900" imgH="457200" progId="Equation.3">
                  <p:embed/>
                </p:oleObj>
              </mc:Choice>
              <mc:Fallback>
                <p:oleObj name="Equation" r:id="rId20" imgW="14859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3813175"/>
                        <a:ext cx="1485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8" name="Freeform 20"/>
          <p:cNvSpPr>
            <a:spLocks/>
          </p:cNvSpPr>
          <p:nvPr/>
        </p:nvSpPr>
        <p:spPr bwMode="auto">
          <a:xfrm>
            <a:off x="152400" y="2968625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32789" name="Object 11"/>
          <p:cNvGraphicFramePr>
            <a:graphicFrameLocks noChangeAspect="1"/>
          </p:cNvGraphicFramePr>
          <p:nvPr/>
        </p:nvGraphicFramePr>
        <p:xfrm>
          <a:off x="120650" y="2441575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9" name="Equation" r:id="rId22" imgW="1409700" imgH="457200" progId="Equation.3">
                  <p:embed/>
                </p:oleObj>
              </mc:Choice>
              <mc:Fallback>
                <p:oleObj name="Equation" r:id="rId22" imgW="140970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2441575"/>
                        <a:ext cx="1409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0" name="Object 12"/>
          <p:cNvGraphicFramePr>
            <a:graphicFrameLocks noChangeAspect="1"/>
          </p:cNvGraphicFramePr>
          <p:nvPr/>
        </p:nvGraphicFramePr>
        <p:xfrm>
          <a:off x="6400800" y="5487988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0" name="Equation" r:id="rId24" imgW="444307" imgH="520474" progId="Equation.3">
                  <p:embed/>
                </p:oleObj>
              </mc:Choice>
              <mc:Fallback>
                <p:oleObj name="Equation" r:id="rId24" imgW="444307" imgH="52047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487988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1" name="Oval 23"/>
          <p:cNvSpPr>
            <a:spLocks noChangeArrowheads="1"/>
          </p:cNvSpPr>
          <p:nvPr/>
        </p:nvSpPr>
        <p:spPr bwMode="auto">
          <a:xfrm>
            <a:off x="6324600" y="5483225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32792" name="Line 24"/>
          <p:cNvSpPr>
            <a:spLocks noChangeShapeType="1"/>
          </p:cNvSpPr>
          <p:nvPr/>
        </p:nvSpPr>
        <p:spPr bwMode="auto">
          <a:xfrm>
            <a:off x="1143000" y="426402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2793" name="Oval 25"/>
          <p:cNvSpPr>
            <a:spLocks noChangeArrowheads="1"/>
          </p:cNvSpPr>
          <p:nvPr/>
        </p:nvSpPr>
        <p:spPr bwMode="auto">
          <a:xfrm>
            <a:off x="6172200" y="5330825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32794" name="Object 13"/>
          <p:cNvGraphicFramePr>
            <a:graphicFrameLocks noChangeAspect="1"/>
          </p:cNvGraphicFramePr>
          <p:nvPr/>
        </p:nvGraphicFramePr>
        <p:xfrm>
          <a:off x="2451100" y="2511425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1" name="Equation" r:id="rId26" imgW="1409700" imgH="457200" progId="Equation.3">
                  <p:embed/>
                </p:oleObj>
              </mc:Choice>
              <mc:Fallback>
                <p:oleObj name="Equation" r:id="rId26" imgW="1409700" imgH="457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2511425"/>
                        <a:ext cx="1409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5" name="Line 27"/>
          <p:cNvSpPr>
            <a:spLocks noChangeShapeType="1"/>
          </p:cNvSpPr>
          <p:nvPr/>
        </p:nvSpPr>
        <p:spPr bwMode="auto">
          <a:xfrm>
            <a:off x="0" y="426402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796" name="Line 28"/>
          <p:cNvSpPr>
            <a:spLocks noChangeShapeType="1"/>
          </p:cNvSpPr>
          <p:nvPr/>
        </p:nvSpPr>
        <p:spPr bwMode="auto">
          <a:xfrm flipH="1">
            <a:off x="7010400" y="4492625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2797" name="Object 14"/>
          <p:cNvGraphicFramePr>
            <a:graphicFrameLocks noChangeAspect="1"/>
          </p:cNvGraphicFramePr>
          <p:nvPr/>
        </p:nvGraphicFramePr>
        <p:xfrm>
          <a:off x="5867400" y="611188"/>
          <a:ext cx="29972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" name="Equation" r:id="rId27" imgW="2997200" imgH="533400" progId="Equation.3">
                  <p:embed/>
                </p:oleObj>
              </mc:Choice>
              <mc:Fallback>
                <p:oleObj name="Equation" r:id="rId27" imgW="2997200" imgH="533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611188"/>
                        <a:ext cx="29972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2799" name="Slide Number Placeholder 3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70EA26-4897-47FB-B680-779E32BE489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65125" y="487363"/>
            <a:ext cx="3867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Execution Example:</a:t>
            </a:r>
          </a:p>
        </p:txBody>
      </p:sp>
      <p:graphicFrame>
        <p:nvGraphicFramePr>
          <p:cNvPr id="34819" name="Object 2"/>
          <p:cNvGraphicFramePr>
            <a:graphicFrameLocks noChangeAspect="1"/>
          </p:cNvGraphicFramePr>
          <p:nvPr/>
        </p:nvGraphicFramePr>
        <p:xfrm>
          <a:off x="1460500" y="1276350"/>
          <a:ext cx="120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6" name="Equation" r:id="rId4" imgW="1206500" imgH="419100" progId="Equation.3">
                  <p:embed/>
                </p:oleObj>
              </mc:Choice>
              <mc:Fallback>
                <p:oleObj name="Equation" r:id="rId4" imgW="12065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1276350"/>
                        <a:ext cx="1206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3"/>
          <p:cNvGraphicFramePr>
            <a:graphicFrameLocks noChangeAspect="1"/>
          </p:cNvGraphicFramePr>
          <p:nvPr/>
        </p:nvGraphicFramePr>
        <p:xfrm>
          <a:off x="1460500" y="2336800"/>
          <a:ext cx="1244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7" name="Equation" r:id="rId6" imgW="1244600" imgH="520700" progId="Equation.3">
                  <p:embed/>
                </p:oleObj>
              </mc:Choice>
              <mc:Fallback>
                <p:oleObj name="Equation" r:id="rId6" imgW="1244600" imgH="520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2336800"/>
                        <a:ext cx="1244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Line 5"/>
          <p:cNvSpPr>
            <a:spLocks noChangeShapeType="1"/>
          </p:cNvSpPr>
          <p:nvPr/>
        </p:nvSpPr>
        <p:spPr bwMode="auto">
          <a:xfrm>
            <a:off x="4572000" y="15240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2" name="Line 6"/>
          <p:cNvSpPr>
            <a:spLocks noChangeShapeType="1"/>
          </p:cNvSpPr>
          <p:nvPr/>
        </p:nvSpPr>
        <p:spPr bwMode="auto">
          <a:xfrm>
            <a:off x="4572000" y="22098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>
            <a:off x="49530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54864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60198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>
            <a:off x="65532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70866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>
            <a:off x="76200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>
            <a:off x="81534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flipV="1">
            <a:off x="57150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4831" name="Object 4"/>
          <p:cNvGraphicFramePr>
            <a:graphicFrameLocks noChangeAspect="1"/>
          </p:cNvGraphicFramePr>
          <p:nvPr/>
        </p:nvGraphicFramePr>
        <p:xfrm>
          <a:off x="5105400" y="1676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8" name="Equation" r:id="rId8" imgW="253890" imgH="368140" progId="Equation.3">
                  <p:embed/>
                </p:oleObj>
              </mc:Choice>
              <mc:Fallback>
                <p:oleObj name="Equation" r:id="rId8" imgW="253890" imgH="3681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676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2" name="Object 5"/>
          <p:cNvGraphicFramePr>
            <a:graphicFrameLocks noChangeAspect="1"/>
          </p:cNvGraphicFramePr>
          <p:nvPr/>
        </p:nvGraphicFramePr>
        <p:xfrm>
          <a:off x="6705600" y="1681163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9" name="Equation" r:id="rId10" imgW="253890" imgH="380835" progId="Equation.3">
                  <p:embed/>
                </p:oleObj>
              </mc:Choice>
              <mc:Fallback>
                <p:oleObj name="Equation" r:id="rId10" imgW="253890" imgH="3808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681163"/>
                        <a:ext cx="2524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3" name="Object 6"/>
          <p:cNvGraphicFramePr>
            <a:graphicFrameLocks noChangeAspect="1"/>
          </p:cNvGraphicFramePr>
          <p:nvPr/>
        </p:nvGraphicFramePr>
        <p:xfrm>
          <a:off x="5486400" y="25908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0" name="Equation" r:id="rId12" imgW="444307" imgH="533169" progId="Equation.3">
                  <p:embed/>
                </p:oleObj>
              </mc:Choice>
              <mc:Fallback>
                <p:oleObj name="Equation" r:id="rId12" imgW="444307" imgH="53316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5908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4" name="Object 7"/>
          <p:cNvGraphicFramePr>
            <a:graphicFrameLocks noChangeAspect="1"/>
          </p:cNvGraphicFramePr>
          <p:nvPr/>
        </p:nvGraphicFramePr>
        <p:xfrm>
          <a:off x="6248400" y="16764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1" name="Equation" r:id="rId14" imgW="165028" imgH="368140" progId="Equation.3">
                  <p:embed/>
                </p:oleObj>
              </mc:Choice>
              <mc:Fallback>
                <p:oleObj name="Equation" r:id="rId14" imgW="165028" imgH="3681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6764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5" name="Object 8"/>
          <p:cNvGraphicFramePr>
            <a:graphicFrameLocks noChangeAspect="1"/>
          </p:cNvGraphicFramePr>
          <p:nvPr/>
        </p:nvGraphicFramePr>
        <p:xfrm>
          <a:off x="7283450" y="16875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2" name="Equation" r:id="rId16" imgW="165028" imgH="368140" progId="Equation.3">
                  <p:embed/>
                </p:oleObj>
              </mc:Choice>
              <mc:Fallback>
                <p:oleObj name="Equation" r:id="rId16" imgW="165028" imgH="3681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50" y="168751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6" name="Object 9"/>
          <p:cNvGraphicFramePr>
            <a:graphicFrameLocks noChangeAspect="1"/>
          </p:cNvGraphicFramePr>
          <p:nvPr/>
        </p:nvGraphicFramePr>
        <p:xfrm>
          <a:off x="8305800" y="1676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3" name="Equation" r:id="rId18" imgW="253890" imgH="368140" progId="Equation.3">
                  <p:embed/>
                </p:oleObj>
              </mc:Choice>
              <mc:Fallback>
                <p:oleObj name="Equation" r:id="rId18" imgW="253890" imgH="3681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1676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7" name="Object 10"/>
          <p:cNvGraphicFramePr>
            <a:graphicFrameLocks noChangeAspect="1"/>
          </p:cNvGraphicFramePr>
          <p:nvPr/>
        </p:nvGraphicFramePr>
        <p:xfrm>
          <a:off x="5683250" y="16875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4" name="Equation" r:id="rId19" imgW="165028" imgH="368140" progId="Equation.3">
                  <p:embed/>
                </p:oleObj>
              </mc:Choice>
              <mc:Fallback>
                <p:oleObj name="Equation" r:id="rId19" imgW="165028" imgH="3681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168751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11"/>
          <p:cNvGraphicFramePr>
            <a:graphicFrameLocks noChangeAspect="1"/>
          </p:cNvGraphicFramePr>
          <p:nvPr/>
        </p:nvGraphicFramePr>
        <p:xfrm>
          <a:off x="7772400" y="16764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5" name="Equation" r:id="rId20" imgW="165028" imgH="368140" progId="Equation.3">
                  <p:embed/>
                </p:oleObj>
              </mc:Choice>
              <mc:Fallback>
                <p:oleObj name="Equation" r:id="rId20" imgW="165028" imgH="3681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6764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9" name="Text Box 23"/>
          <p:cNvSpPr txBox="1">
            <a:spLocks noChangeArrowheads="1"/>
          </p:cNvSpPr>
          <p:nvPr/>
        </p:nvSpPr>
        <p:spPr bwMode="auto">
          <a:xfrm>
            <a:off x="6096000" y="639763"/>
            <a:ext cx="1482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Time 0</a:t>
            </a:r>
          </a:p>
        </p:txBody>
      </p:sp>
      <p:graphicFrame>
        <p:nvGraphicFramePr>
          <p:cNvPr id="34840" name="Object 12"/>
          <p:cNvGraphicFramePr>
            <a:graphicFrameLocks noChangeAspect="1"/>
          </p:cNvGraphicFramePr>
          <p:nvPr/>
        </p:nvGraphicFramePr>
        <p:xfrm>
          <a:off x="5854700" y="1130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6" name="Equation" r:id="rId21" imgW="291973" imgH="304668" progId="Equation.3">
                  <p:embed/>
                </p:oleObj>
              </mc:Choice>
              <mc:Fallback>
                <p:oleObj name="Equation" r:id="rId21" imgW="291973" imgH="30466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1130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1" name="Object 13"/>
          <p:cNvGraphicFramePr>
            <a:graphicFrameLocks noChangeAspect="1"/>
          </p:cNvGraphicFramePr>
          <p:nvPr/>
        </p:nvGraphicFramePr>
        <p:xfrm>
          <a:off x="7378700" y="112395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7" name="Equation" r:id="rId23" imgW="317225" imgH="406048" progId="Equation.3">
                  <p:embed/>
                </p:oleObj>
              </mc:Choice>
              <mc:Fallback>
                <p:oleObj name="Equation" r:id="rId23" imgW="317225" imgH="40604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8700" y="1123950"/>
                        <a:ext cx="315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2" name="Text Box 26"/>
          <p:cNvSpPr txBox="1">
            <a:spLocks noChangeArrowheads="1"/>
          </p:cNvSpPr>
          <p:nvPr/>
        </p:nvSpPr>
        <p:spPr bwMode="auto">
          <a:xfrm>
            <a:off x="5486400" y="3429000"/>
            <a:ext cx="2389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Final Result</a:t>
            </a:r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4572000" y="45720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4572000" y="52578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4953000" y="4572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5486400" y="4572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6019800" y="4572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>
            <a:off x="6553200" y="4572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>
            <a:off x="7086600" y="4572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7620000" y="4572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>
            <a:off x="8153400" y="4572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52" name="Line 36"/>
          <p:cNvSpPr>
            <a:spLocks noChangeShapeType="1"/>
          </p:cNvSpPr>
          <p:nvPr/>
        </p:nvSpPr>
        <p:spPr bwMode="auto">
          <a:xfrm flipV="1">
            <a:off x="5715000" y="525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4853" name="Object 14"/>
          <p:cNvGraphicFramePr>
            <a:graphicFrameLocks noChangeAspect="1"/>
          </p:cNvGraphicFramePr>
          <p:nvPr/>
        </p:nvGraphicFramePr>
        <p:xfrm>
          <a:off x="5105400" y="4724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8" name="Equation" r:id="rId25" imgW="253890" imgH="368140" progId="Equation.3">
                  <p:embed/>
                </p:oleObj>
              </mc:Choice>
              <mc:Fallback>
                <p:oleObj name="Equation" r:id="rId25" imgW="253890" imgH="3681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724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4" name="Object 15"/>
          <p:cNvGraphicFramePr>
            <a:graphicFrameLocks noChangeAspect="1"/>
          </p:cNvGraphicFramePr>
          <p:nvPr/>
        </p:nvGraphicFramePr>
        <p:xfrm>
          <a:off x="7772400" y="4724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9" name="Equation" r:id="rId26" imgW="253890" imgH="380835" progId="Equation.3">
                  <p:embed/>
                </p:oleObj>
              </mc:Choice>
              <mc:Fallback>
                <p:oleObj name="Equation" r:id="rId26" imgW="253890" imgH="38083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724400"/>
                        <a:ext cx="2524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5" name="Object 16"/>
          <p:cNvGraphicFramePr>
            <a:graphicFrameLocks noChangeAspect="1"/>
          </p:cNvGraphicFramePr>
          <p:nvPr/>
        </p:nvGraphicFramePr>
        <p:xfrm>
          <a:off x="5486400" y="56388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0" name="Equation" r:id="rId27" imgW="444307" imgH="520474" progId="Equation.3">
                  <p:embed/>
                </p:oleObj>
              </mc:Choice>
              <mc:Fallback>
                <p:oleObj name="Equation" r:id="rId27" imgW="444307" imgH="52047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6388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6" name="Object 17"/>
          <p:cNvGraphicFramePr>
            <a:graphicFrameLocks noChangeAspect="1"/>
          </p:cNvGraphicFramePr>
          <p:nvPr/>
        </p:nvGraphicFramePr>
        <p:xfrm>
          <a:off x="6248400" y="47244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1" name="Equation" r:id="rId29" imgW="165028" imgH="368140" progId="Equation.3">
                  <p:embed/>
                </p:oleObj>
              </mc:Choice>
              <mc:Fallback>
                <p:oleObj name="Equation" r:id="rId29" imgW="165028" imgH="3681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7244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7" name="Object 18"/>
          <p:cNvGraphicFramePr>
            <a:graphicFrameLocks noChangeAspect="1"/>
          </p:cNvGraphicFramePr>
          <p:nvPr/>
        </p:nvGraphicFramePr>
        <p:xfrm>
          <a:off x="7283450" y="47355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2" name="Equation" r:id="rId30" imgW="165028" imgH="368140" progId="Equation.3">
                  <p:embed/>
                </p:oleObj>
              </mc:Choice>
              <mc:Fallback>
                <p:oleObj name="Equation" r:id="rId30" imgW="165028" imgH="3681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50" y="473551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8" name="Object 19"/>
          <p:cNvGraphicFramePr>
            <a:graphicFrameLocks noChangeAspect="1"/>
          </p:cNvGraphicFramePr>
          <p:nvPr/>
        </p:nvGraphicFramePr>
        <p:xfrm>
          <a:off x="8305800" y="4724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3" name="Equation" r:id="rId31" imgW="253890" imgH="368140" progId="Equation.3">
                  <p:embed/>
                </p:oleObj>
              </mc:Choice>
              <mc:Fallback>
                <p:oleObj name="Equation" r:id="rId31" imgW="253890" imgH="3681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724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9" name="Object 20"/>
          <p:cNvGraphicFramePr>
            <a:graphicFrameLocks noChangeAspect="1"/>
          </p:cNvGraphicFramePr>
          <p:nvPr/>
        </p:nvGraphicFramePr>
        <p:xfrm>
          <a:off x="5683250" y="47355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4" name="Equation" r:id="rId32" imgW="165028" imgH="368140" progId="Equation.3">
                  <p:embed/>
                </p:oleObj>
              </mc:Choice>
              <mc:Fallback>
                <p:oleObj name="Equation" r:id="rId32" imgW="165028" imgH="3681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473551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0" name="Object 21"/>
          <p:cNvGraphicFramePr>
            <a:graphicFrameLocks noChangeAspect="1"/>
          </p:cNvGraphicFramePr>
          <p:nvPr/>
        </p:nvGraphicFramePr>
        <p:xfrm>
          <a:off x="6781800" y="47244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name="Equation" r:id="rId33" imgW="165028" imgH="368140" progId="Equation.3">
                  <p:embed/>
                </p:oleObj>
              </mc:Choice>
              <mc:Fallback>
                <p:oleObj name="Equation" r:id="rId33" imgW="165028" imgH="3681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7244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1" name="Object 22"/>
          <p:cNvGraphicFramePr>
            <a:graphicFrameLocks noChangeAspect="1"/>
          </p:cNvGraphicFramePr>
          <p:nvPr/>
        </p:nvGraphicFramePr>
        <p:xfrm>
          <a:off x="6172200" y="4114800"/>
          <a:ext cx="1041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6" name="Equation" r:id="rId34" imgW="1040948" imgH="431613" progId="Equation.3">
                  <p:embed/>
                </p:oleObj>
              </mc:Choice>
              <mc:Fallback>
                <p:oleObj name="Equation" r:id="rId34" imgW="1040948" imgH="43161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114800"/>
                        <a:ext cx="10414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62" name="Text Box 46"/>
          <p:cNvSpPr txBox="1">
            <a:spLocks noChangeArrowheads="1"/>
          </p:cNvSpPr>
          <p:nvPr/>
        </p:nvSpPr>
        <p:spPr bwMode="auto">
          <a:xfrm>
            <a:off x="3124200" y="1219200"/>
            <a:ext cx="730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(2)</a:t>
            </a:r>
          </a:p>
        </p:txBody>
      </p:sp>
      <p:sp>
        <p:nvSpPr>
          <p:cNvPr id="34863" name="Text Box 47"/>
          <p:cNvSpPr txBox="1">
            <a:spLocks noChangeArrowheads="1"/>
          </p:cNvSpPr>
          <p:nvPr/>
        </p:nvSpPr>
        <p:spPr bwMode="auto">
          <a:xfrm>
            <a:off x="3124200" y="2286000"/>
            <a:ext cx="730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(2)</a:t>
            </a:r>
          </a:p>
        </p:txBody>
      </p:sp>
      <p:sp>
        <p:nvSpPr>
          <p:cNvPr id="49" name="Footer Placeholder 4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4865" name="Slide Number Placeholder 50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A020C8-1239-4FFC-8209-467652CD144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Another Example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6868" name="Slide Number Placeholder 1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D97ADF-6A03-4E0E-8EF4-E1D3B624EFF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6869" name="Text Box 3"/>
          <p:cNvSpPr txBox="1">
            <a:spLocks noChangeArrowheads="1"/>
          </p:cNvSpPr>
          <p:nvPr/>
        </p:nvSpPr>
        <p:spPr bwMode="auto">
          <a:xfrm>
            <a:off x="288925" y="1168400"/>
            <a:ext cx="2613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The function</a:t>
            </a:r>
          </a:p>
        </p:txBody>
      </p:sp>
      <p:graphicFrame>
        <p:nvGraphicFramePr>
          <p:cNvPr id="36870" name="Object 2"/>
          <p:cNvGraphicFramePr>
            <a:graphicFrameLocks noChangeAspect="1"/>
          </p:cNvGraphicFramePr>
          <p:nvPr/>
        </p:nvGraphicFramePr>
        <p:xfrm>
          <a:off x="3530600" y="1193800"/>
          <a:ext cx="2032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1" name="Equation" r:id="rId4" imgW="2032000" imgH="533400" progId="Equation.3">
                  <p:embed/>
                </p:oleObj>
              </mc:Choice>
              <mc:Fallback>
                <p:oleObj name="Equation" r:id="rId4" imgW="2032000" imgH="533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1193800"/>
                        <a:ext cx="20320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Text Box 5"/>
          <p:cNvSpPr txBox="1">
            <a:spLocks noChangeArrowheads="1"/>
          </p:cNvSpPr>
          <p:nvPr/>
        </p:nvSpPr>
        <p:spPr bwMode="auto">
          <a:xfrm>
            <a:off x="6019800" y="1143000"/>
            <a:ext cx="2762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is computable</a:t>
            </a:r>
          </a:p>
        </p:txBody>
      </p:sp>
      <p:sp>
        <p:nvSpPr>
          <p:cNvPr id="36872" name="Text Box 6"/>
          <p:cNvSpPr txBox="1">
            <a:spLocks noChangeArrowheads="1"/>
          </p:cNvSpPr>
          <p:nvPr/>
        </p:nvSpPr>
        <p:spPr bwMode="auto">
          <a:xfrm>
            <a:off x="304800" y="3276600"/>
            <a:ext cx="3214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CC0099"/>
                </a:solidFill>
                <a:latin typeface="Arial" panose="020B0604020202020204" pitchFamily="34" charset="0"/>
              </a:rPr>
              <a:t>Turing Machine:</a:t>
            </a:r>
          </a:p>
        </p:txBody>
      </p:sp>
      <p:sp>
        <p:nvSpPr>
          <p:cNvPr id="36873" name="Text Box 7"/>
          <p:cNvSpPr txBox="1">
            <a:spLocks noChangeArrowheads="1"/>
          </p:cNvSpPr>
          <p:nvPr/>
        </p:nvSpPr>
        <p:spPr bwMode="auto">
          <a:xfrm>
            <a:off x="1828800" y="4191000"/>
            <a:ext cx="2613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Input string:</a:t>
            </a:r>
          </a:p>
        </p:txBody>
      </p:sp>
      <p:graphicFrame>
        <p:nvGraphicFramePr>
          <p:cNvPr id="36874" name="Object 3"/>
          <p:cNvGraphicFramePr>
            <a:graphicFrameLocks noChangeAspect="1"/>
          </p:cNvGraphicFramePr>
          <p:nvPr/>
        </p:nvGraphicFramePr>
        <p:xfrm>
          <a:off x="5181600" y="4343400"/>
          <a:ext cx="2889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2" name="Equation" r:id="rId6" imgW="291973" imgH="304668" progId="Equation.3">
                  <p:embed/>
                </p:oleObj>
              </mc:Choice>
              <mc:Fallback>
                <p:oleObj name="Equation" r:id="rId6" imgW="291973" imgH="30466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343400"/>
                        <a:ext cx="28892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Text Box 9"/>
          <p:cNvSpPr txBox="1">
            <a:spLocks noChangeArrowheads="1"/>
          </p:cNvSpPr>
          <p:nvPr/>
        </p:nvSpPr>
        <p:spPr bwMode="auto">
          <a:xfrm>
            <a:off x="6645275" y="4241800"/>
            <a:ext cx="1222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unary</a:t>
            </a:r>
          </a:p>
        </p:txBody>
      </p:sp>
      <p:sp>
        <p:nvSpPr>
          <p:cNvPr id="36876" name="Text Box 10"/>
          <p:cNvSpPr txBox="1">
            <a:spLocks noChangeArrowheads="1"/>
          </p:cNvSpPr>
          <p:nvPr/>
        </p:nvSpPr>
        <p:spPr bwMode="auto">
          <a:xfrm>
            <a:off x="1539875" y="5537200"/>
            <a:ext cx="290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Output string:</a:t>
            </a:r>
          </a:p>
        </p:txBody>
      </p:sp>
      <p:graphicFrame>
        <p:nvGraphicFramePr>
          <p:cNvPr id="36877" name="Object 4"/>
          <p:cNvGraphicFramePr>
            <a:graphicFrameLocks noChangeAspect="1"/>
          </p:cNvGraphicFramePr>
          <p:nvPr/>
        </p:nvGraphicFramePr>
        <p:xfrm>
          <a:off x="5178425" y="5676900"/>
          <a:ext cx="50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3" name="Equation" r:id="rId8" imgW="507780" imgH="304668" progId="Equation.3">
                  <p:embed/>
                </p:oleObj>
              </mc:Choice>
              <mc:Fallback>
                <p:oleObj name="Equation" r:id="rId8" imgW="507780" imgH="30466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425" y="5676900"/>
                        <a:ext cx="50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Text Box 12"/>
          <p:cNvSpPr txBox="1">
            <a:spLocks noChangeArrowheads="1"/>
          </p:cNvSpPr>
          <p:nvPr/>
        </p:nvSpPr>
        <p:spPr bwMode="auto">
          <a:xfrm>
            <a:off x="6721475" y="5537200"/>
            <a:ext cx="1222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unary</a:t>
            </a:r>
          </a:p>
        </p:txBody>
      </p:sp>
      <p:graphicFrame>
        <p:nvGraphicFramePr>
          <p:cNvPr id="36879" name="Object 5"/>
          <p:cNvGraphicFramePr>
            <a:graphicFrameLocks noChangeAspect="1"/>
          </p:cNvGraphicFramePr>
          <p:nvPr/>
        </p:nvGraphicFramePr>
        <p:xfrm>
          <a:off x="5168900" y="2273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4" name="Equation" r:id="rId10" imgW="291973" imgH="304668" progId="Equation.3">
                  <p:embed/>
                </p:oleObj>
              </mc:Choice>
              <mc:Fallback>
                <p:oleObj name="Equation" r:id="rId10" imgW="291973" imgH="30466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00" y="2273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0" name="Text Box 14"/>
          <p:cNvSpPr txBox="1">
            <a:spLocks noChangeArrowheads="1"/>
          </p:cNvSpPr>
          <p:nvPr/>
        </p:nvSpPr>
        <p:spPr bwMode="auto">
          <a:xfrm>
            <a:off x="6019800" y="2133600"/>
            <a:ext cx="199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is integer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2"/>
          <p:cNvSpPr>
            <a:spLocks noChangeShapeType="1"/>
          </p:cNvSpPr>
          <p:nvPr/>
        </p:nvSpPr>
        <p:spPr bwMode="auto">
          <a:xfrm>
            <a:off x="2209800" y="1630363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15" name="Line 3"/>
          <p:cNvSpPr>
            <a:spLocks noChangeShapeType="1"/>
          </p:cNvSpPr>
          <p:nvPr/>
        </p:nvSpPr>
        <p:spPr bwMode="auto">
          <a:xfrm>
            <a:off x="2209800" y="2316163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2590800" y="16303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3124200" y="16303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>
            <a:off x="3657600" y="16303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4191000" y="16303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6477000" y="16303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V="1">
            <a:off x="3352800" y="231616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8922" name="Object 2"/>
          <p:cNvGraphicFramePr>
            <a:graphicFrameLocks noChangeAspect="1"/>
          </p:cNvGraphicFramePr>
          <p:nvPr/>
        </p:nvGraphicFramePr>
        <p:xfrm>
          <a:off x="2743200" y="1782763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1"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82763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3"/>
          <p:cNvGraphicFramePr>
            <a:graphicFrameLocks noChangeAspect="1"/>
          </p:cNvGraphicFramePr>
          <p:nvPr/>
        </p:nvGraphicFramePr>
        <p:xfrm>
          <a:off x="3124200" y="269716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2" name="Equation" r:id="rId6" imgW="444307" imgH="533169" progId="Equation.3">
                  <p:embed/>
                </p:oleObj>
              </mc:Choice>
              <mc:Fallback>
                <p:oleObj name="Equation" r:id="rId6" imgW="444307" imgH="53316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97163"/>
                        <a:ext cx="4429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4"/>
          <p:cNvGraphicFramePr>
            <a:graphicFrameLocks noChangeAspect="1"/>
          </p:cNvGraphicFramePr>
          <p:nvPr/>
        </p:nvGraphicFramePr>
        <p:xfrm>
          <a:off x="3886200" y="178276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3" name="Equation" r:id="rId8" imgW="165028" imgH="368140" progId="Equation.3">
                  <p:embed/>
                </p:oleObj>
              </mc:Choice>
              <mc:Fallback>
                <p:oleObj name="Equation" r:id="rId8" imgW="165028" imgH="3681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8276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5"/>
          <p:cNvGraphicFramePr>
            <a:graphicFrameLocks noChangeAspect="1"/>
          </p:cNvGraphicFramePr>
          <p:nvPr/>
        </p:nvGraphicFramePr>
        <p:xfrm>
          <a:off x="6096000" y="1782763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4"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782763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6" name="Object 6"/>
          <p:cNvGraphicFramePr>
            <a:graphicFrameLocks noChangeAspect="1"/>
          </p:cNvGraphicFramePr>
          <p:nvPr/>
        </p:nvGraphicFramePr>
        <p:xfrm>
          <a:off x="3321050" y="1793875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5" name="Equation" r:id="rId11" imgW="165028" imgH="368140" progId="Equation.3">
                  <p:embed/>
                </p:oleObj>
              </mc:Choice>
              <mc:Fallback>
                <p:oleObj name="Equation" r:id="rId11" imgW="165028" imgH="3681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50" y="1793875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7" name="Object 7"/>
          <p:cNvGraphicFramePr>
            <a:graphicFrameLocks noChangeAspect="1"/>
          </p:cNvGraphicFramePr>
          <p:nvPr/>
        </p:nvGraphicFramePr>
        <p:xfrm>
          <a:off x="4406900" y="5334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6"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5334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8" name="Object 8"/>
          <p:cNvGraphicFramePr>
            <a:graphicFrameLocks noChangeAspect="1"/>
          </p:cNvGraphicFramePr>
          <p:nvPr/>
        </p:nvGraphicFramePr>
        <p:xfrm>
          <a:off x="5638800" y="178276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7" name="Equation" r:id="rId14" imgW="165028" imgH="368140" progId="Equation.3">
                  <p:embed/>
                </p:oleObj>
              </mc:Choice>
              <mc:Fallback>
                <p:oleObj name="Equation" r:id="rId14" imgW="165028" imgH="3681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78276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9" name="Line 17"/>
          <p:cNvSpPr>
            <a:spLocks noChangeShapeType="1"/>
          </p:cNvSpPr>
          <p:nvPr/>
        </p:nvSpPr>
        <p:spPr bwMode="auto">
          <a:xfrm>
            <a:off x="5943600" y="16303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30" name="Line 18"/>
          <p:cNvSpPr>
            <a:spLocks noChangeShapeType="1"/>
          </p:cNvSpPr>
          <p:nvPr/>
        </p:nvSpPr>
        <p:spPr bwMode="auto">
          <a:xfrm>
            <a:off x="5410200" y="16303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8931" name="Object 9"/>
          <p:cNvGraphicFramePr>
            <a:graphicFrameLocks noChangeAspect="1"/>
          </p:cNvGraphicFramePr>
          <p:nvPr/>
        </p:nvGraphicFramePr>
        <p:xfrm>
          <a:off x="4648200" y="1935163"/>
          <a:ext cx="419100" cy="11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8" name="Equation" r:id="rId15" imgW="418918" imgH="114250" progId="Equation.3">
                  <p:embed/>
                </p:oleObj>
              </mc:Choice>
              <mc:Fallback>
                <p:oleObj name="Equation" r:id="rId15" imgW="418918" imgH="11425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935163"/>
                        <a:ext cx="419100" cy="11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2" name="AutoShape 20"/>
          <p:cNvSpPr>
            <a:spLocks/>
          </p:cNvSpPr>
          <p:nvPr/>
        </p:nvSpPr>
        <p:spPr bwMode="auto">
          <a:xfrm rot="-5413608">
            <a:off x="4267200" y="-46037"/>
            <a:ext cx="533400" cy="2667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>
            <a:off x="2057400" y="4510088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2057400" y="5195888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35" name="Line 23"/>
          <p:cNvSpPr>
            <a:spLocks noChangeShapeType="1"/>
          </p:cNvSpPr>
          <p:nvPr/>
        </p:nvSpPr>
        <p:spPr bwMode="auto">
          <a:xfrm>
            <a:off x="2438400" y="45100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36" name="Line 24"/>
          <p:cNvSpPr>
            <a:spLocks noChangeShapeType="1"/>
          </p:cNvSpPr>
          <p:nvPr/>
        </p:nvSpPr>
        <p:spPr bwMode="auto">
          <a:xfrm>
            <a:off x="2971800" y="45100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37" name="Line 25"/>
          <p:cNvSpPr>
            <a:spLocks noChangeShapeType="1"/>
          </p:cNvSpPr>
          <p:nvPr/>
        </p:nvSpPr>
        <p:spPr bwMode="auto">
          <a:xfrm>
            <a:off x="3505200" y="45100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38" name="Line 26"/>
          <p:cNvSpPr>
            <a:spLocks noChangeShapeType="1"/>
          </p:cNvSpPr>
          <p:nvPr/>
        </p:nvSpPr>
        <p:spPr bwMode="auto">
          <a:xfrm>
            <a:off x="4038600" y="45100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39" name="Line 27"/>
          <p:cNvSpPr>
            <a:spLocks noChangeShapeType="1"/>
          </p:cNvSpPr>
          <p:nvPr/>
        </p:nvSpPr>
        <p:spPr bwMode="auto">
          <a:xfrm>
            <a:off x="6705600" y="45100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40" name="Line 28"/>
          <p:cNvSpPr>
            <a:spLocks noChangeShapeType="1"/>
          </p:cNvSpPr>
          <p:nvPr/>
        </p:nvSpPr>
        <p:spPr bwMode="auto">
          <a:xfrm>
            <a:off x="7239000" y="45100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41" name="Line 29"/>
          <p:cNvSpPr>
            <a:spLocks noChangeShapeType="1"/>
          </p:cNvSpPr>
          <p:nvPr/>
        </p:nvSpPr>
        <p:spPr bwMode="auto">
          <a:xfrm>
            <a:off x="8305800" y="45100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42" name="Line 30"/>
          <p:cNvSpPr>
            <a:spLocks noChangeShapeType="1"/>
          </p:cNvSpPr>
          <p:nvPr/>
        </p:nvSpPr>
        <p:spPr bwMode="auto">
          <a:xfrm flipV="1">
            <a:off x="3200400" y="51958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38943" name="Object 10"/>
          <p:cNvGraphicFramePr>
            <a:graphicFrameLocks noChangeAspect="1"/>
          </p:cNvGraphicFramePr>
          <p:nvPr/>
        </p:nvGraphicFramePr>
        <p:xfrm>
          <a:off x="2590800" y="466248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9" name="Equation" r:id="rId17" imgW="253890" imgH="368140" progId="Equation.3">
                  <p:embed/>
                </p:oleObj>
              </mc:Choice>
              <mc:Fallback>
                <p:oleObj name="Equation" r:id="rId17" imgW="253890" imgH="3681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66248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4" name="Object 11"/>
          <p:cNvGraphicFramePr>
            <a:graphicFrameLocks noChangeAspect="1"/>
          </p:cNvGraphicFramePr>
          <p:nvPr/>
        </p:nvGraphicFramePr>
        <p:xfrm>
          <a:off x="7969250" y="4668838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0" name="Equation" r:id="rId18" imgW="165028" imgH="368140" progId="Equation.3">
                  <p:embed/>
                </p:oleObj>
              </mc:Choice>
              <mc:Fallback>
                <p:oleObj name="Equation" r:id="rId18" imgW="165028" imgH="3681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0" y="4668838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5" name="Object 12"/>
          <p:cNvGraphicFramePr>
            <a:graphicFrameLocks noChangeAspect="1"/>
          </p:cNvGraphicFramePr>
          <p:nvPr/>
        </p:nvGraphicFramePr>
        <p:xfrm>
          <a:off x="2927350" y="5538788"/>
          <a:ext cx="531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1" name="Equation" r:id="rId19" imgW="533169" imgH="609336" progId="Equation.3">
                  <p:embed/>
                </p:oleObj>
              </mc:Choice>
              <mc:Fallback>
                <p:oleObj name="Equation" r:id="rId19" imgW="533169" imgH="60933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5538788"/>
                        <a:ext cx="5318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6" name="Object 13"/>
          <p:cNvGraphicFramePr>
            <a:graphicFrameLocks noChangeAspect="1"/>
          </p:cNvGraphicFramePr>
          <p:nvPr/>
        </p:nvGraphicFramePr>
        <p:xfrm>
          <a:off x="3733800" y="4662488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2" name="Equation" r:id="rId21" imgW="165028" imgH="368140" progId="Equation.3">
                  <p:embed/>
                </p:oleObj>
              </mc:Choice>
              <mc:Fallback>
                <p:oleObj name="Equation" r:id="rId21" imgW="165028" imgH="3681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662488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7" name="Object 14"/>
          <p:cNvGraphicFramePr>
            <a:graphicFrameLocks noChangeAspect="1"/>
          </p:cNvGraphicFramePr>
          <p:nvPr/>
        </p:nvGraphicFramePr>
        <p:xfrm>
          <a:off x="8458200" y="466248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3"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466248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8" name="Object 15"/>
          <p:cNvGraphicFramePr>
            <a:graphicFrameLocks noChangeAspect="1"/>
          </p:cNvGraphicFramePr>
          <p:nvPr/>
        </p:nvGraphicFramePr>
        <p:xfrm>
          <a:off x="3168650" y="4673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4" name="Equation" r:id="rId23" imgW="165028" imgH="368140" progId="Equation.3">
                  <p:embed/>
                </p:oleObj>
              </mc:Choice>
              <mc:Fallback>
                <p:oleObj name="Equation" r:id="rId23" imgW="165028" imgH="3681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46736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9" name="Object 16"/>
          <p:cNvGraphicFramePr>
            <a:graphicFrameLocks noChangeAspect="1"/>
          </p:cNvGraphicFramePr>
          <p:nvPr/>
        </p:nvGraphicFramePr>
        <p:xfrm>
          <a:off x="5302250" y="3276600"/>
          <a:ext cx="5445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5" name="Equation" r:id="rId24" imgW="545863" imgH="418918" progId="Equation.3">
                  <p:embed/>
                </p:oleObj>
              </mc:Choice>
              <mc:Fallback>
                <p:oleObj name="Equation" r:id="rId24" imgW="545863" imgH="41891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3276600"/>
                        <a:ext cx="5445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0" name="Object 17"/>
          <p:cNvGraphicFramePr>
            <a:graphicFrameLocks noChangeAspect="1"/>
          </p:cNvGraphicFramePr>
          <p:nvPr/>
        </p:nvGraphicFramePr>
        <p:xfrm>
          <a:off x="5334000" y="4814888"/>
          <a:ext cx="419100" cy="11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6" name="Equation" r:id="rId26" imgW="418918" imgH="114250" progId="Equation.3">
                  <p:embed/>
                </p:oleObj>
              </mc:Choice>
              <mc:Fallback>
                <p:oleObj name="Equation" r:id="rId26" imgW="418918" imgH="11425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814888"/>
                        <a:ext cx="419100" cy="11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1" name="Line 39"/>
          <p:cNvSpPr>
            <a:spLocks noChangeShapeType="1"/>
          </p:cNvSpPr>
          <p:nvPr/>
        </p:nvSpPr>
        <p:spPr bwMode="auto">
          <a:xfrm>
            <a:off x="7772400" y="45100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8952" name="AutoShape 40"/>
          <p:cNvSpPr>
            <a:spLocks/>
          </p:cNvSpPr>
          <p:nvPr/>
        </p:nvSpPr>
        <p:spPr bwMode="auto">
          <a:xfrm rot="-5413608">
            <a:off x="5407819" y="1531144"/>
            <a:ext cx="533400" cy="5259388"/>
          </a:xfrm>
          <a:prstGeom prst="rightBrace">
            <a:avLst>
              <a:gd name="adj1" fmla="val 8216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38953" name="Object 18"/>
          <p:cNvGraphicFramePr>
            <a:graphicFrameLocks noChangeAspect="1"/>
          </p:cNvGraphicFramePr>
          <p:nvPr/>
        </p:nvGraphicFramePr>
        <p:xfrm>
          <a:off x="7467600" y="4662488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7" name="Equation" r:id="rId27" imgW="165028" imgH="368140" progId="Equation.3">
                  <p:embed/>
                </p:oleObj>
              </mc:Choice>
              <mc:Fallback>
                <p:oleObj name="Equation" r:id="rId27" imgW="165028" imgH="3681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662488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4" name="Object 19"/>
          <p:cNvGraphicFramePr>
            <a:graphicFrameLocks noChangeAspect="1"/>
          </p:cNvGraphicFramePr>
          <p:nvPr/>
        </p:nvGraphicFramePr>
        <p:xfrm>
          <a:off x="6858000" y="4662488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8" name="Equation" r:id="rId28" imgW="165028" imgH="368140" progId="Equation.3">
                  <p:embed/>
                </p:oleObj>
              </mc:Choice>
              <mc:Fallback>
                <p:oleObj name="Equation" r:id="rId28" imgW="165028" imgH="3681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662488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5" name="Text Box 43"/>
          <p:cNvSpPr txBox="1">
            <a:spLocks noChangeArrowheads="1"/>
          </p:cNvSpPr>
          <p:nvPr/>
        </p:nvSpPr>
        <p:spPr bwMode="auto">
          <a:xfrm>
            <a:off x="228600" y="1706563"/>
            <a:ext cx="1254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Start</a:t>
            </a:r>
          </a:p>
        </p:txBody>
      </p:sp>
      <p:sp>
        <p:nvSpPr>
          <p:cNvPr id="38956" name="Text Box 44"/>
          <p:cNvSpPr txBox="1">
            <a:spLocks noChangeArrowheads="1"/>
          </p:cNvSpPr>
          <p:nvPr/>
        </p:nvSpPr>
        <p:spPr bwMode="auto">
          <a:xfrm>
            <a:off x="228600" y="4510088"/>
            <a:ext cx="1304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Finish</a:t>
            </a:r>
          </a:p>
        </p:txBody>
      </p:sp>
      <p:sp>
        <p:nvSpPr>
          <p:cNvPr id="38957" name="Text Box 45"/>
          <p:cNvSpPr txBox="1">
            <a:spLocks noChangeArrowheads="1"/>
          </p:cNvSpPr>
          <p:nvPr/>
        </p:nvSpPr>
        <p:spPr bwMode="auto">
          <a:xfrm>
            <a:off x="3657600" y="5576888"/>
            <a:ext cx="2171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final state</a:t>
            </a:r>
          </a:p>
        </p:txBody>
      </p:sp>
      <p:sp>
        <p:nvSpPr>
          <p:cNvPr id="38958" name="Text Box 46"/>
          <p:cNvSpPr txBox="1">
            <a:spLocks noChangeArrowheads="1"/>
          </p:cNvSpPr>
          <p:nvPr/>
        </p:nvSpPr>
        <p:spPr bwMode="auto">
          <a:xfrm>
            <a:off x="3733800" y="2773363"/>
            <a:ext cx="23860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initial state</a:t>
            </a:r>
          </a:p>
        </p:txBody>
      </p:sp>
      <p:sp>
        <p:nvSpPr>
          <p:cNvPr id="48" name="Footer Placeholder 4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8960" name="Slide Number Placeholder 4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F14BB1-BDFF-4905-AD5D-05AAA32E93D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430213" y="381000"/>
            <a:ext cx="4141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solidFill>
                  <a:srgbClr val="CC0099"/>
                </a:solidFill>
                <a:latin typeface="Arial" panose="020B0604020202020204" pitchFamily="34" charset="0"/>
              </a:rPr>
              <a:t>Turing Machine Pseudocode for</a:t>
            </a:r>
            <a:r>
              <a:rPr lang="en-US" altLang="en-GB" sz="20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40963" name="Object 2"/>
          <p:cNvGraphicFramePr>
            <a:graphicFrameLocks noChangeAspect="1"/>
          </p:cNvGraphicFramePr>
          <p:nvPr/>
        </p:nvGraphicFramePr>
        <p:xfrm>
          <a:off x="6299200" y="611188"/>
          <a:ext cx="20320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" name="Equation" r:id="rId4" imgW="2032000" imgH="533400" progId="Equation.3">
                  <p:embed/>
                </p:oleObj>
              </mc:Choice>
              <mc:Fallback>
                <p:oleObj name="Equation" r:id="rId4" imgW="2032000" imgH="533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611188"/>
                        <a:ext cx="20320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914400" y="1524000"/>
            <a:ext cx="47323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1800">
                <a:latin typeface="Arial" panose="020B0604020202020204" pitchFamily="34" charset="0"/>
              </a:rPr>
              <a:t> Replace every 1 with $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914400" y="2438400"/>
            <a:ext cx="1903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 Repeat:</a:t>
            </a: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1981200" y="3124200"/>
            <a:ext cx="6970713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1800">
                <a:latin typeface="Arial" panose="020B0604020202020204" pitchFamily="34" charset="0"/>
              </a:rPr>
              <a:t> Find rightmost $, replace it with 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1800">
                <a:latin typeface="Arial" panose="020B0604020202020204" pitchFamily="34" charset="0"/>
              </a:rPr>
              <a:t> Go to right end, insert 1</a:t>
            </a: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1219200" y="5181600"/>
            <a:ext cx="45291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Until </a:t>
            </a:r>
            <a:r>
              <a:rPr lang="en-US" altLang="en-GB" sz="1800">
                <a:latin typeface="Arial" panose="020B0604020202020204" pitchFamily="34" charset="0"/>
              </a:rPr>
              <a:t>no more $ remain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0969" name="Slide Number Placeholder 10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6B981A-A1A4-45B1-A157-1401AD58FD2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609600" y="411163"/>
            <a:ext cx="3673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FF0000"/>
                </a:solidFill>
                <a:latin typeface="Arial" panose="020B0604020202020204" pitchFamily="34" charset="0"/>
              </a:rPr>
              <a:t>Computer Science Law: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57200" y="1681163"/>
            <a:ext cx="835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latin typeface="Arial" panose="020B0604020202020204" pitchFamily="34" charset="0"/>
              </a:rPr>
              <a:t>A computation is mechanical iff it can be performed by a Turing Machine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762000" y="4343400"/>
            <a:ext cx="6178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CC0099"/>
                </a:solidFill>
                <a:latin typeface="Arial" panose="020B0604020202020204" pitchFamily="34" charset="0"/>
              </a:rPr>
              <a:t>There is no known model of computation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CC0099"/>
                </a:solidFill>
                <a:latin typeface="Arial" panose="020B0604020202020204" pitchFamily="34" charset="0"/>
              </a:rPr>
              <a:t>more powerful than Turing Machines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3014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C5CA20-4B7D-4F86-A9AD-07F89A981EC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Oval 1026"/>
          <p:cNvSpPr>
            <a:spLocks noChangeArrowheads="1"/>
          </p:cNvSpPr>
          <p:nvPr/>
        </p:nvSpPr>
        <p:spPr bwMode="auto">
          <a:xfrm>
            <a:off x="3962400" y="335756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5059" name="Object 2"/>
          <p:cNvGraphicFramePr>
            <a:graphicFrameLocks noChangeAspect="1"/>
          </p:cNvGraphicFramePr>
          <p:nvPr/>
        </p:nvGraphicFramePr>
        <p:xfrm>
          <a:off x="1828800" y="335756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6" name="Equation" r:id="rId4" imgW="444307" imgH="533169" progId="Equation.3">
                  <p:embed/>
                </p:oleObj>
              </mc:Choice>
              <mc:Fallback>
                <p:oleObj name="Equation" r:id="rId4" imgW="444307" imgH="533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357563"/>
                        <a:ext cx="4429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Line 1028"/>
          <p:cNvSpPr>
            <a:spLocks noChangeShapeType="1"/>
          </p:cNvSpPr>
          <p:nvPr/>
        </p:nvSpPr>
        <p:spPr bwMode="auto">
          <a:xfrm>
            <a:off x="4648200" y="366236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5061" name="Oval 1029"/>
          <p:cNvSpPr>
            <a:spLocks noChangeArrowheads="1"/>
          </p:cNvSpPr>
          <p:nvPr/>
        </p:nvSpPr>
        <p:spPr bwMode="auto">
          <a:xfrm>
            <a:off x="6489700" y="337026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5062" name="Object 3"/>
          <p:cNvGraphicFramePr>
            <a:graphicFrameLocks noChangeAspect="1"/>
          </p:cNvGraphicFramePr>
          <p:nvPr/>
        </p:nvGraphicFramePr>
        <p:xfrm>
          <a:off x="4114800" y="33575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7" name="Equation" r:id="rId6" imgW="380835" imgH="520474" progId="Equation.3">
                  <p:embed/>
                </p:oleObj>
              </mc:Choice>
              <mc:Fallback>
                <p:oleObj name="Equation" r:id="rId6" imgW="380835" imgH="5204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575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Oval 1031"/>
          <p:cNvSpPr>
            <a:spLocks noChangeArrowheads="1"/>
          </p:cNvSpPr>
          <p:nvPr/>
        </p:nvSpPr>
        <p:spPr bwMode="auto">
          <a:xfrm>
            <a:off x="2108200" y="480536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5064" name="Object 4"/>
          <p:cNvGraphicFramePr>
            <a:graphicFrameLocks noChangeAspect="1"/>
          </p:cNvGraphicFramePr>
          <p:nvPr/>
        </p:nvGraphicFramePr>
        <p:xfrm>
          <a:off x="6629400" y="32813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8"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2813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Oval 1033"/>
          <p:cNvSpPr>
            <a:spLocks noChangeArrowheads="1"/>
          </p:cNvSpPr>
          <p:nvPr/>
        </p:nvSpPr>
        <p:spPr bwMode="auto">
          <a:xfrm>
            <a:off x="1676400" y="335756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5066" name="Object 5"/>
          <p:cNvGraphicFramePr>
            <a:graphicFrameLocks noChangeAspect="1"/>
          </p:cNvGraphicFramePr>
          <p:nvPr/>
        </p:nvGraphicFramePr>
        <p:xfrm>
          <a:off x="2260600" y="480536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9" name="Equation" r:id="rId10" imgW="431613" imgH="533169" progId="Equation.3">
                  <p:embed/>
                </p:oleObj>
              </mc:Choice>
              <mc:Fallback>
                <p:oleObj name="Equation" r:id="rId10" imgW="431613" imgH="53316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4805363"/>
                        <a:ext cx="4302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7" name="Freeform 1035"/>
          <p:cNvSpPr>
            <a:spLocks/>
          </p:cNvSpPr>
          <p:nvPr/>
        </p:nvSpPr>
        <p:spPr bwMode="auto">
          <a:xfrm>
            <a:off x="3657600" y="2366963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45068" name="Object 6"/>
          <p:cNvGraphicFramePr>
            <a:graphicFrameLocks noChangeAspect="1"/>
          </p:cNvGraphicFramePr>
          <p:nvPr/>
        </p:nvGraphicFramePr>
        <p:xfrm>
          <a:off x="4705350" y="3194050"/>
          <a:ext cx="1485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0" name="Equation" r:id="rId12" imgW="1485900" imgH="482600" progId="Equation.3">
                  <p:embed/>
                </p:oleObj>
              </mc:Choice>
              <mc:Fallback>
                <p:oleObj name="Equation" r:id="rId12" imgW="14859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3194050"/>
                        <a:ext cx="1485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7"/>
          <p:cNvGraphicFramePr>
            <a:graphicFrameLocks noChangeAspect="1"/>
          </p:cNvGraphicFramePr>
          <p:nvPr/>
        </p:nvGraphicFramePr>
        <p:xfrm>
          <a:off x="4775200" y="4424363"/>
          <a:ext cx="147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1" name="Equation" r:id="rId14" imgW="1473200" imgH="457200" progId="Equation.3">
                  <p:embed/>
                </p:oleObj>
              </mc:Choice>
              <mc:Fallback>
                <p:oleObj name="Equation" r:id="rId14" imgW="14732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4424363"/>
                        <a:ext cx="1473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0" name="Object 8"/>
          <p:cNvGraphicFramePr>
            <a:graphicFrameLocks noChangeAspect="1"/>
          </p:cNvGraphicFramePr>
          <p:nvPr/>
        </p:nvGraphicFramePr>
        <p:xfrm>
          <a:off x="2413000" y="32115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2" name="Equation" r:id="rId16" imgW="1549400" imgH="457200" progId="Equation.3">
                  <p:embed/>
                </p:oleObj>
              </mc:Choice>
              <mc:Fallback>
                <p:oleObj name="Equation" r:id="rId16" imgW="15494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3211513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1" name="Freeform 1039"/>
          <p:cNvSpPr>
            <a:spLocks/>
          </p:cNvSpPr>
          <p:nvPr/>
        </p:nvSpPr>
        <p:spPr bwMode="auto">
          <a:xfrm>
            <a:off x="1371600" y="2366963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45072" name="Object 9"/>
          <p:cNvGraphicFramePr>
            <a:graphicFrameLocks noChangeAspect="1"/>
          </p:cNvGraphicFramePr>
          <p:nvPr/>
        </p:nvGraphicFramePr>
        <p:xfrm>
          <a:off x="1301750" y="1828800"/>
          <a:ext cx="1485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3" name="Equation" r:id="rId18" imgW="1485900" imgH="482600" progId="Equation.3">
                  <p:embed/>
                </p:oleObj>
              </mc:Choice>
              <mc:Fallback>
                <p:oleObj name="Equation" r:id="rId18" imgW="14859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1828800"/>
                        <a:ext cx="1485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3" name="Line 1041"/>
          <p:cNvSpPr>
            <a:spLocks noChangeShapeType="1"/>
          </p:cNvSpPr>
          <p:nvPr/>
        </p:nvSpPr>
        <p:spPr bwMode="auto">
          <a:xfrm>
            <a:off x="2362200" y="366236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45074" name="Object 10"/>
          <p:cNvGraphicFramePr>
            <a:graphicFrameLocks noChangeAspect="1"/>
          </p:cNvGraphicFramePr>
          <p:nvPr/>
        </p:nvGraphicFramePr>
        <p:xfrm>
          <a:off x="3683000" y="190976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4" name="Equation" r:id="rId20" imgW="1384300" imgH="457200" progId="Equation.3">
                  <p:embed/>
                </p:oleObj>
              </mc:Choice>
              <mc:Fallback>
                <p:oleObj name="Equation" r:id="rId20" imgW="13843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1909763"/>
                        <a:ext cx="1384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5" name="Line 1043"/>
          <p:cNvSpPr>
            <a:spLocks noChangeShapeType="1"/>
          </p:cNvSpPr>
          <p:nvPr/>
        </p:nvSpPr>
        <p:spPr bwMode="auto">
          <a:xfrm>
            <a:off x="1219200" y="36623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45076" name="Freeform 1044"/>
          <p:cNvSpPr>
            <a:spLocks/>
          </p:cNvSpPr>
          <p:nvPr/>
        </p:nvSpPr>
        <p:spPr bwMode="auto">
          <a:xfrm>
            <a:off x="6223000" y="2366963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45077" name="Object 11"/>
          <p:cNvGraphicFramePr>
            <a:graphicFrameLocks noChangeAspect="1"/>
          </p:cNvGraphicFramePr>
          <p:nvPr/>
        </p:nvGraphicFramePr>
        <p:xfrm>
          <a:off x="6134100" y="1909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5" name="Equation" r:id="rId22" imgW="1409700" imgH="457200" progId="Equation.3">
                  <p:embed/>
                </p:oleObj>
              </mc:Choice>
              <mc:Fallback>
                <p:oleObj name="Equation" r:id="rId22" imgW="140970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1909763"/>
                        <a:ext cx="1409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8" name="Oval 1046"/>
          <p:cNvSpPr>
            <a:spLocks noChangeArrowheads="1"/>
          </p:cNvSpPr>
          <p:nvPr/>
        </p:nvSpPr>
        <p:spPr bwMode="auto">
          <a:xfrm>
            <a:off x="1955800" y="46482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45079" name="Freeform 1047"/>
          <p:cNvSpPr>
            <a:spLocks/>
          </p:cNvSpPr>
          <p:nvPr/>
        </p:nvSpPr>
        <p:spPr bwMode="auto">
          <a:xfrm>
            <a:off x="4178300" y="3967163"/>
            <a:ext cx="2654300" cy="1320800"/>
          </a:xfrm>
          <a:custGeom>
            <a:avLst/>
            <a:gdLst>
              <a:gd name="T0" fmla="*/ 2147483646 w 1672"/>
              <a:gd name="T1" fmla="*/ 0 h 832"/>
              <a:gd name="T2" fmla="*/ 2147483646 w 1672"/>
              <a:gd name="T3" fmla="*/ 2147483646 h 832"/>
              <a:gd name="T4" fmla="*/ 2147483646 w 1672"/>
              <a:gd name="T5" fmla="*/ 2147483646 h 832"/>
              <a:gd name="T6" fmla="*/ 2147483646 w 1672"/>
              <a:gd name="T7" fmla="*/ 0 h 832"/>
              <a:gd name="T8" fmla="*/ 0 60000 65536"/>
              <a:gd name="T9" fmla="*/ 0 60000 65536"/>
              <a:gd name="T10" fmla="*/ 0 60000 65536"/>
              <a:gd name="T11" fmla="*/ 0 60000 65536"/>
              <a:gd name="T12" fmla="*/ 0 w 1672"/>
              <a:gd name="T13" fmla="*/ 0 h 832"/>
              <a:gd name="T14" fmla="*/ 1672 w 1672"/>
              <a:gd name="T15" fmla="*/ 832 h 8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72" h="832">
                <a:moveTo>
                  <a:pt x="1672" y="0"/>
                </a:moveTo>
                <a:cubicBezTo>
                  <a:pt x="1672" y="304"/>
                  <a:pt x="1672" y="608"/>
                  <a:pt x="1432" y="720"/>
                </a:cubicBezTo>
                <a:cubicBezTo>
                  <a:pt x="1192" y="832"/>
                  <a:pt x="464" y="792"/>
                  <a:pt x="232" y="672"/>
                </a:cubicBezTo>
                <a:cubicBezTo>
                  <a:pt x="0" y="552"/>
                  <a:pt x="20" y="276"/>
                  <a:pt x="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45080" name="Line 1048"/>
          <p:cNvSpPr>
            <a:spLocks noChangeShapeType="1"/>
          </p:cNvSpPr>
          <p:nvPr/>
        </p:nvSpPr>
        <p:spPr bwMode="auto">
          <a:xfrm flipH="1">
            <a:off x="2870200" y="3814763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45081" name="Object 12"/>
          <p:cNvGraphicFramePr>
            <a:graphicFrameLocks noChangeAspect="1"/>
          </p:cNvGraphicFramePr>
          <p:nvPr/>
        </p:nvGraphicFramePr>
        <p:xfrm>
          <a:off x="1574800" y="419576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6" name="Equation" r:id="rId24" imgW="1587500" imgH="457200" progId="Equation.3">
                  <p:embed/>
                </p:oleObj>
              </mc:Choice>
              <mc:Fallback>
                <p:oleObj name="Equation" r:id="rId24" imgW="158750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4195763"/>
                        <a:ext cx="1587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2" name="Text Box 1050"/>
          <p:cNvSpPr txBox="1">
            <a:spLocks noChangeArrowheads="1"/>
          </p:cNvSpPr>
          <p:nvPr/>
        </p:nvSpPr>
        <p:spPr bwMode="auto">
          <a:xfrm>
            <a:off x="390525" y="381000"/>
            <a:ext cx="3952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CC0099"/>
                </a:solidFill>
                <a:latin typeface="Arial" panose="020B0604020202020204" pitchFamily="34" charset="0"/>
              </a:rPr>
              <a:t>Turing Machine for</a:t>
            </a:r>
            <a:r>
              <a:rPr lang="en-US" altLang="en-GB" sz="1800"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45083" name="Object 13"/>
          <p:cNvGraphicFramePr>
            <a:graphicFrameLocks noChangeAspect="1"/>
          </p:cNvGraphicFramePr>
          <p:nvPr/>
        </p:nvGraphicFramePr>
        <p:xfrm>
          <a:off x="4029075" y="558800"/>
          <a:ext cx="2032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7" name="Equation" r:id="rId26" imgW="2032000" imgH="533400" progId="Equation.3">
                  <p:embed/>
                </p:oleObj>
              </mc:Choice>
              <mc:Fallback>
                <p:oleObj name="Equation" r:id="rId26" imgW="2032000" imgH="533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75" y="558800"/>
                        <a:ext cx="20320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5085" name="Slide Number Placeholder 30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EEF691-5357-467B-9CF3-12D60D162B1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Oval 2"/>
          <p:cNvSpPr>
            <a:spLocks noChangeArrowheads="1"/>
          </p:cNvSpPr>
          <p:nvPr/>
        </p:nvSpPr>
        <p:spPr bwMode="auto">
          <a:xfrm>
            <a:off x="4013200" y="404336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7107" name="Object 2"/>
          <p:cNvGraphicFramePr>
            <a:graphicFrameLocks noChangeAspect="1"/>
          </p:cNvGraphicFramePr>
          <p:nvPr/>
        </p:nvGraphicFramePr>
        <p:xfrm>
          <a:off x="1879600" y="404336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5" name="Equation" r:id="rId4" imgW="444307" imgH="533169" progId="Equation.3">
                  <p:embed/>
                </p:oleObj>
              </mc:Choice>
              <mc:Fallback>
                <p:oleObj name="Equation" r:id="rId4" imgW="444307" imgH="533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4043363"/>
                        <a:ext cx="4429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Line 4"/>
          <p:cNvSpPr>
            <a:spLocks noChangeShapeType="1"/>
          </p:cNvSpPr>
          <p:nvPr/>
        </p:nvSpPr>
        <p:spPr bwMode="auto">
          <a:xfrm>
            <a:off x="4699000" y="434816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6540500" y="405606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7110" name="Object 3"/>
          <p:cNvGraphicFramePr>
            <a:graphicFrameLocks noChangeAspect="1"/>
          </p:cNvGraphicFramePr>
          <p:nvPr/>
        </p:nvGraphicFramePr>
        <p:xfrm>
          <a:off x="4165600" y="4043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6" name="Equation" r:id="rId6" imgW="380835" imgH="520474" progId="Equation.3">
                  <p:embed/>
                </p:oleObj>
              </mc:Choice>
              <mc:Fallback>
                <p:oleObj name="Equation" r:id="rId6" imgW="380835" imgH="5204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4043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2159000" y="549116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7112" name="Object 4"/>
          <p:cNvGraphicFramePr>
            <a:graphicFrameLocks noChangeAspect="1"/>
          </p:cNvGraphicFramePr>
          <p:nvPr/>
        </p:nvGraphicFramePr>
        <p:xfrm>
          <a:off x="6680200" y="39671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7"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39671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1727200" y="404336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7114" name="Object 5"/>
          <p:cNvGraphicFramePr>
            <a:graphicFrameLocks noChangeAspect="1"/>
          </p:cNvGraphicFramePr>
          <p:nvPr/>
        </p:nvGraphicFramePr>
        <p:xfrm>
          <a:off x="2311400" y="549116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8" name="Equation" r:id="rId10" imgW="431613" imgH="533169" progId="Equation.3">
                  <p:embed/>
                </p:oleObj>
              </mc:Choice>
              <mc:Fallback>
                <p:oleObj name="Equation" r:id="rId10" imgW="431613" imgH="53316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5491163"/>
                        <a:ext cx="4302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5" name="Freeform 11"/>
          <p:cNvSpPr>
            <a:spLocks/>
          </p:cNvSpPr>
          <p:nvPr/>
        </p:nvSpPr>
        <p:spPr bwMode="auto">
          <a:xfrm>
            <a:off x="3708400" y="3052763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47116" name="Object 6"/>
          <p:cNvGraphicFramePr>
            <a:graphicFrameLocks noChangeAspect="1"/>
          </p:cNvGraphicFramePr>
          <p:nvPr/>
        </p:nvGraphicFramePr>
        <p:xfrm>
          <a:off x="4756150" y="3879850"/>
          <a:ext cx="1485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9" name="Equation" r:id="rId12" imgW="1485900" imgH="482600" progId="Equation.3">
                  <p:embed/>
                </p:oleObj>
              </mc:Choice>
              <mc:Fallback>
                <p:oleObj name="Equation" r:id="rId12" imgW="14859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3879850"/>
                        <a:ext cx="1485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7" name="Object 7"/>
          <p:cNvGraphicFramePr>
            <a:graphicFrameLocks noChangeAspect="1"/>
          </p:cNvGraphicFramePr>
          <p:nvPr/>
        </p:nvGraphicFramePr>
        <p:xfrm>
          <a:off x="4826000" y="5110163"/>
          <a:ext cx="147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0" name="Equation" r:id="rId14" imgW="1473200" imgH="457200" progId="Equation.3">
                  <p:embed/>
                </p:oleObj>
              </mc:Choice>
              <mc:Fallback>
                <p:oleObj name="Equation" r:id="rId14" imgW="14732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5110163"/>
                        <a:ext cx="1473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8" name="Object 8"/>
          <p:cNvGraphicFramePr>
            <a:graphicFrameLocks noChangeAspect="1"/>
          </p:cNvGraphicFramePr>
          <p:nvPr/>
        </p:nvGraphicFramePr>
        <p:xfrm>
          <a:off x="2463800" y="38973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1" name="Equation" r:id="rId16" imgW="1549400" imgH="457200" progId="Equation.3">
                  <p:embed/>
                </p:oleObj>
              </mc:Choice>
              <mc:Fallback>
                <p:oleObj name="Equation" r:id="rId16" imgW="15494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3897313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Freeform 15"/>
          <p:cNvSpPr>
            <a:spLocks/>
          </p:cNvSpPr>
          <p:nvPr/>
        </p:nvSpPr>
        <p:spPr bwMode="auto">
          <a:xfrm>
            <a:off x="1422400" y="3052763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47120" name="Object 9"/>
          <p:cNvGraphicFramePr>
            <a:graphicFrameLocks noChangeAspect="1"/>
          </p:cNvGraphicFramePr>
          <p:nvPr/>
        </p:nvGraphicFramePr>
        <p:xfrm>
          <a:off x="1352550" y="2514600"/>
          <a:ext cx="1485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2" name="Equation" r:id="rId18" imgW="1485900" imgH="482600" progId="Equation.3">
                  <p:embed/>
                </p:oleObj>
              </mc:Choice>
              <mc:Fallback>
                <p:oleObj name="Equation" r:id="rId18" imgW="14859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2514600"/>
                        <a:ext cx="1485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1" name="Line 17"/>
          <p:cNvSpPr>
            <a:spLocks noChangeShapeType="1"/>
          </p:cNvSpPr>
          <p:nvPr/>
        </p:nvSpPr>
        <p:spPr bwMode="auto">
          <a:xfrm>
            <a:off x="2413000" y="434816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47122" name="Object 10"/>
          <p:cNvGraphicFramePr>
            <a:graphicFrameLocks noChangeAspect="1"/>
          </p:cNvGraphicFramePr>
          <p:nvPr/>
        </p:nvGraphicFramePr>
        <p:xfrm>
          <a:off x="3733800" y="259556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3" name="Equation" r:id="rId20" imgW="1384300" imgH="457200" progId="Equation.3">
                  <p:embed/>
                </p:oleObj>
              </mc:Choice>
              <mc:Fallback>
                <p:oleObj name="Equation" r:id="rId20" imgW="13843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95563"/>
                        <a:ext cx="1384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3" name="Line 19"/>
          <p:cNvSpPr>
            <a:spLocks noChangeShapeType="1"/>
          </p:cNvSpPr>
          <p:nvPr/>
        </p:nvSpPr>
        <p:spPr bwMode="auto">
          <a:xfrm>
            <a:off x="1270000" y="4348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47124" name="Freeform 20"/>
          <p:cNvSpPr>
            <a:spLocks/>
          </p:cNvSpPr>
          <p:nvPr/>
        </p:nvSpPr>
        <p:spPr bwMode="auto">
          <a:xfrm>
            <a:off x="6273800" y="3052763"/>
            <a:ext cx="1117600" cy="1003300"/>
          </a:xfrm>
          <a:custGeom>
            <a:avLst/>
            <a:gdLst>
              <a:gd name="T0" fmla="*/ 2147483646 w 704"/>
              <a:gd name="T1" fmla="*/ 2147483646 h 632"/>
              <a:gd name="T2" fmla="*/ 2147483646 w 704"/>
              <a:gd name="T3" fmla="*/ 2147483646 h 632"/>
              <a:gd name="T4" fmla="*/ 2147483646 w 704"/>
              <a:gd name="T5" fmla="*/ 2147483646 h 632"/>
              <a:gd name="T6" fmla="*/ 2147483646 w 704"/>
              <a:gd name="T7" fmla="*/ 2147483646 h 632"/>
              <a:gd name="T8" fmla="*/ 2147483646 w 704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4"/>
              <a:gd name="T16" fmla="*/ 0 h 632"/>
              <a:gd name="T17" fmla="*/ 704 w 704"/>
              <a:gd name="T18" fmla="*/ 632 h 6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47125" name="Object 11"/>
          <p:cNvGraphicFramePr>
            <a:graphicFrameLocks noChangeAspect="1"/>
          </p:cNvGraphicFramePr>
          <p:nvPr/>
        </p:nvGraphicFramePr>
        <p:xfrm>
          <a:off x="6184900" y="25955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4" name="Equation" r:id="rId22" imgW="1409700" imgH="457200" progId="Equation.3">
                  <p:embed/>
                </p:oleObj>
              </mc:Choice>
              <mc:Fallback>
                <p:oleObj name="Equation" r:id="rId22" imgW="140970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2595563"/>
                        <a:ext cx="1409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6" name="Oval 22"/>
          <p:cNvSpPr>
            <a:spLocks noChangeArrowheads="1"/>
          </p:cNvSpPr>
          <p:nvPr/>
        </p:nvSpPr>
        <p:spPr bwMode="auto">
          <a:xfrm>
            <a:off x="2006600" y="533876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sp>
        <p:nvSpPr>
          <p:cNvPr id="47127" name="Freeform 23"/>
          <p:cNvSpPr>
            <a:spLocks/>
          </p:cNvSpPr>
          <p:nvPr/>
        </p:nvSpPr>
        <p:spPr bwMode="auto">
          <a:xfrm>
            <a:off x="4229100" y="4652963"/>
            <a:ext cx="2654300" cy="1320800"/>
          </a:xfrm>
          <a:custGeom>
            <a:avLst/>
            <a:gdLst>
              <a:gd name="T0" fmla="*/ 2147483646 w 1672"/>
              <a:gd name="T1" fmla="*/ 0 h 832"/>
              <a:gd name="T2" fmla="*/ 2147483646 w 1672"/>
              <a:gd name="T3" fmla="*/ 2147483646 h 832"/>
              <a:gd name="T4" fmla="*/ 2147483646 w 1672"/>
              <a:gd name="T5" fmla="*/ 2147483646 h 832"/>
              <a:gd name="T6" fmla="*/ 2147483646 w 1672"/>
              <a:gd name="T7" fmla="*/ 0 h 832"/>
              <a:gd name="T8" fmla="*/ 0 60000 65536"/>
              <a:gd name="T9" fmla="*/ 0 60000 65536"/>
              <a:gd name="T10" fmla="*/ 0 60000 65536"/>
              <a:gd name="T11" fmla="*/ 0 60000 65536"/>
              <a:gd name="T12" fmla="*/ 0 w 1672"/>
              <a:gd name="T13" fmla="*/ 0 h 832"/>
              <a:gd name="T14" fmla="*/ 1672 w 1672"/>
              <a:gd name="T15" fmla="*/ 832 h 8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72" h="832">
                <a:moveTo>
                  <a:pt x="1672" y="0"/>
                </a:moveTo>
                <a:cubicBezTo>
                  <a:pt x="1672" y="304"/>
                  <a:pt x="1672" y="608"/>
                  <a:pt x="1432" y="720"/>
                </a:cubicBezTo>
                <a:cubicBezTo>
                  <a:pt x="1192" y="832"/>
                  <a:pt x="464" y="792"/>
                  <a:pt x="232" y="672"/>
                </a:cubicBezTo>
                <a:cubicBezTo>
                  <a:pt x="0" y="552"/>
                  <a:pt x="20" y="276"/>
                  <a:pt x="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47128" name="Line 24"/>
          <p:cNvSpPr>
            <a:spLocks noChangeShapeType="1"/>
          </p:cNvSpPr>
          <p:nvPr/>
        </p:nvSpPr>
        <p:spPr bwMode="auto">
          <a:xfrm flipH="1">
            <a:off x="2921000" y="4500563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47129" name="Object 12"/>
          <p:cNvGraphicFramePr>
            <a:graphicFrameLocks noChangeAspect="1"/>
          </p:cNvGraphicFramePr>
          <p:nvPr/>
        </p:nvGraphicFramePr>
        <p:xfrm>
          <a:off x="1625600" y="488156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5" name="Equation" r:id="rId24" imgW="1587500" imgH="457200" progId="Equation.3">
                  <p:embed/>
                </p:oleObj>
              </mc:Choice>
              <mc:Fallback>
                <p:oleObj name="Equation" r:id="rId24" imgW="158750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4881563"/>
                        <a:ext cx="1587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3429000" y="334963"/>
            <a:ext cx="1752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Example</a:t>
            </a:r>
          </a:p>
        </p:txBody>
      </p:sp>
      <p:sp>
        <p:nvSpPr>
          <p:cNvPr id="47131" name="Line 27"/>
          <p:cNvSpPr>
            <a:spLocks noChangeShapeType="1"/>
          </p:cNvSpPr>
          <p:nvPr/>
        </p:nvSpPr>
        <p:spPr bwMode="auto">
          <a:xfrm>
            <a:off x="0" y="10668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32" name="Line 28"/>
          <p:cNvSpPr>
            <a:spLocks noChangeShapeType="1"/>
          </p:cNvSpPr>
          <p:nvPr/>
        </p:nvSpPr>
        <p:spPr bwMode="auto">
          <a:xfrm>
            <a:off x="0" y="1752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33" name="Line 29"/>
          <p:cNvSpPr>
            <a:spLocks noChangeShapeType="1"/>
          </p:cNvSpPr>
          <p:nvPr/>
        </p:nvSpPr>
        <p:spPr bwMode="auto">
          <a:xfrm>
            <a:off x="3810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34" name="Line 30"/>
          <p:cNvSpPr>
            <a:spLocks noChangeShapeType="1"/>
          </p:cNvSpPr>
          <p:nvPr/>
        </p:nvSpPr>
        <p:spPr bwMode="auto">
          <a:xfrm>
            <a:off x="9144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35" name="Line 31"/>
          <p:cNvSpPr>
            <a:spLocks noChangeShapeType="1"/>
          </p:cNvSpPr>
          <p:nvPr/>
        </p:nvSpPr>
        <p:spPr bwMode="auto">
          <a:xfrm>
            <a:off x="14478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36" name="Line 32"/>
          <p:cNvSpPr>
            <a:spLocks noChangeShapeType="1"/>
          </p:cNvSpPr>
          <p:nvPr/>
        </p:nvSpPr>
        <p:spPr bwMode="auto">
          <a:xfrm>
            <a:off x="19812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37" name="Line 33"/>
          <p:cNvSpPr>
            <a:spLocks noChangeShapeType="1"/>
          </p:cNvSpPr>
          <p:nvPr/>
        </p:nvSpPr>
        <p:spPr bwMode="auto">
          <a:xfrm>
            <a:off x="25146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38" name="Line 34"/>
          <p:cNvSpPr>
            <a:spLocks noChangeShapeType="1"/>
          </p:cNvSpPr>
          <p:nvPr/>
        </p:nvSpPr>
        <p:spPr bwMode="auto">
          <a:xfrm flipV="1">
            <a:off x="1143000" y="175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47139" name="Object 13"/>
          <p:cNvGraphicFramePr>
            <a:graphicFrameLocks noChangeAspect="1"/>
          </p:cNvGraphicFramePr>
          <p:nvPr/>
        </p:nvGraphicFramePr>
        <p:xfrm>
          <a:off x="533400" y="1219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6" name="Equation" r:id="rId26" imgW="253890" imgH="368140" progId="Equation.3">
                  <p:embed/>
                </p:oleObj>
              </mc:Choice>
              <mc:Fallback>
                <p:oleObj name="Equation" r:id="rId26" imgW="253890" imgH="3681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0" name="Object 14"/>
          <p:cNvGraphicFramePr>
            <a:graphicFrameLocks noChangeAspect="1"/>
          </p:cNvGraphicFramePr>
          <p:nvPr/>
        </p:nvGraphicFramePr>
        <p:xfrm>
          <a:off x="908050" y="2133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7" name="Equation" r:id="rId28" imgW="444307" imgH="533169" progId="Equation.3">
                  <p:embed/>
                </p:oleObj>
              </mc:Choice>
              <mc:Fallback>
                <p:oleObj name="Equation" r:id="rId28" imgW="444307" imgH="53316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21336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1" name="Object 15"/>
          <p:cNvGraphicFramePr>
            <a:graphicFrameLocks noChangeAspect="1"/>
          </p:cNvGraphicFramePr>
          <p:nvPr/>
        </p:nvGraphicFramePr>
        <p:xfrm>
          <a:off x="1676400" y="12192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8" name="Equation" r:id="rId29" imgW="165028" imgH="368140" progId="Equation.3">
                  <p:embed/>
                </p:oleObj>
              </mc:Choice>
              <mc:Fallback>
                <p:oleObj name="Equation" r:id="rId29" imgW="165028" imgH="3681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2192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2" name="Object 16"/>
          <p:cNvGraphicFramePr>
            <a:graphicFrameLocks noChangeAspect="1"/>
          </p:cNvGraphicFramePr>
          <p:nvPr/>
        </p:nvGraphicFramePr>
        <p:xfrm>
          <a:off x="2133600" y="1219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9" name="Equation" r:id="rId31" imgW="253890" imgH="368140" progId="Equation.3">
                  <p:embed/>
                </p:oleObj>
              </mc:Choice>
              <mc:Fallback>
                <p:oleObj name="Equation" r:id="rId31" imgW="253890" imgH="3681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19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3" name="Object 17"/>
          <p:cNvGraphicFramePr>
            <a:graphicFrameLocks noChangeAspect="1"/>
          </p:cNvGraphicFramePr>
          <p:nvPr/>
        </p:nvGraphicFramePr>
        <p:xfrm>
          <a:off x="1111250" y="12303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0" name="Equation" r:id="rId32" imgW="165028" imgH="368140" progId="Equation.3">
                  <p:embed/>
                </p:oleObj>
              </mc:Choice>
              <mc:Fallback>
                <p:oleObj name="Equation" r:id="rId32" imgW="165028" imgH="3681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123031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4" name="Line 40"/>
          <p:cNvSpPr>
            <a:spLocks noChangeShapeType="1"/>
          </p:cNvSpPr>
          <p:nvPr/>
        </p:nvSpPr>
        <p:spPr bwMode="auto">
          <a:xfrm>
            <a:off x="4892675" y="1117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45" name="Line 41"/>
          <p:cNvSpPr>
            <a:spLocks noChangeShapeType="1"/>
          </p:cNvSpPr>
          <p:nvPr/>
        </p:nvSpPr>
        <p:spPr bwMode="auto">
          <a:xfrm>
            <a:off x="4892675" y="1803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46" name="Line 42"/>
          <p:cNvSpPr>
            <a:spLocks noChangeShapeType="1"/>
          </p:cNvSpPr>
          <p:nvPr/>
        </p:nvSpPr>
        <p:spPr bwMode="auto">
          <a:xfrm>
            <a:off x="52736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47" name="Line 43"/>
          <p:cNvSpPr>
            <a:spLocks noChangeShapeType="1"/>
          </p:cNvSpPr>
          <p:nvPr/>
        </p:nvSpPr>
        <p:spPr bwMode="auto">
          <a:xfrm>
            <a:off x="58070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48" name="Line 44"/>
          <p:cNvSpPr>
            <a:spLocks noChangeShapeType="1"/>
          </p:cNvSpPr>
          <p:nvPr/>
        </p:nvSpPr>
        <p:spPr bwMode="auto">
          <a:xfrm>
            <a:off x="84740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49" name="Line 45"/>
          <p:cNvSpPr>
            <a:spLocks noChangeShapeType="1"/>
          </p:cNvSpPr>
          <p:nvPr/>
        </p:nvSpPr>
        <p:spPr bwMode="auto">
          <a:xfrm flipV="1">
            <a:off x="6096000" y="182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47150" name="Object 18"/>
          <p:cNvGraphicFramePr>
            <a:graphicFrameLocks noChangeAspect="1"/>
          </p:cNvGraphicFramePr>
          <p:nvPr/>
        </p:nvGraphicFramePr>
        <p:xfrm>
          <a:off x="5426075" y="1270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1" name="Equation" r:id="rId33" imgW="253890" imgH="368140" progId="Equation.3">
                  <p:embed/>
                </p:oleObj>
              </mc:Choice>
              <mc:Fallback>
                <p:oleObj name="Equation" r:id="rId33" imgW="253890" imgH="3681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6075" y="1270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1" name="Object 19"/>
          <p:cNvGraphicFramePr>
            <a:graphicFrameLocks noChangeAspect="1"/>
          </p:cNvGraphicFramePr>
          <p:nvPr/>
        </p:nvGraphicFramePr>
        <p:xfrm>
          <a:off x="5943600" y="2057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2" name="Equation" r:id="rId34" imgW="431613" imgH="533169" progId="Equation.3">
                  <p:embed/>
                </p:oleObj>
              </mc:Choice>
              <mc:Fallback>
                <p:oleObj name="Equation" r:id="rId34" imgW="431613" imgH="53316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057400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2" name="Object 20"/>
          <p:cNvGraphicFramePr>
            <a:graphicFrameLocks noChangeAspect="1"/>
          </p:cNvGraphicFramePr>
          <p:nvPr/>
        </p:nvGraphicFramePr>
        <p:xfrm>
          <a:off x="8093075" y="1270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3" name="Equation" r:id="rId35" imgW="253890" imgH="368140" progId="Equation.3">
                  <p:embed/>
                </p:oleObj>
              </mc:Choice>
              <mc:Fallback>
                <p:oleObj name="Equation" r:id="rId35" imgW="253890" imgH="3681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3075" y="1270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3" name="Line 49"/>
          <p:cNvSpPr>
            <a:spLocks noChangeShapeType="1"/>
          </p:cNvSpPr>
          <p:nvPr/>
        </p:nvSpPr>
        <p:spPr bwMode="auto">
          <a:xfrm>
            <a:off x="63404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54" name="Line 50"/>
          <p:cNvSpPr>
            <a:spLocks noChangeShapeType="1"/>
          </p:cNvSpPr>
          <p:nvPr/>
        </p:nvSpPr>
        <p:spPr bwMode="auto">
          <a:xfrm>
            <a:off x="68738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55" name="Line 51"/>
          <p:cNvSpPr>
            <a:spLocks noChangeShapeType="1"/>
          </p:cNvSpPr>
          <p:nvPr/>
        </p:nvSpPr>
        <p:spPr bwMode="auto">
          <a:xfrm>
            <a:off x="74072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47156" name="Line 52"/>
          <p:cNvSpPr>
            <a:spLocks noChangeShapeType="1"/>
          </p:cNvSpPr>
          <p:nvPr/>
        </p:nvSpPr>
        <p:spPr bwMode="auto">
          <a:xfrm>
            <a:off x="79406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47157" name="Object 21"/>
          <p:cNvGraphicFramePr>
            <a:graphicFrameLocks noChangeAspect="1"/>
          </p:cNvGraphicFramePr>
          <p:nvPr/>
        </p:nvGraphicFramePr>
        <p:xfrm>
          <a:off x="6569075" y="1270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4" name="Equation" r:id="rId36" imgW="165028" imgH="368140" progId="Equation.3">
                  <p:embed/>
                </p:oleObj>
              </mc:Choice>
              <mc:Fallback>
                <p:oleObj name="Equation" r:id="rId36" imgW="165028" imgH="3681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075" y="12700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8" name="Object 22"/>
          <p:cNvGraphicFramePr>
            <a:graphicFrameLocks noChangeAspect="1"/>
          </p:cNvGraphicFramePr>
          <p:nvPr/>
        </p:nvGraphicFramePr>
        <p:xfrm>
          <a:off x="7604125" y="1281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5" name="Equation" r:id="rId37" imgW="165028" imgH="368140" progId="Equation.3">
                  <p:embed/>
                </p:oleObj>
              </mc:Choice>
              <mc:Fallback>
                <p:oleObj name="Equation" r:id="rId37" imgW="165028" imgH="3681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128111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9" name="Object 23"/>
          <p:cNvGraphicFramePr>
            <a:graphicFrameLocks noChangeAspect="1"/>
          </p:cNvGraphicFramePr>
          <p:nvPr/>
        </p:nvGraphicFramePr>
        <p:xfrm>
          <a:off x="6003925" y="1281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6" name="Equation" r:id="rId39" imgW="165028" imgH="368140" progId="Equation.3">
                  <p:embed/>
                </p:oleObj>
              </mc:Choice>
              <mc:Fallback>
                <p:oleObj name="Equation" r:id="rId39" imgW="165028" imgH="3681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1281113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0" name="Object 24"/>
          <p:cNvGraphicFramePr>
            <a:graphicFrameLocks noChangeAspect="1"/>
          </p:cNvGraphicFramePr>
          <p:nvPr/>
        </p:nvGraphicFramePr>
        <p:xfrm>
          <a:off x="7026275" y="1270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7" name="Equation" r:id="rId40" imgW="165028" imgH="368140" progId="Equation.3">
                  <p:embed/>
                </p:oleObj>
              </mc:Choice>
              <mc:Fallback>
                <p:oleObj name="Equation" r:id="rId40" imgW="165028" imgH="3681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275" y="1270000"/>
                        <a:ext cx="163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61" name="Text Box 57"/>
          <p:cNvSpPr txBox="1">
            <a:spLocks noChangeArrowheads="1"/>
          </p:cNvSpPr>
          <p:nvPr/>
        </p:nvSpPr>
        <p:spPr bwMode="auto">
          <a:xfrm>
            <a:off x="898525" y="330200"/>
            <a:ext cx="1254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Start</a:t>
            </a:r>
          </a:p>
        </p:txBody>
      </p:sp>
      <p:sp>
        <p:nvSpPr>
          <p:cNvPr id="47162" name="Text Box 58"/>
          <p:cNvSpPr txBox="1">
            <a:spLocks noChangeArrowheads="1"/>
          </p:cNvSpPr>
          <p:nvPr/>
        </p:nvSpPr>
        <p:spPr bwMode="auto">
          <a:xfrm>
            <a:off x="6553200" y="381000"/>
            <a:ext cx="1304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Finish</a:t>
            </a:r>
          </a:p>
        </p:txBody>
      </p:sp>
      <p:sp>
        <p:nvSpPr>
          <p:cNvPr id="60" name="Footer Placeholder 5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7164" name="Slide Number Placeholder 6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4EABB4-704A-41B8-9F3B-0AA3A8784A2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Another Example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9156" name="Slide Number Placeholder 1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67FA7B-B6F5-462D-A087-E80199B5215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9157" name="Text Box 3"/>
          <p:cNvSpPr txBox="1">
            <a:spLocks noChangeArrowheads="1"/>
          </p:cNvSpPr>
          <p:nvPr/>
        </p:nvSpPr>
        <p:spPr bwMode="auto">
          <a:xfrm>
            <a:off x="288925" y="2006600"/>
            <a:ext cx="2613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The function</a:t>
            </a:r>
          </a:p>
        </p:txBody>
      </p:sp>
      <p:graphicFrame>
        <p:nvGraphicFramePr>
          <p:cNvPr id="49158" name="Object 2"/>
          <p:cNvGraphicFramePr>
            <a:graphicFrameLocks noChangeAspect="1"/>
          </p:cNvGraphicFramePr>
          <p:nvPr/>
        </p:nvGraphicFramePr>
        <p:xfrm>
          <a:off x="3505200" y="1981200"/>
          <a:ext cx="18669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7" name="Equation" r:id="rId4" imgW="1866090" imgH="533169" progId="Equation.3">
                  <p:embed/>
                </p:oleObj>
              </mc:Choice>
              <mc:Fallback>
                <p:oleObj name="Equation" r:id="rId4" imgW="1866090" imgH="533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981200"/>
                        <a:ext cx="18669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Text Box 5"/>
          <p:cNvSpPr txBox="1">
            <a:spLocks noChangeArrowheads="1"/>
          </p:cNvSpPr>
          <p:nvPr/>
        </p:nvSpPr>
        <p:spPr bwMode="auto">
          <a:xfrm>
            <a:off x="381000" y="2819400"/>
            <a:ext cx="2762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is computable</a:t>
            </a:r>
          </a:p>
        </p:txBody>
      </p:sp>
      <p:sp>
        <p:nvSpPr>
          <p:cNvPr id="49160" name="AutoShape 6"/>
          <p:cNvSpPr>
            <a:spLocks/>
          </p:cNvSpPr>
          <p:nvPr/>
        </p:nvSpPr>
        <p:spPr bwMode="auto">
          <a:xfrm>
            <a:off x="5486400" y="1371600"/>
            <a:ext cx="381000" cy="1752600"/>
          </a:xfrm>
          <a:prstGeom prst="leftBrace">
            <a:avLst>
              <a:gd name="adj1" fmla="val 3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49161" name="Object 3"/>
          <p:cNvGraphicFramePr>
            <a:graphicFrameLocks noChangeAspect="1"/>
          </p:cNvGraphicFramePr>
          <p:nvPr/>
        </p:nvGraphicFramePr>
        <p:xfrm>
          <a:off x="6165850" y="26479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8" name="Equation" r:id="rId6" imgW="266584" imgH="418918" progId="Equation.3">
                  <p:embed/>
                </p:oleObj>
              </mc:Choice>
              <mc:Fallback>
                <p:oleObj name="Equation" r:id="rId6" imgW="266584" imgH="41891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0" y="26479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4"/>
          <p:cNvGraphicFramePr>
            <a:graphicFrameLocks noChangeAspect="1"/>
          </p:cNvGraphicFramePr>
          <p:nvPr/>
        </p:nvGraphicFramePr>
        <p:xfrm>
          <a:off x="6242050" y="14287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9" name="Equation" r:id="rId8" imgW="177569" imgH="405872" progId="Equation.3">
                  <p:embed/>
                </p:oleObj>
              </mc:Choice>
              <mc:Fallback>
                <p:oleObj name="Equation" r:id="rId8" imgW="177569" imgH="40587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14287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5"/>
          <p:cNvGraphicFramePr>
            <a:graphicFrameLocks noChangeAspect="1"/>
          </p:cNvGraphicFramePr>
          <p:nvPr/>
        </p:nvGraphicFramePr>
        <p:xfrm>
          <a:off x="7715250" y="1504950"/>
          <a:ext cx="109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0" name="Equation" r:id="rId10" imgW="1091726" imgH="418918" progId="Equation.3">
                  <p:embed/>
                </p:oleObj>
              </mc:Choice>
              <mc:Fallback>
                <p:oleObj name="Equation" r:id="rId10" imgW="1091726" imgH="41891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504950"/>
                        <a:ext cx="1092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4" name="Object 6"/>
          <p:cNvGraphicFramePr>
            <a:graphicFrameLocks noChangeAspect="1"/>
          </p:cNvGraphicFramePr>
          <p:nvPr/>
        </p:nvGraphicFramePr>
        <p:xfrm>
          <a:off x="7715250" y="2641600"/>
          <a:ext cx="1079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1" name="Equation" r:id="rId12" imgW="1079032" imgH="482391" progId="Equation.3">
                  <p:embed/>
                </p:oleObj>
              </mc:Choice>
              <mc:Fallback>
                <p:oleObj name="Equation" r:id="rId12" imgW="1079032" imgH="48239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2641600"/>
                        <a:ext cx="10795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5" name="Text Box 11"/>
          <p:cNvSpPr txBox="1">
            <a:spLocks noChangeArrowheads="1"/>
          </p:cNvSpPr>
          <p:nvPr/>
        </p:nvSpPr>
        <p:spPr bwMode="auto">
          <a:xfrm>
            <a:off x="7086600" y="1295400"/>
            <a:ext cx="504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if</a:t>
            </a:r>
          </a:p>
        </p:txBody>
      </p:sp>
      <p:sp>
        <p:nvSpPr>
          <p:cNvPr id="49166" name="Text Box 12"/>
          <p:cNvSpPr txBox="1">
            <a:spLocks noChangeArrowheads="1"/>
          </p:cNvSpPr>
          <p:nvPr/>
        </p:nvSpPr>
        <p:spPr bwMode="auto">
          <a:xfrm>
            <a:off x="7010400" y="2590800"/>
            <a:ext cx="504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436563" y="457200"/>
            <a:ext cx="38306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CC0099"/>
                </a:solidFill>
                <a:latin typeface="Arial" panose="020B0604020202020204" pitchFamily="34" charset="0"/>
              </a:rPr>
              <a:t>Turing Machine for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609600" y="4114800"/>
            <a:ext cx="1362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Input:</a:t>
            </a:r>
          </a:p>
        </p:txBody>
      </p:sp>
      <p:graphicFrame>
        <p:nvGraphicFramePr>
          <p:cNvPr id="51204" name="Object 2"/>
          <p:cNvGraphicFramePr>
            <a:graphicFrameLocks noChangeAspect="1"/>
          </p:cNvGraphicFramePr>
          <p:nvPr/>
        </p:nvGraphicFramePr>
        <p:xfrm>
          <a:off x="2438400" y="411480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9" name="Equation" r:id="rId4" imgW="838200" imgH="520700" progId="Equation.3">
                  <p:embed/>
                </p:oleObj>
              </mc:Choice>
              <mc:Fallback>
                <p:oleObj name="Equation" r:id="rId4" imgW="838200" imgH="520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14800"/>
                        <a:ext cx="838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365125" y="5588000"/>
            <a:ext cx="1654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solidFill>
                  <a:srgbClr val="FF0000"/>
                </a:solidFill>
                <a:latin typeface="Arial" panose="020B0604020202020204" pitchFamily="34" charset="0"/>
              </a:rPr>
              <a:t>Output:</a:t>
            </a:r>
          </a:p>
        </p:txBody>
      </p:sp>
      <p:graphicFrame>
        <p:nvGraphicFramePr>
          <p:cNvPr id="51206" name="Object 3"/>
          <p:cNvGraphicFramePr>
            <a:graphicFrameLocks noChangeAspect="1"/>
          </p:cNvGraphicFramePr>
          <p:nvPr/>
        </p:nvGraphicFramePr>
        <p:xfrm>
          <a:off x="2508250" y="56197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0" name="Equation" r:id="rId6" imgW="177569" imgH="405872" progId="Equation.3">
                  <p:embed/>
                </p:oleObj>
              </mc:Choice>
              <mc:Fallback>
                <p:oleObj name="Equation" r:id="rId6" imgW="177569" imgH="40587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56197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4"/>
          <p:cNvGraphicFramePr>
            <a:graphicFrameLocks noChangeAspect="1"/>
          </p:cNvGraphicFramePr>
          <p:nvPr/>
        </p:nvGraphicFramePr>
        <p:xfrm>
          <a:off x="4260850" y="56197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1" name="Equation" r:id="rId8" imgW="266584" imgH="418918" progId="Equation.3">
                  <p:embed/>
                </p:oleObj>
              </mc:Choice>
              <mc:Fallback>
                <p:oleObj name="Equation" r:id="rId8" imgW="266584" imgH="41891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56197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3200400" y="55626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</a:rPr>
              <a:t>or</a:t>
            </a:r>
          </a:p>
        </p:txBody>
      </p:sp>
      <p:graphicFrame>
        <p:nvGraphicFramePr>
          <p:cNvPr id="51209" name="Object 5"/>
          <p:cNvGraphicFramePr>
            <a:graphicFrameLocks noChangeAspect="1"/>
          </p:cNvGraphicFramePr>
          <p:nvPr/>
        </p:nvGraphicFramePr>
        <p:xfrm>
          <a:off x="3505200" y="1981200"/>
          <a:ext cx="18669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2" name="Equation" r:id="rId10" imgW="1866090" imgH="533169" progId="Equation.3">
                  <p:embed/>
                </p:oleObj>
              </mc:Choice>
              <mc:Fallback>
                <p:oleObj name="Equation" r:id="rId10" imgW="1866090" imgH="53316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981200"/>
                        <a:ext cx="18669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0" name="AutoShape 10"/>
          <p:cNvSpPr>
            <a:spLocks/>
          </p:cNvSpPr>
          <p:nvPr/>
        </p:nvSpPr>
        <p:spPr bwMode="auto">
          <a:xfrm>
            <a:off x="5486400" y="1371600"/>
            <a:ext cx="381000" cy="1752600"/>
          </a:xfrm>
          <a:prstGeom prst="leftBrace">
            <a:avLst>
              <a:gd name="adj1" fmla="val 3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</a:endParaRPr>
          </a:p>
        </p:txBody>
      </p:sp>
      <p:graphicFrame>
        <p:nvGraphicFramePr>
          <p:cNvPr id="51211" name="Object 6"/>
          <p:cNvGraphicFramePr>
            <a:graphicFrameLocks noChangeAspect="1"/>
          </p:cNvGraphicFramePr>
          <p:nvPr/>
        </p:nvGraphicFramePr>
        <p:xfrm>
          <a:off x="6165850" y="26479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3" name="Equation" r:id="rId12" imgW="266584" imgH="418918" progId="Equation.3">
                  <p:embed/>
                </p:oleObj>
              </mc:Choice>
              <mc:Fallback>
                <p:oleObj name="Equation" r:id="rId12" imgW="266584" imgH="41891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0" y="26479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7"/>
          <p:cNvGraphicFramePr>
            <a:graphicFrameLocks noChangeAspect="1"/>
          </p:cNvGraphicFramePr>
          <p:nvPr/>
        </p:nvGraphicFramePr>
        <p:xfrm>
          <a:off x="6242050" y="14287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4" name="Equation" r:id="rId13" imgW="177569" imgH="405872" progId="Equation.3">
                  <p:embed/>
                </p:oleObj>
              </mc:Choice>
              <mc:Fallback>
                <p:oleObj name="Equation" r:id="rId13" imgW="177569" imgH="40587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14287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8"/>
          <p:cNvGraphicFramePr>
            <a:graphicFrameLocks noChangeAspect="1"/>
          </p:cNvGraphicFramePr>
          <p:nvPr/>
        </p:nvGraphicFramePr>
        <p:xfrm>
          <a:off x="7715250" y="1504950"/>
          <a:ext cx="109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5" name="Equation" r:id="rId14" imgW="1091726" imgH="418918" progId="Equation.3">
                  <p:embed/>
                </p:oleObj>
              </mc:Choice>
              <mc:Fallback>
                <p:oleObj name="Equation" r:id="rId14" imgW="1091726" imgH="41891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504950"/>
                        <a:ext cx="1092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4" name="Object 9"/>
          <p:cNvGraphicFramePr>
            <a:graphicFrameLocks noChangeAspect="1"/>
          </p:cNvGraphicFramePr>
          <p:nvPr/>
        </p:nvGraphicFramePr>
        <p:xfrm>
          <a:off x="7715250" y="2641600"/>
          <a:ext cx="1079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6" name="Equation" r:id="rId16" imgW="1079032" imgH="482391" progId="Equation.3">
                  <p:embed/>
                </p:oleObj>
              </mc:Choice>
              <mc:Fallback>
                <p:oleObj name="Equation" r:id="rId16" imgW="1079032" imgH="4823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2641600"/>
                        <a:ext cx="10795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7086600" y="1295400"/>
            <a:ext cx="33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latin typeface="Arial" panose="020B0604020202020204" pitchFamily="34" charset="0"/>
              </a:rPr>
              <a:t>if</a:t>
            </a:r>
          </a:p>
        </p:txBody>
      </p: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7010400" y="2590800"/>
            <a:ext cx="33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latin typeface="Arial" panose="020B0604020202020204" pitchFamily="34" charset="0"/>
              </a:rPr>
              <a:t>if</a:t>
            </a: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1218" name="Slide Number Placeholder 1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C0C385-6ED3-4020-BF05-7853CAA952A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371475" y="411163"/>
            <a:ext cx="3743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solidFill>
                  <a:srgbClr val="CC0099"/>
                </a:solidFill>
                <a:latin typeface="Arial" panose="020B0604020202020204" pitchFamily="34" charset="0"/>
              </a:rPr>
              <a:t>Turing Machine Pseudocode: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1752600" y="2133600"/>
            <a:ext cx="64404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Match a 1 from     with a 1 from  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3429000" y="22098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4" name="Equation" r:id="rId4" imgW="291973" imgH="304668" progId="Equation.3">
                  <p:embed/>
                </p:oleObj>
              </mc:Choice>
              <mc:Fallback>
                <p:oleObj name="Equation" r:id="rId4" imgW="291973" imgH="30466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2098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3"/>
          <p:cNvGraphicFramePr>
            <a:graphicFrameLocks noChangeAspect="1"/>
          </p:cNvGraphicFramePr>
          <p:nvPr/>
        </p:nvGraphicFramePr>
        <p:xfrm>
          <a:off x="5257800" y="213360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5" name="Equation" r:id="rId6" imgW="317225" imgH="406048" progId="Equation.3">
                  <p:embed/>
                </p:oleObj>
              </mc:Choice>
              <mc:Fallback>
                <p:oleObj name="Equation" r:id="rId6" imgW="317225" imgH="40604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133600"/>
                        <a:ext cx="315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990600" y="1066800"/>
            <a:ext cx="1781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 Repeat</a:t>
            </a:r>
          </a:p>
        </p:txBody>
      </p:sp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838200" y="3124200"/>
            <a:ext cx="6997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    </a:t>
            </a: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Until </a:t>
            </a:r>
            <a:r>
              <a:rPr lang="en-US" altLang="en-GB" sz="1800">
                <a:latin typeface="Arial" panose="020B0604020202020204" pitchFamily="34" charset="0"/>
              </a:rPr>
              <a:t>all  of       or       is matched</a:t>
            </a:r>
          </a:p>
        </p:txBody>
      </p:sp>
      <p:graphicFrame>
        <p:nvGraphicFramePr>
          <p:cNvPr id="53256" name="Object 4"/>
          <p:cNvGraphicFramePr>
            <a:graphicFrameLocks noChangeAspect="1"/>
          </p:cNvGraphicFramePr>
          <p:nvPr/>
        </p:nvGraphicFramePr>
        <p:xfrm>
          <a:off x="2438400" y="31242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6" name="Equation" r:id="rId8" imgW="291973" imgH="304668" progId="Equation.3">
                  <p:embed/>
                </p:oleObj>
              </mc:Choice>
              <mc:Fallback>
                <p:oleObj name="Equation" r:id="rId8" imgW="291973" imgH="30466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242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5"/>
          <p:cNvGraphicFramePr>
            <a:graphicFrameLocks noChangeAspect="1"/>
          </p:cNvGraphicFramePr>
          <p:nvPr/>
        </p:nvGraphicFramePr>
        <p:xfrm>
          <a:off x="4800600" y="309880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7" name="Equation" r:id="rId9" imgW="317225" imgH="406048" progId="Equation.3">
                  <p:embed/>
                </p:oleObj>
              </mc:Choice>
              <mc:Fallback>
                <p:oleObj name="Equation" r:id="rId9" imgW="317225" imgH="40604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098800"/>
                        <a:ext cx="315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914400" y="4343400"/>
            <a:ext cx="344487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1800">
                <a:latin typeface="Arial" panose="020B0604020202020204" pitchFamily="34" charset="0"/>
              </a:rPr>
              <a:t> </a:t>
            </a: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If</a:t>
            </a:r>
            <a:r>
              <a:rPr lang="en-US" altLang="en-GB" sz="1800">
                <a:latin typeface="Arial" panose="020B0604020202020204" pitchFamily="34" charset="0"/>
              </a:rPr>
              <a:t> a 1 from      is not matched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             erase tape, write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 </a:t>
            </a:r>
            <a:r>
              <a:rPr lang="en-US" altLang="en-GB" sz="1800">
                <a:solidFill>
                  <a:srgbClr val="008000"/>
                </a:solidFill>
                <a:latin typeface="Arial" panose="020B0604020202020204" pitchFamily="34" charset="0"/>
              </a:rPr>
              <a:t>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</a:rPr>
              <a:t>             erase tape, write 0</a:t>
            </a:r>
          </a:p>
        </p:txBody>
      </p:sp>
      <p:graphicFrame>
        <p:nvGraphicFramePr>
          <p:cNvPr id="53259" name="Object 6"/>
          <p:cNvGraphicFramePr>
            <a:graphicFrameLocks noChangeAspect="1"/>
          </p:cNvGraphicFramePr>
          <p:nvPr/>
        </p:nvGraphicFramePr>
        <p:xfrm>
          <a:off x="2224088" y="4343400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8" name="Equation" r:id="rId10" imgW="291973" imgH="304668" progId="Equation.3">
                  <p:embed/>
                </p:oleObj>
              </mc:Choice>
              <mc:Fallback>
                <p:oleObj name="Equation" r:id="rId10" imgW="291973" imgH="30466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088" y="4343400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7"/>
          <p:cNvGraphicFramePr>
            <a:graphicFrameLocks noChangeAspect="1"/>
          </p:cNvGraphicFramePr>
          <p:nvPr/>
        </p:nvGraphicFramePr>
        <p:xfrm>
          <a:off x="7067550" y="4343400"/>
          <a:ext cx="1435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9" name="Equation" r:id="rId11" imgW="1435100" imgH="533400" progId="Equation.3">
                  <p:embed/>
                </p:oleObj>
              </mc:Choice>
              <mc:Fallback>
                <p:oleObj name="Equation" r:id="rId11" imgW="1435100" imgH="533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550" y="4343400"/>
                        <a:ext cx="1435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8"/>
          <p:cNvGraphicFramePr>
            <a:graphicFrameLocks noChangeAspect="1"/>
          </p:cNvGraphicFramePr>
          <p:nvPr/>
        </p:nvGraphicFramePr>
        <p:xfrm>
          <a:off x="7061200" y="5105400"/>
          <a:ext cx="1435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0" name="Equation" r:id="rId13" imgW="1435100" imgH="533400" progId="Equation.3">
                  <p:embed/>
                </p:oleObj>
              </mc:Choice>
              <mc:Fallback>
                <p:oleObj name="Equation" r:id="rId13" imgW="1435100" imgH="533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5105400"/>
                        <a:ext cx="1435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3263" name="Slide Number Placeholder 1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E3E0E1-C8B9-48EF-A57F-5F2E098375F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z="3200" smtClean="0"/>
              <a:t>Alonzo Church’s Thesis (1936)</a:t>
            </a: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en-GB" sz="2400" smtClean="0"/>
              <a:t>“It is believed that there is no functions that </a:t>
            </a:r>
            <a:r>
              <a:rPr lang="en-US" altLang="en-GB" sz="2400" smtClean="0">
                <a:solidFill>
                  <a:srgbClr val="FF0000"/>
                </a:solidFill>
              </a:rPr>
              <a:t>can be defined by humans</a:t>
            </a:r>
            <a:r>
              <a:rPr lang="en-US" altLang="en-GB" sz="2400" smtClean="0"/>
              <a:t>, whose calculation can be described by any well-defined mathematical algorithm that people </a:t>
            </a:r>
            <a:r>
              <a:rPr lang="en-US" altLang="en-GB" sz="2400" smtClean="0">
                <a:solidFill>
                  <a:srgbClr val="FF0000"/>
                </a:solidFill>
              </a:rPr>
              <a:t>can be taught to perform</a:t>
            </a:r>
            <a:r>
              <a:rPr lang="en-US" altLang="en-GB" sz="2400" smtClean="0"/>
              <a:t>, that cannot be computed by TM”</a:t>
            </a:r>
          </a:p>
          <a:p>
            <a:pPr algn="just" eaLnBrk="1" hangingPunct="1"/>
            <a:r>
              <a:rPr lang="en-US" altLang="en-GB" sz="2400" smtClean="0"/>
              <a:t>Unfortunately the Church thesis is not a theorem because the terms ( in red) are not part of any math branch and mathematical axioms deals with “people”.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5301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833949-64D3-4050-844F-B458A890384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GB" smtClean="0"/>
              <a:t>Examples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GB" sz="2800" smtClean="0"/>
              <a:t>ADDER </a:t>
            </a:r>
            <a:r>
              <a:rPr lang="en-GB" altLang="en-GB" sz="2400" smtClean="0"/>
              <a:t>(two binary numbers)</a:t>
            </a:r>
            <a:endParaRPr lang="en-GB" altLang="en-GB" sz="2800" smtClean="0"/>
          </a:p>
          <a:p>
            <a:pPr lvl="1" eaLnBrk="1" hangingPunct="1"/>
            <a:r>
              <a:rPr lang="en-GB" altLang="en-GB" sz="2400" smtClean="0"/>
              <a:t>Input $1111$1111111∆</a:t>
            </a:r>
          </a:p>
          <a:p>
            <a:pPr lvl="1" eaLnBrk="1" hangingPunct="1"/>
            <a:r>
              <a:rPr lang="en-GB" altLang="en-GB" sz="2400" smtClean="0"/>
              <a:t>Output $$11111111111∆</a:t>
            </a:r>
          </a:p>
          <a:p>
            <a:pPr eaLnBrk="1" hangingPunct="1"/>
            <a:r>
              <a:rPr lang="en-GB" altLang="en-GB" sz="2800" smtClean="0"/>
              <a:t>SIMPLE SUBTRACTION </a:t>
            </a:r>
            <a:r>
              <a:rPr lang="en-GB" altLang="en-GB" sz="2400" smtClean="0"/>
              <a:t>(two unary numbers)</a:t>
            </a:r>
            <a:endParaRPr lang="en-GB" altLang="en-GB" sz="2800" smtClean="0"/>
          </a:p>
          <a:p>
            <a:pPr lvl="1" eaLnBrk="1" hangingPunct="1"/>
            <a:r>
              <a:rPr lang="en-GB" altLang="en-GB" sz="2400" smtClean="0"/>
              <a:t>Input aaaabaa∆</a:t>
            </a:r>
          </a:p>
          <a:p>
            <a:pPr lvl="1" eaLnBrk="1" hangingPunct="1"/>
            <a:r>
              <a:rPr lang="en-GB" altLang="en-GB" sz="2400" smtClean="0"/>
              <a:t>Output aab∆</a:t>
            </a:r>
          </a:p>
          <a:p>
            <a:pPr eaLnBrk="1" hangingPunct="1"/>
            <a:r>
              <a:rPr lang="en-GB" altLang="en-GB" sz="2800" smtClean="0"/>
              <a:t>MULTIPLICATION (two unary numbers)</a:t>
            </a:r>
          </a:p>
          <a:p>
            <a:pPr lvl="1" eaLnBrk="1" hangingPunct="1"/>
            <a:r>
              <a:rPr lang="en-GB" altLang="en-GB" sz="2400" smtClean="0"/>
              <a:t>Input baaabaa#</a:t>
            </a:r>
          </a:p>
          <a:p>
            <a:pPr lvl="1" eaLnBrk="1" hangingPunct="1"/>
            <a:r>
              <a:rPr lang="en-GB" altLang="en-GB" sz="2400" smtClean="0"/>
              <a:t>Output b∆∆∆∆∆∆∆aaaaaa</a:t>
            </a:r>
          </a:p>
          <a:p>
            <a:pPr eaLnBrk="1" hangingPunct="1"/>
            <a:r>
              <a:rPr lang="en-GB" altLang="en-GB" sz="2800" smtClean="0"/>
              <a:t>Square Root </a:t>
            </a:r>
            <a:r>
              <a:rPr lang="en-GB" altLang="en-GB" sz="2400" smtClean="0"/>
              <a:t>(two unary numbers)</a:t>
            </a:r>
            <a:endParaRPr lang="en-GB" altLang="en-GB" sz="28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734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49710F-A81B-4C6A-B067-5B092F76DC3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GB" smtClean="0"/>
              <a:t>ADDER (adds two binary numbers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  <a:p>
            <a:pPr eaLnBrk="1" hangingPunct="1"/>
            <a:endParaRPr lang="en-GB" altLang="en-GB" smtClean="0"/>
          </a:p>
          <a:p>
            <a:pPr eaLnBrk="1" hangingPunct="1"/>
            <a:endParaRPr lang="en-GB" altLang="en-GB" smtClean="0"/>
          </a:p>
          <a:p>
            <a:pPr eaLnBrk="1" hangingPunct="1"/>
            <a:endParaRPr lang="en-GB" altLang="en-GB" smtClean="0"/>
          </a:p>
          <a:p>
            <a:pPr eaLnBrk="1" hangingPunct="1"/>
            <a:endParaRPr lang="en-GB" altLang="en-GB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837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68E1DF-BDF8-491D-849E-7C216B83485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583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438525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2057400"/>
            <a:ext cx="73723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593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GB" smtClean="0"/>
              <a:t>Increments by 1</a:t>
            </a:r>
          </a:p>
          <a:p>
            <a:pPr eaLnBrk="1" hangingPunct="1"/>
            <a:endParaRPr lang="en-GB" altLang="en-GB" smtClean="0"/>
          </a:p>
          <a:p>
            <a:pPr eaLnBrk="1" hangingPunct="1"/>
            <a:endParaRPr lang="en-GB" altLang="en-GB" smtClean="0"/>
          </a:p>
          <a:p>
            <a:pPr eaLnBrk="1" hangingPunct="1"/>
            <a:endParaRPr lang="en-GB" altLang="en-GB" smtClean="0"/>
          </a:p>
          <a:p>
            <a:pPr eaLnBrk="1" hangingPunct="1"/>
            <a:r>
              <a:rPr lang="en-GB" altLang="en-GB" smtClean="0"/>
              <a:t>Decrements by 1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939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221433-BCEB-4905-934C-3775015C5DC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593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52850"/>
            <a:ext cx="7996238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042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D8BF79-631D-404E-851E-64515E77C79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604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0"/>
            <a:ext cx="46482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GB" smtClean="0"/>
              <a:t>SIMPLE SUBTRACTION</a:t>
            </a:r>
          </a:p>
        </p:txBody>
      </p:sp>
      <p:pic>
        <p:nvPicPr>
          <p:cNvPr id="6144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63525" y="1066800"/>
            <a:ext cx="5902325" cy="5810250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144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960C73-270D-4C64-9FD1-3820506E342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614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725" y="866775"/>
            <a:ext cx="36480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GB" smtClean="0"/>
              <a:t>SQURE ROOT</a:t>
            </a:r>
          </a:p>
          <a:p>
            <a:pPr lvl="1" eaLnBrk="1" hangingPunct="1"/>
            <a:r>
              <a:rPr lang="en-GB" altLang="en-GB" smtClean="0"/>
              <a:t>Input: 10</a:t>
            </a:r>
          </a:p>
          <a:p>
            <a:pPr lvl="1" eaLnBrk="1" hangingPunct="1"/>
            <a:r>
              <a:rPr lang="en-GB" altLang="en-GB" smtClean="0"/>
              <a:t>Output:3</a:t>
            </a:r>
          </a:p>
          <a:p>
            <a:pPr lvl="1" eaLnBrk="1" hangingPunct="1"/>
            <a:endParaRPr lang="en-GB" altLang="en-GB" smtClean="0"/>
          </a:p>
          <a:p>
            <a:pPr lvl="1" eaLnBrk="1" hangingPunct="1"/>
            <a:r>
              <a:rPr lang="en-GB" altLang="en-GB" smtClean="0"/>
              <a:t>Input: 20</a:t>
            </a:r>
          </a:p>
          <a:p>
            <a:pPr lvl="1" eaLnBrk="1" hangingPunct="1"/>
            <a:r>
              <a:rPr lang="en-GB" altLang="en-GB" smtClean="0"/>
              <a:t>Output: 4</a:t>
            </a:r>
          </a:p>
          <a:p>
            <a:pPr lvl="1" eaLnBrk="1" hangingPunct="1"/>
            <a:endParaRPr lang="en-GB" altLang="en-GB" smtClean="0"/>
          </a:p>
          <a:p>
            <a:pPr eaLnBrk="1" hangingPunct="1"/>
            <a:endParaRPr lang="en-GB" altLang="en-GB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246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E354A1-7B4D-4E4C-A605-A550050FD9B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624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847725"/>
            <a:ext cx="5076825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7688</TotalTime>
  <Words>950</Words>
  <Application>Microsoft Office PowerPoint</Application>
  <PresentationFormat>On-screen Show (4:3)</PresentationFormat>
  <Paragraphs>256</Paragraphs>
  <Slides>33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Wingdings</vt:lpstr>
      <vt:lpstr>Comic Sans MS</vt:lpstr>
      <vt:lpstr>新細明體</vt:lpstr>
      <vt:lpstr>Office Theme</vt:lpstr>
      <vt:lpstr>Equation</vt:lpstr>
      <vt:lpstr>Theory of Automata  Computable Functions</vt:lpstr>
      <vt:lpstr>Contents</vt:lpstr>
      <vt:lpstr>PowerPoint Presentation</vt:lpstr>
      <vt:lpstr>Three Computational Paradigms</vt:lpstr>
      <vt:lpstr>PowerPoint Presentation</vt:lpstr>
      <vt:lpstr>Functions and Their Computation</vt:lpstr>
      <vt:lpstr>Computable and Non-computable Functions</vt:lpstr>
      <vt:lpstr>A Turing Machine</vt:lpstr>
      <vt:lpstr>PowerPoint Presentation</vt:lpstr>
      <vt:lpstr>PowerPoint Presentation</vt:lpstr>
      <vt:lpstr>Computable Function</vt:lpstr>
      <vt:lpstr>PowerPoint Presentation</vt:lpstr>
      <vt:lpstr>Identity TM</vt:lpstr>
      <vt:lpstr>Example</vt:lpstr>
      <vt:lpstr>PowerPoint Presentation</vt:lpstr>
      <vt:lpstr>PowerPoint Presentation</vt:lpstr>
      <vt:lpstr>PowerPoint Presentation</vt:lpstr>
      <vt:lpstr>Another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Example</vt:lpstr>
      <vt:lpstr>PowerPoint Presentation</vt:lpstr>
      <vt:lpstr>PowerPoint Presentation</vt:lpstr>
      <vt:lpstr>Alonzo Church’s Thesis (1936)</vt:lpstr>
      <vt:lpstr>Examples</vt:lpstr>
      <vt:lpstr>ADDER (adds two binary numbers</vt:lpstr>
      <vt:lpstr>PowerPoint Presentation</vt:lpstr>
      <vt:lpstr>PowerPoint Presentation</vt:lpstr>
      <vt:lpstr>SIMPLE SUBTRACTION</vt:lpstr>
      <vt:lpstr>PowerPoint Presentation</vt:lpstr>
    </vt:vector>
  </TitlesOfParts>
  <Company>fast-nu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</dc:title>
  <dc:creator>Majid</dc:creator>
  <cp:lastModifiedBy>user1</cp:lastModifiedBy>
  <cp:revision>183</cp:revision>
  <dcterms:created xsi:type="dcterms:W3CDTF">2011-08-06T09:27:24Z</dcterms:created>
  <dcterms:modified xsi:type="dcterms:W3CDTF">2025-07-28T10:27:02Z</dcterms:modified>
</cp:coreProperties>
</file>