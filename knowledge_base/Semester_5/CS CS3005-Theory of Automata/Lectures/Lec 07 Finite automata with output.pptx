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9" r:id="rId1"/>
  </p:sldMasterIdLst>
  <p:notesMasterIdLst>
    <p:notesMasterId r:id="rId38"/>
  </p:notesMasterIdLst>
  <p:sldIdLst>
    <p:sldId id="258"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5888" autoAdjust="0"/>
  </p:normalViewPr>
  <p:slideViewPr>
    <p:cSldViewPr>
      <p:cViewPr varScale="1">
        <p:scale>
          <a:sx n="107" d="100"/>
          <a:sy n="107" d="100"/>
        </p:scale>
        <p:origin x="2376" y="1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9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33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3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33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386263FE-6920-4BF1-A790-AF44587D585B}" type="slidenum">
              <a:rPr lang="en-US" altLang="en-GB"/>
              <a:pPr/>
              <a:t>‹#›</a:t>
            </a:fld>
            <a:endParaRPr lang="en-US" altLang="en-GB"/>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ChangeArrowheads="1" noTextEdit="1"/>
          </p:cNvSpPr>
          <p:nvPr>
            <p:ph type="sldImg"/>
          </p:nvPr>
        </p:nvSpPr>
        <p:spPr>
          <a:ln/>
        </p:spPr>
      </p:sp>
      <p:sp>
        <p:nvSpPr>
          <p:cNvPr id="40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3ACCF56-ABE6-44E0-93C3-1D7F9356D6C3}" type="slidenum">
              <a:rPr lang="en-US" altLang="en-GB"/>
              <a:pPr/>
              <a:t>1</a:t>
            </a:fld>
            <a:endParaRPr lang="en-US" alt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ChangeArrowheads="1" noTextEdit="1"/>
          </p:cNvSpPr>
          <p:nvPr>
            <p:ph type="sldImg"/>
          </p:nvPr>
        </p:nvSpPr>
        <p:spPr>
          <a:ln/>
        </p:spPr>
      </p:sp>
      <p:sp>
        <p:nvSpPr>
          <p:cNvPr id="61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1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3281D3-7231-4C48-AA7E-968CA9B655D5}" type="slidenum">
              <a:rPr lang="en-US" altLang="en-GB"/>
              <a:pPr/>
              <a:t>2</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ChangeArrowheads="1" noTextEdit="1"/>
          </p:cNvSpPr>
          <p:nvPr>
            <p:ph type="sldImg"/>
          </p:nvPr>
        </p:nvSpPr>
        <p:spPr>
          <a:ln/>
        </p:spPr>
      </p:sp>
      <p:sp>
        <p:nvSpPr>
          <p:cNvPr id="92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92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5B989A-7F16-429C-9D10-86C617AFB8E2}" type="slidenum">
              <a:rPr lang="en-US" altLang="en-GB"/>
              <a:pPr/>
              <a:t>4</a:t>
            </a:fld>
            <a:endParaRPr lang="en-US" alt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ChangeArrowheads="1" noTextEdit="1"/>
          </p:cNvSpPr>
          <p:nvPr>
            <p:ph type="sldImg"/>
          </p:nvPr>
        </p:nvSpPr>
        <p:spPr>
          <a:ln/>
        </p:spPr>
      </p:sp>
      <p:sp>
        <p:nvSpPr>
          <p:cNvPr id="11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1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BAFBA5C-1D88-48FB-9066-2522B4B1D355}" type="slidenum">
              <a:rPr lang="en-US" altLang="en-GB"/>
              <a:pPr/>
              <a:t>5</a:t>
            </a:fld>
            <a:endParaRPr lang="en-US" alt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ChangeArrowheads="1" noTextEdit="1"/>
          </p:cNvSpPr>
          <p:nvPr>
            <p:ph type="sldImg"/>
          </p:nvPr>
        </p:nvSpPr>
        <p:spPr>
          <a:ln/>
        </p:spPr>
      </p:sp>
      <p:sp>
        <p:nvSpPr>
          <p:cNvPr id="133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33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27CC7DD-9686-4A22-A9D3-8DF1A9591F7F}" type="slidenum">
              <a:rPr lang="en-US" altLang="en-GB"/>
              <a:pPr/>
              <a:t>6</a:t>
            </a:fld>
            <a:endParaRPr lang="en-US"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ChangeArrowheads="1" noTextEdit="1"/>
          </p:cNvSpPr>
          <p:nvPr>
            <p:ph type="sldImg"/>
          </p:nvPr>
        </p:nvSpPr>
        <p:spPr>
          <a:ln/>
        </p:spPr>
      </p:sp>
      <p:sp>
        <p:nvSpPr>
          <p:cNvPr id="15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5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988F910-BF96-4DA6-8624-5C79BA74F2EB}" type="slidenum">
              <a:rPr lang="en-US" altLang="en-GB"/>
              <a:pPr/>
              <a:t>7</a:t>
            </a:fld>
            <a:endParaRPr lang="en-US"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ChangeArrowheads="1" noTextEdit="1"/>
          </p:cNvSpPr>
          <p:nvPr>
            <p:ph type="sldImg"/>
          </p:nvPr>
        </p:nvSpPr>
        <p:spPr>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74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E26B20-9B0B-4A20-8E82-15556F40B03A}" type="slidenum">
              <a:rPr lang="en-US" altLang="en-GB"/>
              <a:pPr/>
              <a:t>8</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ChangeArrowheads="1" noTextEdit="1"/>
          </p:cNvSpPr>
          <p:nvPr>
            <p:ph type="sldImg"/>
          </p:nvPr>
        </p:nvSpPr>
        <p:spPr>
          <a:ln/>
        </p:spPr>
      </p:sp>
      <p:sp>
        <p:nvSpPr>
          <p:cNvPr id="194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194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B237C6-21B0-481D-9E57-D1C59E5BD954}" type="slidenum">
              <a:rPr lang="en-US" altLang="en-GB"/>
              <a:pPr/>
              <a:t>9</a:t>
            </a:fld>
            <a:endParaRPr lang="en-US" alt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ChangeArrowheads="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A9C0C94-7298-4D8E-A3A1-7A048C894624}" type="slidenum">
              <a:rPr lang="en-US" altLang="en-GB"/>
              <a:pPr/>
              <a:t>10</a:t>
            </a:fld>
            <a:endParaRPr lang="en-US" alt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ChangeArrowheads="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E5227C-49A7-4ED2-A1B0-5D4AAA6B77DD}" type="slidenum">
              <a:rPr lang="en-US" altLang="en-GB"/>
              <a:pPr/>
              <a:t>11</a:t>
            </a:fld>
            <a:endParaRPr lang="en-US" alt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ChangeArrowheads="1" noTextEdit="1"/>
          </p:cNvSpPr>
          <p:nvPr>
            <p:ph type="sldImg"/>
          </p:nvPr>
        </p:nvSpPr>
        <p:spPr>
          <a:ln/>
        </p:spPr>
      </p:sp>
      <p:sp>
        <p:nvSpPr>
          <p:cNvPr id="256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56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32809E-CB08-4E9F-A429-7D5093E80182}" type="slidenum">
              <a:rPr lang="en-US" altLang="en-GB"/>
              <a:pPr/>
              <a:t>12</a:t>
            </a:fld>
            <a:endParaRPr lang="en-US" alt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ChangeArrowheads="1" noTextEdit="1"/>
          </p:cNvSpPr>
          <p:nvPr>
            <p:ph type="sldImg"/>
          </p:nvPr>
        </p:nvSpPr>
        <p:spPr>
          <a:ln/>
        </p:spPr>
      </p:sp>
      <p:sp>
        <p:nvSpPr>
          <p:cNvPr id="276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76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06A9BA2-5F28-4707-BEE7-FF3F8A080073}" type="slidenum">
              <a:rPr lang="en-US" altLang="en-GB"/>
              <a:pPr/>
              <a:t>13</a:t>
            </a:fld>
            <a:endParaRPr lang="en-US" alt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ChangeArrowheads="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6DEB3EF-C6F3-40D2-95AC-2E6ADE2109F1}" type="slidenum">
              <a:rPr lang="en-US" altLang="en-GB"/>
              <a:pPr/>
              <a:t>14</a:t>
            </a:fld>
            <a:endParaRPr lang="en-US" alt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ChangeArrowheads="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1124C8E-181E-4B77-B2ED-A991395ABDB9}" type="slidenum">
              <a:rPr lang="en-US" altLang="en-GB"/>
              <a:pPr/>
              <a:t>15</a:t>
            </a:fld>
            <a:endParaRPr lang="en-US" alt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ChangeArrowheads="1" noTextEdit="1"/>
          </p:cNvSpPr>
          <p:nvPr>
            <p:ph type="sldImg"/>
          </p:nvPr>
        </p:nvSpPr>
        <p:spPr>
          <a:ln/>
        </p:spPr>
      </p:sp>
      <p:sp>
        <p:nvSpPr>
          <p:cNvPr id="337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37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1F1466-CA91-4357-96BB-8BFD08E88756}" type="slidenum">
              <a:rPr lang="en-US" altLang="en-GB"/>
              <a:pPr/>
              <a:t>16</a:t>
            </a:fld>
            <a:endParaRPr lang="en-US" alt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ChangeArrowheads="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60DEE64-6C82-4374-A77C-9141B6F85BA3}" type="slidenum">
              <a:rPr lang="en-US" altLang="en-GB"/>
              <a:pPr/>
              <a:t>17</a:t>
            </a:fld>
            <a:endParaRPr lang="en-US" alt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ChangeArrowheads="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B16B657-0796-44D2-AE02-D9F85799A627}" type="slidenum">
              <a:rPr lang="en-US" altLang="en-GB"/>
              <a:pPr/>
              <a:t>18</a:t>
            </a:fld>
            <a:endParaRPr lang="en-US" alt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ChangeArrowheads="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B68D212-41E9-4275-B7EB-1B671BDF6838}" type="slidenum">
              <a:rPr lang="en-US" altLang="en-GB"/>
              <a:pPr/>
              <a:t>19</a:t>
            </a:fld>
            <a:endParaRPr lang="en-US" alt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ChangeArrowheads="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C369917-92D1-4F4F-AA0F-95F01C865A43}" type="slidenum">
              <a:rPr lang="en-US" altLang="en-GB"/>
              <a:pPr/>
              <a:t>20</a:t>
            </a:fld>
            <a:endParaRPr lang="en-US" alt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ChangeArrowheads="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488005-A2BC-4C3E-9338-5F5E8AC2B335}" type="slidenum">
              <a:rPr lang="en-US" altLang="en-GB"/>
              <a:pPr/>
              <a:t>21</a:t>
            </a:fld>
            <a:endParaRPr lang="en-US" alt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ChangeArrowheads="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B601CFF-7EC2-4408-8956-77BF50E30FE7}" type="slidenum">
              <a:rPr lang="en-US" altLang="en-GB"/>
              <a:pPr/>
              <a:t>22</a:t>
            </a:fld>
            <a:endParaRPr lang="en-US" alt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ChangeArrowheads="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13B926-44BC-4306-8195-3B1458CFEEA9}" type="slidenum">
              <a:rPr lang="en-US" altLang="en-GB"/>
              <a:pPr/>
              <a:t>23</a:t>
            </a:fld>
            <a:endParaRPr lang="en-US" alt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ChangeArrowheads="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A190E6-8C60-4FDD-9FE7-F2C9BC2F9FF8}" type="slidenum">
              <a:rPr lang="en-US" altLang="en-GB"/>
              <a:pPr/>
              <a:t>24</a:t>
            </a:fld>
            <a:endParaRPr lang="en-US" alt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ChangeArrowheads="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A751E8-893E-4A28-963B-87647E979E57}" type="slidenum">
              <a:rPr lang="en-US" altLang="en-GB"/>
              <a:pPr/>
              <a:t>25</a:t>
            </a:fld>
            <a:endParaRPr lang="en-US" alt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ChangeArrowheads="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079ABC3-CC3B-4030-89FB-37E3CC56BDBC}" type="slidenum">
              <a:rPr lang="en-US" altLang="en-GB"/>
              <a:pPr/>
              <a:t>26</a:t>
            </a:fld>
            <a:endParaRPr lang="en-US" alt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ChangeArrowheads="1" noTextEdit="1"/>
          </p:cNvSpPr>
          <p:nvPr>
            <p:ph type="sldImg"/>
          </p:nvPr>
        </p:nvSpPr>
        <p:spPr>
          <a:ln/>
        </p:spPr>
      </p:sp>
      <p:sp>
        <p:nvSpPr>
          <p:cNvPr id="563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63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18073D-5590-4324-B8ED-B716DEB0C241}" type="slidenum">
              <a:rPr lang="en-US" altLang="en-GB"/>
              <a:pPr/>
              <a:t>27</a:t>
            </a:fld>
            <a:endParaRPr lang="en-US" alt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ChangeArrowheads="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B507219-00DA-4BC0-90EE-D7B0C43F50AF}" type="slidenum">
              <a:rPr lang="en-US" altLang="en-GB"/>
              <a:pPr/>
              <a:t>28</a:t>
            </a:fld>
            <a:endParaRPr lang="en-US" alt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ChangeArrowheads="1" noTextEdit="1"/>
          </p:cNvSpPr>
          <p:nvPr>
            <p:ph type="sldImg"/>
          </p:nvPr>
        </p:nvSpPr>
        <p:spPr>
          <a:ln/>
        </p:spPr>
      </p:sp>
      <p:sp>
        <p:nvSpPr>
          <p:cNvPr id="604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8905B4A-EDE2-43DD-8E51-7BA40729D136}" type="slidenum">
              <a:rPr lang="en-US" altLang="en-GB"/>
              <a:pPr/>
              <a:t>29</a:t>
            </a:fld>
            <a:endParaRPr lang="en-US" alt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ChangeArrowheads="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E6DF48-D71D-495C-91E4-911A91A4EA7F}" type="slidenum">
              <a:rPr lang="en-US" altLang="en-GB"/>
              <a:pPr/>
              <a:t>30</a:t>
            </a:fld>
            <a:endParaRPr lang="en-US" altLang="en-GB"/>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ChangeArrowheads="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9C4C8AA-8B00-421C-AB06-E502091841E7}" type="slidenum">
              <a:rPr lang="en-US" altLang="en-GB"/>
              <a:pPr/>
              <a:t>31</a:t>
            </a:fld>
            <a:endParaRPr lang="en-US" alt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ChangeArrowheads="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1362B6C-C611-4DFC-8E77-CD6CD30D5EAA}" type="slidenum">
              <a:rPr lang="en-US" altLang="en-GB"/>
              <a:pPr/>
              <a:t>32</a:t>
            </a:fld>
            <a:endParaRPr lang="en-US" alt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ChangeArrowheads="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494066-84BD-454C-ABF6-E99769047C8A}" type="slidenum">
              <a:rPr lang="en-US" altLang="en-GB"/>
              <a:pPr/>
              <a:t>33</a:t>
            </a:fld>
            <a:endParaRPr lang="en-US" alt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ChangeArrowheads="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83DAF1-932B-44F8-944C-A01DDB40FF26}" type="slidenum">
              <a:rPr lang="en-US" altLang="en-GB"/>
              <a:pPr/>
              <a:t>34</a:t>
            </a:fld>
            <a:endParaRPr lang="en-US" alt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ChangeArrowheads="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833F04F-C0BB-4C21-9F22-3E35FB223064}" type="slidenum">
              <a:rPr lang="en-US" altLang="en-GB"/>
              <a:pPr/>
              <a:t>35</a:t>
            </a:fld>
            <a:endParaRPr lang="en-US" alt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ChangeArrowheads="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GB" smtClean="0">
              <a:latin typeface="Arial" panose="020B0604020202020204" pitchFamily="34"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466ED5-F8D7-43AE-B639-1A770BB499AE}" type="slidenum">
              <a:rPr lang="en-US" altLang="en-GB"/>
              <a:pPr/>
              <a:t>36</a:t>
            </a:fld>
            <a:endParaRPr lang="en-US" alt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FC3D0B03-948C-4557-A2B4-819FE6A7FD14}" type="slidenum">
              <a:rPr lang="en-US" altLang="en-US"/>
              <a:pPr/>
              <a:t>‹#›</a:t>
            </a:fld>
            <a:endParaRPr lang="en-US" altLang="en-US"/>
          </a:p>
        </p:txBody>
      </p:sp>
    </p:spTree>
    <p:extLst>
      <p:ext uri="{BB962C8B-B14F-4D97-AF65-F5344CB8AC3E}">
        <p14:creationId xmlns:p14="http://schemas.microsoft.com/office/powerpoint/2010/main" val="2600642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87B4C6D2-C11F-4498-B480-BE0FE75E2455}" type="slidenum">
              <a:rPr lang="en-US" altLang="en-US"/>
              <a:pPr/>
              <a:t>‹#›</a:t>
            </a:fld>
            <a:endParaRPr lang="en-US" altLang="en-US"/>
          </a:p>
        </p:txBody>
      </p:sp>
    </p:spTree>
    <p:extLst>
      <p:ext uri="{BB962C8B-B14F-4D97-AF65-F5344CB8AC3E}">
        <p14:creationId xmlns:p14="http://schemas.microsoft.com/office/powerpoint/2010/main" val="419755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39D50AD3-D96D-45C4-A6A5-E24843B81F33}" type="slidenum">
              <a:rPr lang="en-US" altLang="en-US"/>
              <a:pPr/>
              <a:t>‹#›</a:t>
            </a:fld>
            <a:endParaRPr lang="en-US" altLang="en-US"/>
          </a:p>
        </p:txBody>
      </p:sp>
    </p:spTree>
    <p:extLst>
      <p:ext uri="{BB962C8B-B14F-4D97-AF65-F5344CB8AC3E}">
        <p14:creationId xmlns:p14="http://schemas.microsoft.com/office/powerpoint/2010/main" val="10880502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67FFE15D-3AA7-4BEB-A8DB-0CBFF1183E48}" type="slidenum">
              <a:rPr lang="en-US" altLang="en-US"/>
              <a:pPr/>
              <a:t>‹#›</a:t>
            </a:fld>
            <a:endParaRPr lang="en-US" altLang="en-US"/>
          </a:p>
        </p:txBody>
      </p:sp>
    </p:spTree>
    <p:extLst>
      <p:ext uri="{BB962C8B-B14F-4D97-AF65-F5344CB8AC3E}">
        <p14:creationId xmlns:p14="http://schemas.microsoft.com/office/powerpoint/2010/main" val="1814857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8"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9" name="Slide Number Placeholder 5"/>
          <p:cNvSpPr>
            <a:spLocks noGrp="1"/>
          </p:cNvSpPr>
          <p:nvPr>
            <p:ph type="sldNum" sz="quarter" idx="12"/>
          </p:nvPr>
        </p:nvSpPr>
        <p:spPr/>
        <p:txBody>
          <a:bodyPr/>
          <a:lstStyle>
            <a:lvl1pPr>
              <a:defRPr/>
            </a:lvl1pPr>
          </a:lstStyle>
          <a:p>
            <a:fld id="{B9434CDD-18C2-4CC7-B483-6157180B569F}" type="slidenum">
              <a:rPr lang="en-US" altLang="en-US"/>
              <a:pPr/>
              <a:t>‹#›</a:t>
            </a:fld>
            <a:endParaRPr lang="en-US" altLang="en-US"/>
          </a:p>
        </p:txBody>
      </p:sp>
    </p:spTree>
    <p:extLst>
      <p:ext uri="{BB962C8B-B14F-4D97-AF65-F5344CB8AC3E}">
        <p14:creationId xmlns:p14="http://schemas.microsoft.com/office/powerpoint/2010/main" val="1577473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4"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5" name="Slide Number Placeholder 5"/>
          <p:cNvSpPr>
            <a:spLocks noGrp="1"/>
          </p:cNvSpPr>
          <p:nvPr>
            <p:ph type="sldNum" sz="quarter" idx="12"/>
          </p:nvPr>
        </p:nvSpPr>
        <p:spPr/>
        <p:txBody>
          <a:bodyPr/>
          <a:lstStyle>
            <a:lvl1pPr>
              <a:defRPr/>
            </a:lvl1pPr>
          </a:lstStyle>
          <a:p>
            <a:fld id="{E9A8107C-441C-4D9D-9617-689C1321B56E}" type="slidenum">
              <a:rPr lang="en-US" altLang="en-US"/>
              <a:pPr/>
              <a:t>‹#›</a:t>
            </a:fld>
            <a:endParaRPr lang="en-US" altLang="en-US"/>
          </a:p>
        </p:txBody>
      </p:sp>
    </p:spTree>
    <p:extLst>
      <p:ext uri="{BB962C8B-B14F-4D97-AF65-F5344CB8AC3E}">
        <p14:creationId xmlns:p14="http://schemas.microsoft.com/office/powerpoint/2010/main" val="384904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3"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4" name="Slide Number Placeholder 5"/>
          <p:cNvSpPr>
            <a:spLocks noGrp="1"/>
          </p:cNvSpPr>
          <p:nvPr>
            <p:ph type="sldNum" sz="quarter" idx="12"/>
          </p:nvPr>
        </p:nvSpPr>
        <p:spPr/>
        <p:txBody>
          <a:bodyPr/>
          <a:lstStyle>
            <a:lvl1pPr>
              <a:defRPr/>
            </a:lvl1pPr>
          </a:lstStyle>
          <a:p>
            <a:fld id="{58B81C2D-B0F2-4BCC-9060-9E935083AF85}" type="slidenum">
              <a:rPr lang="en-US" altLang="en-US"/>
              <a:pPr/>
              <a:t>‹#›</a:t>
            </a:fld>
            <a:endParaRPr lang="en-US" altLang="en-US"/>
          </a:p>
        </p:txBody>
      </p:sp>
    </p:spTree>
    <p:extLst>
      <p:ext uri="{BB962C8B-B14F-4D97-AF65-F5344CB8AC3E}">
        <p14:creationId xmlns:p14="http://schemas.microsoft.com/office/powerpoint/2010/main" val="2734740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6F39A841-6FBF-4C96-9848-ACC7E6D1C811}" type="slidenum">
              <a:rPr lang="en-US" altLang="en-US"/>
              <a:pPr/>
              <a:t>‹#›</a:t>
            </a:fld>
            <a:endParaRPr lang="en-US" altLang="en-US"/>
          </a:p>
        </p:txBody>
      </p:sp>
    </p:spTree>
    <p:extLst>
      <p:ext uri="{BB962C8B-B14F-4D97-AF65-F5344CB8AC3E}">
        <p14:creationId xmlns:p14="http://schemas.microsoft.com/office/powerpoint/2010/main" val="942624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6"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7" name="Slide Number Placeholder 5"/>
          <p:cNvSpPr>
            <a:spLocks noGrp="1"/>
          </p:cNvSpPr>
          <p:nvPr>
            <p:ph type="sldNum" sz="quarter" idx="12"/>
          </p:nvPr>
        </p:nvSpPr>
        <p:spPr/>
        <p:txBody>
          <a:bodyPr/>
          <a:lstStyle>
            <a:lvl1pPr>
              <a:defRPr/>
            </a:lvl1pPr>
          </a:lstStyle>
          <a:p>
            <a:fld id="{40B886F0-ACED-4A4D-A32D-A716D5A1C67E}" type="slidenum">
              <a:rPr lang="en-US" altLang="en-US"/>
              <a:pPr/>
              <a:t>‹#›</a:t>
            </a:fld>
            <a:endParaRPr lang="en-US" altLang="en-US"/>
          </a:p>
        </p:txBody>
      </p:sp>
    </p:spTree>
    <p:extLst>
      <p:ext uri="{BB962C8B-B14F-4D97-AF65-F5344CB8AC3E}">
        <p14:creationId xmlns:p14="http://schemas.microsoft.com/office/powerpoint/2010/main" val="2425309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F3205A5A-2EE6-4AAC-8E53-54B3E44C61B4}" type="slidenum">
              <a:rPr lang="en-US" altLang="en-US"/>
              <a:pPr/>
              <a:t>‹#›</a:t>
            </a:fld>
            <a:endParaRPr lang="en-US" altLang="en-US"/>
          </a:p>
        </p:txBody>
      </p:sp>
    </p:spTree>
    <p:extLst>
      <p:ext uri="{BB962C8B-B14F-4D97-AF65-F5344CB8AC3E}">
        <p14:creationId xmlns:p14="http://schemas.microsoft.com/office/powerpoint/2010/main" val="3268223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r>
              <a:rPr lang="en-US"/>
              <a:t>Sept 7, 2016</a:t>
            </a:r>
            <a:endParaRPr lang="en-US" altLang="en-US"/>
          </a:p>
        </p:txBody>
      </p:sp>
      <p:sp>
        <p:nvSpPr>
          <p:cNvPr id="5" name="Footer Placeholder 4"/>
          <p:cNvSpPr>
            <a:spLocks noGrp="1"/>
          </p:cNvSpPr>
          <p:nvPr>
            <p:ph type="ftr" sz="quarter" idx="11"/>
          </p:nvPr>
        </p:nvSpPr>
        <p:spPr/>
        <p:txBody>
          <a:bodyPr/>
          <a:lstStyle>
            <a:lvl1pPr>
              <a:defRPr/>
            </a:lvl1pPr>
          </a:lstStyle>
          <a:p>
            <a:pPr>
              <a:defRPr/>
            </a:pPr>
            <a:r>
              <a:rPr lang="en-US" altLang="en-US"/>
              <a:t>Theory of Automata</a:t>
            </a:r>
          </a:p>
        </p:txBody>
      </p:sp>
      <p:sp>
        <p:nvSpPr>
          <p:cNvPr id="6" name="Slide Number Placeholder 5"/>
          <p:cNvSpPr>
            <a:spLocks noGrp="1"/>
          </p:cNvSpPr>
          <p:nvPr>
            <p:ph type="sldNum" sz="quarter" idx="12"/>
          </p:nvPr>
        </p:nvSpPr>
        <p:spPr/>
        <p:txBody>
          <a:bodyPr/>
          <a:lstStyle>
            <a:lvl1pPr>
              <a:defRPr/>
            </a:lvl1pPr>
          </a:lstStyle>
          <a:p>
            <a:fld id="{16064952-AB83-4810-ADEC-C58AB86A4959}" type="slidenum">
              <a:rPr lang="en-US" altLang="en-US"/>
              <a:pPr/>
              <a:t>‹#›</a:t>
            </a:fld>
            <a:endParaRPr lang="en-US" altLang="en-US"/>
          </a:p>
        </p:txBody>
      </p:sp>
    </p:spTree>
    <p:extLst>
      <p:ext uri="{BB962C8B-B14F-4D97-AF65-F5344CB8AC3E}">
        <p14:creationId xmlns:p14="http://schemas.microsoft.com/office/powerpoint/2010/main" val="1981172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GB"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smtClean="0"/>
              <a:t>Click to edit Master text styles</a:t>
            </a:r>
          </a:p>
          <a:p>
            <a:pPr lvl="1"/>
            <a:r>
              <a:rPr lang="en-US" altLang="en-GB" smtClean="0"/>
              <a:t>Second level</a:t>
            </a:r>
          </a:p>
          <a:p>
            <a:pPr lvl="2"/>
            <a:r>
              <a:rPr lang="en-US" altLang="en-GB" smtClean="0"/>
              <a:t>Third level</a:t>
            </a:r>
          </a:p>
          <a:p>
            <a:pPr lvl="3"/>
            <a:r>
              <a:rPr lang="en-US" altLang="en-GB" smtClean="0"/>
              <a:t>Fourth level</a:t>
            </a:r>
          </a:p>
          <a:p>
            <a:pPr lvl="4"/>
            <a:r>
              <a:rPr lang="en-US" altLang="en-GB"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r>
              <a:rPr lang="en-US"/>
              <a:t>Sept 7, 2016</a:t>
            </a:r>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r>
              <a:rPr lang="en-US" altLang="en-US"/>
              <a:t>Theory of Automata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CEC636D0-D91D-47D3-BC9B-437A3407334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2.wmf"/></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3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7.wmf"/></Relationships>
</file>

<file path=ppt/slides/_rels/slide3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0.wmf"/></Relationships>
</file>

<file path=ppt/slides/_rels/slide3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3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ctrTitle"/>
          </p:nvPr>
        </p:nvSpPr>
        <p:spPr/>
        <p:txBody>
          <a:bodyPr/>
          <a:lstStyle/>
          <a:p>
            <a:pPr eaLnBrk="1" hangingPunct="1"/>
            <a:r>
              <a:rPr lang="en-US" altLang="en-GB" smtClean="0"/>
              <a:t>Theory of Automata</a:t>
            </a:r>
            <a:br>
              <a:rPr lang="en-US" altLang="en-GB" smtClean="0"/>
            </a:br>
            <a:r>
              <a:rPr lang="en-US" altLang="en-GB" smtClean="0"/>
              <a:t> Finite Automata with Output</a:t>
            </a:r>
          </a:p>
        </p:txBody>
      </p:sp>
      <p:sp>
        <p:nvSpPr>
          <p:cNvPr id="9219" name="Rectangle 3"/>
          <p:cNvSpPr>
            <a:spLocks noGrp="1" noChangeArrowheads="1"/>
          </p:cNvSpPr>
          <p:nvPr>
            <p:ph type="subTitle" idx="1"/>
          </p:nvPr>
        </p:nvSpPr>
        <p:spPr/>
        <p:txBody>
          <a:bodyPr rtlCol="0">
            <a:normAutofit/>
          </a:bodyPr>
          <a:lstStyle/>
          <a:p>
            <a:pPr>
              <a:lnSpc>
                <a:spcPct val="90000"/>
              </a:lnSpc>
              <a:spcBef>
                <a:spcPts val="500"/>
              </a:spcBef>
              <a:spcAft>
                <a:spcPts val="0"/>
              </a:spcAft>
              <a:buClr>
                <a:srgbClr val="898989"/>
              </a:buClr>
              <a:buSzPts val="2500"/>
              <a:defRPr/>
            </a:pPr>
            <a:r>
              <a:rPr lang="en-US" sz="2400">
                <a:solidFill>
                  <a:srgbClr val="898989"/>
                </a:solidFill>
                <a:ea typeface="Calibri"/>
                <a:cs typeface="Calibri"/>
                <a:sym typeface="Calibri"/>
              </a:rPr>
              <a:t>Week </a:t>
            </a:r>
            <a:r>
              <a:rPr lang="en-US" sz="2400" dirty="0">
                <a:solidFill>
                  <a:srgbClr val="898989"/>
                </a:solidFill>
                <a:ea typeface="Calibri"/>
                <a:cs typeface="Calibri"/>
                <a:sym typeface="Calibri"/>
              </a:rPr>
              <a:t>5</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12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B53B0ED-30F4-47CC-AA7D-082EB3BF1BE7}" type="slidenum">
              <a:rPr lang="en-US" altLang="en-US" sz="1200">
                <a:solidFill>
                  <a:srgbClr val="898989"/>
                </a:solidFill>
                <a:latin typeface="Arial" panose="020B0604020202020204" pitchFamily="34" charset="0"/>
              </a:rPr>
              <a:pPr>
                <a:spcBef>
                  <a:spcPct val="0"/>
                </a:spcBef>
                <a:buFontTx/>
                <a:buNone/>
              </a:pPr>
              <a:t>2</a:t>
            </a:fld>
            <a:endParaRPr lang="en-US" altLang="en-US" sz="1200">
              <a:solidFill>
                <a:srgbClr val="898989"/>
              </a:solidFill>
              <a:latin typeface="Arial" panose="020B0604020202020204" pitchFamily="34" charset="0"/>
            </a:endParaRPr>
          </a:p>
        </p:txBody>
      </p:sp>
      <p:sp>
        <p:nvSpPr>
          <p:cNvPr id="5124" name="Rectangle 2"/>
          <p:cNvSpPr>
            <a:spLocks noGrp="1"/>
          </p:cNvSpPr>
          <p:nvPr>
            <p:ph type="title" idx="4294967295"/>
          </p:nvPr>
        </p:nvSpPr>
        <p:spPr>
          <a:xfrm>
            <a:off x="0" y="274638"/>
            <a:ext cx="8229600" cy="1143000"/>
          </a:xfrm>
        </p:spPr>
        <p:txBody>
          <a:bodyPr/>
          <a:lstStyle/>
          <a:p>
            <a:pPr eaLnBrk="1" hangingPunct="1"/>
            <a:r>
              <a:rPr lang="en-US" altLang="en-GB" sz="3800" smtClean="0"/>
              <a:t>Contents</a:t>
            </a:r>
          </a:p>
        </p:txBody>
      </p:sp>
      <p:sp>
        <p:nvSpPr>
          <p:cNvPr id="5125" name="Rectangle 3"/>
          <p:cNvSpPr>
            <a:spLocks noGrp="1"/>
          </p:cNvSpPr>
          <p:nvPr>
            <p:ph type="body" idx="4294967295"/>
          </p:nvPr>
        </p:nvSpPr>
        <p:spPr>
          <a:xfrm>
            <a:off x="0" y="1481138"/>
            <a:ext cx="8229600" cy="4525962"/>
          </a:xfrm>
        </p:spPr>
        <p:txBody>
          <a:bodyPr/>
          <a:lstStyle/>
          <a:p>
            <a:pPr eaLnBrk="1" hangingPunct="1"/>
            <a:r>
              <a:rPr lang="en-US" altLang="en-GB" smtClean="0"/>
              <a:t>Moore Machines</a:t>
            </a:r>
          </a:p>
          <a:p>
            <a:pPr eaLnBrk="1" hangingPunct="1"/>
            <a:r>
              <a:rPr lang="en-US" altLang="en-GB" smtClean="0"/>
              <a:t>Mealy Machines</a:t>
            </a:r>
          </a:p>
          <a:p>
            <a:pPr eaLnBrk="1" hangingPunct="1"/>
            <a:r>
              <a:rPr lang="en-US" altLang="en-GB" smtClean="0"/>
              <a:t>Moore = Mealy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17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3F8E1C0-F22A-4F03-B4F6-A334A8C9E06B}" type="slidenum">
              <a:rPr lang="en-US" altLang="en-US" sz="1200">
                <a:solidFill>
                  <a:srgbClr val="898989"/>
                </a:solidFill>
                <a:latin typeface="Arial" panose="020B0604020202020204" pitchFamily="34" charset="0"/>
              </a:rPr>
              <a:pPr>
                <a:spcBef>
                  <a:spcPct val="0"/>
                </a:spcBef>
                <a:buFontTx/>
                <a:buNone/>
              </a:pPr>
              <a:t>3</a:t>
            </a:fld>
            <a:endParaRPr lang="en-US" altLang="en-US" sz="1200">
              <a:solidFill>
                <a:srgbClr val="898989"/>
              </a:solidFill>
              <a:latin typeface="Arial" panose="020B0604020202020204" pitchFamily="34" charset="0"/>
            </a:endParaRPr>
          </a:p>
        </p:txBody>
      </p:sp>
      <p:sp>
        <p:nvSpPr>
          <p:cNvPr id="7172" name="Date Placeholder 1"/>
          <p:cNvSpPr txBox="1">
            <a:spLocks/>
          </p:cNvSpPr>
          <p:nvPr/>
        </p:nvSpPr>
        <p:spPr bwMode="auto">
          <a:xfrm>
            <a:off x="45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200">
                <a:latin typeface="Garamond" panose="02020404030301010803" pitchFamily="18" charset="0"/>
              </a:rPr>
              <a:t>Sept 30, 2013</a:t>
            </a:r>
            <a:endParaRPr lang="en-US" altLang="en-US" sz="1200">
              <a:latin typeface="Garamond" panose="02020404030301010803" pitchFamily="18" charset="0"/>
            </a:endParaRPr>
          </a:p>
        </p:txBody>
      </p:sp>
      <p:sp>
        <p:nvSpPr>
          <p:cNvPr id="7173" name="Footer Placeholder 2"/>
          <p:cNvSpPr txBox="1">
            <a:spLocks/>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Garamond" panose="02020404030301010803" pitchFamily="18" charset="0"/>
              </a:rPr>
              <a:t>Mehreen Alam - Theory of Automata</a:t>
            </a:r>
          </a:p>
        </p:txBody>
      </p:sp>
      <p:sp>
        <p:nvSpPr>
          <p:cNvPr id="7174" name="Slide Number Placeholder 3"/>
          <p:cNvSpPr txBox="1">
            <a:spLocks/>
          </p:cNvSpPr>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fld id="{7B798FD9-90A1-4173-8A6B-F8AD0D29FAE2}" type="slidenum">
              <a:rPr lang="en-US" altLang="en-US" sz="1200">
                <a:latin typeface="Garamond" panose="02020404030301010803" pitchFamily="18" charset="0"/>
              </a:rPr>
              <a:pPr algn="r">
                <a:spcBef>
                  <a:spcPct val="0"/>
                </a:spcBef>
                <a:buFontTx/>
                <a:buNone/>
              </a:pPr>
              <a:t>3</a:t>
            </a:fld>
            <a:endParaRPr lang="en-US" altLang="en-US" sz="1200">
              <a:latin typeface="Garamond" panose="02020404030301010803" pitchFamily="18" charset="0"/>
            </a:endParaRPr>
          </a:p>
        </p:txBody>
      </p:sp>
      <p:sp>
        <p:nvSpPr>
          <p:cNvPr id="7175" name="Rectangle 2"/>
          <p:cNvSpPr txBox="1">
            <a:spLocks noChangeArrowheads="1"/>
          </p:cNvSpPr>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3800">
                <a:solidFill>
                  <a:schemeClr val="tx2"/>
                </a:solidFill>
                <a:latin typeface="Garamond" panose="02020404030301010803" pitchFamily="18" charset="0"/>
              </a:rPr>
              <a:t>Benefits</a:t>
            </a:r>
          </a:p>
        </p:txBody>
      </p:sp>
      <p:sp>
        <p:nvSpPr>
          <p:cNvPr id="7176" name="Rectangle 3"/>
          <p:cNvSpPr txBox="1">
            <a:spLocks noChangeArrowheads="1"/>
          </p:cNvSpPr>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669925" indent="-325438">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Clr>
                <a:schemeClr val="accent1"/>
              </a:buClr>
              <a:buSzPct val="65000"/>
              <a:buFont typeface="Wingdings" panose="05000000000000000000" pitchFamily="2" charset="2"/>
              <a:buChar char="n"/>
            </a:pPr>
            <a:r>
              <a:rPr lang="en-US" altLang="en-GB" sz="3000">
                <a:latin typeface="Arial" panose="020B0604020202020204" pitchFamily="34" charset="0"/>
              </a:rPr>
              <a:t>What is we want to do following to the word </a:t>
            </a:r>
          </a:p>
          <a:p>
            <a:pPr lvl="1">
              <a:buClr>
                <a:schemeClr val="accent2"/>
              </a:buClr>
              <a:buSzPct val="60000"/>
              <a:buFont typeface="Wingdings" panose="05000000000000000000" pitchFamily="2" charset="2"/>
              <a:buChar char="q"/>
            </a:pPr>
            <a:r>
              <a:rPr lang="en-US" altLang="en-GB" sz="2600">
                <a:latin typeface="Arial" panose="020B0604020202020204" pitchFamily="34" charset="0"/>
              </a:rPr>
              <a:t>count the occurrence of a certain substring</a:t>
            </a:r>
          </a:p>
          <a:p>
            <a:pPr lvl="1">
              <a:buClr>
                <a:schemeClr val="accent2"/>
              </a:buClr>
              <a:buSzPct val="60000"/>
              <a:buFont typeface="Wingdings" panose="05000000000000000000" pitchFamily="2" charset="2"/>
              <a:buChar char="q"/>
            </a:pPr>
            <a:r>
              <a:rPr lang="en-US" altLang="en-GB" sz="2600">
                <a:latin typeface="Arial" panose="020B0604020202020204" pitchFamily="34" charset="0"/>
              </a:rPr>
              <a:t>get the incremented number</a:t>
            </a:r>
          </a:p>
          <a:p>
            <a:pPr lvl="1">
              <a:buClr>
                <a:schemeClr val="accent2"/>
              </a:buClr>
              <a:buSzPct val="60000"/>
              <a:buFont typeface="Wingdings" panose="05000000000000000000" pitchFamily="2" charset="2"/>
              <a:buChar char="q"/>
            </a:pPr>
            <a:r>
              <a:rPr lang="en-US" altLang="en-GB" sz="2600">
                <a:latin typeface="Arial" panose="020B0604020202020204" pitchFamily="34" charset="0"/>
              </a:rPr>
              <a:t>mark the locations of the substring in the word</a:t>
            </a:r>
          </a:p>
          <a:p>
            <a:pPr lvl="1">
              <a:buClr>
                <a:schemeClr val="accent2"/>
              </a:buClr>
              <a:buSzPct val="60000"/>
              <a:buFont typeface="Wingdings" panose="05000000000000000000" pitchFamily="2" charset="2"/>
              <a:buChar char="q"/>
            </a:pPr>
            <a:r>
              <a:rPr lang="en-US" altLang="en-GB" sz="2600">
                <a:latin typeface="Arial" panose="020B0604020202020204" pitchFamily="34" charset="0"/>
              </a:rPr>
              <a:t>take the complement of the number</a:t>
            </a:r>
          </a:p>
          <a:p>
            <a:pPr lvl="1">
              <a:buClr>
                <a:schemeClr val="accent2"/>
              </a:buClr>
              <a:buSzPct val="60000"/>
              <a:buFont typeface="Wingdings" panose="05000000000000000000" pitchFamily="2" charset="2"/>
              <a:buChar char="q"/>
            </a:pPr>
            <a:r>
              <a:rPr lang="en-US" altLang="en-GB" sz="2600">
                <a:latin typeface="Arial" panose="020B0604020202020204" pitchFamily="34" charset="0"/>
              </a:rPr>
              <a:t>Get the parity of the number</a:t>
            </a:r>
          </a:p>
          <a:p>
            <a:pPr>
              <a:buClr>
                <a:schemeClr val="accent1"/>
              </a:buClr>
              <a:buSzPct val="65000"/>
              <a:buFont typeface="Wingdings" panose="05000000000000000000" pitchFamily="2" charset="2"/>
              <a:buChar char="n"/>
            </a:pPr>
            <a:endParaRPr lang="en-US" altLang="en-GB" sz="2000" i="1">
              <a:latin typeface="Arial" panose="020B0604020202020204" pitchFamily="34" charset="0"/>
            </a:endParaRPr>
          </a:p>
          <a:p>
            <a:pPr>
              <a:buClr>
                <a:schemeClr val="accent1"/>
              </a:buClr>
              <a:buSzPct val="65000"/>
              <a:buFont typeface="Wingdings" panose="05000000000000000000" pitchFamily="2" charset="2"/>
              <a:buChar char="n"/>
            </a:pPr>
            <a:r>
              <a:rPr lang="en-US" altLang="en-GB" sz="2000" i="1">
                <a:latin typeface="Arial" panose="020B0604020202020204" pitchFamily="34" charset="0"/>
              </a:rPr>
              <a:t>Final accepted/rejected may not be required</a:t>
            </a:r>
          </a:p>
          <a:p>
            <a:pPr>
              <a:buClr>
                <a:schemeClr val="accent1"/>
              </a:buClr>
              <a:buSzPct val="65000"/>
              <a:buFont typeface="Wingdings" panose="05000000000000000000" pitchFamily="2" charset="2"/>
              <a:buChar char="n"/>
            </a:pPr>
            <a:r>
              <a:rPr lang="en-US" altLang="en-GB" sz="2000" i="1">
                <a:latin typeface="Arial" panose="020B0604020202020204" pitchFamily="34" charset="0"/>
              </a:rPr>
              <a:t>Not limited by the size of the buffer if we want to wait for the final output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p:cNvSpPr>
          <p:nvPr>
            <p:ph type="title"/>
          </p:nvPr>
        </p:nvSpPr>
        <p:spPr/>
        <p:txBody>
          <a:bodyPr/>
          <a:lstStyle/>
          <a:p>
            <a:pPr eaLnBrk="1" hangingPunct="1"/>
            <a:r>
              <a:rPr lang="en-US" altLang="en-GB" smtClean="0"/>
              <a:t>Moore vs Mealy Machines</a:t>
            </a:r>
          </a:p>
        </p:txBody>
      </p:sp>
      <p:sp>
        <p:nvSpPr>
          <p:cNvPr id="12290" name="Footer Placeholder 5"/>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8196"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BE49290-5ED3-48D5-AFBF-CFA15EC2A6B7}" type="slidenum">
              <a:rPr lang="en-US" altLang="en-US" sz="1200">
                <a:solidFill>
                  <a:srgbClr val="898989"/>
                </a:solidFill>
                <a:latin typeface="Arial" panose="020B0604020202020204" pitchFamily="34" charset="0"/>
              </a:rPr>
              <a:pPr>
                <a:spcBef>
                  <a:spcPct val="0"/>
                </a:spcBef>
                <a:buFontTx/>
                <a:buNone/>
              </a:pPr>
              <a:t>4</a:t>
            </a:fld>
            <a:endParaRPr lang="en-US" altLang="en-US" sz="1200">
              <a:solidFill>
                <a:srgbClr val="898989"/>
              </a:solidFill>
              <a:latin typeface="Arial" panose="020B0604020202020204" pitchFamily="34" charset="0"/>
            </a:endParaRPr>
          </a:p>
        </p:txBody>
      </p:sp>
      <p:pic>
        <p:nvPicPr>
          <p:cNvPr id="819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286000"/>
            <a:ext cx="4038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351088"/>
            <a:ext cx="4476750" cy="290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p:cNvSpPr>
          <p:nvPr>
            <p:ph type="title"/>
          </p:nvPr>
        </p:nvSpPr>
        <p:spPr/>
        <p:txBody>
          <a:bodyPr/>
          <a:lstStyle/>
          <a:p>
            <a:pPr eaLnBrk="1" hangingPunct="1"/>
            <a:r>
              <a:rPr lang="en-US" altLang="en-GB" smtClean="0"/>
              <a:t>Moore vs Mealy Machines</a:t>
            </a:r>
          </a:p>
        </p:txBody>
      </p:sp>
      <p:sp>
        <p:nvSpPr>
          <p:cNvPr id="13314" name="Footer Placeholder 5"/>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0244"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1FDF6C-F75E-4E97-B870-F614C8CFF1AF}" type="slidenum">
              <a:rPr lang="en-US" altLang="en-US" sz="1200">
                <a:solidFill>
                  <a:srgbClr val="898989"/>
                </a:solidFill>
                <a:latin typeface="Arial" panose="020B0604020202020204" pitchFamily="34" charset="0"/>
              </a:rPr>
              <a:pPr>
                <a:spcBef>
                  <a:spcPct val="0"/>
                </a:spcBef>
                <a:buFontTx/>
                <a:buNone/>
              </a:pPr>
              <a:t>5</a:t>
            </a:fld>
            <a:endParaRPr lang="en-US" altLang="en-US" sz="1200">
              <a:solidFill>
                <a:srgbClr val="898989"/>
              </a:solidFill>
              <a:latin typeface="Arial" panose="020B0604020202020204" pitchFamily="34" charset="0"/>
            </a:endParaRPr>
          </a:p>
        </p:txBody>
      </p:sp>
      <p:pic>
        <p:nvPicPr>
          <p:cNvPr id="1024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057400"/>
            <a:ext cx="6553200" cy="307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p:txBody>
          <a:bodyPr/>
          <a:lstStyle/>
          <a:p>
            <a:pPr eaLnBrk="1" hangingPunct="1"/>
            <a:r>
              <a:rPr lang="en-US" altLang="en-GB" smtClean="0"/>
              <a:t>Moore vs Mealy Machines</a:t>
            </a:r>
          </a:p>
        </p:txBody>
      </p:sp>
      <p:sp>
        <p:nvSpPr>
          <p:cNvPr id="14338"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229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034DBA1-1BFA-4EAB-9821-2866B27A4EF1}" type="slidenum">
              <a:rPr lang="en-US" altLang="en-US" sz="1200">
                <a:solidFill>
                  <a:srgbClr val="898989"/>
                </a:solidFill>
                <a:latin typeface="Arial" panose="020B0604020202020204" pitchFamily="34" charset="0"/>
              </a:rPr>
              <a:pPr>
                <a:spcBef>
                  <a:spcPct val="0"/>
                </a:spcBef>
                <a:buFontTx/>
                <a:buNone/>
              </a:pPr>
              <a:t>6</a:t>
            </a:fld>
            <a:endParaRPr lang="en-US" altLang="en-US" sz="1200">
              <a:solidFill>
                <a:srgbClr val="898989"/>
              </a:solidFill>
              <a:latin typeface="Arial" panose="020B0604020202020204" pitchFamily="34" charset="0"/>
            </a:endParaRPr>
          </a:p>
        </p:txBody>
      </p:sp>
      <p:pic>
        <p:nvPicPr>
          <p:cNvPr id="1229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676400"/>
            <a:ext cx="4343400" cy="37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382838"/>
            <a:ext cx="2819400" cy="272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433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397EAC9-F7F3-4F62-9E43-89162388A0ED}" type="slidenum">
              <a:rPr lang="en-US" altLang="en-US" sz="1200">
                <a:solidFill>
                  <a:srgbClr val="898989"/>
                </a:solidFill>
                <a:latin typeface="Arial" panose="020B0604020202020204" pitchFamily="34" charset="0"/>
              </a:rPr>
              <a:pPr>
                <a:spcBef>
                  <a:spcPct val="0"/>
                </a:spcBef>
                <a:buFontTx/>
                <a:buNone/>
              </a:pPr>
              <a:t>7</a:t>
            </a:fld>
            <a:endParaRPr lang="en-US" altLang="en-US" sz="1200">
              <a:solidFill>
                <a:srgbClr val="898989"/>
              </a:solidFill>
              <a:latin typeface="Arial" panose="020B0604020202020204" pitchFamily="34" charset="0"/>
            </a:endParaRPr>
          </a:p>
        </p:txBody>
      </p:sp>
      <p:sp>
        <p:nvSpPr>
          <p:cNvPr id="14340" name="Rectangle 2"/>
          <p:cNvSpPr>
            <a:spLocks noGrp="1"/>
          </p:cNvSpPr>
          <p:nvPr>
            <p:ph type="title" idx="4294967295"/>
          </p:nvPr>
        </p:nvSpPr>
        <p:spPr>
          <a:xfrm>
            <a:off x="0" y="274638"/>
            <a:ext cx="8229600" cy="1143000"/>
          </a:xfrm>
        </p:spPr>
        <p:txBody>
          <a:bodyPr/>
          <a:lstStyle/>
          <a:p>
            <a:pPr eaLnBrk="1" hangingPunct="1"/>
            <a:r>
              <a:rPr lang="en-US" altLang="en-GB" sz="3800" smtClean="0"/>
              <a:t>Moore Machine Definition</a:t>
            </a:r>
          </a:p>
        </p:txBody>
      </p:sp>
      <p:sp>
        <p:nvSpPr>
          <p:cNvPr id="14341" name="Rectangle 3"/>
          <p:cNvSpPr>
            <a:spLocks noGrp="1"/>
          </p:cNvSpPr>
          <p:nvPr>
            <p:ph type="body" idx="4294967295"/>
          </p:nvPr>
        </p:nvSpPr>
        <p:spPr>
          <a:xfrm>
            <a:off x="0" y="1481138"/>
            <a:ext cx="8229600" cy="4525962"/>
          </a:xfrm>
        </p:spPr>
        <p:txBody>
          <a:bodyPr/>
          <a:lstStyle/>
          <a:p>
            <a:pPr marL="571500" indent="-571500" eaLnBrk="1" hangingPunct="1">
              <a:lnSpc>
                <a:spcPct val="90000"/>
              </a:lnSpc>
              <a:buFont typeface="Wingdings" panose="05000000000000000000" pitchFamily="2" charset="2"/>
              <a:buNone/>
            </a:pPr>
            <a:r>
              <a:rPr lang="en-US" altLang="en-GB" sz="2100" b="1" smtClean="0"/>
              <a:t>Moore machine </a:t>
            </a:r>
            <a:r>
              <a:rPr lang="en-US" altLang="en-GB" sz="2100" smtClean="0"/>
              <a:t>is a collection of five things:</a:t>
            </a:r>
          </a:p>
          <a:p>
            <a:pPr marL="571500" indent="-571500" eaLnBrk="1" hangingPunct="1">
              <a:lnSpc>
                <a:spcPct val="90000"/>
              </a:lnSpc>
              <a:buFont typeface="Wingdings" panose="05000000000000000000" pitchFamily="2" charset="2"/>
              <a:buAutoNum type="arabicPeriod"/>
            </a:pPr>
            <a:r>
              <a:rPr lang="en-US" altLang="en-GB" sz="2100" smtClean="0"/>
              <a:t>A finite set of states q</a:t>
            </a:r>
            <a:r>
              <a:rPr lang="en-US" altLang="en-GB" sz="2100" baseline="-25000" smtClean="0"/>
              <a:t>0</a:t>
            </a:r>
            <a:r>
              <a:rPr lang="en-US" altLang="en-GB" sz="2100" smtClean="0"/>
              <a:t>, q</a:t>
            </a:r>
            <a:r>
              <a:rPr lang="en-US" altLang="en-GB" sz="2100" baseline="-25000" smtClean="0"/>
              <a:t>1</a:t>
            </a:r>
            <a:r>
              <a:rPr lang="en-US" altLang="en-GB" sz="2100" smtClean="0"/>
              <a:t>, q</a:t>
            </a:r>
            <a:r>
              <a:rPr lang="en-US" altLang="en-GB" sz="2100" baseline="-25000" smtClean="0"/>
              <a:t>2</a:t>
            </a:r>
            <a:r>
              <a:rPr lang="en-US" altLang="en-GB" sz="2100" smtClean="0"/>
              <a:t>, ..., where q</a:t>
            </a:r>
            <a:r>
              <a:rPr lang="en-US" altLang="en-GB" sz="2100" baseline="-25000" smtClean="0"/>
              <a:t>0</a:t>
            </a:r>
            <a:r>
              <a:rPr lang="en-US" altLang="en-GB" sz="2100" smtClean="0"/>
              <a:t> is designated as the start state.</a:t>
            </a:r>
          </a:p>
          <a:p>
            <a:pPr marL="571500" indent="-571500" eaLnBrk="1" hangingPunct="1">
              <a:lnSpc>
                <a:spcPct val="90000"/>
              </a:lnSpc>
              <a:buFontTx/>
              <a:buAutoNum type="arabicPeriod"/>
            </a:pPr>
            <a:r>
              <a:rPr lang="en-US" altLang="en-GB" sz="2100" smtClean="0"/>
              <a:t>An alphabet of letters for forming the input string  = {a, b, c, …}.</a:t>
            </a:r>
          </a:p>
          <a:p>
            <a:pPr marL="571500" indent="-571500" eaLnBrk="1" hangingPunct="1">
              <a:lnSpc>
                <a:spcPct val="90000"/>
              </a:lnSpc>
              <a:buFontTx/>
              <a:buAutoNum type="arabicPeriod"/>
            </a:pPr>
            <a:r>
              <a:rPr lang="en-US" altLang="en-GB" sz="2100" smtClean="0"/>
              <a:t>An alphabet of possible output characters </a:t>
            </a:r>
            <a:r>
              <a:rPr lang="el-GR" altLang="en-GB" sz="2100" b="1" smtClean="0">
                <a:cs typeface="Arial" panose="020B0604020202020204" pitchFamily="34" charset="0"/>
              </a:rPr>
              <a:t>Γ</a:t>
            </a:r>
            <a:r>
              <a:rPr lang="en-US" altLang="en-GB" sz="2100" smtClean="0"/>
              <a:t> = {0, 1, 2, …}.</a:t>
            </a:r>
          </a:p>
          <a:p>
            <a:pPr marL="571500" indent="-571500" eaLnBrk="1" hangingPunct="1">
              <a:lnSpc>
                <a:spcPct val="90000"/>
              </a:lnSpc>
              <a:buFontTx/>
              <a:buAutoNum type="arabicPeriod"/>
            </a:pPr>
            <a:r>
              <a:rPr lang="en-US" altLang="en-GB" sz="2100" smtClean="0"/>
              <a:t>A transition table that shows for each state and each input letter what state is reached next.</a:t>
            </a:r>
          </a:p>
          <a:p>
            <a:pPr marL="571500" indent="-571500" eaLnBrk="1" hangingPunct="1">
              <a:lnSpc>
                <a:spcPct val="90000"/>
              </a:lnSpc>
              <a:buFontTx/>
              <a:buAutoNum type="arabicPeriod"/>
            </a:pPr>
            <a:r>
              <a:rPr lang="en-US" altLang="en-GB" sz="2100" smtClean="0"/>
              <a:t>An output table that shows what character from </a:t>
            </a:r>
            <a:r>
              <a:rPr lang="el-GR" altLang="en-GB" sz="2100" b="1" smtClean="0">
                <a:cs typeface="Arial" panose="020B0604020202020204" pitchFamily="34" charset="0"/>
              </a:rPr>
              <a:t>Γ</a:t>
            </a:r>
            <a:r>
              <a:rPr lang="en-US" altLang="en-GB" sz="2100" smtClean="0"/>
              <a:t> is printed by each state as it is entered.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6387"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AA98956-86D3-4A52-AC34-8377F84DA5F1}" type="slidenum">
              <a:rPr lang="en-US" altLang="en-US" sz="1200">
                <a:solidFill>
                  <a:srgbClr val="898989"/>
                </a:solidFill>
                <a:latin typeface="Arial" panose="020B0604020202020204" pitchFamily="34" charset="0"/>
              </a:rPr>
              <a:pPr>
                <a:spcBef>
                  <a:spcPct val="0"/>
                </a:spcBef>
                <a:buFontTx/>
                <a:buNone/>
              </a:pPr>
              <a:t>8</a:t>
            </a:fld>
            <a:endParaRPr lang="en-US" altLang="en-US" sz="1200">
              <a:solidFill>
                <a:srgbClr val="898989"/>
              </a:solidFill>
              <a:latin typeface="Arial" panose="020B0604020202020204" pitchFamily="34" charset="0"/>
            </a:endParaRPr>
          </a:p>
        </p:txBody>
      </p:sp>
      <p:sp>
        <p:nvSpPr>
          <p:cNvPr id="16388" name="Rectangle 2"/>
          <p:cNvSpPr>
            <a:spLocks noGrp="1"/>
          </p:cNvSpPr>
          <p:nvPr>
            <p:ph type="title" idx="4294967295"/>
          </p:nvPr>
        </p:nvSpPr>
        <p:spPr>
          <a:xfrm>
            <a:off x="0" y="274638"/>
            <a:ext cx="8229600" cy="1143000"/>
          </a:xfrm>
        </p:spPr>
        <p:txBody>
          <a:bodyPr/>
          <a:lstStyle/>
          <a:p>
            <a:pPr eaLnBrk="1" hangingPunct="1"/>
            <a:r>
              <a:rPr lang="en-US" altLang="en-GB" sz="3800" smtClean="0"/>
              <a:t>Notes</a:t>
            </a:r>
          </a:p>
        </p:txBody>
      </p:sp>
      <p:sp>
        <p:nvSpPr>
          <p:cNvPr id="16389"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100" smtClean="0"/>
              <a:t>We did not assume that the input alphabet  is the same as the output alphabet </a:t>
            </a:r>
            <a:r>
              <a:rPr lang="el-GR" altLang="en-GB" sz="2100" b="1" smtClean="0">
                <a:cs typeface="Arial" panose="020B0604020202020204" pitchFamily="34" charset="0"/>
              </a:rPr>
              <a:t>Γ</a:t>
            </a:r>
            <a:r>
              <a:rPr lang="en-US" altLang="en-GB" sz="2100" smtClean="0"/>
              <a:t>.</a:t>
            </a:r>
          </a:p>
          <a:p>
            <a:pPr algn="just" eaLnBrk="1" hangingPunct="1">
              <a:lnSpc>
                <a:spcPct val="90000"/>
              </a:lnSpc>
            </a:pPr>
            <a:endParaRPr lang="en-US" altLang="en-GB" sz="2100" smtClean="0"/>
          </a:p>
          <a:p>
            <a:pPr algn="just" eaLnBrk="1" hangingPunct="1">
              <a:lnSpc>
                <a:spcPct val="90000"/>
              </a:lnSpc>
            </a:pPr>
            <a:r>
              <a:rPr lang="en-US" altLang="en-GB" sz="2100" smtClean="0"/>
              <a:t>To keep the output alphabet separate from the input alphabet, we give it a different name </a:t>
            </a:r>
            <a:r>
              <a:rPr lang="el-GR" altLang="en-GB" sz="2100" b="1" smtClean="0">
                <a:cs typeface="Arial" panose="020B0604020202020204" pitchFamily="34" charset="0"/>
              </a:rPr>
              <a:t>Γ</a:t>
            </a:r>
            <a:r>
              <a:rPr lang="en-US" altLang="en-GB" sz="2100" smtClean="0"/>
              <a:t> (instead of </a:t>
            </a:r>
            <a:r>
              <a:rPr lang="en-US" altLang="en-GB" sz="2100" smtClean="0">
                <a:cs typeface="Arial" panose="020B0604020202020204" pitchFamily="34" charset="0"/>
              </a:rPr>
              <a:t>∑</a:t>
            </a:r>
            <a:r>
              <a:rPr lang="en-US" altLang="en-GB" sz="2100" smtClean="0"/>
              <a:t>) and use number symbols {0, 1, …} (instead of {a, b, …}).</a:t>
            </a:r>
          </a:p>
          <a:p>
            <a:pPr algn="just" eaLnBrk="1" hangingPunct="1">
              <a:lnSpc>
                <a:spcPct val="90000"/>
              </a:lnSpc>
            </a:pPr>
            <a:endParaRPr lang="en-US" altLang="en-GB" sz="2100" smtClean="0"/>
          </a:p>
          <a:p>
            <a:pPr algn="just" eaLnBrk="1" hangingPunct="1">
              <a:lnSpc>
                <a:spcPct val="90000"/>
              </a:lnSpc>
            </a:pPr>
            <a:r>
              <a:rPr lang="en-US" altLang="en-GB" sz="2100" smtClean="0"/>
              <a:t>We refer to input symbols as </a:t>
            </a:r>
            <a:r>
              <a:rPr lang="en-US" altLang="en-GB" sz="2100" b="1" smtClean="0"/>
              <a:t>letters</a:t>
            </a:r>
            <a:r>
              <a:rPr lang="en-US" altLang="en-GB" sz="2100" smtClean="0"/>
              <a:t>, whereas we refer to output symbols as </a:t>
            </a:r>
            <a:r>
              <a:rPr lang="en-US" altLang="en-GB" sz="2100" b="1" smtClean="0"/>
              <a:t>characters</a:t>
            </a:r>
            <a:r>
              <a:rPr lang="en-US" altLang="en-GB" sz="2100" smtClean="0"/>
              <a:t>.</a:t>
            </a:r>
          </a:p>
          <a:p>
            <a:pPr algn="just" eaLnBrk="1" hangingPunct="1">
              <a:lnSpc>
                <a:spcPct val="90000"/>
              </a:lnSpc>
            </a:pPr>
            <a:endParaRPr lang="en-US" altLang="en-GB" sz="2100" smtClean="0"/>
          </a:p>
          <a:p>
            <a:pPr algn="just" eaLnBrk="1" hangingPunct="1">
              <a:lnSpc>
                <a:spcPct val="90000"/>
              </a:lnSpc>
            </a:pPr>
            <a:r>
              <a:rPr lang="en-US" altLang="en-GB" sz="2100" smtClean="0"/>
              <a:t>We adopt the policy that a Moore machine always begins by printing the character dictated by the mandatory start state. So, if the input string has 7 letters, then the output string will have 8 characters, because it includes 8 states in its path.</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1843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BCF49D5-6712-4878-8083-1FE2F7F77440}" type="slidenum">
              <a:rPr lang="en-US" altLang="en-US" sz="1200">
                <a:solidFill>
                  <a:srgbClr val="898989"/>
                </a:solidFill>
                <a:latin typeface="Arial" panose="020B0604020202020204" pitchFamily="34" charset="0"/>
              </a:rPr>
              <a:pPr>
                <a:spcBef>
                  <a:spcPct val="0"/>
                </a:spcBef>
                <a:buFontTx/>
                <a:buNone/>
              </a:pPr>
              <a:t>9</a:t>
            </a:fld>
            <a:endParaRPr lang="en-US" altLang="en-US" sz="1200">
              <a:solidFill>
                <a:srgbClr val="898989"/>
              </a:solidFill>
              <a:latin typeface="Arial" panose="020B0604020202020204" pitchFamily="34" charset="0"/>
            </a:endParaRPr>
          </a:p>
        </p:txBody>
      </p:sp>
      <p:sp>
        <p:nvSpPr>
          <p:cNvPr id="18436" name="Rectangle 2"/>
          <p:cNvSpPr>
            <a:spLocks noGrp="1"/>
          </p:cNvSpPr>
          <p:nvPr>
            <p:ph type="title" idx="4294967295"/>
          </p:nvPr>
        </p:nvSpPr>
        <p:spPr>
          <a:xfrm>
            <a:off x="0" y="274638"/>
            <a:ext cx="8229600" cy="1143000"/>
          </a:xfrm>
        </p:spPr>
        <p:txBody>
          <a:bodyPr/>
          <a:lstStyle/>
          <a:p>
            <a:pPr eaLnBrk="1" hangingPunct="1"/>
            <a:r>
              <a:rPr lang="en-US" altLang="en-GB" sz="3800" smtClean="0"/>
              <a:t>Notes Contd.</a:t>
            </a:r>
          </a:p>
        </p:txBody>
      </p:sp>
      <p:sp>
        <p:nvSpPr>
          <p:cNvPr id="18437"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A Moore machine does not define a language of accepted words, because there is no such thing as a final state.</a:t>
            </a:r>
          </a:p>
          <a:p>
            <a:pPr algn="just" eaLnBrk="1" hangingPunct="1">
              <a:lnSpc>
                <a:spcPct val="90000"/>
              </a:lnSpc>
            </a:pPr>
            <a:endParaRPr lang="en-US" altLang="en-GB" sz="2200" smtClean="0"/>
          </a:p>
          <a:p>
            <a:pPr algn="just" eaLnBrk="1" hangingPunct="1">
              <a:lnSpc>
                <a:spcPct val="90000"/>
              </a:lnSpc>
            </a:pPr>
            <a:r>
              <a:rPr lang="en-US" altLang="en-GB" sz="2200" smtClean="0"/>
              <a:t>Every possible input string creates an output string. The processing is terminated when the last input letter is read and the last output character is printed.</a:t>
            </a:r>
          </a:p>
          <a:p>
            <a:pPr algn="just" eaLnBrk="1" hangingPunct="1">
              <a:lnSpc>
                <a:spcPct val="90000"/>
              </a:lnSpc>
            </a:pPr>
            <a:endParaRPr lang="en-US" altLang="en-GB" sz="2200" smtClean="0"/>
          </a:p>
          <a:p>
            <a:pPr algn="just" eaLnBrk="1" hangingPunct="1">
              <a:lnSpc>
                <a:spcPct val="90000"/>
              </a:lnSpc>
            </a:pPr>
            <a:r>
              <a:rPr lang="en-US" altLang="en-GB" sz="2200" smtClean="0"/>
              <a:t>There are some subtle ways to turn Moore machines into language definers.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048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1181579-9D5E-4A30-95E3-B9618009B356}" type="slidenum">
              <a:rPr lang="en-US" altLang="en-US" sz="1200">
                <a:solidFill>
                  <a:srgbClr val="898989"/>
                </a:solidFill>
                <a:latin typeface="Arial" panose="020B0604020202020204" pitchFamily="34" charset="0"/>
              </a:rPr>
              <a:pPr>
                <a:spcBef>
                  <a:spcPct val="0"/>
                </a:spcBef>
                <a:buFontTx/>
                <a:buNone/>
              </a:pPr>
              <a:t>10</a:t>
            </a:fld>
            <a:endParaRPr lang="en-US" altLang="en-US" sz="1200">
              <a:solidFill>
                <a:srgbClr val="898989"/>
              </a:solidFill>
              <a:latin typeface="Arial" panose="020B0604020202020204" pitchFamily="34" charset="0"/>
            </a:endParaRPr>
          </a:p>
        </p:txBody>
      </p:sp>
      <p:sp>
        <p:nvSpPr>
          <p:cNvPr id="12293" name="Rectangle 2"/>
          <p:cNvSpPr>
            <a:spLocks noGrp="1" noChangeArrowheads="1"/>
          </p:cNvSpPr>
          <p:nvPr>
            <p:ph type="title" idx="4294967295"/>
          </p:nvPr>
        </p:nvSpPr>
        <p:spPr>
          <a:xfrm>
            <a:off x="0" y="274638"/>
            <a:ext cx="8229600" cy="1143000"/>
          </a:xfrm>
        </p:spPr>
        <p:txBody>
          <a:bodyPr rtlCol="0">
            <a:normAutofit fontScale="90000"/>
          </a:bodyPr>
          <a:lstStyle/>
          <a:p>
            <a:pPr eaLnBrk="1" fontAlgn="auto" hangingPunct="1">
              <a:spcAft>
                <a:spcPts val="0"/>
              </a:spcAft>
              <a:defRPr/>
            </a:pPr>
            <a:r>
              <a:rPr lang="en-US" sz="3800"/>
              <a:t>Example: Moore machine defined by a table</a:t>
            </a:r>
          </a:p>
        </p:txBody>
      </p:sp>
      <p:sp>
        <p:nvSpPr>
          <p:cNvPr id="20485" name="Rectangle 3"/>
          <p:cNvSpPr>
            <a:spLocks noGrp="1"/>
          </p:cNvSpPr>
          <p:nvPr>
            <p:ph type="body" sz="half" idx="4294967295"/>
          </p:nvPr>
        </p:nvSpPr>
        <p:spPr>
          <a:xfrm>
            <a:off x="685800" y="1447800"/>
            <a:ext cx="8458200" cy="1905000"/>
          </a:xfrm>
        </p:spPr>
        <p:txBody>
          <a:bodyPr/>
          <a:lstStyle/>
          <a:p>
            <a:pPr eaLnBrk="1" hangingPunct="1"/>
            <a:r>
              <a:rPr lang="en-US" altLang="en-GB" sz="2200" smtClean="0"/>
              <a:t>Input alphabet: </a:t>
            </a:r>
            <a:r>
              <a:rPr lang="en-US" altLang="en-GB" sz="2200" smtClean="0">
                <a:cs typeface="Arial" panose="020B0604020202020204" pitchFamily="34" charset="0"/>
              </a:rPr>
              <a:t>∑</a:t>
            </a:r>
            <a:r>
              <a:rPr lang="en-US" altLang="en-GB" sz="2200" smtClean="0"/>
              <a:t> = {a, b}</a:t>
            </a:r>
          </a:p>
          <a:p>
            <a:pPr eaLnBrk="1" hangingPunct="1"/>
            <a:r>
              <a:rPr lang="en-US" altLang="en-GB" sz="2200" smtClean="0"/>
              <a:t>Output alphabet: </a:t>
            </a:r>
            <a:r>
              <a:rPr lang="el-GR" altLang="en-GB" sz="2200" smtClean="0">
                <a:cs typeface="Arial" panose="020B0604020202020204" pitchFamily="34" charset="0"/>
              </a:rPr>
              <a:t>Γ</a:t>
            </a:r>
            <a:r>
              <a:rPr lang="en-US" altLang="en-GB" sz="2200" smtClean="0"/>
              <a:t> = {0, 1}</a:t>
            </a:r>
          </a:p>
          <a:p>
            <a:pPr eaLnBrk="1" hangingPunct="1"/>
            <a:r>
              <a:rPr lang="en-US" altLang="en-GB" sz="2200" smtClean="0"/>
              <a:t>Names of states: q</a:t>
            </a:r>
            <a:r>
              <a:rPr lang="en-US" altLang="en-GB" sz="2200" baseline="-25000" smtClean="0"/>
              <a:t>0</a:t>
            </a:r>
            <a:r>
              <a:rPr lang="en-US" altLang="en-GB" sz="2200" smtClean="0"/>
              <a:t>, q</a:t>
            </a:r>
            <a:r>
              <a:rPr lang="en-US" altLang="en-GB" sz="2200" baseline="-25000" smtClean="0"/>
              <a:t>1</a:t>
            </a:r>
            <a:r>
              <a:rPr lang="en-US" altLang="en-GB" sz="2200" smtClean="0"/>
              <a:t>, q</a:t>
            </a:r>
            <a:r>
              <a:rPr lang="en-US" altLang="en-GB" sz="2200" baseline="-25000" smtClean="0"/>
              <a:t>2</a:t>
            </a:r>
            <a:r>
              <a:rPr lang="en-US" altLang="en-GB" sz="2200" smtClean="0"/>
              <a:t>, q</a:t>
            </a:r>
            <a:r>
              <a:rPr lang="en-US" altLang="en-GB" sz="2200" baseline="-25000" smtClean="0"/>
              <a:t>3</a:t>
            </a:r>
            <a:r>
              <a:rPr lang="en-US" altLang="en-GB" sz="2200" smtClean="0"/>
              <a:t> with q</a:t>
            </a:r>
            <a:r>
              <a:rPr lang="en-US" altLang="en-GB" sz="2200" baseline="-25000" smtClean="0"/>
              <a:t>0</a:t>
            </a:r>
            <a:r>
              <a:rPr lang="en-US" altLang="en-GB" sz="2200" smtClean="0"/>
              <a:t> being the start state.</a:t>
            </a:r>
          </a:p>
          <a:p>
            <a:pPr eaLnBrk="1" hangingPunct="1"/>
            <a:r>
              <a:rPr lang="en-US" altLang="en-GB" sz="2200" smtClean="0"/>
              <a:t>Transition and output table (combined):</a:t>
            </a:r>
          </a:p>
        </p:txBody>
      </p:sp>
      <p:graphicFrame>
        <p:nvGraphicFramePr>
          <p:cNvPr id="123046" name="Group 166"/>
          <p:cNvGraphicFramePr>
            <a:graphicFrameLocks noGrp="1"/>
          </p:cNvGraphicFramePr>
          <p:nvPr>
            <p:ph sz="half" idx="4294967295"/>
          </p:nvPr>
        </p:nvGraphicFramePr>
        <p:xfrm>
          <a:off x="990600" y="3398838"/>
          <a:ext cx="8153400" cy="3078162"/>
        </p:xfrm>
        <a:graphic>
          <a:graphicData uri="http://schemas.openxmlformats.org/drawingml/2006/table">
            <a:tbl>
              <a:tblPr/>
              <a:tblGrid>
                <a:gridCol w="2038350">
                  <a:extLst>
                    <a:ext uri="{9D8B030D-6E8A-4147-A177-3AD203B41FA5}">
                      <a16:colId xmlns:a16="http://schemas.microsoft.com/office/drawing/2014/main" val="20000"/>
                    </a:ext>
                  </a:extLst>
                </a:gridCol>
                <a:gridCol w="20383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tblGrid>
              <a:tr h="884011">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Old State</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Output by Old State</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New state after </a:t>
                      </a:r>
                      <a:r>
                        <a:rPr kumimoji="0" lang="en-US" sz="2600" b="0" i="1" u="none" strike="noStrike" cap="none" normalizeH="0" baseline="0">
                          <a:ln>
                            <a:noFill/>
                          </a:ln>
                          <a:solidFill>
                            <a:schemeClr val="tx1"/>
                          </a:solidFill>
                          <a:effectLst/>
                          <a:latin typeface="Arial" charset="0"/>
                          <a:cs typeface="Arial" charset="0"/>
                        </a:rPr>
                        <a:t>a</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New state after </a:t>
                      </a:r>
                      <a:r>
                        <a:rPr kumimoji="0" lang="en-US" sz="2600" b="0" i="1" u="none" strike="noStrike" cap="none" normalizeH="0" baseline="0">
                          <a:ln>
                            <a:noFill/>
                          </a:ln>
                          <a:solidFill>
                            <a:schemeClr val="tx1"/>
                          </a:solidFill>
                          <a:effectLst/>
                          <a:latin typeface="Arial" charset="0"/>
                          <a:cs typeface="Arial" charset="0"/>
                        </a:rPr>
                        <a:t>b</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774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0</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3</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332">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1</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0</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3</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1</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7744">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2</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0</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0</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3</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9332">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3</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a:ln>
                            <a:noFill/>
                          </a:ln>
                          <a:solidFill>
                            <a:schemeClr val="tx1"/>
                          </a:solidFill>
                          <a:effectLst/>
                          <a:latin typeface="Arial" charset="0"/>
                          <a:cs typeface="Arial" charset="0"/>
                        </a:rPr>
                        <a:t>q</a:t>
                      </a:r>
                      <a:r>
                        <a:rPr kumimoji="0" lang="en-US" sz="2600" b="0" i="0" u="none" strike="noStrike" cap="none" normalizeH="0" baseline="-25000">
                          <a:ln>
                            <a:noFill/>
                          </a:ln>
                          <a:solidFill>
                            <a:schemeClr val="tx1"/>
                          </a:solidFill>
                          <a:effectLst/>
                          <a:latin typeface="Arial" charset="0"/>
                          <a:cs typeface="Arial" charset="0"/>
                        </a:rPr>
                        <a:t>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dirty="0">
                          <a:ln>
                            <a:noFill/>
                          </a:ln>
                          <a:solidFill>
                            <a:schemeClr val="tx1"/>
                          </a:solidFill>
                          <a:effectLst/>
                          <a:latin typeface="Arial" charset="0"/>
                          <a:cs typeface="Arial" charset="0"/>
                        </a:rPr>
                        <a:t>q</a:t>
                      </a:r>
                      <a:r>
                        <a:rPr kumimoji="0" lang="en-US" sz="2600" b="0" i="0" u="none" strike="noStrike" cap="none" normalizeH="0" baseline="-25000" dirty="0">
                          <a:ln>
                            <a:noFill/>
                          </a:ln>
                          <a:solidFill>
                            <a:schemeClr val="tx1"/>
                          </a:solidFill>
                          <a:effectLst/>
                          <a:latin typeface="Arial" charset="0"/>
                          <a:cs typeface="Arial" charset="0"/>
                        </a:rPr>
                        <a:t>2</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253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BB57615-B223-476D-9379-C52773CA02EA}" type="slidenum">
              <a:rPr lang="en-US" altLang="en-US" sz="1200">
                <a:solidFill>
                  <a:srgbClr val="898989"/>
                </a:solidFill>
                <a:latin typeface="Arial" panose="020B0604020202020204" pitchFamily="34" charset="0"/>
              </a:rPr>
              <a:pPr>
                <a:spcBef>
                  <a:spcPct val="0"/>
                </a:spcBef>
                <a:buFontTx/>
                <a:buNone/>
              </a:pPr>
              <a:t>11</a:t>
            </a:fld>
            <a:endParaRPr lang="en-US" altLang="en-US" sz="1200">
              <a:solidFill>
                <a:srgbClr val="898989"/>
              </a:solidFill>
              <a:latin typeface="Arial" panose="020B0604020202020204" pitchFamily="34" charset="0"/>
            </a:endParaRPr>
          </a:p>
        </p:txBody>
      </p:sp>
      <p:sp>
        <p:nvSpPr>
          <p:cNvPr id="22532" name="Rectangle 2"/>
          <p:cNvSpPr>
            <a:spLocks noGrp="1"/>
          </p:cNvSpPr>
          <p:nvPr>
            <p:ph type="title" idx="4294967295"/>
          </p:nvPr>
        </p:nvSpPr>
        <p:spPr>
          <a:xfrm>
            <a:off x="0" y="274638"/>
            <a:ext cx="8229600" cy="1143000"/>
          </a:xfrm>
        </p:spPr>
        <p:txBody>
          <a:bodyPr/>
          <a:lstStyle/>
          <a:p>
            <a:pPr eaLnBrk="1" hangingPunct="1"/>
            <a:r>
              <a:rPr lang="en-US" altLang="en-GB" sz="3800" smtClean="0"/>
              <a:t>Pictorial Representation</a:t>
            </a:r>
          </a:p>
        </p:txBody>
      </p:sp>
      <p:sp>
        <p:nvSpPr>
          <p:cNvPr id="22533"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Moore machines have pictorial representations similar to FAs.</a:t>
            </a:r>
          </a:p>
          <a:p>
            <a:pPr algn="just" eaLnBrk="1" hangingPunct="1">
              <a:lnSpc>
                <a:spcPct val="90000"/>
              </a:lnSpc>
            </a:pPr>
            <a:endParaRPr lang="en-US" altLang="en-GB" sz="2200" smtClean="0"/>
          </a:p>
          <a:p>
            <a:pPr algn="just" eaLnBrk="1" hangingPunct="1">
              <a:lnSpc>
                <a:spcPct val="90000"/>
              </a:lnSpc>
            </a:pPr>
            <a:r>
              <a:rPr lang="en-US" altLang="en-GB" sz="2200" smtClean="0"/>
              <a:t>The difference is that inside each state, in addition to the state name, we also specify the output character printed by that state, using the format </a:t>
            </a:r>
            <a:r>
              <a:rPr lang="en-US" altLang="en-GB" sz="2200" i="1" smtClean="0"/>
              <a:t>state – name/output</a:t>
            </a:r>
            <a:r>
              <a:rPr lang="en-US" altLang="en-GB" sz="2200" smtClean="0"/>
              <a:t>.</a:t>
            </a:r>
          </a:p>
          <a:p>
            <a:pPr algn="just" eaLnBrk="1" hangingPunct="1">
              <a:lnSpc>
                <a:spcPct val="90000"/>
              </a:lnSpc>
            </a:pPr>
            <a:endParaRPr lang="en-US" altLang="en-GB" sz="2200" smtClean="0"/>
          </a:p>
          <a:p>
            <a:pPr algn="just" eaLnBrk="1" hangingPunct="1">
              <a:lnSpc>
                <a:spcPct val="90000"/>
              </a:lnSpc>
            </a:pPr>
            <a:r>
              <a:rPr lang="en-US" altLang="en-GB" sz="2200" smtClean="0"/>
              <a:t>Hence, the Moore machine in the above example has the following pictorial representation: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457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B6C971E-C0B0-446C-BE82-580EE5AE199B}" type="slidenum">
              <a:rPr lang="en-US" altLang="en-US" sz="1200">
                <a:solidFill>
                  <a:srgbClr val="898989"/>
                </a:solidFill>
                <a:latin typeface="Arial" panose="020B0604020202020204" pitchFamily="34" charset="0"/>
              </a:rPr>
              <a:pPr>
                <a:spcBef>
                  <a:spcPct val="0"/>
                </a:spcBef>
                <a:buFontTx/>
                <a:buNone/>
              </a:pPr>
              <a:t>12</a:t>
            </a:fld>
            <a:endParaRPr lang="en-US" altLang="en-US" sz="1200">
              <a:solidFill>
                <a:srgbClr val="898989"/>
              </a:solidFill>
              <a:latin typeface="Arial" panose="020B0604020202020204" pitchFamily="34" charset="0"/>
            </a:endParaRPr>
          </a:p>
        </p:txBody>
      </p:sp>
      <p:sp>
        <p:nvSpPr>
          <p:cNvPr id="24580"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20485" name="Rectangle 3"/>
          <p:cNvSpPr>
            <a:spLocks noGrp="1" noChangeArrowheads="1"/>
          </p:cNvSpPr>
          <p:nvPr>
            <p:ph type="body" idx="4294967295"/>
          </p:nvPr>
        </p:nvSpPr>
        <p:spPr>
          <a:xfrm>
            <a:off x="0" y="4006850"/>
            <a:ext cx="8229600" cy="2124075"/>
          </a:xfrm>
        </p:spPr>
        <p:txBody>
          <a:bodyPr rtlCol="0">
            <a:normAutofit lnSpcReduction="10000"/>
          </a:bodyPr>
          <a:lstStyle/>
          <a:p>
            <a:pPr algn="just" eaLnBrk="1" fontAlgn="auto" hangingPunct="1">
              <a:lnSpc>
                <a:spcPct val="90000"/>
              </a:lnSpc>
              <a:spcAft>
                <a:spcPts val="0"/>
              </a:spcAft>
              <a:defRPr/>
            </a:pPr>
            <a:r>
              <a:rPr lang="en-US" sz="1900"/>
              <a:t>We indicate the start state by an outside arrow since there is no room for the usual - sign.</a:t>
            </a:r>
          </a:p>
          <a:p>
            <a:pPr algn="just" eaLnBrk="1" fontAlgn="auto" hangingPunct="1">
              <a:lnSpc>
                <a:spcPct val="90000"/>
              </a:lnSpc>
              <a:spcAft>
                <a:spcPts val="0"/>
              </a:spcAft>
              <a:defRPr/>
            </a:pPr>
            <a:endParaRPr lang="en-US" sz="1900"/>
          </a:p>
          <a:p>
            <a:pPr algn="just" eaLnBrk="1" fontAlgn="auto" hangingPunct="1">
              <a:lnSpc>
                <a:spcPct val="90000"/>
              </a:lnSpc>
              <a:spcAft>
                <a:spcPts val="0"/>
              </a:spcAft>
              <a:defRPr/>
            </a:pPr>
            <a:r>
              <a:rPr lang="en-US" sz="1900"/>
              <a:t>Given the input string </a:t>
            </a:r>
            <a:r>
              <a:rPr lang="en-US" sz="1900" i="1"/>
              <a:t>abab</a:t>
            </a:r>
            <a:r>
              <a:rPr lang="en-US" sz="1900"/>
              <a:t>, the output sequence is 10010.</a:t>
            </a:r>
          </a:p>
          <a:p>
            <a:pPr algn="just" eaLnBrk="1" fontAlgn="auto" hangingPunct="1">
              <a:lnSpc>
                <a:spcPct val="90000"/>
              </a:lnSpc>
              <a:spcAft>
                <a:spcPts val="0"/>
              </a:spcAft>
              <a:defRPr/>
            </a:pPr>
            <a:endParaRPr lang="en-US" sz="1900"/>
          </a:p>
          <a:p>
            <a:pPr algn="just" eaLnBrk="1" fontAlgn="auto" hangingPunct="1">
              <a:lnSpc>
                <a:spcPct val="90000"/>
              </a:lnSpc>
              <a:spcAft>
                <a:spcPts val="0"/>
              </a:spcAft>
              <a:defRPr/>
            </a:pPr>
            <a:r>
              <a:rPr lang="en-US" sz="1900"/>
              <a:t>Note that the length of the output string is one longer than the length of the input string.</a:t>
            </a:r>
          </a:p>
        </p:txBody>
      </p:sp>
      <p:pic>
        <p:nvPicPr>
          <p:cNvPr id="2458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828675"/>
            <a:ext cx="4038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6627"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E59C6AD-1BA1-4BB7-BFA6-2412EEEEBFE9}" type="slidenum">
              <a:rPr lang="en-US" altLang="en-US" sz="1200">
                <a:solidFill>
                  <a:srgbClr val="898989"/>
                </a:solidFill>
                <a:latin typeface="Arial" panose="020B0604020202020204" pitchFamily="34" charset="0"/>
              </a:rPr>
              <a:pPr>
                <a:spcBef>
                  <a:spcPct val="0"/>
                </a:spcBef>
                <a:buFontTx/>
                <a:buNone/>
              </a:pPr>
              <a:t>13</a:t>
            </a:fld>
            <a:endParaRPr lang="en-US" altLang="en-US" sz="1200">
              <a:solidFill>
                <a:srgbClr val="898989"/>
              </a:solidFill>
              <a:latin typeface="Arial" panose="020B0604020202020204" pitchFamily="34" charset="0"/>
            </a:endParaRPr>
          </a:p>
        </p:txBody>
      </p:sp>
      <p:sp>
        <p:nvSpPr>
          <p:cNvPr id="26628"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21509" name="Rectangle 3"/>
          <p:cNvSpPr>
            <a:spLocks noGrp="1" noChangeArrowheads="1"/>
          </p:cNvSpPr>
          <p:nvPr>
            <p:ph type="body" idx="4294967295"/>
          </p:nvPr>
        </p:nvSpPr>
        <p:spPr>
          <a:xfrm>
            <a:off x="0" y="1481138"/>
            <a:ext cx="8229600" cy="4525962"/>
          </a:xfrm>
        </p:spPr>
        <p:txBody>
          <a:bodyPr rtlCol="0">
            <a:normAutofit lnSpcReduction="10000"/>
          </a:bodyPr>
          <a:lstStyle/>
          <a:p>
            <a:pPr algn="just" eaLnBrk="1" fontAlgn="auto" hangingPunct="1">
              <a:spcAft>
                <a:spcPts val="0"/>
              </a:spcAft>
              <a:defRPr/>
            </a:pPr>
            <a:r>
              <a:rPr lang="en-US" sz="2200"/>
              <a:t>Suppose we are interested in knowing exactly how many times the substring </a:t>
            </a:r>
            <a:r>
              <a:rPr lang="en-US" sz="2200" i="1"/>
              <a:t>aab</a:t>
            </a:r>
            <a:r>
              <a:rPr lang="en-US" sz="2200"/>
              <a:t> occurs in a long input string. The following Moore machine will count this for us:</a:t>
            </a:r>
          </a:p>
          <a:p>
            <a:pPr algn="just" eaLnBrk="1" fontAlgn="auto" hangingPunct="1">
              <a:spcAft>
                <a:spcPts val="0"/>
              </a:spcAft>
              <a:defRPr/>
            </a:pPr>
            <a:endParaRPr lang="en-US" sz="2200"/>
          </a:p>
          <a:p>
            <a:pPr algn="just" eaLnBrk="1" fontAlgn="auto" hangingPunct="1">
              <a:spcAft>
                <a:spcPts val="0"/>
              </a:spcAft>
              <a:defRPr/>
            </a:pPr>
            <a:endParaRPr lang="en-US" sz="2200"/>
          </a:p>
          <a:p>
            <a:pPr algn="just" eaLnBrk="1" fontAlgn="auto" hangingPunct="1">
              <a:spcAft>
                <a:spcPts val="0"/>
              </a:spcAft>
              <a:defRPr/>
            </a:pPr>
            <a:endParaRPr lang="en-US" sz="2200"/>
          </a:p>
          <a:p>
            <a:pPr algn="just" eaLnBrk="1" fontAlgn="auto" hangingPunct="1">
              <a:spcAft>
                <a:spcPts val="0"/>
              </a:spcAft>
              <a:defRPr/>
            </a:pPr>
            <a:endParaRPr lang="en-US" sz="2200"/>
          </a:p>
          <a:p>
            <a:pPr algn="just" eaLnBrk="1" fontAlgn="auto" hangingPunct="1">
              <a:spcAft>
                <a:spcPts val="0"/>
              </a:spcAft>
              <a:defRPr/>
            </a:pPr>
            <a:endParaRPr lang="en-US" sz="2200"/>
          </a:p>
          <a:p>
            <a:pPr algn="just" eaLnBrk="1" fontAlgn="auto" hangingPunct="1">
              <a:spcAft>
                <a:spcPts val="0"/>
              </a:spcAft>
              <a:defRPr/>
            </a:pPr>
            <a:endParaRPr lang="en-US" sz="2200"/>
          </a:p>
          <a:p>
            <a:pPr algn="just" eaLnBrk="1" fontAlgn="auto" hangingPunct="1">
              <a:spcAft>
                <a:spcPts val="0"/>
              </a:spcAft>
              <a:defRPr/>
            </a:pPr>
            <a:endParaRPr lang="en-US" sz="2200"/>
          </a:p>
          <a:p>
            <a:pPr algn="just" eaLnBrk="1" fontAlgn="auto" hangingPunct="1">
              <a:spcAft>
                <a:spcPts val="0"/>
              </a:spcAft>
              <a:defRPr/>
            </a:pPr>
            <a:r>
              <a:rPr lang="en-US" sz="2200"/>
              <a:t>Every state of this machine prints out a 0, except for q3, which prints a 1.</a:t>
            </a:r>
          </a:p>
        </p:txBody>
      </p:sp>
      <p:pic>
        <p:nvPicPr>
          <p:cNvPr id="2663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3019425"/>
            <a:ext cx="5368925" cy="196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2867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F9C4BBC-E938-4B5E-BB0A-D0678EB9E6B0}" type="slidenum">
              <a:rPr lang="en-US" altLang="en-US" sz="1200">
                <a:solidFill>
                  <a:srgbClr val="898989"/>
                </a:solidFill>
                <a:latin typeface="Arial" panose="020B0604020202020204" pitchFamily="34" charset="0"/>
              </a:rPr>
              <a:pPr>
                <a:spcBef>
                  <a:spcPct val="0"/>
                </a:spcBef>
                <a:buFontTx/>
                <a:buNone/>
              </a:pPr>
              <a:t>14</a:t>
            </a:fld>
            <a:endParaRPr lang="en-US" altLang="en-US" sz="1200">
              <a:solidFill>
                <a:srgbClr val="898989"/>
              </a:solidFill>
              <a:latin typeface="Arial" panose="020B0604020202020204" pitchFamily="34" charset="0"/>
            </a:endParaRPr>
          </a:p>
        </p:txBody>
      </p:sp>
      <p:sp>
        <p:nvSpPr>
          <p:cNvPr id="28676" name="Rectangle 2"/>
          <p:cNvSpPr>
            <a:spLocks noGrp="1"/>
          </p:cNvSpPr>
          <p:nvPr>
            <p:ph type="title" idx="4294967295"/>
          </p:nvPr>
        </p:nvSpPr>
        <p:spPr>
          <a:xfrm>
            <a:off x="0" y="274638"/>
            <a:ext cx="8229600" cy="1143000"/>
          </a:xfrm>
        </p:spPr>
        <p:txBody>
          <a:bodyPr/>
          <a:lstStyle/>
          <a:p>
            <a:pPr eaLnBrk="1" hangingPunct="1"/>
            <a:r>
              <a:rPr lang="en-US" altLang="en-GB" sz="3800" smtClean="0"/>
              <a:t>Example contd.</a:t>
            </a:r>
          </a:p>
        </p:txBody>
      </p:sp>
      <p:sp>
        <p:nvSpPr>
          <p:cNvPr id="28677" name="Rectangle 3"/>
          <p:cNvSpPr>
            <a:spLocks noGrp="1"/>
          </p:cNvSpPr>
          <p:nvPr>
            <p:ph type="body" idx="4294967295"/>
          </p:nvPr>
        </p:nvSpPr>
        <p:spPr>
          <a:xfrm>
            <a:off x="0" y="1481138"/>
            <a:ext cx="8229600" cy="4525962"/>
          </a:xfrm>
        </p:spPr>
        <p:txBody>
          <a:bodyPr/>
          <a:lstStyle/>
          <a:p>
            <a:pPr eaLnBrk="1" hangingPunct="1">
              <a:lnSpc>
                <a:spcPct val="80000"/>
              </a:lnSpc>
            </a:pPr>
            <a:r>
              <a:rPr lang="en-US" altLang="en-GB" sz="2100" smtClean="0"/>
              <a:t>To get to q</a:t>
            </a:r>
            <a:r>
              <a:rPr lang="en-US" altLang="en-GB" sz="2100" baseline="-25000" smtClean="0"/>
              <a:t>3</a:t>
            </a:r>
            <a:r>
              <a:rPr lang="en-US" altLang="en-GB" sz="2100" smtClean="0"/>
              <a:t>, we must have come from q</a:t>
            </a:r>
            <a:r>
              <a:rPr lang="en-US" altLang="en-GB" sz="1900" baseline="-25000" smtClean="0"/>
              <a:t>2</a:t>
            </a:r>
            <a:r>
              <a:rPr lang="en-US" altLang="en-GB" sz="2100" smtClean="0"/>
              <a:t> and have just read a b. To get to q</a:t>
            </a:r>
            <a:r>
              <a:rPr lang="en-US" altLang="en-GB" sz="2100" baseline="-25000" smtClean="0"/>
              <a:t>2</a:t>
            </a:r>
            <a:r>
              <a:rPr lang="en-US" altLang="en-GB" sz="2100" smtClean="0"/>
              <a:t>, we must have read at least two a’s in a row.</a:t>
            </a:r>
          </a:p>
          <a:p>
            <a:pPr eaLnBrk="1" hangingPunct="1">
              <a:lnSpc>
                <a:spcPct val="80000"/>
              </a:lnSpc>
            </a:pPr>
            <a:endParaRPr lang="en-US" altLang="en-GB" sz="2100" smtClean="0"/>
          </a:p>
          <a:p>
            <a:pPr eaLnBrk="1" hangingPunct="1">
              <a:lnSpc>
                <a:spcPct val="80000"/>
              </a:lnSpc>
            </a:pPr>
            <a:r>
              <a:rPr lang="en-US" altLang="en-GB" sz="2100" smtClean="0"/>
              <a:t>After finding the subtring </a:t>
            </a:r>
            <a:r>
              <a:rPr lang="en-US" altLang="en-GB" sz="2100" i="1" smtClean="0"/>
              <a:t>aab</a:t>
            </a:r>
            <a:r>
              <a:rPr lang="en-US" altLang="en-GB" sz="2100" smtClean="0"/>
              <a:t> and tallying a 1 for it, the machine looks for the next </a:t>
            </a:r>
            <a:r>
              <a:rPr lang="en-US" altLang="en-GB" sz="2100" i="1" smtClean="0"/>
              <a:t>aab</a:t>
            </a:r>
            <a:r>
              <a:rPr lang="en-US" altLang="en-GB" sz="2100" smtClean="0"/>
              <a:t>. Hence, the number of 1’s in the output string is exactly the number of substrings </a:t>
            </a:r>
            <a:r>
              <a:rPr lang="en-US" altLang="en-GB" sz="2100" i="1" smtClean="0"/>
              <a:t>aab</a:t>
            </a:r>
            <a:r>
              <a:rPr lang="en-US" altLang="en-GB" sz="2100" smtClean="0"/>
              <a:t> in the input string.</a:t>
            </a:r>
          </a:p>
          <a:p>
            <a:pPr eaLnBrk="1" hangingPunct="1">
              <a:lnSpc>
                <a:spcPct val="80000"/>
              </a:lnSpc>
            </a:pPr>
            <a:endParaRPr lang="en-US" altLang="en-GB" sz="2100" smtClean="0"/>
          </a:p>
          <a:p>
            <a:pPr eaLnBrk="1" hangingPunct="1">
              <a:lnSpc>
                <a:spcPct val="80000"/>
              </a:lnSpc>
            </a:pPr>
            <a:r>
              <a:rPr lang="en-US" altLang="en-GB" sz="2100" smtClean="0"/>
              <a:t>Consider an FA that accepts a language L:</a:t>
            </a:r>
          </a:p>
          <a:p>
            <a:pPr lvl="2" algn="just" eaLnBrk="1" hangingPunct="1">
              <a:lnSpc>
                <a:spcPct val="80000"/>
              </a:lnSpc>
              <a:buFont typeface="Wingdings" panose="05000000000000000000" pitchFamily="2" charset="2"/>
              <a:buNone/>
            </a:pPr>
            <a:r>
              <a:rPr lang="en-US" altLang="en-GB" sz="1800" b="1" smtClean="0"/>
              <a:t>– </a:t>
            </a:r>
            <a:r>
              <a:rPr lang="en-US" altLang="en-GB" sz="1800" smtClean="0"/>
              <a:t>If we add printing character 0 to any non-final state and 1 to each final state, then the 1’s in any output string mark the end position of all substrings that are words in L.</a:t>
            </a:r>
          </a:p>
          <a:p>
            <a:pPr lvl="2" algn="just" eaLnBrk="1" hangingPunct="1">
              <a:lnSpc>
                <a:spcPct val="80000"/>
              </a:lnSpc>
              <a:buFont typeface="Wingdings" panose="05000000000000000000" pitchFamily="2" charset="2"/>
              <a:buNone/>
            </a:pPr>
            <a:r>
              <a:rPr lang="en-US" altLang="en-GB" sz="1800" b="1" smtClean="0"/>
              <a:t>– </a:t>
            </a:r>
            <a:r>
              <a:rPr lang="en-US" altLang="en-GB" sz="1800" smtClean="0"/>
              <a:t>In a similar way, a Moore machine can be said to </a:t>
            </a:r>
            <a:r>
              <a:rPr lang="en-US" altLang="en-GB" sz="1800" i="1" smtClean="0"/>
              <a:t>define </a:t>
            </a:r>
            <a:r>
              <a:rPr lang="en-US" altLang="en-GB" sz="1800" smtClean="0"/>
              <a:t>the      </a:t>
            </a:r>
          </a:p>
          <a:p>
            <a:pPr lvl="2" algn="just" eaLnBrk="1" hangingPunct="1">
              <a:lnSpc>
                <a:spcPct val="80000"/>
              </a:lnSpc>
              <a:buFont typeface="Wingdings" panose="05000000000000000000" pitchFamily="2" charset="2"/>
              <a:buNone/>
            </a:pPr>
            <a:r>
              <a:rPr lang="en-US" altLang="en-GB" sz="1800" smtClean="0"/>
              <a:t>   language of all input strings whose output ends with a 1.</a:t>
            </a:r>
          </a:p>
          <a:p>
            <a:pPr lvl="2" algn="just" eaLnBrk="1" hangingPunct="1">
              <a:lnSpc>
                <a:spcPct val="80000"/>
              </a:lnSpc>
              <a:buFont typeface="Wingdings" panose="05000000000000000000" pitchFamily="2" charset="2"/>
              <a:buNone/>
            </a:pPr>
            <a:r>
              <a:rPr lang="en-US" altLang="en-GB" sz="1800" b="1" smtClean="0"/>
              <a:t>– </a:t>
            </a:r>
            <a:r>
              <a:rPr lang="en-US" altLang="en-GB" sz="1800" smtClean="0"/>
              <a:t>The Moore machine above with q0 = - and q3 = + accepts all</a:t>
            </a:r>
          </a:p>
          <a:p>
            <a:pPr lvl="2" algn="just" eaLnBrk="1" hangingPunct="1">
              <a:lnSpc>
                <a:spcPct val="80000"/>
              </a:lnSpc>
              <a:buFont typeface="Wingdings" panose="05000000000000000000" pitchFamily="2" charset="2"/>
              <a:buNone/>
            </a:pPr>
            <a:r>
              <a:rPr lang="en-US" altLang="en-GB" sz="1800" smtClean="0"/>
              <a:t>    words that end with aab.</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072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7266FAD-FFE1-459C-A38E-491EDD0CCB2B}" type="slidenum">
              <a:rPr lang="en-US" altLang="en-US" sz="1200">
                <a:solidFill>
                  <a:srgbClr val="898989"/>
                </a:solidFill>
                <a:latin typeface="Arial" panose="020B0604020202020204" pitchFamily="34" charset="0"/>
              </a:rPr>
              <a:pPr>
                <a:spcBef>
                  <a:spcPct val="0"/>
                </a:spcBef>
                <a:buFontTx/>
                <a:buNone/>
              </a:pPr>
              <a:t>15</a:t>
            </a:fld>
            <a:endParaRPr lang="en-US" altLang="en-US" sz="1200">
              <a:solidFill>
                <a:srgbClr val="898989"/>
              </a:solidFill>
              <a:latin typeface="Arial" panose="020B0604020202020204" pitchFamily="34" charset="0"/>
            </a:endParaRPr>
          </a:p>
        </p:txBody>
      </p:sp>
      <p:sp>
        <p:nvSpPr>
          <p:cNvPr id="30724" name="Rectangle 2"/>
          <p:cNvSpPr>
            <a:spLocks noGrp="1"/>
          </p:cNvSpPr>
          <p:nvPr>
            <p:ph type="title" idx="4294967295"/>
          </p:nvPr>
        </p:nvSpPr>
        <p:spPr>
          <a:xfrm>
            <a:off x="0" y="274638"/>
            <a:ext cx="8229600" cy="1143000"/>
          </a:xfrm>
        </p:spPr>
        <p:txBody>
          <a:bodyPr/>
          <a:lstStyle/>
          <a:p>
            <a:pPr eaLnBrk="1" hangingPunct="1"/>
            <a:r>
              <a:rPr lang="en-US" altLang="en-GB" sz="3800" smtClean="0"/>
              <a:t>Melay machine Definition</a:t>
            </a:r>
          </a:p>
        </p:txBody>
      </p:sp>
      <p:sp>
        <p:nvSpPr>
          <p:cNvPr id="30725" name="Rectangle 3"/>
          <p:cNvSpPr>
            <a:spLocks noGrp="1"/>
          </p:cNvSpPr>
          <p:nvPr>
            <p:ph type="body" idx="4294967295"/>
          </p:nvPr>
        </p:nvSpPr>
        <p:spPr>
          <a:xfrm>
            <a:off x="0" y="1481138"/>
            <a:ext cx="8229600" cy="4525962"/>
          </a:xfrm>
        </p:spPr>
        <p:txBody>
          <a:bodyPr/>
          <a:lstStyle/>
          <a:p>
            <a:pPr algn="just" eaLnBrk="1" hangingPunct="1">
              <a:lnSpc>
                <a:spcPct val="80000"/>
              </a:lnSpc>
              <a:buFont typeface="Wingdings" panose="05000000000000000000" pitchFamily="2" charset="2"/>
              <a:buNone/>
            </a:pPr>
            <a:r>
              <a:rPr lang="en-US" altLang="en-GB" sz="1900" smtClean="0"/>
              <a:t>A </a:t>
            </a:r>
            <a:r>
              <a:rPr lang="en-US" altLang="en-GB" sz="1900" b="1" smtClean="0"/>
              <a:t>Mealy machine </a:t>
            </a:r>
            <a:r>
              <a:rPr lang="en-US" altLang="en-GB" sz="1900" smtClean="0"/>
              <a:t>is a collection of four things:</a:t>
            </a:r>
          </a:p>
          <a:p>
            <a:pPr algn="just" eaLnBrk="1" hangingPunct="1">
              <a:lnSpc>
                <a:spcPct val="80000"/>
              </a:lnSpc>
              <a:buFont typeface="Wingdings" panose="05000000000000000000" pitchFamily="2" charset="2"/>
              <a:buNone/>
            </a:pPr>
            <a:r>
              <a:rPr lang="en-US" altLang="en-GB" sz="1900" b="1" smtClean="0"/>
              <a:t>1. </a:t>
            </a:r>
            <a:r>
              <a:rPr lang="en-US" altLang="en-GB" sz="1900" smtClean="0"/>
              <a:t>A finite set of states q</a:t>
            </a:r>
            <a:r>
              <a:rPr lang="en-US" altLang="en-GB" sz="1900" baseline="-25000" smtClean="0"/>
              <a:t>0</a:t>
            </a:r>
            <a:r>
              <a:rPr lang="en-US" altLang="en-GB" sz="1900" smtClean="0"/>
              <a:t>, q</a:t>
            </a:r>
            <a:r>
              <a:rPr lang="en-US" altLang="en-GB" sz="1900" baseline="-25000" smtClean="0"/>
              <a:t>1</a:t>
            </a:r>
            <a:r>
              <a:rPr lang="en-US" altLang="en-GB" sz="1900" smtClean="0"/>
              <a:t>, q</a:t>
            </a:r>
            <a:r>
              <a:rPr lang="en-US" altLang="en-GB" sz="1900" baseline="-25000" smtClean="0"/>
              <a:t>2</a:t>
            </a:r>
            <a:r>
              <a:rPr lang="en-US" altLang="en-GB" sz="1900" smtClean="0"/>
              <a:t>, ..., where q</a:t>
            </a:r>
            <a:r>
              <a:rPr lang="en-US" altLang="en-GB" sz="1900" baseline="-25000" smtClean="0"/>
              <a:t>0</a:t>
            </a:r>
            <a:r>
              <a:rPr lang="en-US" altLang="en-GB" sz="1900" smtClean="0"/>
              <a:t> is designated as the start state.</a:t>
            </a:r>
          </a:p>
          <a:p>
            <a:pPr algn="just" eaLnBrk="1" hangingPunct="1">
              <a:lnSpc>
                <a:spcPct val="80000"/>
              </a:lnSpc>
              <a:buFont typeface="Wingdings" panose="05000000000000000000" pitchFamily="2" charset="2"/>
              <a:buNone/>
            </a:pPr>
            <a:r>
              <a:rPr lang="en-US" altLang="en-GB" sz="1900" b="1" smtClean="0"/>
              <a:t>2. </a:t>
            </a:r>
            <a:r>
              <a:rPr lang="en-US" altLang="en-GB" sz="1900" smtClean="0"/>
              <a:t>An alphabet of letters for forming the input string </a:t>
            </a:r>
            <a:r>
              <a:rPr lang="en-US" altLang="en-GB" sz="1900" smtClean="0">
                <a:cs typeface="Arial" panose="020B0604020202020204" pitchFamily="34" charset="0"/>
              </a:rPr>
              <a:t>∑</a:t>
            </a:r>
            <a:r>
              <a:rPr lang="en-US" altLang="en-GB" sz="1900" smtClean="0"/>
              <a:t> = {a, b, …}.</a:t>
            </a:r>
          </a:p>
          <a:p>
            <a:pPr algn="just" eaLnBrk="1" hangingPunct="1">
              <a:lnSpc>
                <a:spcPct val="80000"/>
              </a:lnSpc>
              <a:buFont typeface="Wingdings" panose="05000000000000000000" pitchFamily="2" charset="2"/>
              <a:buNone/>
            </a:pPr>
            <a:r>
              <a:rPr lang="en-US" altLang="en-GB" sz="1900" b="1" smtClean="0"/>
              <a:t>3. </a:t>
            </a:r>
            <a:r>
              <a:rPr lang="en-US" altLang="en-GB" sz="1900" smtClean="0"/>
              <a:t>An alphabet of possible output characters </a:t>
            </a:r>
            <a:r>
              <a:rPr lang="el-GR" altLang="en-GB" sz="1900" smtClean="0">
                <a:cs typeface="Arial" panose="020B0604020202020204" pitchFamily="34" charset="0"/>
              </a:rPr>
              <a:t>Γ</a:t>
            </a:r>
            <a:r>
              <a:rPr lang="en-US" altLang="en-GB" sz="1900" smtClean="0"/>
              <a:t> = {0, 1, …}.</a:t>
            </a:r>
          </a:p>
          <a:p>
            <a:pPr algn="just" eaLnBrk="1" hangingPunct="1">
              <a:lnSpc>
                <a:spcPct val="80000"/>
              </a:lnSpc>
              <a:buFont typeface="Wingdings" panose="05000000000000000000" pitchFamily="2" charset="2"/>
              <a:buNone/>
            </a:pPr>
            <a:r>
              <a:rPr lang="en-US" altLang="en-GB" sz="1900" b="1" smtClean="0"/>
              <a:t>4. </a:t>
            </a:r>
            <a:r>
              <a:rPr lang="en-US" altLang="en-GB" sz="1900" smtClean="0"/>
              <a:t>A pictorial representation with states represented by small circles and directed edges indicating transition between states.</a:t>
            </a:r>
          </a:p>
          <a:p>
            <a:pPr algn="just" eaLnBrk="1" hangingPunct="1">
              <a:lnSpc>
                <a:spcPct val="80000"/>
              </a:lnSpc>
              <a:buFont typeface="Wingdings" panose="05000000000000000000" pitchFamily="2" charset="2"/>
              <a:buNone/>
            </a:pPr>
            <a:endParaRPr lang="en-US" altLang="en-GB" sz="1900" smtClean="0"/>
          </a:p>
          <a:p>
            <a:pPr lvl="1" algn="just" eaLnBrk="1" hangingPunct="1">
              <a:lnSpc>
                <a:spcPct val="80000"/>
              </a:lnSpc>
            </a:pPr>
            <a:r>
              <a:rPr lang="en-US" altLang="en-GB" sz="1700" smtClean="0"/>
              <a:t>Each edge is labeled with a compound symbol of the form </a:t>
            </a:r>
            <a:r>
              <a:rPr lang="en-US" altLang="en-GB" sz="2000" b="1" i="1" smtClean="0">
                <a:solidFill>
                  <a:srgbClr val="FF3300"/>
                </a:solidFill>
              </a:rPr>
              <a:t>i/o</a:t>
            </a:r>
            <a:r>
              <a:rPr lang="en-US" altLang="en-GB" sz="1700" smtClean="0"/>
              <a:t> where </a:t>
            </a:r>
            <a:r>
              <a:rPr lang="en-US" altLang="en-GB" sz="1700" i="1" smtClean="0"/>
              <a:t>i</a:t>
            </a:r>
            <a:r>
              <a:rPr lang="en-US" altLang="en-GB" sz="1700" smtClean="0"/>
              <a:t> is  an input letter and </a:t>
            </a:r>
            <a:r>
              <a:rPr lang="en-US" altLang="en-GB" sz="1700" i="1" smtClean="0"/>
              <a:t>o</a:t>
            </a:r>
            <a:r>
              <a:rPr lang="en-US" altLang="en-GB" sz="1700" smtClean="0"/>
              <a:t> is an output character.</a:t>
            </a:r>
          </a:p>
          <a:p>
            <a:pPr lvl="1" algn="just" eaLnBrk="1" hangingPunct="1">
              <a:lnSpc>
                <a:spcPct val="80000"/>
              </a:lnSpc>
            </a:pPr>
            <a:endParaRPr lang="en-US" altLang="en-GB" sz="1700" smtClean="0"/>
          </a:p>
          <a:p>
            <a:pPr lvl="1" algn="just" eaLnBrk="1" hangingPunct="1">
              <a:lnSpc>
                <a:spcPct val="80000"/>
              </a:lnSpc>
            </a:pPr>
            <a:r>
              <a:rPr lang="en-US" altLang="en-GB" sz="1700" smtClean="0"/>
              <a:t>Every state must have exactly one outgoing edge for each possible input letter.</a:t>
            </a:r>
          </a:p>
          <a:p>
            <a:pPr lvl="1" algn="just" eaLnBrk="1" hangingPunct="1">
              <a:lnSpc>
                <a:spcPct val="80000"/>
              </a:lnSpc>
            </a:pPr>
            <a:endParaRPr lang="en-US" altLang="en-GB" sz="1700" smtClean="0"/>
          </a:p>
          <a:p>
            <a:pPr lvl="1" algn="just" eaLnBrk="1" hangingPunct="1">
              <a:lnSpc>
                <a:spcPct val="80000"/>
              </a:lnSpc>
            </a:pPr>
            <a:r>
              <a:rPr lang="en-US" altLang="en-GB" sz="1700" smtClean="0"/>
              <a:t>The edge we travel is determined by the input letter </a:t>
            </a:r>
            <a:r>
              <a:rPr lang="en-US" altLang="en-GB" sz="1700" i="1" smtClean="0"/>
              <a:t>i</a:t>
            </a:r>
            <a:r>
              <a:rPr lang="en-US" altLang="en-GB" sz="1700" smtClean="0"/>
              <a:t>. While traveling on the edge, we must print the output character </a:t>
            </a:r>
            <a:r>
              <a:rPr lang="en-US" altLang="en-GB" sz="1700" i="1" smtClean="0"/>
              <a:t>o</a:t>
            </a:r>
            <a:r>
              <a:rPr lang="en-US" altLang="en-GB" sz="1700" smtClean="0"/>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277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25FBBF4-7E7F-4D7B-BC09-FDBE314C9DD8}" type="slidenum">
              <a:rPr lang="en-US" altLang="en-US" sz="1200">
                <a:solidFill>
                  <a:srgbClr val="898989"/>
                </a:solidFill>
                <a:latin typeface="Arial" panose="020B0604020202020204" pitchFamily="34" charset="0"/>
              </a:rPr>
              <a:pPr>
                <a:spcBef>
                  <a:spcPct val="0"/>
                </a:spcBef>
                <a:buFontTx/>
                <a:buNone/>
              </a:pPr>
              <a:t>16</a:t>
            </a:fld>
            <a:endParaRPr lang="en-US" altLang="en-US" sz="1200">
              <a:solidFill>
                <a:srgbClr val="898989"/>
              </a:solidFill>
              <a:latin typeface="Arial" panose="020B0604020202020204" pitchFamily="34" charset="0"/>
            </a:endParaRPr>
          </a:p>
        </p:txBody>
      </p:sp>
      <p:sp>
        <p:nvSpPr>
          <p:cNvPr id="32772"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32773" name="Rectangle 3"/>
          <p:cNvSpPr>
            <a:spLocks noGrp="1"/>
          </p:cNvSpPr>
          <p:nvPr>
            <p:ph type="body" idx="4294967295"/>
          </p:nvPr>
        </p:nvSpPr>
        <p:spPr>
          <a:xfrm>
            <a:off x="0" y="3859213"/>
            <a:ext cx="8229600" cy="1362075"/>
          </a:xfrm>
        </p:spPr>
        <p:txBody>
          <a:bodyPr>
            <a:spAutoFit/>
          </a:bodyPr>
          <a:lstStyle/>
          <a:p>
            <a:pPr algn="just" eaLnBrk="1" hangingPunct="1"/>
            <a:r>
              <a:rPr lang="en-US" altLang="en-GB" sz="2600" smtClean="0"/>
              <a:t>Given the input string </a:t>
            </a:r>
            <a:r>
              <a:rPr lang="en-US" altLang="en-GB" sz="2600" i="1" smtClean="0"/>
              <a:t>aaabb</a:t>
            </a:r>
            <a:r>
              <a:rPr lang="en-US" altLang="en-GB" sz="2600" smtClean="0"/>
              <a:t>, the output is 01110.</a:t>
            </a:r>
          </a:p>
          <a:p>
            <a:pPr algn="just" eaLnBrk="1" hangingPunct="1"/>
            <a:r>
              <a:rPr lang="en-US" altLang="en-GB" sz="2600" smtClean="0"/>
              <a:t>In a Mealy machine the output string has the same number of characters as the input string has letters.</a:t>
            </a:r>
          </a:p>
        </p:txBody>
      </p:sp>
      <p:pic>
        <p:nvPicPr>
          <p:cNvPr id="3277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914400"/>
            <a:ext cx="4476750" cy="290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481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93A489F-69E1-4B9B-882B-CA90D4D1972A}" type="slidenum">
              <a:rPr lang="en-US" altLang="en-US" sz="1200">
                <a:solidFill>
                  <a:srgbClr val="898989"/>
                </a:solidFill>
                <a:latin typeface="Arial" panose="020B0604020202020204" pitchFamily="34" charset="0"/>
              </a:rPr>
              <a:pPr>
                <a:spcBef>
                  <a:spcPct val="0"/>
                </a:spcBef>
                <a:buFontTx/>
                <a:buNone/>
              </a:pPr>
              <a:t>17</a:t>
            </a:fld>
            <a:endParaRPr lang="en-US" altLang="en-US" sz="1200">
              <a:solidFill>
                <a:srgbClr val="898989"/>
              </a:solidFill>
              <a:latin typeface="Arial" panose="020B0604020202020204" pitchFamily="34" charset="0"/>
            </a:endParaRPr>
          </a:p>
        </p:txBody>
      </p:sp>
      <p:sp>
        <p:nvSpPr>
          <p:cNvPr id="34820" name="Rectangle 3"/>
          <p:cNvSpPr>
            <a:spLocks noGrp="1"/>
          </p:cNvSpPr>
          <p:nvPr>
            <p:ph type="body" idx="4294967295"/>
          </p:nvPr>
        </p:nvSpPr>
        <p:spPr>
          <a:xfrm>
            <a:off x="0" y="1600200"/>
            <a:ext cx="8229600" cy="2973388"/>
          </a:xfrm>
        </p:spPr>
        <p:txBody>
          <a:bodyPr/>
          <a:lstStyle/>
          <a:p>
            <a:pPr algn="just" eaLnBrk="1" hangingPunct="1">
              <a:lnSpc>
                <a:spcPct val="90000"/>
              </a:lnSpc>
            </a:pPr>
            <a:r>
              <a:rPr lang="en-US" altLang="en-GB" sz="2600" smtClean="0"/>
              <a:t>A Mealy machine does not define a language by accepting and rejecting input strings: It has no final states.</a:t>
            </a:r>
          </a:p>
          <a:p>
            <a:pPr algn="just" eaLnBrk="1" hangingPunct="1">
              <a:lnSpc>
                <a:spcPct val="90000"/>
              </a:lnSpc>
            </a:pPr>
            <a:r>
              <a:rPr lang="en-US" altLang="en-GB" sz="2600" smtClean="0"/>
              <a:t>However, there is a sense in which a Mealy machine can recognize a language, as we will see later.</a:t>
            </a:r>
          </a:p>
          <a:p>
            <a:pPr algn="just" eaLnBrk="1" hangingPunct="1">
              <a:lnSpc>
                <a:spcPct val="90000"/>
              </a:lnSpc>
            </a:pPr>
            <a:r>
              <a:rPr lang="en-US" altLang="en-GB" sz="2600" smtClean="0"/>
              <a:t>Note the following notation simplification:</a:t>
            </a:r>
          </a:p>
        </p:txBody>
      </p:sp>
      <p:pic>
        <p:nvPicPr>
          <p:cNvPr id="3482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267200"/>
            <a:ext cx="723900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6867"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26A9C4B-81DB-4953-B193-FA6FC6D6B010}" type="slidenum">
              <a:rPr lang="en-US" altLang="en-US" sz="1200">
                <a:solidFill>
                  <a:srgbClr val="898989"/>
                </a:solidFill>
                <a:latin typeface="Arial" panose="020B0604020202020204" pitchFamily="34" charset="0"/>
              </a:rPr>
              <a:pPr>
                <a:spcBef>
                  <a:spcPct val="0"/>
                </a:spcBef>
                <a:buFontTx/>
                <a:buNone/>
              </a:pPr>
              <a:t>18</a:t>
            </a:fld>
            <a:endParaRPr lang="en-US" altLang="en-US" sz="1200">
              <a:solidFill>
                <a:srgbClr val="898989"/>
              </a:solidFill>
              <a:latin typeface="Arial" panose="020B0604020202020204" pitchFamily="34" charset="0"/>
            </a:endParaRPr>
          </a:p>
        </p:txBody>
      </p:sp>
      <p:sp>
        <p:nvSpPr>
          <p:cNvPr id="36868"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26629" name="Rectangle 3"/>
          <p:cNvSpPr>
            <a:spLocks noGrp="1" noChangeArrowheads="1"/>
          </p:cNvSpPr>
          <p:nvPr>
            <p:ph type="body" idx="4294967295"/>
          </p:nvPr>
        </p:nvSpPr>
        <p:spPr>
          <a:xfrm>
            <a:off x="0" y="1481138"/>
            <a:ext cx="8229600" cy="4525962"/>
          </a:xfrm>
        </p:spPr>
        <p:txBody>
          <a:bodyPr rtlCol="0">
            <a:normAutofit lnSpcReduction="10000"/>
          </a:bodyPr>
          <a:lstStyle/>
          <a:p>
            <a:pPr algn="just" eaLnBrk="1" fontAlgn="auto" hangingPunct="1">
              <a:lnSpc>
                <a:spcPct val="90000"/>
              </a:lnSpc>
              <a:spcAft>
                <a:spcPts val="0"/>
              </a:spcAft>
              <a:defRPr/>
            </a:pPr>
            <a:r>
              <a:rPr lang="en-US" sz="2600"/>
              <a:t>The following Mealy machine prints out the 1’s complement of an input bit string.</a:t>
            </a:r>
          </a:p>
          <a:p>
            <a:pPr algn="just" eaLnBrk="1" fontAlgn="auto" hangingPunct="1">
              <a:lnSpc>
                <a:spcPct val="90000"/>
              </a:lnSpc>
              <a:spcAft>
                <a:spcPts val="0"/>
              </a:spcAft>
              <a:defRPr/>
            </a:pPr>
            <a:r>
              <a:rPr lang="en-US" sz="2600"/>
              <a:t>This means that it will produce a bit string that has a 1 whenever the input string has a 0, and a 0 whenever the input has a 1.</a:t>
            </a:r>
          </a:p>
          <a:p>
            <a:pPr algn="just" eaLnBrk="1" fontAlgn="auto" hangingPunct="1">
              <a:lnSpc>
                <a:spcPct val="90000"/>
              </a:lnSpc>
              <a:spcAft>
                <a:spcPts val="0"/>
              </a:spcAft>
              <a:defRPr/>
            </a:pPr>
            <a:endParaRPr lang="en-US" sz="2600"/>
          </a:p>
          <a:p>
            <a:pPr algn="just" eaLnBrk="1" fontAlgn="auto" hangingPunct="1">
              <a:lnSpc>
                <a:spcPct val="90000"/>
              </a:lnSpc>
              <a:spcAft>
                <a:spcPts val="0"/>
              </a:spcAft>
              <a:defRPr/>
            </a:pPr>
            <a:endParaRPr lang="en-US" sz="2600"/>
          </a:p>
          <a:p>
            <a:pPr algn="just" eaLnBrk="1" fontAlgn="auto" hangingPunct="1">
              <a:lnSpc>
                <a:spcPct val="90000"/>
              </a:lnSpc>
              <a:spcAft>
                <a:spcPts val="0"/>
              </a:spcAft>
              <a:defRPr/>
            </a:pPr>
            <a:endParaRPr lang="en-US" sz="2600"/>
          </a:p>
          <a:p>
            <a:pPr algn="just" eaLnBrk="1" fontAlgn="auto" hangingPunct="1">
              <a:lnSpc>
                <a:spcPct val="90000"/>
              </a:lnSpc>
              <a:spcAft>
                <a:spcPts val="0"/>
              </a:spcAft>
              <a:defRPr/>
            </a:pPr>
            <a:endParaRPr lang="en-US" sz="2600"/>
          </a:p>
          <a:p>
            <a:pPr algn="just" eaLnBrk="1" fontAlgn="auto" hangingPunct="1">
              <a:lnSpc>
                <a:spcPct val="90000"/>
              </a:lnSpc>
              <a:spcAft>
                <a:spcPts val="0"/>
              </a:spcAft>
              <a:defRPr/>
            </a:pPr>
            <a:endParaRPr lang="en-US" sz="2600"/>
          </a:p>
          <a:p>
            <a:pPr algn="just" eaLnBrk="1" fontAlgn="auto" hangingPunct="1">
              <a:lnSpc>
                <a:spcPct val="90000"/>
              </a:lnSpc>
              <a:spcAft>
                <a:spcPts val="0"/>
              </a:spcAft>
              <a:defRPr/>
            </a:pPr>
            <a:r>
              <a:rPr lang="en-US" sz="2600"/>
              <a:t>If the input string is 001010, the output will be 110101</a:t>
            </a:r>
          </a:p>
        </p:txBody>
      </p:sp>
      <p:pic>
        <p:nvPicPr>
          <p:cNvPr id="368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3660775"/>
            <a:ext cx="3581400" cy="152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3891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5F4CBE5-6252-4EBC-A49D-7DA575A7B00D}" type="slidenum">
              <a:rPr lang="en-US" altLang="en-US" sz="1200">
                <a:solidFill>
                  <a:srgbClr val="898989"/>
                </a:solidFill>
                <a:latin typeface="Arial" panose="020B0604020202020204" pitchFamily="34" charset="0"/>
              </a:rPr>
              <a:pPr>
                <a:spcBef>
                  <a:spcPct val="0"/>
                </a:spcBef>
                <a:buFontTx/>
                <a:buNone/>
              </a:pPr>
              <a:t>19</a:t>
            </a:fld>
            <a:endParaRPr lang="en-US" altLang="en-US" sz="1200">
              <a:solidFill>
                <a:srgbClr val="898989"/>
              </a:solidFill>
              <a:latin typeface="Arial" panose="020B0604020202020204" pitchFamily="34" charset="0"/>
            </a:endParaRPr>
          </a:p>
        </p:txBody>
      </p:sp>
      <p:sp>
        <p:nvSpPr>
          <p:cNvPr id="38916"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38917"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Let consider a Mealy machine, called </a:t>
            </a:r>
            <a:r>
              <a:rPr lang="en-US" altLang="en-GB" sz="2200" b="1" smtClean="0"/>
              <a:t>increment machine</a:t>
            </a:r>
            <a:r>
              <a:rPr lang="en-US" altLang="en-GB" sz="2200" smtClean="0"/>
              <a:t>, which reads a binary number and prints out the binary number that is </a:t>
            </a:r>
            <a:r>
              <a:rPr lang="en-US" altLang="en-GB" sz="2200" b="1" smtClean="0"/>
              <a:t>one larger</a:t>
            </a:r>
            <a:r>
              <a:rPr lang="en-US" altLang="en-GB" sz="2200" smtClean="0"/>
              <a:t>.</a:t>
            </a:r>
          </a:p>
          <a:p>
            <a:pPr algn="just" eaLnBrk="1" hangingPunct="1">
              <a:lnSpc>
                <a:spcPct val="80000"/>
              </a:lnSpc>
            </a:pPr>
            <a:endParaRPr lang="en-US" altLang="en-GB" sz="2200" smtClean="0"/>
          </a:p>
          <a:p>
            <a:pPr algn="just" eaLnBrk="1" hangingPunct="1">
              <a:lnSpc>
                <a:spcPct val="80000"/>
              </a:lnSpc>
            </a:pPr>
            <a:r>
              <a:rPr lang="en-US" altLang="en-GB" sz="2200" smtClean="0"/>
              <a:t>Assume that the input bit string is a binary number fed in backward; that is, unit digit first, then 2’s digit, 4’s digit, etc.</a:t>
            </a:r>
          </a:p>
          <a:p>
            <a:pPr algn="just" eaLnBrk="1" hangingPunct="1">
              <a:lnSpc>
                <a:spcPct val="80000"/>
              </a:lnSpc>
            </a:pPr>
            <a:endParaRPr lang="en-US" altLang="en-GB" sz="2200" smtClean="0"/>
          </a:p>
          <a:p>
            <a:pPr algn="just" eaLnBrk="1" hangingPunct="1">
              <a:lnSpc>
                <a:spcPct val="80000"/>
              </a:lnSpc>
            </a:pPr>
            <a:r>
              <a:rPr lang="en-US" altLang="en-GB" sz="2200" smtClean="0"/>
              <a:t>The output string will be the binary number that is one greater and that is </a:t>
            </a:r>
            <a:r>
              <a:rPr lang="en-US" altLang="en-GB" sz="2200" b="1" smtClean="0"/>
              <a:t>generated right to left</a:t>
            </a:r>
            <a:r>
              <a:rPr lang="en-US" altLang="en-GB" sz="2200" smtClean="0"/>
              <a:t>.</a:t>
            </a:r>
          </a:p>
          <a:p>
            <a:pPr algn="just" eaLnBrk="1" hangingPunct="1">
              <a:lnSpc>
                <a:spcPct val="80000"/>
              </a:lnSpc>
            </a:pPr>
            <a:endParaRPr lang="en-US" altLang="en-GB" sz="2200" smtClean="0"/>
          </a:p>
          <a:p>
            <a:pPr algn="just" eaLnBrk="1" hangingPunct="1">
              <a:lnSpc>
                <a:spcPct val="80000"/>
              </a:lnSpc>
            </a:pPr>
            <a:r>
              <a:rPr lang="en-US" altLang="en-GB" sz="2200" smtClean="0"/>
              <a:t>The machine will have 3 states: start, owe-carry and no-carry. The owe-carry state represents the overflow when two bits of 1’s are added, we print a 0 and we carry a 1.</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096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6E3C0B5-8BA8-4196-A4D5-623CBA2366F9}" type="slidenum">
              <a:rPr lang="en-US" altLang="en-US" sz="1200">
                <a:solidFill>
                  <a:srgbClr val="898989"/>
                </a:solidFill>
                <a:latin typeface="Arial" panose="020B0604020202020204" pitchFamily="34" charset="0"/>
              </a:rPr>
              <a:pPr>
                <a:spcBef>
                  <a:spcPct val="0"/>
                </a:spcBef>
                <a:buFontTx/>
                <a:buNone/>
              </a:pPr>
              <a:t>20</a:t>
            </a:fld>
            <a:endParaRPr lang="en-US" altLang="en-US" sz="1200">
              <a:solidFill>
                <a:srgbClr val="898989"/>
              </a:solidFill>
              <a:latin typeface="Arial" panose="020B0604020202020204" pitchFamily="34" charset="0"/>
            </a:endParaRPr>
          </a:p>
        </p:txBody>
      </p:sp>
      <p:sp>
        <p:nvSpPr>
          <p:cNvPr id="40964" name="Rectangle 2"/>
          <p:cNvSpPr>
            <a:spLocks noGrp="1"/>
          </p:cNvSpPr>
          <p:nvPr>
            <p:ph type="title" idx="4294967295"/>
          </p:nvPr>
        </p:nvSpPr>
        <p:spPr>
          <a:xfrm>
            <a:off x="0" y="274638"/>
            <a:ext cx="8229600" cy="1143000"/>
          </a:xfrm>
        </p:spPr>
        <p:txBody>
          <a:bodyPr/>
          <a:lstStyle/>
          <a:p>
            <a:pPr eaLnBrk="1" hangingPunct="1"/>
            <a:r>
              <a:rPr lang="en-US" altLang="en-GB" sz="3800" smtClean="0"/>
              <a:t>Example contd.</a:t>
            </a:r>
          </a:p>
        </p:txBody>
      </p:sp>
      <p:sp>
        <p:nvSpPr>
          <p:cNvPr id="40965"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200" smtClean="0"/>
              <a:t>From the start state, if we read a 0, we print a 1 (incrementing process), and we go to the no-carry state. If we read a 1, we print a 0 (incrementing) and we go to the owe-carry state.</a:t>
            </a:r>
          </a:p>
          <a:p>
            <a:pPr algn="just" eaLnBrk="1" hangingPunct="1">
              <a:lnSpc>
                <a:spcPct val="90000"/>
              </a:lnSpc>
            </a:pPr>
            <a:endParaRPr lang="en-US" altLang="en-GB" sz="2200" smtClean="0"/>
          </a:p>
          <a:p>
            <a:pPr algn="just" eaLnBrk="1" hangingPunct="1">
              <a:lnSpc>
                <a:spcPct val="90000"/>
              </a:lnSpc>
            </a:pPr>
            <a:r>
              <a:rPr lang="en-US" altLang="en-GB" sz="2200" smtClean="0"/>
              <a:t>At any point in the process, in we are in the no-carry state, we print the next bit just as we read it and remains in no-carry.</a:t>
            </a:r>
          </a:p>
          <a:p>
            <a:pPr algn="just" eaLnBrk="1" hangingPunct="1">
              <a:lnSpc>
                <a:spcPct val="90000"/>
              </a:lnSpc>
            </a:pPr>
            <a:endParaRPr lang="en-US" altLang="en-GB" sz="2200" smtClean="0"/>
          </a:p>
          <a:p>
            <a:pPr algn="just" eaLnBrk="1" hangingPunct="1">
              <a:lnSpc>
                <a:spcPct val="90000"/>
              </a:lnSpc>
            </a:pPr>
            <a:r>
              <a:rPr lang="en-US" altLang="en-GB" sz="2200" smtClean="0"/>
              <a:t>However, if we are in the owe-carry state and read a 0, we print a 1 and go to no-carry. If we are in owe-carry and read a 1, we print a 0 and we loop back to owe-carry.</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301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FC74DB-0C48-4F4B-A188-61898B2464BB}" type="slidenum">
              <a:rPr lang="en-US" altLang="en-US" sz="1200">
                <a:solidFill>
                  <a:srgbClr val="898989"/>
                </a:solidFill>
                <a:latin typeface="Arial" panose="020B0604020202020204" pitchFamily="34" charset="0"/>
              </a:rPr>
              <a:pPr>
                <a:spcBef>
                  <a:spcPct val="0"/>
                </a:spcBef>
                <a:buFontTx/>
                <a:buNone/>
              </a:pPr>
              <a:t>21</a:t>
            </a:fld>
            <a:endParaRPr lang="en-US" altLang="en-US" sz="1200">
              <a:solidFill>
                <a:srgbClr val="898989"/>
              </a:solidFill>
              <a:latin typeface="Arial" panose="020B0604020202020204" pitchFamily="34" charset="0"/>
            </a:endParaRPr>
          </a:p>
        </p:txBody>
      </p:sp>
      <p:sp>
        <p:nvSpPr>
          <p:cNvPr id="43012" name="Rectangle 2"/>
          <p:cNvSpPr>
            <a:spLocks noGrp="1"/>
          </p:cNvSpPr>
          <p:nvPr>
            <p:ph type="title" idx="4294967295"/>
          </p:nvPr>
        </p:nvSpPr>
        <p:spPr>
          <a:xfrm>
            <a:off x="0" y="274638"/>
            <a:ext cx="8229600" cy="1143000"/>
          </a:xfrm>
        </p:spPr>
        <p:txBody>
          <a:bodyPr/>
          <a:lstStyle/>
          <a:p>
            <a:pPr eaLnBrk="1" hangingPunct="1"/>
            <a:r>
              <a:rPr lang="en-US" altLang="en-GB" sz="3800" smtClean="0"/>
              <a:t>Example contd.</a:t>
            </a:r>
          </a:p>
        </p:txBody>
      </p:sp>
      <p:sp>
        <p:nvSpPr>
          <p:cNvPr id="43013" name="Rectangle 3"/>
          <p:cNvSpPr>
            <a:spLocks noGrp="1"/>
          </p:cNvSpPr>
          <p:nvPr>
            <p:ph type="body" idx="4294967295"/>
          </p:nvPr>
        </p:nvSpPr>
        <p:spPr>
          <a:xfrm>
            <a:off x="0" y="3657600"/>
            <a:ext cx="8229600" cy="2265363"/>
          </a:xfrm>
        </p:spPr>
        <p:txBody>
          <a:bodyPr/>
          <a:lstStyle/>
          <a:p>
            <a:pPr algn="just" eaLnBrk="1" hangingPunct="1">
              <a:lnSpc>
                <a:spcPct val="80000"/>
              </a:lnSpc>
            </a:pPr>
            <a:r>
              <a:rPr lang="en-US" altLang="en-GB" sz="2100" smtClean="0"/>
              <a:t>Let the input string be 1011 (binary representation of 11).</a:t>
            </a:r>
          </a:p>
          <a:p>
            <a:pPr algn="just" eaLnBrk="1" hangingPunct="1">
              <a:lnSpc>
                <a:spcPct val="80000"/>
              </a:lnSpc>
            </a:pPr>
            <a:r>
              <a:rPr lang="en-US" altLang="en-GB" sz="2100" smtClean="0"/>
              <a:t>The string is fed into the machine as 1101 (backwards).</a:t>
            </a:r>
          </a:p>
          <a:p>
            <a:pPr algn="just" eaLnBrk="1" hangingPunct="1">
              <a:lnSpc>
                <a:spcPct val="80000"/>
              </a:lnSpc>
            </a:pPr>
            <a:r>
              <a:rPr lang="en-US" altLang="en-GB" sz="2100" smtClean="0"/>
              <a:t>The output will be 0011, which when reversed is 1100 and is the binary representation of 12.</a:t>
            </a:r>
          </a:p>
          <a:p>
            <a:pPr algn="just" eaLnBrk="1" hangingPunct="1">
              <a:lnSpc>
                <a:spcPct val="80000"/>
              </a:lnSpc>
            </a:pPr>
            <a:r>
              <a:rPr lang="en-US" altLang="en-GB" sz="2100" smtClean="0"/>
              <a:t>In Mealy machine, output length = input length. Hence, if input were 1111, then output would be 0000 (</a:t>
            </a:r>
            <a:r>
              <a:rPr lang="en-US" altLang="en-GB" sz="2100" b="1" smtClean="0"/>
              <a:t>overflow situation</a:t>
            </a:r>
            <a:r>
              <a:rPr lang="en-US" altLang="en-GB" sz="2100" smtClean="0"/>
              <a:t>).</a:t>
            </a:r>
          </a:p>
        </p:txBody>
      </p:sp>
      <p:pic>
        <p:nvPicPr>
          <p:cNvPr id="4301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914400"/>
            <a:ext cx="525780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505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E2842B5-A8D9-4EBD-97A0-2499A64F3B7F}" type="slidenum">
              <a:rPr lang="en-US" altLang="en-US" sz="1200">
                <a:solidFill>
                  <a:srgbClr val="898989"/>
                </a:solidFill>
                <a:latin typeface="Arial" panose="020B0604020202020204" pitchFamily="34" charset="0"/>
              </a:rPr>
              <a:pPr>
                <a:spcBef>
                  <a:spcPct val="0"/>
                </a:spcBef>
                <a:buFontTx/>
                <a:buNone/>
              </a:pPr>
              <a:t>22</a:t>
            </a:fld>
            <a:endParaRPr lang="en-US" altLang="en-US" sz="1200">
              <a:solidFill>
                <a:srgbClr val="898989"/>
              </a:solidFill>
              <a:latin typeface="Arial" panose="020B0604020202020204" pitchFamily="34" charset="0"/>
            </a:endParaRPr>
          </a:p>
        </p:txBody>
      </p:sp>
      <p:sp>
        <p:nvSpPr>
          <p:cNvPr id="45060"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45061" name="Rectangle 3"/>
          <p:cNvSpPr>
            <a:spLocks noGrp="1"/>
          </p:cNvSpPr>
          <p:nvPr>
            <p:ph type="body" idx="4294967295"/>
          </p:nvPr>
        </p:nvSpPr>
        <p:spPr>
          <a:xfrm>
            <a:off x="0" y="1481138"/>
            <a:ext cx="8229600" cy="4525962"/>
          </a:xfrm>
        </p:spPr>
        <p:txBody>
          <a:bodyPr/>
          <a:lstStyle/>
          <a:p>
            <a:pPr algn="just" eaLnBrk="1" hangingPunct="1">
              <a:lnSpc>
                <a:spcPct val="80000"/>
              </a:lnSpc>
            </a:pPr>
            <a:r>
              <a:rPr lang="en-US" altLang="en-GB" sz="2200" smtClean="0"/>
              <a:t>Although a Mealy machine does not accept or reject an input string, it can recognize a language by making its output string answer some question about the input.</a:t>
            </a:r>
          </a:p>
          <a:p>
            <a:pPr algn="just" eaLnBrk="1" hangingPunct="1">
              <a:lnSpc>
                <a:spcPct val="80000"/>
              </a:lnSpc>
            </a:pPr>
            <a:endParaRPr lang="en-US" altLang="en-GB" sz="2200" smtClean="0"/>
          </a:p>
          <a:p>
            <a:pPr algn="just" eaLnBrk="1" hangingPunct="1">
              <a:lnSpc>
                <a:spcPct val="80000"/>
              </a:lnSpc>
            </a:pPr>
            <a:r>
              <a:rPr lang="en-US" altLang="en-GB" sz="2200" smtClean="0"/>
              <a:t>Consider the language of all words that have a double letter (</a:t>
            </a:r>
            <a:r>
              <a:rPr lang="en-US" altLang="en-GB" sz="2200" i="1" smtClean="0"/>
              <a:t>aa</a:t>
            </a:r>
            <a:r>
              <a:rPr lang="en-US" altLang="en-GB" sz="2200" smtClean="0"/>
              <a:t> or </a:t>
            </a:r>
            <a:r>
              <a:rPr lang="en-US" altLang="en-GB" sz="2200" i="1" smtClean="0"/>
              <a:t>bb</a:t>
            </a:r>
            <a:r>
              <a:rPr lang="en-US" altLang="en-GB" sz="2200" smtClean="0"/>
              <a:t>) in them.</a:t>
            </a:r>
          </a:p>
          <a:p>
            <a:pPr algn="just" eaLnBrk="1" hangingPunct="1">
              <a:lnSpc>
                <a:spcPct val="80000"/>
              </a:lnSpc>
            </a:pPr>
            <a:endParaRPr lang="en-US" altLang="en-GB" sz="2200" smtClean="0"/>
          </a:p>
          <a:p>
            <a:pPr algn="just" eaLnBrk="1" hangingPunct="1">
              <a:lnSpc>
                <a:spcPct val="80000"/>
              </a:lnSpc>
            </a:pPr>
            <a:r>
              <a:rPr lang="en-US" altLang="en-GB" sz="2200" smtClean="0"/>
              <a:t>We can build a Mealy machine that can take an input string of a’s and b’s, and print out an output string of 0’s and 1’s such that </a:t>
            </a:r>
            <a:r>
              <a:rPr lang="en-US" altLang="en-GB" sz="2200" b="1" smtClean="0"/>
              <a:t>if the n-th output character is a 1, it means that the n-th input letter is the second letter in a pair of double letters</a:t>
            </a:r>
            <a:r>
              <a:rPr lang="en-US" altLang="en-GB" sz="2200" smtClean="0"/>
              <a:t>.</a:t>
            </a:r>
          </a:p>
          <a:p>
            <a:pPr algn="just" eaLnBrk="1" hangingPunct="1">
              <a:lnSpc>
                <a:spcPct val="80000"/>
              </a:lnSpc>
            </a:pPr>
            <a:endParaRPr lang="en-US" altLang="en-GB" sz="2200" smtClean="0"/>
          </a:p>
          <a:p>
            <a:pPr algn="just" eaLnBrk="1" hangingPunct="1">
              <a:lnSpc>
                <a:spcPct val="80000"/>
              </a:lnSpc>
            </a:pPr>
            <a:r>
              <a:rPr lang="en-US" altLang="en-GB" sz="2200" smtClean="0"/>
              <a:t>The complete picture of this machine is as follows: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7107"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5B3DCC8-8DF6-466E-973B-4F12196536CF}" type="slidenum">
              <a:rPr lang="en-US" altLang="en-US" sz="1200">
                <a:solidFill>
                  <a:srgbClr val="898989"/>
                </a:solidFill>
                <a:latin typeface="Arial" panose="020B0604020202020204" pitchFamily="34" charset="0"/>
              </a:rPr>
              <a:pPr>
                <a:spcBef>
                  <a:spcPct val="0"/>
                </a:spcBef>
                <a:buFontTx/>
                <a:buNone/>
              </a:pPr>
              <a:t>23</a:t>
            </a:fld>
            <a:endParaRPr lang="en-US" altLang="en-US" sz="1200">
              <a:solidFill>
                <a:srgbClr val="898989"/>
              </a:solidFill>
              <a:latin typeface="Arial" panose="020B0604020202020204" pitchFamily="34" charset="0"/>
            </a:endParaRPr>
          </a:p>
        </p:txBody>
      </p:sp>
      <p:sp>
        <p:nvSpPr>
          <p:cNvPr id="47108" name="Rectangle 2"/>
          <p:cNvSpPr>
            <a:spLocks noGrp="1"/>
          </p:cNvSpPr>
          <p:nvPr>
            <p:ph type="title" idx="4294967295"/>
          </p:nvPr>
        </p:nvSpPr>
        <p:spPr>
          <a:xfrm>
            <a:off x="0" y="274638"/>
            <a:ext cx="8229600" cy="1143000"/>
          </a:xfrm>
        </p:spPr>
        <p:txBody>
          <a:bodyPr/>
          <a:lstStyle/>
          <a:p>
            <a:pPr eaLnBrk="1" hangingPunct="1"/>
            <a:r>
              <a:rPr lang="en-US" altLang="en-GB" smtClean="0"/>
              <a:t> </a:t>
            </a:r>
          </a:p>
        </p:txBody>
      </p:sp>
      <p:sp>
        <p:nvSpPr>
          <p:cNvPr id="47109" name="Rectangle 3"/>
          <p:cNvSpPr>
            <a:spLocks noGrp="1"/>
          </p:cNvSpPr>
          <p:nvPr>
            <p:ph type="body" idx="4294967295"/>
          </p:nvPr>
        </p:nvSpPr>
        <p:spPr>
          <a:xfrm>
            <a:off x="0" y="4038600"/>
            <a:ext cx="8229600" cy="2286000"/>
          </a:xfrm>
        </p:spPr>
        <p:txBody>
          <a:bodyPr/>
          <a:lstStyle/>
          <a:p>
            <a:pPr algn="just" eaLnBrk="1" hangingPunct="1">
              <a:lnSpc>
                <a:spcPct val="90000"/>
              </a:lnSpc>
            </a:pPr>
            <a:r>
              <a:rPr lang="en-US" altLang="en-GB" sz="2100" smtClean="0"/>
              <a:t>If the input string is </a:t>
            </a:r>
            <a:r>
              <a:rPr lang="en-US" altLang="en-GB" sz="2100" i="1" smtClean="0"/>
              <a:t>ababbaab</a:t>
            </a:r>
            <a:r>
              <a:rPr lang="en-US" altLang="en-GB" sz="2100" smtClean="0"/>
              <a:t>, the output will be 00001010.</a:t>
            </a:r>
          </a:p>
          <a:p>
            <a:pPr algn="just" eaLnBrk="1" hangingPunct="1">
              <a:lnSpc>
                <a:spcPct val="90000"/>
              </a:lnSpc>
            </a:pPr>
            <a:r>
              <a:rPr lang="en-US" altLang="en-GB" sz="2100" smtClean="0"/>
              <a:t>This machine recognizes the occurrences of </a:t>
            </a:r>
            <a:r>
              <a:rPr lang="en-US" altLang="en-GB" sz="2100" i="1" smtClean="0"/>
              <a:t>aa</a:t>
            </a:r>
            <a:r>
              <a:rPr lang="en-US" altLang="en-GB" sz="2100" smtClean="0"/>
              <a:t> or </a:t>
            </a:r>
            <a:r>
              <a:rPr lang="en-US" altLang="en-GB" sz="2100" i="1" smtClean="0"/>
              <a:t>bb</a:t>
            </a:r>
            <a:r>
              <a:rPr lang="en-US" altLang="en-GB" sz="2100" smtClean="0"/>
              <a:t>.</a:t>
            </a:r>
          </a:p>
          <a:p>
            <a:pPr algn="just" eaLnBrk="1" hangingPunct="1">
              <a:lnSpc>
                <a:spcPct val="90000"/>
              </a:lnSpc>
            </a:pPr>
            <a:r>
              <a:rPr lang="en-US" altLang="en-GB" sz="2100" smtClean="0"/>
              <a:t>Note that the triple letter word </a:t>
            </a:r>
            <a:r>
              <a:rPr lang="en-US" altLang="en-GB" sz="2100" i="1" smtClean="0"/>
              <a:t>aaa</a:t>
            </a:r>
            <a:r>
              <a:rPr lang="en-US" altLang="en-GB" sz="2100" smtClean="0"/>
              <a:t> produces the output 011 since the second and third letters are both the back end of a pair of double a’s.</a:t>
            </a:r>
          </a:p>
        </p:txBody>
      </p:sp>
      <p:pic>
        <p:nvPicPr>
          <p:cNvPr id="4711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6688"/>
            <a:ext cx="44196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4915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F3B62A6-DE13-4BE9-B062-2EA5834BD237}" type="slidenum">
              <a:rPr lang="en-US" altLang="en-US" sz="1200">
                <a:solidFill>
                  <a:srgbClr val="898989"/>
                </a:solidFill>
                <a:latin typeface="Arial" panose="020B0604020202020204" pitchFamily="34" charset="0"/>
              </a:rPr>
              <a:pPr>
                <a:spcBef>
                  <a:spcPct val="0"/>
                </a:spcBef>
                <a:buFontTx/>
                <a:buNone/>
              </a:pPr>
              <a:t>24</a:t>
            </a:fld>
            <a:endParaRPr lang="en-US" altLang="en-US" sz="1200">
              <a:solidFill>
                <a:srgbClr val="898989"/>
              </a:solidFill>
              <a:latin typeface="Arial" panose="020B0604020202020204" pitchFamily="34" charset="0"/>
            </a:endParaRPr>
          </a:p>
        </p:txBody>
      </p:sp>
      <p:sp>
        <p:nvSpPr>
          <p:cNvPr id="49156" name="Rectangle 2"/>
          <p:cNvSpPr>
            <a:spLocks noGrp="1"/>
          </p:cNvSpPr>
          <p:nvPr>
            <p:ph type="title" idx="4294967295"/>
          </p:nvPr>
        </p:nvSpPr>
        <p:spPr>
          <a:xfrm>
            <a:off x="0" y="274638"/>
            <a:ext cx="8229600" cy="1143000"/>
          </a:xfrm>
        </p:spPr>
        <p:txBody>
          <a:bodyPr/>
          <a:lstStyle/>
          <a:p>
            <a:pPr eaLnBrk="1" hangingPunct="1"/>
            <a:r>
              <a:rPr lang="en-US" altLang="en-GB" sz="3800" smtClean="0"/>
              <a:t>Moore = Melay</a:t>
            </a:r>
          </a:p>
        </p:txBody>
      </p:sp>
      <p:sp>
        <p:nvSpPr>
          <p:cNvPr id="49157" name="Rectangle 3"/>
          <p:cNvSpPr>
            <a:spLocks noGrp="1"/>
          </p:cNvSpPr>
          <p:nvPr>
            <p:ph type="body" idx="4294967295"/>
          </p:nvPr>
        </p:nvSpPr>
        <p:spPr>
          <a:xfrm>
            <a:off x="0" y="1481138"/>
            <a:ext cx="8229600" cy="4525962"/>
          </a:xfrm>
        </p:spPr>
        <p:txBody>
          <a:bodyPr/>
          <a:lstStyle/>
          <a:p>
            <a:pPr algn="just" eaLnBrk="1" hangingPunct="1"/>
            <a:r>
              <a:rPr lang="en-US" altLang="en-GB" sz="2200" smtClean="0"/>
              <a:t>So far, we have define that two machines are equivalent if they accept the same language.</a:t>
            </a:r>
          </a:p>
          <a:p>
            <a:pPr algn="just" eaLnBrk="1" hangingPunct="1"/>
            <a:r>
              <a:rPr lang="en-US" altLang="en-GB" sz="2200" smtClean="0"/>
              <a:t>In this sense, we cannot compare a Mealy machine and a Moore machine because they are not language definers.</a:t>
            </a:r>
          </a:p>
          <a:p>
            <a:pPr algn="just" eaLnBrk="1" hangingPunct="1"/>
            <a:endParaRPr lang="en-US" altLang="en-GB" sz="2200" smtClean="0"/>
          </a:p>
          <a:p>
            <a:pPr algn="just" eaLnBrk="1" hangingPunct="1">
              <a:buFont typeface="Wingdings" panose="05000000000000000000" pitchFamily="2" charset="2"/>
              <a:buNone/>
            </a:pPr>
            <a:r>
              <a:rPr lang="en-US" altLang="en-GB" sz="2200" b="1" smtClean="0"/>
              <a:t>Definition:</a:t>
            </a:r>
          </a:p>
          <a:p>
            <a:pPr algn="just" eaLnBrk="1" hangingPunct="1"/>
            <a:r>
              <a:rPr lang="en-US" altLang="en-GB" sz="2200" smtClean="0"/>
              <a:t>Given the Mealy machine </a:t>
            </a:r>
            <a:r>
              <a:rPr lang="en-US" altLang="en-GB" sz="2200" i="1" smtClean="0"/>
              <a:t>Me</a:t>
            </a:r>
            <a:r>
              <a:rPr lang="en-US" altLang="en-GB" sz="2200" smtClean="0"/>
              <a:t> and the Moore machine </a:t>
            </a:r>
            <a:r>
              <a:rPr lang="en-US" altLang="en-GB" sz="2200" i="1" smtClean="0"/>
              <a:t>Mo</a:t>
            </a:r>
            <a:r>
              <a:rPr lang="en-US" altLang="en-GB" sz="2200" smtClean="0"/>
              <a:t> (which prints the automatic start state character x), we say that these two machines are </a:t>
            </a:r>
            <a:r>
              <a:rPr lang="en-US" altLang="en-GB" sz="2200" b="1" smtClean="0"/>
              <a:t>equivalent </a:t>
            </a:r>
            <a:r>
              <a:rPr lang="en-US" altLang="en-GB" sz="2200" smtClean="0"/>
              <a:t>if for every input string, the output string from </a:t>
            </a:r>
            <a:r>
              <a:rPr lang="en-US" altLang="en-GB" sz="2200" i="1" smtClean="0"/>
              <a:t>Mo</a:t>
            </a:r>
            <a:r>
              <a:rPr lang="en-US" altLang="en-GB" sz="2200" smtClean="0"/>
              <a:t> is exactly x concatenated with the output string from </a:t>
            </a:r>
            <a:r>
              <a:rPr lang="en-US" altLang="en-GB" sz="2200" i="1" smtClean="0"/>
              <a:t>Me</a:t>
            </a:r>
            <a:r>
              <a:rPr lang="en-US" altLang="en-GB" sz="2200" smtClean="0"/>
              <a: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120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F03EB76-43DA-46FC-AD81-2FFF01AA6E2B}" type="slidenum">
              <a:rPr lang="en-US" altLang="en-US" sz="1200">
                <a:solidFill>
                  <a:srgbClr val="898989"/>
                </a:solidFill>
                <a:latin typeface="Arial" panose="020B0604020202020204" pitchFamily="34" charset="0"/>
              </a:rPr>
              <a:pPr>
                <a:spcBef>
                  <a:spcPct val="0"/>
                </a:spcBef>
                <a:buFontTx/>
                <a:buNone/>
              </a:pPr>
              <a:t>25</a:t>
            </a:fld>
            <a:endParaRPr lang="en-US" altLang="en-US" sz="1200">
              <a:solidFill>
                <a:srgbClr val="898989"/>
              </a:solidFill>
              <a:latin typeface="Arial" panose="020B0604020202020204" pitchFamily="34" charset="0"/>
            </a:endParaRPr>
          </a:p>
        </p:txBody>
      </p:sp>
      <p:sp>
        <p:nvSpPr>
          <p:cNvPr id="51204" name="Rectangle 2"/>
          <p:cNvSpPr>
            <a:spLocks noGrp="1"/>
          </p:cNvSpPr>
          <p:nvPr>
            <p:ph type="title" idx="4294967295"/>
          </p:nvPr>
        </p:nvSpPr>
        <p:spPr>
          <a:xfrm>
            <a:off x="0" y="274638"/>
            <a:ext cx="8229600" cy="1143000"/>
          </a:xfrm>
        </p:spPr>
        <p:txBody>
          <a:bodyPr/>
          <a:lstStyle/>
          <a:p>
            <a:pPr eaLnBrk="1" hangingPunct="1"/>
            <a:r>
              <a:rPr lang="en-US" altLang="en-GB" sz="3800" smtClean="0"/>
              <a:t>Theorem 8</a:t>
            </a:r>
          </a:p>
        </p:txBody>
      </p:sp>
      <p:sp>
        <p:nvSpPr>
          <p:cNvPr id="51205" name="Rectangle 3"/>
          <p:cNvSpPr>
            <a:spLocks noGrp="1"/>
          </p:cNvSpPr>
          <p:nvPr>
            <p:ph type="body" idx="4294967295"/>
          </p:nvPr>
        </p:nvSpPr>
        <p:spPr>
          <a:xfrm>
            <a:off x="0" y="1481138"/>
            <a:ext cx="8229600" cy="4525962"/>
          </a:xfrm>
        </p:spPr>
        <p:txBody>
          <a:bodyPr/>
          <a:lstStyle/>
          <a:p>
            <a:pPr algn="just" eaLnBrk="1" hangingPunct="1">
              <a:lnSpc>
                <a:spcPct val="90000"/>
              </a:lnSpc>
              <a:buFont typeface="Wingdings" panose="05000000000000000000" pitchFamily="2" charset="2"/>
              <a:buNone/>
            </a:pPr>
            <a:r>
              <a:rPr lang="en-US" altLang="en-GB" sz="2200" b="1" smtClean="0"/>
              <a:t>If </a:t>
            </a:r>
            <a:r>
              <a:rPr lang="en-US" altLang="en-GB" sz="2200" smtClean="0"/>
              <a:t>Mo </a:t>
            </a:r>
            <a:r>
              <a:rPr lang="en-US" altLang="en-GB" sz="2200" b="1" smtClean="0"/>
              <a:t>is a Moore machine, then there is a Mealy machine </a:t>
            </a:r>
            <a:r>
              <a:rPr lang="en-US" altLang="en-GB" sz="2200" smtClean="0"/>
              <a:t>Me </a:t>
            </a:r>
            <a:r>
              <a:rPr lang="en-US" altLang="en-GB" sz="2200" b="1" smtClean="0"/>
              <a:t>that is equivalent to </a:t>
            </a:r>
            <a:r>
              <a:rPr lang="en-US" altLang="en-GB" sz="2200" smtClean="0"/>
              <a:t>Mo</a:t>
            </a:r>
            <a:r>
              <a:rPr lang="en-US" altLang="en-GB" sz="2200" b="1" smtClean="0"/>
              <a:t>.</a:t>
            </a:r>
          </a:p>
          <a:p>
            <a:pPr algn="just" eaLnBrk="1" hangingPunct="1">
              <a:lnSpc>
                <a:spcPct val="90000"/>
              </a:lnSpc>
              <a:buFont typeface="Wingdings" panose="05000000000000000000" pitchFamily="2" charset="2"/>
              <a:buNone/>
            </a:pPr>
            <a:r>
              <a:rPr lang="en-US" altLang="en-GB" sz="2200" i="1" smtClean="0"/>
              <a:t>Proof by constructive algorithm:</a:t>
            </a:r>
          </a:p>
          <a:p>
            <a:pPr algn="just" eaLnBrk="1" hangingPunct="1">
              <a:lnSpc>
                <a:spcPct val="90000"/>
              </a:lnSpc>
            </a:pPr>
            <a:r>
              <a:rPr lang="en-US" altLang="en-GB" sz="2200" smtClean="0"/>
              <a:t>Consider a particular state in </a:t>
            </a:r>
            <a:r>
              <a:rPr lang="en-US" altLang="en-GB" sz="2200" i="1" smtClean="0"/>
              <a:t>Mo</a:t>
            </a:r>
            <a:r>
              <a:rPr lang="en-US" altLang="en-GB" sz="2200" smtClean="0"/>
              <a:t>, say state q</a:t>
            </a:r>
            <a:r>
              <a:rPr lang="en-US" altLang="en-GB" sz="2200" baseline="-25000" smtClean="0"/>
              <a:t>4</a:t>
            </a:r>
            <a:r>
              <a:rPr lang="en-US" altLang="en-GB" sz="2200" smtClean="0"/>
              <a:t>, which prints a certain character, say </a:t>
            </a:r>
            <a:r>
              <a:rPr lang="en-US" altLang="en-GB" sz="2200" i="1" smtClean="0"/>
              <a:t>t</a:t>
            </a:r>
            <a:r>
              <a:rPr lang="en-US" altLang="en-GB" sz="2200" smtClean="0"/>
              <a:t>.</a:t>
            </a:r>
          </a:p>
          <a:p>
            <a:pPr algn="just" eaLnBrk="1" hangingPunct="1">
              <a:lnSpc>
                <a:spcPct val="90000"/>
              </a:lnSpc>
            </a:pPr>
            <a:endParaRPr lang="en-US" altLang="en-GB" sz="2200" smtClean="0"/>
          </a:p>
          <a:p>
            <a:pPr algn="just" eaLnBrk="1" hangingPunct="1">
              <a:lnSpc>
                <a:spcPct val="90000"/>
              </a:lnSpc>
            </a:pPr>
            <a:r>
              <a:rPr lang="en-US" altLang="en-GB" sz="2200" smtClean="0"/>
              <a:t>Consider all the incoming edges to q</a:t>
            </a:r>
            <a:r>
              <a:rPr lang="en-US" altLang="en-GB" sz="2200" baseline="-25000" smtClean="0"/>
              <a:t>4</a:t>
            </a:r>
            <a:r>
              <a:rPr lang="en-US" altLang="en-GB" sz="2200" smtClean="0"/>
              <a:t>. Suppose these edges are labeled with a, b, c, ...</a:t>
            </a:r>
          </a:p>
          <a:p>
            <a:pPr algn="just" eaLnBrk="1" hangingPunct="1">
              <a:lnSpc>
                <a:spcPct val="90000"/>
              </a:lnSpc>
            </a:pPr>
            <a:endParaRPr lang="en-US" altLang="en-GB" sz="2200" smtClean="0"/>
          </a:p>
          <a:p>
            <a:pPr algn="just" eaLnBrk="1" hangingPunct="1">
              <a:lnSpc>
                <a:spcPct val="90000"/>
              </a:lnSpc>
            </a:pPr>
            <a:r>
              <a:rPr lang="en-US" altLang="en-GB" sz="2200" smtClean="0"/>
              <a:t>Let us re-label these edges as a/t, b/t, c/t, ... and let us erase the t from inside the state q</a:t>
            </a:r>
            <a:r>
              <a:rPr lang="en-US" altLang="en-GB" sz="2200" baseline="-25000" smtClean="0"/>
              <a:t>4</a:t>
            </a:r>
            <a:r>
              <a:rPr lang="en-US" altLang="en-GB" sz="2200" smtClean="0"/>
              <a:t>. This means that we shall be printing a t on the incoming edges before we enter q</a:t>
            </a:r>
            <a:r>
              <a:rPr lang="en-US" altLang="en-GB" sz="2200" baseline="-25000" smtClean="0"/>
              <a:t>4</a:t>
            </a:r>
            <a:r>
              <a:rPr lang="en-US" altLang="en-GB" sz="2200" smtClean="0"/>
              <a: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325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32FD649-FE01-4A86-867F-5E2A31C87CFD}" type="slidenum">
              <a:rPr lang="en-US" altLang="en-US" sz="1200">
                <a:solidFill>
                  <a:srgbClr val="898989"/>
                </a:solidFill>
                <a:latin typeface="Arial" panose="020B0604020202020204" pitchFamily="34" charset="0"/>
              </a:rPr>
              <a:pPr>
                <a:spcBef>
                  <a:spcPct val="0"/>
                </a:spcBef>
                <a:buFontTx/>
                <a:buNone/>
              </a:pPr>
              <a:t>26</a:t>
            </a:fld>
            <a:endParaRPr lang="en-US" altLang="en-US" sz="1200">
              <a:solidFill>
                <a:srgbClr val="898989"/>
              </a:solidFill>
              <a:latin typeface="Arial" panose="020B0604020202020204" pitchFamily="34" charset="0"/>
            </a:endParaRPr>
          </a:p>
        </p:txBody>
      </p:sp>
      <p:sp>
        <p:nvSpPr>
          <p:cNvPr id="53252" name="Rectangle 2"/>
          <p:cNvSpPr>
            <a:spLocks noGrp="1"/>
          </p:cNvSpPr>
          <p:nvPr>
            <p:ph type="title" idx="4294967295"/>
          </p:nvPr>
        </p:nvSpPr>
        <p:spPr>
          <a:xfrm>
            <a:off x="0" y="274638"/>
            <a:ext cx="8229600" cy="1143000"/>
          </a:xfrm>
        </p:spPr>
        <p:txBody>
          <a:bodyPr/>
          <a:lstStyle/>
          <a:p>
            <a:pPr eaLnBrk="1" hangingPunct="1"/>
            <a:r>
              <a:rPr lang="en-US" altLang="en-GB" sz="3800" smtClean="0"/>
              <a:t>Proof by constructive algorithm contd.</a:t>
            </a:r>
          </a:p>
        </p:txBody>
      </p:sp>
      <p:sp>
        <p:nvSpPr>
          <p:cNvPr id="139267" name="Rectangle 3"/>
          <p:cNvSpPr>
            <a:spLocks noGrp="1"/>
          </p:cNvSpPr>
          <p:nvPr>
            <p:ph type="body" idx="4294967295"/>
          </p:nvPr>
        </p:nvSpPr>
        <p:spPr>
          <a:xfrm>
            <a:off x="0" y="4148138"/>
            <a:ext cx="8229600" cy="1982787"/>
          </a:xfrm>
        </p:spPr>
        <p:txBody>
          <a:bodyPr/>
          <a:lstStyle/>
          <a:p>
            <a:pPr algn="just" eaLnBrk="1" hangingPunct="1">
              <a:lnSpc>
                <a:spcPct val="80000"/>
              </a:lnSpc>
            </a:pPr>
            <a:r>
              <a:rPr lang="en-US" altLang="en-GB" sz="2200" smtClean="0"/>
              <a:t>We leave the outgoing edges from q</a:t>
            </a:r>
            <a:r>
              <a:rPr lang="en-US" altLang="en-GB" sz="2200" baseline="-25000" smtClean="0"/>
              <a:t>4</a:t>
            </a:r>
            <a:r>
              <a:rPr lang="en-US" altLang="en-GB" sz="2200" smtClean="0"/>
              <a:t> alone. They will be relabeled to print the character associated with the state to which they lead.</a:t>
            </a:r>
          </a:p>
          <a:p>
            <a:pPr algn="just" eaLnBrk="1" hangingPunct="1">
              <a:lnSpc>
                <a:spcPct val="80000"/>
              </a:lnSpc>
            </a:pPr>
            <a:endParaRPr lang="en-US" altLang="en-GB" sz="2200" smtClean="0"/>
          </a:p>
          <a:p>
            <a:pPr algn="just" eaLnBrk="1" hangingPunct="1">
              <a:lnSpc>
                <a:spcPct val="80000"/>
              </a:lnSpc>
            </a:pPr>
            <a:r>
              <a:rPr lang="en-US" altLang="en-GB" sz="2200" smtClean="0"/>
              <a:t>If we repeat this procedure for every state q</a:t>
            </a:r>
            <a:r>
              <a:rPr lang="en-US" altLang="en-GB" sz="2200" baseline="-25000" smtClean="0"/>
              <a:t>0</a:t>
            </a:r>
            <a:r>
              <a:rPr lang="en-US" altLang="en-GB" sz="2200" smtClean="0"/>
              <a:t>, q</a:t>
            </a:r>
            <a:r>
              <a:rPr lang="en-US" altLang="en-GB" sz="2200" baseline="-25000" smtClean="0"/>
              <a:t>1</a:t>
            </a:r>
            <a:r>
              <a:rPr lang="en-US" altLang="en-GB" sz="2200" smtClean="0"/>
              <a:t>, ..., we turn </a:t>
            </a:r>
            <a:r>
              <a:rPr lang="en-US" altLang="en-GB" sz="2200" i="1" smtClean="0"/>
              <a:t>Mo</a:t>
            </a:r>
            <a:r>
              <a:rPr lang="en-US" altLang="en-GB" sz="2200" smtClean="0"/>
              <a:t> into its equivalent </a:t>
            </a:r>
            <a:r>
              <a:rPr lang="en-US" altLang="en-GB" sz="2200" i="1" smtClean="0"/>
              <a:t>Me.</a:t>
            </a:r>
            <a:endParaRPr lang="en-US" altLang="en-GB" sz="2200" smtClean="0"/>
          </a:p>
        </p:txBody>
      </p:sp>
      <p:pic>
        <p:nvPicPr>
          <p:cNvPr id="139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71600"/>
            <a:ext cx="2103438"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9963" y="1371600"/>
            <a:ext cx="2103437" cy="178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0" name="Text Box 6"/>
          <p:cNvSpPr txBox="1">
            <a:spLocks noChangeArrowheads="1"/>
          </p:cNvSpPr>
          <p:nvPr/>
        </p:nvSpPr>
        <p:spPr bwMode="auto">
          <a:xfrm>
            <a:off x="4146550" y="2093913"/>
            <a:ext cx="1111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a:latin typeface="Arial" panose="020B0604020202020204" pitchFamily="34" charset="0"/>
                <a:cs typeface="Arial" panose="020B0604020202020204" pitchFamily="34" charset="0"/>
              </a:rPr>
              <a:t>becomes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9268"/>
                                        </p:tgtEl>
                                        <p:attrNameLst>
                                          <p:attrName>style.visibility</p:attrName>
                                        </p:attrNameLst>
                                      </p:cBhvr>
                                      <p:to>
                                        <p:strVal val="visible"/>
                                      </p:to>
                                    </p:set>
                                    <p:animEffect transition="in" filter="blinds(horizontal)">
                                      <p:cBhvr>
                                        <p:cTn id="7" dur="500"/>
                                        <p:tgtEl>
                                          <p:spTgt spid="1392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9270"/>
                                        </p:tgtEl>
                                        <p:attrNameLst>
                                          <p:attrName>style.visibility</p:attrName>
                                        </p:attrNameLst>
                                      </p:cBhvr>
                                      <p:to>
                                        <p:strVal val="visible"/>
                                      </p:to>
                                    </p:set>
                                    <p:animEffect transition="in" filter="dissolve">
                                      <p:cBhvr>
                                        <p:cTn id="12" dur="500"/>
                                        <p:tgtEl>
                                          <p:spTgt spid="1392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39269"/>
                                        </p:tgtEl>
                                        <p:attrNameLst>
                                          <p:attrName>style.visibility</p:attrName>
                                        </p:attrNameLst>
                                      </p:cBhvr>
                                      <p:to>
                                        <p:strVal val="visible"/>
                                      </p:to>
                                    </p:set>
                                    <p:animEffect transition="in" filter="checkerboard(across)">
                                      <p:cBhvr>
                                        <p:cTn id="17" dur="500"/>
                                        <p:tgtEl>
                                          <p:spTgt spid="1392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9267">
                                            <p:txEl>
                                              <p:pRg st="0" end="0"/>
                                            </p:txEl>
                                          </p:spTgt>
                                        </p:tgtEl>
                                        <p:attrNameLst>
                                          <p:attrName>style.visibility</p:attrName>
                                        </p:attrNameLst>
                                      </p:cBhvr>
                                      <p:to>
                                        <p:strVal val="visible"/>
                                      </p:to>
                                    </p:set>
                                    <p:anim calcmode="lin" valueType="num">
                                      <p:cBhvr additive="base">
                                        <p:cTn id="22" dur="5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9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39267">
                                            <p:txEl>
                                              <p:pRg st="2" end="2"/>
                                            </p:txEl>
                                          </p:spTgt>
                                        </p:tgtEl>
                                        <p:attrNameLst>
                                          <p:attrName>style.visibility</p:attrName>
                                        </p:attrNameLst>
                                      </p:cBhvr>
                                      <p:to>
                                        <p:strVal val="visible"/>
                                      </p:to>
                                    </p:set>
                                    <p:anim calcmode="lin" valueType="num">
                                      <p:cBhvr additive="base">
                                        <p:cTn id="28" dur="500" fill="hold"/>
                                        <p:tgtEl>
                                          <p:spTgt spid="139267">
                                            <p:txEl>
                                              <p:pRg st="2" end="2"/>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3926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P spid="13927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529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C61CD91-50E1-4E6C-867F-DA99930CDCED}" type="slidenum">
              <a:rPr lang="en-US" altLang="en-US" sz="1200">
                <a:solidFill>
                  <a:srgbClr val="898989"/>
                </a:solidFill>
                <a:latin typeface="Arial" panose="020B0604020202020204" pitchFamily="34" charset="0"/>
              </a:rPr>
              <a:pPr>
                <a:spcBef>
                  <a:spcPct val="0"/>
                </a:spcBef>
                <a:buFontTx/>
                <a:buNone/>
              </a:pPr>
              <a:t>27</a:t>
            </a:fld>
            <a:endParaRPr lang="en-US" altLang="en-US" sz="1200">
              <a:solidFill>
                <a:srgbClr val="898989"/>
              </a:solidFill>
              <a:latin typeface="Arial" panose="020B0604020202020204" pitchFamily="34" charset="0"/>
            </a:endParaRPr>
          </a:p>
        </p:txBody>
      </p:sp>
      <p:sp>
        <p:nvSpPr>
          <p:cNvPr id="55300" name="Rectangle 2"/>
          <p:cNvSpPr>
            <a:spLocks noGrp="1"/>
          </p:cNvSpPr>
          <p:nvPr>
            <p:ph type="title" idx="4294967295"/>
          </p:nvPr>
        </p:nvSpPr>
        <p:spPr>
          <a:xfrm>
            <a:off x="0" y="274638"/>
            <a:ext cx="8229600" cy="1143000"/>
          </a:xfrm>
        </p:spPr>
        <p:txBody>
          <a:bodyPr/>
          <a:lstStyle/>
          <a:p>
            <a:pPr eaLnBrk="1" hangingPunct="1"/>
            <a:r>
              <a:rPr lang="en-US" altLang="en-GB" sz="3800" smtClean="0"/>
              <a:t>Example</a:t>
            </a:r>
          </a:p>
        </p:txBody>
      </p:sp>
      <p:sp>
        <p:nvSpPr>
          <p:cNvPr id="55301" name="Rectangle 3"/>
          <p:cNvSpPr>
            <a:spLocks noGrp="1"/>
          </p:cNvSpPr>
          <p:nvPr>
            <p:ph type="body" idx="4294967295"/>
          </p:nvPr>
        </p:nvSpPr>
        <p:spPr>
          <a:xfrm>
            <a:off x="0" y="1600200"/>
            <a:ext cx="8229600" cy="990600"/>
          </a:xfrm>
        </p:spPr>
        <p:txBody>
          <a:bodyPr/>
          <a:lstStyle/>
          <a:p>
            <a:pPr algn="just" eaLnBrk="1" hangingPunct="1"/>
            <a:r>
              <a:rPr lang="en-US" altLang="en-GB" sz="2200" smtClean="0"/>
              <a:t>Following the above algorithm, we convert a Moore machine into a Mealy machine as follows:</a:t>
            </a:r>
          </a:p>
          <a:p>
            <a:pPr algn="just" eaLnBrk="1" hangingPunct="1"/>
            <a:endParaRPr lang="en-US" altLang="en-GB" sz="2200" smtClean="0"/>
          </a:p>
        </p:txBody>
      </p:sp>
      <p:pic>
        <p:nvPicPr>
          <p:cNvPr id="5530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636838"/>
            <a:ext cx="6553200"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7347"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91FA229-3137-4D10-B170-E890AE7501E7}" type="slidenum">
              <a:rPr lang="en-US" altLang="en-US" sz="1200">
                <a:solidFill>
                  <a:srgbClr val="898989"/>
                </a:solidFill>
                <a:latin typeface="Arial" panose="020B0604020202020204" pitchFamily="34" charset="0"/>
              </a:rPr>
              <a:pPr>
                <a:spcBef>
                  <a:spcPct val="0"/>
                </a:spcBef>
                <a:buFontTx/>
                <a:buNone/>
              </a:pPr>
              <a:t>28</a:t>
            </a:fld>
            <a:endParaRPr lang="en-US" altLang="en-US" sz="1200">
              <a:solidFill>
                <a:srgbClr val="898989"/>
              </a:solidFill>
              <a:latin typeface="Arial" panose="020B0604020202020204" pitchFamily="34" charset="0"/>
            </a:endParaRPr>
          </a:p>
        </p:txBody>
      </p:sp>
      <p:sp>
        <p:nvSpPr>
          <p:cNvPr id="57348" name="Rectangle 2"/>
          <p:cNvSpPr>
            <a:spLocks noGrp="1"/>
          </p:cNvSpPr>
          <p:nvPr>
            <p:ph type="title" idx="4294967295"/>
          </p:nvPr>
        </p:nvSpPr>
        <p:spPr>
          <a:xfrm>
            <a:off x="0" y="274638"/>
            <a:ext cx="8229600" cy="1143000"/>
          </a:xfrm>
        </p:spPr>
        <p:txBody>
          <a:bodyPr/>
          <a:lstStyle/>
          <a:p>
            <a:pPr eaLnBrk="1" hangingPunct="1"/>
            <a:r>
              <a:rPr lang="en-US" altLang="en-GB" sz="3800" smtClean="0"/>
              <a:t>Theorem 9</a:t>
            </a:r>
          </a:p>
        </p:txBody>
      </p:sp>
      <p:sp>
        <p:nvSpPr>
          <p:cNvPr id="57349" name="Rectangle 3"/>
          <p:cNvSpPr>
            <a:spLocks noGrp="1"/>
          </p:cNvSpPr>
          <p:nvPr>
            <p:ph type="body" idx="4294967295"/>
          </p:nvPr>
        </p:nvSpPr>
        <p:spPr>
          <a:xfrm>
            <a:off x="0" y="1600200"/>
            <a:ext cx="8229600" cy="3186113"/>
          </a:xfrm>
        </p:spPr>
        <p:txBody>
          <a:bodyPr/>
          <a:lstStyle/>
          <a:p>
            <a:pPr algn="just" eaLnBrk="1" hangingPunct="1">
              <a:lnSpc>
                <a:spcPct val="80000"/>
              </a:lnSpc>
              <a:buFont typeface="Wingdings" panose="05000000000000000000" pitchFamily="2" charset="2"/>
              <a:buNone/>
            </a:pPr>
            <a:r>
              <a:rPr lang="en-US" altLang="en-GB" sz="2200" b="1" smtClean="0"/>
              <a:t>For every Mealy machine </a:t>
            </a:r>
            <a:r>
              <a:rPr lang="en-US" altLang="en-GB" sz="2200" smtClean="0"/>
              <a:t>Me</a:t>
            </a:r>
            <a:r>
              <a:rPr lang="en-US" altLang="en-GB" sz="2200" b="1" smtClean="0"/>
              <a:t>, there is a Moore machine </a:t>
            </a:r>
          </a:p>
          <a:p>
            <a:pPr algn="just" eaLnBrk="1" hangingPunct="1">
              <a:lnSpc>
                <a:spcPct val="80000"/>
              </a:lnSpc>
              <a:buFont typeface="Wingdings" panose="05000000000000000000" pitchFamily="2" charset="2"/>
              <a:buNone/>
            </a:pPr>
            <a:r>
              <a:rPr lang="en-US" altLang="en-GB" sz="2200" smtClean="0"/>
              <a:t>Mo </a:t>
            </a:r>
            <a:r>
              <a:rPr lang="en-US" altLang="en-GB" sz="2200" b="1" smtClean="0"/>
              <a:t>that is equivalent to it.</a:t>
            </a:r>
          </a:p>
          <a:p>
            <a:pPr algn="just" eaLnBrk="1" hangingPunct="1">
              <a:lnSpc>
                <a:spcPct val="80000"/>
              </a:lnSpc>
              <a:buFont typeface="Wingdings" panose="05000000000000000000" pitchFamily="2" charset="2"/>
              <a:buNone/>
            </a:pPr>
            <a:r>
              <a:rPr lang="en-US" altLang="en-GB" sz="2200" i="1" smtClean="0"/>
              <a:t>Proof by constructive algorithm:</a:t>
            </a:r>
          </a:p>
          <a:p>
            <a:pPr algn="just" eaLnBrk="1" hangingPunct="1">
              <a:lnSpc>
                <a:spcPct val="80000"/>
              </a:lnSpc>
              <a:buFont typeface="Wingdings" panose="05000000000000000000" pitchFamily="2" charset="2"/>
              <a:buNone/>
            </a:pPr>
            <a:endParaRPr lang="en-US" altLang="en-GB" sz="2200" i="1" smtClean="0"/>
          </a:p>
          <a:p>
            <a:pPr algn="just" eaLnBrk="1" hangingPunct="1">
              <a:lnSpc>
                <a:spcPct val="80000"/>
              </a:lnSpc>
            </a:pPr>
            <a:r>
              <a:rPr lang="en-US" altLang="en-GB" sz="2200" smtClean="0"/>
              <a:t>We cannot just do the reverse of the previous algorithm. If we try to push the printing instruction from the edge (as it is in Me) to the inside of the state (as it should be for Mo), we may end up with a conflict: Two edges may come into the same state but have different printing instructions, as in this example:</a:t>
            </a:r>
          </a:p>
        </p:txBody>
      </p:sp>
      <p:pic>
        <p:nvPicPr>
          <p:cNvPr id="5735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700" y="4421188"/>
            <a:ext cx="2578100"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5939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2C2A25-E05F-4AE6-87B7-1C89CFBAC463}" type="slidenum">
              <a:rPr lang="en-US" altLang="en-US" sz="1200">
                <a:solidFill>
                  <a:srgbClr val="898989"/>
                </a:solidFill>
                <a:latin typeface="Arial" panose="020B0604020202020204" pitchFamily="34" charset="0"/>
              </a:rPr>
              <a:pPr>
                <a:spcBef>
                  <a:spcPct val="0"/>
                </a:spcBef>
                <a:buFontTx/>
                <a:buNone/>
              </a:pPr>
              <a:t>29</a:t>
            </a:fld>
            <a:endParaRPr lang="en-US" altLang="en-US" sz="1200">
              <a:solidFill>
                <a:srgbClr val="898989"/>
              </a:solidFill>
              <a:latin typeface="Arial" panose="020B0604020202020204" pitchFamily="34" charset="0"/>
            </a:endParaRPr>
          </a:p>
        </p:txBody>
      </p:sp>
      <p:sp>
        <p:nvSpPr>
          <p:cNvPr id="59396" name="Rectangle 2"/>
          <p:cNvSpPr>
            <a:spLocks noGrp="1"/>
          </p:cNvSpPr>
          <p:nvPr>
            <p:ph type="title" idx="4294967295"/>
          </p:nvPr>
        </p:nvSpPr>
        <p:spPr>
          <a:xfrm>
            <a:off x="0" y="274638"/>
            <a:ext cx="8229600" cy="1143000"/>
          </a:xfrm>
        </p:spPr>
        <p:txBody>
          <a:bodyPr/>
          <a:lstStyle/>
          <a:p>
            <a:pPr eaLnBrk="1" hangingPunct="1"/>
            <a:r>
              <a:rPr lang="en-US" altLang="en-GB" sz="3800" smtClean="0"/>
              <a:t>Proof by constructive algorithm (cont.):</a:t>
            </a:r>
          </a:p>
        </p:txBody>
      </p:sp>
      <p:sp>
        <p:nvSpPr>
          <p:cNvPr id="59397" name="Rectangle 3"/>
          <p:cNvSpPr>
            <a:spLocks noGrp="1"/>
          </p:cNvSpPr>
          <p:nvPr>
            <p:ph type="body" idx="4294967295"/>
          </p:nvPr>
        </p:nvSpPr>
        <p:spPr>
          <a:xfrm>
            <a:off x="0" y="1600200"/>
            <a:ext cx="8229600" cy="2760663"/>
          </a:xfrm>
        </p:spPr>
        <p:txBody>
          <a:bodyPr/>
          <a:lstStyle/>
          <a:p>
            <a:pPr algn="just" eaLnBrk="1" hangingPunct="1">
              <a:lnSpc>
                <a:spcPct val="80000"/>
              </a:lnSpc>
            </a:pPr>
            <a:r>
              <a:rPr lang="en-US" altLang="en-GB" sz="2200" smtClean="0"/>
              <a:t>What we need are two copies of q</a:t>
            </a:r>
            <a:r>
              <a:rPr lang="en-US" altLang="en-GB" sz="2200" baseline="-25000" smtClean="0"/>
              <a:t>4</a:t>
            </a:r>
            <a:r>
              <a:rPr lang="en-US" altLang="en-GB" sz="2200" smtClean="0"/>
              <a:t>, one that prints a 0 (labeled as q</a:t>
            </a:r>
            <a:r>
              <a:rPr lang="en-US" altLang="en-GB" sz="2200" baseline="30000" smtClean="0"/>
              <a:t>1</a:t>
            </a:r>
            <a:r>
              <a:rPr lang="en-US" altLang="en-GB" sz="2200" baseline="-25000" smtClean="0"/>
              <a:t>4</a:t>
            </a:r>
            <a:r>
              <a:rPr lang="en-US" altLang="en-GB" sz="2200" smtClean="0"/>
              <a:t>/0), and the other that prints a 1 (labeled as q</a:t>
            </a:r>
            <a:r>
              <a:rPr lang="en-US" altLang="en-GB" sz="2200" baseline="30000" smtClean="0"/>
              <a:t>2</a:t>
            </a:r>
            <a:r>
              <a:rPr lang="en-US" altLang="en-GB" sz="2200" baseline="-25000" smtClean="0"/>
              <a:t>4</a:t>
            </a:r>
            <a:r>
              <a:rPr lang="en-US" altLang="en-GB" sz="2200" smtClean="0"/>
              <a:t>/1). Hence,</a:t>
            </a:r>
          </a:p>
          <a:p>
            <a:pPr algn="just" eaLnBrk="1" hangingPunct="1">
              <a:lnSpc>
                <a:spcPct val="80000"/>
              </a:lnSpc>
            </a:pPr>
            <a:endParaRPr lang="en-US" altLang="en-GB" sz="2200" smtClean="0"/>
          </a:p>
          <a:p>
            <a:pPr lvl="1" algn="just" eaLnBrk="1" hangingPunct="1">
              <a:lnSpc>
                <a:spcPct val="80000"/>
              </a:lnSpc>
              <a:buFont typeface="Wingdings" panose="05000000000000000000" pitchFamily="2" charset="2"/>
              <a:buNone/>
            </a:pPr>
            <a:r>
              <a:rPr lang="en-US" altLang="en-GB" sz="2000" b="1" smtClean="0"/>
              <a:t>– </a:t>
            </a:r>
            <a:r>
              <a:rPr lang="en-US" altLang="en-GB" sz="2000" smtClean="0"/>
              <a:t>The edges a/0 and b/0 will go into q</a:t>
            </a:r>
            <a:r>
              <a:rPr lang="en-US" altLang="en-GB" sz="2000" baseline="30000" smtClean="0"/>
              <a:t>1</a:t>
            </a:r>
            <a:r>
              <a:rPr lang="en-US" altLang="en-GB" sz="2000" baseline="-25000" smtClean="0"/>
              <a:t>4</a:t>
            </a:r>
            <a:r>
              <a:rPr lang="en-US" altLang="en-GB" sz="2000" smtClean="0"/>
              <a:t>/0.</a:t>
            </a:r>
          </a:p>
          <a:p>
            <a:pPr lvl="1" algn="just" eaLnBrk="1" hangingPunct="1">
              <a:lnSpc>
                <a:spcPct val="80000"/>
              </a:lnSpc>
              <a:buFont typeface="Wingdings" panose="05000000000000000000" pitchFamily="2" charset="2"/>
              <a:buNone/>
            </a:pPr>
            <a:r>
              <a:rPr lang="en-US" altLang="en-GB" sz="2000" b="1" smtClean="0"/>
              <a:t>– </a:t>
            </a:r>
            <a:r>
              <a:rPr lang="en-US" altLang="en-GB" sz="2000" smtClean="0"/>
              <a:t>The edge b/1 will go into q</a:t>
            </a:r>
            <a:r>
              <a:rPr lang="en-US" altLang="en-GB" sz="2000" baseline="30000" smtClean="0"/>
              <a:t>2</a:t>
            </a:r>
            <a:r>
              <a:rPr lang="en-US" altLang="en-GB" sz="2000" baseline="-25000" smtClean="0"/>
              <a:t>4</a:t>
            </a:r>
            <a:r>
              <a:rPr lang="en-US" altLang="en-GB" sz="2000" smtClean="0"/>
              <a:t>/1.</a:t>
            </a:r>
          </a:p>
          <a:p>
            <a:pPr algn="just" eaLnBrk="1" hangingPunct="1">
              <a:lnSpc>
                <a:spcPct val="80000"/>
              </a:lnSpc>
            </a:pPr>
            <a:endParaRPr lang="en-US" altLang="en-GB" sz="2200" smtClean="0"/>
          </a:p>
          <a:p>
            <a:pPr algn="just" eaLnBrk="1" hangingPunct="1">
              <a:lnSpc>
                <a:spcPct val="80000"/>
              </a:lnSpc>
            </a:pPr>
            <a:r>
              <a:rPr lang="en-US" altLang="en-GB" sz="2200" smtClean="0"/>
              <a:t>The arrow coming out of each of these two copies must be the same as the edges coming out of q</a:t>
            </a:r>
            <a:r>
              <a:rPr lang="en-US" altLang="en-GB" sz="2200" baseline="-25000" smtClean="0"/>
              <a:t>4</a:t>
            </a:r>
            <a:r>
              <a:rPr lang="en-US" altLang="en-GB" sz="2200" smtClean="0"/>
              <a:t> originally.</a:t>
            </a:r>
          </a:p>
        </p:txBody>
      </p:sp>
      <p:pic>
        <p:nvPicPr>
          <p:cNvPr id="5939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343400"/>
            <a:ext cx="312420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9238" y="4411663"/>
            <a:ext cx="3281362" cy="168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144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E982C93-C359-4810-9A9E-66B6B9A40296}" type="slidenum">
              <a:rPr lang="en-US" altLang="en-US" sz="1200">
                <a:solidFill>
                  <a:srgbClr val="898989"/>
                </a:solidFill>
                <a:latin typeface="Arial" panose="020B0604020202020204" pitchFamily="34" charset="0"/>
              </a:rPr>
              <a:pPr>
                <a:spcBef>
                  <a:spcPct val="0"/>
                </a:spcBef>
                <a:buFontTx/>
                <a:buNone/>
              </a:pPr>
              <a:t>30</a:t>
            </a:fld>
            <a:endParaRPr lang="en-US" altLang="en-US" sz="1200">
              <a:solidFill>
                <a:srgbClr val="898989"/>
              </a:solidFill>
              <a:latin typeface="Arial" panose="020B0604020202020204" pitchFamily="34" charset="0"/>
            </a:endParaRPr>
          </a:p>
        </p:txBody>
      </p:sp>
      <p:sp>
        <p:nvSpPr>
          <p:cNvPr id="61444" name="Rectangle 2"/>
          <p:cNvSpPr>
            <a:spLocks noGrp="1"/>
          </p:cNvSpPr>
          <p:nvPr>
            <p:ph type="title" idx="4294967295"/>
          </p:nvPr>
        </p:nvSpPr>
        <p:spPr>
          <a:xfrm>
            <a:off x="0" y="274638"/>
            <a:ext cx="8229600" cy="1143000"/>
          </a:xfrm>
        </p:spPr>
        <p:txBody>
          <a:bodyPr/>
          <a:lstStyle/>
          <a:p>
            <a:pPr eaLnBrk="1" hangingPunct="1"/>
            <a:r>
              <a:rPr lang="en-US" altLang="en-GB" sz="3800" smtClean="0"/>
              <a:t>Proof by constructive algorithm (cont.):</a:t>
            </a:r>
          </a:p>
        </p:txBody>
      </p:sp>
      <p:sp>
        <p:nvSpPr>
          <p:cNvPr id="61445" name="Rectangle 3"/>
          <p:cNvSpPr>
            <a:spLocks noGrp="1"/>
          </p:cNvSpPr>
          <p:nvPr>
            <p:ph type="body" idx="4294967295"/>
          </p:nvPr>
        </p:nvSpPr>
        <p:spPr>
          <a:xfrm>
            <a:off x="0" y="1600200"/>
            <a:ext cx="8229600" cy="1344613"/>
          </a:xfrm>
        </p:spPr>
        <p:txBody>
          <a:bodyPr/>
          <a:lstStyle/>
          <a:p>
            <a:pPr algn="just" eaLnBrk="1" hangingPunct="1"/>
            <a:r>
              <a:rPr lang="en-US" altLang="en-GB" sz="2200" smtClean="0"/>
              <a:t>If all the edges coming into a state have the same printing instruction, we simply push that printing instruction into the state.</a:t>
            </a:r>
          </a:p>
          <a:p>
            <a:pPr algn="just" eaLnBrk="1" hangingPunct="1"/>
            <a:endParaRPr lang="en-US" altLang="en-GB" sz="2200" smtClean="0"/>
          </a:p>
        </p:txBody>
      </p:sp>
      <p:pic>
        <p:nvPicPr>
          <p:cNvPr id="6144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306763"/>
            <a:ext cx="3048000" cy="245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3230563"/>
            <a:ext cx="3124200"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Text Box 6"/>
          <p:cNvSpPr txBox="1">
            <a:spLocks noChangeArrowheads="1"/>
          </p:cNvSpPr>
          <p:nvPr/>
        </p:nvSpPr>
        <p:spPr bwMode="auto">
          <a:xfrm>
            <a:off x="4146550" y="4379913"/>
            <a:ext cx="1111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a:latin typeface="Arial" panose="020B0604020202020204" pitchFamily="34" charset="0"/>
                <a:cs typeface="Arial" panose="020B0604020202020204" pitchFamily="34" charset="0"/>
              </a:rPr>
              <a:t>becomes</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349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ACD706-9FAF-45BD-893B-17040432361C}" type="slidenum">
              <a:rPr lang="en-US" altLang="en-US" sz="1200">
                <a:solidFill>
                  <a:srgbClr val="898989"/>
                </a:solidFill>
                <a:latin typeface="Arial" panose="020B0604020202020204" pitchFamily="34" charset="0"/>
              </a:rPr>
              <a:pPr>
                <a:spcBef>
                  <a:spcPct val="0"/>
                </a:spcBef>
                <a:buFontTx/>
                <a:buNone/>
              </a:pPr>
              <a:t>31</a:t>
            </a:fld>
            <a:endParaRPr lang="en-US" altLang="en-US" sz="1200">
              <a:solidFill>
                <a:srgbClr val="898989"/>
              </a:solidFill>
              <a:latin typeface="Arial" panose="020B0604020202020204" pitchFamily="34" charset="0"/>
            </a:endParaRPr>
          </a:p>
        </p:txBody>
      </p:sp>
      <p:sp>
        <p:nvSpPr>
          <p:cNvPr id="63492" name="Rectangle 2"/>
          <p:cNvSpPr>
            <a:spLocks noGrp="1"/>
          </p:cNvSpPr>
          <p:nvPr>
            <p:ph type="title" idx="4294967295"/>
          </p:nvPr>
        </p:nvSpPr>
        <p:spPr>
          <a:xfrm>
            <a:off x="0" y="274638"/>
            <a:ext cx="8229600" cy="1143000"/>
          </a:xfrm>
        </p:spPr>
        <p:txBody>
          <a:bodyPr/>
          <a:lstStyle/>
          <a:p>
            <a:pPr eaLnBrk="1" hangingPunct="1"/>
            <a:r>
              <a:rPr lang="en-US" altLang="en-GB" sz="3800" smtClean="0"/>
              <a:t>Proof by constructive algorithm (cont.):</a:t>
            </a:r>
          </a:p>
        </p:txBody>
      </p:sp>
      <p:sp>
        <p:nvSpPr>
          <p:cNvPr id="63493" name="Rectangle 3"/>
          <p:cNvSpPr>
            <a:spLocks noGrp="1"/>
          </p:cNvSpPr>
          <p:nvPr>
            <p:ph type="body" idx="4294967295"/>
          </p:nvPr>
        </p:nvSpPr>
        <p:spPr>
          <a:xfrm>
            <a:off x="0" y="1481138"/>
            <a:ext cx="8229600" cy="4525962"/>
          </a:xfrm>
        </p:spPr>
        <p:txBody>
          <a:bodyPr/>
          <a:lstStyle/>
          <a:p>
            <a:pPr algn="just" eaLnBrk="1" hangingPunct="1"/>
            <a:r>
              <a:rPr lang="en-US" altLang="en-GB" sz="2200" smtClean="0"/>
              <a:t>An edge that was a loop in </a:t>
            </a:r>
            <a:r>
              <a:rPr lang="en-US" altLang="en-GB" sz="2200" i="1" smtClean="0"/>
              <a:t>Me</a:t>
            </a:r>
            <a:r>
              <a:rPr lang="en-US" altLang="en-GB" sz="2200" smtClean="0"/>
              <a:t> may becomes two edges in </a:t>
            </a:r>
            <a:r>
              <a:rPr lang="en-US" altLang="en-GB" sz="2200" i="1" smtClean="0"/>
              <a:t>Mo</a:t>
            </a:r>
            <a:r>
              <a:rPr lang="en-US" altLang="en-GB" sz="2200" smtClean="0"/>
              <a:t>, one that is a loop and one that is not.</a:t>
            </a:r>
          </a:p>
        </p:txBody>
      </p:sp>
      <p:pic>
        <p:nvPicPr>
          <p:cNvPr id="6349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552825"/>
            <a:ext cx="2816225" cy="182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3495" name="Group 7"/>
          <p:cNvGrpSpPr>
            <a:grpSpLocks/>
          </p:cNvGrpSpPr>
          <p:nvPr/>
        </p:nvGrpSpPr>
        <p:grpSpPr bwMode="auto">
          <a:xfrm>
            <a:off x="5638800" y="2754313"/>
            <a:ext cx="2743200" cy="3113087"/>
            <a:chOff x="3264" y="1735"/>
            <a:chExt cx="1728" cy="1961"/>
          </a:xfrm>
        </p:grpSpPr>
        <p:pic>
          <p:nvPicPr>
            <p:cNvPr id="634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4" y="1735"/>
              <a:ext cx="1718" cy="1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8" name="Rectangle 6"/>
            <p:cNvSpPr>
              <a:spLocks noChangeArrowheads="1"/>
            </p:cNvSpPr>
            <p:nvPr/>
          </p:nvSpPr>
          <p:spPr bwMode="auto">
            <a:xfrm>
              <a:off x="3264" y="2880"/>
              <a:ext cx="480"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GB" altLang="en-GB" sz="1800" b="1">
                <a:latin typeface="Arial" panose="020B0604020202020204" pitchFamily="34" charset="0"/>
                <a:cs typeface="Arial" panose="020B0604020202020204" pitchFamily="34" charset="0"/>
              </a:endParaRPr>
            </a:p>
          </p:txBody>
        </p:sp>
      </p:grpSp>
      <p:sp>
        <p:nvSpPr>
          <p:cNvPr id="63496" name="Text Box 8"/>
          <p:cNvSpPr txBox="1">
            <a:spLocks noChangeArrowheads="1"/>
          </p:cNvSpPr>
          <p:nvPr/>
        </p:nvSpPr>
        <p:spPr bwMode="auto">
          <a:xfrm>
            <a:off x="4038600" y="4114800"/>
            <a:ext cx="1111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GB" sz="1800">
                <a:latin typeface="Arial" panose="020B0604020202020204" pitchFamily="34" charset="0"/>
                <a:cs typeface="Arial" panose="020B0604020202020204" pitchFamily="34" charset="0"/>
              </a:rPr>
              <a:t>becomes</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5539"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8A930A5-7119-4FF4-9C03-D8F2A8EB743D}" type="slidenum">
              <a:rPr lang="en-US" altLang="en-US" sz="1200">
                <a:solidFill>
                  <a:srgbClr val="898989"/>
                </a:solidFill>
                <a:latin typeface="Arial" panose="020B0604020202020204" pitchFamily="34" charset="0"/>
              </a:rPr>
              <a:pPr>
                <a:spcBef>
                  <a:spcPct val="0"/>
                </a:spcBef>
                <a:buFontTx/>
                <a:buNone/>
              </a:pPr>
              <a:t>32</a:t>
            </a:fld>
            <a:endParaRPr lang="en-US" altLang="en-US" sz="1200">
              <a:solidFill>
                <a:srgbClr val="898989"/>
              </a:solidFill>
              <a:latin typeface="Arial" panose="020B0604020202020204" pitchFamily="34" charset="0"/>
            </a:endParaRPr>
          </a:p>
        </p:txBody>
      </p:sp>
      <p:sp>
        <p:nvSpPr>
          <p:cNvPr id="65540" name="Rectangle 2"/>
          <p:cNvSpPr>
            <a:spLocks noGrp="1"/>
          </p:cNvSpPr>
          <p:nvPr>
            <p:ph type="title" idx="4294967295"/>
          </p:nvPr>
        </p:nvSpPr>
        <p:spPr>
          <a:xfrm>
            <a:off x="0" y="274638"/>
            <a:ext cx="8229600" cy="1143000"/>
          </a:xfrm>
        </p:spPr>
        <p:txBody>
          <a:bodyPr/>
          <a:lstStyle/>
          <a:p>
            <a:pPr eaLnBrk="1" hangingPunct="1"/>
            <a:r>
              <a:rPr lang="en-US" altLang="en-GB" sz="3800" smtClean="0"/>
              <a:t>Proof by constructive algorithm (cont.):</a:t>
            </a:r>
          </a:p>
        </p:txBody>
      </p:sp>
      <p:sp>
        <p:nvSpPr>
          <p:cNvPr id="65541" name="Rectangle 3"/>
          <p:cNvSpPr>
            <a:spLocks noGrp="1"/>
          </p:cNvSpPr>
          <p:nvPr>
            <p:ph type="body" idx="4294967295"/>
          </p:nvPr>
        </p:nvSpPr>
        <p:spPr>
          <a:xfrm>
            <a:off x="0" y="1481138"/>
            <a:ext cx="8229600" cy="4525962"/>
          </a:xfrm>
        </p:spPr>
        <p:txBody>
          <a:bodyPr/>
          <a:lstStyle/>
          <a:p>
            <a:pPr algn="just" eaLnBrk="1" hangingPunct="1">
              <a:lnSpc>
                <a:spcPct val="90000"/>
              </a:lnSpc>
            </a:pPr>
            <a:r>
              <a:rPr lang="en-US" altLang="en-GB" sz="2100" smtClean="0"/>
              <a:t>If there is ever a state that has no incoming edges, we can assign it any printing instruction we want, even if this state is the start state.</a:t>
            </a:r>
          </a:p>
          <a:p>
            <a:pPr algn="just" eaLnBrk="1" hangingPunct="1">
              <a:lnSpc>
                <a:spcPct val="90000"/>
              </a:lnSpc>
            </a:pPr>
            <a:r>
              <a:rPr lang="en-US" altLang="en-GB" sz="2100" i="1" smtClean="0"/>
              <a:t>If we have to make copies of the start state in Me, we can let any of the copies be the start state in Mo, because they all give the identical directions for proceeding to other states.</a:t>
            </a:r>
          </a:p>
          <a:p>
            <a:pPr algn="just" eaLnBrk="1" hangingPunct="1">
              <a:lnSpc>
                <a:spcPct val="90000"/>
              </a:lnSpc>
            </a:pPr>
            <a:r>
              <a:rPr lang="en-US" altLang="en-GB" sz="2100" smtClean="0"/>
              <a:t>Having a choice of start states means that the conversion of </a:t>
            </a:r>
            <a:r>
              <a:rPr lang="en-US" altLang="en-GB" sz="2100" i="1" smtClean="0"/>
              <a:t>Me</a:t>
            </a:r>
            <a:r>
              <a:rPr lang="en-US" altLang="en-GB" sz="2100" smtClean="0"/>
              <a:t> into </a:t>
            </a:r>
            <a:r>
              <a:rPr lang="en-US" altLang="en-GB" sz="2100" i="1" smtClean="0"/>
              <a:t>Mo</a:t>
            </a:r>
            <a:r>
              <a:rPr lang="en-US" altLang="en-GB" sz="2100" smtClean="0"/>
              <a:t> is NOT unique.</a:t>
            </a:r>
          </a:p>
          <a:p>
            <a:pPr algn="just" eaLnBrk="1" hangingPunct="1">
              <a:lnSpc>
                <a:spcPct val="90000"/>
              </a:lnSpc>
            </a:pPr>
            <a:r>
              <a:rPr lang="en-US" altLang="en-GB" sz="2100" smtClean="0"/>
              <a:t>Repeating this process for each state of Me will produce an equivalent Mo. The proof is completed.</a:t>
            </a:r>
          </a:p>
          <a:p>
            <a:pPr algn="just" eaLnBrk="1" hangingPunct="1">
              <a:lnSpc>
                <a:spcPct val="90000"/>
              </a:lnSpc>
            </a:pPr>
            <a:r>
              <a:rPr lang="en-US" altLang="en-GB" sz="2100" b="1" smtClean="0"/>
              <a:t>Together, Theorems 8 and 9 allow us to say </a:t>
            </a:r>
            <a:r>
              <a:rPr lang="en-US" altLang="en-GB" sz="2100" smtClean="0"/>
              <a:t>Me = Mo</a:t>
            </a:r>
            <a:r>
              <a:rPr lang="en-US" altLang="en-GB" sz="2100" b="1" smtClean="0"/>
              <a:t>.</a:t>
            </a:r>
            <a:endParaRPr lang="en-US" altLang="en-GB" sz="210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7587"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25E43EB-501D-421C-9323-FCDFD39EA63E}" type="slidenum">
              <a:rPr lang="en-US" altLang="en-US" sz="1200">
                <a:solidFill>
                  <a:srgbClr val="898989"/>
                </a:solidFill>
                <a:latin typeface="Arial" panose="020B0604020202020204" pitchFamily="34" charset="0"/>
              </a:rPr>
              <a:pPr>
                <a:spcBef>
                  <a:spcPct val="0"/>
                </a:spcBef>
                <a:buFontTx/>
                <a:buNone/>
              </a:pPr>
              <a:t>33</a:t>
            </a:fld>
            <a:endParaRPr lang="en-US" altLang="en-US" sz="1200">
              <a:solidFill>
                <a:srgbClr val="898989"/>
              </a:solidFill>
              <a:latin typeface="Arial" panose="020B0604020202020204" pitchFamily="34" charset="0"/>
            </a:endParaRPr>
          </a:p>
        </p:txBody>
      </p:sp>
      <p:sp>
        <p:nvSpPr>
          <p:cNvPr id="67588" name="Rectangle 2"/>
          <p:cNvSpPr>
            <a:spLocks noGrp="1"/>
          </p:cNvSpPr>
          <p:nvPr>
            <p:ph type="title" idx="4294967295"/>
          </p:nvPr>
        </p:nvSpPr>
        <p:spPr>
          <a:xfrm>
            <a:off x="0" y="274638"/>
            <a:ext cx="8229600" cy="1143000"/>
          </a:xfrm>
        </p:spPr>
        <p:txBody>
          <a:bodyPr/>
          <a:lstStyle/>
          <a:p>
            <a:pPr eaLnBrk="1" hangingPunct="1"/>
            <a:r>
              <a:rPr lang="en-US" altLang="en-GB" smtClean="0"/>
              <a:t>Example</a:t>
            </a:r>
          </a:p>
        </p:txBody>
      </p:sp>
      <p:sp>
        <p:nvSpPr>
          <p:cNvPr id="67589" name="Rectangle 3"/>
          <p:cNvSpPr>
            <a:spLocks noGrp="1"/>
          </p:cNvSpPr>
          <p:nvPr>
            <p:ph type="body" idx="4294967295"/>
          </p:nvPr>
        </p:nvSpPr>
        <p:spPr>
          <a:xfrm>
            <a:off x="0" y="1600200"/>
            <a:ext cx="8229600" cy="849313"/>
          </a:xfrm>
        </p:spPr>
        <p:txBody>
          <a:bodyPr/>
          <a:lstStyle/>
          <a:p>
            <a:pPr algn="just" eaLnBrk="1" hangingPunct="1">
              <a:lnSpc>
                <a:spcPct val="90000"/>
              </a:lnSpc>
            </a:pPr>
            <a:r>
              <a:rPr lang="en-US" altLang="en-GB" sz="2600" smtClean="0"/>
              <a:t>Convert the following Mealy machine into a Moore machine:</a:t>
            </a:r>
          </a:p>
          <a:p>
            <a:pPr algn="just" eaLnBrk="1" hangingPunct="1">
              <a:lnSpc>
                <a:spcPct val="90000"/>
              </a:lnSpc>
            </a:pPr>
            <a:endParaRPr lang="en-US" altLang="en-GB" sz="2600" smtClean="0"/>
          </a:p>
        </p:txBody>
      </p:sp>
      <p:pic>
        <p:nvPicPr>
          <p:cNvPr id="675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1513" y="2514600"/>
            <a:ext cx="5145087" cy="334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69635"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41F6BE-2072-4CB9-A6F2-7B750039E291}" type="slidenum">
              <a:rPr lang="en-US" altLang="en-US" sz="1200">
                <a:solidFill>
                  <a:srgbClr val="898989"/>
                </a:solidFill>
                <a:latin typeface="Arial" panose="020B0604020202020204" pitchFamily="34" charset="0"/>
              </a:rPr>
              <a:pPr>
                <a:spcBef>
                  <a:spcPct val="0"/>
                </a:spcBef>
                <a:buFontTx/>
                <a:buNone/>
              </a:pPr>
              <a:t>34</a:t>
            </a:fld>
            <a:endParaRPr lang="en-US" altLang="en-US" sz="1200">
              <a:solidFill>
                <a:srgbClr val="898989"/>
              </a:solidFill>
              <a:latin typeface="Arial" panose="020B0604020202020204" pitchFamily="34" charset="0"/>
            </a:endParaRPr>
          </a:p>
        </p:txBody>
      </p:sp>
      <p:sp>
        <p:nvSpPr>
          <p:cNvPr id="69636" name="Rectangle 2"/>
          <p:cNvSpPr>
            <a:spLocks noGrp="1"/>
          </p:cNvSpPr>
          <p:nvPr>
            <p:ph type="title" idx="4294967295"/>
          </p:nvPr>
        </p:nvSpPr>
        <p:spPr>
          <a:xfrm>
            <a:off x="0" y="274638"/>
            <a:ext cx="8229600" cy="1143000"/>
          </a:xfrm>
        </p:spPr>
        <p:txBody>
          <a:bodyPr/>
          <a:lstStyle/>
          <a:p>
            <a:pPr eaLnBrk="1" hangingPunct="1"/>
            <a:r>
              <a:rPr lang="en-US" altLang="en-GB" smtClean="0"/>
              <a:t>Example contd.</a:t>
            </a:r>
          </a:p>
        </p:txBody>
      </p:sp>
      <p:sp>
        <p:nvSpPr>
          <p:cNvPr id="69637" name="Rectangle 3"/>
          <p:cNvSpPr>
            <a:spLocks noGrp="1"/>
          </p:cNvSpPr>
          <p:nvPr>
            <p:ph type="body" idx="4294967295"/>
          </p:nvPr>
        </p:nvSpPr>
        <p:spPr>
          <a:xfrm>
            <a:off x="0" y="1481138"/>
            <a:ext cx="8229600" cy="4525962"/>
          </a:xfrm>
        </p:spPr>
        <p:txBody>
          <a:bodyPr/>
          <a:lstStyle/>
          <a:p>
            <a:pPr algn="just" eaLnBrk="1" hangingPunct="1"/>
            <a:r>
              <a:rPr lang="en-US" altLang="en-GB" sz="2600" smtClean="0"/>
              <a:t>Following the algorithm, we first need two copies of q</a:t>
            </a:r>
            <a:r>
              <a:rPr lang="en-US" altLang="en-GB" sz="2600" baseline="-25000" smtClean="0"/>
              <a:t>0</a:t>
            </a:r>
            <a:r>
              <a:rPr lang="en-US" altLang="en-GB" sz="2600" smtClean="0"/>
              <a:t>:</a:t>
            </a:r>
          </a:p>
          <a:p>
            <a:pPr algn="just" eaLnBrk="1" hangingPunct="1"/>
            <a:endParaRPr lang="en-US" altLang="en-GB" sz="2600" smtClean="0"/>
          </a:p>
        </p:txBody>
      </p:sp>
      <p:pic>
        <p:nvPicPr>
          <p:cNvPr id="696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9175" y="2098675"/>
            <a:ext cx="4238625"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3136900"/>
            <a:ext cx="3962400"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1683"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DAD4B11-C68F-4172-A5A6-BBA0CEE5B6AF}" type="slidenum">
              <a:rPr lang="en-US" altLang="en-US" sz="1200">
                <a:solidFill>
                  <a:srgbClr val="898989"/>
                </a:solidFill>
                <a:latin typeface="Arial" panose="020B0604020202020204" pitchFamily="34" charset="0"/>
              </a:rPr>
              <a:pPr>
                <a:spcBef>
                  <a:spcPct val="0"/>
                </a:spcBef>
                <a:buFontTx/>
                <a:buNone/>
              </a:pPr>
              <a:t>35</a:t>
            </a:fld>
            <a:endParaRPr lang="en-US" altLang="en-US" sz="1200">
              <a:solidFill>
                <a:srgbClr val="898989"/>
              </a:solidFill>
              <a:latin typeface="Arial" panose="020B0604020202020204" pitchFamily="34" charset="0"/>
            </a:endParaRPr>
          </a:p>
        </p:txBody>
      </p:sp>
      <p:sp>
        <p:nvSpPr>
          <p:cNvPr id="71684" name="Rectangle 2"/>
          <p:cNvSpPr>
            <a:spLocks noGrp="1"/>
          </p:cNvSpPr>
          <p:nvPr>
            <p:ph type="title" idx="4294967295"/>
          </p:nvPr>
        </p:nvSpPr>
        <p:spPr>
          <a:xfrm>
            <a:off x="0" y="274638"/>
            <a:ext cx="8229600" cy="1143000"/>
          </a:xfrm>
        </p:spPr>
        <p:txBody>
          <a:bodyPr/>
          <a:lstStyle/>
          <a:p>
            <a:pPr eaLnBrk="1" hangingPunct="1"/>
            <a:r>
              <a:rPr lang="en-US" altLang="en-GB" smtClean="0"/>
              <a:t>Example contd.</a:t>
            </a:r>
          </a:p>
        </p:txBody>
      </p:sp>
      <p:sp>
        <p:nvSpPr>
          <p:cNvPr id="71685" name="Rectangle 3"/>
          <p:cNvSpPr>
            <a:spLocks noGrp="1"/>
          </p:cNvSpPr>
          <p:nvPr>
            <p:ph type="body" idx="4294967295"/>
          </p:nvPr>
        </p:nvSpPr>
        <p:spPr>
          <a:xfrm>
            <a:off x="0" y="1481138"/>
            <a:ext cx="8229600" cy="4525962"/>
          </a:xfrm>
        </p:spPr>
        <p:txBody>
          <a:bodyPr/>
          <a:lstStyle/>
          <a:p>
            <a:pPr algn="just" eaLnBrk="1" hangingPunct="1"/>
            <a:r>
              <a:rPr lang="en-US" altLang="en-GB" sz="2200" smtClean="0"/>
              <a:t>All the edges coming into state q</a:t>
            </a:r>
            <a:r>
              <a:rPr lang="en-US" altLang="en-GB" sz="2200" baseline="-25000" smtClean="0"/>
              <a:t>1</a:t>
            </a:r>
            <a:r>
              <a:rPr lang="en-US" altLang="en-GB" sz="2200" smtClean="0"/>
              <a:t> (and also q</a:t>
            </a:r>
            <a:r>
              <a:rPr lang="en-US" altLang="en-GB" sz="2200" baseline="-25000" smtClean="0"/>
              <a:t>3</a:t>
            </a:r>
            <a:r>
              <a:rPr lang="en-US" altLang="en-GB" sz="2200" smtClean="0"/>
              <a:t>) have the same printing instruction. So, apply the algorithm to q</a:t>
            </a:r>
            <a:r>
              <a:rPr lang="en-US" altLang="en-GB" sz="2200" baseline="-25000" smtClean="0"/>
              <a:t>2</a:t>
            </a:r>
            <a:r>
              <a:rPr lang="en-US" altLang="en-GB" sz="2200" smtClean="0"/>
              <a:t> and q</a:t>
            </a:r>
            <a:r>
              <a:rPr lang="en-US" altLang="en-GB" sz="2200" baseline="-25000" smtClean="0"/>
              <a:t>3</a:t>
            </a:r>
            <a:r>
              <a:rPr lang="en-US" altLang="en-GB" sz="2200" smtClean="0"/>
              <a:t>:</a:t>
            </a:r>
          </a:p>
          <a:p>
            <a:pPr algn="just" eaLnBrk="1" hangingPunct="1"/>
            <a:endParaRPr lang="en-US" altLang="en-GB" sz="2200" smtClean="0"/>
          </a:p>
        </p:txBody>
      </p:sp>
      <p:pic>
        <p:nvPicPr>
          <p:cNvPr id="7168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438400"/>
            <a:ext cx="4191000"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443163"/>
            <a:ext cx="3886200"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2"/>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a:defRPr/>
            </a:pPr>
            <a:r>
              <a:rPr lang="en-US" altLang="en-US"/>
              <a:t>Theory of Automata</a:t>
            </a:r>
          </a:p>
        </p:txBody>
      </p:sp>
      <p:sp>
        <p:nvSpPr>
          <p:cNvPr id="73731" name="Slide Number Placeholder 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246E3C7-30C0-4292-A4F0-094B579AC2EB}" type="slidenum">
              <a:rPr lang="en-US" altLang="en-US" sz="1200">
                <a:solidFill>
                  <a:srgbClr val="898989"/>
                </a:solidFill>
                <a:latin typeface="Arial" panose="020B0604020202020204" pitchFamily="34" charset="0"/>
              </a:rPr>
              <a:pPr>
                <a:spcBef>
                  <a:spcPct val="0"/>
                </a:spcBef>
                <a:buFontTx/>
                <a:buNone/>
              </a:pPr>
              <a:t>36</a:t>
            </a:fld>
            <a:endParaRPr lang="en-US" altLang="en-US" sz="1200">
              <a:solidFill>
                <a:srgbClr val="898989"/>
              </a:solidFill>
              <a:latin typeface="Arial" panose="020B0604020202020204" pitchFamily="34" charset="0"/>
            </a:endParaRPr>
          </a:p>
        </p:txBody>
      </p:sp>
      <p:sp>
        <p:nvSpPr>
          <p:cNvPr id="73732" name="Rectangle 2"/>
          <p:cNvSpPr>
            <a:spLocks noGrp="1"/>
          </p:cNvSpPr>
          <p:nvPr>
            <p:ph type="title" idx="4294967295"/>
          </p:nvPr>
        </p:nvSpPr>
        <p:spPr>
          <a:xfrm>
            <a:off x="0" y="274638"/>
            <a:ext cx="8229600" cy="1143000"/>
          </a:xfrm>
        </p:spPr>
        <p:txBody>
          <a:bodyPr/>
          <a:lstStyle/>
          <a:p>
            <a:pPr eaLnBrk="1" hangingPunct="1"/>
            <a:r>
              <a:rPr lang="en-US" altLang="en-GB" smtClean="0"/>
              <a:t>Example contd.</a:t>
            </a:r>
          </a:p>
        </p:txBody>
      </p:sp>
      <p:sp>
        <p:nvSpPr>
          <p:cNvPr id="73733" name="Rectangle 3"/>
          <p:cNvSpPr>
            <a:spLocks noGrp="1"/>
          </p:cNvSpPr>
          <p:nvPr>
            <p:ph type="body" idx="4294967295"/>
          </p:nvPr>
        </p:nvSpPr>
        <p:spPr>
          <a:xfrm>
            <a:off x="0" y="1481138"/>
            <a:ext cx="8229600" cy="4525962"/>
          </a:xfrm>
        </p:spPr>
        <p:txBody>
          <a:bodyPr/>
          <a:lstStyle/>
          <a:p>
            <a:pPr algn="just" eaLnBrk="1" hangingPunct="1"/>
            <a:r>
              <a:rPr lang="en-US" altLang="en-GB" sz="2200" smtClean="0"/>
              <a:t>The only job left is to convert state q</a:t>
            </a:r>
            <a:r>
              <a:rPr lang="en-US" altLang="en-GB" sz="2200" baseline="-25000" smtClean="0"/>
              <a:t>2</a:t>
            </a:r>
            <a:r>
              <a:rPr lang="en-US" altLang="en-GB" sz="2200" smtClean="0"/>
              <a:t>. There are 0-printing edges and 1-printing edges coming into q</a:t>
            </a:r>
            <a:r>
              <a:rPr lang="en-US" altLang="en-GB" sz="2200" baseline="-25000" smtClean="0"/>
              <a:t>2</a:t>
            </a:r>
            <a:r>
              <a:rPr lang="en-US" altLang="en-GB" sz="2200" smtClean="0"/>
              <a:t>. So, we need two copies of q</a:t>
            </a:r>
            <a:r>
              <a:rPr lang="en-US" altLang="en-GB" sz="2200" baseline="-25000" smtClean="0"/>
              <a:t>2</a:t>
            </a:r>
            <a:r>
              <a:rPr lang="en-US" altLang="en-GB" sz="2200" smtClean="0"/>
              <a:t>. The final Moore machine is:</a:t>
            </a:r>
          </a:p>
          <a:p>
            <a:pPr algn="just" eaLnBrk="1" hangingPunct="1"/>
            <a:endParaRPr lang="en-US" altLang="en-GB" sz="2200" smtClean="0"/>
          </a:p>
        </p:txBody>
      </p:sp>
      <p:pic>
        <p:nvPicPr>
          <p:cNvPr id="7373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2743200"/>
            <a:ext cx="4343400" cy="376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724150"/>
            <a:ext cx="38862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7617</TotalTime>
  <Words>2516</Words>
  <Application>Microsoft Office PowerPoint</Application>
  <PresentationFormat>On-screen Show (4:3)</PresentationFormat>
  <Paragraphs>318</Paragraphs>
  <Slides>36</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Garamond</vt:lpstr>
      <vt:lpstr>Wingdings</vt:lpstr>
      <vt:lpstr>Office Theme</vt:lpstr>
      <vt:lpstr>Theory of Automata  Finite Automata with Output</vt:lpstr>
      <vt:lpstr>Contents</vt:lpstr>
      <vt:lpstr>PowerPoint Presentation</vt:lpstr>
      <vt:lpstr>Moore vs Mealy Machines</vt:lpstr>
      <vt:lpstr>Moore vs Mealy Machines</vt:lpstr>
      <vt:lpstr>Moore vs Mealy Machines</vt:lpstr>
      <vt:lpstr>Moore Machine Definition</vt:lpstr>
      <vt:lpstr>Notes</vt:lpstr>
      <vt:lpstr>Notes Contd.</vt:lpstr>
      <vt:lpstr>Example: Moore machine defined by a table</vt:lpstr>
      <vt:lpstr>Pictorial Representation</vt:lpstr>
      <vt:lpstr>Example</vt:lpstr>
      <vt:lpstr>Example</vt:lpstr>
      <vt:lpstr>Example contd.</vt:lpstr>
      <vt:lpstr>Melay machine Definition</vt:lpstr>
      <vt:lpstr>Example</vt:lpstr>
      <vt:lpstr>PowerPoint Presentation</vt:lpstr>
      <vt:lpstr>Example</vt:lpstr>
      <vt:lpstr>Example</vt:lpstr>
      <vt:lpstr>Example contd.</vt:lpstr>
      <vt:lpstr>Example contd.</vt:lpstr>
      <vt:lpstr>Example</vt:lpstr>
      <vt:lpstr> </vt:lpstr>
      <vt:lpstr>Moore = Melay</vt:lpstr>
      <vt:lpstr>Theorem 8</vt:lpstr>
      <vt:lpstr>Proof by constructive algorithm contd.</vt:lpstr>
      <vt:lpstr>Example</vt:lpstr>
      <vt:lpstr>Theorem 9</vt:lpstr>
      <vt:lpstr>Proof by constructive algorithm (cont.):</vt:lpstr>
      <vt:lpstr>Proof by constructive algorithm (cont.):</vt:lpstr>
      <vt:lpstr>Proof by constructive algorithm (cont.):</vt:lpstr>
      <vt:lpstr>Proof by constructive algorithm (cont.):</vt:lpstr>
      <vt:lpstr>Example</vt:lpstr>
      <vt:lpstr>Example contd.</vt:lpstr>
      <vt:lpstr>Example contd.</vt:lpstr>
      <vt:lpstr>Example contd.</vt:lpstr>
    </vt:vector>
  </TitlesOfParts>
  <Company>fast-nu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Automata</dc:title>
  <dc:creator>Majid</dc:creator>
  <cp:lastModifiedBy>user1</cp:lastModifiedBy>
  <cp:revision>158</cp:revision>
  <dcterms:created xsi:type="dcterms:W3CDTF">2011-08-06T09:27:24Z</dcterms:created>
  <dcterms:modified xsi:type="dcterms:W3CDTF">2025-07-28T10:26:46Z</dcterms:modified>
</cp:coreProperties>
</file>